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a3c162ee-a5a8-6348-924b-6eb5786ab408}">
          <p14:sldIdLst>
            <p14:sldId id="256"/>
          </p14:sldIdLst>
        </p14:section>
        <p14:section name="Section I" id="{5b18d880-608c-99bb-9327-39a110dab4b0}">
          <p14:sldIdLst>
            <p14:sldId id="257"/>
            <p14:sldId id="258"/>
          </p14:sldIdLst>
        </p14:section>
        <p14:section name="Section II" id="{9567d245-0354-73f0-d1d2-793bb1000de9}">
          <p14:sldIdLst>
            <p14:sldId id="259"/>
            <p14:sldId id="260"/>
            <p14:sldId id="261"/>
            <p14:sldId id="262"/>
          </p14:sldIdLst>
        </p14:section>
        <p14:section name="Section III" id="{e0b300d2-26ad-b5a3-2362-d78691be0fae}">
          <p14:sldIdLst>
            <p14:sldId id="263"/>
            <p14:sldId id="264"/>
            <p14:sldId id="265"/>
            <p14:sldId id="266"/>
          </p14:sldIdLst>
        </p14:section>
        <p14:section name="Section V" id="{7b20b8c2-8fab-54ab-dd3a-01e9ebe7816f}">
          <p14:sldIdLst>
            <p14:sldId id="267"/>
            <p14:sldId id="268"/>
            <p14:sldId id="269"/>
            <p14:sldId id="270"/>
            <p14:sldId id="271"/>
            <p14:sldId id="272"/>
          </p14:sldIdLst>
        </p14:section>
        <p14:section name="Section VI" id="{34b67b9f-d50a-b4ed-70cc-3327ee78bb5f}">
          <p14:sldIdLst>
            <p14:sldId id="273"/>
          </p14:sldIdLst>
        </p14:section>
        <p14:section name="Section VII" id="{b335bdf0-90bb-0bd9-8cba-a72b12e130ab}">
          <p14:sldIdLst>
            <p14:sldId id="274"/>
          </p14:sldIdLst>
        </p14:section>
        <p14:section name="Section VIII" id="{23d599ac-70e3-ce80-0286-4cbcb31d10c0}">
          <p14:sldIdLst>
            <p14:sldId id="275"/>
          </p14:sldIdLst>
        </p14:section>
        <p14:section name="Section IX" id="{539b4180-6356-4d86-e2ab-ab5966f2008f}">
          <p14:sldIdLst>
            <p14:sldId id="276"/>
            <p14:sldId id="277"/>
            <p14:sldId id="278"/>
          </p14:sldIdLst>
        </p14:section>
        <p14:section name="Section X" id="{ef8cfd75-d957-5aa5-f522-5124f99100a7}">
          <p14:sldIdLst>
            <p14:sldId id="279"/>
          </p14:sldIdLst>
        </p14:section>
        <p14:section name="Section XI" id="{3f93b5d3-1dd9-aaa6-7d97-75d8b06c26be}">
          <p14:sldIdLst>
            <p14:sldId id="280"/>
            <p14:sldId id="281"/>
          </p14:sldIdLst>
        </p14:section>
        <p14:section name="Appendix B" id="{5efddeaf-8648-69ce-d348-7b54cdcfe09d}">
          <p14:sldIdLst>
            <p14:sldId id="282"/>
            <p14:sldId id="283"/>
          </p14:sldIdLst>
        </p14:section>
        <p14:section name="Appendix E" id="{ff61dddf-7fac-437d-e6da-d75bde16ce5c}">
          <p14:sldIdLst>
            <p14:sldId id="284"/>
          </p14:sldIdLst>
        </p14:section>
        <p14:section name="Appendix F" id="{79d919ba-29de-25a6-0978-cc045efbc7a4}">
          <p14:sldIdLst>
            <p14:sldId id="285"/>
            <p14:sldId id="286"/>
            <p14:sldId id="287"/>
            <p14:sldId id="288"/>
          </p14:sldIdLst>
        </p14:section>
        <p14:section name="Appendix G" id="{6b58ee09-97d0-782e-6ac8-1c4116814a0a}">
          <p14:sldIdLst>
            <p14:sldId id="28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PLACEMENT: Landing page (/prophesy/) above “Eleven Sections,” and the front of the PDF/Word file. A cropped strip of this chart can head each section page as a “you are here” marker.
SOURCES: Structure follows the study’s own sequence (Sections I–XI): Pentecost, Things to Come; Walvoord; Ryrie. Pretribulational, premillennial framework as held throughout the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PLACEMENT: Section I.B “Progressive Revelation and the Dispensational Framework,” after its bullet list.
SOURCES: Names and the Innocence, Law, Grace and Kingdom outcomes come from Section I.B. Scripture ranges and the Conscience, Human Government and Promise entries follow Ryrie’s standard scheme (Dispensationalism; Ryrie Study Bible) — summarized, not quoted. Ryrie’s three marks of a dispensation (I.B note): a revelation of God’s will, a period of testing, and judgment on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PLACEMENT: Section I.D, after the D.5 Key Takeaway (or at the head of I.D).
SOURCES: Section I.D (each covenant, its references, and its unconditional or conditional character; Heb 8:13; Gal 3:17; Luke 22:20). Approximate dates: Abraham c. 2091 BC (Section III.F); Sinai c. 1446 BC and Moab c. 1406 BC (early-date chronology standard in the DTS tradition); David c. 1000 BC; Jeremiah’s New Covenant prophecy c. 600 BC.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PLACEMENT: Section II.C, above the table “The Four Candidate Decrees.”
DATA CHECK (II.C table): Cyrus 538 BC, temple only, 538 + 483 solar yrs = 56 BC; Darius I 520 BC, reconfirms the temple decree; Artaxerxes to Ezra 457 BC, temple worship and law, minority 457 BC → AD 27 (solar years, Jesus’ baptism); Artaxerxes to Nehemiah 444 BC, walls, gates, city → 173,880 days → Nisan 10, AD 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PLACEMENT: Section II.D, just before “The Three Systems Compared.”
IMPORTANT — REVIEW II.D TEXT: This chart shows the Tishri (fall-to-fall) reading, which is what reconciles Neh 1:1 and 2:1 and yields Nisan 444 BC. Section II.D currently attributes the 444 date to ‘non-accession’ counting; counting the partial first year as Year 1 would move Year 20 earlier (to 446), not later. Please check II.D against Hoehner, Chronological Aspects of the Life of Christ (1977), before using this chart.
Axis is approximate by month: Persian Nisan years run spring to spring; Tishri years run fall to fall. Anderson: Nisan 1, 445 BC = March 14, 445. Hoehner: Nisan 1, 444 BC = March 5, 444.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PLACEMENT: Section II.G “A Triple Convergence,” before the convergence summary table.
DATA CHECK (II.F–G): Nisan 10 = March 30, AD 33 (Triumphal Entry, end of the 69 weeks); Nisan 14 = Friday, April 3, AD 33 (crucifixion); darkness from about noon to 3 PM (Matt 27:45; Mark 15:33; Luke 23:44–45); partial lunar eclipse visible at sundown — an astronomical note only, not a fulfillment of Joel 2:31 (study’s standing position). Weekdays follow from Friday, April 3. Exod 12:3, 6 for the lamb’s selection and slaying.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PLACEMENT: Section II.I, directly above the table “The Three Periods of Daniel 9:25–27.” Can be repeated at II.K above the fulfillment chart.
DATA CHECK (from Section II): decree Nisan 1, 444 BC (Neh 2:1–8); 7 weeks = 49 yrs (444–395 BC); 62 weeks = 434 yrs (395 BC–AD 33); 69 weeks = 483 prophetic years = 173,880 days ending Nisan 10, AD 33 (Triumphal Entry); Messiah cut off Nisan 14, AD 33; Jerusalem destroyed AD 70; 70th week future (Dan 9:27).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PLACEMENT: Section III.A.1 “The Two-Mountain Problem,” immediately after the paragraph describing the two-mountain illustration.
SOURCES: The illustration is the one the section attributes to early dispensationalists (endnote 77). Peak labels use the section’s own examples: Isa 53 / Zech 9:9 (First Advent) and Isa 11 / Zech 9:10 (Second Advent); Isa 61:1–2 per Luke 4:16–21 (III.A.3).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PLACEMENT: Section III.A.3 “The Critical Text: Luke 4:16–21 — Jesus Stops Mid-Sentence,” after its final paragraph.
SOURCES: Section III.A.3 (Isa 61:1–2a read, 61:2b omitted; “Today this Scripture has been fulfilled in your hearing,” Luke 4:21). Verse wording NASB as quoted in the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PLACEMENT: Section III.G “The Times of the Gentiles (Luke 21:24),” after the first bullet list (the four empires).
SOURCES: Section III.G; Fruchtenbaum, Footsteps of the Messiah, p. 21 (definition: Gentile dominance over Jerusalem) and his note that 1967 does not end the period. Empire dates are standard historical dates added for orientation: Babylon from 605 BC; Persia from 539 BC; Greece from 331 BC; Rome over Judea from 63 BC.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PLACEMENT: Section III.G, after the Times of the Gentiles chart.
SOURCES: Section III.G (Babylon, Medo-Persia, Greece, Rome; revived Rome as a ten-nation confederacy under the Antichrist, Dan 7:7, 20, 24; the stone, Dan 2:34–35, 44–45). Statue and beast details are from Dan 2:32–45 and Dan 7:2–14, 23–27.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PLACEMENT: Section V.A “Duration, Structure, and Purpose,” after its bullet list. Also usable at II.E (the 360-day year) for the 1,260 / 42 / 3½ equivalences.
DATA CHECK (Sections II.E and V): 2,520 days = 2 × 1,260; 1,260 days = 42 months = “time, times, half a time” (Dan 7:25; 12:7; Rev 11:2–3; 12:6). Events and their half follow the study’s own placement in V.B, V.D and V.E (trumpets and bowls are treated under the second 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PLACEMENT: Section V.C “The Two Witnesses — Identity and Ministry,” before “The Three Candidate Identifications.”
SOURCES: Section V.C (shared facts from Rev 11:3–13; each option’s basis and proponents; the study’s conclusion that Moses and Elijah is preferred while Enoch and Elijah is a legitimate 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PLACEMENT: Section V.E, at the note on “the telescoping structure” (after Bowl 7).
SOURCES: The study’s V.E note: the seventh seal contains the seven trumpets; the seventh trumpet contains the seven bowls; Walvoord, The Revelation of Jesus Christ (“a crescendo of divine wrath”). Ryrie Study Bible note on Rev 6 (three series of seven, escalating).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PLACEMENT: Section V.B, under “The Seven Seal Judgments (Rev 6) — Individual Effects.” In the teaching deck it follows the Seals, Trumpets, and Bowls overview.
SOURCES: Section V.B bullet list for each seal (effects summarized in the study’s own terms) and the Ryrie Study Bible note on Rev 6 quoted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PLACEMENT: Section V.E, under “The Seven Trumpet Judgments (Rev 8–9) — Individual Effects.”
SOURCES: Section V.E bullet list for each trumpet (effects summarized in the study’s own terms). The “more than half” figure is the study’s own combination of Seal 4 (a fourth) and Trumpet 6 (a third of the remainder).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PLACEMENT: Section V.E, under “The Seven Bowl Judgments (Rev 16) — The Final Undiluted Wrath of God.”
SOURCES: Section V.E bullet list for each bowl (effects summarized in the study’s own terms); Rev 15:1; the study’s telescoping note (Walvoord).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PLACEMENT: Section VI.B “The Geographic Route — Isaiah 63:1–6 and Bozrah/Edom,” after its bullets.
SOURCES: Section VI.B, following Fruchtenbaum, Footsteps of the Messiah, pp. 261–268 (route Bozrah → Jordan Valley → Jerusalem). Megiddo per Rev 16:16; Valley of Jehoshaphat per Joel 3:2, 12 (V.F.5). The route line and refuge area are schematic.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PLACEMENT: Section VII, between the opening paragraph and the resurrection table.
SOURCES: Section VII table and VII.A–B: Christ the firstfruits (1 Cor 15:20–23); the “many holy ones” (Matt 27:52–53) as a preview; Church-age believers at the Rapture (1 Thess 4:16); OT saints and Tribulation martyrs at the Second Coming (Dan 12:2; Rev 20:4–6); all unsaved after the Millennium (Rev 20:11–15). Harvest terms (firstfruits, harvest, gleanings) follow Pentecost, Things to Come, in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PLACEMENT: Section VIII, directly after the judgments table.
SOURCES: Section VIII table and VIII.A–G (time, subjects, basis and result of each judgment). Purpose of the chart: show that the Bema Seat and the Great White Throne are more than 1,000 years apart and concern different people (VIII intro).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PLACEMENT: Section IX.E “Population and Moral Conditions,” after its bullets.
SOURCES: Section IX.E (glorified saints do not procreate; mortal survivors repopulate the earth; their children are born with a sin nature and must personally believe; Satan bound; rod-of-iron rule); IX.B (co-regents, Rev 20:4; 2 Tim 2:12); VIII.D–E (Israel’s purging, Ezek 20:33–38; sheep and goats, Matt 25:31–46); X.A (final rebellion, Rev 20:7–9).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PLACEMENT: Section IX.J “Isaiah 65:17–25 — The New Creation and Millennial Life Described,” after its first paragraph.
SOURCES: Section IX.J (death and sin still present in Isa 65:20 → Millennium; no death in Rev 21:4 → eternal state). Added parallel references: Rev 21:27 (nothing unclean enters) and Rev 22:5 (reign forever).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PLACEMENT: Section IX.L, under “Zech 14:6–11 — Physical Transformation of the Land.”
SOURCES: Zech 14:4 (Mount of Olives split east to west, halves moving north and south, a very large valley); 14:8 (living waters, half to the eastern sea, half to the western sea, summer and winter); 14:10 (land made a plain from Geba to Rimmon; Jerusalem raised and remaining on its site); Ezek 47:1–12 (the Dead Sea healed). Section IX.L treats each of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PLACEMENT: Section X.A, at the note on Ezekiel 38–39.
SOURCES: Section X.A note (endnotes 105, 44): dispensational writers differ on whether Ezekiel 38–39 comes before the Tribulation, at its start, or at its midpoint, but agree it precedes the Millennium and is distinct from Rev 20:7–9, where the name is used typologically.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PLACEMENT: Section XI.E “The Transition from the Millennial Kingdom to the Eternal State.”
SOURCES: Section XI.E (sequence of 1 Cor 15:24–28; Luke 1:33; Rev 22:3; Pentecost, Things to Come, ch. XXXII, and Walvoord, summarized: completion of the mediatorial kingdom, not the end of Christ’s reign).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PLACEMENT: Section XI.F “The Old Testament Roots of the New Creation,” after its opening paragraph.
SOURCES: Pairings follow the XI.F bullets (Gen 2:9–10 / Rev 22:1–2; Gen 3:22–24 / Rev 21:25; 22:14; Isa 25:8 / Rev 21:4; Isa 60:19–20 / Rev 21:23; 22:5; Exod 25:8; Lev 26:11–12 / Rev 21:3) plus XI.D (no more curse, Rev 22:3; Gen 3:16–19). Framing per Pentecost, Things to Come, ch. XXXIII (summary, not quotation).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PLACEMENT: Appendix B.A, after “The Sovereignty Zone” (before B. The Boundary Matrix). A cropped version can sit at Section IX.D after its Key Takeaway.
SOURCES: Appendix B two-layer framework (Pentecost, Things to Come, pp. 89–90, summarized); Walvoord, Israel in Prophecy, p. 53; Ryrie Study Bible note on Gen 15:18. Colors follow the Appendix B matrix: green = covenant grant, blue = tribal grid.
MAP NOTE: Coastlines and rivers are real; boundaries are approximate. Gen 15:18 does not fix the southern desert edge or the line from Lebo-hamath to the Euphrates, so both are dashed. The shaded grant here covers roughly 250,000 sq mi; the study’s 300,000–350,000 figure depends on where that undefined southern edge is drawn. Tribal grid ≈ 13,500 sq mi.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PLACEMENT: Appendix B.D, after the “Tribal portions” bullet under “The Millennial Re-Allotment.”
SOURCES: Ezek 48:1–29 (tribal order), 48:8–22 (holy allotment, 25,000 cubits square, with the prince’s land on either side, 48:21), 48:30–35 (city gates and name). Appendix B.D lists the same tribal order and the sacred district.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PLACEMENT: Appendix E, above the “Summary of Tribulation (Rapture Timing) Views” table.
SOURCES: Appendix E table (timing and proponents for each view). Pre-wrath marker placed at the sixth seal, “late in the Tribulation,” as the table states; its exact position on the bar is schematic.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PLACEMENT: Appendix F, above the “Summary of Millennial Kingdom Views” table. Each non-dispensational view also has its own slide showing its resurrection and judgment points.
SOURCES: Appendix F table (views, natures of the kingdom, proponents). Panmillennialism is omitted because Appendix F itself treats it as an informal, non-scholarly 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PLACEMENT: Appendix F, after the overview slide (or beside the Amillennialism row).
SOURCES: Appendix F (nature of the kingdom; proponents). Resurrection and judgment points are the standard amillennial summary (e.g., Hoekema, The Bible and the Future, 1979): Satan’s binding linked to Christ’s first coming (Matt 12:29); the “first resurrection” read as spiritual; one general resurrection and one general judgment at Christ’s single return. Presented as amillennialists state it; the study’s assessment stays in the Appendix F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PLACEMENT: Appendix F, beside the Postmillennialism row.
SOURCES: Appendix F (nature of the kingdom; proponents). Resurrection and judgment points are the standard postmillennial summary: the millennium is a long era (a literal 1,000 years for some), the first resurrection is generally read spiritually, and a brief apostasy (Rev 20:7–9) precedes one return, one general resurrection and one general judgment. Presented as postmillennialists state it; the study’s assessment stays in Appendix 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PLACEMENT: Appendix F, beside the Premillennialism (Historic / Non-Dispensational) row.
SOURCES: Appendix F (nature of the kingdom; proponents) and Appendix E (posttribulational rapture: Ladd, Gundry, Moo). Two resurrections separated by the millennium, as in the study’s view; the differences are the Rapture’s timing and the Israel–Church distinction.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PLACEMENT: Appendix G, at the head of G.1 (or split: stats at G.1, bars at G.3).
SOURCES: Appendix G.1 table (Payne, Encyclopedia of Biblical Prophecy, 1973: 1,845+; 318 NT references; 300+ OT Messianic prophecies; ≈6:1 ratio as derived in the study; Ezek 40–48 = 9 chapters). Appendix G.3 table supplies the density rating for each book; bar lengths are those ratings (Low = 1 … VERY HIGH = 4), not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IAGRAM">
    <p:bg>
      <p:bgPr>
        <a:solidFill>
          <a:srgbClr val="FAF7EF"/>
        </a:solidFill>
      </p:bgPr>
    </p:bg>
    <p:spTree>
      <p:nvGrpSpPr>
        <p:cNvPr id="1" name=""/>
        <p:cNvGrpSpPr/>
        <p:nvPr/>
      </p:nvGrpSpPr>
      <p:grpSpPr>
        <a:xfrm>
          <a:off x="0" y="0"/>
          <a:ext cx="0" cy="0"/>
          <a:chOff x="0" y="0"/>
          <a:chExt cx="0" cy="0"/>
        </a:xfrm>
      </p:grpSpPr>
      <p:sp>
        <p:nvSpPr>
          <p:cNvPr id="2" name="Text 0"/>
          <p:cNvSpPr/>
          <p:nvPr/>
        </p:nvSpPr>
        <p:spPr>
          <a:xfrm>
            <a:off x="6217920" y="6419088"/>
            <a:ext cx="5486400" cy="274320"/>
          </a:xfrm>
          <a:prstGeom prst="rect">
            <a:avLst/>
          </a:prstGeom>
          <a:noFill/>
          <a:ln/>
        </p:spPr>
        <p:txBody>
          <a:bodyPr wrap="square" lIns="0" tIns="0" rIns="0" bIns="0" rtlCol="0" anchor="ctr"/>
          <a:lstStyle/>
          <a:p>
            <a:pPr algn="r" indent="0" marL="0">
              <a:buNone/>
            </a:pPr>
            <a:r>
              <a:rPr lang="en-US" sz="1000" dirty="0">
                <a:solidFill>
                  <a:srgbClr val="6B7A8F"/>
                </a:solidFill>
              </a:rPr>
              <a:t>God’s Prophetical Program for the Ages  ·  thegospelvault.com</a:t>
            </a:r>
            <a:endParaRPr lang="en-US" sz="1000" dirty="0"/>
          </a:p>
        </p:txBody>
      </p:sp>
      <p:sp>
        <p:nvSpPr>
          <p:cNvPr id="3" name="Text 1"/>
          <p:cNvSpPr/>
          <p:nvPr>
            <p:ph idx="101" type="title" hasCustomPrompt="1"/>
          </p:nvPr>
        </p:nvSpPr>
        <p:spPr>
          <a:xfrm>
            <a:off x="502920" y="292608"/>
            <a:ext cx="11155680" cy="621792"/>
          </a:xfrm>
          <a:prstGeom prst="rect">
            <a:avLst/>
          </a:prstGeom>
          <a:noFill/>
          <a:ln/>
        </p:spPr>
        <p:txBody>
          <a:bodyPr wrap="square" rtlCol="0"/>
          <a:lstStyle>
            <a:lvl1pPr algn="l" indent="0" marL="0">
              <a:buNone/>
              <a:defRPr lang="en-US" sz="3400" b="1" dirty="0">
                <a:solidFill>
                  <a:srgbClr val="1F3864"/>
                </a:solidFill>
              </a:defRPr>
            </a:lvl1pPr>
          </a:lstStyle>
          <a:p>
            <a:pPr algn="l" indent="0" marL="0">
              <a:buNone/>
            </a:pPr>
            <a:endParaRPr lang="en-US" sz="3400" dirty="0"/>
          </a:p>
        </p:txBody>
      </p:sp>
      <p:sp>
        <p:nvSpPr>
          <p:cNvPr id="4" name="Text 1"/>
          <p:cNvSpPr/>
          <p:nvPr>
            <p:ph idx="102" type="body" hasCustomPrompt="1"/>
          </p:nvPr>
        </p:nvSpPr>
        <p:spPr>
          <a:xfrm>
            <a:off x="502920" y="914400"/>
            <a:ext cx="11155680" cy="347472"/>
          </a:xfrm>
          <a:prstGeom prst="rect">
            <a:avLst/>
          </a:prstGeom>
          <a:noFill/>
          <a:ln/>
        </p:spPr>
        <p:txBody>
          <a:bodyPr wrap="square" rtlCol="0"/>
          <a:lstStyle>
            <a:lvl1pPr indent="0" marL="0">
              <a:buNone/>
              <a:defRPr lang="en-US" sz="1400" i="1" dirty="0">
                <a:solidFill>
                  <a:srgbClr val="6B7A8F"/>
                </a:solidFill>
              </a:defRPr>
            </a:lvl1pPr>
          </a:lstStyle>
          <a:p>
            <a:pPr indent="0" marL="0">
              <a:buNone/>
            </a:pPr>
            <a:endParaRPr lang="en-US" sz="1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11155680" cy="621792"/>
          </a:xfrm>
          <a:prstGeom prst="rect">
            <a:avLst/>
          </a:prstGeom>
          <a:noFill/>
          <a:ln/>
        </p:spPr>
        <p:txBody>
          <a:bodyPr wrap="square" lIns="0" tIns="0" rIns="0" bIns="0" rtlCol="0" anchor="ctr"/>
          <a:lstStyle/>
          <a:p>
            <a:pPr algn="l" indent="0" marL="0">
              <a:buNone/>
            </a:pPr>
            <a:r>
              <a:rPr lang="en-US" sz="3400" b="1" dirty="0">
                <a:solidFill>
                  <a:srgbClr val="1F3864"/>
                </a:solidFill>
              </a:rPr>
              <a:t>The Prophetic Program at a Glance</a:t>
            </a:r>
            <a:endParaRPr lang="en-US" sz="3400" dirty="0"/>
          </a:p>
        </p:txBody>
      </p:sp>
      <p:sp>
        <p:nvSpPr>
          <p:cNvPr id="3" name="Text 1"/>
          <p:cNvSpPr/>
          <p:nvPr>
            <p:ph idx="102" type="body" hasCustomPrompt="1"/>
          </p:nvPr>
        </p:nvSpPr>
        <p:spPr>
          <a:xfrm>
            <a:off x="502920" y="914400"/>
            <a:ext cx="11155680" cy="347472"/>
          </a:xfrm>
          <a:prstGeom prst="rect">
            <a:avLst/>
          </a:prstGeom>
          <a:noFill/>
          <a:ln/>
        </p:spPr>
        <p:txBody>
          <a:bodyPr wrap="square" lIns="0" tIns="0" rIns="0" bIns="0" rtlCol="0" anchor="ctr"/>
          <a:lstStyle/>
          <a:p>
            <a:pPr indent="0" marL="0">
              <a:buNone/>
            </a:pPr>
            <a:r>
              <a:rPr lang="en-US" sz="1400" i="1" dirty="0">
                <a:solidFill>
                  <a:srgbClr val="6B7A8F"/>
                </a:solidFill>
              </a:rPr>
              <a:t>From the Abrahamic Covenant to the Eternal State  ·  not to scale</a:t>
            </a:r>
            <a:endParaRPr lang="en-US" sz="1400" dirty="0"/>
          </a:p>
        </p:txBody>
      </p:sp>
      <p:sp>
        <p:nvSpPr>
          <p:cNvPr id="5" name="Text 2"/>
          <p:cNvSpPr txBox="1"/>
          <p:nvPr/>
        </p:nvSpPr>
        <p:spPr>
          <a:xfrm>
            <a:off x="548640" y="2331720"/>
            <a:ext cx="2377440" cy="822960"/>
          </a:xfrm>
          <a:prstGeom prst="rect">
            <a:avLst/>
          </a:prstGeom>
          <a:solidFill>
            <a:schemeClr val="accent1"/>
          </a:solidFill>
          <a:ln/>
        </p:spPr>
        <p:txBody>
          <a:bodyPr wrap="square" lIns="38100" tIns="38100" rIns="38100" bIns="38100" rtlCol="0" anchor="ctr"/>
          <a:lstStyle/>
          <a:p>
            <a:pPr algn="ctr" indent="0" marL="0">
              <a:buNone/>
            </a:pPr>
            <a:r>
              <a:rPr lang="en-US" sz="1300" b="1" dirty="0">
                <a:solidFill>
                  <a:schemeClr val="bg1"/>
                </a:solidFill>
              </a:rPr>
              <a:t>Israel &amp; the Law</a:t>
            </a:r>
            <a:endParaRPr lang="en-US" sz="1300" dirty="0"/>
          </a:p>
          <a:p>
            <a:pPr algn="ctr" indent="0" marL="0">
              <a:buNone/>
            </a:pPr>
            <a:r>
              <a:rPr lang="en-US" sz="1300" b="1" dirty="0">
                <a:solidFill>
                  <a:schemeClr val="bg1"/>
                </a:solidFill>
              </a:rPr>
              <a:t>Abraham → Messiah</a:t>
            </a:r>
            <a:endParaRPr lang="en-US" sz="1300" dirty="0"/>
          </a:p>
        </p:txBody>
      </p:sp>
      <p:sp>
        <p:nvSpPr>
          <p:cNvPr id="6" name="Text 3"/>
          <p:cNvSpPr txBox="1"/>
          <p:nvPr/>
        </p:nvSpPr>
        <p:spPr>
          <a:xfrm>
            <a:off x="2926080" y="2331720"/>
            <a:ext cx="3703320" cy="822960"/>
          </a:xfrm>
          <a:prstGeom prst="rect">
            <a:avLst/>
          </a:prstGeom>
          <a:solidFill>
            <a:schemeClr val="accent2"/>
          </a:solidFill>
          <a:ln/>
        </p:spPr>
        <p:txBody>
          <a:bodyPr wrap="square" lIns="38100" tIns="38100" rIns="38100" bIns="38100" rtlCol="0" anchor="ctr"/>
          <a:lstStyle/>
          <a:p>
            <a:pPr algn="ctr" indent="0" marL="0">
              <a:buNone/>
            </a:pPr>
            <a:r>
              <a:rPr lang="en-US" sz="1300" b="1" dirty="0">
                <a:solidFill>
                  <a:schemeClr val="bg1"/>
                </a:solidFill>
              </a:rPr>
              <a:t>The Church Age</a:t>
            </a:r>
            <a:endParaRPr lang="en-US" sz="1300" dirty="0"/>
          </a:p>
          <a:p>
            <a:pPr algn="ctr" indent="0" marL="0">
              <a:buNone/>
            </a:pPr>
            <a:r>
              <a:rPr lang="en-US" sz="1300" b="1" dirty="0">
                <a:solidFill>
                  <a:schemeClr val="bg1"/>
                </a:solidFill>
              </a:rPr>
              <a:t>the “gap” between Daniel’s 69th and 70th weeks</a:t>
            </a:r>
            <a:endParaRPr lang="en-US" sz="1300" dirty="0"/>
          </a:p>
        </p:txBody>
      </p:sp>
      <p:sp>
        <p:nvSpPr>
          <p:cNvPr id="7" name="Text 4"/>
          <p:cNvSpPr txBox="1"/>
          <p:nvPr/>
        </p:nvSpPr>
        <p:spPr>
          <a:xfrm>
            <a:off x="6629400" y="2331720"/>
            <a:ext cx="1371600" cy="822960"/>
          </a:xfrm>
          <a:prstGeom prst="rect">
            <a:avLst/>
          </a:prstGeom>
          <a:solidFill>
            <a:schemeClr val="accent4"/>
          </a:solidFill>
          <a:ln/>
        </p:spPr>
        <p:txBody>
          <a:bodyPr wrap="square" lIns="38100" tIns="38100" rIns="38100" bIns="38100" rtlCol="0" anchor="ctr"/>
          <a:lstStyle/>
          <a:p>
            <a:pPr algn="ctr" indent="0" marL="0">
              <a:buNone/>
            </a:pPr>
            <a:r>
              <a:rPr lang="en-US" sz="1300" b="1" dirty="0">
                <a:solidFill>
                  <a:schemeClr val="bg1"/>
                </a:solidFill>
              </a:rPr>
              <a:t>Tribulation</a:t>
            </a:r>
            <a:endParaRPr lang="en-US" sz="1300" dirty="0"/>
          </a:p>
          <a:p>
            <a:pPr algn="ctr" indent="0" marL="0">
              <a:buNone/>
            </a:pPr>
            <a:r>
              <a:rPr lang="en-US" sz="1300" b="1" dirty="0">
                <a:solidFill>
                  <a:schemeClr val="bg1"/>
                </a:solidFill>
              </a:rPr>
              <a:t>7 years</a:t>
            </a:r>
            <a:endParaRPr lang="en-US" sz="1300" dirty="0"/>
          </a:p>
        </p:txBody>
      </p:sp>
      <p:sp>
        <p:nvSpPr>
          <p:cNvPr id="8" name="Text 5"/>
          <p:cNvSpPr txBox="1"/>
          <p:nvPr/>
        </p:nvSpPr>
        <p:spPr>
          <a:xfrm>
            <a:off x="8001000" y="2331720"/>
            <a:ext cx="2468880" cy="822960"/>
          </a:xfrm>
          <a:prstGeom prst="rect">
            <a:avLst/>
          </a:prstGeom>
          <a:solidFill>
            <a:schemeClr val="accent3"/>
          </a:solidFill>
          <a:ln/>
        </p:spPr>
        <p:txBody>
          <a:bodyPr wrap="square" lIns="38100" tIns="38100" rIns="38100" bIns="38100" rtlCol="0" anchor="ctr"/>
          <a:lstStyle/>
          <a:p>
            <a:pPr algn="ctr" indent="0" marL="0">
              <a:buNone/>
            </a:pPr>
            <a:r>
              <a:rPr lang="en-US" sz="1300" b="1" dirty="0">
                <a:solidFill>
                  <a:schemeClr val="bg1"/>
                </a:solidFill>
              </a:rPr>
              <a:t>Millennial Kingdom</a:t>
            </a:r>
            <a:endParaRPr lang="en-US" sz="1300" dirty="0"/>
          </a:p>
          <a:p>
            <a:pPr algn="ctr" indent="0" marL="0">
              <a:buNone/>
            </a:pPr>
            <a:r>
              <a:rPr lang="en-US" sz="1300" b="1" dirty="0">
                <a:solidFill>
                  <a:schemeClr val="bg1"/>
                </a:solidFill>
              </a:rPr>
              <a:t>1,000 years (Rev 20:1–7)</a:t>
            </a:r>
            <a:endParaRPr lang="en-US" sz="1300" dirty="0"/>
          </a:p>
        </p:txBody>
      </p:sp>
      <p:sp>
        <p:nvSpPr>
          <p:cNvPr id="9" name="Text 6"/>
          <p:cNvSpPr txBox="1"/>
          <p:nvPr/>
        </p:nvSpPr>
        <p:spPr>
          <a:xfrm>
            <a:off x="10469880" y="2331720"/>
            <a:ext cx="1188720" cy="822960"/>
          </a:xfrm>
          <a:prstGeom prst="rect">
            <a:avLst/>
          </a:prstGeom>
          <a:solidFill>
            <a:schemeClr val="accent5"/>
          </a:solidFill>
          <a:ln/>
        </p:spPr>
        <p:txBody>
          <a:bodyPr wrap="square" lIns="38100" tIns="38100" rIns="38100" bIns="38100" rtlCol="0" anchor="ctr"/>
          <a:lstStyle/>
          <a:p>
            <a:pPr algn="ctr" indent="0" marL="0">
              <a:buNone/>
            </a:pPr>
            <a:r>
              <a:rPr lang="en-US" sz="1300" b="1" dirty="0">
                <a:solidFill>
                  <a:schemeClr val="bg1"/>
                </a:solidFill>
              </a:rPr>
              <a:t>Eternal</a:t>
            </a:r>
            <a:endParaRPr lang="en-US" sz="1300" dirty="0"/>
          </a:p>
          <a:p>
            <a:pPr algn="ctr" indent="0" marL="0">
              <a:buNone/>
            </a:pPr>
            <a:r>
              <a:rPr lang="en-US" sz="1300" b="1" dirty="0">
                <a:solidFill>
                  <a:schemeClr val="bg1"/>
                </a:solidFill>
              </a:rPr>
              <a:t>State</a:t>
            </a:r>
            <a:endParaRPr lang="en-US" sz="1300" dirty="0"/>
          </a:p>
        </p:txBody>
      </p:sp>
      <p:sp>
        <p:nvSpPr>
          <p:cNvPr id="10" name="Text 7"/>
          <p:cNvSpPr txBox="1"/>
          <p:nvPr/>
        </p:nvSpPr>
        <p:spPr>
          <a:xfrm>
            <a:off x="5486400" y="1572768"/>
            <a:ext cx="3657600" cy="384048"/>
          </a:xfrm>
          <a:prstGeom prst="roundRect">
            <a:avLst>
              <a:gd name="adj" fmla="val 19048"/>
            </a:avLst>
          </a:prstGeom>
          <a:solidFill>
            <a:srgbClr val="FFFFFF"/>
          </a:solidFill>
          <a:ln w="15875">
            <a:solidFill>
              <a:srgbClr val="375623"/>
            </a:solidFill>
          </a:ln>
        </p:spPr>
        <p:txBody>
          <a:bodyPr wrap="square" lIns="38100" tIns="38100" rIns="38100" bIns="38100" rtlCol="0" anchor="ctr"/>
          <a:lstStyle/>
          <a:p>
            <a:pPr algn="ctr" indent="0" marL="0">
              <a:buNone/>
            </a:pPr>
            <a:r>
              <a:rPr lang="en-US" sz="1100" b="1" dirty="0">
                <a:solidFill>
                  <a:schemeClr val="accent2"/>
                </a:solidFill>
              </a:rPr>
              <a:t>In heaven: Bema Seat · Marriage Supper of the Lamb</a:t>
            </a:r>
            <a:endParaRPr lang="en-US" sz="1100" dirty="0"/>
          </a:p>
        </p:txBody>
      </p:sp>
      <p:sp>
        <p:nvSpPr>
          <p:cNvPr id="11" name="Shape 8"/>
          <p:cNvSpPr/>
          <p:nvPr/>
        </p:nvSpPr>
        <p:spPr>
          <a:xfrm>
            <a:off x="7315200" y="1956816"/>
            <a:ext cx="0" cy="374904"/>
          </a:xfrm>
          <a:prstGeom prst="line">
            <a:avLst/>
          </a:prstGeom>
          <a:noFill/>
          <a:ln w="15875">
            <a:solidFill>
              <a:srgbClr val="375623"/>
            </a:solidFill>
            <a:prstDash val="dash"/>
          </a:ln>
        </p:spPr>
      </p:sp>
      <p:sp>
        <p:nvSpPr>
          <p:cNvPr id="12" name="Shape 9"/>
          <p:cNvSpPr/>
          <p:nvPr/>
        </p:nvSpPr>
        <p:spPr>
          <a:xfrm>
            <a:off x="548640" y="3154680"/>
            <a:ext cx="0" cy="274320"/>
          </a:xfrm>
          <a:prstGeom prst="line">
            <a:avLst/>
          </a:prstGeom>
          <a:noFill/>
          <a:ln w="15875">
            <a:solidFill>
              <a:srgbClr val="1F3864"/>
            </a:solidFill>
            <a:prstDash val="solid"/>
          </a:ln>
        </p:spPr>
      </p:sp>
      <p:sp>
        <p:nvSpPr>
          <p:cNvPr id="13" name="Shape 10"/>
          <p:cNvSpPr/>
          <p:nvPr/>
        </p:nvSpPr>
        <p:spPr>
          <a:xfrm>
            <a:off x="475488" y="3081528"/>
            <a:ext cx="146304" cy="146304"/>
          </a:xfrm>
          <a:prstGeom prst="ellipse">
            <a:avLst/>
          </a:prstGeom>
          <a:solidFill>
            <a:srgbClr val="1F3864"/>
          </a:solidFill>
          <a:ln w="12700">
            <a:solidFill>
              <a:srgbClr val="FAF7EF"/>
            </a:solidFill>
            <a:prstDash val="solid"/>
          </a:ln>
        </p:spPr>
      </p:sp>
      <p:sp>
        <p:nvSpPr>
          <p:cNvPr id="14" name="Text 11"/>
          <p:cNvSpPr txBox="1"/>
          <p:nvPr/>
        </p:nvSpPr>
        <p:spPr>
          <a:xfrm>
            <a:off x="548640" y="3474720"/>
            <a:ext cx="1737360" cy="685800"/>
          </a:xfrm>
          <a:prstGeom prst="rect">
            <a:avLst/>
          </a:prstGeom>
          <a:noFill/>
          <a:ln/>
        </p:spPr>
        <p:txBody>
          <a:bodyPr wrap="square" lIns="0" tIns="0" rIns="0" bIns="0" rtlCol="0" anchor="t"/>
          <a:lstStyle/>
          <a:p>
            <a:pPr algn="l" indent="0" marL="0">
              <a:buNone/>
            </a:pPr>
            <a:r>
              <a:rPr lang="en-US" sz="1100" dirty="0">
                <a:solidFill>
                  <a:schemeClr val="tx1"/>
                </a:solidFill>
              </a:rPr>
              <a:t>Abrahamic Covenant</a:t>
            </a:r>
            <a:endParaRPr lang="en-US" sz="1100" dirty="0"/>
          </a:p>
          <a:p>
            <a:pPr algn="l" indent="0" marL="0">
              <a:buNone/>
            </a:pPr>
            <a:r>
              <a:rPr lang="en-US" sz="1100" dirty="0">
                <a:solidFill>
                  <a:schemeClr val="tx1"/>
                </a:solidFill>
              </a:rPr>
              <a:t>c. 2091 BC</a:t>
            </a:r>
            <a:endParaRPr lang="en-US" sz="1100" dirty="0"/>
          </a:p>
          <a:p>
            <a:pPr algn="l" indent="0" marL="0">
              <a:buNone/>
            </a:pPr>
            <a:r>
              <a:rPr lang="en-US" sz="1100" dirty="0">
                <a:solidFill>
                  <a:schemeClr val="tx1"/>
                </a:solidFill>
              </a:rPr>
              <a:t>Gen 12; 15</a:t>
            </a:r>
            <a:endParaRPr lang="en-US" sz="1100" dirty="0"/>
          </a:p>
        </p:txBody>
      </p:sp>
      <p:sp>
        <p:nvSpPr>
          <p:cNvPr id="15" name="Shape 12"/>
          <p:cNvSpPr/>
          <p:nvPr/>
        </p:nvSpPr>
        <p:spPr>
          <a:xfrm>
            <a:off x="2926080" y="3154680"/>
            <a:ext cx="0" cy="274320"/>
          </a:xfrm>
          <a:prstGeom prst="line">
            <a:avLst/>
          </a:prstGeom>
          <a:noFill/>
          <a:ln w="15875">
            <a:solidFill>
              <a:srgbClr val="1F3864"/>
            </a:solidFill>
            <a:prstDash val="solid"/>
          </a:ln>
        </p:spPr>
      </p:sp>
      <p:sp>
        <p:nvSpPr>
          <p:cNvPr id="16" name="Shape 13"/>
          <p:cNvSpPr/>
          <p:nvPr/>
        </p:nvSpPr>
        <p:spPr>
          <a:xfrm>
            <a:off x="2852928" y="3081528"/>
            <a:ext cx="146304" cy="146304"/>
          </a:xfrm>
          <a:prstGeom prst="ellipse">
            <a:avLst/>
          </a:prstGeom>
          <a:solidFill>
            <a:srgbClr val="1F3864"/>
          </a:solidFill>
          <a:ln w="12700">
            <a:solidFill>
              <a:srgbClr val="FAF7EF"/>
            </a:solidFill>
            <a:prstDash val="solid"/>
          </a:ln>
        </p:spPr>
      </p:sp>
      <p:sp>
        <p:nvSpPr>
          <p:cNvPr id="17" name="Text 14"/>
          <p:cNvSpPr txBox="1"/>
          <p:nvPr/>
        </p:nvSpPr>
        <p:spPr>
          <a:xfrm>
            <a:off x="2057400" y="3474720"/>
            <a:ext cx="1737360" cy="685800"/>
          </a:xfrm>
          <a:prstGeom prst="rect">
            <a:avLst/>
          </a:prstGeom>
          <a:noFill/>
          <a:ln/>
        </p:spPr>
        <p:txBody>
          <a:bodyPr wrap="square" lIns="0" tIns="0" rIns="0" bIns="0" rtlCol="0" anchor="t"/>
          <a:lstStyle/>
          <a:p>
            <a:pPr algn="ctr" indent="0" marL="0">
              <a:buNone/>
            </a:pPr>
            <a:r>
              <a:rPr lang="en-US" sz="1100" dirty="0">
                <a:solidFill>
                  <a:schemeClr val="tx1"/>
                </a:solidFill>
              </a:rPr>
              <a:t>Cross · Resurrection</a:t>
            </a:r>
            <a:endParaRPr lang="en-US" sz="1100" dirty="0"/>
          </a:p>
          <a:p>
            <a:pPr algn="ctr" indent="0" marL="0">
              <a:buNone/>
            </a:pPr>
            <a:r>
              <a:rPr lang="en-US" sz="1100" dirty="0">
                <a:solidFill>
                  <a:schemeClr val="tx1"/>
                </a:solidFill>
              </a:rPr>
              <a:t>Pentecost</a:t>
            </a:r>
            <a:endParaRPr lang="en-US" sz="1100" dirty="0"/>
          </a:p>
          <a:p>
            <a:pPr algn="ctr" indent="0" marL="0">
              <a:buNone/>
            </a:pPr>
            <a:r>
              <a:rPr lang="en-US" sz="1100" dirty="0">
                <a:solidFill>
                  <a:schemeClr val="tx1"/>
                </a:solidFill>
              </a:rPr>
              <a:t>AD 33</a:t>
            </a:r>
            <a:endParaRPr lang="en-US" sz="1100" dirty="0"/>
          </a:p>
        </p:txBody>
      </p:sp>
      <p:sp>
        <p:nvSpPr>
          <p:cNvPr id="18" name="Shape 15"/>
          <p:cNvSpPr/>
          <p:nvPr/>
        </p:nvSpPr>
        <p:spPr>
          <a:xfrm>
            <a:off x="6629400" y="3154680"/>
            <a:ext cx="0" cy="274320"/>
          </a:xfrm>
          <a:prstGeom prst="line">
            <a:avLst/>
          </a:prstGeom>
          <a:noFill/>
          <a:ln w="15875">
            <a:solidFill>
              <a:srgbClr val="1F3864"/>
            </a:solidFill>
            <a:prstDash val="solid"/>
          </a:ln>
        </p:spPr>
      </p:sp>
      <p:sp>
        <p:nvSpPr>
          <p:cNvPr id="19" name="Shape 16"/>
          <p:cNvSpPr/>
          <p:nvPr/>
        </p:nvSpPr>
        <p:spPr>
          <a:xfrm>
            <a:off x="6556248" y="3081528"/>
            <a:ext cx="146304" cy="146304"/>
          </a:xfrm>
          <a:prstGeom prst="ellipse">
            <a:avLst/>
          </a:prstGeom>
          <a:solidFill>
            <a:srgbClr val="1F3864"/>
          </a:solidFill>
          <a:ln w="12700">
            <a:solidFill>
              <a:srgbClr val="FAF7EF"/>
            </a:solidFill>
            <a:prstDash val="solid"/>
          </a:ln>
        </p:spPr>
      </p:sp>
      <p:sp>
        <p:nvSpPr>
          <p:cNvPr id="20" name="Text 17"/>
          <p:cNvSpPr txBox="1"/>
          <p:nvPr/>
        </p:nvSpPr>
        <p:spPr>
          <a:xfrm>
            <a:off x="5760720" y="3474720"/>
            <a:ext cx="1737360" cy="685800"/>
          </a:xfrm>
          <a:prstGeom prst="rect">
            <a:avLst/>
          </a:prstGeom>
          <a:noFill/>
          <a:ln/>
        </p:spPr>
        <p:txBody>
          <a:bodyPr wrap="square" lIns="0" tIns="0" rIns="0" bIns="0" rtlCol="0" anchor="t"/>
          <a:lstStyle/>
          <a:p>
            <a:pPr algn="ctr" indent="0" marL="0">
              <a:buNone/>
            </a:pPr>
            <a:r>
              <a:rPr lang="en-US" sz="1100" dirty="0">
                <a:solidFill>
                  <a:schemeClr val="tx1"/>
                </a:solidFill>
              </a:rPr>
              <a:t>Rapture</a:t>
            </a:r>
            <a:endParaRPr lang="en-US" sz="1100" dirty="0"/>
          </a:p>
          <a:p>
            <a:pPr algn="ctr" indent="0" marL="0">
              <a:buNone/>
            </a:pPr>
            <a:r>
              <a:rPr lang="en-US" sz="1100" dirty="0">
                <a:solidFill>
                  <a:schemeClr val="tx1"/>
                </a:solidFill>
              </a:rPr>
              <a:t>1 Thess 4:13–18</a:t>
            </a:r>
            <a:endParaRPr lang="en-US" sz="1100" dirty="0"/>
          </a:p>
        </p:txBody>
      </p:sp>
      <p:sp>
        <p:nvSpPr>
          <p:cNvPr id="21" name="Shape 18"/>
          <p:cNvSpPr/>
          <p:nvPr/>
        </p:nvSpPr>
        <p:spPr>
          <a:xfrm>
            <a:off x="7315200" y="3154680"/>
            <a:ext cx="0" cy="1005840"/>
          </a:xfrm>
          <a:prstGeom prst="line">
            <a:avLst/>
          </a:prstGeom>
          <a:noFill/>
          <a:ln w="15875">
            <a:solidFill>
              <a:srgbClr val="1F3864"/>
            </a:solidFill>
            <a:prstDash val="solid"/>
          </a:ln>
        </p:spPr>
      </p:sp>
      <p:sp>
        <p:nvSpPr>
          <p:cNvPr id="22" name="Shape 19"/>
          <p:cNvSpPr/>
          <p:nvPr/>
        </p:nvSpPr>
        <p:spPr>
          <a:xfrm>
            <a:off x="7242048" y="3081528"/>
            <a:ext cx="146304" cy="146304"/>
          </a:xfrm>
          <a:prstGeom prst="ellipse">
            <a:avLst/>
          </a:prstGeom>
          <a:solidFill>
            <a:srgbClr val="1F3864"/>
          </a:solidFill>
          <a:ln w="12700">
            <a:solidFill>
              <a:srgbClr val="FAF7EF"/>
            </a:solidFill>
            <a:prstDash val="solid"/>
          </a:ln>
        </p:spPr>
      </p:sp>
      <p:sp>
        <p:nvSpPr>
          <p:cNvPr id="23" name="Text 20"/>
          <p:cNvSpPr txBox="1"/>
          <p:nvPr/>
        </p:nvSpPr>
        <p:spPr>
          <a:xfrm>
            <a:off x="6446520" y="4206240"/>
            <a:ext cx="1737360" cy="685800"/>
          </a:xfrm>
          <a:prstGeom prst="rect">
            <a:avLst/>
          </a:prstGeom>
          <a:noFill/>
          <a:ln/>
        </p:spPr>
        <p:txBody>
          <a:bodyPr wrap="square" lIns="0" tIns="0" rIns="0" bIns="0" rtlCol="0" anchor="t"/>
          <a:lstStyle/>
          <a:p>
            <a:pPr algn="ctr" indent="0" marL="0">
              <a:buNone/>
            </a:pPr>
            <a:r>
              <a:rPr lang="en-US" sz="1100" dirty="0">
                <a:solidFill>
                  <a:schemeClr val="tx1"/>
                </a:solidFill>
              </a:rPr>
              <a:t>Abomination</a:t>
            </a:r>
            <a:endParaRPr lang="en-US" sz="1100" dirty="0"/>
          </a:p>
          <a:p>
            <a:pPr algn="ctr" indent="0" marL="0">
              <a:buNone/>
            </a:pPr>
            <a:r>
              <a:rPr lang="en-US" sz="1100" dirty="0">
                <a:solidFill>
                  <a:schemeClr val="tx1"/>
                </a:solidFill>
              </a:rPr>
              <a:t>(midpoint)</a:t>
            </a:r>
            <a:endParaRPr lang="en-US" sz="1100" dirty="0"/>
          </a:p>
          <a:p>
            <a:pPr algn="ctr" indent="0" marL="0">
              <a:buNone/>
            </a:pPr>
            <a:r>
              <a:rPr lang="en-US" sz="1100" dirty="0">
                <a:solidFill>
                  <a:schemeClr val="tx1"/>
                </a:solidFill>
              </a:rPr>
              <a:t>Dan 9:27</a:t>
            </a:r>
            <a:endParaRPr lang="en-US" sz="1100" dirty="0"/>
          </a:p>
        </p:txBody>
      </p:sp>
      <p:sp>
        <p:nvSpPr>
          <p:cNvPr id="24" name="Shape 21"/>
          <p:cNvSpPr/>
          <p:nvPr/>
        </p:nvSpPr>
        <p:spPr>
          <a:xfrm>
            <a:off x="8001000" y="3154680"/>
            <a:ext cx="0" cy="274320"/>
          </a:xfrm>
          <a:prstGeom prst="line">
            <a:avLst/>
          </a:prstGeom>
          <a:noFill/>
          <a:ln w="15875">
            <a:solidFill>
              <a:srgbClr val="1F3864"/>
            </a:solidFill>
            <a:prstDash val="solid"/>
          </a:ln>
        </p:spPr>
      </p:sp>
      <p:sp>
        <p:nvSpPr>
          <p:cNvPr id="25" name="Shape 22"/>
          <p:cNvSpPr/>
          <p:nvPr/>
        </p:nvSpPr>
        <p:spPr>
          <a:xfrm>
            <a:off x="7927848" y="3081528"/>
            <a:ext cx="146304" cy="146304"/>
          </a:xfrm>
          <a:prstGeom prst="ellipse">
            <a:avLst/>
          </a:prstGeom>
          <a:solidFill>
            <a:srgbClr val="1F3864"/>
          </a:solidFill>
          <a:ln w="12700">
            <a:solidFill>
              <a:srgbClr val="FAF7EF"/>
            </a:solidFill>
            <a:prstDash val="solid"/>
          </a:ln>
        </p:spPr>
      </p:sp>
      <p:sp>
        <p:nvSpPr>
          <p:cNvPr id="26" name="Text 23"/>
          <p:cNvSpPr txBox="1"/>
          <p:nvPr/>
        </p:nvSpPr>
        <p:spPr>
          <a:xfrm>
            <a:off x="7132320" y="3474720"/>
            <a:ext cx="1737360" cy="685800"/>
          </a:xfrm>
          <a:prstGeom prst="rect">
            <a:avLst/>
          </a:prstGeom>
          <a:noFill/>
          <a:ln/>
        </p:spPr>
        <p:txBody>
          <a:bodyPr wrap="square" lIns="0" tIns="0" rIns="0" bIns="0" rtlCol="0" anchor="t"/>
          <a:lstStyle/>
          <a:p>
            <a:pPr algn="ctr" indent="0" marL="0">
              <a:buNone/>
            </a:pPr>
            <a:r>
              <a:rPr lang="en-US" sz="1100" dirty="0">
                <a:solidFill>
                  <a:schemeClr val="tx1"/>
                </a:solidFill>
              </a:rPr>
              <a:t>Second Coming</a:t>
            </a:r>
            <a:endParaRPr lang="en-US" sz="1100" dirty="0"/>
          </a:p>
          <a:p>
            <a:pPr algn="ctr" indent="0" marL="0">
              <a:buNone/>
            </a:pPr>
            <a:r>
              <a:rPr lang="en-US" sz="1100" dirty="0">
                <a:solidFill>
                  <a:schemeClr val="tx1"/>
                </a:solidFill>
              </a:rPr>
              <a:t>Rev 19:11–21</a:t>
            </a:r>
            <a:endParaRPr lang="en-US" sz="1100" dirty="0"/>
          </a:p>
        </p:txBody>
      </p:sp>
      <p:sp>
        <p:nvSpPr>
          <p:cNvPr id="27" name="Shape 24"/>
          <p:cNvSpPr/>
          <p:nvPr/>
        </p:nvSpPr>
        <p:spPr>
          <a:xfrm>
            <a:off x="10469880" y="3154680"/>
            <a:ext cx="0" cy="274320"/>
          </a:xfrm>
          <a:prstGeom prst="line">
            <a:avLst/>
          </a:prstGeom>
          <a:noFill/>
          <a:ln w="15875">
            <a:solidFill>
              <a:srgbClr val="1F3864"/>
            </a:solidFill>
            <a:prstDash val="solid"/>
          </a:ln>
        </p:spPr>
      </p:sp>
      <p:sp>
        <p:nvSpPr>
          <p:cNvPr id="28" name="Shape 25"/>
          <p:cNvSpPr/>
          <p:nvPr/>
        </p:nvSpPr>
        <p:spPr>
          <a:xfrm>
            <a:off x="10396728" y="3081528"/>
            <a:ext cx="146304" cy="146304"/>
          </a:xfrm>
          <a:prstGeom prst="ellipse">
            <a:avLst/>
          </a:prstGeom>
          <a:solidFill>
            <a:srgbClr val="1F3864"/>
          </a:solidFill>
          <a:ln w="12700">
            <a:solidFill>
              <a:srgbClr val="FAF7EF"/>
            </a:solidFill>
            <a:prstDash val="solid"/>
          </a:ln>
        </p:spPr>
      </p:sp>
      <p:sp>
        <p:nvSpPr>
          <p:cNvPr id="29" name="Text 26"/>
          <p:cNvSpPr txBox="1"/>
          <p:nvPr/>
        </p:nvSpPr>
        <p:spPr>
          <a:xfrm>
            <a:off x="9601200" y="3474720"/>
            <a:ext cx="1737360" cy="685800"/>
          </a:xfrm>
          <a:prstGeom prst="rect">
            <a:avLst/>
          </a:prstGeom>
          <a:noFill/>
          <a:ln/>
        </p:spPr>
        <p:txBody>
          <a:bodyPr wrap="square" lIns="0" tIns="0" rIns="0" bIns="0" rtlCol="0" anchor="t"/>
          <a:lstStyle/>
          <a:p>
            <a:pPr algn="ctr" indent="0" marL="0">
              <a:buNone/>
            </a:pPr>
            <a:r>
              <a:rPr lang="en-US" sz="1100" dirty="0">
                <a:solidFill>
                  <a:schemeClr val="tx1"/>
                </a:solidFill>
              </a:rPr>
              <a:t>Final Rebellion</a:t>
            </a:r>
            <a:endParaRPr lang="en-US" sz="1100" dirty="0"/>
          </a:p>
          <a:p>
            <a:pPr algn="ctr" indent="0" marL="0">
              <a:buNone/>
            </a:pPr>
            <a:r>
              <a:rPr lang="en-US" sz="1100" dirty="0">
                <a:solidFill>
                  <a:schemeClr val="tx1"/>
                </a:solidFill>
              </a:rPr>
              <a:t>Great White Throne</a:t>
            </a:r>
            <a:endParaRPr lang="en-US" sz="1100" dirty="0"/>
          </a:p>
          <a:p>
            <a:pPr algn="ctr" indent="0" marL="0">
              <a:buNone/>
            </a:pPr>
            <a:r>
              <a:rPr lang="en-US" sz="1100" dirty="0">
                <a:solidFill>
                  <a:schemeClr val="tx1"/>
                </a:solidFill>
              </a:rPr>
              <a:t>Rev 20:7–15</a:t>
            </a:r>
            <a:endParaRPr lang="en-US" sz="1100" dirty="0"/>
          </a:p>
        </p:txBody>
      </p:sp>
      <p:sp>
        <p:nvSpPr>
          <p:cNvPr id="30" name="Text 27"/>
          <p:cNvSpPr txBox="1"/>
          <p:nvPr/>
        </p:nvSpPr>
        <p:spPr>
          <a:xfrm>
            <a:off x="548640" y="4873752"/>
            <a:ext cx="2194560" cy="274320"/>
          </a:xfrm>
          <a:prstGeom prst="rect">
            <a:avLst/>
          </a:prstGeom>
          <a:noFill/>
          <a:ln/>
        </p:spPr>
        <p:txBody>
          <a:bodyPr wrap="square" lIns="0" tIns="0" rIns="0" bIns="0" rtlCol="0" anchor="t"/>
          <a:lstStyle/>
          <a:p>
            <a:pPr algn="l" indent="0" marL="0">
              <a:buNone/>
            </a:pPr>
            <a:r>
              <a:rPr lang="en-US" sz="1100" b="1" dirty="0">
                <a:solidFill>
                  <a:schemeClr val="accent6"/>
                </a:solidFill>
              </a:rPr>
              <a:t>RESURRECTIONS</a:t>
            </a:r>
            <a:endParaRPr lang="en-US" sz="1100" dirty="0"/>
          </a:p>
        </p:txBody>
      </p:sp>
      <p:sp>
        <p:nvSpPr>
          <p:cNvPr id="31" name="Text 28"/>
          <p:cNvSpPr txBox="1"/>
          <p:nvPr/>
        </p:nvSpPr>
        <p:spPr>
          <a:xfrm>
            <a:off x="2926080" y="4892040"/>
            <a:ext cx="5074920" cy="384048"/>
          </a:xfrm>
          <a:prstGeom prst="rect">
            <a:avLst/>
          </a:prstGeom>
          <a:solidFill>
            <a:srgbClr val="FFFFFF"/>
          </a:solidFill>
          <a:ln w="12700">
            <a:solidFill>
              <a:srgbClr val="375623"/>
            </a:solidFill>
          </a:ln>
        </p:spPr>
        <p:txBody>
          <a:bodyPr wrap="square" lIns="38100" tIns="38100" rIns="38100" bIns="38100" rtlCol="0" anchor="ctr"/>
          <a:lstStyle/>
          <a:p>
            <a:pPr algn="ctr" indent="0" marL="0">
              <a:buNone/>
            </a:pPr>
            <a:r>
              <a:rPr lang="en-US" sz="1100" b="1" dirty="0">
                <a:solidFill>
                  <a:schemeClr val="accent2"/>
                </a:solidFill>
              </a:rPr>
              <a:t>First resurrection — in stages: Christ → Church → OT &amp; Tribulation saints</a:t>
            </a:r>
            <a:endParaRPr lang="en-US" sz="1100" dirty="0"/>
          </a:p>
        </p:txBody>
      </p:sp>
      <p:sp>
        <p:nvSpPr>
          <p:cNvPr id="32" name="Text 29"/>
          <p:cNvSpPr txBox="1"/>
          <p:nvPr/>
        </p:nvSpPr>
        <p:spPr>
          <a:xfrm>
            <a:off x="9555480" y="4892040"/>
            <a:ext cx="1828800" cy="384048"/>
          </a:xfrm>
          <a:prstGeom prst="rect">
            <a:avLst/>
          </a:prstGeom>
          <a:solidFill>
            <a:srgbClr val="FFFFFF"/>
          </a:solidFill>
          <a:ln w="12700">
            <a:solidFill>
              <a:srgbClr val="8B2E2E"/>
            </a:solidFill>
          </a:ln>
        </p:spPr>
        <p:txBody>
          <a:bodyPr wrap="square" lIns="38100" tIns="38100" rIns="38100" bIns="38100" rtlCol="0" anchor="ctr"/>
          <a:lstStyle/>
          <a:p>
            <a:pPr algn="ctr" indent="0" marL="0">
              <a:buNone/>
            </a:pPr>
            <a:r>
              <a:rPr lang="en-US" sz="1100" b="1" dirty="0">
                <a:solidFill>
                  <a:schemeClr val="accent4"/>
                </a:solidFill>
              </a:rPr>
              <a:t>Second resurrection</a:t>
            </a:r>
            <a:endParaRPr lang="en-US" sz="1100" dirty="0"/>
          </a:p>
        </p:txBody>
      </p:sp>
      <p:sp>
        <p:nvSpPr>
          <p:cNvPr id="33" name="Text 30"/>
          <p:cNvSpPr txBox="1"/>
          <p:nvPr/>
        </p:nvSpPr>
        <p:spPr>
          <a:xfrm>
            <a:off x="7818120" y="5349240"/>
            <a:ext cx="2743200" cy="274320"/>
          </a:xfrm>
          <a:prstGeom prst="rect">
            <a:avLst/>
          </a:prstGeom>
          <a:noFill/>
          <a:ln/>
        </p:spPr>
        <p:txBody>
          <a:bodyPr wrap="square" lIns="0" tIns="0" rIns="0" bIns="0" rtlCol="0" anchor="t"/>
          <a:lstStyle/>
          <a:p>
            <a:pPr algn="ctr" indent="0" marL="0">
              <a:buNone/>
            </a:pPr>
            <a:r>
              <a:rPr lang="en-US" sz="1000" i="1" dirty="0">
                <a:solidFill>
                  <a:schemeClr val="accent6"/>
                </a:solidFill>
              </a:rPr>
              <a:t>1,000 years between (Rev 20:5)</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11155680" cy="621792"/>
          </a:xfrm>
          <a:prstGeom prst="rect">
            <a:avLst/>
          </a:prstGeom>
          <a:noFill/>
          <a:ln/>
        </p:spPr>
        <p:txBody>
          <a:bodyPr wrap="square" lIns="0" tIns="0" rIns="0" bIns="0" rtlCol="0" anchor="ctr"/>
          <a:lstStyle/>
          <a:p>
            <a:pPr algn="l" indent="0" marL="0">
              <a:buNone/>
            </a:pPr>
            <a:r>
              <a:rPr lang="en-US" sz="3400" b="1" dirty="0">
                <a:solidFill>
                  <a:srgbClr val="1F3864"/>
                </a:solidFill>
              </a:rPr>
              <a:t>The Seven Dispensations</a:t>
            </a:r>
            <a:endParaRPr lang="en-US" sz="3400" dirty="0"/>
          </a:p>
        </p:txBody>
      </p:sp>
      <p:sp>
        <p:nvSpPr>
          <p:cNvPr id="3" name="Text 1"/>
          <p:cNvSpPr/>
          <p:nvPr>
            <p:ph idx="102" type="body" hasCustomPrompt="1"/>
          </p:nvPr>
        </p:nvSpPr>
        <p:spPr>
          <a:xfrm>
            <a:off x="502920" y="914400"/>
            <a:ext cx="11155680" cy="347472"/>
          </a:xfrm>
          <a:prstGeom prst="rect">
            <a:avLst/>
          </a:prstGeom>
          <a:noFill/>
          <a:ln/>
        </p:spPr>
        <p:txBody>
          <a:bodyPr wrap="square" lIns="0" tIns="0" rIns="0" bIns="0" rtlCol="0" anchor="ctr"/>
          <a:lstStyle/>
          <a:p>
            <a:pPr indent="0" marL="0">
              <a:buNone/>
            </a:pPr>
            <a:r>
              <a:rPr lang="en-US" sz="1400" i="1" dirty="0">
                <a:solidFill>
                  <a:srgbClr val="6B7A8F"/>
                </a:solidFill>
              </a:rPr>
              <a:t>Each economy: a revelation of God’s will, a test, human failure, and judgment (Ryrie)</a:t>
            </a:r>
            <a:endParaRPr lang="en-US" sz="1400" dirty="0"/>
          </a:p>
        </p:txBody>
      </p:sp>
      <p:sp>
        <p:nvSpPr>
          <p:cNvPr id="5" name="Text 2"/>
          <p:cNvSpPr txBox="1"/>
          <p:nvPr/>
        </p:nvSpPr>
        <p:spPr>
          <a:xfrm>
            <a:off x="548640" y="1865376"/>
            <a:ext cx="1234440" cy="274320"/>
          </a:xfrm>
          <a:prstGeom prst="rect">
            <a:avLst/>
          </a:prstGeom>
          <a:noFill/>
          <a:ln/>
        </p:spPr>
        <p:txBody>
          <a:bodyPr wrap="square" lIns="0" tIns="0" rIns="0" bIns="0" rtlCol="0" anchor="t"/>
          <a:lstStyle/>
          <a:p>
            <a:pPr algn="l" indent="0" marL="0">
              <a:buNone/>
            </a:pPr>
            <a:r>
              <a:rPr lang="en-US" sz="1100" b="1" dirty="0">
                <a:solidFill>
                  <a:schemeClr val="accent6"/>
                </a:solidFill>
              </a:rPr>
              <a:t>SCRIPTURE</a:t>
            </a:r>
            <a:endParaRPr lang="en-US" sz="1100" dirty="0"/>
          </a:p>
        </p:txBody>
      </p:sp>
      <p:sp>
        <p:nvSpPr>
          <p:cNvPr id="6" name="Text 3"/>
          <p:cNvSpPr txBox="1"/>
          <p:nvPr/>
        </p:nvSpPr>
        <p:spPr>
          <a:xfrm>
            <a:off x="548640" y="2487168"/>
            <a:ext cx="1234440" cy="274320"/>
          </a:xfrm>
          <a:prstGeom prst="rect">
            <a:avLst/>
          </a:prstGeom>
          <a:noFill/>
          <a:ln/>
        </p:spPr>
        <p:txBody>
          <a:bodyPr wrap="square" lIns="0" tIns="0" rIns="0" bIns="0" rtlCol="0" anchor="t"/>
          <a:lstStyle/>
          <a:p>
            <a:pPr algn="l" indent="0" marL="0">
              <a:buNone/>
            </a:pPr>
            <a:r>
              <a:rPr lang="en-US" sz="1100" b="1" dirty="0">
                <a:solidFill>
                  <a:schemeClr val="accent6"/>
                </a:solidFill>
              </a:rPr>
              <a:t>THE TEST</a:t>
            </a:r>
            <a:endParaRPr lang="en-US" sz="1100" dirty="0"/>
          </a:p>
        </p:txBody>
      </p:sp>
      <p:sp>
        <p:nvSpPr>
          <p:cNvPr id="7" name="Text 4"/>
          <p:cNvSpPr txBox="1"/>
          <p:nvPr/>
        </p:nvSpPr>
        <p:spPr>
          <a:xfrm>
            <a:off x="548640" y="3273552"/>
            <a:ext cx="1234440" cy="274320"/>
          </a:xfrm>
          <a:prstGeom prst="rect">
            <a:avLst/>
          </a:prstGeom>
          <a:noFill/>
          <a:ln/>
        </p:spPr>
        <p:txBody>
          <a:bodyPr wrap="square" lIns="0" tIns="0" rIns="0" bIns="0" rtlCol="0" anchor="t"/>
          <a:lstStyle/>
          <a:p>
            <a:pPr algn="l" indent="0" marL="0">
              <a:buNone/>
            </a:pPr>
            <a:r>
              <a:rPr lang="en-US" sz="1100" b="1" dirty="0">
                <a:solidFill>
                  <a:schemeClr val="accent6"/>
                </a:solidFill>
              </a:rPr>
              <a:t>FAILURE</a:t>
            </a:r>
            <a:endParaRPr lang="en-US" sz="1100" dirty="0"/>
          </a:p>
        </p:txBody>
      </p:sp>
      <p:sp>
        <p:nvSpPr>
          <p:cNvPr id="8" name="Text 5"/>
          <p:cNvSpPr txBox="1"/>
          <p:nvPr/>
        </p:nvSpPr>
        <p:spPr>
          <a:xfrm>
            <a:off x="548640" y="4059936"/>
            <a:ext cx="1234440" cy="274320"/>
          </a:xfrm>
          <a:prstGeom prst="rect">
            <a:avLst/>
          </a:prstGeom>
          <a:noFill/>
          <a:ln/>
        </p:spPr>
        <p:txBody>
          <a:bodyPr wrap="square" lIns="0" tIns="0" rIns="0" bIns="0" rtlCol="0" anchor="t"/>
          <a:lstStyle/>
          <a:p>
            <a:pPr algn="l" indent="0" marL="0">
              <a:buNone/>
            </a:pPr>
            <a:r>
              <a:rPr lang="en-US" sz="1100" b="1" dirty="0">
                <a:solidFill>
                  <a:schemeClr val="accent6"/>
                </a:solidFill>
              </a:rPr>
              <a:t>JUDGMENT</a:t>
            </a:r>
            <a:endParaRPr lang="en-US" sz="1100" dirty="0"/>
          </a:p>
        </p:txBody>
      </p:sp>
      <p:sp>
        <p:nvSpPr>
          <p:cNvPr id="9" name="Text 6"/>
          <p:cNvSpPr txBox="1"/>
          <p:nvPr/>
        </p:nvSpPr>
        <p:spPr>
          <a:xfrm>
            <a:off x="1883664" y="1371600"/>
            <a:ext cx="1345474" cy="384048"/>
          </a:xfrm>
          <a:prstGeom prst="roundRect">
            <a:avLst>
              <a:gd name="adj" fmla="val 19048"/>
            </a:avLst>
          </a:prstGeom>
          <a:solidFill>
            <a:srgbClr val="2E5496"/>
          </a:solidFill>
          <a:ln/>
        </p:spPr>
        <p:txBody>
          <a:bodyPr wrap="square" lIns="38100" tIns="38100" rIns="38100" bIns="38100" rtlCol="0" anchor="ctr"/>
          <a:lstStyle/>
          <a:p>
            <a:pPr algn="ctr" indent="0" marL="0">
              <a:buNone/>
            </a:pPr>
            <a:r>
              <a:rPr lang="en-US" sz="1200" b="1" dirty="0">
                <a:solidFill>
                  <a:schemeClr val="bg1"/>
                </a:solidFill>
              </a:rPr>
              <a:t>Innocence</a:t>
            </a:r>
            <a:endParaRPr lang="en-US" sz="1200" dirty="0"/>
          </a:p>
        </p:txBody>
      </p:sp>
      <p:sp>
        <p:nvSpPr>
          <p:cNvPr id="10" name="Text 7"/>
          <p:cNvSpPr txBox="1"/>
          <p:nvPr/>
        </p:nvSpPr>
        <p:spPr>
          <a:xfrm>
            <a:off x="1883664" y="1810512"/>
            <a:ext cx="1345474" cy="384048"/>
          </a:xfrm>
          <a:prstGeom prst="rect">
            <a:avLst/>
          </a:prstGeom>
          <a:solidFill>
            <a:srgbClr val="EEF1F6"/>
          </a:solidFill>
          <a:ln w="9525">
            <a:solidFill>
              <a:srgbClr val="C8CCD3"/>
            </a:solidFill>
          </a:ln>
        </p:spPr>
        <p:txBody>
          <a:bodyPr wrap="square" lIns="38100" tIns="38100" rIns="38100" bIns="38100" rtlCol="0" anchor="ctr"/>
          <a:lstStyle/>
          <a:p>
            <a:pPr algn="ctr" indent="0" marL="0">
              <a:buNone/>
            </a:pPr>
            <a:r>
              <a:rPr lang="en-US" sz="1000" dirty="0">
                <a:solidFill>
                  <a:schemeClr val="tx1"/>
                </a:solidFill>
              </a:rPr>
              <a:t>Gen 1:28–3:6</a:t>
            </a:r>
            <a:endParaRPr lang="en-US" sz="1000" dirty="0"/>
          </a:p>
        </p:txBody>
      </p:sp>
      <p:sp>
        <p:nvSpPr>
          <p:cNvPr id="11" name="Text 8"/>
          <p:cNvSpPr txBox="1"/>
          <p:nvPr/>
        </p:nvSpPr>
        <p:spPr>
          <a:xfrm>
            <a:off x="1883664" y="2267712"/>
            <a:ext cx="1345474" cy="713232"/>
          </a:xfrm>
          <a:prstGeom prst="rect">
            <a:avLst/>
          </a:prstGeom>
          <a:solidFill>
            <a:srgbClr val="FFFFFF"/>
          </a:solidFill>
          <a:ln w="9525">
            <a:solidFill>
              <a:srgbClr val="C8CCD3"/>
            </a:solidFill>
          </a:ln>
        </p:spPr>
        <p:txBody>
          <a:bodyPr wrap="square" lIns="38100" tIns="38100" rIns="38100" bIns="38100" rtlCol="0" anchor="ctr"/>
          <a:lstStyle/>
          <a:p>
            <a:pPr algn="ctr" indent="0" marL="0">
              <a:buNone/>
            </a:pPr>
            <a:r>
              <a:rPr lang="en-US" sz="1100" dirty="0">
                <a:solidFill>
                  <a:schemeClr val="tx1"/>
                </a:solidFill>
              </a:rPr>
              <a:t>Obey God in Eden</a:t>
            </a:r>
            <a:endParaRPr lang="en-US" sz="1100" dirty="0"/>
          </a:p>
        </p:txBody>
      </p:sp>
      <p:sp>
        <p:nvSpPr>
          <p:cNvPr id="12" name="Text 9"/>
          <p:cNvSpPr txBox="1"/>
          <p:nvPr/>
        </p:nvSpPr>
        <p:spPr>
          <a:xfrm>
            <a:off x="1883664" y="3054096"/>
            <a:ext cx="1345474" cy="713232"/>
          </a:xfrm>
          <a:prstGeom prst="rect">
            <a:avLst/>
          </a:prstGeom>
          <a:solidFill>
            <a:srgbClr val="FFFFFF"/>
          </a:solidFill>
          <a:ln w="9525">
            <a:solidFill>
              <a:srgbClr val="C8CCD3"/>
            </a:solidFill>
          </a:ln>
        </p:spPr>
        <p:txBody>
          <a:bodyPr wrap="square" lIns="38100" tIns="38100" rIns="38100" bIns="38100" rtlCol="0" anchor="ctr"/>
          <a:lstStyle/>
          <a:p>
            <a:pPr algn="ctr" indent="0" marL="0">
              <a:buNone/>
            </a:pPr>
            <a:r>
              <a:rPr lang="en-US" sz="1100" dirty="0">
                <a:solidFill>
                  <a:schemeClr val="tx1"/>
                </a:solidFill>
              </a:rPr>
              <a:t>Ate the forbidden fruit</a:t>
            </a:r>
            <a:endParaRPr lang="en-US" sz="1100" dirty="0"/>
          </a:p>
        </p:txBody>
      </p:sp>
      <p:sp>
        <p:nvSpPr>
          <p:cNvPr id="13" name="Text 10"/>
          <p:cNvSpPr txBox="1"/>
          <p:nvPr/>
        </p:nvSpPr>
        <p:spPr>
          <a:xfrm>
            <a:off x="1883664" y="3840480"/>
            <a:ext cx="1345474" cy="713232"/>
          </a:xfrm>
          <a:prstGeom prst="rect">
            <a:avLst/>
          </a:prstGeom>
          <a:solidFill>
            <a:srgbClr val="FFFFFF"/>
          </a:solidFill>
          <a:ln w="9525">
            <a:solidFill>
              <a:srgbClr val="C8CCD3"/>
            </a:solidFill>
          </a:ln>
        </p:spPr>
        <p:txBody>
          <a:bodyPr wrap="square" lIns="38100" tIns="38100" rIns="38100" bIns="38100" rtlCol="0" anchor="ctr"/>
          <a:lstStyle/>
          <a:p>
            <a:pPr algn="ctr" indent="0" marL="0">
              <a:buNone/>
            </a:pPr>
            <a:r>
              <a:rPr lang="en-US" sz="1100" b="1" dirty="0">
                <a:solidFill>
                  <a:schemeClr val="accent4"/>
                </a:solidFill>
              </a:rPr>
              <a:t>The Fall; expulsion from Eden</a:t>
            </a:r>
            <a:endParaRPr lang="en-US" sz="1100" dirty="0"/>
          </a:p>
        </p:txBody>
      </p:sp>
      <p:sp>
        <p:nvSpPr>
          <p:cNvPr id="14" name="Text 11"/>
          <p:cNvSpPr txBox="1"/>
          <p:nvPr/>
        </p:nvSpPr>
        <p:spPr>
          <a:xfrm>
            <a:off x="3284002" y="1371600"/>
            <a:ext cx="1345474" cy="384048"/>
          </a:xfrm>
          <a:prstGeom prst="roundRect">
            <a:avLst>
              <a:gd name="adj" fmla="val 19048"/>
            </a:avLst>
          </a:prstGeom>
          <a:solidFill>
            <a:srgbClr val="3E6A8A"/>
          </a:solidFill>
          <a:ln/>
        </p:spPr>
        <p:txBody>
          <a:bodyPr wrap="square" lIns="38100" tIns="38100" rIns="38100" bIns="38100" rtlCol="0" anchor="ctr"/>
          <a:lstStyle/>
          <a:p>
            <a:pPr algn="ctr" indent="0" marL="0">
              <a:buNone/>
            </a:pPr>
            <a:r>
              <a:rPr lang="en-US" sz="1200" b="1" dirty="0">
                <a:solidFill>
                  <a:schemeClr val="bg1"/>
                </a:solidFill>
              </a:rPr>
              <a:t>Conscience</a:t>
            </a:r>
            <a:endParaRPr lang="en-US" sz="1200" dirty="0"/>
          </a:p>
        </p:txBody>
      </p:sp>
      <p:sp>
        <p:nvSpPr>
          <p:cNvPr id="15" name="Text 12"/>
          <p:cNvSpPr txBox="1"/>
          <p:nvPr/>
        </p:nvSpPr>
        <p:spPr>
          <a:xfrm>
            <a:off x="3284002" y="1810512"/>
            <a:ext cx="1345474" cy="384048"/>
          </a:xfrm>
          <a:prstGeom prst="rect">
            <a:avLst/>
          </a:prstGeom>
          <a:solidFill>
            <a:srgbClr val="EEF1F6"/>
          </a:solidFill>
          <a:ln w="9525">
            <a:solidFill>
              <a:srgbClr val="C8CCD3"/>
            </a:solidFill>
          </a:ln>
        </p:spPr>
        <p:txBody>
          <a:bodyPr wrap="square" lIns="38100" tIns="38100" rIns="38100" bIns="38100" rtlCol="0" anchor="ctr"/>
          <a:lstStyle/>
          <a:p>
            <a:pPr algn="ctr" indent="0" marL="0">
              <a:buNone/>
            </a:pPr>
            <a:r>
              <a:rPr lang="en-US" sz="1000" dirty="0">
                <a:solidFill>
                  <a:schemeClr val="tx1"/>
                </a:solidFill>
              </a:rPr>
              <a:t>Gen 3:7–8:14</a:t>
            </a:r>
            <a:endParaRPr lang="en-US" sz="1000" dirty="0"/>
          </a:p>
        </p:txBody>
      </p:sp>
      <p:sp>
        <p:nvSpPr>
          <p:cNvPr id="16" name="Text 13"/>
          <p:cNvSpPr txBox="1"/>
          <p:nvPr/>
        </p:nvSpPr>
        <p:spPr>
          <a:xfrm>
            <a:off x="3284002" y="2267712"/>
            <a:ext cx="1345474" cy="713232"/>
          </a:xfrm>
          <a:prstGeom prst="rect">
            <a:avLst/>
          </a:prstGeom>
          <a:solidFill>
            <a:srgbClr val="FFFFFF"/>
          </a:solidFill>
          <a:ln w="9525">
            <a:solidFill>
              <a:srgbClr val="C8CCD3"/>
            </a:solidFill>
          </a:ln>
        </p:spPr>
        <p:txBody>
          <a:bodyPr wrap="square" lIns="38100" tIns="38100" rIns="38100" bIns="38100" rtlCol="0" anchor="ctr"/>
          <a:lstStyle/>
          <a:p>
            <a:pPr algn="ctr" indent="0" marL="0">
              <a:buNone/>
            </a:pPr>
            <a:r>
              <a:rPr lang="en-US" sz="1100" dirty="0">
                <a:solidFill>
                  <a:schemeClr val="tx1"/>
                </a:solidFill>
              </a:rPr>
              <a:t>Do good by conscience</a:t>
            </a:r>
            <a:endParaRPr lang="en-US" sz="1100" dirty="0"/>
          </a:p>
        </p:txBody>
      </p:sp>
      <p:sp>
        <p:nvSpPr>
          <p:cNvPr id="17" name="Text 14"/>
          <p:cNvSpPr txBox="1"/>
          <p:nvPr/>
        </p:nvSpPr>
        <p:spPr>
          <a:xfrm>
            <a:off x="3284002" y="3054096"/>
            <a:ext cx="1345474" cy="713232"/>
          </a:xfrm>
          <a:prstGeom prst="rect">
            <a:avLst/>
          </a:prstGeom>
          <a:solidFill>
            <a:srgbClr val="FFFFFF"/>
          </a:solidFill>
          <a:ln w="9525">
            <a:solidFill>
              <a:srgbClr val="C8CCD3"/>
            </a:solidFill>
          </a:ln>
        </p:spPr>
        <p:txBody>
          <a:bodyPr wrap="square" lIns="38100" tIns="38100" rIns="38100" bIns="38100" rtlCol="0" anchor="ctr"/>
          <a:lstStyle/>
          <a:p>
            <a:pPr algn="ctr" indent="0" marL="0">
              <a:buNone/>
            </a:pPr>
            <a:r>
              <a:rPr lang="en-US" sz="1100" dirty="0">
                <a:solidFill>
                  <a:schemeClr val="tx1"/>
                </a:solidFill>
              </a:rPr>
              <a:t>Universal wickedness (Gen 6:5)</a:t>
            </a:r>
            <a:endParaRPr lang="en-US" sz="1100" dirty="0"/>
          </a:p>
        </p:txBody>
      </p:sp>
      <p:sp>
        <p:nvSpPr>
          <p:cNvPr id="18" name="Text 15"/>
          <p:cNvSpPr txBox="1"/>
          <p:nvPr/>
        </p:nvSpPr>
        <p:spPr>
          <a:xfrm>
            <a:off x="3284002" y="3840480"/>
            <a:ext cx="1345474" cy="713232"/>
          </a:xfrm>
          <a:prstGeom prst="rect">
            <a:avLst/>
          </a:prstGeom>
          <a:solidFill>
            <a:srgbClr val="FFFFFF"/>
          </a:solidFill>
          <a:ln w="9525">
            <a:solidFill>
              <a:srgbClr val="C8CCD3"/>
            </a:solidFill>
          </a:ln>
        </p:spPr>
        <p:txBody>
          <a:bodyPr wrap="square" lIns="38100" tIns="38100" rIns="38100" bIns="38100" rtlCol="0" anchor="ctr"/>
          <a:lstStyle/>
          <a:p>
            <a:pPr algn="ctr" indent="0" marL="0">
              <a:buNone/>
            </a:pPr>
            <a:r>
              <a:rPr lang="en-US" sz="1100" b="1" dirty="0">
                <a:solidFill>
                  <a:schemeClr val="accent4"/>
                </a:solidFill>
              </a:rPr>
              <a:t>The Flood</a:t>
            </a:r>
            <a:endParaRPr lang="en-US" sz="1100" dirty="0"/>
          </a:p>
        </p:txBody>
      </p:sp>
      <p:sp>
        <p:nvSpPr>
          <p:cNvPr id="19" name="Text 16"/>
          <p:cNvSpPr txBox="1"/>
          <p:nvPr/>
        </p:nvSpPr>
        <p:spPr>
          <a:xfrm>
            <a:off x="4684341" y="1371600"/>
            <a:ext cx="1345474" cy="384048"/>
          </a:xfrm>
          <a:prstGeom prst="roundRect">
            <a:avLst>
              <a:gd name="adj" fmla="val 19048"/>
            </a:avLst>
          </a:prstGeom>
          <a:solidFill>
            <a:srgbClr val="5B6E3A"/>
          </a:solidFill>
          <a:ln/>
        </p:spPr>
        <p:txBody>
          <a:bodyPr wrap="square" lIns="38100" tIns="38100" rIns="38100" bIns="38100" rtlCol="0" anchor="ctr"/>
          <a:lstStyle/>
          <a:p>
            <a:pPr algn="ctr" indent="0" marL="0">
              <a:buNone/>
            </a:pPr>
            <a:r>
              <a:rPr lang="en-US" sz="1200" b="1" dirty="0">
                <a:solidFill>
                  <a:schemeClr val="bg1"/>
                </a:solidFill>
              </a:rPr>
              <a:t>Human Gov’t</a:t>
            </a:r>
            <a:endParaRPr lang="en-US" sz="1200" dirty="0"/>
          </a:p>
        </p:txBody>
      </p:sp>
      <p:sp>
        <p:nvSpPr>
          <p:cNvPr id="20" name="Text 17"/>
          <p:cNvSpPr txBox="1"/>
          <p:nvPr/>
        </p:nvSpPr>
        <p:spPr>
          <a:xfrm>
            <a:off x="4684341" y="1810512"/>
            <a:ext cx="1345474" cy="384048"/>
          </a:xfrm>
          <a:prstGeom prst="rect">
            <a:avLst/>
          </a:prstGeom>
          <a:solidFill>
            <a:srgbClr val="EEF1F6"/>
          </a:solidFill>
          <a:ln w="9525">
            <a:solidFill>
              <a:srgbClr val="C8CCD3"/>
            </a:solidFill>
          </a:ln>
        </p:spPr>
        <p:txBody>
          <a:bodyPr wrap="square" lIns="38100" tIns="38100" rIns="38100" bIns="38100" rtlCol="0" anchor="ctr"/>
          <a:lstStyle/>
          <a:p>
            <a:pPr algn="ctr" indent="0" marL="0">
              <a:buNone/>
            </a:pPr>
            <a:r>
              <a:rPr lang="en-US" sz="1000" dirty="0">
                <a:solidFill>
                  <a:schemeClr val="tx1"/>
                </a:solidFill>
              </a:rPr>
              <a:t>Gen 8:15–11:9</a:t>
            </a:r>
            <a:endParaRPr lang="en-US" sz="1000" dirty="0"/>
          </a:p>
        </p:txBody>
      </p:sp>
      <p:sp>
        <p:nvSpPr>
          <p:cNvPr id="21" name="Text 18"/>
          <p:cNvSpPr txBox="1"/>
          <p:nvPr/>
        </p:nvSpPr>
        <p:spPr>
          <a:xfrm>
            <a:off x="4684341" y="2267712"/>
            <a:ext cx="1345474" cy="713232"/>
          </a:xfrm>
          <a:prstGeom prst="rect">
            <a:avLst/>
          </a:prstGeom>
          <a:solidFill>
            <a:srgbClr val="FFFFFF"/>
          </a:solidFill>
          <a:ln w="9525">
            <a:solidFill>
              <a:srgbClr val="C8CCD3"/>
            </a:solidFill>
          </a:ln>
        </p:spPr>
        <p:txBody>
          <a:bodyPr wrap="square" lIns="38100" tIns="38100" rIns="38100" bIns="38100" rtlCol="0" anchor="ctr"/>
          <a:lstStyle/>
          <a:p>
            <a:pPr algn="ctr" indent="0" marL="0">
              <a:buNone/>
            </a:pPr>
            <a:r>
              <a:rPr lang="en-US" sz="1100" dirty="0">
                <a:solidFill>
                  <a:schemeClr val="tx1"/>
                </a:solidFill>
              </a:rPr>
              <a:t>Govern; fill the earth</a:t>
            </a:r>
            <a:endParaRPr lang="en-US" sz="1100" dirty="0"/>
          </a:p>
        </p:txBody>
      </p:sp>
      <p:sp>
        <p:nvSpPr>
          <p:cNvPr id="22" name="Text 19"/>
          <p:cNvSpPr txBox="1"/>
          <p:nvPr/>
        </p:nvSpPr>
        <p:spPr>
          <a:xfrm>
            <a:off x="4684341" y="3054096"/>
            <a:ext cx="1345474" cy="713232"/>
          </a:xfrm>
          <a:prstGeom prst="rect">
            <a:avLst/>
          </a:prstGeom>
          <a:solidFill>
            <a:srgbClr val="FFFFFF"/>
          </a:solidFill>
          <a:ln w="9525">
            <a:solidFill>
              <a:srgbClr val="C8CCD3"/>
            </a:solidFill>
          </a:ln>
        </p:spPr>
        <p:txBody>
          <a:bodyPr wrap="square" lIns="38100" tIns="38100" rIns="38100" bIns="38100" rtlCol="0" anchor="ctr"/>
          <a:lstStyle/>
          <a:p>
            <a:pPr algn="ctr" indent="0" marL="0">
              <a:buNone/>
            </a:pPr>
            <a:r>
              <a:rPr lang="en-US" sz="1100" dirty="0">
                <a:solidFill>
                  <a:schemeClr val="tx1"/>
                </a:solidFill>
              </a:rPr>
              <a:t>Babel — refused to scatter</a:t>
            </a:r>
            <a:endParaRPr lang="en-US" sz="1100" dirty="0"/>
          </a:p>
        </p:txBody>
      </p:sp>
      <p:sp>
        <p:nvSpPr>
          <p:cNvPr id="23" name="Text 20"/>
          <p:cNvSpPr txBox="1"/>
          <p:nvPr/>
        </p:nvSpPr>
        <p:spPr>
          <a:xfrm>
            <a:off x="4684341" y="3840480"/>
            <a:ext cx="1345474" cy="713232"/>
          </a:xfrm>
          <a:prstGeom prst="rect">
            <a:avLst/>
          </a:prstGeom>
          <a:solidFill>
            <a:srgbClr val="FFFFFF"/>
          </a:solidFill>
          <a:ln w="9525">
            <a:solidFill>
              <a:srgbClr val="C8CCD3"/>
            </a:solidFill>
          </a:ln>
        </p:spPr>
        <p:txBody>
          <a:bodyPr wrap="square" lIns="38100" tIns="38100" rIns="38100" bIns="38100" rtlCol="0" anchor="ctr"/>
          <a:lstStyle/>
          <a:p>
            <a:pPr algn="ctr" indent="0" marL="0">
              <a:buNone/>
            </a:pPr>
            <a:r>
              <a:rPr lang="en-US" sz="1100" b="1" dirty="0">
                <a:solidFill>
                  <a:schemeClr val="accent4"/>
                </a:solidFill>
              </a:rPr>
              <a:t>Languages confused</a:t>
            </a:r>
            <a:endParaRPr lang="en-US" sz="1100" dirty="0"/>
          </a:p>
        </p:txBody>
      </p:sp>
      <p:sp>
        <p:nvSpPr>
          <p:cNvPr id="24" name="Text 21"/>
          <p:cNvSpPr txBox="1"/>
          <p:nvPr/>
        </p:nvSpPr>
        <p:spPr>
          <a:xfrm>
            <a:off x="6084679" y="1371600"/>
            <a:ext cx="1345474" cy="384048"/>
          </a:xfrm>
          <a:prstGeom prst="roundRect">
            <a:avLst>
              <a:gd name="adj" fmla="val 19048"/>
            </a:avLst>
          </a:prstGeom>
          <a:solidFill>
            <a:srgbClr val="B8892B"/>
          </a:solidFill>
          <a:ln/>
        </p:spPr>
        <p:txBody>
          <a:bodyPr wrap="square" lIns="38100" tIns="38100" rIns="38100" bIns="38100" rtlCol="0" anchor="ctr"/>
          <a:lstStyle/>
          <a:p>
            <a:pPr algn="ctr" indent="0" marL="0">
              <a:buNone/>
            </a:pPr>
            <a:r>
              <a:rPr lang="en-US" sz="1200" b="1" dirty="0">
                <a:solidFill>
                  <a:schemeClr val="bg1"/>
                </a:solidFill>
              </a:rPr>
              <a:t>Promise</a:t>
            </a:r>
            <a:endParaRPr lang="en-US" sz="1200" dirty="0"/>
          </a:p>
        </p:txBody>
      </p:sp>
      <p:sp>
        <p:nvSpPr>
          <p:cNvPr id="25" name="Text 22"/>
          <p:cNvSpPr txBox="1"/>
          <p:nvPr/>
        </p:nvSpPr>
        <p:spPr>
          <a:xfrm>
            <a:off x="6084679" y="1810512"/>
            <a:ext cx="1345474" cy="384048"/>
          </a:xfrm>
          <a:prstGeom prst="rect">
            <a:avLst/>
          </a:prstGeom>
          <a:solidFill>
            <a:srgbClr val="EEF1F6"/>
          </a:solidFill>
          <a:ln w="9525">
            <a:solidFill>
              <a:srgbClr val="C8CCD3"/>
            </a:solidFill>
          </a:ln>
        </p:spPr>
        <p:txBody>
          <a:bodyPr wrap="square" lIns="38100" tIns="38100" rIns="38100" bIns="38100" rtlCol="0" anchor="ctr"/>
          <a:lstStyle/>
          <a:p>
            <a:pPr algn="ctr" indent="0" marL="0">
              <a:buNone/>
            </a:pPr>
            <a:r>
              <a:rPr lang="en-US" sz="1000" dirty="0">
                <a:solidFill>
                  <a:schemeClr val="tx1"/>
                </a:solidFill>
              </a:rPr>
              <a:t>Gen 11:10–Exod 18</a:t>
            </a:r>
            <a:endParaRPr lang="en-US" sz="1000" dirty="0"/>
          </a:p>
        </p:txBody>
      </p:sp>
      <p:sp>
        <p:nvSpPr>
          <p:cNvPr id="26" name="Text 23"/>
          <p:cNvSpPr txBox="1"/>
          <p:nvPr/>
        </p:nvSpPr>
        <p:spPr>
          <a:xfrm>
            <a:off x="6084679" y="2267712"/>
            <a:ext cx="1345474" cy="713232"/>
          </a:xfrm>
          <a:prstGeom prst="rect">
            <a:avLst/>
          </a:prstGeom>
          <a:solidFill>
            <a:srgbClr val="FFFFFF"/>
          </a:solidFill>
          <a:ln w="9525">
            <a:solidFill>
              <a:srgbClr val="C8CCD3"/>
            </a:solidFill>
          </a:ln>
        </p:spPr>
        <p:txBody>
          <a:bodyPr wrap="square" lIns="38100" tIns="38100" rIns="38100" bIns="38100" rtlCol="0" anchor="ctr"/>
          <a:lstStyle/>
          <a:p>
            <a:pPr algn="ctr" indent="0" marL="0">
              <a:buNone/>
            </a:pPr>
            <a:r>
              <a:rPr lang="en-US" sz="1100" dirty="0">
                <a:solidFill>
                  <a:schemeClr val="tx1"/>
                </a:solidFill>
              </a:rPr>
              <a:t>Trust God’s promises</a:t>
            </a:r>
            <a:endParaRPr lang="en-US" sz="1100" dirty="0"/>
          </a:p>
        </p:txBody>
      </p:sp>
      <p:sp>
        <p:nvSpPr>
          <p:cNvPr id="27" name="Text 24"/>
          <p:cNvSpPr txBox="1"/>
          <p:nvPr/>
        </p:nvSpPr>
        <p:spPr>
          <a:xfrm>
            <a:off x="6084679" y="3054096"/>
            <a:ext cx="1345474" cy="713232"/>
          </a:xfrm>
          <a:prstGeom prst="rect">
            <a:avLst/>
          </a:prstGeom>
          <a:solidFill>
            <a:srgbClr val="FFFFFF"/>
          </a:solidFill>
          <a:ln w="9525">
            <a:solidFill>
              <a:srgbClr val="C8CCD3"/>
            </a:solidFill>
          </a:ln>
        </p:spPr>
        <p:txBody>
          <a:bodyPr wrap="square" lIns="38100" tIns="38100" rIns="38100" bIns="38100" rtlCol="0" anchor="ctr"/>
          <a:lstStyle/>
          <a:p>
            <a:pPr algn="ctr" indent="0" marL="0">
              <a:buNone/>
            </a:pPr>
            <a:r>
              <a:rPr lang="en-US" sz="1100" dirty="0">
                <a:solidFill>
                  <a:schemeClr val="tx1"/>
                </a:solidFill>
              </a:rPr>
              <a:t>Went down to Egypt</a:t>
            </a:r>
            <a:endParaRPr lang="en-US" sz="1100" dirty="0"/>
          </a:p>
        </p:txBody>
      </p:sp>
      <p:sp>
        <p:nvSpPr>
          <p:cNvPr id="28" name="Text 25"/>
          <p:cNvSpPr txBox="1"/>
          <p:nvPr/>
        </p:nvSpPr>
        <p:spPr>
          <a:xfrm>
            <a:off x="6084679" y="3840480"/>
            <a:ext cx="1345474" cy="713232"/>
          </a:xfrm>
          <a:prstGeom prst="rect">
            <a:avLst/>
          </a:prstGeom>
          <a:solidFill>
            <a:srgbClr val="FFFFFF"/>
          </a:solidFill>
          <a:ln w="9525">
            <a:solidFill>
              <a:srgbClr val="C8CCD3"/>
            </a:solidFill>
          </a:ln>
        </p:spPr>
        <p:txBody>
          <a:bodyPr wrap="square" lIns="38100" tIns="38100" rIns="38100" bIns="38100" rtlCol="0" anchor="ctr"/>
          <a:lstStyle/>
          <a:p>
            <a:pPr algn="ctr" indent="0" marL="0">
              <a:buNone/>
            </a:pPr>
            <a:r>
              <a:rPr lang="en-US" sz="1100" b="1" dirty="0">
                <a:solidFill>
                  <a:schemeClr val="accent4"/>
                </a:solidFill>
              </a:rPr>
              <a:t>Bondage in Egypt</a:t>
            </a:r>
            <a:endParaRPr lang="en-US" sz="1100" dirty="0"/>
          </a:p>
        </p:txBody>
      </p:sp>
      <p:sp>
        <p:nvSpPr>
          <p:cNvPr id="29" name="Text 26"/>
          <p:cNvSpPr txBox="1"/>
          <p:nvPr/>
        </p:nvSpPr>
        <p:spPr>
          <a:xfrm>
            <a:off x="7485017" y="1371600"/>
            <a:ext cx="1345474" cy="384048"/>
          </a:xfrm>
          <a:prstGeom prst="roundRect">
            <a:avLst>
              <a:gd name="adj" fmla="val 19048"/>
            </a:avLst>
          </a:prstGeom>
          <a:solidFill>
            <a:srgbClr val="8A5A2B"/>
          </a:solidFill>
          <a:ln/>
        </p:spPr>
        <p:txBody>
          <a:bodyPr wrap="square" lIns="38100" tIns="38100" rIns="38100" bIns="38100" rtlCol="0" anchor="ctr"/>
          <a:lstStyle/>
          <a:p>
            <a:pPr algn="ctr" indent="0" marL="0">
              <a:buNone/>
            </a:pPr>
            <a:r>
              <a:rPr lang="en-US" sz="1200" b="1" dirty="0">
                <a:solidFill>
                  <a:schemeClr val="bg1"/>
                </a:solidFill>
              </a:rPr>
              <a:t>Law</a:t>
            </a:r>
            <a:endParaRPr lang="en-US" sz="1200" dirty="0"/>
          </a:p>
        </p:txBody>
      </p:sp>
      <p:sp>
        <p:nvSpPr>
          <p:cNvPr id="30" name="Text 27"/>
          <p:cNvSpPr txBox="1"/>
          <p:nvPr/>
        </p:nvSpPr>
        <p:spPr>
          <a:xfrm>
            <a:off x="7485017" y="1810512"/>
            <a:ext cx="1345474" cy="384048"/>
          </a:xfrm>
          <a:prstGeom prst="rect">
            <a:avLst/>
          </a:prstGeom>
          <a:solidFill>
            <a:srgbClr val="EEF1F6"/>
          </a:solidFill>
          <a:ln w="9525">
            <a:solidFill>
              <a:srgbClr val="C8CCD3"/>
            </a:solidFill>
          </a:ln>
        </p:spPr>
        <p:txBody>
          <a:bodyPr wrap="square" lIns="38100" tIns="38100" rIns="38100" bIns="38100" rtlCol="0" anchor="ctr"/>
          <a:lstStyle/>
          <a:p>
            <a:pPr algn="ctr" indent="0" marL="0">
              <a:buNone/>
            </a:pPr>
            <a:r>
              <a:rPr lang="en-US" sz="1000" dirty="0">
                <a:solidFill>
                  <a:schemeClr val="tx1"/>
                </a:solidFill>
              </a:rPr>
              <a:t>Exod 19–Acts 1</a:t>
            </a:r>
            <a:endParaRPr lang="en-US" sz="1000" dirty="0"/>
          </a:p>
        </p:txBody>
      </p:sp>
      <p:sp>
        <p:nvSpPr>
          <p:cNvPr id="31" name="Text 28"/>
          <p:cNvSpPr txBox="1"/>
          <p:nvPr/>
        </p:nvSpPr>
        <p:spPr>
          <a:xfrm>
            <a:off x="7485017" y="2267712"/>
            <a:ext cx="1345474" cy="713232"/>
          </a:xfrm>
          <a:prstGeom prst="rect">
            <a:avLst/>
          </a:prstGeom>
          <a:solidFill>
            <a:srgbClr val="FFFFFF"/>
          </a:solidFill>
          <a:ln w="9525">
            <a:solidFill>
              <a:srgbClr val="C8CCD3"/>
            </a:solidFill>
          </a:ln>
        </p:spPr>
        <p:txBody>
          <a:bodyPr wrap="square" lIns="38100" tIns="38100" rIns="38100" bIns="38100" rtlCol="0" anchor="ctr"/>
          <a:lstStyle/>
          <a:p>
            <a:pPr algn="ctr" indent="0" marL="0">
              <a:buNone/>
            </a:pPr>
            <a:r>
              <a:rPr lang="en-US" sz="1100" dirty="0">
                <a:solidFill>
                  <a:schemeClr val="tx1"/>
                </a:solidFill>
              </a:rPr>
              <a:t>Obey the Mosaic Law</a:t>
            </a:r>
            <a:endParaRPr lang="en-US" sz="1100" dirty="0"/>
          </a:p>
        </p:txBody>
      </p:sp>
      <p:sp>
        <p:nvSpPr>
          <p:cNvPr id="32" name="Text 29"/>
          <p:cNvSpPr txBox="1"/>
          <p:nvPr/>
        </p:nvSpPr>
        <p:spPr>
          <a:xfrm>
            <a:off x="7485017" y="3054096"/>
            <a:ext cx="1345474" cy="713232"/>
          </a:xfrm>
          <a:prstGeom prst="rect">
            <a:avLst/>
          </a:prstGeom>
          <a:solidFill>
            <a:srgbClr val="FFFFFF"/>
          </a:solidFill>
          <a:ln w="9525">
            <a:solidFill>
              <a:srgbClr val="C8CCD3"/>
            </a:solidFill>
          </a:ln>
        </p:spPr>
        <p:txBody>
          <a:bodyPr wrap="square" lIns="38100" tIns="38100" rIns="38100" bIns="38100" rtlCol="0" anchor="ctr"/>
          <a:lstStyle/>
          <a:p>
            <a:pPr algn="ctr" indent="0" marL="0">
              <a:buNone/>
            </a:pPr>
            <a:r>
              <a:rPr lang="en-US" sz="1100" dirty="0">
                <a:solidFill>
                  <a:schemeClr val="tx1"/>
                </a:solidFill>
              </a:rPr>
              <a:t>Broke the Law; rejected Messiah</a:t>
            </a:r>
            <a:endParaRPr lang="en-US" sz="1100" dirty="0"/>
          </a:p>
        </p:txBody>
      </p:sp>
      <p:sp>
        <p:nvSpPr>
          <p:cNvPr id="33" name="Text 30"/>
          <p:cNvSpPr txBox="1"/>
          <p:nvPr/>
        </p:nvSpPr>
        <p:spPr>
          <a:xfrm>
            <a:off x="7485017" y="3840480"/>
            <a:ext cx="1345474" cy="713232"/>
          </a:xfrm>
          <a:prstGeom prst="rect">
            <a:avLst/>
          </a:prstGeom>
          <a:solidFill>
            <a:srgbClr val="FFFFFF"/>
          </a:solidFill>
          <a:ln w="9525">
            <a:solidFill>
              <a:srgbClr val="C8CCD3"/>
            </a:solidFill>
          </a:ln>
        </p:spPr>
        <p:txBody>
          <a:bodyPr wrap="square" lIns="38100" tIns="38100" rIns="38100" bIns="38100" rtlCol="0" anchor="ctr"/>
          <a:lstStyle/>
          <a:p>
            <a:pPr algn="ctr" indent="0" marL="0">
              <a:buNone/>
            </a:pPr>
            <a:r>
              <a:rPr lang="en-US" sz="1100" b="1" dirty="0">
                <a:solidFill>
                  <a:schemeClr val="accent4"/>
                </a:solidFill>
              </a:rPr>
              <a:t>Exile; times of the Gentiles</a:t>
            </a:r>
            <a:endParaRPr lang="en-US" sz="1100" dirty="0"/>
          </a:p>
        </p:txBody>
      </p:sp>
      <p:sp>
        <p:nvSpPr>
          <p:cNvPr id="34" name="Text 31"/>
          <p:cNvSpPr txBox="1"/>
          <p:nvPr/>
        </p:nvSpPr>
        <p:spPr>
          <a:xfrm>
            <a:off x="8885355" y="1371600"/>
            <a:ext cx="1345474" cy="384048"/>
          </a:xfrm>
          <a:prstGeom prst="roundRect">
            <a:avLst>
              <a:gd name="adj" fmla="val 19048"/>
            </a:avLst>
          </a:prstGeom>
          <a:solidFill>
            <a:srgbClr val="375623"/>
          </a:solidFill>
          <a:ln/>
        </p:spPr>
        <p:txBody>
          <a:bodyPr wrap="square" lIns="38100" tIns="38100" rIns="38100" bIns="38100" rtlCol="0" anchor="ctr"/>
          <a:lstStyle/>
          <a:p>
            <a:pPr algn="ctr" indent="0" marL="0">
              <a:buNone/>
            </a:pPr>
            <a:r>
              <a:rPr lang="en-US" sz="1200" b="1" dirty="0">
                <a:solidFill>
                  <a:schemeClr val="bg1"/>
                </a:solidFill>
              </a:rPr>
              <a:t>Grace</a:t>
            </a:r>
            <a:endParaRPr lang="en-US" sz="1200" dirty="0"/>
          </a:p>
        </p:txBody>
      </p:sp>
      <p:sp>
        <p:nvSpPr>
          <p:cNvPr id="35" name="Text 32"/>
          <p:cNvSpPr txBox="1"/>
          <p:nvPr/>
        </p:nvSpPr>
        <p:spPr>
          <a:xfrm>
            <a:off x="8885355" y="1810512"/>
            <a:ext cx="1345474" cy="384048"/>
          </a:xfrm>
          <a:prstGeom prst="rect">
            <a:avLst/>
          </a:prstGeom>
          <a:solidFill>
            <a:srgbClr val="EEF1F6"/>
          </a:solidFill>
          <a:ln w="9525">
            <a:solidFill>
              <a:srgbClr val="C8CCD3"/>
            </a:solidFill>
          </a:ln>
        </p:spPr>
        <p:txBody>
          <a:bodyPr wrap="square" lIns="38100" tIns="38100" rIns="38100" bIns="38100" rtlCol="0" anchor="ctr"/>
          <a:lstStyle/>
          <a:p>
            <a:pPr algn="ctr" indent="0" marL="0">
              <a:buNone/>
            </a:pPr>
            <a:r>
              <a:rPr lang="en-US" sz="1000" dirty="0">
                <a:solidFill>
                  <a:schemeClr val="tx1"/>
                </a:solidFill>
              </a:rPr>
              <a:t>Acts 2–Rapture</a:t>
            </a:r>
            <a:endParaRPr lang="en-US" sz="1000" dirty="0"/>
          </a:p>
        </p:txBody>
      </p:sp>
      <p:sp>
        <p:nvSpPr>
          <p:cNvPr id="36" name="Text 33"/>
          <p:cNvSpPr txBox="1"/>
          <p:nvPr/>
        </p:nvSpPr>
        <p:spPr>
          <a:xfrm>
            <a:off x="8885355" y="2267712"/>
            <a:ext cx="1345474" cy="713232"/>
          </a:xfrm>
          <a:prstGeom prst="rect">
            <a:avLst/>
          </a:prstGeom>
          <a:solidFill>
            <a:srgbClr val="FFFFFF"/>
          </a:solidFill>
          <a:ln w="9525">
            <a:solidFill>
              <a:srgbClr val="C8CCD3"/>
            </a:solidFill>
          </a:ln>
        </p:spPr>
        <p:txBody>
          <a:bodyPr wrap="square" lIns="38100" tIns="38100" rIns="38100" bIns="38100" rtlCol="0" anchor="ctr"/>
          <a:lstStyle/>
          <a:p>
            <a:pPr algn="ctr" indent="0" marL="0">
              <a:buNone/>
            </a:pPr>
            <a:r>
              <a:rPr lang="en-US" sz="1100" dirty="0">
                <a:solidFill>
                  <a:schemeClr val="tx1"/>
                </a:solidFill>
              </a:rPr>
              <a:t>Believe in Christ</a:t>
            </a:r>
            <a:endParaRPr lang="en-US" sz="1100" dirty="0"/>
          </a:p>
        </p:txBody>
      </p:sp>
      <p:sp>
        <p:nvSpPr>
          <p:cNvPr id="37" name="Text 34"/>
          <p:cNvSpPr txBox="1"/>
          <p:nvPr/>
        </p:nvSpPr>
        <p:spPr>
          <a:xfrm>
            <a:off x="8885355" y="3054096"/>
            <a:ext cx="1345474" cy="713232"/>
          </a:xfrm>
          <a:prstGeom prst="rect">
            <a:avLst/>
          </a:prstGeom>
          <a:solidFill>
            <a:srgbClr val="FFFFFF"/>
          </a:solidFill>
          <a:ln w="9525">
            <a:solidFill>
              <a:srgbClr val="C8CCD3"/>
            </a:solidFill>
          </a:ln>
        </p:spPr>
        <p:txBody>
          <a:bodyPr wrap="square" lIns="38100" tIns="38100" rIns="38100" bIns="38100" rtlCol="0" anchor="ctr"/>
          <a:lstStyle/>
          <a:p>
            <a:pPr algn="ctr" indent="0" marL="0">
              <a:buNone/>
            </a:pPr>
            <a:r>
              <a:rPr lang="en-US" sz="1100" dirty="0">
                <a:solidFill>
                  <a:schemeClr val="tx1"/>
                </a:solidFill>
              </a:rPr>
              <a:t>Widespread rejection, apostasy</a:t>
            </a:r>
            <a:endParaRPr lang="en-US" sz="1100" dirty="0"/>
          </a:p>
        </p:txBody>
      </p:sp>
      <p:sp>
        <p:nvSpPr>
          <p:cNvPr id="38" name="Text 35"/>
          <p:cNvSpPr txBox="1"/>
          <p:nvPr/>
        </p:nvSpPr>
        <p:spPr>
          <a:xfrm>
            <a:off x="8885355" y="3840480"/>
            <a:ext cx="1345474" cy="713232"/>
          </a:xfrm>
          <a:prstGeom prst="rect">
            <a:avLst/>
          </a:prstGeom>
          <a:solidFill>
            <a:srgbClr val="FFFFFF"/>
          </a:solidFill>
          <a:ln w="9525">
            <a:solidFill>
              <a:srgbClr val="C8CCD3"/>
            </a:solidFill>
          </a:ln>
        </p:spPr>
        <p:txBody>
          <a:bodyPr wrap="square" lIns="38100" tIns="38100" rIns="38100" bIns="38100" rtlCol="0" anchor="ctr"/>
          <a:lstStyle/>
          <a:p>
            <a:pPr algn="ctr" indent="0" marL="0">
              <a:buNone/>
            </a:pPr>
            <a:r>
              <a:rPr lang="en-US" sz="1100" b="1" dirty="0">
                <a:solidFill>
                  <a:schemeClr val="accent4"/>
                </a:solidFill>
              </a:rPr>
              <a:t>Rapture, then the Tribulation</a:t>
            </a:r>
            <a:endParaRPr lang="en-US" sz="1100" dirty="0"/>
          </a:p>
        </p:txBody>
      </p:sp>
      <p:sp>
        <p:nvSpPr>
          <p:cNvPr id="39" name="Text 36"/>
          <p:cNvSpPr txBox="1"/>
          <p:nvPr/>
        </p:nvSpPr>
        <p:spPr>
          <a:xfrm>
            <a:off x="10285694" y="1371600"/>
            <a:ext cx="1345474" cy="384048"/>
          </a:xfrm>
          <a:prstGeom prst="roundRect">
            <a:avLst>
              <a:gd name="adj" fmla="val 19048"/>
            </a:avLst>
          </a:prstGeom>
          <a:solidFill>
            <a:srgbClr val="7030A0"/>
          </a:solidFill>
          <a:ln/>
        </p:spPr>
        <p:txBody>
          <a:bodyPr wrap="square" lIns="38100" tIns="38100" rIns="38100" bIns="38100" rtlCol="0" anchor="ctr"/>
          <a:lstStyle/>
          <a:p>
            <a:pPr algn="ctr" indent="0" marL="0">
              <a:buNone/>
            </a:pPr>
            <a:r>
              <a:rPr lang="en-US" sz="1200" b="1" dirty="0">
                <a:solidFill>
                  <a:schemeClr val="bg1"/>
                </a:solidFill>
              </a:rPr>
              <a:t>Kingdom</a:t>
            </a:r>
            <a:endParaRPr lang="en-US" sz="1200" dirty="0"/>
          </a:p>
        </p:txBody>
      </p:sp>
      <p:sp>
        <p:nvSpPr>
          <p:cNvPr id="40" name="Text 37"/>
          <p:cNvSpPr txBox="1"/>
          <p:nvPr/>
        </p:nvSpPr>
        <p:spPr>
          <a:xfrm>
            <a:off x="10285694" y="1810512"/>
            <a:ext cx="1345474" cy="384048"/>
          </a:xfrm>
          <a:prstGeom prst="rect">
            <a:avLst/>
          </a:prstGeom>
          <a:solidFill>
            <a:srgbClr val="EEF1F6"/>
          </a:solidFill>
          <a:ln w="9525">
            <a:solidFill>
              <a:srgbClr val="C8CCD3"/>
            </a:solidFill>
          </a:ln>
        </p:spPr>
        <p:txBody>
          <a:bodyPr wrap="square" lIns="38100" tIns="38100" rIns="38100" bIns="38100" rtlCol="0" anchor="ctr"/>
          <a:lstStyle/>
          <a:p>
            <a:pPr algn="ctr" indent="0" marL="0">
              <a:buNone/>
            </a:pPr>
            <a:r>
              <a:rPr lang="en-US" sz="1000" dirty="0">
                <a:solidFill>
                  <a:schemeClr val="tx1"/>
                </a:solidFill>
              </a:rPr>
              <a:t>Rev 20:1–6</a:t>
            </a:r>
            <a:endParaRPr lang="en-US" sz="1000" dirty="0"/>
          </a:p>
        </p:txBody>
      </p:sp>
      <p:sp>
        <p:nvSpPr>
          <p:cNvPr id="41" name="Text 38"/>
          <p:cNvSpPr txBox="1"/>
          <p:nvPr/>
        </p:nvSpPr>
        <p:spPr>
          <a:xfrm>
            <a:off x="10285694" y="2267712"/>
            <a:ext cx="1345474" cy="713232"/>
          </a:xfrm>
          <a:prstGeom prst="rect">
            <a:avLst/>
          </a:prstGeom>
          <a:solidFill>
            <a:srgbClr val="FFFFFF"/>
          </a:solidFill>
          <a:ln w="9525">
            <a:solidFill>
              <a:srgbClr val="C8CCD3"/>
            </a:solidFill>
          </a:ln>
        </p:spPr>
        <p:txBody>
          <a:bodyPr wrap="square" lIns="38100" tIns="38100" rIns="38100" bIns="38100" rtlCol="0" anchor="ctr"/>
          <a:lstStyle/>
          <a:p>
            <a:pPr algn="ctr" indent="0" marL="0">
              <a:buNone/>
            </a:pPr>
            <a:r>
              <a:rPr lang="en-US" sz="1100" dirty="0">
                <a:solidFill>
                  <a:schemeClr val="tx1"/>
                </a:solidFill>
              </a:rPr>
              <a:t>Obey the King</a:t>
            </a:r>
            <a:endParaRPr lang="en-US" sz="1100" dirty="0"/>
          </a:p>
        </p:txBody>
      </p:sp>
      <p:sp>
        <p:nvSpPr>
          <p:cNvPr id="42" name="Text 39"/>
          <p:cNvSpPr txBox="1"/>
          <p:nvPr/>
        </p:nvSpPr>
        <p:spPr>
          <a:xfrm>
            <a:off x="10285694" y="3054096"/>
            <a:ext cx="1345474" cy="713232"/>
          </a:xfrm>
          <a:prstGeom prst="rect">
            <a:avLst/>
          </a:prstGeom>
          <a:solidFill>
            <a:srgbClr val="FFFFFF"/>
          </a:solidFill>
          <a:ln w="9525">
            <a:solidFill>
              <a:srgbClr val="C8CCD3"/>
            </a:solidFill>
          </a:ln>
        </p:spPr>
        <p:txBody>
          <a:bodyPr wrap="square" lIns="38100" tIns="38100" rIns="38100" bIns="38100" rtlCol="0" anchor="ctr"/>
          <a:lstStyle/>
          <a:p>
            <a:pPr algn="ctr" indent="0" marL="0">
              <a:buNone/>
            </a:pPr>
            <a:r>
              <a:rPr lang="en-US" sz="1100" dirty="0">
                <a:solidFill>
                  <a:schemeClr val="tx1"/>
                </a:solidFill>
              </a:rPr>
              <a:t>Final rebellion (Rev 20:7–9)</a:t>
            </a:r>
            <a:endParaRPr lang="en-US" sz="1100" dirty="0"/>
          </a:p>
        </p:txBody>
      </p:sp>
      <p:sp>
        <p:nvSpPr>
          <p:cNvPr id="43" name="Text 40"/>
          <p:cNvSpPr txBox="1"/>
          <p:nvPr/>
        </p:nvSpPr>
        <p:spPr>
          <a:xfrm>
            <a:off x="10285694" y="3840480"/>
            <a:ext cx="1345474" cy="713232"/>
          </a:xfrm>
          <a:prstGeom prst="rect">
            <a:avLst/>
          </a:prstGeom>
          <a:solidFill>
            <a:srgbClr val="FFFFFF"/>
          </a:solidFill>
          <a:ln w="9525">
            <a:solidFill>
              <a:srgbClr val="C8CCD3"/>
            </a:solidFill>
          </a:ln>
        </p:spPr>
        <p:txBody>
          <a:bodyPr wrap="square" lIns="38100" tIns="38100" rIns="38100" bIns="38100" rtlCol="0" anchor="ctr"/>
          <a:lstStyle/>
          <a:p>
            <a:pPr algn="ctr" indent="0" marL="0">
              <a:buNone/>
            </a:pPr>
            <a:r>
              <a:rPr lang="en-US" sz="1100" b="1" dirty="0">
                <a:solidFill>
                  <a:schemeClr val="accent4"/>
                </a:solidFill>
              </a:rPr>
              <a:t>Fire from heaven; Great White Throne</a:t>
            </a:r>
            <a:endParaRPr lang="en-US" sz="1100" dirty="0"/>
          </a:p>
        </p:txBody>
      </p:sp>
      <p:sp>
        <p:nvSpPr>
          <p:cNvPr id="44" name="Shape 41"/>
          <p:cNvSpPr/>
          <p:nvPr/>
        </p:nvSpPr>
        <p:spPr>
          <a:xfrm>
            <a:off x="1856232" y="4846320"/>
            <a:ext cx="9802368" cy="0"/>
          </a:xfrm>
          <a:prstGeom prst="line">
            <a:avLst/>
          </a:prstGeom>
          <a:noFill/>
          <a:ln w="25400">
            <a:solidFill>
              <a:srgbClr val="1F3864"/>
            </a:solidFill>
            <a:prstDash val="solid"/>
            <a:tailEnd type="triangle"/>
          </a:ln>
        </p:spPr>
      </p:sp>
      <p:sp>
        <p:nvSpPr>
          <p:cNvPr id="45" name="Text 42"/>
          <p:cNvSpPr txBox="1"/>
          <p:nvPr/>
        </p:nvSpPr>
        <p:spPr>
          <a:xfrm>
            <a:off x="1856232" y="4937760"/>
            <a:ext cx="9802368" cy="274320"/>
          </a:xfrm>
          <a:prstGeom prst="rect">
            <a:avLst/>
          </a:prstGeom>
          <a:noFill/>
          <a:ln/>
        </p:spPr>
        <p:txBody>
          <a:bodyPr wrap="square" lIns="0" tIns="0" rIns="0" bIns="0" rtlCol="0" anchor="t"/>
          <a:lstStyle/>
          <a:p>
            <a:pPr algn="ctr" indent="0" marL="0">
              <a:buNone/>
            </a:pPr>
            <a:r>
              <a:rPr lang="en-US" sz="1200" b="1" dirty="0">
                <a:solidFill>
                  <a:schemeClr val="tx2"/>
                </a:solidFill>
              </a:rPr>
              <a:t>One eternal plan, administered in successive stewardships (oikonomia — Eph 3:2; Col 1:25)</a:t>
            </a:r>
            <a:endParaRPr lang="en-US" sz="1200" dirty="0"/>
          </a:p>
        </p:txBody>
      </p:sp>
      <p:sp>
        <p:nvSpPr>
          <p:cNvPr id="46" name="Text 43"/>
          <p:cNvSpPr txBox="1"/>
          <p:nvPr/>
        </p:nvSpPr>
        <p:spPr>
          <a:xfrm>
            <a:off x="548640" y="5577840"/>
            <a:ext cx="11064240" cy="502920"/>
          </a:xfrm>
          <a:prstGeom prst="rect">
            <a:avLst/>
          </a:prstGeom>
          <a:noFill/>
          <a:ln/>
        </p:spPr>
        <p:txBody>
          <a:bodyPr wrap="square" lIns="0" tIns="0" rIns="0" bIns="0" rtlCol="0" anchor="t"/>
          <a:lstStyle/>
          <a:p>
            <a:pPr algn="l" indent="0" marL="0">
              <a:buNone/>
            </a:pPr>
            <a:r>
              <a:rPr lang="en-US" sz="1200" i="1" dirty="0">
                <a:solidFill>
                  <a:schemeClr val="accent6"/>
                </a:solidFill>
              </a:rPr>
              <a:t>Each dispensation ends in human failure and divine judgment, yet advances God’s redemptive purpose toward the consummation (Section I.B).</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11155680" cy="621792"/>
          </a:xfrm>
          <a:prstGeom prst="rect">
            <a:avLst/>
          </a:prstGeom>
          <a:noFill/>
          <a:ln/>
        </p:spPr>
        <p:txBody>
          <a:bodyPr wrap="square" lIns="0" tIns="0" rIns="0" bIns="0" rtlCol="0" anchor="ctr"/>
          <a:lstStyle/>
          <a:p>
            <a:pPr algn="l" indent="0" marL="0">
              <a:buNone/>
            </a:pPr>
            <a:r>
              <a:rPr lang="en-US" sz="3400" b="1" dirty="0">
                <a:solidFill>
                  <a:srgbClr val="1F3864"/>
                </a:solidFill>
              </a:rPr>
              <a:t>Four Unconditional Covenants and One Conditional</a:t>
            </a:r>
            <a:endParaRPr lang="en-US" sz="3400" dirty="0"/>
          </a:p>
        </p:txBody>
      </p:sp>
      <p:sp>
        <p:nvSpPr>
          <p:cNvPr id="3" name="Text 1"/>
          <p:cNvSpPr/>
          <p:nvPr>
            <p:ph idx="102" type="body" hasCustomPrompt="1"/>
          </p:nvPr>
        </p:nvSpPr>
        <p:spPr>
          <a:xfrm>
            <a:off x="502920" y="914400"/>
            <a:ext cx="11155680" cy="347472"/>
          </a:xfrm>
          <a:prstGeom prst="rect">
            <a:avLst/>
          </a:prstGeom>
          <a:noFill/>
          <a:ln/>
        </p:spPr>
        <p:txBody>
          <a:bodyPr wrap="square" lIns="0" tIns="0" rIns="0" bIns="0" rtlCol="0" anchor="ctr"/>
          <a:lstStyle/>
          <a:p>
            <a:pPr indent="0" marL="0">
              <a:buNone/>
            </a:pPr>
            <a:r>
              <a:rPr lang="en-US" sz="1400" i="1" dirty="0">
                <a:solidFill>
                  <a:srgbClr val="6B7A8F"/>
                </a:solidFill>
              </a:rPr>
              <a:t>The covenant foundation of Old Testament eschatology  ·  approximate dates  ·  not to scale</a:t>
            </a:r>
            <a:endParaRPr lang="en-US" sz="1400" dirty="0"/>
          </a:p>
        </p:txBody>
      </p:sp>
      <p:sp>
        <p:nvSpPr>
          <p:cNvPr id="5" name="Text 2"/>
          <p:cNvSpPr txBox="1"/>
          <p:nvPr/>
        </p:nvSpPr>
        <p:spPr>
          <a:xfrm>
            <a:off x="2331720" y="1371600"/>
            <a:ext cx="1371600" cy="411480"/>
          </a:xfrm>
          <a:prstGeom prst="rect">
            <a:avLst/>
          </a:prstGeom>
          <a:noFill/>
          <a:ln/>
        </p:spPr>
        <p:txBody>
          <a:bodyPr wrap="square" lIns="0" tIns="0" rIns="0" bIns="0" rtlCol="0" anchor="b"/>
          <a:lstStyle/>
          <a:p>
            <a:pPr algn="ctr" indent="0" marL="0">
              <a:buNone/>
            </a:pPr>
            <a:r>
              <a:rPr lang="en-US" sz="1000" b="1" dirty="0">
                <a:solidFill>
                  <a:schemeClr val="accent6"/>
                </a:solidFill>
              </a:rPr>
              <a:t>Abraham</a:t>
            </a:r>
            <a:endParaRPr lang="en-US" sz="1000" dirty="0"/>
          </a:p>
          <a:p>
            <a:pPr algn="ctr" indent="0" marL="0">
              <a:buNone/>
            </a:pPr>
            <a:r>
              <a:rPr lang="en-US" sz="1000" b="1" dirty="0">
                <a:solidFill>
                  <a:schemeClr val="accent6"/>
                </a:solidFill>
              </a:rPr>
              <a:t>c. 2091 BC</a:t>
            </a:r>
            <a:endParaRPr lang="en-US" sz="1000" dirty="0"/>
          </a:p>
        </p:txBody>
      </p:sp>
      <p:sp>
        <p:nvSpPr>
          <p:cNvPr id="6" name="Shape 3"/>
          <p:cNvSpPr/>
          <p:nvPr/>
        </p:nvSpPr>
        <p:spPr>
          <a:xfrm>
            <a:off x="3017520" y="1828800"/>
            <a:ext cx="0" cy="3611880"/>
          </a:xfrm>
          <a:prstGeom prst="line">
            <a:avLst/>
          </a:prstGeom>
          <a:noFill/>
          <a:ln w="9525">
            <a:solidFill>
              <a:srgbClr val="C8CCD3"/>
            </a:solidFill>
            <a:prstDash val="dash"/>
          </a:ln>
        </p:spPr>
      </p:sp>
      <p:sp>
        <p:nvSpPr>
          <p:cNvPr id="7" name="Text 4"/>
          <p:cNvSpPr txBox="1"/>
          <p:nvPr/>
        </p:nvSpPr>
        <p:spPr>
          <a:xfrm>
            <a:off x="3474720" y="1371600"/>
            <a:ext cx="1371600" cy="411480"/>
          </a:xfrm>
          <a:prstGeom prst="rect">
            <a:avLst/>
          </a:prstGeom>
          <a:noFill/>
          <a:ln/>
        </p:spPr>
        <p:txBody>
          <a:bodyPr wrap="square" lIns="0" tIns="0" rIns="0" bIns="0" rtlCol="0" anchor="b"/>
          <a:lstStyle/>
          <a:p>
            <a:pPr algn="ctr" indent="0" marL="0">
              <a:buNone/>
            </a:pPr>
            <a:r>
              <a:rPr lang="en-US" sz="1000" b="1" dirty="0">
                <a:solidFill>
                  <a:schemeClr val="accent6"/>
                </a:solidFill>
              </a:rPr>
              <a:t>Sinai</a:t>
            </a:r>
            <a:endParaRPr lang="en-US" sz="1000" dirty="0"/>
          </a:p>
          <a:p>
            <a:pPr algn="ctr" indent="0" marL="0">
              <a:buNone/>
            </a:pPr>
            <a:r>
              <a:rPr lang="en-US" sz="1000" b="1" dirty="0">
                <a:solidFill>
                  <a:schemeClr val="accent6"/>
                </a:solidFill>
              </a:rPr>
              <a:t>c. 1446 BC</a:t>
            </a:r>
            <a:endParaRPr lang="en-US" sz="1000" dirty="0"/>
          </a:p>
        </p:txBody>
      </p:sp>
      <p:sp>
        <p:nvSpPr>
          <p:cNvPr id="8" name="Shape 5"/>
          <p:cNvSpPr/>
          <p:nvPr/>
        </p:nvSpPr>
        <p:spPr>
          <a:xfrm>
            <a:off x="4160520" y="1828800"/>
            <a:ext cx="0" cy="3611880"/>
          </a:xfrm>
          <a:prstGeom prst="line">
            <a:avLst/>
          </a:prstGeom>
          <a:noFill/>
          <a:ln w="9525">
            <a:solidFill>
              <a:srgbClr val="C8CCD3"/>
            </a:solidFill>
            <a:prstDash val="dash"/>
          </a:ln>
        </p:spPr>
      </p:sp>
      <p:sp>
        <p:nvSpPr>
          <p:cNvPr id="9" name="Text 6"/>
          <p:cNvSpPr txBox="1"/>
          <p:nvPr/>
        </p:nvSpPr>
        <p:spPr>
          <a:xfrm>
            <a:off x="4983480" y="1371600"/>
            <a:ext cx="1371600" cy="411480"/>
          </a:xfrm>
          <a:prstGeom prst="rect">
            <a:avLst/>
          </a:prstGeom>
          <a:noFill/>
          <a:ln/>
        </p:spPr>
        <p:txBody>
          <a:bodyPr wrap="square" lIns="0" tIns="0" rIns="0" bIns="0" rtlCol="0" anchor="b"/>
          <a:lstStyle/>
          <a:p>
            <a:pPr algn="ctr" indent="0" marL="0">
              <a:buNone/>
            </a:pPr>
            <a:r>
              <a:rPr lang="en-US" sz="1000" b="1" dirty="0">
                <a:solidFill>
                  <a:schemeClr val="accent6"/>
                </a:solidFill>
              </a:rPr>
              <a:t>David</a:t>
            </a:r>
            <a:endParaRPr lang="en-US" sz="1000" dirty="0"/>
          </a:p>
          <a:p>
            <a:pPr algn="ctr" indent="0" marL="0">
              <a:buNone/>
            </a:pPr>
            <a:r>
              <a:rPr lang="en-US" sz="1000" b="1" dirty="0">
                <a:solidFill>
                  <a:schemeClr val="accent6"/>
                </a:solidFill>
              </a:rPr>
              <a:t>c. 1000 BC</a:t>
            </a:r>
            <a:endParaRPr lang="en-US" sz="1000" dirty="0"/>
          </a:p>
        </p:txBody>
      </p:sp>
      <p:sp>
        <p:nvSpPr>
          <p:cNvPr id="10" name="Shape 7"/>
          <p:cNvSpPr/>
          <p:nvPr/>
        </p:nvSpPr>
        <p:spPr>
          <a:xfrm>
            <a:off x="5669280" y="1828800"/>
            <a:ext cx="0" cy="3611880"/>
          </a:xfrm>
          <a:prstGeom prst="line">
            <a:avLst/>
          </a:prstGeom>
          <a:noFill/>
          <a:ln w="9525">
            <a:solidFill>
              <a:srgbClr val="C8CCD3"/>
            </a:solidFill>
            <a:prstDash val="dash"/>
          </a:ln>
        </p:spPr>
      </p:sp>
      <p:sp>
        <p:nvSpPr>
          <p:cNvPr id="11" name="Text 8"/>
          <p:cNvSpPr txBox="1"/>
          <p:nvPr/>
        </p:nvSpPr>
        <p:spPr>
          <a:xfrm>
            <a:off x="5989320" y="1371600"/>
            <a:ext cx="1371600" cy="411480"/>
          </a:xfrm>
          <a:prstGeom prst="rect">
            <a:avLst/>
          </a:prstGeom>
          <a:noFill/>
          <a:ln/>
        </p:spPr>
        <p:txBody>
          <a:bodyPr wrap="square" lIns="0" tIns="0" rIns="0" bIns="0" rtlCol="0" anchor="b"/>
          <a:lstStyle/>
          <a:p>
            <a:pPr algn="ctr" indent="0" marL="0">
              <a:buNone/>
            </a:pPr>
            <a:r>
              <a:rPr lang="en-US" sz="1000" b="1" dirty="0">
                <a:solidFill>
                  <a:schemeClr val="accent6"/>
                </a:solidFill>
              </a:rPr>
              <a:t>Jeremiah</a:t>
            </a:r>
            <a:endParaRPr lang="en-US" sz="1000" dirty="0"/>
          </a:p>
          <a:p>
            <a:pPr algn="ctr" indent="0" marL="0">
              <a:buNone/>
            </a:pPr>
            <a:r>
              <a:rPr lang="en-US" sz="1000" b="1" dirty="0">
                <a:solidFill>
                  <a:schemeClr val="accent6"/>
                </a:solidFill>
              </a:rPr>
              <a:t>c. 600 BC</a:t>
            </a:r>
            <a:endParaRPr lang="en-US" sz="1000" dirty="0"/>
          </a:p>
        </p:txBody>
      </p:sp>
      <p:sp>
        <p:nvSpPr>
          <p:cNvPr id="12" name="Shape 9"/>
          <p:cNvSpPr/>
          <p:nvPr/>
        </p:nvSpPr>
        <p:spPr>
          <a:xfrm>
            <a:off x="6675120" y="1828800"/>
            <a:ext cx="0" cy="3611880"/>
          </a:xfrm>
          <a:prstGeom prst="line">
            <a:avLst/>
          </a:prstGeom>
          <a:noFill/>
          <a:ln w="9525">
            <a:solidFill>
              <a:srgbClr val="C8CCD3"/>
            </a:solidFill>
            <a:prstDash val="dash"/>
          </a:ln>
        </p:spPr>
      </p:sp>
      <p:sp>
        <p:nvSpPr>
          <p:cNvPr id="13" name="Text 10"/>
          <p:cNvSpPr txBox="1"/>
          <p:nvPr/>
        </p:nvSpPr>
        <p:spPr>
          <a:xfrm>
            <a:off x="7315200" y="1371600"/>
            <a:ext cx="1371600" cy="411480"/>
          </a:xfrm>
          <a:prstGeom prst="rect">
            <a:avLst/>
          </a:prstGeom>
          <a:noFill/>
          <a:ln/>
        </p:spPr>
        <p:txBody>
          <a:bodyPr wrap="square" lIns="0" tIns="0" rIns="0" bIns="0" rtlCol="0" anchor="b"/>
          <a:lstStyle/>
          <a:p>
            <a:pPr algn="ctr" indent="0" marL="0">
              <a:buNone/>
            </a:pPr>
            <a:r>
              <a:rPr lang="en-US" sz="1000" b="1" dirty="0">
                <a:solidFill>
                  <a:schemeClr val="accent6"/>
                </a:solidFill>
              </a:rPr>
              <a:t>The Cross</a:t>
            </a:r>
            <a:endParaRPr lang="en-US" sz="1000" dirty="0"/>
          </a:p>
          <a:p>
            <a:pPr algn="ctr" indent="0" marL="0">
              <a:buNone/>
            </a:pPr>
            <a:r>
              <a:rPr lang="en-US" sz="1000" b="1" dirty="0">
                <a:solidFill>
                  <a:schemeClr val="accent6"/>
                </a:solidFill>
              </a:rPr>
              <a:t>AD 33</a:t>
            </a:r>
            <a:endParaRPr lang="en-US" sz="1000" dirty="0"/>
          </a:p>
        </p:txBody>
      </p:sp>
      <p:sp>
        <p:nvSpPr>
          <p:cNvPr id="14" name="Shape 11"/>
          <p:cNvSpPr/>
          <p:nvPr/>
        </p:nvSpPr>
        <p:spPr>
          <a:xfrm>
            <a:off x="8001000" y="1828800"/>
            <a:ext cx="0" cy="3611880"/>
          </a:xfrm>
          <a:prstGeom prst="line">
            <a:avLst/>
          </a:prstGeom>
          <a:noFill/>
          <a:ln w="9525">
            <a:solidFill>
              <a:srgbClr val="C8CCD3"/>
            </a:solidFill>
            <a:prstDash val="dash"/>
          </a:ln>
        </p:spPr>
      </p:sp>
      <p:sp>
        <p:nvSpPr>
          <p:cNvPr id="15" name="Text 12"/>
          <p:cNvSpPr txBox="1"/>
          <p:nvPr/>
        </p:nvSpPr>
        <p:spPr>
          <a:xfrm>
            <a:off x="9281160" y="1371600"/>
            <a:ext cx="1371600" cy="411480"/>
          </a:xfrm>
          <a:prstGeom prst="rect">
            <a:avLst/>
          </a:prstGeom>
          <a:noFill/>
          <a:ln/>
        </p:spPr>
        <p:txBody>
          <a:bodyPr wrap="square" lIns="0" tIns="0" rIns="0" bIns="0" rtlCol="0" anchor="b"/>
          <a:lstStyle/>
          <a:p>
            <a:pPr algn="ctr" indent="0" marL="0">
              <a:buNone/>
            </a:pPr>
            <a:r>
              <a:rPr lang="en-US" sz="1000" b="1" dirty="0">
                <a:solidFill>
                  <a:schemeClr val="accent6"/>
                </a:solidFill>
              </a:rPr>
              <a:t>Second</a:t>
            </a:r>
            <a:endParaRPr lang="en-US" sz="1000" dirty="0"/>
          </a:p>
          <a:p>
            <a:pPr algn="ctr" indent="0" marL="0">
              <a:buNone/>
            </a:pPr>
            <a:r>
              <a:rPr lang="en-US" sz="1000" b="1" dirty="0">
                <a:solidFill>
                  <a:schemeClr val="accent6"/>
                </a:solidFill>
              </a:rPr>
              <a:t>Coming</a:t>
            </a:r>
            <a:endParaRPr lang="en-US" sz="1000" dirty="0"/>
          </a:p>
        </p:txBody>
      </p:sp>
      <p:sp>
        <p:nvSpPr>
          <p:cNvPr id="16" name="Shape 13"/>
          <p:cNvSpPr/>
          <p:nvPr/>
        </p:nvSpPr>
        <p:spPr>
          <a:xfrm>
            <a:off x="9966960" y="1828800"/>
            <a:ext cx="0" cy="3611880"/>
          </a:xfrm>
          <a:prstGeom prst="line">
            <a:avLst/>
          </a:prstGeom>
          <a:noFill/>
          <a:ln w="9525">
            <a:solidFill>
              <a:srgbClr val="C8CCD3"/>
            </a:solidFill>
            <a:prstDash val="dash"/>
          </a:ln>
        </p:spPr>
      </p:sp>
      <p:sp>
        <p:nvSpPr>
          <p:cNvPr id="17" name="Text 14"/>
          <p:cNvSpPr txBox="1"/>
          <p:nvPr/>
        </p:nvSpPr>
        <p:spPr>
          <a:xfrm>
            <a:off x="9966960" y="5440680"/>
            <a:ext cx="1645920" cy="329184"/>
          </a:xfrm>
          <a:prstGeom prst="rect">
            <a:avLst/>
          </a:prstGeom>
          <a:solidFill>
            <a:schemeClr val="accent3"/>
          </a:solidFill>
          <a:ln/>
        </p:spPr>
        <p:txBody>
          <a:bodyPr wrap="square" lIns="38100" tIns="38100" rIns="38100" bIns="38100" rtlCol="0" anchor="ctr"/>
          <a:lstStyle/>
          <a:p>
            <a:pPr algn="ctr" indent="0" marL="0">
              <a:buNone/>
            </a:pPr>
            <a:r>
              <a:rPr lang="en-US" sz="1100" b="1" dirty="0">
                <a:solidFill>
                  <a:schemeClr val="bg1"/>
                </a:solidFill>
              </a:rPr>
              <a:t>Millennium</a:t>
            </a:r>
            <a:endParaRPr lang="en-US" sz="1100" dirty="0"/>
          </a:p>
        </p:txBody>
      </p:sp>
      <p:sp>
        <p:nvSpPr>
          <p:cNvPr id="18" name="Text 15"/>
          <p:cNvSpPr txBox="1"/>
          <p:nvPr/>
        </p:nvSpPr>
        <p:spPr>
          <a:xfrm>
            <a:off x="548640" y="2011680"/>
            <a:ext cx="2286000" cy="274320"/>
          </a:xfrm>
          <a:prstGeom prst="rect">
            <a:avLst/>
          </a:prstGeom>
          <a:noFill/>
          <a:ln/>
        </p:spPr>
        <p:txBody>
          <a:bodyPr wrap="square" lIns="0" tIns="0" rIns="0" bIns="0" rtlCol="0" anchor="t"/>
          <a:lstStyle/>
          <a:p>
            <a:pPr algn="l" indent="0" marL="0">
              <a:buNone/>
            </a:pPr>
            <a:r>
              <a:rPr lang="en-US" sz="1300" b="1" dirty="0">
                <a:solidFill>
                  <a:srgbClr val="8A6A1E"/>
                </a:solidFill>
              </a:rPr>
              <a:t>Abrahamic</a:t>
            </a:r>
            <a:endParaRPr lang="en-US" sz="1300" dirty="0"/>
          </a:p>
        </p:txBody>
      </p:sp>
      <p:sp>
        <p:nvSpPr>
          <p:cNvPr id="19" name="Text 16"/>
          <p:cNvSpPr txBox="1"/>
          <p:nvPr/>
        </p:nvSpPr>
        <p:spPr>
          <a:xfrm>
            <a:off x="548640" y="2286000"/>
            <a:ext cx="2286000" cy="256032"/>
          </a:xfrm>
          <a:prstGeom prst="rect">
            <a:avLst/>
          </a:prstGeom>
          <a:noFill/>
          <a:ln/>
        </p:spPr>
        <p:txBody>
          <a:bodyPr wrap="square" lIns="0" tIns="0" rIns="0" bIns="0" rtlCol="0" anchor="t"/>
          <a:lstStyle/>
          <a:p>
            <a:pPr algn="l" indent="0" marL="0">
              <a:buNone/>
            </a:pPr>
            <a:r>
              <a:rPr lang="en-US" sz="1000" i="1" dirty="0">
                <a:solidFill>
                  <a:schemeClr val="accent6"/>
                </a:solidFill>
              </a:rPr>
              <a:t>Gen 12:1–3; 15; 17</a:t>
            </a:r>
            <a:endParaRPr lang="en-US" sz="1000" dirty="0"/>
          </a:p>
        </p:txBody>
      </p:sp>
      <p:sp>
        <p:nvSpPr>
          <p:cNvPr id="20" name="Shape 17"/>
          <p:cNvSpPr/>
          <p:nvPr/>
        </p:nvSpPr>
        <p:spPr>
          <a:xfrm>
            <a:off x="2926080" y="2121408"/>
            <a:ext cx="182880" cy="182880"/>
          </a:xfrm>
          <a:prstGeom prst="ellipse">
            <a:avLst/>
          </a:prstGeom>
          <a:solidFill>
            <a:srgbClr val="B8892B"/>
          </a:solidFill>
          <a:ln w="12700">
            <a:solidFill>
              <a:srgbClr val="FAF7EF"/>
            </a:solidFill>
            <a:prstDash val="solid"/>
          </a:ln>
        </p:spPr>
      </p:sp>
      <p:sp>
        <p:nvSpPr>
          <p:cNvPr id="21" name="Shape 18"/>
          <p:cNvSpPr/>
          <p:nvPr/>
        </p:nvSpPr>
        <p:spPr>
          <a:xfrm>
            <a:off x="3017520" y="2212848"/>
            <a:ext cx="8595360" cy="0"/>
          </a:xfrm>
          <a:prstGeom prst="line">
            <a:avLst/>
          </a:prstGeom>
          <a:noFill/>
          <a:ln w="50800">
            <a:solidFill>
              <a:srgbClr val="B8892B"/>
            </a:solidFill>
            <a:prstDash val="solid"/>
            <a:tailEnd type="triangle"/>
          </a:ln>
        </p:spPr>
      </p:sp>
      <p:sp>
        <p:nvSpPr>
          <p:cNvPr id="22" name="Text 19"/>
          <p:cNvSpPr txBox="1"/>
          <p:nvPr/>
        </p:nvSpPr>
        <p:spPr>
          <a:xfrm>
            <a:off x="3154680" y="2286000"/>
            <a:ext cx="3840480" cy="256032"/>
          </a:xfrm>
          <a:prstGeom prst="rect">
            <a:avLst/>
          </a:prstGeom>
          <a:noFill/>
          <a:ln/>
        </p:spPr>
        <p:txBody>
          <a:bodyPr wrap="square" lIns="0" tIns="0" rIns="0" bIns="0" rtlCol="0" anchor="t"/>
          <a:lstStyle/>
          <a:p>
            <a:pPr algn="l" indent="0" marL="0">
              <a:buNone/>
            </a:pPr>
            <a:r>
              <a:rPr lang="en-US" sz="1000" dirty="0">
                <a:solidFill>
                  <a:srgbClr val="8A6A1E"/>
                </a:solidFill>
              </a:rPr>
              <a:t>land · seed · blessing</a:t>
            </a:r>
            <a:endParaRPr lang="en-US" sz="1000" dirty="0"/>
          </a:p>
        </p:txBody>
      </p:sp>
      <p:sp>
        <p:nvSpPr>
          <p:cNvPr id="23" name="Text 20"/>
          <p:cNvSpPr txBox="1"/>
          <p:nvPr/>
        </p:nvSpPr>
        <p:spPr>
          <a:xfrm>
            <a:off x="548640" y="2724912"/>
            <a:ext cx="2286000" cy="274320"/>
          </a:xfrm>
          <a:prstGeom prst="rect">
            <a:avLst/>
          </a:prstGeom>
          <a:noFill/>
          <a:ln/>
        </p:spPr>
        <p:txBody>
          <a:bodyPr wrap="square" lIns="0" tIns="0" rIns="0" bIns="0" rtlCol="0" anchor="t"/>
          <a:lstStyle/>
          <a:p>
            <a:pPr algn="l" indent="0" marL="0">
              <a:buNone/>
            </a:pPr>
            <a:r>
              <a:rPr lang="en-US" sz="1300" b="1" dirty="0">
                <a:solidFill>
                  <a:srgbClr val="8A6A1E"/>
                </a:solidFill>
              </a:rPr>
              <a:t>Palestinian (Land)</a:t>
            </a:r>
            <a:endParaRPr lang="en-US" sz="1300" dirty="0"/>
          </a:p>
        </p:txBody>
      </p:sp>
      <p:sp>
        <p:nvSpPr>
          <p:cNvPr id="24" name="Text 21"/>
          <p:cNvSpPr txBox="1"/>
          <p:nvPr/>
        </p:nvSpPr>
        <p:spPr>
          <a:xfrm>
            <a:off x="548640" y="2999232"/>
            <a:ext cx="2286000" cy="256032"/>
          </a:xfrm>
          <a:prstGeom prst="rect">
            <a:avLst/>
          </a:prstGeom>
          <a:noFill/>
          <a:ln/>
        </p:spPr>
        <p:txBody>
          <a:bodyPr wrap="square" lIns="0" tIns="0" rIns="0" bIns="0" rtlCol="0" anchor="t"/>
          <a:lstStyle/>
          <a:p>
            <a:pPr algn="l" indent="0" marL="0">
              <a:buNone/>
            </a:pPr>
            <a:r>
              <a:rPr lang="en-US" sz="1000" i="1" dirty="0">
                <a:solidFill>
                  <a:schemeClr val="accent6"/>
                </a:solidFill>
              </a:rPr>
              <a:t>Deut 30:1–10</a:t>
            </a:r>
            <a:endParaRPr lang="en-US" sz="1000" dirty="0"/>
          </a:p>
        </p:txBody>
      </p:sp>
      <p:sp>
        <p:nvSpPr>
          <p:cNvPr id="25" name="Shape 22"/>
          <p:cNvSpPr/>
          <p:nvPr/>
        </p:nvSpPr>
        <p:spPr>
          <a:xfrm>
            <a:off x="4617720" y="2834640"/>
            <a:ext cx="182880" cy="182880"/>
          </a:xfrm>
          <a:prstGeom prst="ellipse">
            <a:avLst/>
          </a:prstGeom>
          <a:solidFill>
            <a:srgbClr val="B8892B"/>
          </a:solidFill>
          <a:ln w="12700">
            <a:solidFill>
              <a:srgbClr val="FAF7EF"/>
            </a:solidFill>
            <a:prstDash val="solid"/>
          </a:ln>
        </p:spPr>
      </p:sp>
      <p:sp>
        <p:nvSpPr>
          <p:cNvPr id="26" name="Shape 23"/>
          <p:cNvSpPr/>
          <p:nvPr/>
        </p:nvSpPr>
        <p:spPr>
          <a:xfrm>
            <a:off x="4709160" y="2926080"/>
            <a:ext cx="6903720" cy="0"/>
          </a:xfrm>
          <a:prstGeom prst="line">
            <a:avLst/>
          </a:prstGeom>
          <a:noFill/>
          <a:ln w="50800">
            <a:solidFill>
              <a:srgbClr val="B8892B"/>
            </a:solidFill>
            <a:prstDash val="solid"/>
            <a:tailEnd type="triangle"/>
          </a:ln>
        </p:spPr>
      </p:sp>
      <p:sp>
        <p:nvSpPr>
          <p:cNvPr id="27" name="Text 24"/>
          <p:cNvSpPr txBox="1"/>
          <p:nvPr/>
        </p:nvSpPr>
        <p:spPr>
          <a:xfrm>
            <a:off x="4846320" y="2999232"/>
            <a:ext cx="3840480" cy="256032"/>
          </a:xfrm>
          <a:prstGeom prst="rect">
            <a:avLst/>
          </a:prstGeom>
          <a:noFill/>
          <a:ln/>
        </p:spPr>
        <p:txBody>
          <a:bodyPr wrap="square" lIns="0" tIns="0" rIns="0" bIns="0" rtlCol="0" anchor="t"/>
          <a:lstStyle/>
          <a:p>
            <a:pPr algn="l" indent="0" marL="0">
              <a:buNone/>
            </a:pPr>
            <a:r>
              <a:rPr lang="en-US" sz="1000" dirty="0">
                <a:solidFill>
                  <a:srgbClr val="8A6A1E"/>
                </a:solidFill>
              </a:rPr>
              <a:t>regathering and full possession</a:t>
            </a:r>
            <a:endParaRPr lang="en-US" sz="1000" dirty="0"/>
          </a:p>
        </p:txBody>
      </p:sp>
      <p:sp>
        <p:nvSpPr>
          <p:cNvPr id="28" name="Text 25"/>
          <p:cNvSpPr txBox="1"/>
          <p:nvPr/>
        </p:nvSpPr>
        <p:spPr>
          <a:xfrm>
            <a:off x="548640" y="3438144"/>
            <a:ext cx="2286000" cy="274320"/>
          </a:xfrm>
          <a:prstGeom prst="rect">
            <a:avLst/>
          </a:prstGeom>
          <a:noFill/>
          <a:ln/>
        </p:spPr>
        <p:txBody>
          <a:bodyPr wrap="square" lIns="0" tIns="0" rIns="0" bIns="0" rtlCol="0" anchor="t"/>
          <a:lstStyle/>
          <a:p>
            <a:pPr algn="l" indent="0" marL="0">
              <a:buNone/>
            </a:pPr>
            <a:r>
              <a:rPr lang="en-US" sz="1300" b="1" dirty="0">
                <a:solidFill>
                  <a:srgbClr val="8A6A1E"/>
                </a:solidFill>
              </a:rPr>
              <a:t>Davidic</a:t>
            </a:r>
            <a:endParaRPr lang="en-US" sz="1300" dirty="0"/>
          </a:p>
        </p:txBody>
      </p:sp>
      <p:sp>
        <p:nvSpPr>
          <p:cNvPr id="29" name="Text 26"/>
          <p:cNvSpPr txBox="1"/>
          <p:nvPr/>
        </p:nvSpPr>
        <p:spPr>
          <a:xfrm>
            <a:off x="548640" y="3712464"/>
            <a:ext cx="2286000" cy="256032"/>
          </a:xfrm>
          <a:prstGeom prst="rect">
            <a:avLst/>
          </a:prstGeom>
          <a:noFill/>
          <a:ln/>
        </p:spPr>
        <p:txBody>
          <a:bodyPr wrap="square" lIns="0" tIns="0" rIns="0" bIns="0" rtlCol="0" anchor="t"/>
          <a:lstStyle/>
          <a:p>
            <a:pPr algn="l" indent="0" marL="0">
              <a:buNone/>
            </a:pPr>
            <a:r>
              <a:rPr lang="en-US" sz="1000" i="1" dirty="0">
                <a:solidFill>
                  <a:schemeClr val="accent6"/>
                </a:solidFill>
              </a:rPr>
              <a:t>2 Sam 7:12–16; Ps 89</a:t>
            </a:r>
            <a:endParaRPr lang="en-US" sz="1000" dirty="0"/>
          </a:p>
        </p:txBody>
      </p:sp>
      <p:sp>
        <p:nvSpPr>
          <p:cNvPr id="30" name="Shape 27"/>
          <p:cNvSpPr/>
          <p:nvPr/>
        </p:nvSpPr>
        <p:spPr>
          <a:xfrm>
            <a:off x="5577840" y="3547872"/>
            <a:ext cx="182880" cy="182880"/>
          </a:xfrm>
          <a:prstGeom prst="ellipse">
            <a:avLst/>
          </a:prstGeom>
          <a:solidFill>
            <a:srgbClr val="B8892B"/>
          </a:solidFill>
          <a:ln w="12700">
            <a:solidFill>
              <a:srgbClr val="FAF7EF"/>
            </a:solidFill>
            <a:prstDash val="solid"/>
          </a:ln>
        </p:spPr>
      </p:sp>
      <p:sp>
        <p:nvSpPr>
          <p:cNvPr id="31" name="Shape 28"/>
          <p:cNvSpPr/>
          <p:nvPr/>
        </p:nvSpPr>
        <p:spPr>
          <a:xfrm>
            <a:off x="5669280" y="3639312"/>
            <a:ext cx="5943600" cy="0"/>
          </a:xfrm>
          <a:prstGeom prst="line">
            <a:avLst/>
          </a:prstGeom>
          <a:noFill/>
          <a:ln w="50800">
            <a:solidFill>
              <a:srgbClr val="B8892B"/>
            </a:solidFill>
            <a:prstDash val="solid"/>
            <a:tailEnd type="triangle"/>
          </a:ln>
        </p:spPr>
      </p:sp>
      <p:sp>
        <p:nvSpPr>
          <p:cNvPr id="32" name="Text 29"/>
          <p:cNvSpPr txBox="1"/>
          <p:nvPr/>
        </p:nvSpPr>
        <p:spPr>
          <a:xfrm>
            <a:off x="5806440" y="3712464"/>
            <a:ext cx="3840480" cy="256032"/>
          </a:xfrm>
          <a:prstGeom prst="rect">
            <a:avLst/>
          </a:prstGeom>
          <a:noFill/>
          <a:ln/>
        </p:spPr>
        <p:txBody>
          <a:bodyPr wrap="square" lIns="0" tIns="0" rIns="0" bIns="0" rtlCol="0" anchor="t"/>
          <a:lstStyle/>
          <a:p>
            <a:pPr algn="l" indent="0" marL="0">
              <a:buNone/>
            </a:pPr>
            <a:r>
              <a:rPr lang="en-US" sz="1000" dirty="0">
                <a:solidFill>
                  <a:srgbClr val="8A6A1E"/>
                </a:solidFill>
              </a:rPr>
              <a:t>house · throne · kingdom</a:t>
            </a:r>
            <a:endParaRPr lang="en-US" sz="1000" dirty="0"/>
          </a:p>
        </p:txBody>
      </p:sp>
      <p:sp>
        <p:nvSpPr>
          <p:cNvPr id="33" name="Text 30"/>
          <p:cNvSpPr txBox="1"/>
          <p:nvPr/>
        </p:nvSpPr>
        <p:spPr>
          <a:xfrm>
            <a:off x="548640" y="4151376"/>
            <a:ext cx="2286000" cy="274320"/>
          </a:xfrm>
          <a:prstGeom prst="rect">
            <a:avLst/>
          </a:prstGeom>
          <a:noFill/>
          <a:ln/>
        </p:spPr>
        <p:txBody>
          <a:bodyPr wrap="square" lIns="0" tIns="0" rIns="0" bIns="0" rtlCol="0" anchor="t"/>
          <a:lstStyle/>
          <a:p>
            <a:pPr algn="l" indent="0" marL="0">
              <a:buNone/>
            </a:pPr>
            <a:r>
              <a:rPr lang="en-US" sz="1300" b="1" dirty="0">
                <a:solidFill>
                  <a:srgbClr val="8A6A1E"/>
                </a:solidFill>
              </a:rPr>
              <a:t>New</a:t>
            </a:r>
            <a:endParaRPr lang="en-US" sz="1300" dirty="0"/>
          </a:p>
        </p:txBody>
      </p:sp>
      <p:sp>
        <p:nvSpPr>
          <p:cNvPr id="34" name="Text 31"/>
          <p:cNvSpPr txBox="1"/>
          <p:nvPr/>
        </p:nvSpPr>
        <p:spPr>
          <a:xfrm>
            <a:off x="548640" y="4425696"/>
            <a:ext cx="2286000" cy="256032"/>
          </a:xfrm>
          <a:prstGeom prst="rect">
            <a:avLst/>
          </a:prstGeom>
          <a:noFill/>
          <a:ln/>
        </p:spPr>
        <p:txBody>
          <a:bodyPr wrap="square" lIns="0" tIns="0" rIns="0" bIns="0" rtlCol="0" anchor="t"/>
          <a:lstStyle/>
          <a:p>
            <a:pPr algn="l" indent="0" marL="0">
              <a:buNone/>
            </a:pPr>
            <a:r>
              <a:rPr lang="en-US" sz="1000" i="1" dirty="0">
                <a:solidFill>
                  <a:schemeClr val="accent6"/>
                </a:solidFill>
              </a:rPr>
              <a:t>Jer 31:31–34; Ezek 36</a:t>
            </a:r>
            <a:endParaRPr lang="en-US" sz="1000" dirty="0"/>
          </a:p>
        </p:txBody>
      </p:sp>
      <p:sp>
        <p:nvSpPr>
          <p:cNvPr id="35" name="Shape 32"/>
          <p:cNvSpPr/>
          <p:nvPr/>
        </p:nvSpPr>
        <p:spPr>
          <a:xfrm>
            <a:off x="6583680" y="4261104"/>
            <a:ext cx="182880" cy="182880"/>
          </a:xfrm>
          <a:prstGeom prst="ellipse">
            <a:avLst/>
          </a:prstGeom>
          <a:solidFill>
            <a:srgbClr val="B8892B"/>
          </a:solidFill>
          <a:ln w="12700">
            <a:solidFill>
              <a:srgbClr val="FAF7EF"/>
            </a:solidFill>
            <a:prstDash val="solid"/>
          </a:ln>
        </p:spPr>
      </p:sp>
      <p:sp>
        <p:nvSpPr>
          <p:cNvPr id="36" name="Shape 33"/>
          <p:cNvSpPr/>
          <p:nvPr/>
        </p:nvSpPr>
        <p:spPr>
          <a:xfrm>
            <a:off x="6675120" y="4352544"/>
            <a:ext cx="4937760" cy="0"/>
          </a:xfrm>
          <a:prstGeom prst="line">
            <a:avLst/>
          </a:prstGeom>
          <a:noFill/>
          <a:ln w="50800">
            <a:solidFill>
              <a:srgbClr val="B8892B"/>
            </a:solidFill>
            <a:prstDash val="solid"/>
            <a:tailEnd type="triangle"/>
          </a:ln>
        </p:spPr>
      </p:sp>
      <p:sp>
        <p:nvSpPr>
          <p:cNvPr id="37" name="Text 34"/>
          <p:cNvSpPr txBox="1"/>
          <p:nvPr/>
        </p:nvSpPr>
        <p:spPr>
          <a:xfrm>
            <a:off x="6812280" y="4425696"/>
            <a:ext cx="3840480" cy="256032"/>
          </a:xfrm>
          <a:prstGeom prst="rect">
            <a:avLst/>
          </a:prstGeom>
          <a:noFill/>
          <a:ln/>
        </p:spPr>
        <p:txBody>
          <a:bodyPr wrap="square" lIns="0" tIns="0" rIns="0" bIns="0" rtlCol="0" anchor="t"/>
          <a:lstStyle/>
          <a:p>
            <a:pPr algn="l" indent="0" marL="0">
              <a:buNone/>
            </a:pPr>
            <a:r>
              <a:rPr lang="en-US" sz="1000" dirty="0">
                <a:solidFill>
                  <a:srgbClr val="8A6A1E"/>
                </a:solidFill>
              </a:rPr>
              <a:t>new heart · Spirit · forgiveness</a:t>
            </a:r>
            <a:endParaRPr lang="en-US" sz="1000" dirty="0"/>
          </a:p>
        </p:txBody>
      </p:sp>
      <p:sp>
        <p:nvSpPr>
          <p:cNvPr id="38" name="Shape 35"/>
          <p:cNvSpPr/>
          <p:nvPr/>
        </p:nvSpPr>
        <p:spPr>
          <a:xfrm>
            <a:off x="7900416" y="4251960"/>
            <a:ext cx="201168" cy="201168"/>
          </a:xfrm>
          <a:prstGeom prst="diamond">
            <a:avLst/>
          </a:prstGeom>
          <a:solidFill>
            <a:srgbClr val="375623"/>
          </a:solidFill>
          <a:ln w="12700">
            <a:solidFill>
              <a:srgbClr val="FAF7EF"/>
            </a:solidFill>
            <a:prstDash val="solid"/>
          </a:ln>
        </p:spPr>
      </p:sp>
      <p:sp>
        <p:nvSpPr>
          <p:cNvPr id="39" name="Text 36"/>
          <p:cNvSpPr txBox="1"/>
          <p:nvPr/>
        </p:nvSpPr>
        <p:spPr>
          <a:xfrm>
            <a:off x="8138160" y="4041648"/>
            <a:ext cx="3566160" cy="256032"/>
          </a:xfrm>
          <a:prstGeom prst="rect">
            <a:avLst/>
          </a:prstGeom>
          <a:noFill/>
          <a:ln/>
        </p:spPr>
        <p:txBody>
          <a:bodyPr wrap="square" lIns="0" tIns="0" rIns="0" bIns="0" rtlCol="0" anchor="t"/>
          <a:lstStyle/>
          <a:p>
            <a:pPr algn="l" indent="0" marL="0">
              <a:buNone/>
            </a:pPr>
            <a:r>
              <a:rPr lang="en-US" sz="1000" dirty="0">
                <a:solidFill>
                  <a:schemeClr val="accent2"/>
                </a:solidFill>
              </a:rPr>
              <a:t>inaugurated at the cross; Church participates (Luke 22:20)</a:t>
            </a:r>
            <a:endParaRPr lang="en-US" sz="1000" dirty="0"/>
          </a:p>
        </p:txBody>
      </p:sp>
      <p:sp>
        <p:nvSpPr>
          <p:cNvPr id="40" name="Text 37"/>
          <p:cNvSpPr txBox="1"/>
          <p:nvPr/>
        </p:nvSpPr>
        <p:spPr>
          <a:xfrm>
            <a:off x="548640" y="4864608"/>
            <a:ext cx="2377440" cy="274320"/>
          </a:xfrm>
          <a:prstGeom prst="rect">
            <a:avLst/>
          </a:prstGeom>
          <a:noFill/>
          <a:ln/>
        </p:spPr>
        <p:txBody>
          <a:bodyPr wrap="square" lIns="0" tIns="0" rIns="0" bIns="0" rtlCol="0" anchor="t"/>
          <a:lstStyle/>
          <a:p>
            <a:pPr algn="l" indent="0" marL="0">
              <a:buNone/>
            </a:pPr>
            <a:r>
              <a:rPr lang="en-US" sz="1300" b="1" dirty="0">
                <a:solidFill>
                  <a:schemeClr val="accent6"/>
                </a:solidFill>
              </a:rPr>
              <a:t>Mosaic (conditional)</a:t>
            </a:r>
            <a:endParaRPr lang="en-US" sz="1300" dirty="0"/>
          </a:p>
        </p:txBody>
      </p:sp>
      <p:sp>
        <p:nvSpPr>
          <p:cNvPr id="41" name="Text 38"/>
          <p:cNvSpPr txBox="1"/>
          <p:nvPr/>
        </p:nvSpPr>
        <p:spPr>
          <a:xfrm>
            <a:off x="548640" y="5138928"/>
            <a:ext cx="2286000" cy="256032"/>
          </a:xfrm>
          <a:prstGeom prst="rect">
            <a:avLst/>
          </a:prstGeom>
          <a:noFill/>
          <a:ln/>
        </p:spPr>
        <p:txBody>
          <a:bodyPr wrap="square" lIns="0" tIns="0" rIns="0" bIns="0" rtlCol="0" anchor="t"/>
          <a:lstStyle/>
          <a:p>
            <a:pPr algn="l" indent="0" marL="0">
              <a:buNone/>
            </a:pPr>
            <a:r>
              <a:rPr lang="en-US" sz="1000" i="1" dirty="0">
                <a:solidFill>
                  <a:schemeClr val="accent6"/>
                </a:solidFill>
              </a:rPr>
              <a:t>Exod 19:5–8</a:t>
            </a:r>
            <a:endParaRPr lang="en-US" sz="1000" dirty="0"/>
          </a:p>
        </p:txBody>
      </p:sp>
      <p:sp>
        <p:nvSpPr>
          <p:cNvPr id="42" name="Shape 39"/>
          <p:cNvSpPr/>
          <p:nvPr/>
        </p:nvSpPr>
        <p:spPr>
          <a:xfrm>
            <a:off x="4069080" y="4974336"/>
            <a:ext cx="182880" cy="182880"/>
          </a:xfrm>
          <a:prstGeom prst="ellipse">
            <a:avLst/>
          </a:prstGeom>
          <a:solidFill>
            <a:srgbClr val="6B7A8F"/>
          </a:solidFill>
          <a:ln w="12700">
            <a:solidFill>
              <a:srgbClr val="FAF7EF"/>
            </a:solidFill>
            <a:prstDash val="solid"/>
          </a:ln>
        </p:spPr>
      </p:sp>
      <p:sp>
        <p:nvSpPr>
          <p:cNvPr id="43" name="Shape 40"/>
          <p:cNvSpPr/>
          <p:nvPr/>
        </p:nvSpPr>
        <p:spPr>
          <a:xfrm>
            <a:off x="4160520" y="5065776"/>
            <a:ext cx="3840480" cy="0"/>
          </a:xfrm>
          <a:prstGeom prst="line">
            <a:avLst/>
          </a:prstGeom>
          <a:noFill/>
          <a:ln w="50800">
            <a:solidFill>
              <a:srgbClr val="6B7A8F"/>
            </a:solidFill>
            <a:prstDash val="dash"/>
          </a:ln>
        </p:spPr>
      </p:sp>
      <p:sp>
        <p:nvSpPr>
          <p:cNvPr id="44" name="Shape 41"/>
          <p:cNvSpPr/>
          <p:nvPr/>
        </p:nvSpPr>
        <p:spPr>
          <a:xfrm>
            <a:off x="8001000" y="4882896"/>
            <a:ext cx="0" cy="365760"/>
          </a:xfrm>
          <a:prstGeom prst="line">
            <a:avLst/>
          </a:prstGeom>
          <a:noFill/>
          <a:ln w="38100">
            <a:solidFill>
              <a:srgbClr val="8B2E2E"/>
            </a:solidFill>
            <a:prstDash val="solid"/>
          </a:ln>
        </p:spPr>
      </p:sp>
      <p:sp>
        <p:nvSpPr>
          <p:cNvPr id="45" name="Text 42"/>
          <p:cNvSpPr txBox="1"/>
          <p:nvPr/>
        </p:nvSpPr>
        <p:spPr>
          <a:xfrm>
            <a:off x="8138160" y="4937760"/>
            <a:ext cx="3566160" cy="274320"/>
          </a:xfrm>
          <a:prstGeom prst="rect">
            <a:avLst/>
          </a:prstGeom>
          <a:noFill/>
          <a:ln/>
        </p:spPr>
        <p:txBody>
          <a:bodyPr wrap="square" lIns="0" tIns="0" rIns="0" bIns="0" rtlCol="0" anchor="t"/>
          <a:lstStyle/>
          <a:p>
            <a:pPr algn="l" indent="0" marL="0">
              <a:buNone/>
            </a:pPr>
            <a:r>
              <a:rPr lang="en-US" sz="1000" b="1" dirty="0">
                <a:solidFill>
                  <a:schemeClr val="accent4"/>
                </a:solidFill>
              </a:rPr>
              <a:t>made obsolete (Heb 8:13) — yet it never annulled the promise (Gal 3:17)</a:t>
            </a:r>
            <a:endParaRPr lang="en-US" sz="1000" dirty="0"/>
          </a:p>
        </p:txBody>
      </p:sp>
      <p:sp>
        <p:nvSpPr>
          <p:cNvPr id="46" name="Text 43"/>
          <p:cNvSpPr txBox="1"/>
          <p:nvPr/>
        </p:nvSpPr>
        <p:spPr>
          <a:xfrm>
            <a:off x="548640" y="5897880"/>
            <a:ext cx="11064240" cy="365760"/>
          </a:xfrm>
          <a:prstGeom prst="rect">
            <a:avLst/>
          </a:prstGeom>
          <a:noFill/>
          <a:ln/>
        </p:spPr>
        <p:txBody>
          <a:bodyPr wrap="square" lIns="0" tIns="0" rIns="0" bIns="0" rtlCol="0" anchor="t"/>
          <a:lstStyle/>
          <a:p>
            <a:pPr algn="l" indent="0" marL="0">
              <a:buNone/>
            </a:pPr>
            <a:r>
              <a:rPr lang="en-US" sz="1200" i="1" dirty="0">
                <a:solidFill>
                  <a:schemeClr val="accent6"/>
                </a:solidFill>
              </a:rPr>
              <a:t>Israel’s failure under the Mosaic Covenant cannot cancel the four covenants God confirmed by His own oath (Section I.D).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11155680" cy="621792"/>
          </a:xfrm>
          <a:prstGeom prst="rect">
            <a:avLst/>
          </a:prstGeom>
          <a:noFill/>
          <a:ln/>
        </p:spPr>
        <p:txBody>
          <a:bodyPr wrap="square" lIns="0" tIns="0" rIns="0" bIns="0" rtlCol="0" anchor="ctr"/>
          <a:lstStyle/>
          <a:p>
            <a:pPr algn="l" indent="0" marL="0">
              <a:buNone/>
            </a:pPr>
            <a:r>
              <a:rPr lang="en-US" sz="3400" b="1" dirty="0">
                <a:solidFill>
                  <a:srgbClr val="1F3864"/>
                </a:solidFill>
              </a:rPr>
              <a:t>Where Do the Seventy Weeks Begin?</a:t>
            </a:r>
            <a:endParaRPr lang="en-US" sz="3400" dirty="0"/>
          </a:p>
        </p:txBody>
      </p:sp>
      <p:sp>
        <p:nvSpPr>
          <p:cNvPr id="3" name="Text 1"/>
          <p:cNvSpPr/>
          <p:nvPr>
            <p:ph idx="102" type="body" hasCustomPrompt="1"/>
          </p:nvPr>
        </p:nvSpPr>
        <p:spPr>
          <a:xfrm>
            <a:off x="502920" y="914400"/>
            <a:ext cx="11155680" cy="347472"/>
          </a:xfrm>
          <a:prstGeom prst="rect">
            <a:avLst/>
          </a:prstGeom>
          <a:noFill/>
          <a:ln/>
        </p:spPr>
        <p:txBody>
          <a:bodyPr wrap="square" lIns="0" tIns="0" rIns="0" bIns="0" rtlCol="0" anchor="ctr"/>
          <a:lstStyle/>
          <a:p>
            <a:pPr indent="0" marL="0">
              <a:buNone/>
            </a:pPr>
            <a:r>
              <a:rPr lang="en-US" sz="1400" i="1" dirty="0">
                <a:solidFill>
                  <a:srgbClr val="6B7A8F"/>
                </a:solidFill>
              </a:rPr>
              <a:t>Four Persian decrees tested against Daniel 9:25 — “to restore and rebuild Jerusalem”</a:t>
            </a:r>
            <a:endParaRPr lang="en-US" sz="1400" dirty="0"/>
          </a:p>
        </p:txBody>
      </p:sp>
      <p:sp>
        <p:nvSpPr>
          <p:cNvPr id="5" name="Text 2"/>
          <p:cNvSpPr txBox="1"/>
          <p:nvPr/>
        </p:nvSpPr>
        <p:spPr>
          <a:xfrm>
            <a:off x="548640" y="1600200"/>
            <a:ext cx="3383280" cy="786384"/>
          </a:xfrm>
          <a:prstGeom prst="roundRect">
            <a:avLst>
              <a:gd name="adj" fmla="val 9302"/>
            </a:avLst>
          </a:prstGeom>
          <a:solidFill>
            <a:srgbClr val="6B7A8F"/>
          </a:solidFill>
          <a:ln/>
        </p:spPr>
        <p:txBody>
          <a:bodyPr wrap="square" lIns="38100" tIns="38100" rIns="38100" bIns="38100" rtlCol="0" anchor="ctr"/>
          <a:lstStyle/>
          <a:p>
            <a:pPr algn="ctr" indent="0" marL="0">
              <a:buNone/>
            </a:pPr>
            <a:r>
              <a:rPr lang="en-US" sz="1200" b="1" dirty="0">
                <a:solidFill>
                  <a:schemeClr val="bg1"/>
                </a:solidFill>
              </a:rPr>
              <a:t>Cyrus II · 538 BC</a:t>
            </a:r>
            <a:endParaRPr lang="en-US" sz="1200" dirty="0"/>
          </a:p>
          <a:p>
            <a:pPr algn="ctr" indent="0" marL="0">
              <a:buNone/>
            </a:pPr>
            <a:r>
              <a:rPr lang="en-US" sz="1200" b="1" dirty="0">
                <a:solidFill>
                  <a:schemeClr val="bg1"/>
                </a:solidFill>
              </a:rPr>
              <a:t>Ezra 1:1–4</a:t>
            </a:r>
            <a:endParaRPr lang="en-US" sz="1200" dirty="0"/>
          </a:p>
        </p:txBody>
      </p:sp>
      <p:sp>
        <p:nvSpPr>
          <p:cNvPr id="6" name="Text 3"/>
          <p:cNvSpPr txBox="1"/>
          <p:nvPr/>
        </p:nvSpPr>
        <p:spPr>
          <a:xfrm>
            <a:off x="4114800" y="1600200"/>
            <a:ext cx="3291840" cy="786384"/>
          </a:xfrm>
          <a:prstGeom prst="rect">
            <a:avLst/>
          </a:prstGeom>
          <a:solidFill>
            <a:srgbClr val="FFFFFF"/>
          </a:solidFill>
          <a:ln w="15875">
            <a:solidFill>
              <a:srgbClr val="6B7A8F"/>
            </a:solidFill>
          </a:ln>
        </p:spPr>
        <p:txBody>
          <a:bodyPr wrap="square" lIns="38100" tIns="38100" rIns="38100" bIns="38100" rtlCol="0" anchor="ctr"/>
          <a:lstStyle/>
          <a:p>
            <a:pPr algn="ctr" indent="0" marL="0">
              <a:buNone/>
            </a:pPr>
            <a:r>
              <a:rPr lang="en-US" sz="1200" dirty="0">
                <a:solidFill>
                  <a:schemeClr val="tx1"/>
                </a:solidFill>
              </a:rPr>
              <a:t>Temple only — “build Him a house”</a:t>
            </a:r>
            <a:endParaRPr lang="en-US" sz="1200" dirty="0"/>
          </a:p>
        </p:txBody>
      </p:sp>
      <p:sp>
        <p:nvSpPr>
          <p:cNvPr id="7" name="Shape 4"/>
          <p:cNvSpPr/>
          <p:nvPr/>
        </p:nvSpPr>
        <p:spPr>
          <a:xfrm>
            <a:off x="7498080" y="1993392"/>
            <a:ext cx="502920" cy="0"/>
          </a:xfrm>
          <a:prstGeom prst="line">
            <a:avLst/>
          </a:prstGeom>
          <a:noFill/>
          <a:ln w="25400">
            <a:solidFill>
              <a:srgbClr val="6B7A8F"/>
            </a:solidFill>
            <a:prstDash val="solid"/>
            <a:tailEnd type="triangle"/>
          </a:ln>
        </p:spPr>
      </p:sp>
      <p:sp>
        <p:nvSpPr>
          <p:cNvPr id="8" name="Text 5"/>
          <p:cNvSpPr txBox="1"/>
          <p:nvPr/>
        </p:nvSpPr>
        <p:spPr>
          <a:xfrm>
            <a:off x="8092440" y="1600200"/>
            <a:ext cx="3566160" cy="786384"/>
          </a:xfrm>
          <a:prstGeom prst="roundRect">
            <a:avLst>
              <a:gd name="adj" fmla="val 9302"/>
            </a:avLst>
          </a:prstGeom>
          <a:solidFill>
            <a:srgbClr val="E6E3DA"/>
          </a:solidFill>
          <a:ln/>
        </p:spPr>
        <p:txBody>
          <a:bodyPr wrap="square" lIns="38100" tIns="38100" rIns="38100" bIns="38100" rtlCol="0" anchor="ctr"/>
          <a:lstStyle/>
          <a:p>
            <a:pPr algn="ctr" indent="0" marL="0">
              <a:buNone/>
            </a:pPr>
            <a:r>
              <a:rPr lang="en-US" sz="1200" dirty="0">
                <a:solidFill>
                  <a:schemeClr val="tx1"/>
                </a:solidFill>
              </a:rPr>
              <a:t>+483 solar years = 56 BC</a:t>
            </a:r>
            <a:endParaRPr lang="en-US" sz="1200" dirty="0"/>
          </a:p>
          <a:p>
            <a:pPr algn="ctr" indent="0" marL="0">
              <a:buNone/>
            </a:pPr>
            <a:r>
              <a:rPr lang="en-US" sz="1200" dirty="0">
                <a:solidFill>
                  <a:schemeClr val="tx1"/>
                </a:solidFill>
              </a:rPr>
              <a:t>no Messianic event</a:t>
            </a:r>
            <a:endParaRPr lang="en-US" sz="1200" dirty="0"/>
          </a:p>
        </p:txBody>
      </p:sp>
      <p:sp>
        <p:nvSpPr>
          <p:cNvPr id="9" name="Text 6"/>
          <p:cNvSpPr txBox="1"/>
          <p:nvPr/>
        </p:nvSpPr>
        <p:spPr>
          <a:xfrm>
            <a:off x="548640" y="2587752"/>
            <a:ext cx="3383280" cy="786384"/>
          </a:xfrm>
          <a:prstGeom prst="roundRect">
            <a:avLst>
              <a:gd name="adj" fmla="val 9302"/>
            </a:avLst>
          </a:prstGeom>
          <a:solidFill>
            <a:srgbClr val="6B7A8F"/>
          </a:solidFill>
          <a:ln/>
        </p:spPr>
        <p:txBody>
          <a:bodyPr wrap="square" lIns="38100" tIns="38100" rIns="38100" bIns="38100" rtlCol="0" anchor="ctr"/>
          <a:lstStyle/>
          <a:p>
            <a:pPr algn="ctr" indent="0" marL="0">
              <a:buNone/>
            </a:pPr>
            <a:r>
              <a:rPr lang="en-US" sz="1200" b="1" dirty="0">
                <a:solidFill>
                  <a:schemeClr val="bg1"/>
                </a:solidFill>
              </a:rPr>
              <a:t>Darius I · 520 BC</a:t>
            </a:r>
            <a:endParaRPr lang="en-US" sz="1200" dirty="0"/>
          </a:p>
          <a:p>
            <a:pPr algn="ctr" indent="0" marL="0">
              <a:buNone/>
            </a:pPr>
            <a:r>
              <a:rPr lang="en-US" sz="1200" b="1" dirty="0">
                <a:solidFill>
                  <a:schemeClr val="bg1"/>
                </a:solidFill>
              </a:rPr>
              <a:t>Ezra 6:6–12</a:t>
            </a:r>
            <a:endParaRPr lang="en-US" sz="1200" dirty="0"/>
          </a:p>
        </p:txBody>
      </p:sp>
      <p:sp>
        <p:nvSpPr>
          <p:cNvPr id="10" name="Text 7"/>
          <p:cNvSpPr txBox="1"/>
          <p:nvPr/>
        </p:nvSpPr>
        <p:spPr>
          <a:xfrm>
            <a:off x="4114800" y="2587752"/>
            <a:ext cx="3291840" cy="786384"/>
          </a:xfrm>
          <a:prstGeom prst="rect">
            <a:avLst/>
          </a:prstGeom>
          <a:solidFill>
            <a:srgbClr val="FFFFFF"/>
          </a:solidFill>
          <a:ln w="15875">
            <a:solidFill>
              <a:srgbClr val="6B7A8F"/>
            </a:solidFill>
          </a:ln>
        </p:spPr>
        <p:txBody>
          <a:bodyPr wrap="square" lIns="38100" tIns="38100" rIns="38100" bIns="38100" rtlCol="0" anchor="ctr"/>
          <a:lstStyle/>
          <a:p>
            <a:pPr algn="ctr" indent="0" marL="0">
              <a:buNone/>
            </a:pPr>
            <a:r>
              <a:rPr lang="en-US" sz="1200" dirty="0">
                <a:solidFill>
                  <a:schemeClr val="tx1"/>
                </a:solidFill>
              </a:rPr>
              <a:t>Reconfirms the temple decree</a:t>
            </a:r>
            <a:endParaRPr lang="en-US" sz="1200" dirty="0"/>
          </a:p>
        </p:txBody>
      </p:sp>
      <p:sp>
        <p:nvSpPr>
          <p:cNvPr id="11" name="Shape 8"/>
          <p:cNvSpPr/>
          <p:nvPr/>
        </p:nvSpPr>
        <p:spPr>
          <a:xfrm>
            <a:off x="7498080" y="2980944"/>
            <a:ext cx="502920" cy="0"/>
          </a:xfrm>
          <a:prstGeom prst="line">
            <a:avLst/>
          </a:prstGeom>
          <a:noFill/>
          <a:ln w="25400">
            <a:solidFill>
              <a:srgbClr val="6B7A8F"/>
            </a:solidFill>
            <a:prstDash val="solid"/>
            <a:tailEnd type="triangle"/>
          </a:ln>
        </p:spPr>
      </p:sp>
      <p:sp>
        <p:nvSpPr>
          <p:cNvPr id="12" name="Text 9"/>
          <p:cNvSpPr txBox="1"/>
          <p:nvPr/>
        </p:nvSpPr>
        <p:spPr>
          <a:xfrm>
            <a:off x="8092440" y="2587752"/>
            <a:ext cx="3566160" cy="786384"/>
          </a:xfrm>
          <a:prstGeom prst="roundRect">
            <a:avLst>
              <a:gd name="adj" fmla="val 9302"/>
            </a:avLst>
          </a:prstGeom>
          <a:solidFill>
            <a:srgbClr val="E6E3DA"/>
          </a:solidFill>
          <a:ln/>
        </p:spPr>
        <p:txBody>
          <a:bodyPr wrap="square" lIns="38100" tIns="38100" rIns="38100" bIns="38100" rtlCol="0" anchor="ctr"/>
          <a:lstStyle/>
          <a:p>
            <a:pPr algn="ctr" indent="0" marL="0">
              <a:buNone/>
            </a:pPr>
            <a:r>
              <a:rPr lang="en-US" sz="1200" dirty="0">
                <a:solidFill>
                  <a:schemeClr val="tx1"/>
                </a:solidFill>
              </a:rPr>
              <a:t>No viable terminus</a:t>
            </a:r>
            <a:endParaRPr lang="en-US" sz="1200" dirty="0"/>
          </a:p>
        </p:txBody>
      </p:sp>
      <p:sp>
        <p:nvSpPr>
          <p:cNvPr id="13" name="Text 10"/>
          <p:cNvSpPr txBox="1"/>
          <p:nvPr/>
        </p:nvSpPr>
        <p:spPr>
          <a:xfrm>
            <a:off x="548640" y="3575304"/>
            <a:ext cx="3383280" cy="786384"/>
          </a:xfrm>
          <a:prstGeom prst="roundRect">
            <a:avLst>
              <a:gd name="adj" fmla="val 9302"/>
            </a:avLst>
          </a:prstGeom>
          <a:solidFill>
            <a:srgbClr val="6B7A8F"/>
          </a:solidFill>
          <a:ln/>
        </p:spPr>
        <p:txBody>
          <a:bodyPr wrap="square" lIns="38100" tIns="38100" rIns="38100" bIns="38100" rtlCol="0" anchor="ctr"/>
          <a:lstStyle/>
          <a:p>
            <a:pPr algn="ctr" indent="0" marL="0">
              <a:buNone/>
            </a:pPr>
            <a:r>
              <a:rPr lang="en-US" sz="1200" b="1" dirty="0">
                <a:solidFill>
                  <a:schemeClr val="bg1"/>
                </a:solidFill>
              </a:rPr>
              <a:t>Artaxerxes to Ezra · 457 BC</a:t>
            </a:r>
            <a:endParaRPr lang="en-US" sz="1200" dirty="0"/>
          </a:p>
          <a:p>
            <a:pPr algn="ctr" indent="0" marL="0">
              <a:buNone/>
            </a:pPr>
            <a:r>
              <a:rPr lang="en-US" sz="1200" b="1" dirty="0">
                <a:solidFill>
                  <a:schemeClr val="bg1"/>
                </a:solidFill>
              </a:rPr>
              <a:t>Ezra 7:11–26</a:t>
            </a:r>
            <a:endParaRPr lang="en-US" sz="1200" dirty="0"/>
          </a:p>
        </p:txBody>
      </p:sp>
      <p:sp>
        <p:nvSpPr>
          <p:cNvPr id="14" name="Text 11"/>
          <p:cNvSpPr txBox="1"/>
          <p:nvPr/>
        </p:nvSpPr>
        <p:spPr>
          <a:xfrm>
            <a:off x="4114800" y="3575304"/>
            <a:ext cx="3291840" cy="786384"/>
          </a:xfrm>
          <a:prstGeom prst="rect">
            <a:avLst/>
          </a:prstGeom>
          <a:solidFill>
            <a:srgbClr val="FFFFFF"/>
          </a:solidFill>
          <a:ln w="15875">
            <a:solidFill>
              <a:srgbClr val="6B7A8F"/>
            </a:solidFill>
          </a:ln>
        </p:spPr>
        <p:txBody>
          <a:bodyPr wrap="square" lIns="38100" tIns="38100" rIns="38100" bIns="38100" rtlCol="0" anchor="ctr"/>
          <a:lstStyle/>
          <a:p>
            <a:pPr algn="ctr" indent="0" marL="0">
              <a:buNone/>
            </a:pPr>
            <a:r>
              <a:rPr lang="en-US" sz="1200" dirty="0">
                <a:solidFill>
                  <a:schemeClr val="tx1"/>
                </a:solidFill>
              </a:rPr>
              <a:t>Temple worship, sacrifices, the Law</a:t>
            </a:r>
            <a:endParaRPr lang="en-US" sz="1200" dirty="0"/>
          </a:p>
        </p:txBody>
      </p:sp>
      <p:sp>
        <p:nvSpPr>
          <p:cNvPr id="15" name="Shape 12"/>
          <p:cNvSpPr/>
          <p:nvPr/>
        </p:nvSpPr>
        <p:spPr>
          <a:xfrm>
            <a:off x="7498080" y="3968496"/>
            <a:ext cx="502920" cy="0"/>
          </a:xfrm>
          <a:prstGeom prst="line">
            <a:avLst/>
          </a:prstGeom>
          <a:noFill/>
          <a:ln w="25400">
            <a:solidFill>
              <a:srgbClr val="6B7A8F"/>
            </a:solidFill>
            <a:prstDash val="solid"/>
            <a:tailEnd type="triangle"/>
          </a:ln>
        </p:spPr>
      </p:sp>
      <p:sp>
        <p:nvSpPr>
          <p:cNvPr id="16" name="Text 13"/>
          <p:cNvSpPr txBox="1"/>
          <p:nvPr/>
        </p:nvSpPr>
        <p:spPr>
          <a:xfrm>
            <a:off x="8092440" y="3575304"/>
            <a:ext cx="3566160" cy="786384"/>
          </a:xfrm>
          <a:prstGeom prst="roundRect">
            <a:avLst>
              <a:gd name="adj" fmla="val 9302"/>
            </a:avLst>
          </a:prstGeom>
          <a:solidFill>
            <a:srgbClr val="E6E3DA"/>
          </a:solidFill>
          <a:ln/>
        </p:spPr>
        <p:txBody>
          <a:bodyPr wrap="square" lIns="38100" tIns="38100" rIns="38100" bIns="38100" rtlCol="0" anchor="ctr"/>
          <a:lstStyle/>
          <a:p>
            <a:pPr algn="ctr" indent="0" marL="0">
              <a:buNone/>
            </a:pPr>
            <a:r>
              <a:rPr lang="en-US" sz="1200" dirty="0">
                <a:solidFill>
                  <a:schemeClr val="tx1"/>
                </a:solidFill>
              </a:rPr>
              <a:t>Minority view: AD 27 (baptism)</a:t>
            </a:r>
            <a:endParaRPr lang="en-US" sz="1200" dirty="0"/>
          </a:p>
          <a:p>
            <a:pPr algn="ctr" indent="0" marL="0">
              <a:buNone/>
            </a:pPr>
            <a:r>
              <a:rPr lang="en-US" sz="1200" dirty="0">
                <a:solidFill>
                  <a:schemeClr val="tx1"/>
                </a:solidFill>
              </a:rPr>
              <a:t>solar years, not prophetic</a:t>
            </a:r>
            <a:endParaRPr lang="en-US" sz="1200" dirty="0"/>
          </a:p>
        </p:txBody>
      </p:sp>
      <p:sp>
        <p:nvSpPr>
          <p:cNvPr id="17" name="Text 14"/>
          <p:cNvSpPr txBox="1"/>
          <p:nvPr/>
        </p:nvSpPr>
        <p:spPr>
          <a:xfrm>
            <a:off x="548640" y="4562856"/>
            <a:ext cx="3383280" cy="786384"/>
          </a:xfrm>
          <a:prstGeom prst="roundRect">
            <a:avLst>
              <a:gd name="adj" fmla="val 9302"/>
            </a:avLst>
          </a:prstGeom>
          <a:solidFill>
            <a:srgbClr val="2E5496"/>
          </a:solidFill>
          <a:ln/>
        </p:spPr>
        <p:txBody>
          <a:bodyPr wrap="square" lIns="38100" tIns="38100" rIns="38100" bIns="38100" rtlCol="0" anchor="ctr"/>
          <a:lstStyle/>
          <a:p>
            <a:pPr algn="ctr" indent="0" marL="0">
              <a:buNone/>
            </a:pPr>
            <a:r>
              <a:rPr lang="en-US" sz="1200" b="1" dirty="0">
                <a:solidFill>
                  <a:schemeClr val="bg1"/>
                </a:solidFill>
              </a:rPr>
              <a:t>Artaxerxes to Nehemiah · 444 BC</a:t>
            </a:r>
            <a:endParaRPr lang="en-US" sz="1200" dirty="0"/>
          </a:p>
          <a:p>
            <a:pPr algn="ctr" indent="0" marL="0">
              <a:buNone/>
            </a:pPr>
            <a:r>
              <a:rPr lang="en-US" sz="1200" b="1" dirty="0">
                <a:solidFill>
                  <a:schemeClr val="bg1"/>
                </a:solidFill>
              </a:rPr>
              <a:t>Neh 2:1–8</a:t>
            </a:r>
            <a:endParaRPr lang="en-US" sz="1200" dirty="0"/>
          </a:p>
        </p:txBody>
      </p:sp>
      <p:sp>
        <p:nvSpPr>
          <p:cNvPr id="18" name="Text 15"/>
          <p:cNvSpPr txBox="1"/>
          <p:nvPr/>
        </p:nvSpPr>
        <p:spPr>
          <a:xfrm>
            <a:off x="4114800" y="4562856"/>
            <a:ext cx="3291840" cy="786384"/>
          </a:xfrm>
          <a:prstGeom prst="rect">
            <a:avLst/>
          </a:prstGeom>
          <a:solidFill>
            <a:srgbClr val="FFFFFF"/>
          </a:solidFill>
          <a:ln w="15875">
            <a:solidFill>
              <a:srgbClr val="2E5496"/>
            </a:solidFill>
          </a:ln>
        </p:spPr>
        <p:txBody>
          <a:bodyPr wrap="square" lIns="38100" tIns="38100" rIns="38100" bIns="38100" rtlCol="0" anchor="ctr"/>
          <a:lstStyle/>
          <a:p>
            <a:pPr algn="ctr" indent="0" marL="0">
              <a:buNone/>
            </a:pPr>
            <a:r>
              <a:rPr lang="en-US" sz="1200" b="1" dirty="0">
                <a:solidFill>
                  <a:schemeClr val="tx1"/>
                </a:solidFill>
              </a:rPr>
              <a:t>The CITY — walls, gates, timber</a:t>
            </a:r>
            <a:endParaRPr lang="en-US" sz="1200" dirty="0"/>
          </a:p>
        </p:txBody>
      </p:sp>
      <p:sp>
        <p:nvSpPr>
          <p:cNvPr id="19" name="Shape 16"/>
          <p:cNvSpPr/>
          <p:nvPr/>
        </p:nvSpPr>
        <p:spPr>
          <a:xfrm>
            <a:off x="7498080" y="4956048"/>
            <a:ext cx="502920" cy="0"/>
          </a:xfrm>
          <a:prstGeom prst="line">
            <a:avLst/>
          </a:prstGeom>
          <a:noFill/>
          <a:ln w="25400">
            <a:solidFill>
              <a:srgbClr val="2E5496"/>
            </a:solidFill>
            <a:prstDash val="solid"/>
            <a:tailEnd type="triangle"/>
          </a:ln>
        </p:spPr>
      </p:sp>
      <p:sp>
        <p:nvSpPr>
          <p:cNvPr id="20" name="Text 17"/>
          <p:cNvSpPr txBox="1"/>
          <p:nvPr/>
        </p:nvSpPr>
        <p:spPr>
          <a:xfrm>
            <a:off x="8092440" y="4562856"/>
            <a:ext cx="3566160" cy="786384"/>
          </a:xfrm>
          <a:prstGeom prst="roundRect">
            <a:avLst>
              <a:gd name="adj" fmla="val 9302"/>
            </a:avLst>
          </a:prstGeom>
          <a:solidFill>
            <a:srgbClr val="B8892B"/>
          </a:solidFill>
          <a:ln/>
        </p:spPr>
        <p:txBody>
          <a:bodyPr wrap="square" lIns="38100" tIns="38100" rIns="38100" bIns="38100" rtlCol="0" anchor="ctr"/>
          <a:lstStyle/>
          <a:p>
            <a:pPr algn="ctr" indent="0" marL="0">
              <a:buNone/>
            </a:pPr>
            <a:r>
              <a:rPr lang="en-US" sz="1200" b="1" dirty="0">
                <a:solidFill>
                  <a:srgbClr val="FFFFFF"/>
                </a:solidFill>
              </a:rPr>
              <a:t>173,880 days → Nisan 10, AD 33</a:t>
            </a:r>
            <a:endParaRPr lang="en-US" sz="1200" dirty="0"/>
          </a:p>
          <a:p>
            <a:pPr algn="ctr" indent="0" marL="0">
              <a:buNone/>
            </a:pPr>
            <a:r>
              <a:rPr lang="en-US" sz="1200" b="1" dirty="0">
                <a:solidFill>
                  <a:srgbClr val="FFFFFF"/>
                </a:solidFill>
              </a:rPr>
              <a:t>Triumphal Entry</a:t>
            </a:r>
            <a:endParaRPr lang="en-US" sz="1200" dirty="0"/>
          </a:p>
        </p:txBody>
      </p:sp>
      <p:sp>
        <p:nvSpPr>
          <p:cNvPr id="21" name="Text 18"/>
          <p:cNvSpPr txBox="1"/>
          <p:nvPr/>
        </p:nvSpPr>
        <p:spPr>
          <a:xfrm>
            <a:off x="548640" y="5623560"/>
            <a:ext cx="11064240" cy="502920"/>
          </a:xfrm>
          <a:prstGeom prst="rect">
            <a:avLst/>
          </a:prstGeom>
          <a:noFill/>
          <a:ln/>
        </p:spPr>
        <p:txBody>
          <a:bodyPr wrap="square" lIns="0" tIns="0" rIns="0" bIns="0" rtlCol="0" anchor="t"/>
          <a:lstStyle/>
          <a:p>
            <a:pPr algn="l" indent="0" marL="0">
              <a:buNone/>
            </a:pPr>
            <a:r>
              <a:rPr lang="en-US" sz="1200" i="1" dirty="0">
                <a:solidFill>
                  <a:schemeClr val="accent6"/>
                </a:solidFill>
              </a:rPr>
              <a:t>Only Nehemiah’s commission addresses the city itself. Nehemiah 1:3 still reports the walls broken down after the earlier decrees.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11155680" cy="621792"/>
          </a:xfrm>
          <a:prstGeom prst="rect">
            <a:avLst/>
          </a:prstGeom>
          <a:noFill/>
          <a:ln/>
        </p:spPr>
        <p:txBody>
          <a:bodyPr wrap="square" lIns="0" tIns="0" rIns="0" bIns="0" rtlCol="0" anchor="ctr"/>
          <a:lstStyle/>
          <a:p>
            <a:pPr algn="l" indent="0" marL="0">
              <a:buNone/>
            </a:pPr>
            <a:r>
              <a:rPr lang="en-US" sz="3400" b="1" dirty="0">
                <a:solidFill>
                  <a:srgbClr val="1F3864"/>
                </a:solidFill>
              </a:rPr>
              <a:t>The 20th Year of Artaxerxes: 445 or 444 BC?</a:t>
            </a:r>
            <a:endParaRPr lang="en-US" sz="3400" dirty="0"/>
          </a:p>
        </p:txBody>
      </p:sp>
      <p:sp>
        <p:nvSpPr>
          <p:cNvPr id="3" name="Text 1"/>
          <p:cNvSpPr/>
          <p:nvPr>
            <p:ph idx="102" type="body" hasCustomPrompt="1"/>
          </p:nvPr>
        </p:nvSpPr>
        <p:spPr>
          <a:xfrm>
            <a:off x="502920" y="914400"/>
            <a:ext cx="11155680" cy="347472"/>
          </a:xfrm>
          <a:prstGeom prst="rect">
            <a:avLst/>
          </a:prstGeom>
          <a:noFill/>
          <a:ln/>
        </p:spPr>
        <p:txBody>
          <a:bodyPr wrap="square" lIns="0" tIns="0" rIns="0" bIns="0" rtlCol="0" anchor="ctr"/>
          <a:lstStyle/>
          <a:p>
            <a:pPr indent="0" marL="0">
              <a:buNone/>
            </a:pPr>
            <a:r>
              <a:rPr lang="en-US" sz="1400" i="1" dirty="0">
                <a:solidFill>
                  <a:srgbClr val="6B7A8F"/>
                </a:solidFill>
              </a:rPr>
              <a:t>Nehemiah dates two events to the same “twentieth year”: Chislev (1:1), then Nisan (2:1)</a:t>
            </a:r>
            <a:endParaRPr lang="en-US" sz="1400" dirty="0"/>
          </a:p>
        </p:txBody>
      </p:sp>
      <p:sp>
        <p:nvSpPr>
          <p:cNvPr id="5" name="Shape 2"/>
          <p:cNvSpPr/>
          <p:nvPr/>
        </p:nvSpPr>
        <p:spPr>
          <a:xfrm>
            <a:off x="960120" y="1600200"/>
            <a:ext cx="0" cy="3794760"/>
          </a:xfrm>
          <a:prstGeom prst="line">
            <a:avLst/>
          </a:prstGeom>
          <a:noFill/>
          <a:ln w="9525">
            <a:solidFill>
              <a:srgbClr val="C8CCD3"/>
            </a:solidFill>
            <a:prstDash val="dash"/>
          </a:ln>
        </p:spPr>
      </p:sp>
      <p:sp>
        <p:nvSpPr>
          <p:cNvPr id="6" name="Text 3"/>
          <p:cNvSpPr txBox="1"/>
          <p:nvPr/>
        </p:nvSpPr>
        <p:spPr>
          <a:xfrm>
            <a:off x="1005840" y="1417320"/>
            <a:ext cx="1097280" cy="228600"/>
          </a:xfrm>
          <a:prstGeom prst="rect">
            <a:avLst/>
          </a:prstGeom>
          <a:noFill/>
          <a:ln/>
        </p:spPr>
        <p:txBody>
          <a:bodyPr wrap="square" lIns="0" tIns="0" rIns="0" bIns="0" rtlCol="0" anchor="t"/>
          <a:lstStyle/>
          <a:p>
            <a:pPr algn="l" indent="0" marL="0">
              <a:buNone/>
            </a:pPr>
            <a:r>
              <a:rPr lang="en-US" sz="1100" b="1" dirty="0">
                <a:solidFill>
                  <a:schemeClr val="accent6"/>
                </a:solidFill>
              </a:rPr>
              <a:t>446 BC</a:t>
            </a:r>
            <a:endParaRPr lang="en-US" sz="1100" dirty="0"/>
          </a:p>
        </p:txBody>
      </p:sp>
      <p:sp>
        <p:nvSpPr>
          <p:cNvPr id="7" name="Shape 4"/>
          <p:cNvSpPr/>
          <p:nvPr/>
        </p:nvSpPr>
        <p:spPr>
          <a:xfrm>
            <a:off x="4495800" y="1600200"/>
            <a:ext cx="0" cy="3794760"/>
          </a:xfrm>
          <a:prstGeom prst="line">
            <a:avLst/>
          </a:prstGeom>
          <a:noFill/>
          <a:ln w="9525">
            <a:solidFill>
              <a:srgbClr val="C8CCD3"/>
            </a:solidFill>
            <a:prstDash val="dash"/>
          </a:ln>
        </p:spPr>
      </p:sp>
      <p:sp>
        <p:nvSpPr>
          <p:cNvPr id="8" name="Text 5"/>
          <p:cNvSpPr txBox="1"/>
          <p:nvPr/>
        </p:nvSpPr>
        <p:spPr>
          <a:xfrm>
            <a:off x="4541520" y="1417320"/>
            <a:ext cx="1097280" cy="228600"/>
          </a:xfrm>
          <a:prstGeom prst="rect">
            <a:avLst/>
          </a:prstGeom>
          <a:noFill/>
          <a:ln/>
        </p:spPr>
        <p:txBody>
          <a:bodyPr wrap="square" lIns="0" tIns="0" rIns="0" bIns="0" rtlCol="0" anchor="t"/>
          <a:lstStyle/>
          <a:p>
            <a:pPr algn="l" indent="0" marL="0">
              <a:buNone/>
            </a:pPr>
            <a:r>
              <a:rPr lang="en-US" sz="1100" b="1" dirty="0">
                <a:solidFill>
                  <a:schemeClr val="accent6"/>
                </a:solidFill>
              </a:rPr>
              <a:t>445 BC</a:t>
            </a:r>
            <a:endParaRPr lang="en-US" sz="1100" dirty="0"/>
          </a:p>
        </p:txBody>
      </p:sp>
      <p:sp>
        <p:nvSpPr>
          <p:cNvPr id="9" name="Shape 6"/>
          <p:cNvSpPr/>
          <p:nvPr/>
        </p:nvSpPr>
        <p:spPr>
          <a:xfrm>
            <a:off x="8031480" y="1600200"/>
            <a:ext cx="0" cy="3794760"/>
          </a:xfrm>
          <a:prstGeom prst="line">
            <a:avLst/>
          </a:prstGeom>
          <a:noFill/>
          <a:ln w="9525">
            <a:solidFill>
              <a:srgbClr val="C8CCD3"/>
            </a:solidFill>
            <a:prstDash val="dash"/>
          </a:ln>
        </p:spPr>
      </p:sp>
      <p:sp>
        <p:nvSpPr>
          <p:cNvPr id="10" name="Text 7"/>
          <p:cNvSpPr txBox="1"/>
          <p:nvPr/>
        </p:nvSpPr>
        <p:spPr>
          <a:xfrm>
            <a:off x="8077200" y="1417320"/>
            <a:ext cx="1097280" cy="228600"/>
          </a:xfrm>
          <a:prstGeom prst="rect">
            <a:avLst/>
          </a:prstGeom>
          <a:noFill/>
          <a:ln/>
        </p:spPr>
        <p:txBody>
          <a:bodyPr wrap="square" lIns="0" tIns="0" rIns="0" bIns="0" rtlCol="0" anchor="t"/>
          <a:lstStyle/>
          <a:p>
            <a:pPr algn="l" indent="0" marL="0">
              <a:buNone/>
            </a:pPr>
            <a:r>
              <a:rPr lang="en-US" sz="1100" b="1" dirty="0">
                <a:solidFill>
                  <a:schemeClr val="accent6"/>
                </a:solidFill>
              </a:rPr>
              <a:t>444 BC</a:t>
            </a:r>
            <a:endParaRPr lang="en-US" sz="1100" dirty="0"/>
          </a:p>
        </p:txBody>
      </p:sp>
      <p:sp>
        <p:nvSpPr>
          <p:cNvPr id="11" name="Text 8"/>
          <p:cNvSpPr txBox="1"/>
          <p:nvPr/>
        </p:nvSpPr>
        <p:spPr>
          <a:xfrm>
            <a:off x="548640" y="1783080"/>
            <a:ext cx="5943600" cy="274320"/>
          </a:xfrm>
          <a:prstGeom prst="rect">
            <a:avLst/>
          </a:prstGeom>
          <a:noFill/>
          <a:ln/>
        </p:spPr>
        <p:txBody>
          <a:bodyPr wrap="square" lIns="0" tIns="0" rIns="0" bIns="0" rtlCol="0" anchor="t"/>
          <a:lstStyle/>
          <a:p>
            <a:pPr algn="l" indent="0" marL="0">
              <a:buNone/>
            </a:pPr>
            <a:r>
              <a:rPr lang="en-US" sz="1300" b="1" dirty="0">
                <a:solidFill>
                  <a:schemeClr val="tx2"/>
                </a:solidFill>
              </a:rPr>
              <a:t>Spring (Nisan) regnal years — Persian court reckoning · Anderson</a:t>
            </a:r>
            <a:endParaRPr lang="en-US" sz="1300" dirty="0"/>
          </a:p>
        </p:txBody>
      </p:sp>
      <p:sp>
        <p:nvSpPr>
          <p:cNvPr id="12" name="Text 9"/>
          <p:cNvSpPr txBox="1"/>
          <p:nvPr/>
        </p:nvSpPr>
        <p:spPr>
          <a:xfrm>
            <a:off x="548640" y="2057400"/>
            <a:ext cx="8229600" cy="256032"/>
          </a:xfrm>
          <a:prstGeom prst="rect">
            <a:avLst/>
          </a:prstGeom>
          <a:noFill/>
          <a:ln/>
        </p:spPr>
        <p:txBody>
          <a:bodyPr wrap="square" lIns="0" tIns="0" rIns="0" bIns="0" rtlCol="0" anchor="t"/>
          <a:lstStyle/>
          <a:p>
            <a:pPr algn="l" indent="0" marL="0">
              <a:buNone/>
            </a:pPr>
            <a:r>
              <a:rPr lang="en-US" sz="1100" i="1" dirty="0">
                <a:solidFill>
                  <a:schemeClr val="accent6"/>
                </a:solidFill>
              </a:rPr>
              <a:t>Year 20 = Nisan 445 – Nisan 444.  “Nisan, year 20” would fall BEFORE “Chislev, year 20” — out of Nehemiah’s order.</a:t>
            </a:r>
            <a:endParaRPr lang="en-US" sz="1100" dirty="0"/>
          </a:p>
        </p:txBody>
      </p:sp>
      <p:sp>
        <p:nvSpPr>
          <p:cNvPr id="13" name="Text 10"/>
          <p:cNvSpPr txBox="1"/>
          <p:nvPr/>
        </p:nvSpPr>
        <p:spPr>
          <a:xfrm>
            <a:off x="1844040" y="2651760"/>
            <a:ext cx="3535680" cy="411480"/>
          </a:xfrm>
          <a:prstGeom prst="rect">
            <a:avLst/>
          </a:prstGeom>
          <a:solidFill>
            <a:srgbClr val="D7DBE2"/>
          </a:solidFill>
          <a:ln/>
        </p:spPr>
        <p:txBody>
          <a:bodyPr wrap="square" lIns="38100" tIns="38100" rIns="38100" bIns="38100" rtlCol="0" anchor="ctr"/>
          <a:lstStyle/>
          <a:p>
            <a:pPr algn="ctr" indent="0" marL="0">
              <a:buNone/>
            </a:pPr>
            <a:r>
              <a:rPr lang="en-US" sz="1100" dirty="0">
                <a:solidFill>
                  <a:schemeClr val="tx1"/>
                </a:solidFill>
              </a:rPr>
              <a:t>Year 19</a:t>
            </a:r>
            <a:endParaRPr lang="en-US" sz="1100" dirty="0"/>
          </a:p>
        </p:txBody>
      </p:sp>
      <p:sp>
        <p:nvSpPr>
          <p:cNvPr id="14" name="Text 11"/>
          <p:cNvSpPr txBox="1"/>
          <p:nvPr/>
        </p:nvSpPr>
        <p:spPr>
          <a:xfrm>
            <a:off x="5379720" y="2651760"/>
            <a:ext cx="3535680" cy="411480"/>
          </a:xfrm>
          <a:prstGeom prst="rect">
            <a:avLst/>
          </a:prstGeom>
          <a:solidFill>
            <a:srgbClr val="6B7A8F"/>
          </a:solidFill>
          <a:ln/>
        </p:spPr>
        <p:txBody>
          <a:bodyPr wrap="square" lIns="38100" tIns="38100" rIns="38100" bIns="38100" rtlCol="0" anchor="ctr"/>
          <a:lstStyle/>
          <a:p>
            <a:pPr algn="ctr" indent="0" marL="0">
              <a:buNone/>
            </a:pPr>
            <a:r>
              <a:rPr lang="en-US" sz="1200" b="1" dirty="0">
                <a:solidFill>
                  <a:schemeClr val="bg1"/>
                </a:solidFill>
              </a:rPr>
              <a:t>YEAR 20</a:t>
            </a:r>
            <a:endParaRPr lang="en-US" sz="1200" dirty="0"/>
          </a:p>
        </p:txBody>
      </p:sp>
      <p:sp>
        <p:nvSpPr>
          <p:cNvPr id="15" name="Text 12"/>
          <p:cNvSpPr txBox="1"/>
          <p:nvPr/>
        </p:nvSpPr>
        <p:spPr>
          <a:xfrm>
            <a:off x="548640" y="3657600"/>
            <a:ext cx="5943600" cy="274320"/>
          </a:xfrm>
          <a:prstGeom prst="rect">
            <a:avLst/>
          </a:prstGeom>
          <a:noFill/>
          <a:ln/>
        </p:spPr>
        <p:txBody>
          <a:bodyPr wrap="square" lIns="0" tIns="0" rIns="0" bIns="0" rtlCol="0" anchor="t"/>
          <a:lstStyle/>
          <a:p>
            <a:pPr algn="l" indent="0" marL="0">
              <a:buNone/>
            </a:pPr>
            <a:r>
              <a:rPr lang="en-US" sz="1300" b="1" dirty="0">
                <a:solidFill>
                  <a:schemeClr val="tx2"/>
                </a:solidFill>
              </a:rPr>
              <a:t>Fall (Tishri) regnal years — Jewish civil reckoning · Hoehner</a:t>
            </a:r>
            <a:endParaRPr lang="en-US" sz="1300" dirty="0"/>
          </a:p>
        </p:txBody>
      </p:sp>
      <p:sp>
        <p:nvSpPr>
          <p:cNvPr id="16" name="Text 13"/>
          <p:cNvSpPr txBox="1"/>
          <p:nvPr/>
        </p:nvSpPr>
        <p:spPr>
          <a:xfrm>
            <a:off x="548640" y="3931920"/>
            <a:ext cx="8229600" cy="256032"/>
          </a:xfrm>
          <a:prstGeom prst="rect">
            <a:avLst/>
          </a:prstGeom>
          <a:noFill/>
          <a:ln/>
        </p:spPr>
        <p:txBody>
          <a:bodyPr wrap="square" lIns="0" tIns="0" rIns="0" bIns="0" rtlCol="0" anchor="t"/>
          <a:lstStyle/>
          <a:p>
            <a:pPr algn="l" indent="0" marL="0">
              <a:buNone/>
            </a:pPr>
            <a:r>
              <a:rPr lang="en-US" sz="1100" i="1" dirty="0">
                <a:solidFill>
                  <a:schemeClr val="accent6"/>
                </a:solidFill>
              </a:rPr>
              <a:t>Year 20 = Tishri 445 – Tishri 444.  Chislev 445 and Nisan 444 both fall in year 20, in Nehemiah’s order.</a:t>
            </a:r>
            <a:endParaRPr lang="en-US" sz="1100" dirty="0"/>
          </a:p>
        </p:txBody>
      </p:sp>
      <p:sp>
        <p:nvSpPr>
          <p:cNvPr id="17" name="Text 14"/>
          <p:cNvSpPr txBox="1"/>
          <p:nvPr/>
        </p:nvSpPr>
        <p:spPr>
          <a:xfrm>
            <a:off x="3611880" y="4526280"/>
            <a:ext cx="3535680" cy="411480"/>
          </a:xfrm>
          <a:prstGeom prst="rect">
            <a:avLst/>
          </a:prstGeom>
          <a:solidFill>
            <a:srgbClr val="D7DBE2"/>
          </a:solidFill>
          <a:ln/>
        </p:spPr>
        <p:txBody>
          <a:bodyPr wrap="square" lIns="38100" tIns="38100" rIns="38100" bIns="38100" rtlCol="0" anchor="ctr"/>
          <a:lstStyle/>
          <a:p>
            <a:pPr algn="ctr" indent="0" marL="0">
              <a:buNone/>
            </a:pPr>
            <a:r>
              <a:rPr lang="en-US" sz="1100" dirty="0">
                <a:solidFill>
                  <a:schemeClr val="tx1"/>
                </a:solidFill>
              </a:rPr>
              <a:t>Year 19</a:t>
            </a:r>
            <a:endParaRPr lang="en-US" sz="1100" dirty="0"/>
          </a:p>
        </p:txBody>
      </p:sp>
      <p:sp>
        <p:nvSpPr>
          <p:cNvPr id="18" name="Text 15"/>
          <p:cNvSpPr txBox="1"/>
          <p:nvPr/>
        </p:nvSpPr>
        <p:spPr>
          <a:xfrm>
            <a:off x="7147560" y="4526280"/>
            <a:ext cx="3535680" cy="411480"/>
          </a:xfrm>
          <a:prstGeom prst="rect">
            <a:avLst/>
          </a:prstGeom>
          <a:solidFill>
            <a:srgbClr val="2E5496"/>
          </a:solidFill>
          <a:ln/>
        </p:spPr>
        <p:txBody>
          <a:bodyPr wrap="square" lIns="38100" tIns="38100" rIns="38100" bIns="38100" rtlCol="0" anchor="ctr"/>
          <a:lstStyle/>
          <a:p>
            <a:pPr algn="ctr" indent="0" marL="0">
              <a:buNone/>
            </a:pPr>
            <a:r>
              <a:rPr lang="en-US" sz="1200" b="1" dirty="0">
                <a:solidFill>
                  <a:schemeClr val="bg1"/>
                </a:solidFill>
              </a:rPr>
              <a:t>YEAR 20</a:t>
            </a:r>
            <a:endParaRPr lang="en-US" sz="1200" dirty="0"/>
          </a:p>
        </p:txBody>
      </p:sp>
      <p:sp>
        <p:nvSpPr>
          <p:cNvPr id="19" name="Shape 16"/>
          <p:cNvSpPr/>
          <p:nvPr/>
        </p:nvSpPr>
        <p:spPr>
          <a:xfrm>
            <a:off x="5131816" y="2359152"/>
            <a:ext cx="201168" cy="274320"/>
          </a:xfrm>
          <a:prstGeom prst="downArrow">
            <a:avLst/>
          </a:prstGeom>
          <a:solidFill>
            <a:srgbClr val="8B2E2E"/>
          </a:solidFill>
          <a:ln w="12700">
            <a:solidFill>
              <a:srgbClr val="8B2E2E"/>
            </a:solidFill>
            <a:prstDash val="solid"/>
          </a:ln>
        </p:spPr>
      </p:sp>
      <p:sp>
        <p:nvSpPr>
          <p:cNvPr id="20" name="Text 17"/>
          <p:cNvSpPr txBox="1"/>
          <p:nvPr/>
        </p:nvSpPr>
        <p:spPr>
          <a:xfrm>
            <a:off x="4409440" y="3090672"/>
            <a:ext cx="1645920" cy="384048"/>
          </a:xfrm>
          <a:prstGeom prst="rect">
            <a:avLst/>
          </a:prstGeom>
          <a:noFill/>
          <a:ln/>
        </p:spPr>
        <p:txBody>
          <a:bodyPr wrap="square" lIns="0" tIns="0" rIns="0" bIns="0" rtlCol="0" anchor="t"/>
          <a:lstStyle/>
          <a:p>
            <a:pPr algn="ctr" indent="0" marL="0">
              <a:buNone/>
            </a:pPr>
            <a:r>
              <a:rPr lang="en-US" sz="1000" b="1" dirty="0">
                <a:solidFill>
                  <a:srgbClr val="8B2E2E"/>
                </a:solidFill>
              </a:rPr>
              <a:t>Nisan 445</a:t>
            </a:r>
            <a:endParaRPr lang="en-US" sz="1000" dirty="0"/>
          </a:p>
          <a:p>
            <a:pPr algn="ctr" indent="0" marL="0">
              <a:buNone/>
            </a:pPr>
            <a:r>
              <a:rPr lang="en-US" sz="1000" b="1" dirty="0">
                <a:solidFill>
                  <a:srgbClr val="8B2E2E"/>
                </a:solidFill>
              </a:rPr>
              <a:t>(Anderson’s start)</a:t>
            </a:r>
            <a:endParaRPr lang="en-US" sz="1000" dirty="0"/>
          </a:p>
        </p:txBody>
      </p:sp>
      <p:sp>
        <p:nvSpPr>
          <p:cNvPr id="21" name="Shape 18"/>
          <p:cNvSpPr/>
          <p:nvPr/>
        </p:nvSpPr>
        <p:spPr>
          <a:xfrm>
            <a:off x="7636256" y="2359152"/>
            <a:ext cx="201168" cy="274320"/>
          </a:xfrm>
          <a:prstGeom prst="downArrow">
            <a:avLst/>
          </a:prstGeom>
          <a:solidFill>
            <a:srgbClr val="8B2E2E"/>
          </a:solidFill>
          <a:ln w="12700">
            <a:solidFill>
              <a:srgbClr val="8B2E2E"/>
            </a:solidFill>
            <a:prstDash val="solid"/>
          </a:ln>
        </p:spPr>
      </p:sp>
      <p:sp>
        <p:nvSpPr>
          <p:cNvPr id="22" name="Text 19"/>
          <p:cNvSpPr txBox="1"/>
          <p:nvPr/>
        </p:nvSpPr>
        <p:spPr>
          <a:xfrm>
            <a:off x="6913880" y="3090672"/>
            <a:ext cx="1645920" cy="384048"/>
          </a:xfrm>
          <a:prstGeom prst="rect">
            <a:avLst/>
          </a:prstGeom>
          <a:noFill/>
          <a:ln/>
        </p:spPr>
        <p:txBody>
          <a:bodyPr wrap="square" lIns="0" tIns="0" rIns="0" bIns="0" rtlCol="0" anchor="t"/>
          <a:lstStyle/>
          <a:p>
            <a:pPr algn="ctr" indent="0" marL="0">
              <a:buNone/>
            </a:pPr>
            <a:r>
              <a:rPr lang="en-US" sz="1000" b="1" dirty="0">
                <a:solidFill>
                  <a:srgbClr val="8B2E2E"/>
                </a:solidFill>
              </a:rPr>
              <a:t>Chislev 445</a:t>
            </a:r>
            <a:endParaRPr lang="en-US" sz="1000" dirty="0"/>
          </a:p>
          <a:p>
            <a:pPr algn="ctr" indent="0" marL="0">
              <a:buNone/>
            </a:pPr>
            <a:r>
              <a:rPr lang="en-US" sz="1000" b="1" dirty="0">
                <a:solidFill>
                  <a:srgbClr val="8B2E2E"/>
                </a:solidFill>
              </a:rPr>
              <a:t>Neh 1:1</a:t>
            </a:r>
            <a:endParaRPr lang="en-US" sz="1000" dirty="0"/>
          </a:p>
        </p:txBody>
      </p:sp>
      <p:sp>
        <p:nvSpPr>
          <p:cNvPr id="23" name="Shape 20"/>
          <p:cNvSpPr/>
          <p:nvPr/>
        </p:nvSpPr>
        <p:spPr>
          <a:xfrm>
            <a:off x="7636256" y="4233672"/>
            <a:ext cx="201168" cy="274320"/>
          </a:xfrm>
          <a:prstGeom prst="downArrow">
            <a:avLst/>
          </a:prstGeom>
          <a:solidFill>
            <a:srgbClr val="2E5496"/>
          </a:solidFill>
          <a:ln w="12700">
            <a:solidFill>
              <a:srgbClr val="2E5496"/>
            </a:solidFill>
            <a:prstDash val="solid"/>
          </a:ln>
        </p:spPr>
      </p:sp>
      <p:sp>
        <p:nvSpPr>
          <p:cNvPr id="24" name="Text 21"/>
          <p:cNvSpPr txBox="1"/>
          <p:nvPr/>
        </p:nvSpPr>
        <p:spPr>
          <a:xfrm>
            <a:off x="6913880" y="4965192"/>
            <a:ext cx="1645920" cy="384048"/>
          </a:xfrm>
          <a:prstGeom prst="rect">
            <a:avLst/>
          </a:prstGeom>
          <a:noFill/>
          <a:ln/>
        </p:spPr>
        <p:txBody>
          <a:bodyPr wrap="square" lIns="0" tIns="0" rIns="0" bIns="0" rtlCol="0" anchor="t"/>
          <a:lstStyle/>
          <a:p>
            <a:pPr algn="ctr" indent="0" marL="0">
              <a:buNone/>
            </a:pPr>
            <a:r>
              <a:rPr lang="en-US" sz="1000" b="1" dirty="0">
                <a:solidFill>
                  <a:srgbClr val="2E5496"/>
                </a:solidFill>
              </a:rPr>
              <a:t>Chislev 445</a:t>
            </a:r>
            <a:endParaRPr lang="en-US" sz="1000" dirty="0"/>
          </a:p>
          <a:p>
            <a:pPr algn="ctr" indent="0" marL="0">
              <a:buNone/>
            </a:pPr>
            <a:r>
              <a:rPr lang="en-US" sz="1000" b="1" dirty="0">
                <a:solidFill>
                  <a:srgbClr val="2E5496"/>
                </a:solidFill>
              </a:rPr>
              <a:t>Neh 1:1</a:t>
            </a:r>
            <a:endParaRPr lang="en-US" sz="1000" dirty="0"/>
          </a:p>
        </p:txBody>
      </p:sp>
      <p:sp>
        <p:nvSpPr>
          <p:cNvPr id="25" name="Shape 22"/>
          <p:cNvSpPr/>
          <p:nvPr/>
        </p:nvSpPr>
        <p:spPr>
          <a:xfrm>
            <a:off x="8579104" y="4233672"/>
            <a:ext cx="201168" cy="274320"/>
          </a:xfrm>
          <a:prstGeom prst="downArrow">
            <a:avLst/>
          </a:prstGeom>
          <a:solidFill>
            <a:srgbClr val="2E5496"/>
          </a:solidFill>
          <a:ln w="12700">
            <a:solidFill>
              <a:srgbClr val="2E5496"/>
            </a:solidFill>
            <a:prstDash val="solid"/>
          </a:ln>
        </p:spPr>
      </p:sp>
      <p:sp>
        <p:nvSpPr>
          <p:cNvPr id="26" name="Text 23"/>
          <p:cNvSpPr txBox="1"/>
          <p:nvPr/>
        </p:nvSpPr>
        <p:spPr>
          <a:xfrm>
            <a:off x="7856728" y="4965192"/>
            <a:ext cx="1645920" cy="384048"/>
          </a:xfrm>
          <a:prstGeom prst="rect">
            <a:avLst/>
          </a:prstGeom>
          <a:noFill/>
          <a:ln/>
        </p:spPr>
        <p:txBody>
          <a:bodyPr wrap="square" lIns="0" tIns="0" rIns="0" bIns="0" rtlCol="0" anchor="t"/>
          <a:lstStyle/>
          <a:p>
            <a:pPr algn="ctr" indent="0" marL="0">
              <a:buNone/>
            </a:pPr>
            <a:r>
              <a:rPr lang="en-US" sz="1000" b="1" dirty="0">
                <a:solidFill>
                  <a:srgbClr val="2E5496"/>
                </a:solidFill>
              </a:rPr>
              <a:t>Nisan 444</a:t>
            </a:r>
            <a:endParaRPr lang="en-US" sz="1000" dirty="0"/>
          </a:p>
          <a:p>
            <a:pPr algn="ctr" indent="0" marL="0">
              <a:buNone/>
            </a:pPr>
            <a:r>
              <a:rPr lang="en-US" sz="1000" b="1" dirty="0">
                <a:solidFill>
                  <a:srgbClr val="2E5496"/>
                </a:solidFill>
              </a:rPr>
              <a:t>Neh 2:1 · Mar 5</a:t>
            </a:r>
            <a:endParaRPr lang="en-US" sz="1000" dirty="0"/>
          </a:p>
        </p:txBody>
      </p:sp>
      <p:sp>
        <p:nvSpPr>
          <p:cNvPr id="27" name="Text 24"/>
          <p:cNvSpPr txBox="1"/>
          <p:nvPr/>
        </p:nvSpPr>
        <p:spPr>
          <a:xfrm>
            <a:off x="548640" y="5532120"/>
            <a:ext cx="11109960" cy="457200"/>
          </a:xfrm>
          <a:prstGeom prst="roundRect">
            <a:avLst>
              <a:gd name="adj" fmla="val 16000"/>
            </a:avLst>
          </a:prstGeom>
          <a:solidFill>
            <a:srgbClr val="EEF1F6"/>
          </a:solidFill>
          <a:ln/>
        </p:spPr>
        <p:txBody>
          <a:bodyPr wrap="square" lIns="38100" tIns="38100" rIns="38100" bIns="38100" rtlCol="0" anchor="ctr"/>
          <a:lstStyle/>
          <a:p>
            <a:pPr algn="ctr" indent="0" marL="0">
              <a:buNone/>
            </a:pPr>
            <a:r>
              <a:rPr lang="en-US" sz="1300" b="1" dirty="0">
                <a:solidFill>
                  <a:schemeClr val="tx2"/>
                </a:solidFill>
              </a:rPr>
              <a:t>Result: Nehemiah’s commission = Nisan 444 BC → 173,880 days → Nisan 10, AD 33 (Hoehner)</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11155680" cy="621792"/>
          </a:xfrm>
          <a:prstGeom prst="rect">
            <a:avLst/>
          </a:prstGeom>
          <a:noFill/>
          <a:ln/>
        </p:spPr>
        <p:txBody>
          <a:bodyPr wrap="square" lIns="0" tIns="0" rIns="0" bIns="0" rtlCol="0" anchor="ctr"/>
          <a:lstStyle/>
          <a:p>
            <a:pPr algn="l" indent="0" marL="0">
              <a:buNone/>
            </a:pPr>
            <a:r>
              <a:rPr lang="en-US" sz="3400" b="1" dirty="0">
                <a:solidFill>
                  <a:srgbClr val="1F3864"/>
                </a:solidFill>
              </a:rPr>
              <a:t>Nisan 10 to Nisan 14, AD 33</a:t>
            </a:r>
            <a:endParaRPr lang="en-US" sz="3400" dirty="0"/>
          </a:p>
        </p:txBody>
      </p:sp>
      <p:sp>
        <p:nvSpPr>
          <p:cNvPr id="3" name="Text 1"/>
          <p:cNvSpPr/>
          <p:nvPr>
            <p:ph idx="102" type="body" hasCustomPrompt="1"/>
          </p:nvPr>
        </p:nvSpPr>
        <p:spPr>
          <a:xfrm>
            <a:off x="502920" y="914400"/>
            <a:ext cx="11155680" cy="347472"/>
          </a:xfrm>
          <a:prstGeom prst="rect">
            <a:avLst/>
          </a:prstGeom>
          <a:noFill/>
          <a:ln/>
        </p:spPr>
        <p:txBody>
          <a:bodyPr wrap="square" lIns="0" tIns="0" rIns="0" bIns="0" rtlCol="0" anchor="ctr"/>
          <a:lstStyle/>
          <a:p>
            <a:pPr indent="0" marL="0">
              <a:buNone/>
            </a:pPr>
            <a:r>
              <a:rPr lang="en-US" sz="1400" i="1" dirty="0">
                <a:solidFill>
                  <a:srgbClr val="6B7A8F"/>
                </a:solidFill>
              </a:rPr>
              <a:t>The lamb selected, the King presented, the Lamb slain  ·  Julian dates per Hoehner (Section II.F–G)</a:t>
            </a:r>
            <a:endParaRPr lang="en-US" sz="1400" dirty="0"/>
          </a:p>
        </p:txBody>
      </p:sp>
      <p:sp>
        <p:nvSpPr>
          <p:cNvPr id="5" name="Text 2"/>
          <p:cNvSpPr txBox="1"/>
          <p:nvPr/>
        </p:nvSpPr>
        <p:spPr>
          <a:xfrm>
            <a:off x="2404872" y="1417320"/>
            <a:ext cx="1801368" cy="640080"/>
          </a:xfrm>
          <a:prstGeom prst="roundRect">
            <a:avLst>
              <a:gd name="adj" fmla="val 11429"/>
            </a:avLst>
          </a:prstGeom>
          <a:solidFill>
            <a:srgbClr val="1F3864"/>
          </a:solidFill>
          <a:ln/>
        </p:spPr>
        <p:txBody>
          <a:bodyPr wrap="square" lIns="38100" tIns="38100" rIns="38100" bIns="38100" rtlCol="0" anchor="ctr"/>
          <a:lstStyle/>
          <a:p>
            <a:pPr algn="ctr" indent="0" marL="0">
              <a:buNone/>
            </a:pPr>
            <a:r>
              <a:rPr lang="en-US" sz="1200" b="1" dirty="0">
                <a:solidFill>
                  <a:schemeClr val="bg1"/>
                </a:solidFill>
              </a:rPr>
              <a:t>Nisan 10</a:t>
            </a:r>
            <a:endParaRPr lang="en-US" sz="1200" dirty="0"/>
          </a:p>
          <a:p>
            <a:pPr algn="ctr" indent="0" marL="0">
              <a:buNone/>
            </a:pPr>
            <a:r>
              <a:rPr lang="en-US" sz="1200" b="1" dirty="0">
                <a:solidFill>
                  <a:schemeClr val="bg1"/>
                </a:solidFill>
              </a:rPr>
              <a:t>Mon · Mar 30</a:t>
            </a:r>
            <a:endParaRPr lang="en-US" sz="1200" dirty="0"/>
          </a:p>
        </p:txBody>
      </p:sp>
      <p:sp>
        <p:nvSpPr>
          <p:cNvPr id="6" name="Text 3"/>
          <p:cNvSpPr txBox="1"/>
          <p:nvPr/>
        </p:nvSpPr>
        <p:spPr>
          <a:xfrm>
            <a:off x="4261104" y="1417320"/>
            <a:ext cx="1801368" cy="640080"/>
          </a:xfrm>
          <a:prstGeom prst="roundRect">
            <a:avLst>
              <a:gd name="adj" fmla="val 11429"/>
            </a:avLst>
          </a:prstGeom>
          <a:solidFill>
            <a:srgbClr val="6B7A8F"/>
          </a:solidFill>
          <a:ln/>
        </p:spPr>
        <p:txBody>
          <a:bodyPr wrap="square" lIns="38100" tIns="38100" rIns="38100" bIns="38100" rtlCol="0" anchor="ctr"/>
          <a:lstStyle/>
          <a:p>
            <a:pPr algn="ctr" indent="0" marL="0">
              <a:buNone/>
            </a:pPr>
            <a:r>
              <a:rPr lang="en-US" sz="1200" b="1" dirty="0">
                <a:solidFill>
                  <a:schemeClr val="bg1"/>
                </a:solidFill>
              </a:rPr>
              <a:t>Nisan 11</a:t>
            </a:r>
            <a:endParaRPr lang="en-US" sz="1200" dirty="0"/>
          </a:p>
          <a:p>
            <a:pPr algn="ctr" indent="0" marL="0">
              <a:buNone/>
            </a:pPr>
            <a:r>
              <a:rPr lang="en-US" sz="1200" b="1" dirty="0">
                <a:solidFill>
                  <a:schemeClr val="bg1"/>
                </a:solidFill>
              </a:rPr>
              <a:t>Tue · Mar 31</a:t>
            </a:r>
            <a:endParaRPr lang="en-US" sz="1200" dirty="0"/>
          </a:p>
        </p:txBody>
      </p:sp>
      <p:sp>
        <p:nvSpPr>
          <p:cNvPr id="7" name="Text 4"/>
          <p:cNvSpPr txBox="1"/>
          <p:nvPr/>
        </p:nvSpPr>
        <p:spPr>
          <a:xfrm>
            <a:off x="6117336" y="1417320"/>
            <a:ext cx="1801368" cy="640080"/>
          </a:xfrm>
          <a:prstGeom prst="roundRect">
            <a:avLst>
              <a:gd name="adj" fmla="val 11429"/>
            </a:avLst>
          </a:prstGeom>
          <a:solidFill>
            <a:srgbClr val="6B7A8F"/>
          </a:solidFill>
          <a:ln/>
        </p:spPr>
        <p:txBody>
          <a:bodyPr wrap="square" lIns="38100" tIns="38100" rIns="38100" bIns="38100" rtlCol="0" anchor="ctr"/>
          <a:lstStyle/>
          <a:p>
            <a:pPr algn="ctr" indent="0" marL="0">
              <a:buNone/>
            </a:pPr>
            <a:r>
              <a:rPr lang="en-US" sz="1200" b="1" dirty="0">
                <a:solidFill>
                  <a:schemeClr val="bg1"/>
                </a:solidFill>
              </a:rPr>
              <a:t>Nisan 12</a:t>
            </a:r>
            <a:endParaRPr lang="en-US" sz="1200" dirty="0"/>
          </a:p>
          <a:p>
            <a:pPr algn="ctr" indent="0" marL="0">
              <a:buNone/>
            </a:pPr>
            <a:r>
              <a:rPr lang="en-US" sz="1200" b="1" dirty="0">
                <a:solidFill>
                  <a:schemeClr val="bg1"/>
                </a:solidFill>
              </a:rPr>
              <a:t>Wed · Apr 1</a:t>
            </a:r>
            <a:endParaRPr lang="en-US" sz="1200" dirty="0"/>
          </a:p>
        </p:txBody>
      </p:sp>
      <p:sp>
        <p:nvSpPr>
          <p:cNvPr id="8" name="Text 5"/>
          <p:cNvSpPr txBox="1"/>
          <p:nvPr/>
        </p:nvSpPr>
        <p:spPr>
          <a:xfrm>
            <a:off x="7973568" y="1417320"/>
            <a:ext cx="1801368" cy="640080"/>
          </a:xfrm>
          <a:prstGeom prst="roundRect">
            <a:avLst>
              <a:gd name="adj" fmla="val 11429"/>
            </a:avLst>
          </a:prstGeom>
          <a:solidFill>
            <a:srgbClr val="6B7A8F"/>
          </a:solidFill>
          <a:ln/>
        </p:spPr>
        <p:txBody>
          <a:bodyPr wrap="square" lIns="38100" tIns="38100" rIns="38100" bIns="38100" rtlCol="0" anchor="ctr"/>
          <a:lstStyle/>
          <a:p>
            <a:pPr algn="ctr" indent="0" marL="0">
              <a:buNone/>
            </a:pPr>
            <a:r>
              <a:rPr lang="en-US" sz="1200" b="1" dirty="0">
                <a:solidFill>
                  <a:schemeClr val="bg1"/>
                </a:solidFill>
              </a:rPr>
              <a:t>Nisan 13</a:t>
            </a:r>
            <a:endParaRPr lang="en-US" sz="1200" dirty="0"/>
          </a:p>
          <a:p>
            <a:pPr algn="ctr" indent="0" marL="0">
              <a:buNone/>
            </a:pPr>
            <a:r>
              <a:rPr lang="en-US" sz="1200" b="1" dirty="0">
                <a:solidFill>
                  <a:schemeClr val="bg1"/>
                </a:solidFill>
              </a:rPr>
              <a:t>Thu · Apr 2</a:t>
            </a:r>
            <a:endParaRPr lang="en-US" sz="1200" dirty="0"/>
          </a:p>
        </p:txBody>
      </p:sp>
      <p:sp>
        <p:nvSpPr>
          <p:cNvPr id="9" name="Text 6"/>
          <p:cNvSpPr txBox="1"/>
          <p:nvPr/>
        </p:nvSpPr>
        <p:spPr>
          <a:xfrm>
            <a:off x="9829800" y="1417320"/>
            <a:ext cx="1801368" cy="640080"/>
          </a:xfrm>
          <a:prstGeom prst="roundRect">
            <a:avLst>
              <a:gd name="adj" fmla="val 11429"/>
            </a:avLst>
          </a:prstGeom>
          <a:solidFill>
            <a:srgbClr val="1F3864"/>
          </a:solidFill>
          <a:ln/>
        </p:spPr>
        <p:txBody>
          <a:bodyPr wrap="square" lIns="38100" tIns="38100" rIns="38100" bIns="38100" rtlCol="0" anchor="ctr"/>
          <a:lstStyle/>
          <a:p>
            <a:pPr algn="ctr" indent="0" marL="0">
              <a:buNone/>
            </a:pPr>
            <a:r>
              <a:rPr lang="en-US" sz="1200" b="1" dirty="0">
                <a:solidFill>
                  <a:schemeClr val="bg1"/>
                </a:solidFill>
              </a:rPr>
              <a:t>Nisan 14</a:t>
            </a:r>
            <a:endParaRPr lang="en-US" sz="1200" dirty="0"/>
          </a:p>
          <a:p>
            <a:pPr algn="ctr" indent="0" marL="0">
              <a:buNone/>
            </a:pPr>
            <a:r>
              <a:rPr lang="en-US" sz="1200" b="1" dirty="0">
                <a:solidFill>
                  <a:schemeClr val="bg1"/>
                </a:solidFill>
              </a:rPr>
              <a:t>Fri · Apr 3</a:t>
            </a:r>
            <a:endParaRPr lang="en-US" sz="1200" dirty="0"/>
          </a:p>
        </p:txBody>
      </p:sp>
      <p:sp>
        <p:nvSpPr>
          <p:cNvPr id="10" name="Text 7"/>
          <p:cNvSpPr txBox="1"/>
          <p:nvPr/>
        </p:nvSpPr>
        <p:spPr>
          <a:xfrm>
            <a:off x="548640" y="2560320"/>
            <a:ext cx="1737360" cy="274320"/>
          </a:xfrm>
          <a:prstGeom prst="rect">
            <a:avLst/>
          </a:prstGeom>
          <a:noFill/>
          <a:ln/>
        </p:spPr>
        <p:txBody>
          <a:bodyPr wrap="square" lIns="0" tIns="0" rIns="0" bIns="0" rtlCol="0" anchor="t"/>
          <a:lstStyle/>
          <a:p>
            <a:pPr algn="l" indent="0" marL="0">
              <a:buNone/>
            </a:pPr>
            <a:r>
              <a:rPr lang="en-US" sz="1100" b="1" dirty="0">
                <a:solidFill>
                  <a:schemeClr val="accent6"/>
                </a:solidFill>
              </a:rPr>
              <a:t>THE PASSOVER LAMB</a:t>
            </a:r>
            <a:endParaRPr lang="en-US" sz="1100" dirty="0"/>
          </a:p>
        </p:txBody>
      </p:sp>
      <p:sp>
        <p:nvSpPr>
          <p:cNvPr id="11" name="Text 8"/>
          <p:cNvSpPr txBox="1"/>
          <p:nvPr/>
        </p:nvSpPr>
        <p:spPr>
          <a:xfrm>
            <a:off x="548640" y="3863340"/>
            <a:ext cx="1737360" cy="274320"/>
          </a:xfrm>
          <a:prstGeom prst="rect">
            <a:avLst/>
          </a:prstGeom>
          <a:noFill/>
          <a:ln/>
        </p:spPr>
        <p:txBody>
          <a:bodyPr wrap="square" lIns="0" tIns="0" rIns="0" bIns="0" rtlCol="0" anchor="t"/>
          <a:lstStyle/>
          <a:p>
            <a:pPr algn="l" indent="0" marL="0">
              <a:buNone/>
            </a:pPr>
            <a:r>
              <a:rPr lang="en-US" sz="1100" b="1" dirty="0">
                <a:solidFill>
                  <a:schemeClr val="accent6"/>
                </a:solidFill>
              </a:rPr>
              <a:t>THE MESSIAH</a:t>
            </a:r>
            <a:endParaRPr lang="en-US" sz="1100" dirty="0"/>
          </a:p>
        </p:txBody>
      </p:sp>
      <p:sp>
        <p:nvSpPr>
          <p:cNvPr id="12" name="Text 9"/>
          <p:cNvSpPr txBox="1"/>
          <p:nvPr/>
        </p:nvSpPr>
        <p:spPr>
          <a:xfrm>
            <a:off x="548640" y="5097780"/>
            <a:ext cx="1737360" cy="274320"/>
          </a:xfrm>
          <a:prstGeom prst="rect">
            <a:avLst/>
          </a:prstGeom>
          <a:noFill/>
          <a:ln/>
        </p:spPr>
        <p:txBody>
          <a:bodyPr wrap="square" lIns="0" tIns="0" rIns="0" bIns="0" rtlCol="0" anchor="t"/>
          <a:lstStyle/>
          <a:p>
            <a:pPr algn="l" indent="0" marL="0">
              <a:buNone/>
            </a:pPr>
            <a:r>
              <a:rPr lang="en-US" sz="1100" b="1" dirty="0">
                <a:solidFill>
                  <a:schemeClr val="accent6"/>
                </a:solidFill>
              </a:rPr>
              <a:t>THE HEAVENS</a:t>
            </a:r>
            <a:endParaRPr lang="en-US" sz="1100" dirty="0"/>
          </a:p>
        </p:txBody>
      </p:sp>
      <p:sp>
        <p:nvSpPr>
          <p:cNvPr id="13" name="Text 10"/>
          <p:cNvSpPr txBox="1"/>
          <p:nvPr/>
        </p:nvSpPr>
        <p:spPr>
          <a:xfrm>
            <a:off x="2404872" y="2240280"/>
            <a:ext cx="1801368" cy="914400"/>
          </a:xfrm>
          <a:prstGeom prst="rect">
            <a:avLst/>
          </a:prstGeom>
          <a:solidFill>
            <a:srgbClr val="FFFFFF"/>
          </a:solidFill>
          <a:ln w="15875">
            <a:solidFill>
              <a:srgbClr val="8B2E2E"/>
            </a:solidFill>
          </a:ln>
        </p:spPr>
        <p:txBody>
          <a:bodyPr wrap="square" lIns="38100" tIns="38100" rIns="38100" bIns="38100" rtlCol="0" anchor="ctr"/>
          <a:lstStyle/>
          <a:p>
            <a:pPr algn="ctr" indent="0" marL="0">
              <a:buNone/>
            </a:pPr>
            <a:r>
              <a:rPr lang="en-US" sz="1100" b="1" dirty="0">
                <a:solidFill>
                  <a:srgbClr val="8B2E2E"/>
                </a:solidFill>
              </a:rPr>
              <a:t>Lamb selected</a:t>
            </a:r>
            <a:endParaRPr lang="en-US" sz="1100" dirty="0"/>
          </a:p>
          <a:p>
            <a:pPr algn="ctr" indent="0" marL="0">
              <a:buNone/>
            </a:pPr>
            <a:r>
              <a:rPr lang="en-US" sz="1100" b="1" dirty="0">
                <a:solidFill>
                  <a:srgbClr val="8B2E2E"/>
                </a:solidFill>
              </a:rPr>
              <a:t>Exod 12:3</a:t>
            </a:r>
            <a:endParaRPr lang="en-US" sz="1100" dirty="0"/>
          </a:p>
        </p:txBody>
      </p:sp>
      <p:sp>
        <p:nvSpPr>
          <p:cNvPr id="14" name="Text 11"/>
          <p:cNvSpPr txBox="1"/>
          <p:nvPr/>
        </p:nvSpPr>
        <p:spPr>
          <a:xfrm>
            <a:off x="4261104" y="2240280"/>
            <a:ext cx="5513832" cy="914400"/>
          </a:xfrm>
          <a:prstGeom prst="rect">
            <a:avLst/>
          </a:prstGeom>
          <a:solidFill>
            <a:srgbClr val="FFFFFF"/>
          </a:solidFill>
          <a:ln w="15875">
            <a:solidFill>
              <a:srgbClr val="6B7A8F"/>
            </a:solidFill>
          </a:ln>
        </p:spPr>
        <p:txBody>
          <a:bodyPr wrap="square" lIns="38100" tIns="38100" rIns="38100" bIns="38100" rtlCol="0" anchor="ctr"/>
          <a:lstStyle/>
          <a:p>
            <a:pPr algn="ctr" indent="0" marL="0">
              <a:buNone/>
            </a:pPr>
            <a:r>
              <a:rPr lang="en-US" sz="1100" dirty="0">
                <a:solidFill>
                  <a:schemeClr val="tx1"/>
                </a:solidFill>
              </a:rPr>
              <a:t>Lamb kept and examined</a:t>
            </a:r>
            <a:endParaRPr lang="en-US" sz="1100" dirty="0"/>
          </a:p>
          <a:p>
            <a:pPr algn="ctr" indent="0" marL="0">
              <a:buNone/>
            </a:pPr>
            <a:r>
              <a:rPr lang="en-US" sz="1100" dirty="0">
                <a:solidFill>
                  <a:schemeClr val="tx1"/>
                </a:solidFill>
              </a:rPr>
              <a:t>Exod 12:6</a:t>
            </a:r>
            <a:endParaRPr lang="en-US" sz="1100" dirty="0"/>
          </a:p>
        </p:txBody>
      </p:sp>
      <p:sp>
        <p:nvSpPr>
          <p:cNvPr id="15" name="Text 12"/>
          <p:cNvSpPr txBox="1"/>
          <p:nvPr/>
        </p:nvSpPr>
        <p:spPr>
          <a:xfrm>
            <a:off x="9829800" y="2240280"/>
            <a:ext cx="1801368" cy="914400"/>
          </a:xfrm>
          <a:prstGeom prst="rect">
            <a:avLst/>
          </a:prstGeom>
          <a:solidFill>
            <a:srgbClr val="FFFFFF"/>
          </a:solidFill>
          <a:ln w="15875">
            <a:solidFill>
              <a:srgbClr val="8B2E2E"/>
            </a:solidFill>
          </a:ln>
        </p:spPr>
        <p:txBody>
          <a:bodyPr wrap="square" lIns="38100" tIns="38100" rIns="38100" bIns="38100" rtlCol="0" anchor="ctr"/>
          <a:lstStyle/>
          <a:p>
            <a:pPr algn="ctr" indent="0" marL="0">
              <a:buNone/>
            </a:pPr>
            <a:r>
              <a:rPr lang="en-US" sz="1100" b="1" dirty="0">
                <a:solidFill>
                  <a:srgbClr val="8B2E2E"/>
                </a:solidFill>
              </a:rPr>
              <a:t>Lamb slain</a:t>
            </a:r>
            <a:endParaRPr lang="en-US" sz="1100" dirty="0"/>
          </a:p>
          <a:p>
            <a:pPr algn="ctr" indent="0" marL="0">
              <a:buNone/>
            </a:pPr>
            <a:r>
              <a:rPr lang="en-US" sz="1100" b="1" dirty="0">
                <a:solidFill>
                  <a:srgbClr val="8B2E2E"/>
                </a:solidFill>
              </a:rPr>
              <a:t>Exod 12:6</a:t>
            </a:r>
            <a:endParaRPr lang="en-US" sz="1100" dirty="0"/>
          </a:p>
        </p:txBody>
      </p:sp>
      <p:sp>
        <p:nvSpPr>
          <p:cNvPr id="16" name="Text 13"/>
          <p:cNvSpPr txBox="1"/>
          <p:nvPr/>
        </p:nvSpPr>
        <p:spPr>
          <a:xfrm>
            <a:off x="2404872" y="3291840"/>
            <a:ext cx="1801368" cy="1417320"/>
          </a:xfrm>
          <a:prstGeom prst="rect">
            <a:avLst/>
          </a:prstGeom>
          <a:solidFill>
            <a:srgbClr val="FFFFFF"/>
          </a:solidFill>
          <a:ln w="15875">
            <a:solidFill>
              <a:srgbClr val="2E5496"/>
            </a:solidFill>
          </a:ln>
        </p:spPr>
        <p:txBody>
          <a:bodyPr wrap="square" lIns="38100" tIns="38100" rIns="38100" bIns="38100" rtlCol="0" anchor="ctr"/>
          <a:lstStyle/>
          <a:p>
            <a:pPr algn="ctr" indent="0" marL="0">
              <a:buNone/>
            </a:pPr>
            <a:r>
              <a:rPr lang="en-US" sz="1100" b="1" dirty="0">
                <a:solidFill>
                  <a:srgbClr val="2E5496"/>
                </a:solidFill>
              </a:rPr>
              <a:t>Triumphal Entry</a:t>
            </a:r>
            <a:endParaRPr lang="en-US" sz="1100" dirty="0"/>
          </a:p>
          <a:p>
            <a:pPr algn="ctr" indent="0" marL="0">
              <a:buNone/>
            </a:pPr>
            <a:r>
              <a:rPr lang="en-US" sz="1100" b="1" dirty="0">
                <a:solidFill>
                  <a:srgbClr val="2E5496"/>
                </a:solidFill>
              </a:rPr>
              <a:t>“Messiah the Prince”</a:t>
            </a:r>
            <a:endParaRPr lang="en-US" sz="1100" dirty="0"/>
          </a:p>
          <a:p>
            <a:pPr algn="ctr" indent="0" marL="0">
              <a:buNone/>
            </a:pPr>
            <a:r>
              <a:rPr lang="en-US" sz="1100" b="1" dirty="0">
                <a:solidFill>
                  <a:srgbClr val="2E5496"/>
                </a:solidFill>
              </a:rPr>
              <a:t>69 weeks complete</a:t>
            </a:r>
            <a:endParaRPr lang="en-US" sz="1100" dirty="0"/>
          </a:p>
          <a:p>
            <a:pPr algn="ctr" indent="0" marL="0">
              <a:buNone/>
            </a:pPr>
            <a:r>
              <a:rPr lang="en-US" sz="1100" b="1" dirty="0">
                <a:solidFill>
                  <a:srgbClr val="2E5496"/>
                </a:solidFill>
              </a:rPr>
              <a:t>Luke 19:41–44</a:t>
            </a:r>
            <a:endParaRPr lang="en-US" sz="1100" dirty="0"/>
          </a:p>
        </p:txBody>
      </p:sp>
      <p:sp>
        <p:nvSpPr>
          <p:cNvPr id="17" name="Text 14"/>
          <p:cNvSpPr txBox="1"/>
          <p:nvPr/>
        </p:nvSpPr>
        <p:spPr>
          <a:xfrm>
            <a:off x="4261104" y="3291840"/>
            <a:ext cx="5513832" cy="1417320"/>
          </a:xfrm>
          <a:prstGeom prst="rect">
            <a:avLst/>
          </a:prstGeom>
          <a:solidFill>
            <a:srgbClr val="FFFFFF"/>
          </a:solidFill>
          <a:ln w="15875">
            <a:solidFill>
              <a:srgbClr val="6B7A8F"/>
            </a:solidFill>
          </a:ln>
        </p:spPr>
        <p:txBody>
          <a:bodyPr wrap="square" lIns="38100" tIns="38100" rIns="38100" bIns="38100" rtlCol="0" anchor="ctr"/>
          <a:lstStyle/>
          <a:p>
            <a:pPr algn="ctr" indent="0" marL="0">
              <a:buNone/>
            </a:pPr>
            <a:r>
              <a:rPr lang="en-US" sz="1100" dirty="0">
                <a:solidFill>
                  <a:schemeClr val="tx1"/>
                </a:solidFill>
              </a:rPr>
              <a:t>Teaching daily in the temple</a:t>
            </a:r>
            <a:endParaRPr lang="en-US" sz="1100" dirty="0"/>
          </a:p>
          <a:p>
            <a:pPr algn="ctr" indent="0" marL="0">
              <a:buNone/>
            </a:pPr>
            <a:r>
              <a:rPr lang="en-US" sz="1100" dirty="0">
                <a:solidFill>
                  <a:schemeClr val="tx1"/>
                </a:solidFill>
              </a:rPr>
              <a:t>(Luke 19:47)</a:t>
            </a:r>
            <a:endParaRPr lang="en-US" sz="1100" dirty="0"/>
          </a:p>
        </p:txBody>
      </p:sp>
      <p:sp>
        <p:nvSpPr>
          <p:cNvPr id="18" name="Text 15"/>
          <p:cNvSpPr txBox="1"/>
          <p:nvPr/>
        </p:nvSpPr>
        <p:spPr>
          <a:xfrm>
            <a:off x="9829800" y="3291840"/>
            <a:ext cx="1801368" cy="1417320"/>
          </a:xfrm>
          <a:prstGeom prst="rect">
            <a:avLst/>
          </a:prstGeom>
          <a:solidFill>
            <a:srgbClr val="FFFFFF"/>
          </a:solidFill>
          <a:ln w="15875">
            <a:solidFill>
              <a:srgbClr val="8B2E2E"/>
            </a:solidFill>
          </a:ln>
        </p:spPr>
        <p:txBody>
          <a:bodyPr wrap="square" lIns="38100" tIns="38100" rIns="38100" bIns="38100" rtlCol="0" anchor="ctr"/>
          <a:lstStyle/>
          <a:p>
            <a:pPr algn="ctr" indent="0" marL="0">
              <a:buNone/>
            </a:pPr>
            <a:r>
              <a:rPr lang="en-US" sz="1100" b="1" dirty="0">
                <a:solidFill>
                  <a:srgbClr val="8B2E2E"/>
                </a:solidFill>
              </a:rPr>
              <a:t>Crucified — Messiah</a:t>
            </a:r>
            <a:endParaRPr lang="en-US" sz="1100" dirty="0"/>
          </a:p>
          <a:p>
            <a:pPr algn="ctr" indent="0" marL="0">
              <a:buNone/>
            </a:pPr>
            <a:r>
              <a:rPr lang="en-US" sz="1100" b="1" dirty="0">
                <a:solidFill>
                  <a:srgbClr val="8B2E2E"/>
                </a:solidFill>
              </a:rPr>
              <a:t>“cut off” (Dan 9:26)</a:t>
            </a:r>
            <a:endParaRPr lang="en-US" sz="1100" dirty="0"/>
          </a:p>
          <a:p>
            <a:pPr algn="ctr" indent="0" marL="0">
              <a:buNone/>
            </a:pPr>
            <a:r>
              <a:rPr lang="en-US" sz="1100" b="1" dirty="0">
                <a:solidFill>
                  <a:srgbClr val="8B2E2E"/>
                </a:solidFill>
              </a:rPr>
              <a:t>“Christ our Passover”</a:t>
            </a:r>
            <a:endParaRPr lang="en-US" sz="1100" dirty="0"/>
          </a:p>
          <a:p>
            <a:pPr algn="ctr" indent="0" marL="0">
              <a:buNone/>
            </a:pPr>
            <a:r>
              <a:rPr lang="en-US" sz="1100" b="1" dirty="0">
                <a:solidFill>
                  <a:srgbClr val="8B2E2E"/>
                </a:solidFill>
              </a:rPr>
              <a:t>1 Cor 5:7</a:t>
            </a:r>
            <a:endParaRPr lang="en-US" sz="1100" dirty="0"/>
          </a:p>
        </p:txBody>
      </p:sp>
      <p:sp>
        <p:nvSpPr>
          <p:cNvPr id="19" name="Text 16"/>
          <p:cNvSpPr txBox="1"/>
          <p:nvPr/>
        </p:nvSpPr>
        <p:spPr>
          <a:xfrm>
            <a:off x="9829800" y="4846320"/>
            <a:ext cx="1801368" cy="777240"/>
          </a:xfrm>
          <a:prstGeom prst="rect">
            <a:avLst/>
          </a:prstGeom>
          <a:solidFill>
            <a:srgbClr val="FFFFFF"/>
          </a:solidFill>
          <a:ln w="15875">
            <a:solidFill>
              <a:srgbClr val="1F3864"/>
            </a:solidFill>
          </a:ln>
        </p:spPr>
        <p:txBody>
          <a:bodyPr wrap="square" lIns="38100" tIns="38100" rIns="38100" bIns="38100" rtlCol="0" anchor="ctr"/>
          <a:lstStyle/>
          <a:p>
            <a:pPr algn="ctr" indent="0" marL="0">
              <a:buNone/>
            </a:pPr>
            <a:r>
              <a:rPr lang="en-US" sz="1000" b="1" dirty="0">
                <a:solidFill>
                  <a:srgbClr val="1F3864"/>
                </a:solidFill>
              </a:rPr>
              <a:t>Darkness noon–3 PM</a:t>
            </a:r>
            <a:endParaRPr lang="en-US" sz="1000" dirty="0"/>
          </a:p>
          <a:p>
            <a:pPr algn="ctr" indent="0" marL="0">
              <a:buNone/>
            </a:pPr>
            <a:r>
              <a:rPr lang="en-US" sz="1000" b="1" dirty="0">
                <a:solidFill>
                  <a:srgbClr val="1F3864"/>
                </a:solidFill>
              </a:rPr>
              <a:t>Partial lunar eclipse</a:t>
            </a:r>
            <a:endParaRPr lang="en-US" sz="1000" dirty="0"/>
          </a:p>
          <a:p>
            <a:pPr algn="ctr" indent="0" marL="0">
              <a:buNone/>
            </a:pPr>
            <a:r>
              <a:rPr lang="en-US" sz="1000" b="1" dirty="0">
                <a:solidFill>
                  <a:srgbClr val="1F3864"/>
                </a:solidFill>
              </a:rPr>
              <a:t>at sundown*</a:t>
            </a:r>
            <a:endParaRPr lang="en-US" sz="1000" dirty="0"/>
          </a:p>
        </p:txBody>
      </p:sp>
      <p:sp>
        <p:nvSpPr>
          <p:cNvPr id="20" name="Text 17"/>
          <p:cNvSpPr txBox="1"/>
          <p:nvPr/>
        </p:nvSpPr>
        <p:spPr>
          <a:xfrm>
            <a:off x="548640" y="5760720"/>
            <a:ext cx="8229600" cy="502920"/>
          </a:xfrm>
          <a:prstGeom prst="rect">
            <a:avLst/>
          </a:prstGeom>
          <a:noFill/>
          <a:ln/>
        </p:spPr>
        <p:txBody>
          <a:bodyPr wrap="square" lIns="0" tIns="0" rIns="0" bIns="0" rtlCol="0" anchor="t"/>
          <a:lstStyle/>
          <a:p>
            <a:pPr algn="l" indent="0" marL="0">
              <a:buNone/>
            </a:pPr>
            <a:r>
              <a:rPr lang="en-US" sz="1100" i="1" dirty="0">
                <a:solidFill>
                  <a:schemeClr val="accent6"/>
                </a:solidFill>
              </a:rPr>
              <a:t>* An independently confirmed astronomical event, not referenced in Scripture and not a fulfillment of Joel 2:31, which belongs to the Day of the LORD (Section II.G).</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11155680" cy="621792"/>
          </a:xfrm>
          <a:prstGeom prst="rect">
            <a:avLst/>
          </a:prstGeom>
          <a:noFill/>
          <a:ln/>
        </p:spPr>
        <p:txBody>
          <a:bodyPr wrap="square" lIns="0" tIns="0" rIns="0" bIns="0" rtlCol="0" anchor="ctr"/>
          <a:lstStyle/>
          <a:p>
            <a:pPr algn="l" indent="0" marL="0">
              <a:buNone/>
            </a:pPr>
            <a:r>
              <a:rPr lang="en-US" sz="3400" b="1" dirty="0">
                <a:solidFill>
                  <a:srgbClr val="1F3864"/>
                </a:solidFill>
              </a:rPr>
              <a:t>Daniel’s Seventy Weeks</a:t>
            </a:r>
            <a:endParaRPr lang="en-US" sz="3400" dirty="0"/>
          </a:p>
        </p:txBody>
      </p:sp>
      <p:sp>
        <p:nvSpPr>
          <p:cNvPr id="3" name="Text 1"/>
          <p:cNvSpPr/>
          <p:nvPr>
            <p:ph idx="102" type="body" hasCustomPrompt="1"/>
          </p:nvPr>
        </p:nvSpPr>
        <p:spPr>
          <a:xfrm>
            <a:off x="502920" y="914400"/>
            <a:ext cx="11155680" cy="347472"/>
          </a:xfrm>
          <a:prstGeom prst="rect">
            <a:avLst/>
          </a:prstGeom>
          <a:noFill/>
          <a:ln/>
        </p:spPr>
        <p:txBody>
          <a:bodyPr wrap="square" lIns="0" tIns="0" rIns="0" bIns="0" rtlCol="0" anchor="ctr"/>
          <a:lstStyle/>
          <a:p>
            <a:pPr indent="0" marL="0">
              <a:buNone/>
            </a:pPr>
            <a:r>
              <a:rPr lang="en-US" sz="1400" i="1" dirty="0">
                <a:solidFill>
                  <a:srgbClr val="6B7A8F"/>
                </a:solidFill>
              </a:rPr>
              <a:t>Daniel 9:24–27  ·  70 × 7 = 490 prophetic years  ·  dates follow Hoehner (Section II.F)  ·  not to scale</a:t>
            </a:r>
            <a:endParaRPr lang="en-US" sz="1400" dirty="0"/>
          </a:p>
        </p:txBody>
      </p:sp>
      <p:sp>
        <p:nvSpPr>
          <p:cNvPr id="5" name="Text 2"/>
          <p:cNvSpPr txBox="1"/>
          <p:nvPr/>
        </p:nvSpPr>
        <p:spPr>
          <a:xfrm>
            <a:off x="731520" y="2788920"/>
            <a:ext cx="1417320" cy="731520"/>
          </a:xfrm>
          <a:prstGeom prst="rect">
            <a:avLst/>
          </a:prstGeom>
          <a:solidFill>
            <a:schemeClr val="accent1"/>
          </a:solidFill>
          <a:ln/>
        </p:spPr>
        <p:txBody>
          <a:bodyPr wrap="square" lIns="38100" tIns="38100" rIns="38100" bIns="38100" rtlCol="0" anchor="ctr"/>
          <a:lstStyle/>
          <a:p>
            <a:pPr algn="ctr" indent="0" marL="0">
              <a:buNone/>
            </a:pPr>
            <a:r>
              <a:rPr lang="en-US" sz="1300" b="1" dirty="0">
                <a:solidFill>
                  <a:schemeClr val="bg1"/>
                </a:solidFill>
              </a:rPr>
              <a:t>7 weeks</a:t>
            </a:r>
            <a:endParaRPr lang="en-US" sz="1300" dirty="0"/>
          </a:p>
          <a:p>
            <a:pPr algn="ctr" indent="0" marL="0">
              <a:buNone/>
            </a:pPr>
            <a:r>
              <a:rPr lang="en-US" sz="1300" b="1" dirty="0">
                <a:solidFill>
                  <a:schemeClr val="bg1"/>
                </a:solidFill>
              </a:rPr>
              <a:t>49 years</a:t>
            </a:r>
            <a:endParaRPr lang="en-US" sz="1300" dirty="0"/>
          </a:p>
        </p:txBody>
      </p:sp>
      <p:sp>
        <p:nvSpPr>
          <p:cNvPr id="6" name="Text 3"/>
          <p:cNvSpPr txBox="1"/>
          <p:nvPr/>
        </p:nvSpPr>
        <p:spPr>
          <a:xfrm>
            <a:off x="2148840" y="2788920"/>
            <a:ext cx="3749040" cy="731520"/>
          </a:xfrm>
          <a:prstGeom prst="rect">
            <a:avLst/>
          </a:prstGeom>
          <a:solidFill>
            <a:schemeClr val="accent1"/>
          </a:solidFill>
          <a:ln/>
        </p:spPr>
        <p:txBody>
          <a:bodyPr wrap="square" lIns="38100" tIns="38100" rIns="38100" bIns="38100" rtlCol="0" anchor="ctr"/>
          <a:lstStyle/>
          <a:p>
            <a:pPr algn="ctr" indent="0" marL="0">
              <a:buNone/>
            </a:pPr>
            <a:r>
              <a:rPr lang="en-US" sz="1300" b="1" dirty="0">
                <a:solidFill>
                  <a:schemeClr val="bg1"/>
                </a:solidFill>
              </a:rPr>
              <a:t>62 weeks</a:t>
            </a:r>
            <a:endParaRPr lang="en-US" sz="1300" dirty="0"/>
          </a:p>
          <a:p>
            <a:pPr algn="ctr" indent="0" marL="0">
              <a:buNone/>
            </a:pPr>
            <a:r>
              <a:rPr lang="en-US" sz="1300" b="1" dirty="0">
                <a:solidFill>
                  <a:schemeClr val="bg1"/>
                </a:solidFill>
              </a:rPr>
              <a:t>434 years</a:t>
            </a:r>
            <a:endParaRPr lang="en-US" sz="1300" dirty="0"/>
          </a:p>
        </p:txBody>
      </p:sp>
      <p:sp>
        <p:nvSpPr>
          <p:cNvPr id="7" name="Text 4"/>
          <p:cNvSpPr txBox="1"/>
          <p:nvPr/>
        </p:nvSpPr>
        <p:spPr>
          <a:xfrm>
            <a:off x="5897880" y="2788920"/>
            <a:ext cx="2834640" cy="731520"/>
          </a:xfrm>
          <a:prstGeom prst="rect">
            <a:avLst/>
          </a:prstGeom>
          <a:solidFill>
            <a:srgbClr val="FFFFFF"/>
          </a:solidFill>
          <a:ln w="19050">
            <a:solidFill>
              <a:srgbClr val="375623"/>
            </a:solidFill>
            <a:prstDash val="dash"/>
          </a:ln>
        </p:spPr>
        <p:txBody>
          <a:bodyPr wrap="square" lIns="38100" tIns="38100" rIns="38100" bIns="38100" rtlCol="0" anchor="ctr"/>
          <a:lstStyle/>
          <a:p>
            <a:pPr algn="ctr" indent="0" marL="0">
              <a:buNone/>
            </a:pPr>
            <a:r>
              <a:rPr lang="en-US" sz="1300" b="1" dirty="0">
                <a:solidFill>
                  <a:schemeClr val="accent2"/>
                </a:solidFill>
              </a:rPr>
              <a:t>THE GAP — the Church Age</a:t>
            </a:r>
            <a:endParaRPr lang="en-US" sz="1300" dirty="0"/>
          </a:p>
          <a:p>
            <a:pPr algn="ctr" indent="0" marL="0">
              <a:buNone/>
            </a:pPr>
            <a:r>
              <a:rPr lang="en-US" sz="1300" b="1" dirty="0">
                <a:solidFill>
                  <a:schemeClr val="accent2"/>
                </a:solidFill>
              </a:rPr>
              <a:t>Israel’s prophetic clock paused</a:t>
            </a:r>
            <a:endParaRPr lang="en-US" sz="1300" dirty="0"/>
          </a:p>
        </p:txBody>
      </p:sp>
      <p:sp>
        <p:nvSpPr>
          <p:cNvPr id="8" name="Text 5"/>
          <p:cNvSpPr txBox="1"/>
          <p:nvPr/>
        </p:nvSpPr>
        <p:spPr>
          <a:xfrm>
            <a:off x="8732520" y="2788920"/>
            <a:ext cx="914400" cy="731520"/>
          </a:xfrm>
          <a:prstGeom prst="rect">
            <a:avLst/>
          </a:prstGeom>
          <a:solidFill>
            <a:schemeClr val="accent4"/>
          </a:solidFill>
          <a:ln/>
        </p:spPr>
        <p:txBody>
          <a:bodyPr wrap="square" lIns="38100" tIns="38100" rIns="38100" bIns="38100" rtlCol="0" anchor="ctr"/>
          <a:lstStyle/>
          <a:p>
            <a:pPr algn="ctr" indent="0" marL="0">
              <a:buNone/>
            </a:pPr>
            <a:r>
              <a:rPr lang="en-US" sz="1200" b="1" dirty="0">
                <a:solidFill>
                  <a:schemeClr val="bg1"/>
                </a:solidFill>
              </a:rPr>
              <a:t>3½ yrs</a:t>
            </a:r>
            <a:endParaRPr lang="en-US" sz="1200" dirty="0"/>
          </a:p>
        </p:txBody>
      </p:sp>
      <p:sp>
        <p:nvSpPr>
          <p:cNvPr id="9" name="Text 6"/>
          <p:cNvSpPr txBox="1"/>
          <p:nvPr/>
        </p:nvSpPr>
        <p:spPr>
          <a:xfrm>
            <a:off x="9646920" y="2788920"/>
            <a:ext cx="914400" cy="731520"/>
          </a:xfrm>
          <a:prstGeom prst="rect">
            <a:avLst/>
          </a:prstGeom>
          <a:solidFill>
            <a:schemeClr val="accent4"/>
          </a:solidFill>
          <a:ln/>
        </p:spPr>
        <p:txBody>
          <a:bodyPr wrap="square" lIns="38100" tIns="38100" rIns="38100" bIns="38100" rtlCol="0" anchor="ctr"/>
          <a:lstStyle/>
          <a:p>
            <a:pPr algn="ctr" indent="0" marL="0">
              <a:buNone/>
            </a:pPr>
            <a:r>
              <a:rPr lang="en-US" sz="1200" b="1" dirty="0">
                <a:solidFill>
                  <a:schemeClr val="bg1"/>
                </a:solidFill>
              </a:rPr>
              <a:t>3½ yrs</a:t>
            </a:r>
            <a:endParaRPr lang="en-US" sz="1200" dirty="0"/>
          </a:p>
        </p:txBody>
      </p:sp>
      <p:sp>
        <p:nvSpPr>
          <p:cNvPr id="10" name="Shape 7"/>
          <p:cNvSpPr/>
          <p:nvPr/>
        </p:nvSpPr>
        <p:spPr>
          <a:xfrm>
            <a:off x="9646920" y="2788920"/>
            <a:ext cx="0" cy="731520"/>
          </a:xfrm>
          <a:prstGeom prst="line">
            <a:avLst/>
          </a:prstGeom>
          <a:noFill/>
          <a:ln w="25400">
            <a:solidFill>
              <a:srgbClr val="FAF7EF"/>
            </a:solidFill>
            <a:prstDash val="solid"/>
          </a:ln>
        </p:spPr>
      </p:sp>
      <p:sp>
        <p:nvSpPr>
          <p:cNvPr id="11" name="Text 8"/>
          <p:cNvSpPr txBox="1"/>
          <p:nvPr/>
        </p:nvSpPr>
        <p:spPr>
          <a:xfrm>
            <a:off x="10652760" y="2926080"/>
            <a:ext cx="1005840" cy="457200"/>
          </a:xfrm>
          <a:prstGeom prst="roundRect">
            <a:avLst>
              <a:gd name="adj" fmla="val 16000"/>
            </a:avLst>
          </a:prstGeom>
          <a:solidFill>
            <a:schemeClr val="accent3"/>
          </a:solidFill>
          <a:ln/>
        </p:spPr>
        <p:txBody>
          <a:bodyPr wrap="square" lIns="38100" tIns="38100" rIns="38100" bIns="38100" rtlCol="0" anchor="ctr"/>
          <a:lstStyle/>
          <a:p>
            <a:pPr algn="ctr" indent="0" marL="0">
              <a:buNone/>
            </a:pPr>
            <a:r>
              <a:rPr lang="en-US" sz="1200" b="1" dirty="0">
                <a:solidFill>
                  <a:schemeClr val="bg1"/>
                </a:solidFill>
              </a:rPr>
              <a:t>Kingdom</a:t>
            </a:r>
            <a:endParaRPr lang="en-US" sz="1200" dirty="0"/>
          </a:p>
        </p:txBody>
      </p:sp>
      <p:sp>
        <p:nvSpPr>
          <p:cNvPr id="12" name="Shape 9"/>
          <p:cNvSpPr/>
          <p:nvPr/>
        </p:nvSpPr>
        <p:spPr>
          <a:xfrm>
            <a:off x="731520" y="2331720"/>
            <a:ext cx="0" cy="128016"/>
          </a:xfrm>
          <a:prstGeom prst="line">
            <a:avLst/>
          </a:prstGeom>
          <a:noFill/>
          <a:ln w="15875">
            <a:solidFill>
              <a:srgbClr val="2E5496"/>
            </a:solidFill>
            <a:prstDash val="solid"/>
          </a:ln>
        </p:spPr>
      </p:sp>
      <p:sp>
        <p:nvSpPr>
          <p:cNvPr id="13" name="Shape 10"/>
          <p:cNvSpPr/>
          <p:nvPr/>
        </p:nvSpPr>
        <p:spPr>
          <a:xfrm>
            <a:off x="5897880" y="2331720"/>
            <a:ext cx="0" cy="128016"/>
          </a:xfrm>
          <a:prstGeom prst="line">
            <a:avLst/>
          </a:prstGeom>
          <a:noFill/>
          <a:ln w="15875">
            <a:solidFill>
              <a:srgbClr val="2E5496"/>
            </a:solidFill>
            <a:prstDash val="solid"/>
          </a:ln>
        </p:spPr>
      </p:sp>
      <p:sp>
        <p:nvSpPr>
          <p:cNvPr id="14" name="Shape 11"/>
          <p:cNvSpPr/>
          <p:nvPr/>
        </p:nvSpPr>
        <p:spPr>
          <a:xfrm>
            <a:off x="731520" y="2331720"/>
            <a:ext cx="5166360" cy="0"/>
          </a:xfrm>
          <a:prstGeom prst="line">
            <a:avLst/>
          </a:prstGeom>
          <a:noFill/>
          <a:ln w="19050">
            <a:solidFill>
              <a:srgbClr val="2E5496"/>
            </a:solidFill>
            <a:prstDash val="solid"/>
          </a:ln>
        </p:spPr>
      </p:sp>
      <p:sp>
        <p:nvSpPr>
          <p:cNvPr id="15" name="Text 12"/>
          <p:cNvSpPr txBox="1"/>
          <p:nvPr/>
        </p:nvSpPr>
        <p:spPr>
          <a:xfrm>
            <a:off x="731520" y="2002536"/>
            <a:ext cx="5166360" cy="292608"/>
          </a:xfrm>
          <a:prstGeom prst="rect">
            <a:avLst/>
          </a:prstGeom>
          <a:noFill/>
          <a:ln/>
        </p:spPr>
        <p:txBody>
          <a:bodyPr wrap="square" lIns="0" tIns="0" rIns="0" bIns="0" rtlCol="0" anchor="b"/>
          <a:lstStyle/>
          <a:p>
            <a:pPr algn="ctr" indent="0" marL="0">
              <a:buNone/>
            </a:pPr>
            <a:r>
              <a:rPr lang="en-US" sz="1200" b="1" dirty="0">
                <a:solidFill>
                  <a:srgbClr val="2E5496"/>
                </a:solidFill>
              </a:rPr>
              <a:t>69 weeks = 483 prophetic years = 173,880 days</a:t>
            </a:r>
            <a:endParaRPr lang="en-US" sz="1200" dirty="0"/>
          </a:p>
        </p:txBody>
      </p:sp>
      <p:sp>
        <p:nvSpPr>
          <p:cNvPr id="16" name="Shape 13"/>
          <p:cNvSpPr/>
          <p:nvPr/>
        </p:nvSpPr>
        <p:spPr>
          <a:xfrm>
            <a:off x="8732520" y="2331720"/>
            <a:ext cx="0" cy="128016"/>
          </a:xfrm>
          <a:prstGeom prst="line">
            <a:avLst/>
          </a:prstGeom>
          <a:noFill/>
          <a:ln w="15875">
            <a:solidFill>
              <a:srgbClr val="8B2E2E"/>
            </a:solidFill>
            <a:prstDash val="solid"/>
          </a:ln>
        </p:spPr>
      </p:sp>
      <p:sp>
        <p:nvSpPr>
          <p:cNvPr id="17" name="Shape 14"/>
          <p:cNvSpPr/>
          <p:nvPr/>
        </p:nvSpPr>
        <p:spPr>
          <a:xfrm>
            <a:off x="10561320" y="2331720"/>
            <a:ext cx="0" cy="128016"/>
          </a:xfrm>
          <a:prstGeom prst="line">
            <a:avLst/>
          </a:prstGeom>
          <a:noFill/>
          <a:ln w="15875">
            <a:solidFill>
              <a:srgbClr val="8B2E2E"/>
            </a:solidFill>
            <a:prstDash val="solid"/>
          </a:ln>
        </p:spPr>
      </p:sp>
      <p:sp>
        <p:nvSpPr>
          <p:cNvPr id="18" name="Shape 15"/>
          <p:cNvSpPr/>
          <p:nvPr/>
        </p:nvSpPr>
        <p:spPr>
          <a:xfrm>
            <a:off x="8732520" y="2331720"/>
            <a:ext cx="1828800" cy="0"/>
          </a:xfrm>
          <a:prstGeom prst="line">
            <a:avLst/>
          </a:prstGeom>
          <a:noFill/>
          <a:ln w="19050">
            <a:solidFill>
              <a:srgbClr val="8B2E2E"/>
            </a:solidFill>
            <a:prstDash val="solid"/>
          </a:ln>
        </p:spPr>
      </p:sp>
      <p:sp>
        <p:nvSpPr>
          <p:cNvPr id="19" name="Text 16"/>
          <p:cNvSpPr txBox="1"/>
          <p:nvPr/>
        </p:nvSpPr>
        <p:spPr>
          <a:xfrm>
            <a:off x="8732520" y="2002536"/>
            <a:ext cx="1828800" cy="292608"/>
          </a:xfrm>
          <a:prstGeom prst="rect">
            <a:avLst/>
          </a:prstGeom>
          <a:noFill/>
          <a:ln/>
        </p:spPr>
        <p:txBody>
          <a:bodyPr wrap="square" lIns="0" tIns="0" rIns="0" bIns="0" rtlCol="0" anchor="b"/>
          <a:lstStyle/>
          <a:p>
            <a:pPr algn="ctr" indent="0" marL="0">
              <a:buNone/>
            </a:pPr>
            <a:r>
              <a:rPr lang="en-US" sz="1200" b="1" dirty="0">
                <a:solidFill>
                  <a:srgbClr val="8B2E2E"/>
                </a:solidFill>
              </a:rPr>
              <a:t>70th week — future</a:t>
            </a:r>
            <a:endParaRPr lang="en-US" sz="1200" dirty="0"/>
          </a:p>
        </p:txBody>
      </p:sp>
      <p:sp>
        <p:nvSpPr>
          <p:cNvPr id="20" name="Shape 17"/>
          <p:cNvSpPr/>
          <p:nvPr/>
        </p:nvSpPr>
        <p:spPr>
          <a:xfrm>
            <a:off x="731520" y="3520440"/>
            <a:ext cx="0" cy="274320"/>
          </a:xfrm>
          <a:prstGeom prst="line">
            <a:avLst/>
          </a:prstGeom>
          <a:noFill/>
          <a:ln w="15875">
            <a:solidFill>
              <a:srgbClr val="1F3864"/>
            </a:solidFill>
            <a:prstDash val="solid"/>
          </a:ln>
        </p:spPr>
      </p:sp>
      <p:sp>
        <p:nvSpPr>
          <p:cNvPr id="21" name="Shape 18"/>
          <p:cNvSpPr/>
          <p:nvPr/>
        </p:nvSpPr>
        <p:spPr>
          <a:xfrm>
            <a:off x="658368" y="3447288"/>
            <a:ext cx="146304" cy="146304"/>
          </a:xfrm>
          <a:prstGeom prst="ellipse">
            <a:avLst/>
          </a:prstGeom>
          <a:solidFill>
            <a:srgbClr val="1F3864"/>
          </a:solidFill>
          <a:ln w="12700">
            <a:solidFill>
              <a:srgbClr val="FAF7EF"/>
            </a:solidFill>
            <a:prstDash val="solid"/>
          </a:ln>
        </p:spPr>
      </p:sp>
      <p:sp>
        <p:nvSpPr>
          <p:cNvPr id="22" name="Text 19"/>
          <p:cNvSpPr txBox="1"/>
          <p:nvPr/>
        </p:nvSpPr>
        <p:spPr>
          <a:xfrm>
            <a:off x="731520" y="3867912"/>
            <a:ext cx="1417320" cy="685800"/>
          </a:xfrm>
          <a:prstGeom prst="rect">
            <a:avLst/>
          </a:prstGeom>
          <a:noFill/>
          <a:ln/>
        </p:spPr>
        <p:txBody>
          <a:bodyPr wrap="square" lIns="0" tIns="0" rIns="0" bIns="0" rtlCol="0" anchor="t"/>
          <a:lstStyle/>
          <a:p>
            <a:pPr algn="l" indent="0" marL="0">
              <a:buNone/>
            </a:pPr>
            <a:r>
              <a:rPr lang="en-US" sz="1100" dirty="0">
                <a:solidFill>
                  <a:schemeClr val="tx1"/>
                </a:solidFill>
              </a:rPr>
              <a:t>Decree to rebuild</a:t>
            </a:r>
            <a:endParaRPr lang="en-US" sz="1100" dirty="0"/>
          </a:p>
          <a:p>
            <a:pPr algn="l" indent="0" marL="0">
              <a:buNone/>
            </a:pPr>
            <a:r>
              <a:rPr lang="en-US" sz="1100" dirty="0">
                <a:solidFill>
                  <a:schemeClr val="tx1"/>
                </a:solidFill>
              </a:rPr>
              <a:t>Nisan 1, 444 BC</a:t>
            </a:r>
            <a:endParaRPr lang="en-US" sz="1100" dirty="0"/>
          </a:p>
          <a:p>
            <a:pPr algn="l" indent="0" marL="0">
              <a:buNone/>
            </a:pPr>
            <a:r>
              <a:rPr lang="en-US" sz="1100" dirty="0">
                <a:solidFill>
                  <a:schemeClr val="tx1"/>
                </a:solidFill>
              </a:rPr>
              <a:t>Neh 2:1–8</a:t>
            </a:r>
            <a:endParaRPr lang="en-US" sz="1100" dirty="0"/>
          </a:p>
        </p:txBody>
      </p:sp>
      <p:sp>
        <p:nvSpPr>
          <p:cNvPr id="23" name="Shape 20"/>
          <p:cNvSpPr/>
          <p:nvPr/>
        </p:nvSpPr>
        <p:spPr>
          <a:xfrm>
            <a:off x="2148840" y="3520440"/>
            <a:ext cx="0" cy="822960"/>
          </a:xfrm>
          <a:prstGeom prst="line">
            <a:avLst/>
          </a:prstGeom>
          <a:noFill/>
          <a:ln w="15875">
            <a:solidFill>
              <a:srgbClr val="1F3864"/>
            </a:solidFill>
            <a:prstDash val="solid"/>
          </a:ln>
        </p:spPr>
      </p:sp>
      <p:sp>
        <p:nvSpPr>
          <p:cNvPr id="24" name="Shape 21"/>
          <p:cNvSpPr/>
          <p:nvPr/>
        </p:nvSpPr>
        <p:spPr>
          <a:xfrm>
            <a:off x="2075688" y="3447288"/>
            <a:ext cx="146304" cy="146304"/>
          </a:xfrm>
          <a:prstGeom prst="ellipse">
            <a:avLst/>
          </a:prstGeom>
          <a:solidFill>
            <a:srgbClr val="1F3864"/>
          </a:solidFill>
          <a:ln w="12700">
            <a:solidFill>
              <a:srgbClr val="FAF7EF"/>
            </a:solidFill>
            <a:prstDash val="solid"/>
          </a:ln>
        </p:spPr>
      </p:sp>
      <p:sp>
        <p:nvSpPr>
          <p:cNvPr id="25" name="Text 22"/>
          <p:cNvSpPr txBox="1"/>
          <p:nvPr/>
        </p:nvSpPr>
        <p:spPr>
          <a:xfrm>
            <a:off x="1440180" y="4416552"/>
            <a:ext cx="1417320" cy="685800"/>
          </a:xfrm>
          <a:prstGeom prst="rect">
            <a:avLst/>
          </a:prstGeom>
          <a:noFill/>
          <a:ln/>
        </p:spPr>
        <p:txBody>
          <a:bodyPr wrap="square" lIns="0" tIns="0" rIns="0" bIns="0" rtlCol="0" anchor="t"/>
          <a:lstStyle/>
          <a:p>
            <a:pPr algn="ctr" indent="0" marL="0">
              <a:buNone/>
            </a:pPr>
            <a:r>
              <a:rPr lang="en-US" sz="1100" dirty="0">
                <a:solidFill>
                  <a:schemeClr val="tx1"/>
                </a:solidFill>
              </a:rPr>
              <a:t>Jerusalem rebuilt</a:t>
            </a:r>
            <a:endParaRPr lang="en-US" sz="1100" dirty="0"/>
          </a:p>
          <a:p>
            <a:pPr algn="ctr" indent="0" marL="0">
              <a:buNone/>
            </a:pPr>
            <a:r>
              <a:rPr lang="en-US" sz="1100" dirty="0">
                <a:solidFill>
                  <a:schemeClr val="tx1"/>
                </a:solidFill>
              </a:rPr>
              <a:t>c. 395 BC</a:t>
            </a:r>
            <a:endParaRPr lang="en-US" sz="1100" dirty="0"/>
          </a:p>
        </p:txBody>
      </p:sp>
      <p:sp>
        <p:nvSpPr>
          <p:cNvPr id="26" name="Shape 23"/>
          <p:cNvSpPr/>
          <p:nvPr/>
        </p:nvSpPr>
        <p:spPr>
          <a:xfrm>
            <a:off x="5897880" y="3520440"/>
            <a:ext cx="0" cy="274320"/>
          </a:xfrm>
          <a:prstGeom prst="line">
            <a:avLst/>
          </a:prstGeom>
          <a:noFill/>
          <a:ln w="15875">
            <a:solidFill>
              <a:srgbClr val="1F3864"/>
            </a:solidFill>
            <a:prstDash val="solid"/>
          </a:ln>
        </p:spPr>
      </p:sp>
      <p:sp>
        <p:nvSpPr>
          <p:cNvPr id="27" name="Shape 24"/>
          <p:cNvSpPr/>
          <p:nvPr/>
        </p:nvSpPr>
        <p:spPr>
          <a:xfrm>
            <a:off x="5824728" y="3447288"/>
            <a:ext cx="146304" cy="146304"/>
          </a:xfrm>
          <a:prstGeom prst="ellipse">
            <a:avLst/>
          </a:prstGeom>
          <a:solidFill>
            <a:srgbClr val="1F3864"/>
          </a:solidFill>
          <a:ln w="12700">
            <a:solidFill>
              <a:srgbClr val="FAF7EF"/>
            </a:solidFill>
            <a:prstDash val="solid"/>
          </a:ln>
        </p:spPr>
      </p:sp>
      <p:sp>
        <p:nvSpPr>
          <p:cNvPr id="28" name="Text 25"/>
          <p:cNvSpPr txBox="1"/>
          <p:nvPr/>
        </p:nvSpPr>
        <p:spPr>
          <a:xfrm>
            <a:off x="5189220" y="3867912"/>
            <a:ext cx="1417320" cy="685800"/>
          </a:xfrm>
          <a:prstGeom prst="rect">
            <a:avLst/>
          </a:prstGeom>
          <a:noFill/>
          <a:ln/>
        </p:spPr>
        <p:txBody>
          <a:bodyPr wrap="square" lIns="0" tIns="0" rIns="0" bIns="0" rtlCol="0" anchor="t"/>
          <a:lstStyle/>
          <a:p>
            <a:pPr algn="ctr" indent="0" marL="0">
              <a:buNone/>
            </a:pPr>
            <a:r>
              <a:rPr lang="en-US" sz="1100" dirty="0">
                <a:solidFill>
                  <a:schemeClr val="tx1"/>
                </a:solidFill>
              </a:rPr>
              <a:t>Triumphal Entry</a:t>
            </a:r>
            <a:endParaRPr lang="en-US" sz="1100" dirty="0"/>
          </a:p>
          <a:p>
            <a:pPr algn="ctr" indent="0" marL="0">
              <a:buNone/>
            </a:pPr>
            <a:r>
              <a:rPr lang="en-US" sz="1100" dirty="0">
                <a:solidFill>
                  <a:schemeClr val="tx1"/>
                </a:solidFill>
              </a:rPr>
              <a:t>Nisan 10, AD 33</a:t>
            </a:r>
            <a:endParaRPr lang="en-US" sz="1100" dirty="0"/>
          </a:p>
          <a:p>
            <a:pPr algn="ctr" indent="0" marL="0">
              <a:buNone/>
            </a:pPr>
            <a:r>
              <a:rPr lang="en-US" sz="1100" dirty="0">
                <a:solidFill>
                  <a:schemeClr val="tx1"/>
                </a:solidFill>
              </a:rPr>
              <a:t>“Messiah the Prince”</a:t>
            </a:r>
            <a:endParaRPr lang="en-US" sz="1100" dirty="0"/>
          </a:p>
        </p:txBody>
      </p:sp>
      <p:sp>
        <p:nvSpPr>
          <p:cNvPr id="29" name="Shape 26"/>
          <p:cNvSpPr/>
          <p:nvPr/>
        </p:nvSpPr>
        <p:spPr>
          <a:xfrm>
            <a:off x="6812280" y="3520440"/>
            <a:ext cx="0" cy="822960"/>
          </a:xfrm>
          <a:prstGeom prst="line">
            <a:avLst/>
          </a:prstGeom>
          <a:noFill/>
          <a:ln w="15875">
            <a:solidFill>
              <a:srgbClr val="375623"/>
            </a:solidFill>
            <a:prstDash val="dash"/>
          </a:ln>
        </p:spPr>
      </p:sp>
      <p:sp>
        <p:nvSpPr>
          <p:cNvPr id="30" name="Shape 27"/>
          <p:cNvSpPr/>
          <p:nvPr/>
        </p:nvSpPr>
        <p:spPr>
          <a:xfrm>
            <a:off x="6739128" y="4270248"/>
            <a:ext cx="146304" cy="146304"/>
          </a:xfrm>
          <a:prstGeom prst="ellipse">
            <a:avLst/>
          </a:prstGeom>
          <a:solidFill>
            <a:srgbClr val="375623"/>
          </a:solidFill>
          <a:ln w="12700">
            <a:solidFill>
              <a:srgbClr val="FAF7EF"/>
            </a:solidFill>
            <a:prstDash val="solid"/>
          </a:ln>
        </p:spPr>
      </p:sp>
      <p:sp>
        <p:nvSpPr>
          <p:cNvPr id="31" name="Text 28"/>
          <p:cNvSpPr txBox="1"/>
          <p:nvPr/>
        </p:nvSpPr>
        <p:spPr>
          <a:xfrm>
            <a:off x="6103620" y="4416552"/>
            <a:ext cx="1417320" cy="685800"/>
          </a:xfrm>
          <a:prstGeom prst="rect">
            <a:avLst/>
          </a:prstGeom>
          <a:noFill/>
          <a:ln/>
        </p:spPr>
        <p:txBody>
          <a:bodyPr wrap="square" lIns="0" tIns="0" rIns="0" bIns="0" rtlCol="0" anchor="t"/>
          <a:lstStyle/>
          <a:p>
            <a:pPr algn="ctr" indent="0" marL="0">
              <a:buNone/>
            </a:pPr>
            <a:r>
              <a:rPr lang="en-US" sz="1100" dirty="0">
                <a:solidFill>
                  <a:schemeClr val="tx1"/>
                </a:solidFill>
              </a:rPr>
              <a:t>Messiah “cut off”</a:t>
            </a:r>
            <a:endParaRPr lang="en-US" sz="1100" dirty="0"/>
          </a:p>
          <a:p>
            <a:pPr algn="ctr" indent="0" marL="0">
              <a:buNone/>
            </a:pPr>
            <a:r>
              <a:rPr lang="en-US" sz="1100" dirty="0">
                <a:solidFill>
                  <a:schemeClr val="tx1"/>
                </a:solidFill>
              </a:rPr>
              <a:t>Nisan 14, AD 33</a:t>
            </a:r>
            <a:endParaRPr lang="en-US" sz="1100" dirty="0"/>
          </a:p>
          <a:p>
            <a:pPr algn="ctr" indent="0" marL="0">
              <a:buNone/>
            </a:pPr>
            <a:r>
              <a:rPr lang="en-US" sz="1100" dirty="0">
                <a:solidFill>
                  <a:schemeClr val="tx1"/>
                </a:solidFill>
              </a:rPr>
              <a:t>Dan 9:26a</a:t>
            </a:r>
            <a:endParaRPr lang="en-US" sz="1100" dirty="0"/>
          </a:p>
        </p:txBody>
      </p:sp>
      <p:sp>
        <p:nvSpPr>
          <p:cNvPr id="32" name="Shape 29"/>
          <p:cNvSpPr/>
          <p:nvPr/>
        </p:nvSpPr>
        <p:spPr>
          <a:xfrm>
            <a:off x="7909560" y="3520440"/>
            <a:ext cx="0" cy="822960"/>
          </a:xfrm>
          <a:prstGeom prst="line">
            <a:avLst/>
          </a:prstGeom>
          <a:noFill/>
          <a:ln w="15875">
            <a:solidFill>
              <a:srgbClr val="375623"/>
            </a:solidFill>
            <a:prstDash val="dash"/>
          </a:ln>
        </p:spPr>
      </p:sp>
      <p:sp>
        <p:nvSpPr>
          <p:cNvPr id="33" name="Shape 30"/>
          <p:cNvSpPr/>
          <p:nvPr/>
        </p:nvSpPr>
        <p:spPr>
          <a:xfrm>
            <a:off x="7836408" y="4270248"/>
            <a:ext cx="146304" cy="146304"/>
          </a:xfrm>
          <a:prstGeom prst="ellipse">
            <a:avLst/>
          </a:prstGeom>
          <a:solidFill>
            <a:srgbClr val="375623"/>
          </a:solidFill>
          <a:ln w="12700">
            <a:solidFill>
              <a:srgbClr val="FAF7EF"/>
            </a:solidFill>
            <a:prstDash val="solid"/>
          </a:ln>
        </p:spPr>
      </p:sp>
      <p:sp>
        <p:nvSpPr>
          <p:cNvPr id="34" name="Text 31"/>
          <p:cNvSpPr txBox="1"/>
          <p:nvPr/>
        </p:nvSpPr>
        <p:spPr>
          <a:xfrm>
            <a:off x="7200900" y="4416552"/>
            <a:ext cx="1417320" cy="685800"/>
          </a:xfrm>
          <a:prstGeom prst="rect">
            <a:avLst/>
          </a:prstGeom>
          <a:noFill/>
          <a:ln/>
        </p:spPr>
        <p:txBody>
          <a:bodyPr wrap="square" lIns="0" tIns="0" rIns="0" bIns="0" rtlCol="0" anchor="t"/>
          <a:lstStyle/>
          <a:p>
            <a:pPr algn="ctr" indent="0" marL="0">
              <a:buNone/>
            </a:pPr>
            <a:r>
              <a:rPr lang="en-US" sz="1100" dirty="0">
                <a:solidFill>
                  <a:schemeClr val="tx1"/>
                </a:solidFill>
              </a:rPr>
              <a:t>City &amp; temple</a:t>
            </a:r>
            <a:endParaRPr lang="en-US" sz="1100" dirty="0"/>
          </a:p>
          <a:p>
            <a:pPr algn="ctr" indent="0" marL="0">
              <a:buNone/>
            </a:pPr>
            <a:r>
              <a:rPr lang="en-US" sz="1100" dirty="0">
                <a:solidFill>
                  <a:schemeClr val="tx1"/>
                </a:solidFill>
              </a:rPr>
              <a:t>destroyed</a:t>
            </a:r>
            <a:endParaRPr lang="en-US" sz="1100" dirty="0"/>
          </a:p>
          <a:p>
            <a:pPr algn="ctr" indent="0" marL="0">
              <a:buNone/>
            </a:pPr>
            <a:r>
              <a:rPr lang="en-US" sz="1100" dirty="0">
                <a:solidFill>
                  <a:schemeClr val="tx1"/>
                </a:solidFill>
              </a:rPr>
              <a:t>AD 70 · Dan 9:26b</a:t>
            </a:r>
            <a:endParaRPr lang="en-US" sz="1100" dirty="0"/>
          </a:p>
        </p:txBody>
      </p:sp>
      <p:sp>
        <p:nvSpPr>
          <p:cNvPr id="35" name="Shape 32"/>
          <p:cNvSpPr/>
          <p:nvPr/>
        </p:nvSpPr>
        <p:spPr>
          <a:xfrm>
            <a:off x="8732520" y="3520440"/>
            <a:ext cx="0" cy="274320"/>
          </a:xfrm>
          <a:prstGeom prst="line">
            <a:avLst/>
          </a:prstGeom>
          <a:noFill/>
          <a:ln w="15875">
            <a:solidFill>
              <a:srgbClr val="1F3864"/>
            </a:solidFill>
            <a:prstDash val="solid"/>
          </a:ln>
        </p:spPr>
      </p:sp>
      <p:sp>
        <p:nvSpPr>
          <p:cNvPr id="36" name="Shape 33"/>
          <p:cNvSpPr/>
          <p:nvPr/>
        </p:nvSpPr>
        <p:spPr>
          <a:xfrm>
            <a:off x="8659368" y="3447288"/>
            <a:ext cx="146304" cy="146304"/>
          </a:xfrm>
          <a:prstGeom prst="ellipse">
            <a:avLst/>
          </a:prstGeom>
          <a:solidFill>
            <a:srgbClr val="1F3864"/>
          </a:solidFill>
          <a:ln w="12700">
            <a:solidFill>
              <a:srgbClr val="FAF7EF"/>
            </a:solidFill>
            <a:prstDash val="solid"/>
          </a:ln>
        </p:spPr>
      </p:sp>
      <p:sp>
        <p:nvSpPr>
          <p:cNvPr id="37" name="Text 34"/>
          <p:cNvSpPr txBox="1"/>
          <p:nvPr/>
        </p:nvSpPr>
        <p:spPr>
          <a:xfrm>
            <a:off x="8023860" y="3867912"/>
            <a:ext cx="1417320" cy="685800"/>
          </a:xfrm>
          <a:prstGeom prst="rect">
            <a:avLst/>
          </a:prstGeom>
          <a:noFill/>
          <a:ln/>
        </p:spPr>
        <p:txBody>
          <a:bodyPr wrap="square" lIns="0" tIns="0" rIns="0" bIns="0" rtlCol="0" anchor="t"/>
          <a:lstStyle/>
          <a:p>
            <a:pPr algn="ctr" indent="0" marL="0">
              <a:buNone/>
            </a:pPr>
            <a:r>
              <a:rPr lang="en-US" sz="1100" dirty="0">
                <a:solidFill>
                  <a:schemeClr val="tx1"/>
                </a:solidFill>
              </a:rPr>
              <a:t>Covenant</a:t>
            </a:r>
            <a:endParaRPr lang="en-US" sz="1100" dirty="0"/>
          </a:p>
          <a:p>
            <a:pPr algn="ctr" indent="0" marL="0">
              <a:buNone/>
            </a:pPr>
            <a:r>
              <a:rPr lang="en-US" sz="1100" dirty="0">
                <a:solidFill>
                  <a:schemeClr val="tx1"/>
                </a:solidFill>
              </a:rPr>
              <a:t>confirmed</a:t>
            </a:r>
            <a:endParaRPr lang="en-US" sz="1100" dirty="0"/>
          </a:p>
          <a:p>
            <a:pPr algn="ctr" indent="0" marL="0">
              <a:buNone/>
            </a:pPr>
            <a:r>
              <a:rPr lang="en-US" sz="1100" dirty="0">
                <a:solidFill>
                  <a:schemeClr val="tx1"/>
                </a:solidFill>
              </a:rPr>
              <a:t>Dan 9:27a</a:t>
            </a:r>
            <a:endParaRPr lang="en-US" sz="1100" dirty="0"/>
          </a:p>
        </p:txBody>
      </p:sp>
      <p:sp>
        <p:nvSpPr>
          <p:cNvPr id="38" name="Shape 35"/>
          <p:cNvSpPr/>
          <p:nvPr/>
        </p:nvSpPr>
        <p:spPr>
          <a:xfrm>
            <a:off x="9646920" y="3520440"/>
            <a:ext cx="0" cy="822960"/>
          </a:xfrm>
          <a:prstGeom prst="line">
            <a:avLst/>
          </a:prstGeom>
          <a:noFill/>
          <a:ln w="15875">
            <a:solidFill>
              <a:srgbClr val="1F3864"/>
            </a:solidFill>
            <a:prstDash val="solid"/>
          </a:ln>
        </p:spPr>
      </p:sp>
      <p:sp>
        <p:nvSpPr>
          <p:cNvPr id="39" name="Shape 36"/>
          <p:cNvSpPr/>
          <p:nvPr/>
        </p:nvSpPr>
        <p:spPr>
          <a:xfrm>
            <a:off x="9573768" y="3447288"/>
            <a:ext cx="146304" cy="146304"/>
          </a:xfrm>
          <a:prstGeom prst="ellipse">
            <a:avLst/>
          </a:prstGeom>
          <a:solidFill>
            <a:srgbClr val="1F3864"/>
          </a:solidFill>
          <a:ln w="12700">
            <a:solidFill>
              <a:srgbClr val="FAF7EF"/>
            </a:solidFill>
            <a:prstDash val="solid"/>
          </a:ln>
        </p:spPr>
      </p:sp>
      <p:sp>
        <p:nvSpPr>
          <p:cNvPr id="40" name="Text 37"/>
          <p:cNvSpPr txBox="1"/>
          <p:nvPr/>
        </p:nvSpPr>
        <p:spPr>
          <a:xfrm>
            <a:off x="8938260" y="4416552"/>
            <a:ext cx="1417320" cy="685800"/>
          </a:xfrm>
          <a:prstGeom prst="rect">
            <a:avLst/>
          </a:prstGeom>
          <a:noFill/>
          <a:ln/>
        </p:spPr>
        <p:txBody>
          <a:bodyPr wrap="square" lIns="0" tIns="0" rIns="0" bIns="0" rtlCol="0" anchor="t"/>
          <a:lstStyle/>
          <a:p>
            <a:pPr algn="ctr" indent="0" marL="0">
              <a:buNone/>
            </a:pPr>
            <a:r>
              <a:rPr lang="en-US" sz="1100" dirty="0">
                <a:solidFill>
                  <a:schemeClr val="tx1"/>
                </a:solidFill>
              </a:rPr>
              <a:t>Abomination</a:t>
            </a:r>
            <a:endParaRPr lang="en-US" sz="1100" dirty="0"/>
          </a:p>
          <a:p>
            <a:pPr algn="ctr" indent="0" marL="0">
              <a:buNone/>
            </a:pPr>
            <a:r>
              <a:rPr lang="en-US" sz="1100" dirty="0">
                <a:solidFill>
                  <a:schemeClr val="tx1"/>
                </a:solidFill>
              </a:rPr>
              <a:t>Dan 9:27b</a:t>
            </a:r>
            <a:endParaRPr lang="en-US" sz="1100" dirty="0"/>
          </a:p>
        </p:txBody>
      </p:sp>
      <p:sp>
        <p:nvSpPr>
          <p:cNvPr id="41" name="Shape 38"/>
          <p:cNvSpPr/>
          <p:nvPr/>
        </p:nvSpPr>
        <p:spPr>
          <a:xfrm>
            <a:off x="10561320" y="3520440"/>
            <a:ext cx="0" cy="274320"/>
          </a:xfrm>
          <a:prstGeom prst="line">
            <a:avLst/>
          </a:prstGeom>
          <a:noFill/>
          <a:ln w="15875">
            <a:solidFill>
              <a:srgbClr val="1F3864"/>
            </a:solidFill>
            <a:prstDash val="solid"/>
          </a:ln>
        </p:spPr>
      </p:sp>
      <p:sp>
        <p:nvSpPr>
          <p:cNvPr id="42" name="Shape 39"/>
          <p:cNvSpPr/>
          <p:nvPr/>
        </p:nvSpPr>
        <p:spPr>
          <a:xfrm>
            <a:off x="10488168" y="3447288"/>
            <a:ext cx="146304" cy="146304"/>
          </a:xfrm>
          <a:prstGeom prst="ellipse">
            <a:avLst/>
          </a:prstGeom>
          <a:solidFill>
            <a:srgbClr val="1F3864"/>
          </a:solidFill>
          <a:ln w="12700">
            <a:solidFill>
              <a:srgbClr val="FAF7EF"/>
            </a:solidFill>
            <a:prstDash val="solid"/>
          </a:ln>
        </p:spPr>
      </p:sp>
      <p:sp>
        <p:nvSpPr>
          <p:cNvPr id="43" name="Text 40"/>
          <p:cNvSpPr txBox="1"/>
          <p:nvPr/>
        </p:nvSpPr>
        <p:spPr>
          <a:xfrm>
            <a:off x="9852660" y="3867912"/>
            <a:ext cx="1417320" cy="685800"/>
          </a:xfrm>
          <a:prstGeom prst="rect">
            <a:avLst/>
          </a:prstGeom>
          <a:noFill/>
          <a:ln/>
        </p:spPr>
        <p:txBody>
          <a:bodyPr wrap="square" lIns="0" tIns="0" rIns="0" bIns="0" rtlCol="0" anchor="t"/>
          <a:lstStyle/>
          <a:p>
            <a:pPr algn="ctr" indent="0" marL="0">
              <a:buNone/>
            </a:pPr>
            <a:r>
              <a:rPr lang="en-US" sz="1100" dirty="0">
                <a:solidFill>
                  <a:schemeClr val="tx1"/>
                </a:solidFill>
              </a:rPr>
              <a:t>Second Coming</a:t>
            </a:r>
            <a:endParaRPr lang="en-US" sz="1100" dirty="0"/>
          </a:p>
          <a:p>
            <a:pPr algn="ctr" indent="0" marL="0">
              <a:buNone/>
            </a:pPr>
            <a:r>
              <a:rPr lang="en-US" sz="1100" dirty="0">
                <a:solidFill>
                  <a:schemeClr val="tx1"/>
                </a:solidFill>
              </a:rPr>
              <a:t>six purposes</a:t>
            </a:r>
            <a:endParaRPr lang="en-US" sz="1100" dirty="0"/>
          </a:p>
          <a:p>
            <a:pPr algn="ctr" indent="0" marL="0">
              <a:buNone/>
            </a:pPr>
            <a:r>
              <a:rPr lang="en-US" sz="1100" dirty="0">
                <a:solidFill>
                  <a:schemeClr val="tx1"/>
                </a:solidFill>
              </a:rPr>
              <a:t>fulfilled (9:24)</a:t>
            </a:r>
            <a:endParaRPr lang="en-US" sz="1100" dirty="0"/>
          </a:p>
        </p:txBody>
      </p:sp>
      <p:sp>
        <p:nvSpPr>
          <p:cNvPr id="44" name="Text 41"/>
          <p:cNvSpPr txBox="1"/>
          <p:nvPr/>
        </p:nvSpPr>
        <p:spPr>
          <a:xfrm>
            <a:off x="731520" y="5806440"/>
            <a:ext cx="10698480" cy="320040"/>
          </a:xfrm>
          <a:prstGeom prst="rect">
            <a:avLst/>
          </a:prstGeom>
          <a:noFill/>
          <a:ln/>
        </p:spPr>
        <p:txBody>
          <a:bodyPr wrap="square" lIns="0" tIns="0" rIns="0" bIns="0" rtlCol="0" anchor="t"/>
          <a:lstStyle/>
          <a:p>
            <a:pPr algn="l" indent="0" marL="0">
              <a:buNone/>
            </a:pPr>
            <a:r>
              <a:rPr lang="en-US" sz="1200" i="1" dirty="0">
                <a:solidFill>
                  <a:schemeClr val="accent6"/>
                </a:solidFill>
              </a:rPr>
              <a:t>Events of Dan 9:26 fall after the 69th week and before the 70th — the grammar that establishes the gap.</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11155680" cy="621792"/>
          </a:xfrm>
          <a:prstGeom prst="rect">
            <a:avLst/>
          </a:prstGeom>
          <a:noFill/>
          <a:ln/>
        </p:spPr>
        <p:txBody>
          <a:bodyPr wrap="square" lIns="0" tIns="0" rIns="0" bIns="0" rtlCol="0" anchor="ctr"/>
          <a:lstStyle/>
          <a:p>
            <a:pPr algn="l" indent="0" marL="0">
              <a:buNone/>
            </a:pPr>
            <a:r>
              <a:rPr lang="en-US" sz="3400" b="1" dirty="0">
                <a:solidFill>
                  <a:srgbClr val="1F3864"/>
                </a:solidFill>
              </a:rPr>
              <a:t>The Two-Mountain View of Prophecy</a:t>
            </a:r>
            <a:endParaRPr lang="en-US" sz="3400" dirty="0"/>
          </a:p>
        </p:txBody>
      </p:sp>
      <p:sp>
        <p:nvSpPr>
          <p:cNvPr id="3" name="Text 1"/>
          <p:cNvSpPr/>
          <p:nvPr>
            <p:ph idx="102" type="body" hasCustomPrompt="1"/>
          </p:nvPr>
        </p:nvSpPr>
        <p:spPr>
          <a:xfrm>
            <a:off x="502920" y="914400"/>
            <a:ext cx="11155680" cy="347472"/>
          </a:xfrm>
          <a:prstGeom prst="rect">
            <a:avLst/>
          </a:prstGeom>
          <a:noFill/>
          <a:ln/>
        </p:spPr>
        <p:txBody>
          <a:bodyPr wrap="square" lIns="0" tIns="0" rIns="0" bIns="0" rtlCol="0" anchor="ctr"/>
          <a:lstStyle/>
          <a:p>
            <a:pPr indent="0" marL="0">
              <a:buNone/>
            </a:pPr>
            <a:r>
              <a:rPr lang="en-US" sz="1400" i="1" dirty="0">
                <a:solidFill>
                  <a:srgbClr val="6B7A8F"/>
                </a:solidFill>
              </a:rPr>
              <a:t>1 Peter 1:10–12  ·  the prophets saw “the sufferings of Christ and the glories to follow”</a:t>
            </a:r>
            <a:endParaRPr lang="en-US" sz="1400" dirty="0"/>
          </a:p>
        </p:txBody>
      </p:sp>
      <p:sp>
        <p:nvSpPr>
          <p:cNvPr id="5" name="Shape 2"/>
          <p:cNvSpPr/>
          <p:nvPr/>
        </p:nvSpPr>
        <p:spPr>
          <a:xfrm>
            <a:off x="4846320" y="3840480"/>
            <a:ext cx="3200400" cy="1005840"/>
          </a:xfrm>
          <a:prstGeom prst="rect">
            <a:avLst/>
          </a:prstGeom>
          <a:solidFill>
            <a:srgbClr val="375623">
              <a:alpha val="20000"/>
            </a:srgbClr>
          </a:solidFill>
          <a:ln w="12700">
            <a:solidFill>
              <a:srgbClr val="375623">
                <a:alpha val="0"/>
              </a:srgbClr>
            </a:solidFill>
            <a:prstDash val="solid"/>
          </a:ln>
        </p:spPr>
      </p:sp>
      <p:sp>
        <p:nvSpPr>
          <p:cNvPr id="6" name="Shape 3"/>
          <p:cNvSpPr/>
          <p:nvPr/>
        </p:nvSpPr>
        <p:spPr>
          <a:xfrm>
            <a:off x="2834640" y="2148840"/>
            <a:ext cx="2651760" cy="2697480"/>
          </a:xfrm>
          <a:prstGeom prst="triangle">
            <a:avLst/>
          </a:prstGeom>
          <a:solidFill>
            <a:srgbClr val="2E5496"/>
          </a:solidFill>
          <a:ln w="12700">
            <a:solidFill>
              <a:srgbClr val="2E5496"/>
            </a:solidFill>
            <a:prstDash val="solid"/>
          </a:ln>
        </p:spPr>
      </p:sp>
      <p:sp>
        <p:nvSpPr>
          <p:cNvPr id="7" name="Shape 4"/>
          <p:cNvSpPr/>
          <p:nvPr/>
        </p:nvSpPr>
        <p:spPr>
          <a:xfrm>
            <a:off x="7360920" y="1600200"/>
            <a:ext cx="3291840" cy="3246120"/>
          </a:xfrm>
          <a:prstGeom prst="triangle">
            <a:avLst/>
          </a:prstGeom>
          <a:solidFill>
            <a:srgbClr val="B8892B"/>
          </a:solidFill>
          <a:ln w="12700">
            <a:solidFill>
              <a:srgbClr val="B8892B"/>
            </a:solidFill>
            <a:prstDash val="solid"/>
          </a:ln>
        </p:spPr>
      </p:sp>
      <p:sp>
        <p:nvSpPr>
          <p:cNvPr id="8" name="Text 5"/>
          <p:cNvSpPr txBox="1"/>
          <p:nvPr/>
        </p:nvSpPr>
        <p:spPr>
          <a:xfrm>
            <a:off x="5120640" y="4023360"/>
            <a:ext cx="2651760" cy="548640"/>
          </a:xfrm>
          <a:prstGeom prst="rect">
            <a:avLst/>
          </a:prstGeom>
          <a:noFill/>
          <a:ln/>
        </p:spPr>
        <p:txBody>
          <a:bodyPr wrap="square" lIns="0" tIns="0" rIns="0" bIns="0" rtlCol="0" anchor="t"/>
          <a:lstStyle/>
          <a:p>
            <a:pPr algn="ctr" indent="0" marL="0">
              <a:buNone/>
            </a:pPr>
            <a:r>
              <a:rPr lang="en-US" sz="1200" b="1" dirty="0">
                <a:solidFill>
                  <a:schemeClr val="accent2"/>
                </a:solidFill>
              </a:rPr>
              <a:t>THE CHURCH AGE</a:t>
            </a:r>
            <a:endParaRPr lang="en-US" sz="1200" dirty="0"/>
          </a:p>
          <a:p>
            <a:pPr algn="ctr" indent="0" marL="0">
              <a:buNone/>
            </a:pPr>
            <a:r>
              <a:rPr lang="en-US" sz="1200" b="1" dirty="0">
                <a:solidFill>
                  <a:schemeClr val="accent2"/>
                </a:solidFill>
              </a:rPr>
              <a:t>the hidden valley</a:t>
            </a:r>
            <a:endParaRPr lang="en-US" sz="1200" dirty="0"/>
          </a:p>
        </p:txBody>
      </p:sp>
      <p:sp>
        <p:nvSpPr>
          <p:cNvPr id="9" name="Shape 6"/>
          <p:cNvSpPr/>
          <p:nvPr/>
        </p:nvSpPr>
        <p:spPr>
          <a:xfrm>
            <a:off x="548640" y="4846320"/>
            <a:ext cx="11109960" cy="0"/>
          </a:xfrm>
          <a:prstGeom prst="line">
            <a:avLst/>
          </a:prstGeom>
          <a:noFill/>
          <a:ln w="25400">
            <a:solidFill>
              <a:srgbClr val="1F3864"/>
            </a:solidFill>
            <a:prstDash val="solid"/>
          </a:ln>
        </p:spPr>
      </p:sp>
      <p:sp>
        <p:nvSpPr>
          <p:cNvPr id="10" name="Text 7"/>
          <p:cNvSpPr txBox="1"/>
          <p:nvPr/>
        </p:nvSpPr>
        <p:spPr>
          <a:xfrm>
            <a:off x="2331720" y="4956048"/>
            <a:ext cx="3657600" cy="502920"/>
          </a:xfrm>
          <a:prstGeom prst="rect">
            <a:avLst/>
          </a:prstGeom>
          <a:noFill/>
          <a:ln/>
        </p:spPr>
        <p:txBody>
          <a:bodyPr wrap="square" lIns="0" tIns="0" rIns="0" bIns="0" rtlCol="0" anchor="t"/>
          <a:lstStyle/>
          <a:p>
            <a:pPr algn="ctr" indent="0" marL="0">
              <a:buNone/>
            </a:pPr>
            <a:r>
              <a:rPr lang="en-US" sz="1200" b="1" dirty="0">
                <a:solidFill>
                  <a:schemeClr val="accent1"/>
                </a:solidFill>
              </a:rPr>
              <a:t>FIRST ADVENT — the sufferings</a:t>
            </a:r>
            <a:endParaRPr lang="en-US" sz="1200" dirty="0"/>
          </a:p>
          <a:p>
            <a:pPr algn="ctr" indent="0" marL="0">
              <a:buNone/>
            </a:pPr>
            <a:r>
              <a:rPr lang="en-US" sz="1200" b="1" dirty="0">
                <a:solidFill>
                  <a:schemeClr val="accent1"/>
                </a:solidFill>
              </a:rPr>
              <a:t>Isa 53 · Zech 9:9 · Isa 61:1–2a</a:t>
            </a:r>
            <a:endParaRPr lang="en-US" sz="1200" dirty="0"/>
          </a:p>
        </p:txBody>
      </p:sp>
      <p:sp>
        <p:nvSpPr>
          <p:cNvPr id="11" name="Text 8"/>
          <p:cNvSpPr txBox="1"/>
          <p:nvPr/>
        </p:nvSpPr>
        <p:spPr>
          <a:xfrm>
            <a:off x="5486400" y="4956048"/>
            <a:ext cx="1920240" cy="274320"/>
          </a:xfrm>
          <a:prstGeom prst="rect">
            <a:avLst/>
          </a:prstGeom>
          <a:noFill/>
          <a:ln/>
        </p:spPr>
        <p:txBody>
          <a:bodyPr wrap="square" lIns="0" tIns="0" rIns="0" bIns="0" rtlCol="0" anchor="t"/>
          <a:lstStyle/>
          <a:p>
            <a:pPr algn="ctr" indent="0" marL="0">
              <a:buNone/>
            </a:pPr>
            <a:r>
              <a:rPr lang="en-US" sz="1100" dirty="0">
                <a:solidFill>
                  <a:schemeClr val="accent2"/>
                </a:solidFill>
              </a:rPr>
              <a:t>Eph 3:4–6 · Col 1:26</a:t>
            </a:r>
            <a:endParaRPr lang="en-US" sz="1100" dirty="0"/>
          </a:p>
        </p:txBody>
      </p:sp>
      <p:sp>
        <p:nvSpPr>
          <p:cNvPr id="12" name="Text 9"/>
          <p:cNvSpPr txBox="1"/>
          <p:nvPr/>
        </p:nvSpPr>
        <p:spPr>
          <a:xfrm>
            <a:off x="7178040" y="4956048"/>
            <a:ext cx="3657600" cy="502920"/>
          </a:xfrm>
          <a:prstGeom prst="rect">
            <a:avLst/>
          </a:prstGeom>
          <a:noFill/>
          <a:ln/>
        </p:spPr>
        <p:txBody>
          <a:bodyPr wrap="square" lIns="0" tIns="0" rIns="0" bIns="0" rtlCol="0" anchor="t"/>
          <a:lstStyle/>
          <a:p>
            <a:pPr algn="ctr" indent="0" marL="0">
              <a:buNone/>
            </a:pPr>
            <a:r>
              <a:rPr lang="en-US" sz="1200" b="1" dirty="0">
                <a:solidFill>
                  <a:srgbClr val="8A6A1E"/>
                </a:solidFill>
              </a:rPr>
              <a:t>SECOND ADVENT — the glories</a:t>
            </a:r>
            <a:endParaRPr lang="en-US" sz="1200" dirty="0"/>
          </a:p>
          <a:p>
            <a:pPr algn="ctr" indent="0" marL="0">
              <a:buNone/>
            </a:pPr>
            <a:r>
              <a:rPr lang="en-US" sz="1200" b="1" dirty="0">
                <a:solidFill>
                  <a:srgbClr val="8A6A1E"/>
                </a:solidFill>
              </a:rPr>
              <a:t>Isa 11 · Zech 9:10 · Isa 61:2b</a:t>
            </a:r>
            <a:endParaRPr lang="en-US" sz="1200" dirty="0"/>
          </a:p>
        </p:txBody>
      </p:sp>
      <p:sp>
        <p:nvSpPr>
          <p:cNvPr id="13" name="Shape 10"/>
          <p:cNvSpPr/>
          <p:nvPr/>
        </p:nvSpPr>
        <p:spPr>
          <a:xfrm>
            <a:off x="731520" y="4160520"/>
            <a:ext cx="411480" cy="411480"/>
          </a:xfrm>
          <a:prstGeom prst="ellipse">
            <a:avLst/>
          </a:prstGeom>
          <a:solidFill>
            <a:srgbClr val="1F3864"/>
          </a:solidFill>
          <a:ln w="12700">
            <a:solidFill>
              <a:srgbClr val="1F3864"/>
            </a:solidFill>
            <a:prstDash val="solid"/>
          </a:ln>
        </p:spPr>
      </p:sp>
      <p:sp>
        <p:nvSpPr>
          <p:cNvPr id="14" name="Text 11"/>
          <p:cNvSpPr txBox="1"/>
          <p:nvPr/>
        </p:nvSpPr>
        <p:spPr>
          <a:xfrm>
            <a:off x="365760" y="4956048"/>
            <a:ext cx="1371600" cy="502920"/>
          </a:xfrm>
          <a:prstGeom prst="rect">
            <a:avLst/>
          </a:prstGeom>
          <a:noFill/>
          <a:ln/>
        </p:spPr>
        <p:txBody>
          <a:bodyPr wrap="square" lIns="0" tIns="0" rIns="0" bIns="0" rtlCol="0" anchor="t"/>
          <a:lstStyle/>
          <a:p>
            <a:pPr algn="ctr" indent="0" marL="0">
              <a:buNone/>
            </a:pPr>
            <a:r>
              <a:rPr lang="en-US" sz="1100" b="1" dirty="0">
                <a:solidFill>
                  <a:schemeClr val="tx2"/>
                </a:solidFill>
              </a:rPr>
              <a:t>OT prophet’s</a:t>
            </a:r>
            <a:endParaRPr lang="en-US" sz="1100" dirty="0"/>
          </a:p>
          <a:p>
            <a:pPr algn="ctr" indent="0" marL="0">
              <a:buNone/>
            </a:pPr>
            <a:r>
              <a:rPr lang="en-US" sz="1100" b="1" dirty="0">
                <a:solidFill>
                  <a:schemeClr val="tx2"/>
                </a:solidFill>
              </a:rPr>
              <a:t>vantage point</a:t>
            </a:r>
            <a:endParaRPr lang="en-US" sz="1100" dirty="0"/>
          </a:p>
        </p:txBody>
      </p:sp>
      <p:sp>
        <p:nvSpPr>
          <p:cNvPr id="15" name="Shape 12"/>
          <p:cNvSpPr/>
          <p:nvPr/>
        </p:nvSpPr>
        <p:spPr>
          <a:xfrm flipV="1">
            <a:off x="1143000" y="2148840"/>
            <a:ext cx="3017520" cy="2212848"/>
          </a:xfrm>
          <a:prstGeom prst="line">
            <a:avLst/>
          </a:prstGeom>
          <a:noFill/>
          <a:ln w="15875">
            <a:solidFill>
              <a:srgbClr val="6B7A8F"/>
            </a:solidFill>
            <a:prstDash val="dash"/>
          </a:ln>
        </p:spPr>
      </p:sp>
      <p:sp>
        <p:nvSpPr>
          <p:cNvPr id="16" name="Shape 13"/>
          <p:cNvSpPr/>
          <p:nvPr/>
        </p:nvSpPr>
        <p:spPr>
          <a:xfrm flipV="1">
            <a:off x="1143000" y="1600200"/>
            <a:ext cx="7863840" cy="2761488"/>
          </a:xfrm>
          <a:prstGeom prst="line">
            <a:avLst/>
          </a:prstGeom>
          <a:noFill/>
          <a:ln w="15875">
            <a:solidFill>
              <a:srgbClr val="6B7A8F"/>
            </a:solidFill>
            <a:prstDash val="dash"/>
          </a:ln>
        </p:spPr>
      </p:sp>
      <p:sp>
        <p:nvSpPr>
          <p:cNvPr id="17" name="Text 14"/>
          <p:cNvSpPr txBox="1"/>
          <p:nvPr/>
        </p:nvSpPr>
        <p:spPr>
          <a:xfrm>
            <a:off x="548640" y="5760720"/>
            <a:ext cx="11064240" cy="502920"/>
          </a:xfrm>
          <a:prstGeom prst="rect">
            <a:avLst/>
          </a:prstGeom>
          <a:noFill/>
          <a:ln/>
        </p:spPr>
        <p:txBody>
          <a:bodyPr wrap="square" lIns="0" tIns="0" rIns="0" bIns="0" rtlCol="0" anchor="t"/>
          <a:lstStyle/>
          <a:p>
            <a:pPr algn="l" indent="0" marL="0">
              <a:buNone/>
            </a:pPr>
            <a:r>
              <a:rPr lang="en-US" sz="1300" i="1" dirty="0">
                <a:solidFill>
                  <a:schemeClr val="tx1"/>
                </a:solidFill>
              </a:rPr>
              <a:t>From the prophet’s side the two peaks look like one event. The valley between them — the Church Age — was a mystery not revealed until the New Testament.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11155680" cy="621792"/>
          </a:xfrm>
          <a:prstGeom prst="rect">
            <a:avLst/>
          </a:prstGeom>
          <a:noFill/>
          <a:ln/>
        </p:spPr>
        <p:txBody>
          <a:bodyPr wrap="square" lIns="0" tIns="0" rIns="0" bIns="0" rtlCol="0" anchor="ctr"/>
          <a:lstStyle/>
          <a:p>
            <a:pPr algn="l" indent="0" marL="0">
              <a:buNone/>
            </a:pPr>
            <a:r>
              <a:rPr lang="en-US" sz="3400" b="1" dirty="0">
                <a:solidFill>
                  <a:srgbClr val="1F3864"/>
                </a:solidFill>
              </a:rPr>
              <a:t>Two Thousand Years in a Comma</a:t>
            </a:r>
            <a:endParaRPr lang="en-US" sz="3400" dirty="0"/>
          </a:p>
        </p:txBody>
      </p:sp>
      <p:sp>
        <p:nvSpPr>
          <p:cNvPr id="3" name="Text 1"/>
          <p:cNvSpPr/>
          <p:nvPr>
            <p:ph idx="102" type="body" hasCustomPrompt="1"/>
          </p:nvPr>
        </p:nvSpPr>
        <p:spPr>
          <a:xfrm>
            <a:off x="502920" y="914400"/>
            <a:ext cx="11155680" cy="347472"/>
          </a:xfrm>
          <a:prstGeom prst="rect">
            <a:avLst/>
          </a:prstGeom>
          <a:noFill/>
          <a:ln/>
        </p:spPr>
        <p:txBody>
          <a:bodyPr wrap="square" lIns="0" tIns="0" rIns="0" bIns="0" rtlCol="0" anchor="ctr"/>
          <a:lstStyle/>
          <a:p>
            <a:pPr indent="0" marL="0">
              <a:buNone/>
            </a:pPr>
            <a:r>
              <a:rPr lang="en-US" sz="1400" i="1" dirty="0">
                <a:solidFill>
                  <a:srgbClr val="6B7A8F"/>
                </a:solidFill>
              </a:rPr>
              <a:t>Isaiah 61:1–2 as Jesus read it in Nazareth  ·  Luke 4:16–21</a:t>
            </a:r>
            <a:endParaRPr lang="en-US" sz="1400" dirty="0"/>
          </a:p>
        </p:txBody>
      </p:sp>
      <p:sp>
        <p:nvSpPr>
          <p:cNvPr id="5" name="Text 2"/>
          <p:cNvSpPr txBox="1"/>
          <p:nvPr/>
        </p:nvSpPr>
        <p:spPr>
          <a:xfrm>
            <a:off x="548640" y="2194560"/>
            <a:ext cx="4846320" cy="1188720"/>
          </a:xfrm>
          <a:prstGeom prst="roundRect">
            <a:avLst>
              <a:gd name="adj" fmla="val 6154"/>
            </a:avLst>
          </a:prstGeom>
          <a:solidFill>
            <a:schemeClr val="accent1"/>
          </a:solidFill>
          <a:ln/>
        </p:spPr>
        <p:txBody>
          <a:bodyPr wrap="square" lIns="38100" tIns="38100" rIns="38100" bIns="38100" rtlCol="0" anchor="ctr"/>
          <a:lstStyle/>
          <a:p>
            <a:pPr algn="ctr" indent="0" marL="0">
              <a:buNone/>
            </a:pPr>
            <a:r>
              <a:rPr lang="en-US" sz="2000" b="1" dirty="0">
                <a:solidFill>
                  <a:schemeClr val="bg1"/>
                </a:solidFill>
              </a:rPr>
              <a:t>“…to proclaim the favorable year of the LORD,”</a:t>
            </a:r>
            <a:endParaRPr lang="en-US" sz="2000" dirty="0"/>
          </a:p>
        </p:txBody>
      </p:sp>
      <p:sp>
        <p:nvSpPr>
          <p:cNvPr id="6" name="Text 3"/>
          <p:cNvSpPr txBox="1"/>
          <p:nvPr/>
        </p:nvSpPr>
        <p:spPr>
          <a:xfrm>
            <a:off x="6812280" y="2194560"/>
            <a:ext cx="4846320" cy="1188720"/>
          </a:xfrm>
          <a:prstGeom prst="roundRect">
            <a:avLst>
              <a:gd name="adj" fmla="val 6154"/>
            </a:avLst>
          </a:prstGeom>
          <a:solidFill>
            <a:schemeClr val="accent4"/>
          </a:solidFill>
          <a:ln/>
        </p:spPr>
        <p:txBody>
          <a:bodyPr wrap="square" lIns="38100" tIns="38100" rIns="38100" bIns="38100" rtlCol="0" anchor="ctr"/>
          <a:lstStyle/>
          <a:p>
            <a:pPr algn="ctr" indent="0" marL="0">
              <a:buNone/>
            </a:pPr>
            <a:r>
              <a:rPr lang="en-US" sz="2000" b="1" dirty="0">
                <a:solidFill>
                  <a:schemeClr val="bg1"/>
                </a:solidFill>
              </a:rPr>
              <a:t>“and the day of vengeance of our God”</a:t>
            </a:r>
            <a:endParaRPr lang="en-US" sz="2000" dirty="0"/>
          </a:p>
        </p:txBody>
      </p:sp>
      <p:sp>
        <p:nvSpPr>
          <p:cNvPr id="7" name="Text 4"/>
          <p:cNvSpPr txBox="1"/>
          <p:nvPr/>
        </p:nvSpPr>
        <p:spPr>
          <a:xfrm>
            <a:off x="5440680" y="1737360"/>
            <a:ext cx="1325880" cy="1463040"/>
          </a:xfrm>
          <a:prstGeom prst="rect">
            <a:avLst/>
          </a:prstGeom>
          <a:noFill/>
          <a:ln/>
        </p:spPr>
        <p:txBody>
          <a:bodyPr wrap="square" lIns="0" tIns="0" rIns="0" bIns="0" rtlCol="0" anchor="ctr"/>
          <a:lstStyle/>
          <a:p>
            <a:pPr algn="ctr" indent="0" marL="0">
              <a:buNone/>
            </a:pPr>
            <a:r>
              <a:rPr lang="en-US" sz="9600" b="1" dirty="0">
                <a:solidFill>
                  <a:schemeClr val="accent3"/>
                </a:solidFill>
              </a:rPr>
              <a:t>,</a:t>
            </a:r>
            <a:endParaRPr lang="en-US" sz="9600" dirty="0"/>
          </a:p>
        </p:txBody>
      </p:sp>
      <p:sp>
        <p:nvSpPr>
          <p:cNvPr id="8" name="Text 5"/>
          <p:cNvSpPr txBox="1"/>
          <p:nvPr/>
        </p:nvSpPr>
        <p:spPr>
          <a:xfrm>
            <a:off x="548640" y="3456432"/>
            <a:ext cx="4846320" cy="274320"/>
          </a:xfrm>
          <a:prstGeom prst="rect">
            <a:avLst/>
          </a:prstGeom>
          <a:noFill/>
          <a:ln/>
        </p:spPr>
        <p:txBody>
          <a:bodyPr wrap="square" lIns="0" tIns="0" rIns="0" bIns="0" rtlCol="0" anchor="t"/>
          <a:lstStyle/>
          <a:p>
            <a:pPr algn="ctr" indent="0" marL="0">
              <a:buNone/>
            </a:pPr>
            <a:r>
              <a:rPr lang="en-US" sz="1200" b="1" dirty="0">
                <a:solidFill>
                  <a:schemeClr val="accent1"/>
                </a:solidFill>
              </a:rPr>
              <a:t>Isaiah 61:2a</a:t>
            </a:r>
            <a:endParaRPr lang="en-US" sz="1200" dirty="0"/>
          </a:p>
        </p:txBody>
      </p:sp>
      <p:sp>
        <p:nvSpPr>
          <p:cNvPr id="9" name="Text 6"/>
          <p:cNvSpPr txBox="1"/>
          <p:nvPr/>
        </p:nvSpPr>
        <p:spPr>
          <a:xfrm>
            <a:off x="6812280" y="3456432"/>
            <a:ext cx="4846320" cy="274320"/>
          </a:xfrm>
          <a:prstGeom prst="rect">
            <a:avLst/>
          </a:prstGeom>
          <a:noFill/>
          <a:ln/>
        </p:spPr>
        <p:txBody>
          <a:bodyPr wrap="square" lIns="0" tIns="0" rIns="0" bIns="0" rtlCol="0" anchor="t"/>
          <a:lstStyle/>
          <a:p>
            <a:pPr algn="ctr" indent="0" marL="0">
              <a:buNone/>
            </a:pPr>
            <a:r>
              <a:rPr lang="en-US" sz="1200" b="1" dirty="0">
                <a:solidFill>
                  <a:schemeClr val="accent4"/>
                </a:solidFill>
              </a:rPr>
              <a:t>Isaiah 61:2b</a:t>
            </a:r>
            <a:endParaRPr lang="en-US" sz="1200" dirty="0"/>
          </a:p>
        </p:txBody>
      </p:sp>
      <p:sp>
        <p:nvSpPr>
          <p:cNvPr id="10" name="Text 7"/>
          <p:cNvSpPr txBox="1"/>
          <p:nvPr/>
        </p:nvSpPr>
        <p:spPr>
          <a:xfrm>
            <a:off x="5074920" y="3429000"/>
            <a:ext cx="2057400" cy="685800"/>
          </a:xfrm>
          <a:prstGeom prst="roundRect">
            <a:avLst>
              <a:gd name="adj" fmla="val 10667"/>
            </a:avLst>
          </a:prstGeom>
          <a:solidFill>
            <a:schemeClr val="accent2"/>
          </a:solidFill>
          <a:ln/>
        </p:spPr>
        <p:txBody>
          <a:bodyPr wrap="square" lIns="38100" tIns="38100" rIns="38100" bIns="38100" rtlCol="0" anchor="ctr"/>
          <a:lstStyle/>
          <a:p>
            <a:pPr algn="ctr" indent="0" marL="0">
              <a:buNone/>
            </a:pPr>
            <a:r>
              <a:rPr lang="en-US" sz="1100" b="1" dirty="0">
                <a:solidFill>
                  <a:schemeClr val="bg1"/>
                </a:solidFill>
              </a:rPr>
              <a:t>THE CHURCH AGE</a:t>
            </a:r>
            <a:endParaRPr lang="en-US" sz="1100" dirty="0"/>
          </a:p>
          <a:p>
            <a:pPr algn="ctr" indent="0" marL="0">
              <a:buNone/>
            </a:pPr>
            <a:r>
              <a:rPr lang="en-US" sz="1100" b="1" dirty="0">
                <a:solidFill>
                  <a:schemeClr val="bg1"/>
                </a:solidFill>
              </a:rPr>
              <a:t>~2,000 years and counting</a:t>
            </a:r>
            <a:endParaRPr lang="en-US" sz="1100" dirty="0"/>
          </a:p>
        </p:txBody>
      </p:sp>
      <p:sp>
        <p:nvSpPr>
          <p:cNvPr id="11" name="Shape 8"/>
          <p:cNvSpPr/>
          <p:nvPr/>
        </p:nvSpPr>
        <p:spPr>
          <a:xfrm>
            <a:off x="548640" y="4206240"/>
            <a:ext cx="4846320" cy="1325880"/>
          </a:xfrm>
          <a:prstGeom prst="roundRect">
            <a:avLst>
              <a:gd name="adj" fmla="val 5517"/>
            </a:avLst>
          </a:prstGeom>
          <a:solidFill>
            <a:srgbClr val="FFFFFF"/>
          </a:solidFill>
          <a:ln w="15875">
            <a:solidFill>
              <a:srgbClr val="2E5496"/>
            </a:solidFill>
            <a:prstDash val="solid"/>
          </a:ln>
        </p:spPr>
      </p:sp>
      <p:sp>
        <p:nvSpPr>
          <p:cNvPr id="12" name="Text 9"/>
          <p:cNvSpPr txBox="1"/>
          <p:nvPr/>
        </p:nvSpPr>
        <p:spPr>
          <a:xfrm>
            <a:off x="731520" y="4297680"/>
            <a:ext cx="4480560" cy="292608"/>
          </a:xfrm>
          <a:prstGeom prst="rect">
            <a:avLst/>
          </a:prstGeom>
          <a:noFill/>
          <a:ln/>
        </p:spPr>
        <p:txBody>
          <a:bodyPr wrap="square" lIns="0" tIns="0" rIns="0" bIns="0" rtlCol="0" anchor="t"/>
          <a:lstStyle/>
          <a:p>
            <a:pPr algn="l" indent="0" marL="0">
              <a:buNone/>
            </a:pPr>
            <a:r>
              <a:rPr lang="en-US" sz="1400" b="1" dirty="0">
                <a:solidFill>
                  <a:srgbClr val="2E5496"/>
                </a:solidFill>
              </a:rPr>
              <a:t>FIRST ADVENT — fulfilled</a:t>
            </a:r>
            <a:endParaRPr lang="en-US" sz="1400" dirty="0"/>
          </a:p>
        </p:txBody>
      </p:sp>
      <p:sp>
        <p:nvSpPr>
          <p:cNvPr id="13" name="Text 10"/>
          <p:cNvSpPr txBox="1"/>
          <p:nvPr/>
        </p:nvSpPr>
        <p:spPr>
          <a:xfrm>
            <a:off x="731520" y="4617720"/>
            <a:ext cx="4480560" cy="868680"/>
          </a:xfrm>
          <a:prstGeom prst="rect">
            <a:avLst/>
          </a:prstGeom>
          <a:noFill/>
          <a:ln/>
        </p:spPr>
        <p:txBody>
          <a:bodyPr wrap="square" lIns="0" tIns="0" rIns="0" bIns="0" rtlCol="0" anchor="t"/>
          <a:lstStyle/>
          <a:p>
            <a:pPr algn="l" indent="0" marL="0">
              <a:buNone/>
            </a:pPr>
            <a:r>
              <a:rPr lang="en-US" sz="1200" dirty="0">
                <a:solidFill>
                  <a:schemeClr val="tx1"/>
                </a:solidFill>
              </a:rPr>
              <a:t>Jesus closed the scroll here and said, “Today this Scripture has been fulfilled in your hearing” (Luke 4:20–21).</a:t>
            </a:r>
            <a:endParaRPr lang="en-US" sz="1200" dirty="0"/>
          </a:p>
        </p:txBody>
      </p:sp>
      <p:sp>
        <p:nvSpPr>
          <p:cNvPr id="14" name="Shape 11"/>
          <p:cNvSpPr/>
          <p:nvPr/>
        </p:nvSpPr>
        <p:spPr>
          <a:xfrm>
            <a:off x="6812280" y="4206240"/>
            <a:ext cx="4846320" cy="1325880"/>
          </a:xfrm>
          <a:prstGeom prst="roundRect">
            <a:avLst>
              <a:gd name="adj" fmla="val 5517"/>
            </a:avLst>
          </a:prstGeom>
          <a:solidFill>
            <a:srgbClr val="FFFFFF"/>
          </a:solidFill>
          <a:ln w="15875">
            <a:solidFill>
              <a:srgbClr val="8B2E2E"/>
            </a:solidFill>
            <a:prstDash val="solid"/>
          </a:ln>
        </p:spPr>
      </p:sp>
      <p:sp>
        <p:nvSpPr>
          <p:cNvPr id="15" name="Text 12"/>
          <p:cNvSpPr txBox="1"/>
          <p:nvPr/>
        </p:nvSpPr>
        <p:spPr>
          <a:xfrm>
            <a:off x="6995160" y="4297680"/>
            <a:ext cx="4480560" cy="292608"/>
          </a:xfrm>
          <a:prstGeom prst="rect">
            <a:avLst/>
          </a:prstGeom>
          <a:noFill/>
          <a:ln/>
        </p:spPr>
        <p:txBody>
          <a:bodyPr wrap="square" lIns="0" tIns="0" rIns="0" bIns="0" rtlCol="0" anchor="t"/>
          <a:lstStyle/>
          <a:p>
            <a:pPr algn="l" indent="0" marL="0">
              <a:buNone/>
            </a:pPr>
            <a:r>
              <a:rPr lang="en-US" sz="1400" b="1" dirty="0">
                <a:solidFill>
                  <a:srgbClr val="8B2E2E"/>
                </a:solidFill>
              </a:rPr>
              <a:t>SECOND ADVENT — still future</a:t>
            </a:r>
            <a:endParaRPr lang="en-US" sz="1400" dirty="0"/>
          </a:p>
        </p:txBody>
      </p:sp>
      <p:sp>
        <p:nvSpPr>
          <p:cNvPr id="16" name="Text 13"/>
          <p:cNvSpPr txBox="1"/>
          <p:nvPr/>
        </p:nvSpPr>
        <p:spPr>
          <a:xfrm>
            <a:off x="6995160" y="4617720"/>
            <a:ext cx="4480560" cy="868680"/>
          </a:xfrm>
          <a:prstGeom prst="rect">
            <a:avLst/>
          </a:prstGeom>
          <a:noFill/>
          <a:ln/>
        </p:spPr>
        <p:txBody>
          <a:bodyPr wrap="square" lIns="0" tIns="0" rIns="0" bIns="0" rtlCol="0" anchor="t"/>
          <a:lstStyle/>
          <a:p>
            <a:pPr algn="l" indent="0" marL="0">
              <a:buNone/>
            </a:pPr>
            <a:r>
              <a:rPr lang="en-US" sz="1200" dirty="0">
                <a:solidFill>
                  <a:schemeClr val="tx1"/>
                </a:solidFill>
              </a:rPr>
              <a:t>The words Jesus left unread describe the judgment He brings at His return (Rev 19:11–15).</a:t>
            </a:r>
            <a:endParaRPr lang="en-US" sz="1200" dirty="0"/>
          </a:p>
        </p:txBody>
      </p:sp>
      <p:sp>
        <p:nvSpPr>
          <p:cNvPr id="17" name="Text 14"/>
          <p:cNvSpPr txBox="1"/>
          <p:nvPr/>
        </p:nvSpPr>
        <p:spPr>
          <a:xfrm>
            <a:off x="548640" y="1600200"/>
            <a:ext cx="4846320" cy="274320"/>
          </a:xfrm>
          <a:prstGeom prst="rect">
            <a:avLst/>
          </a:prstGeom>
          <a:noFill/>
          <a:ln/>
        </p:spPr>
        <p:txBody>
          <a:bodyPr wrap="square" lIns="0" tIns="0" rIns="0" bIns="0" rtlCol="0" anchor="t"/>
          <a:lstStyle/>
          <a:p>
            <a:pPr algn="r" indent="0" marL="0">
              <a:buNone/>
            </a:pPr>
            <a:r>
              <a:rPr lang="en-US" sz="1200" b="1" i="1" dirty="0">
                <a:solidFill>
                  <a:srgbClr val="8A6A1E"/>
                </a:solidFill>
              </a:rPr>
              <a:t>Jesus stopped reading here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11155680" cy="621792"/>
          </a:xfrm>
          <a:prstGeom prst="rect">
            <a:avLst/>
          </a:prstGeom>
          <a:noFill/>
          <a:ln/>
        </p:spPr>
        <p:txBody>
          <a:bodyPr wrap="square" lIns="0" tIns="0" rIns="0" bIns="0" rtlCol="0" anchor="ctr"/>
          <a:lstStyle/>
          <a:p>
            <a:pPr algn="l" indent="0" marL="0">
              <a:buNone/>
            </a:pPr>
            <a:r>
              <a:rPr lang="en-US" sz="3400" b="1" dirty="0">
                <a:solidFill>
                  <a:srgbClr val="1F3864"/>
                </a:solidFill>
              </a:rPr>
              <a:t>The Times of the Gentiles</a:t>
            </a:r>
            <a:endParaRPr lang="en-US" sz="3400" dirty="0"/>
          </a:p>
        </p:txBody>
      </p:sp>
      <p:sp>
        <p:nvSpPr>
          <p:cNvPr id="3" name="Text 1"/>
          <p:cNvSpPr/>
          <p:nvPr>
            <p:ph idx="102" type="body" hasCustomPrompt="1"/>
          </p:nvPr>
        </p:nvSpPr>
        <p:spPr>
          <a:xfrm>
            <a:off x="502920" y="914400"/>
            <a:ext cx="11155680" cy="347472"/>
          </a:xfrm>
          <a:prstGeom prst="rect">
            <a:avLst/>
          </a:prstGeom>
          <a:noFill/>
          <a:ln/>
        </p:spPr>
        <p:txBody>
          <a:bodyPr wrap="square" lIns="0" tIns="0" rIns="0" bIns="0" rtlCol="0" anchor="ctr"/>
          <a:lstStyle/>
          <a:p>
            <a:pPr indent="0" marL="0">
              <a:buNone/>
            </a:pPr>
            <a:r>
              <a:rPr lang="en-US" sz="1400" i="1" dirty="0">
                <a:solidFill>
                  <a:srgbClr val="6B7A8F"/>
                </a:solidFill>
              </a:rPr>
              <a:t>Luke 21:24  ·  Daniel 2 and 7  ·  Gentile dominance over Jerusalem, Babylon to the Second Coming  ·  not to scale</a:t>
            </a:r>
            <a:endParaRPr lang="en-US" sz="1400" dirty="0"/>
          </a:p>
        </p:txBody>
      </p:sp>
      <p:sp>
        <p:nvSpPr>
          <p:cNvPr id="5" name="Text 2"/>
          <p:cNvSpPr txBox="1"/>
          <p:nvPr/>
        </p:nvSpPr>
        <p:spPr>
          <a:xfrm>
            <a:off x="548640" y="2240280"/>
            <a:ext cx="1143000" cy="868680"/>
          </a:xfrm>
          <a:prstGeom prst="rect">
            <a:avLst/>
          </a:prstGeom>
          <a:solidFill>
            <a:srgbClr val="C9A227"/>
          </a:solidFill>
          <a:ln/>
        </p:spPr>
        <p:txBody>
          <a:bodyPr wrap="square" lIns="38100" tIns="38100" rIns="38100" bIns="38100" rtlCol="0" anchor="ctr"/>
          <a:lstStyle/>
          <a:p>
            <a:pPr algn="ctr" indent="0" marL="0">
              <a:buNone/>
            </a:pPr>
            <a:r>
              <a:rPr lang="en-US" sz="1200" b="1" dirty="0">
                <a:solidFill>
                  <a:srgbClr val="1F2A3D"/>
                </a:solidFill>
              </a:rPr>
              <a:t>Babylon</a:t>
            </a:r>
            <a:endParaRPr lang="en-US" sz="1200" dirty="0"/>
          </a:p>
          <a:p>
            <a:pPr algn="ctr" indent="0" marL="0">
              <a:buNone/>
            </a:pPr>
            <a:r>
              <a:rPr lang="en-US" sz="1200" b="1" dirty="0">
                <a:solidFill>
                  <a:srgbClr val="1F2A3D"/>
                </a:solidFill>
              </a:rPr>
              <a:t>gold</a:t>
            </a:r>
            <a:endParaRPr lang="en-US" sz="1200" dirty="0"/>
          </a:p>
          <a:p>
            <a:pPr algn="ctr" indent="0" marL="0">
              <a:buNone/>
            </a:pPr>
            <a:r>
              <a:rPr lang="en-US" sz="1200" b="1" dirty="0">
                <a:solidFill>
                  <a:srgbClr val="1F2A3D"/>
                </a:solidFill>
              </a:rPr>
              <a:t>from 605 BC</a:t>
            </a:r>
            <a:endParaRPr lang="en-US" sz="1200" dirty="0"/>
          </a:p>
        </p:txBody>
      </p:sp>
      <p:sp>
        <p:nvSpPr>
          <p:cNvPr id="6" name="Text 3"/>
          <p:cNvSpPr txBox="1"/>
          <p:nvPr/>
        </p:nvSpPr>
        <p:spPr>
          <a:xfrm>
            <a:off x="1691640" y="2240280"/>
            <a:ext cx="1234440" cy="868680"/>
          </a:xfrm>
          <a:prstGeom prst="rect">
            <a:avLst/>
          </a:prstGeom>
          <a:solidFill>
            <a:srgbClr val="A7ADB5"/>
          </a:solidFill>
          <a:ln/>
        </p:spPr>
        <p:txBody>
          <a:bodyPr wrap="square" lIns="38100" tIns="38100" rIns="38100" bIns="38100" rtlCol="0" anchor="ctr"/>
          <a:lstStyle/>
          <a:p>
            <a:pPr algn="ctr" indent="0" marL="0">
              <a:buNone/>
            </a:pPr>
            <a:r>
              <a:rPr lang="en-US" sz="1200" b="1" dirty="0">
                <a:solidFill>
                  <a:srgbClr val="1F2A3D"/>
                </a:solidFill>
              </a:rPr>
              <a:t>Medo-Persia</a:t>
            </a:r>
            <a:endParaRPr lang="en-US" sz="1200" dirty="0"/>
          </a:p>
          <a:p>
            <a:pPr algn="ctr" indent="0" marL="0">
              <a:buNone/>
            </a:pPr>
            <a:r>
              <a:rPr lang="en-US" sz="1200" b="1" dirty="0">
                <a:solidFill>
                  <a:srgbClr val="1F2A3D"/>
                </a:solidFill>
              </a:rPr>
              <a:t>silver</a:t>
            </a:r>
            <a:endParaRPr lang="en-US" sz="1200" dirty="0"/>
          </a:p>
          <a:p>
            <a:pPr algn="ctr" indent="0" marL="0">
              <a:buNone/>
            </a:pPr>
            <a:r>
              <a:rPr lang="en-US" sz="1200" b="1" dirty="0">
                <a:solidFill>
                  <a:srgbClr val="1F2A3D"/>
                </a:solidFill>
              </a:rPr>
              <a:t>from 539 BC</a:t>
            </a:r>
            <a:endParaRPr lang="en-US" sz="1200" dirty="0"/>
          </a:p>
        </p:txBody>
      </p:sp>
      <p:sp>
        <p:nvSpPr>
          <p:cNvPr id="7" name="Text 4"/>
          <p:cNvSpPr txBox="1"/>
          <p:nvPr/>
        </p:nvSpPr>
        <p:spPr>
          <a:xfrm>
            <a:off x="2926080" y="2240280"/>
            <a:ext cx="1234440" cy="868680"/>
          </a:xfrm>
          <a:prstGeom prst="rect">
            <a:avLst/>
          </a:prstGeom>
          <a:solidFill>
            <a:srgbClr val="A8673A"/>
          </a:solidFill>
          <a:ln/>
        </p:spPr>
        <p:txBody>
          <a:bodyPr wrap="square" lIns="38100" tIns="38100" rIns="38100" bIns="38100" rtlCol="0" anchor="ctr"/>
          <a:lstStyle/>
          <a:p>
            <a:pPr algn="ctr" indent="0" marL="0">
              <a:buNone/>
            </a:pPr>
            <a:r>
              <a:rPr lang="en-US" sz="1200" b="1" dirty="0">
                <a:solidFill>
                  <a:srgbClr val="FFFFFF"/>
                </a:solidFill>
              </a:rPr>
              <a:t>Greece</a:t>
            </a:r>
            <a:endParaRPr lang="en-US" sz="1200" dirty="0"/>
          </a:p>
          <a:p>
            <a:pPr algn="ctr" indent="0" marL="0">
              <a:buNone/>
            </a:pPr>
            <a:r>
              <a:rPr lang="en-US" sz="1200" b="1" dirty="0">
                <a:solidFill>
                  <a:srgbClr val="FFFFFF"/>
                </a:solidFill>
              </a:rPr>
              <a:t>bronze</a:t>
            </a:r>
            <a:endParaRPr lang="en-US" sz="1200" dirty="0"/>
          </a:p>
          <a:p>
            <a:pPr algn="ctr" indent="0" marL="0">
              <a:buNone/>
            </a:pPr>
            <a:r>
              <a:rPr lang="en-US" sz="1200" b="1" dirty="0">
                <a:solidFill>
                  <a:srgbClr val="FFFFFF"/>
                </a:solidFill>
              </a:rPr>
              <a:t>from 331 BC</a:t>
            </a:r>
            <a:endParaRPr lang="en-US" sz="1200" dirty="0"/>
          </a:p>
        </p:txBody>
      </p:sp>
      <p:sp>
        <p:nvSpPr>
          <p:cNvPr id="8" name="Text 5"/>
          <p:cNvSpPr txBox="1"/>
          <p:nvPr/>
        </p:nvSpPr>
        <p:spPr>
          <a:xfrm>
            <a:off x="4160520" y="2240280"/>
            <a:ext cx="4754880" cy="868680"/>
          </a:xfrm>
          <a:prstGeom prst="rect">
            <a:avLst/>
          </a:prstGeom>
          <a:solidFill>
            <a:srgbClr val="4A5260"/>
          </a:solidFill>
          <a:ln/>
        </p:spPr>
        <p:txBody>
          <a:bodyPr wrap="square" lIns="38100" tIns="38100" rIns="38100" bIns="38100" rtlCol="0" anchor="ctr"/>
          <a:lstStyle/>
          <a:p>
            <a:pPr algn="ctr" indent="0" marL="0">
              <a:buNone/>
            </a:pPr>
            <a:r>
              <a:rPr lang="en-US" sz="1200" b="1" dirty="0">
                <a:solidFill>
                  <a:srgbClr val="FFFFFF"/>
                </a:solidFill>
              </a:rPr>
              <a:t>Rome · iron  (Dan 2:40)</a:t>
            </a:r>
            <a:endParaRPr lang="en-US" sz="1200" dirty="0"/>
          </a:p>
          <a:p>
            <a:pPr algn="ctr" indent="0" marL="0">
              <a:buNone/>
            </a:pPr>
            <a:r>
              <a:rPr lang="en-US" sz="1200" b="1" dirty="0">
                <a:solidFill>
                  <a:srgbClr val="FFFFFF"/>
                </a:solidFill>
              </a:rPr>
              <a:t>over Judea from 63 BC</a:t>
            </a:r>
            <a:endParaRPr lang="en-US" sz="1200" dirty="0"/>
          </a:p>
        </p:txBody>
      </p:sp>
      <p:sp>
        <p:nvSpPr>
          <p:cNvPr id="9" name="Text 6"/>
          <p:cNvSpPr txBox="1"/>
          <p:nvPr/>
        </p:nvSpPr>
        <p:spPr>
          <a:xfrm>
            <a:off x="8915400" y="2240280"/>
            <a:ext cx="1554480" cy="868680"/>
          </a:xfrm>
          <a:prstGeom prst="rect">
            <a:avLst/>
          </a:prstGeom>
          <a:solidFill>
            <a:srgbClr val="6E5A4A"/>
          </a:solidFill>
          <a:ln/>
        </p:spPr>
        <p:txBody>
          <a:bodyPr wrap="square" lIns="38100" tIns="38100" rIns="38100" bIns="38100" rtlCol="0" anchor="ctr"/>
          <a:lstStyle/>
          <a:p>
            <a:pPr algn="ctr" indent="0" marL="0">
              <a:buNone/>
            </a:pPr>
            <a:r>
              <a:rPr lang="en-US" sz="1100" b="1" dirty="0">
                <a:solidFill>
                  <a:srgbClr val="FFFFFF"/>
                </a:solidFill>
              </a:rPr>
              <a:t>Revived Rome</a:t>
            </a:r>
            <a:endParaRPr lang="en-US" sz="1100" dirty="0"/>
          </a:p>
          <a:p>
            <a:pPr algn="ctr" indent="0" marL="0">
              <a:buNone/>
            </a:pPr>
            <a:r>
              <a:rPr lang="en-US" sz="1100" b="1" dirty="0">
                <a:solidFill>
                  <a:srgbClr val="FFFFFF"/>
                </a:solidFill>
              </a:rPr>
              <a:t>iron &amp; clay · 10 kings</a:t>
            </a:r>
            <a:endParaRPr lang="en-US" sz="1100" dirty="0"/>
          </a:p>
        </p:txBody>
      </p:sp>
      <p:sp>
        <p:nvSpPr>
          <p:cNvPr id="10" name="Text 7"/>
          <p:cNvSpPr txBox="1"/>
          <p:nvPr/>
        </p:nvSpPr>
        <p:spPr>
          <a:xfrm>
            <a:off x="10469880" y="2240280"/>
            <a:ext cx="1188720" cy="868680"/>
          </a:xfrm>
          <a:prstGeom prst="rect">
            <a:avLst/>
          </a:prstGeom>
          <a:solidFill>
            <a:srgbClr val="7030A0"/>
          </a:solidFill>
          <a:ln/>
        </p:spPr>
        <p:txBody>
          <a:bodyPr wrap="square" lIns="38100" tIns="38100" rIns="38100" bIns="38100" rtlCol="0" anchor="ctr"/>
          <a:lstStyle/>
          <a:p>
            <a:pPr algn="ctr" indent="0" marL="0">
              <a:buNone/>
            </a:pPr>
            <a:r>
              <a:rPr lang="en-US" sz="1200" b="1" dirty="0">
                <a:solidFill>
                  <a:srgbClr val="FFFFFF"/>
                </a:solidFill>
              </a:rPr>
              <a:t>The Stone</a:t>
            </a:r>
            <a:endParaRPr lang="en-US" sz="1200" dirty="0"/>
          </a:p>
          <a:p>
            <a:pPr algn="ctr" indent="0" marL="0">
              <a:buNone/>
            </a:pPr>
            <a:r>
              <a:rPr lang="en-US" sz="1200" b="1" dirty="0">
                <a:solidFill>
                  <a:srgbClr val="FFFFFF"/>
                </a:solidFill>
              </a:rPr>
              <a:t>Kingdom of God</a:t>
            </a:r>
            <a:endParaRPr lang="en-US" sz="1200" dirty="0"/>
          </a:p>
        </p:txBody>
      </p:sp>
      <p:sp>
        <p:nvSpPr>
          <p:cNvPr id="11" name="Shape 8"/>
          <p:cNvSpPr/>
          <p:nvPr/>
        </p:nvSpPr>
        <p:spPr>
          <a:xfrm>
            <a:off x="548640" y="1828800"/>
            <a:ext cx="0" cy="128016"/>
          </a:xfrm>
          <a:prstGeom prst="line">
            <a:avLst/>
          </a:prstGeom>
          <a:noFill/>
          <a:ln w="15875">
            <a:solidFill>
              <a:srgbClr val="1F3864"/>
            </a:solidFill>
            <a:prstDash val="solid"/>
          </a:ln>
        </p:spPr>
      </p:sp>
      <p:sp>
        <p:nvSpPr>
          <p:cNvPr id="12" name="Shape 9"/>
          <p:cNvSpPr/>
          <p:nvPr/>
        </p:nvSpPr>
        <p:spPr>
          <a:xfrm>
            <a:off x="10469880" y="1828800"/>
            <a:ext cx="0" cy="128016"/>
          </a:xfrm>
          <a:prstGeom prst="line">
            <a:avLst/>
          </a:prstGeom>
          <a:noFill/>
          <a:ln w="15875">
            <a:solidFill>
              <a:srgbClr val="1F3864"/>
            </a:solidFill>
            <a:prstDash val="solid"/>
          </a:ln>
        </p:spPr>
      </p:sp>
      <p:sp>
        <p:nvSpPr>
          <p:cNvPr id="13" name="Shape 10"/>
          <p:cNvSpPr/>
          <p:nvPr/>
        </p:nvSpPr>
        <p:spPr>
          <a:xfrm>
            <a:off x="548640" y="1828800"/>
            <a:ext cx="9921240" cy="0"/>
          </a:xfrm>
          <a:prstGeom prst="line">
            <a:avLst/>
          </a:prstGeom>
          <a:noFill/>
          <a:ln w="19050">
            <a:solidFill>
              <a:srgbClr val="1F3864"/>
            </a:solidFill>
            <a:prstDash val="solid"/>
          </a:ln>
        </p:spPr>
      </p:sp>
      <p:sp>
        <p:nvSpPr>
          <p:cNvPr id="14" name="Text 11"/>
          <p:cNvSpPr txBox="1"/>
          <p:nvPr/>
        </p:nvSpPr>
        <p:spPr>
          <a:xfrm>
            <a:off x="548640" y="1499616"/>
            <a:ext cx="9921240" cy="292608"/>
          </a:xfrm>
          <a:prstGeom prst="rect">
            <a:avLst/>
          </a:prstGeom>
          <a:noFill/>
          <a:ln/>
        </p:spPr>
        <p:txBody>
          <a:bodyPr wrap="square" lIns="0" tIns="0" rIns="0" bIns="0" rtlCol="0" anchor="b"/>
          <a:lstStyle/>
          <a:p>
            <a:pPr algn="ctr" indent="0" marL="0">
              <a:buNone/>
            </a:pPr>
            <a:r>
              <a:rPr lang="en-US" sz="1200" b="1" dirty="0">
                <a:solidFill>
                  <a:srgbClr val="1F3864"/>
                </a:solidFill>
              </a:rPr>
              <a:t>THE TIMES OF THE GENTILES  (Luke 21:24)</a:t>
            </a:r>
            <a:endParaRPr lang="en-US" sz="1200" dirty="0"/>
          </a:p>
        </p:txBody>
      </p:sp>
      <p:sp>
        <p:nvSpPr>
          <p:cNvPr id="15" name="Text 12"/>
          <p:cNvSpPr txBox="1"/>
          <p:nvPr/>
        </p:nvSpPr>
        <p:spPr>
          <a:xfrm>
            <a:off x="5074920" y="3310128"/>
            <a:ext cx="3840480" cy="502920"/>
          </a:xfrm>
          <a:prstGeom prst="rect">
            <a:avLst/>
          </a:prstGeom>
          <a:solidFill>
            <a:schemeClr val="accent2"/>
          </a:solidFill>
          <a:ln/>
        </p:spPr>
        <p:txBody>
          <a:bodyPr wrap="square" lIns="38100" tIns="38100" rIns="38100" bIns="38100" rtlCol="0" anchor="ctr"/>
          <a:lstStyle/>
          <a:p>
            <a:pPr algn="ctr" indent="0" marL="0">
              <a:buNone/>
            </a:pPr>
            <a:r>
              <a:rPr lang="en-US" sz="1200" b="1" dirty="0">
                <a:solidFill>
                  <a:schemeClr val="bg1"/>
                </a:solidFill>
              </a:rPr>
              <a:t>The Church Age · gap between weeks 69 and 70</a:t>
            </a:r>
            <a:endParaRPr lang="en-US" sz="1200" dirty="0"/>
          </a:p>
        </p:txBody>
      </p:sp>
      <p:sp>
        <p:nvSpPr>
          <p:cNvPr id="16" name="Text 13"/>
          <p:cNvSpPr txBox="1"/>
          <p:nvPr/>
        </p:nvSpPr>
        <p:spPr>
          <a:xfrm>
            <a:off x="8915400" y="3310128"/>
            <a:ext cx="1554480" cy="502920"/>
          </a:xfrm>
          <a:prstGeom prst="rect">
            <a:avLst/>
          </a:prstGeom>
          <a:solidFill>
            <a:schemeClr val="accent4"/>
          </a:solidFill>
          <a:ln/>
        </p:spPr>
        <p:txBody>
          <a:bodyPr wrap="square" lIns="38100" tIns="38100" rIns="38100" bIns="38100" rtlCol="0" anchor="ctr"/>
          <a:lstStyle/>
          <a:p>
            <a:pPr algn="ctr" indent="0" marL="0">
              <a:buNone/>
            </a:pPr>
            <a:r>
              <a:rPr lang="en-US" sz="1200" b="1" dirty="0">
                <a:solidFill>
                  <a:schemeClr val="bg1"/>
                </a:solidFill>
              </a:rPr>
              <a:t>70th Week</a:t>
            </a:r>
            <a:endParaRPr lang="en-US" sz="1200" dirty="0"/>
          </a:p>
        </p:txBody>
      </p:sp>
      <p:sp>
        <p:nvSpPr>
          <p:cNvPr id="17" name="Shape 14"/>
          <p:cNvSpPr/>
          <p:nvPr/>
        </p:nvSpPr>
        <p:spPr>
          <a:xfrm>
            <a:off x="548640" y="3108960"/>
            <a:ext cx="0" cy="1051560"/>
          </a:xfrm>
          <a:prstGeom prst="line">
            <a:avLst/>
          </a:prstGeom>
          <a:noFill/>
          <a:ln w="15875">
            <a:solidFill>
              <a:srgbClr val="1F3864"/>
            </a:solidFill>
            <a:prstDash val="solid"/>
          </a:ln>
        </p:spPr>
      </p:sp>
      <p:sp>
        <p:nvSpPr>
          <p:cNvPr id="18" name="Shape 15"/>
          <p:cNvSpPr/>
          <p:nvPr/>
        </p:nvSpPr>
        <p:spPr>
          <a:xfrm>
            <a:off x="489204" y="4101084"/>
            <a:ext cx="118872" cy="118872"/>
          </a:xfrm>
          <a:prstGeom prst="ellipse">
            <a:avLst/>
          </a:prstGeom>
          <a:solidFill>
            <a:srgbClr val="1F3864"/>
          </a:solidFill>
          <a:ln w="12700">
            <a:solidFill>
              <a:srgbClr val="FAF7EF"/>
            </a:solidFill>
            <a:prstDash val="solid"/>
          </a:ln>
        </p:spPr>
      </p:sp>
      <p:sp>
        <p:nvSpPr>
          <p:cNvPr id="19" name="Text 16"/>
          <p:cNvSpPr txBox="1"/>
          <p:nvPr/>
        </p:nvSpPr>
        <p:spPr>
          <a:xfrm>
            <a:off x="548640" y="4251960"/>
            <a:ext cx="1325880" cy="868680"/>
          </a:xfrm>
          <a:prstGeom prst="rect">
            <a:avLst/>
          </a:prstGeom>
          <a:noFill/>
          <a:ln/>
        </p:spPr>
        <p:txBody>
          <a:bodyPr wrap="square" lIns="0" tIns="0" rIns="0" bIns="0" rtlCol="0" anchor="t"/>
          <a:lstStyle/>
          <a:p>
            <a:pPr algn="l" indent="0" marL="0">
              <a:buNone/>
            </a:pPr>
            <a:r>
              <a:rPr lang="en-US" sz="1100" dirty="0">
                <a:solidFill>
                  <a:schemeClr val="tx1"/>
                </a:solidFill>
              </a:rPr>
              <a:t>605 BC</a:t>
            </a:r>
            <a:endParaRPr lang="en-US" sz="1100" dirty="0"/>
          </a:p>
          <a:p>
            <a:pPr algn="l" indent="0" marL="0">
              <a:buNone/>
            </a:pPr>
            <a:r>
              <a:rPr lang="en-US" sz="1100" dirty="0">
                <a:solidFill>
                  <a:schemeClr val="tx1"/>
                </a:solidFill>
              </a:rPr>
              <a:t>Nebuchadnezzar</a:t>
            </a:r>
            <a:endParaRPr lang="en-US" sz="1100" dirty="0"/>
          </a:p>
          <a:p>
            <a:pPr algn="l" indent="0" marL="0">
              <a:buNone/>
            </a:pPr>
            <a:r>
              <a:rPr lang="en-US" sz="1100" dirty="0">
                <a:solidFill>
                  <a:schemeClr val="tx1"/>
                </a:solidFill>
              </a:rPr>
              <a:t>takes Jerusalem</a:t>
            </a:r>
            <a:endParaRPr lang="en-US" sz="1100" dirty="0"/>
          </a:p>
        </p:txBody>
      </p:sp>
      <p:sp>
        <p:nvSpPr>
          <p:cNvPr id="20" name="Shape 17"/>
          <p:cNvSpPr/>
          <p:nvPr/>
        </p:nvSpPr>
        <p:spPr>
          <a:xfrm>
            <a:off x="5074920" y="3813048"/>
            <a:ext cx="0" cy="347472"/>
          </a:xfrm>
          <a:prstGeom prst="line">
            <a:avLst/>
          </a:prstGeom>
          <a:noFill/>
          <a:ln w="15875">
            <a:solidFill>
              <a:srgbClr val="1F3864"/>
            </a:solidFill>
            <a:prstDash val="solid"/>
          </a:ln>
        </p:spPr>
      </p:sp>
      <p:sp>
        <p:nvSpPr>
          <p:cNvPr id="21" name="Shape 18"/>
          <p:cNvSpPr/>
          <p:nvPr/>
        </p:nvSpPr>
        <p:spPr>
          <a:xfrm>
            <a:off x="5015484" y="4101084"/>
            <a:ext cx="118872" cy="118872"/>
          </a:xfrm>
          <a:prstGeom prst="ellipse">
            <a:avLst/>
          </a:prstGeom>
          <a:solidFill>
            <a:srgbClr val="1F3864"/>
          </a:solidFill>
          <a:ln w="12700">
            <a:solidFill>
              <a:srgbClr val="FAF7EF"/>
            </a:solidFill>
            <a:prstDash val="solid"/>
          </a:ln>
        </p:spPr>
      </p:sp>
      <p:sp>
        <p:nvSpPr>
          <p:cNvPr id="22" name="Text 19"/>
          <p:cNvSpPr txBox="1"/>
          <p:nvPr/>
        </p:nvSpPr>
        <p:spPr>
          <a:xfrm>
            <a:off x="4411980" y="4251960"/>
            <a:ext cx="1325880" cy="868680"/>
          </a:xfrm>
          <a:prstGeom prst="rect">
            <a:avLst/>
          </a:prstGeom>
          <a:noFill/>
          <a:ln/>
        </p:spPr>
        <p:txBody>
          <a:bodyPr wrap="square" lIns="0" tIns="0" rIns="0" bIns="0" rtlCol="0" anchor="t"/>
          <a:lstStyle/>
          <a:p>
            <a:pPr algn="ctr" indent="0" marL="0">
              <a:buNone/>
            </a:pPr>
            <a:r>
              <a:rPr lang="en-US" sz="1100" dirty="0">
                <a:solidFill>
                  <a:schemeClr val="tx1"/>
                </a:solidFill>
              </a:rPr>
              <a:t>AD 33</a:t>
            </a:r>
            <a:endParaRPr lang="en-US" sz="1100" dirty="0"/>
          </a:p>
          <a:p>
            <a:pPr algn="ctr" indent="0" marL="0">
              <a:buNone/>
            </a:pPr>
            <a:r>
              <a:rPr lang="en-US" sz="1100" dirty="0">
                <a:solidFill>
                  <a:schemeClr val="tx1"/>
                </a:solidFill>
              </a:rPr>
              <a:t>Cross ·</a:t>
            </a:r>
            <a:endParaRPr lang="en-US" sz="1100" dirty="0"/>
          </a:p>
          <a:p>
            <a:pPr algn="ctr" indent="0" marL="0">
              <a:buNone/>
            </a:pPr>
            <a:r>
              <a:rPr lang="en-US" sz="1100" dirty="0">
                <a:solidFill>
                  <a:schemeClr val="tx1"/>
                </a:solidFill>
              </a:rPr>
              <a:t>Pentecost</a:t>
            </a:r>
            <a:endParaRPr lang="en-US" sz="1100" dirty="0"/>
          </a:p>
        </p:txBody>
      </p:sp>
      <p:sp>
        <p:nvSpPr>
          <p:cNvPr id="23" name="Shape 20"/>
          <p:cNvSpPr/>
          <p:nvPr/>
        </p:nvSpPr>
        <p:spPr>
          <a:xfrm>
            <a:off x="6263640" y="3813048"/>
            <a:ext cx="0" cy="347472"/>
          </a:xfrm>
          <a:prstGeom prst="line">
            <a:avLst/>
          </a:prstGeom>
          <a:noFill/>
          <a:ln w="15875">
            <a:solidFill>
              <a:srgbClr val="1F3864"/>
            </a:solidFill>
            <a:prstDash val="solid"/>
          </a:ln>
        </p:spPr>
      </p:sp>
      <p:sp>
        <p:nvSpPr>
          <p:cNvPr id="24" name="Shape 21"/>
          <p:cNvSpPr/>
          <p:nvPr/>
        </p:nvSpPr>
        <p:spPr>
          <a:xfrm>
            <a:off x="6204204" y="4101084"/>
            <a:ext cx="118872" cy="118872"/>
          </a:xfrm>
          <a:prstGeom prst="ellipse">
            <a:avLst/>
          </a:prstGeom>
          <a:solidFill>
            <a:srgbClr val="1F3864"/>
          </a:solidFill>
          <a:ln w="12700">
            <a:solidFill>
              <a:srgbClr val="FAF7EF"/>
            </a:solidFill>
            <a:prstDash val="solid"/>
          </a:ln>
        </p:spPr>
      </p:sp>
      <p:sp>
        <p:nvSpPr>
          <p:cNvPr id="25" name="Text 22"/>
          <p:cNvSpPr txBox="1"/>
          <p:nvPr/>
        </p:nvSpPr>
        <p:spPr>
          <a:xfrm>
            <a:off x="5600700" y="4251960"/>
            <a:ext cx="1325880" cy="868680"/>
          </a:xfrm>
          <a:prstGeom prst="rect">
            <a:avLst/>
          </a:prstGeom>
          <a:noFill/>
          <a:ln/>
        </p:spPr>
        <p:txBody>
          <a:bodyPr wrap="square" lIns="0" tIns="0" rIns="0" bIns="0" rtlCol="0" anchor="t"/>
          <a:lstStyle/>
          <a:p>
            <a:pPr algn="ctr" indent="0" marL="0">
              <a:buNone/>
            </a:pPr>
            <a:r>
              <a:rPr lang="en-US" sz="1100" dirty="0">
                <a:solidFill>
                  <a:schemeClr val="tx1"/>
                </a:solidFill>
              </a:rPr>
              <a:t>AD 70</a:t>
            </a:r>
            <a:endParaRPr lang="en-US" sz="1100" dirty="0"/>
          </a:p>
          <a:p>
            <a:pPr algn="ctr" indent="0" marL="0">
              <a:buNone/>
            </a:pPr>
            <a:r>
              <a:rPr lang="en-US" sz="1100" dirty="0">
                <a:solidFill>
                  <a:schemeClr val="tx1"/>
                </a:solidFill>
              </a:rPr>
              <a:t>Temple</a:t>
            </a:r>
            <a:endParaRPr lang="en-US" sz="1100" dirty="0"/>
          </a:p>
          <a:p>
            <a:pPr algn="ctr" indent="0" marL="0">
              <a:buNone/>
            </a:pPr>
            <a:r>
              <a:rPr lang="en-US" sz="1100" dirty="0">
                <a:solidFill>
                  <a:schemeClr val="tx1"/>
                </a:solidFill>
              </a:rPr>
              <a:t>destroyed</a:t>
            </a:r>
            <a:endParaRPr lang="en-US" sz="1100" dirty="0"/>
          </a:p>
        </p:txBody>
      </p:sp>
      <p:sp>
        <p:nvSpPr>
          <p:cNvPr id="26" name="Shape 23"/>
          <p:cNvSpPr/>
          <p:nvPr/>
        </p:nvSpPr>
        <p:spPr>
          <a:xfrm>
            <a:off x="8229600" y="3813048"/>
            <a:ext cx="0" cy="347472"/>
          </a:xfrm>
          <a:prstGeom prst="line">
            <a:avLst/>
          </a:prstGeom>
          <a:noFill/>
          <a:ln w="15875">
            <a:solidFill>
              <a:srgbClr val="1F3864"/>
            </a:solidFill>
            <a:prstDash val="solid"/>
          </a:ln>
        </p:spPr>
      </p:sp>
      <p:sp>
        <p:nvSpPr>
          <p:cNvPr id="27" name="Shape 24"/>
          <p:cNvSpPr/>
          <p:nvPr/>
        </p:nvSpPr>
        <p:spPr>
          <a:xfrm>
            <a:off x="8170164" y="4101084"/>
            <a:ext cx="118872" cy="118872"/>
          </a:xfrm>
          <a:prstGeom prst="ellipse">
            <a:avLst/>
          </a:prstGeom>
          <a:solidFill>
            <a:srgbClr val="1F3864"/>
          </a:solidFill>
          <a:ln w="12700">
            <a:solidFill>
              <a:srgbClr val="FAF7EF"/>
            </a:solidFill>
            <a:prstDash val="solid"/>
          </a:ln>
        </p:spPr>
      </p:sp>
      <p:sp>
        <p:nvSpPr>
          <p:cNvPr id="28" name="Text 25"/>
          <p:cNvSpPr txBox="1"/>
          <p:nvPr/>
        </p:nvSpPr>
        <p:spPr>
          <a:xfrm>
            <a:off x="7566660" y="4251960"/>
            <a:ext cx="1325880" cy="868680"/>
          </a:xfrm>
          <a:prstGeom prst="rect">
            <a:avLst/>
          </a:prstGeom>
          <a:noFill/>
          <a:ln/>
        </p:spPr>
        <p:txBody>
          <a:bodyPr wrap="square" lIns="0" tIns="0" rIns="0" bIns="0" rtlCol="0" anchor="t"/>
          <a:lstStyle/>
          <a:p>
            <a:pPr algn="ctr" indent="0" marL="0">
              <a:buNone/>
            </a:pPr>
            <a:r>
              <a:rPr lang="en-US" sz="1100" dirty="0">
                <a:solidFill>
                  <a:schemeClr val="tx1"/>
                </a:solidFill>
              </a:rPr>
              <a:t>1967</a:t>
            </a:r>
            <a:endParaRPr lang="en-US" sz="1100" dirty="0"/>
          </a:p>
          <a:p>
            <a:pPr algn="ctr" indent="0" marL="0">
              <a:buNone/>
            </a:pPr>
            <a:r>
              <a:rPr lang="en-US" sz="1100" dirty="0">
                <a:solidFill>
                  <a:schemeClr val="tx1"/>
                </a:solidFill>
              </a:rPr>
              <a:t>Jerusalem under</a:t>
            </a:r>
            <a:endParaRPr lang="en-US" sz="1100" dirty="0"/>
          </a:p>
          <a:p>
            <a:pPr algn="ctr" indent="0" marL="0">
              <a:buNone/>
            </a:pPr>
            <a:r>
              <a:rPr lang="en-US" sz="1100" dirty="0">
                <a:solidFill>
                  <a:schemeClr val="tx1"/>
                </a:solidFill>
              </a:rPr>
              <a:t>Israeli rule —</a:t>
            </a:r>
            <a:endParaRPr lang="en-US" sz="1100" dirty="0"/>
          </a:p>
          <a:p>
            <a:pPr algn="ctr" indent="0" marL="0">
              <a:buNone/>
            </a:pPr>
            <a:r>
              <a:rPr lang="en-US" sz="1100" dirty="0">
                <a:solidFill>
                  <a:schemeClr val="tx1"/>
                </a:solidFill>
              </a:rPr>
              <a:t>period not ended</a:t>
            </a:r>
            <a:endParaRPr lang="en-US" sz="1100" dirty="0"/>
          </a:p>
        </p:txBody>
      </p:sp>
      <p:sp>
        <p:nvSpPr>
          <p:cNvPr id="29" name="Shape 26"/>
          <p:cNvSpPr/>
          <p:nvPr/>
        </p:nvSpPr>
        <p:spPr>
          <a:xfrm>
            <a:off x="10469880" y="3813048"/>
            <a:ext cx="0" cy="347472"/>
          </a:xfrm>
          <a:prstGeom prst="line">
            <a:avLst/>
          </a:prstGeom>
          <a:noFill/>
          <a:ln w="15875">
            <a:solidFill>
              <a:srgbClr val="1F3864"/>
            </a:solidFill>
            <a:prstDash val="solid"/>
          </a:ln>
        </p:spPr>
      </p:sp>
      <p:sp>
        <p:nvSpPr>
          <p:cNvPr id="30" name="Shape 27"/>
          <p:cNvSpPr/>
          <p:nvPr/>
        </p:nvSpPr>
        <p:spPr>
          <a:xfrm>
            <a:off x="10410444" y="4101084"/>
            <a:ext cx="118872" cy="118872"/>
          </a:xfrm>
          <a:prstGeom prst="ellipse">
            <a:avLst/>
          </a:prstGeom>
          <a:solidFill>
            <a:srgbClr val="1F3864"/>
          </a:solidFill>
          <a:ln w="12700">
            <a:solidFill>
              <a:srgbClr val="FAF7EF"/>
            </a:solidFill>
            <a:prstDash val="solid"/>
          </a:ln>
        </p:spPr>
      </p:sp>
      <p:sp>
        <p:nvSpPr>
          <p:cNvPr id="31" name="Text 28"/>
          <p:cNvSpPr txBox="1"/>
          <p:nvPr/>
        </p:nvSpPr>
        <p:spPr>
          <a:xfrm>
            <a:off x="9806940" y="4251960"/>
            <a:ext cx="1325880" cy="868680"/>
          </a:xfrm>
          <a:prstGeom prst="rect">
            <a:avLst/>
          </a:prstGeom>
          <a:noFill/>
          <a:ln/>
        </p:spPr>
        <p:txBody>
          <a:bodyPr wrap="square" lIns="0" tIns="0" rIns="0" bIns="0" rtlCol="0" anchor="t"/>
          <a:lstStyle/>
          <a:p>
            <a:pPr algn="ctr" indent="0" marL="0">
              <a:buNone/>
            </a:pPr>
            <a:r>
              <a:rPr lang="en-US" sz="1100" dirty="0">
                <a:solidFill>
                  <a:schemeClr val="tx1"/>
                </a:solidFill>
              </a:rPr>
              <a:t>Second Coming</a:t>
            </a:r>
            <a:endParaRPr lang="en-US" sz="1100" dirty="0"/>
          </a:p>
          <a:p>
            <a:pPr algn="ctr" indent="0" marL="0">
              <a:buNone/>
            </a:pPr>
            <a:r>
              <a:rPr lang="en-US" sz="1100" dirty="0">
                <a:solidFill>
                  <a:schemeClr val="tx1"/>
                </a:solidFill>
              </a:rPr>
              <a:t>Dan 2:34–35,</a:t>
            </a:r>
            <a:endParaRPr lang="en-US" sz="1100" dirty="0"/>
          </a:p>
          <a:p>
            <a:pPr algn="ctr" indent="0" marL="0">
              <a:buNone/>
            </a:pPr>
            <a:r>
              <a:rPr lang="en-US" sz="1100" dirty="0">
                <a:solidFill>
                  <a:schemeClr val="tx1"/>
                </a:solidFill>
              </a:rPr>
              <a:t>44–45</a:t>
            </a:r>
            <a:endParaRPr lang="en-US" sz="1100" dirty="0"/>
          </a:p>
        </p:txBody>
      </p:sp>
      <p:sp>
        <p:nvSpPr>
          <p:cNvPr id="32" name="Text 29"/>
          <p:cNvSpPr txBox="1"/>
          <p:nvPr/>
        </p:nvSpPr>
        <p:spPr>
          <a:xfrm>
            <a:off x="548640" y="5623560"/>
            <a:ext cx="11064240" cy="548640"/>
          </a:xfrm>
          <a:prstGeom prst="rect">
            <a:avLst/>
          </a:prstGeom>
          <a:noFill/>
          <a:ln/>
        </p:spPr>
        <p:txBody>
          <a:bodyPr wrap="square" lIns="0" tIns="0" rIns="0" bIns="0" rtlCol="0" anchor="t"/>
          <a:lstStyle/>
          <a:p>
            <a:pPr algn="l" indent="0" marL="0">
              <a:buNone/>
            </a:pPr>
            <a:r>
              <a:rPr lang="en-US" sz="1200" i="1" dirty="0">
                <a:solidFill>
                  <a:schemeClr val="accent6"/>
                </a:solidFill>
              </a:rPr>
              <a:t>The period is marked by Gentile control of Jerusalem, not by Gentile world power alone (Fruchtenbaum, Footsteps of the Messiah, p. 21). The modern State of Israel exists within it, not after it.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11155680" cy="621792"/>
          </a:xfrm>
          <a:prstGeom prst="rect">
            <a:avLst/>
          </a:prstGeom>
          <a:noFill/>
          <a:ln/>
        </p:spPr>
        <p:txBody>
          <a:bodyPr wrap="square" lIns="0" tIns="0" rIns="0" bIns="0" rtlCol="0" anchor="ctr"/>
          <a:lstStyle/>
          <a:p>
            <a:pPr algn="l" indent="0" marL="0">
              <a:buNone/>
            </a:pPr>
            <a:r>
              <a:rPr lang="en-US" sz="3400" b="1" dirty="0">
                <a:solidFill>
                  <a:srgbClr val="1F3864"/>
                </a:solidFill>
              </a:rPr>
              <a:t>Daniel 2 and Daniel 7: One History, Two Visions</a:t>
            </a:r>
            <a:endParaRPr lang="en-US" sz="3400" dirty="0"/>
          </a:p>
        </p:txBody>
      </p:sp>
      <p:sp>
        <p:nvSpPr>
          <p:cNvPr id="3" name="Text 1"/>
          <p:cNvSpPr/>
          <p:nvPr>
            <p:ph idx="102" type="body" hasCustomPrompt="1"/>
          </p:nvPr>
        </p:nvSpPr>
        <p:spPr>
          <a:xfrm>
            <a:off x="502920" y="914400"/>
            <a:ext cx="11155680" cy="347472"/>
          </a:xfrm>
          <a:prstGeom prst="rect">
            <a:avLst/>
          </a:prstGeom>
          <a:noFill/>
          <a:ln/>
        </p:spPr>
        <p:txBody>
          <a:bodyPr wrap="square" lIns="0" tIns="0" rIns="0" bIns="0" rtlCol="0" anchor="ctr"/>
          <a:lstStyle/>
          <a:p>
            <a:pPr indent="0" marL="0">
              <a:buNone/>
            </a:pPr>
            <a:r>
              <a:rPr lang="en-US" sz="1400" i="1" dirty="0">
                <a:solidFill>
                  <a:srgbClr val="6B7A8F"/>
                </a:solidFill>
              </a:rPr>
              <a:t>Nebuchadnezzar’s statue and Daniel’s four beasts describe the same sequence of kingdoms</a:t>
            </a:r>
            <a:endParaRPr lang="en-US" sz="1400" dirty="0"/>
          </a:p>
        </p:txBody>
      </p:sp>
      <p:sp>
        <p:nvSpPr>
          <p:cNvPr id="5" name="Text 2"/>
          <p:cNvSpPr txBox="1"/>
          <p:nvPr/>
        </p:nvSpPr>
        <p:spPr>
          <a:xfrm>
            <a:off x="548640" y="1371600"/>
            <a:ext cx="2057400" cy="274320"/>
          </a:xfrm>
          <a:prstGeom prst="rect">
            <a:avLst/>
          </a:prstGeom>
          <a:noFill/>
          <a:ln/>
        </p:spPr>
        <p:txBody>
          <a:bodyPr wrap="square" lIns="0" tIns="0" rIns="0" bIns="0" rtlCol="0" anchor="t"/>
          <a:lstStyle/>
          <a:p>
            <a:pPr algn="l" indent="0" marL="0">
              <a:buNone/>
            </a:pPr>
            <a:r>
              <a:rPr lang="en-US" sz="1200" b="1" dirty="0">
                <a:solidFill>
                  <a:schemeClr val="accent6"/>
                </a:solidFill>
              </a:rPr>
              <a:t>KINGDOM</a:t>
            </a:r>
            <a:endParaRPr lang="en-US" sz="1200" dirty="0"/>
          </a:p>
        </p:txBody>
      </p:sp>
      <p:sp>
        <p:nvSpPr>
          <p:cNvPr id="6" name="Text 3"/>
          <p:cNvSpPr txBox="1"/>
          <p:nvPr/>
        </p:nvSpPr>
        <p:spPr>
          <a:xfrm>
            <a:off x="2697480" y="1371600"/>
            <a:ext cx="3611880" cy="274320"/>
          </a:xfrm>
          <a:prstGeom prst="rect">
            <a:avLst/>
          </a:prstGeom>
          <a:noFill/>
          <a:ln/>
        </p:spPr>
        <p:txBody>
          <a:bodyPr wrap="square" lIns="0" tIns="0" rIns="0" bIns="0" rtlCol="0" anchor="t"/>
          <a:lstStyle/>
          <a:p>
            <a:pPr algn="l" indent="0" marL="0">
              <a:buNone/>
            </a:pPr>
            <a:r>
              <a:rPr lang="en-US" sz="1200" b="1" dirty="0">
                <a:solidFill>
                  <a:schemeClr val="accent6"/>
                </a:solidFill>
              </a:rPr>
              <a:t>DANIEL 2 — the statue</a:t>
            </a:r>
            <a:endParaRPr lang="en-US" sz="1200" dirty="0"/>
          </a:p>
        </p:txBody>
      </p:sp>
      <p:sp>
        <p:nvSpPr>
          <p:cNvPr id="7" name="Text 4"/>
          <p:cNvSpPr txBox="1"/>
          <p:nvPr/>
        </p:nvSpPr>
        <p:spPr>
          <a:xfrm>
            <a:off x="6400800" y="1371600"/>
            <a:ext cx="5257800" cy="274320"/>
          </a:xfrm>
          <a:prstGeom prst="rect">
            <a:avLst/>
          </a:prstGeom>
          <a:noFill/>
          <a:ln/>
        </p:spPr>
        <p:txBody>
          <a:bodyPr wrap="square" lIns="0" tIns="0" rIns="0" bIns="0" rtlCol="0" anchor="t"/>
          <a:lstStyle/>
          <a:p>
            <a:pPr algn="l" indent="0" marL="0">
              <a:buNone/>
            </a:pPr>
            <a:r>
              <a:rPr lang="en-US" sz="1200" b="1" dirty="0">
                <a:solidFill>
                  <a:schemeClr val="accent6"/>
                </a:solidFill>
              </a:rPr>
              <a:t>DANIEL 7 — the beasts</a:t>
            </a:r>
            <a:endParaRPr lang="en-US" sz="1200" dirty="0"/>
          </a:p>
        </p:txBody>
      </p:sp>
      <p:sp>
        <p:nvSpPr>
          <p:cNvPr id="8" name="Text 5"/>
          <p:cNvSpPr txBox="1"/>
          <p:nvPr/>
        </p:nvSpPr>
        <p:spPr>
          <a:xfrm>
            <a:off x="548640" y="1719072"/>
            <a:ext cx="2057400" cy="566928"/>
          </a:xfrm>
          <a:prstGeom prst="roundRect">
            <a:avLst>
              <a:gd name="adj" fmla="val 12903"/>
            </a:avLst>
          </a:prstGeom>
          <a:solidFill>
            <a:srgbClr val="C9A227"/>
          </a:solidFill>
          <a:ln/>
        </p:spPr>
        <p:txBody>
          <a:bodyPr wrap="square" lIns="38100" tIns="38100" rIns="38100" bIns="38100" rtlCol="0" anchor="ctr"/>
          <a:lstStyle/>
          <a:p>
            <a:pPr algn="ctr" indent="0" marL="0">
              <a:buNone/>
            </a:pPr>
            <a:r>
              <a:rPr lang="en-US" sz="1300" b="1" dirty="0">
                <a:solidFill>
                  <a:srgbClr val="1F2A3D"/>
                </a:solidFill>
              </a:rPr>
              <a:t>Babylon</a:t>
            </a:r>
            <a:endParaRPr lang="en-US" sz="1300" dirty="0"/>
          </a:p>
        </p:txBody>
      </p:sp>
      <p:sp>
        <p:nvSpPr>
          <p:cNvPr id="9" name="Text 6"/>
          <p:cNvSpPr txBox="1"/>
          <p:nvPr/>
        </p:nvSpPr>
        <p:spPr>
          <a:xfrm>
            <a:off x="2697480" y="1719072"/>
            <a:ext cx="3611880" cy="566928"/>
          </a:xfrm>
          <a:prstGeom prst="rect">
            <a:avLst/>
          </a:prstGeom>
          <a:solidFill>
            <a:srgbClr val="FFFFFF"/>
          </a:solidFill>
          <a:ln w="15875">
            <a:solidFill>
              <a:srgbClr val="C9A227"/>
            </a:solidFill>
          </a:ln>
        </p:spPr>
        <p:txBody>
          <a:bodyPr wrap="square" lIns="101600" tIns="101600" rIns="101600" bIns="101600" rtlCol="0" anchor="ctr"/>
          <a:lstStyle/>
          <a:p>
            <a:pPr algn="l" indent="0" marL="0">
              <a:buNone/>
            </a:pPr>
            <a:r>
              <a:rPr lang="en-US" sz="1200" dirty="0">
                <a:solidFill>
                  <a:schemeClr val="tx1"/>
                </a:solidFill>
              </a:rPr>
              <a:t>Head of gold (2:32, 38)</a:t>
            </a:r>
            <a:endParaRPr lang="en-US" sz="1200" dirty="0"/>
          </a:p>
        </p:txBody>
      </p:sp>
      <p:sp>
        <p:nvSpPr>
          <p:cNvPr id="10" name="Text 7"/>
          <p:cNvSpPr txBox="1"/>
          <p:nvPr/>
        </p:nvSpPr>
        <p:spPr>
          <a:xfrm>
            <a:off x="6400800" y="1719072"/>
            <a:ext cx="5257800" cy="566928"/>
          </a:xfrm>
          <a:prstGeom prst="rect">
            <a:avLst/>
          </a:prstGeom>
          <a:solidFill>
            <a:srgbClr val="FFFFFF"/>
          </a:solidFill>
          <a:ln w="15875">
            <a:solidFill>
              <a:srgbClr val="C9A227"/>
            </a:solidFill>
          </a:ln>
        </p:spPr>
        <p:txBody>
          <a:bodyPr wrap="square" lIns="101600" tIns="101600" rIns="101600" bIns="101600" rtlCol="0" anchor="ctr"/>
          <a:lstStyle/>
          <a:p>
            <a:pPr algn="l" indent="0" marL="0">
              <a:buNone/>
            </a:pPr>
            <a:r>
              <a:rPr lang="en-US" sz="1200" dirty="0">
                <a:solidFill>
                  <a:schemeClr val="tx1"/>
                </a:solidFill>
              </a:rPr>
              <a:t>Lion with eagle’s wings (7:4)</a:t>
            </a:r>
            <a:endParaRPr lang="en-US" sz="1200" dirty="0"/>
          </a:p>
        </p:txBody>
      </p:sp>
      <p:sp>
        <p:nvSpPr>
          <p:cNvPr id="11" name="Text 8"/>
          <p:cNvSpPr txBox="1"/>
          <p:nvPr/>
        </p:nvSpPr>
        <p:spPr>
          <a:xfrm>
            <a:off x="548640" y="2386584"/>
            <a:ext cx="2057400" cy="566928"/>
          </a:xfrm>
          <a:prstGeom prst="roundRect">
            <a:avLst>
              <a:gd name="adj" fmla="val 12903"/>
            </a:avLst>
          </a:prstGeom>
          <a:solidFill>
            <a:srgbClr val="A7ADB5"/>
          </a:solidFill>
          <a:ln/>
        </p:spPr>
        <p:txBody>
          <a:bodyPr wrap="square" lIns="38100" tIns="38100" rIns="38100" bIns="38100" rtlCol="0" anchor="ctr"/>
          <a:lstStyle/>
          <a:p>
            <a:pPr algn="ctr" indent="0" marL="0">
              <a:buNone/>
            </a:pPr>
            <a:r>
              <a:rPr lang="en-US" sz="1300" b="1" dirty="0">
                <a:solidFill>
                  <a:srgbClr val="1F2A3D"/>
                </a:solidFill>
              </a:rPr>
              <a:t>Medo-Persia</a:t>
            </a:r>
            <a:endParaRPr lang="en-US" sz="1300" dirty="0"/>
          </a:p>
        </p:txBody>
      </p:sp>
      <p:sp>
        <p:nvSpPr>
          <p:cNvPr id="12" name="Text 9"/>
          <p:cNvSpPr txBox="1"/>
          <p:nvPr/>
        </p:nvSpPr>
        <p:spPr>
          <a:xfrm>
            <a:off x="2697480" y="2386584"/>
            <a:ext cx="3611880" cy="566928"/>
          </a:xfrm>
          <a:prstGeom prst="rect">
            <a:avLst/>
          </a:prstGeom>
          <a:solidFill>
            <a:srgbClr val="FFFFFF"/>
          </a:solidFill>
          <a:ln w="15875">
            <a:solidFill>
              <a:srgbClr val="A7ADB5"/>
            </a:solidFill>
          </a:ln>
        </p:spPr>
        <p:txBody>
          <a:bodyPr wrap="square" lIns="101600" tIns="101600" rIns="101600" bIns="101600" rtlCol="0" anchor="ctr"/>
          <a:lstStyle/>
          <a:p>
            <a:pPr algn="l" indent="0" marL="0">
              <a:buNone/>
            </a:pPr>
            <a:r>
              <a:rPr lang="en-US" sz="1200" dirty="0">
                <a:solidFill>
                  <a:schemeClr val="tx1"/>
                </a:solidFill>
              </a:rPr>
              <a:t>Chest and arms of silver (2:32, 39)</a:t>
            </a:r>
            <a:endParaRPr lang="en-US" sz="1200" dirty="0"/>
          </a:p>
        </p:txBody>
      </p:sp>
      <p:sp>
        <p:nvSpPr>
          <p:cNvPr id="13" name="Text 10"/>
          <p:cNvSpPr txBox="1"/>
          <p:nvPr/>
        </p:nvSpPr>
        <p:spPr>
          <a:xfrm>
            <a:off x="6400800" y="2386584"/>
            <a:ext cx="5257800" cy="566928"/>
          </a:xfrm>
          <a:prstGeom prst="rect">
            <a:avLst/>
          </a:prstGeom>
          <a:solidFill>
            <a:srgbClr val="FFFFFF"/>
          </a:solidFill>
          <a:ln w="15875">
            <a:solidFill>
              <a:srgbClr val="A7ADB5"/>
            </a:solidFill>
          </a:ln>
        </p:spPr>
        <p:txBody>
          <a:bodyPr wrap="square" lIns="101600" tIns="101600" rIns="101600" bIns="101600" rtlCol="0" anchor="ctr"/>
          <a:lstStyle/>
          <a:p>
            <a:pPr algn="l" indent="0" marL="0">
              <a:buNone/>
            </a:pPr>
            <a:r>
              <a:rPr lang="en-US" sz="1200" dirty="0">
                <a:solidFill>
                  <a:schemeClr val="tx1"/>
                </a:solidFill>
              </a:rPr>
              <a:t>Bear raised up on one side (7:5)</a:t>
            </a:r>
            <a:endParaRPr lang="en-US" sz="1200" dirty="0"/>
          </a:p>
        </p:txBody>
      </p:sp>
      <p:sp>
        <p:nvSpPr>
          <p:cNvPr id="14" name="Text 11"/>
          <p:cNvSpPr txBox="1"/>
          <p:nvPr/>
        </p:nvSpPr>
        <p:spPr>
          <a:xfrm>
            <a:off x="548640" y="3054096"/>
            <a:ext cx="2057400" cy="566928"/>
          </a:xfrm>
          <a:prstGeom prst="roundRect">
            <a:avLst>
              <a:gd name="adj" fmla="val 12903"/>
            </a:avLst>
          </a:prstGeom>
          <a:solidFill>
            <a:srgbClr val="A8673A"/>
          </a:solidFill>
          <a:ln/>
        </p:spPr>
        <p:txBody>
          <a:bodyPr wrap="square" lIns="38100" tIns="38100" rIns="38100" bIns="38100" rtlCol="0" anchor="ctr"/>
          <a:lstStyle/>
          <a:p>
            <a:pPr algn="ctr" indent="0" marL="0">
              <a:buNone/>
            </a:pPr>
            <a:r>
              <a:rPr lang="en-US" sz="1300" b="1" dirty="0">
                <a:solidFill>
                  <a:srgbClr val="FFFFFF"/>
                </a:solidFill>
              </a:rPr>
              <a:t>Greece</a:t>
            </a:r>
            <a:endParaRPr lang="en-US" sz="1300" dirty="0"/>
          </a:p>
        </p:txBody>
      </p:sp>
      <p:sp>
        <p:nvSpPr>
          <p:cNvPr id="15" name="Text 12"/>
          <p:cNvSpPr txBox="1"/>
          <p:nvPr/>
        </p:nvSpPr>
        <p:spPr>
          <a:xfrm>
            <a:off x="2697480" y="3054096"/>
            <a:ext cx="3611880" cy="566928"/>
          </a:xfrm>
          <a:prstGeom prst="rect">
            <a:avLst/>
          </a:prstGeom>
          <a:solidFill>
            <a:srgbClr val="FFFFFF"/>
          </a:solidFill>
          <a:ln w="15875">
            <a:solidFill>
              <a:srgbClr val="A8673A"/>
            </a:solidFill>
          </a:ln>
        </p:spPr>
        <p:txBody>
          <a:bodyPr wrap="square" lIns="101600" tIns="101600" rIns="101600" bIns="101600" rtlCol="0" anchor="ctr"/>
          <a:lstStyle/>
          <a:p>
            <a:pPr algn="l" indent="0" marL="0">
              <a:buNone/>
            </a:pPr>
            <a:r>
              <a:rPr lang="en-US" sz="1200" dirty="0">
                <a:solidFill>
                  <a:schemeClr val="tx1"/>
                </a:solidFill>
              </a:rPr>
              <a:t>Belly and thighs of bronze (2:32, 39)</a:t>
            </a:r>
            <a:endParaRPr lang="en-US" sz="1200" dirty="0"/>
          </a:p>
        </p:txBody>
      </p:sp>
      <p:sp>
        <p:nvSpPr>
          <p:cNvPr id="16" name="Text 13"/>
          <p:cNvSpPr txBox="1"/>
          <p:nvPr/>
        </p:nvSpPr>
        <p:spPr>
          <a:xfrm>
            <a:off x="6400800" y="3054096"/>
            <a:ext cx="5257800" cy="566928"/>
          </a:xfrm>
          <a:prstGeom prst="rect">
            <a:avLst/>
          </a:prstGeom>
          <a:solidFill>
            <a:srgbClr val="FFFFFF"/>
          </a:solidFill>
          <a:ln w="15875">
            <a:solidFill>
              <a:srgbClr val="A8673A"/>
            </a:solidFill>
          </a:ln>
        </p:spPr>
        <p:txBody>
          <a:bodyPr wrap="square" lIns="101600" tIns="101600" rIns="101600" bIns="101600" rtlCol="0" anchor="ctr"/>
          <a:lstStyle/>
          <a:p>
            <a:pPr algn="l" indent="0" marL="0">
              <a:buNone/>
            </a:pPr>
            <a:r>
              <a:rPr lang="en-US" sz="1200" dirty="0">
                <a:solidFill>
                  <a:schemeClr val="tx1"/>
                </a:solidFill>
              </a:rPr>
              <a:t>Leopard with four wings, four heads (7:6)</a:t>
            </a:r>
            <a:endParaRPr lang="en-US" sz="1200" dirty="0"/>
          </a:p>
        </p:txBody>
      </p:sp>
      <p:sp>
        <p:nvSpPr>
          <p:cNvPr id="17" name="Text 14"/>
          <p:cNvSpPr txBox="1"/>
          <p:nvPr/>
        </p:nvSpPr>
        <p:spPr>
          <a:xfrm>
            <a:off x="548640" y="3721608"/>
            <a:ext cx="2057400" cy="566928"/>
          </a:xfrm>
          <a:prstGeom prst="roundRect">
            <a:avLst>
              <a:gd name="adj" fmla="val 12903"/>
            </a:avLst>
          </a:prstGeom>
          <a:solidFill>
            <a:srgbClr val="4A5260"/>
          </a:solidFill>
          <a:ln/>
        </p:spPr>
        <p:txBody>
          <a:bodyPr wrap="square" lIns="38100" tIns="38100" rIns="38100" bIns="38100" rtlCol="0" anchor="ctr"/>
          <a:lstStyle/>
          <a:p>
            <a:pPr algn="ctr" indent="0" marL="0">
              <a:buNone/>
            </a:pPr>
            <a:r>
              <a:rPr lang="en-US" sz="1300" b="1" dirty="0">
                <a:solidFill>
                  <a:srgbClr val="FFFFFF"/>
                </a:solidFill>
              </a:rPr>
              <a:t>Rome</a:t>
            </a:r>
            <a:endParaRPr lang="en-US" sz="1300" dirty="0"/>
          </a:p>
        </p:txBody>
      </p:sp>
      <p:sp>
        <p:nvSpPr>
          <p:cNvPr id="18" name="Text 15"/>
          <p:cNvSpPr txBox="1"/>
          <p:nvPr/>
        </p:nvSpPr>
        <p:spPr>
          <a:xfrm>
            <a:off x="2697480" y="3721608"/>
            <a:ext cx="3611880" cy="566928"/>
          </a:xfrm>
          <a:prstGeom prst="rect">
            <a:avLst/>
          </a:prstGeom>
          <a:solidFill>
            <a:srgbClr val="FFFFFF"/>
          </a:solidFill>
          <a:ln w="15875">
            <a:solidFill>
              <a:srgbClr val="4A5260"/>
            </a:solidFill>
          </a:ln>
        </p:spPr>
        <p:txBody>
          <a:bodyPr wrap="square" lIns="101600" tIns="101600" rIns="101600" bIns="101600" rtlCol="0" anchor="ctr"/>
          <a:lstStyle/>
          <a:p>
            <a:pPr algn="l" indent="0" marL="0">
              <a:buNone/>
            </a:pPr>
            <a:r>
              <a:rPr lang="en-US" sz="1200" dirty="0">
                <a:solidFill>
                  <a:schemeClr val="tx1"/>
                </a:solidFill>
              </a:rPr>
              <a:t>Legs of iron (2:33, 40)</a:t>
            </a:r>
            <a:endParaRPr lang="en-US" sz="1200" dirty="0"/>
          </a:p>
        </p:txBody>
      </p:sp>
      <p:sp>
        <p:nvSpPr>
          <p:cNvPr id="19" name="Text 16"/>
          <p:cNvSpPr txBox="1"/>
          <p:nvPr/>
        </p:nvSpPr>
        <p:spPr>
          <a:xfrm>
            <a:off x="6400800" y="3721608"/>
            <a:ext cx="5257800" cy="566928"/>
          </a:xfrm>
          <a:prstGeom prst="rect">
            <a:avLst/>
          </a:prstGeom>
          <a:solidFill>
            <a:srgbClr val="FFFFFF"/>
          </a:solidFill>
          <a:ln w="15875">
            <a:solidFill>
              <a:srgbClr val="4A5260"/>
            </a:solidFill>
          </a:ln>
        </p:spPr>
        <p:txBody>
          <a:bodyPr wrap="square" lIns="101600" tIns="101600" rIns="101600" bIns="101600" rtlCol="0" anchor="ctr"/>
          <a:lstStyle/>
          <a:p>
            <a:pPr algn="l" indent="0" marL="0">
              <a:buNone/>
            </a:pPr>
            <a:r>
              <a:rPr lang="en-US" sz="1200" dirty="0">
                <a:solidFill>
                  <a:schemeClr val="tx1"/>
                </a:solidFill>
              </a:rPr>
              <a:t>Terrifying beast with iron teeth (7:7, 19)</a:t>
            </a:r>
            <a:endParaRPr lang="en-US" sz="1200" dirty="0"/>
          </a:p>
        </p:txBody>
      </p:sp>
      <p:sp>
        <p:nvSpPr>
          <p:cNvPr id="20" name="Text 17"/>
          <p:cNvSpPr txBox="1"/>
          <p:nvPr/>
        </p:nvSpPr>
        <p:spPr>
          <a:xfrm>
            <a:off x="548640" y="4389120"/>
            <a:ext cx="2057400" cy="566928"/>
          </a:xfrm>
          <a:prstGeom prst="roundRect">
            <a:avLst>
              <a:gd name="adj" fmla="val 12903"/>
            </a:avLst>
          </a:prstGeom>
          <a:solidFill>
            <a:srgbClr val="6E5A4A"/>
          </a:solidFill>
          <a:ln/>
        </p:spPr>
        <p:txBody>
          <a:bodyPr wrap="square" lIns="38100" tIns="38100" rIns="38100" bIns="38100" rtlCol="0" anchor="ctr"/>
          <a:lstStyle/>
          <a:p>
            <a:pPr algn="ctr" indent="0" marL="0">
              <a:buNone/>
            </a:pPr>
            <a:r>
              <a:rPr lang="en-US" sz="1300" b="1" dirty="0">
                <a:solidFill>
                  <a:srgbClr val="FFFFFF"/>
                </a:solidFill>
              </a:rPr>
              <a:t>Revived Rome</a:t>
            </a:r>
            <a:endParaRPr lang="en-US" sz="1300" dirty="0"/>
          </a:p>
        </p:txBody>
      </p:sp>
      <p:sp>
        <p:nvSpPr>
          <p:cNvPr id="21" name="Text 18"/>
          <p:cNvSpPr txBox="1"/>
          <p:nvPr/>
        </p:nvSpPr>
        <p:spPr>
          <a:xfrm>
            <a:off x="2697480" y="4389120"/>
            <a:ext cx="3611880" cy="566928"/>
          </a:xfrm>
          <a:prstGeom prst="rect">
            <a:avLst/>
          </a:prstGeom>
          <a:solidFill>
            <a:srgbClr val="FFFFFF"/>
          </a:solidFill>
          <a:ln w="15875">
            <a:solidFill>
              <a:srgbClr val="6E5A4A"/>
            </a:solidFill>
          </a:ln>
        </p:spPr>
        <p:txBody>
          <a:bodyPr wrap="square" lIns="101600" tIns="101600" rIns="101600" bIns="101600" rtlCol="0" anchor="ctr"/>
          <a:lstStyle/>
          <a:p>
            <a:pPr algn="l" indent="0" marL="0">
              <a:buNone/>
            </a:pPr>
            <a:r>
              <a:rPr lang="en-US" sz="1200" dirty="0">
                <a:solidFill>
                  <a:schemeClr val="tx1"/>
                </a:solidFill>
              </a:rPr>
              <a:t>Feet and toes of iron and clay (2:33, 41–43)</a:t>
            </a:r>
            <a:endParaRPr lang="en-US" sz="1200" dirty="0"/>
          </a:p>
        </p:txBody>
      </p:sp>
      <p:sp>
        <p:nvSpPr>
          <p:cNvPr id="22" name="Text 19"/>
          <p:cNvSpPr txBox="1"/>
          <p:nvPr/>
        </p:nvSpPr>
        <p:spPr>
          <a:xfrm>
            <a:off x="6400800" y="4389120"/>
            <a:ext cx="5257800" cy="566928"/>
          </a:xfrm>
          <a:prstGeom prst="rect">
            <a:avLst/>
          </a:prstGeom>
          <a:solidFill>
            <a:srgbClr val="FFFFFF"/>
          </a:solidFill>
          <a:ln w="15875">
            <a:solidFill>
              <a:srgbClr val="6E5A4A"/>
            </a:solidFill>
          </a:ln>
        </p:spPr>
        <p:txBody>
          <a:bodyPr wrap="square" lIns="101600" tIns="101600" rIns="101600" bIns="101600" rtlCol="0" anchor="ctr"/>
          <a:lstStyle/>
          <a:p>
            <a:pPr algn="l" indent="0" marL="0">
              <a:buNone/>
            </a:pPr>
            <a:r>
              <a:rPr lang="en-US" sz="1200" dirty="0">
                <a:solidFill>
                  <a:schemeClr val="tx1"/>
                </a:solidFill>
              </a:rPr>
              <a:t>Ten horns and the little horn (7:7–8, 24)</a:t>
            </a:r>
            <a:endParaRPr lang="en-US" sz="1200" dirty="0"/>
          </a:p>
        </p:txBody>
      </p:sp>
      <p:sp>
        <p:nvSpPr>
          <p:cNvPr id="23" name="Text 20"/>
          <p:cNvSpPr txBox="1"/>
          <p:nvPr/>
        </p:nvSpPr>
        <p:spPr>
          <a:xfrm>
            <a:off x="548640" y="5056632"/>
            <a:ext cx="2057400" cy="566928"/>
          </a:xfrm>
          <a:prstGeom prst="roundRect">
            <a:avLst>
              <a:gd name="adj" fmla="val 12903"/>
            </a:avLst>
          </a:prstGeom>
          <a:solidFill>
            <a:srgbClr val="7030A0"/>
          </a:solidFill>
          <a:ln/>
        </p:spPr>
        <p:txBody>
          <a:bodyPr wrap="square" lIns="38100" tIns="38100" rIns="38100" bIns="38100" rtlCol="0" anchor="ctr"/>
          <a:lstStyle/>
          <a:p>
            <a:pPr algn="ctr" indent="0" marL="0">
              <a:buNone/>
            </a:pPr>
            <a:r>
              <a:rPr lang="en-US" sz="1300" b="1" dirty="0">
                <a:solidFill>
                  <a:srgbClr val="FFFFFF"/>
                </a:solidFill>
              </a:rPr>
              <a:t>God’s Kingdom</a:t>
            </a:r>
            <a:endParaRPr lang="en-US" sz="1300" dirty="0"/>
          </a:p>
        </p:txBody>
      </p:sp>
      <p:sp>
        <p:nvSpPr>
          <p:cNvPr id="24" name="Text 21"/>
          <p:cNvSpPr txBox="1"/>
          <p:nvPr/>
        </p:nvSpPr>
        <p:spPr>
          <a:xfrm>
            <a:off x="2697480" y="5056632"/>
            <a:ext cx="3611880" cy="566928"/>
          </a:xfrm>
          <a:prstGeom prst="rect">
            <a:avLst/>
          </a:prstGeom>
          <a:solidFill>
            <a:srgbClr val="FFFFFF"/>
          </a:solidFill>
          <a:ln w="15875">
            <a:solidFill>
              <a:srgbClr val="7030A0"/>
            </a:solidFill>
          </a:ln>
        </p:spPr>
        <p:txBody>
          <a:bodyPr wrap="square" lIns="101600" tIns="101600" rIns="101600" bIns="101600" rtlCol="0" anchor="ctr"/>
          <a:lstStyle/>
          <a:p>
            <a:pPr algn="l" indent="0" marL="0">
              <a:buNone/>
            </a:pPr>
            <a:r>
              <a:rPr lang="en-US" sz="1200" dirty="0">
                <a:solidFill>
                  <a:schemeClr val="tx1"/>
                </a:solidFill>
              </a:rPr>
              <a:t>Stone cut without hands fills the earth (2:34–35, 44–45)</a:t>
            </a:r>
            <a:endParaRPr lang="en-US" sz="1200" dirty="0"/>
          </a:p>
        </p:txBody>
      </p:sp>
      <p:sp>
        <p:nvSpPr>
          <p:cNvPr id="25" name="Text 22"/>
          <p:cNvSpPr txBox="1"/>
          <p:nvPr/>
        </p:nvSpPr>
        <p:spPr>
          <a:xfrm>
            <a:off x="6400800" y="5056632"/>
            <a:ext cx="5257800" cy="566928"/>
          </a:xfrm>
          <a:prstGeom prst="rect">
            <a:avLst/>
          </a:prstGeom>
          <a:solidFill>
            <a:srgbClr val="FFFFFF"/>
          </a:solidFill>
          <a:ln w="15875">
            <a:solidFill>
              <a:srgbClr val="7030A0"/>
            </a:solidFill>
          </a:ln>
        </p:spPr>
        <p:txBody>
          <a:bodyPr wrap="square" lIns="101600" tIns="101600" rIns="101600" bIns="101600" rtlCol="0" anchor="ctr"/>
          <a:lstStyle/>
          <a:p>
            <a:pPr algn="l" indent="0" marL="0">
              <a:buNone/>
            </a:pPr>
            <a:r>
              <a:rPr lang="en-US" sz="1200" dirty="0">
                <a:solidFill>
                  <a:schemeClr val="tx1"/>
                </a:solidFill>
              </a:rPr>
              <a:t>Son of Man receives the kingdom (7:13–14, 27)</a:t>
            </a:r>
            <a:endParaRPr lang="en-US" sz="1200" dirty="0"/>
          </a:p>
        </p:txBody>
      </p:sp>
      <p:sp>
        <p:nvSpPr>
          <p:cNvPr id="26" name="Text 23"/>
          <p:cNvSpPr txBox="1"/>
          <p:nvPr/>
        </p:nvSpPr>
        <p:spPr>
          <a:xfrm>
            <a:off x="548640" y="5760720"/>
            <a:ext cx="11064240" cy="502920"/>
          </a:xfrm>
          <a:prstGeom prst="rect">
            <a:avLst/>
          </a:prstGeom>
          <a:noFill/>
          <a:ln/>
        </p:spPr>
        <p:txBody>
          <a:bodyPr wrap="square" lIns="0" tIns="0" rIns="0" bIns="0" rtlCol="0" anchor="t"/>
          <a:lstStyle/>
          <a:p>
            <a:pPr algn="l" indent="0" marL="0">
              <a:buNone/>
            </a:pPr>
            <a:r>
              <a:rPr lang="en-US" sz="1200" i="1" dirty="0">
                <a:solidFill>
                  <a:schemeClr val="accent6"/>
                </a:solidFill>
              </a:rPr>
              <a:t>Daniel 2 shows the kingdoms as men see them — precious metals; Daniel 7 shows them as God sees them — beasts. Both end with God’s kingdom replacing them all.</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11155680" cy="621792"/>
          </a:xfrm>
          <a:prstGeom prst="rect">
            <a:avLst/>
          </a:prstGeom>
          <a:noFill/>
          <a:ln/>
        </p:spPr>
        <p:txBody>
          <a:bodyPr wrap="square" lIns="0" tIns="0" rIns="0" bIns="0" rtlCol="0" anchor="ctr"/>
          <a:lstStyle/>
          <a:p>
            <a:pPr algn="l" indent="0" marL="0">
              <a:buNone/>
            </a:pPr>
            <a:r>
              <a:rPr lang="en-US" sz="3400" b="1" dirty="0">
                <a:solidFill>
                  <a:srgbClr val="1F3864"/>
                </a:solidFill>
              </a:rPr>
              <a:t>Daniel’s 70th Week — The Tribulation</a:t>
            </a:r>
            <a:endParaRPr lang="en-US" sz="3400" dirty="0"/>
          </a:p>
        </p:txBody>
      </p:sp>
      <p:sp>
        <p:nvSpPr>
          <p:cNvPr id="3" name="Text 1"/>
          <p:cNvSpPr/>
          <p:nvPr>
            <p:ph idx="102" type="body" hasCustomPrompt="1"/>
          </p:nvPr>
        </p:nvSpPr>
        <p:spPr>
          <a:xfrm>
            <a:off x="502920" y="914400"/>
            <a:ext cx="11155680" cy="347472"/>
          </a:xfrm>
          <a:prstGeom prst="rect">
            <a:avLst/>
          </a:prstGeom>
          <a:noFill/>
          <a:ln/>
        </p:spPr>
        <p:txBody>
          <a:bodyPr wrap="square" lIns="0" tIns="0" rIns="0" bIns="0" rtlCol="0" anchor="ctr"/>
          <a:lstStyle/>
          <a:p>
            <a:pPr indent="0" marL="0">
              <a:buNone/>
            </a:pPr>
            <a:r>
              <a:rPr lang="en-US" sz="1400" i="1" dirty="0">
                <a:solidFill>
                  <a:srgbClr val="6B7A8F"/>
                </a:solidFill>
              </a:rPr>
              <a:t>Daniel 9:27  ·  7 years = 2,520 days on the 360-day prophetic year</a:t>
            </a:r>
            <a:endParaRPr lang="en-US" sz="1400" dirty="0"/>
          </a:p>
        </p:txBody>
      </p:sp>
      <p:sp>
        <p:nvSpPr>
          <p:cNvPr id="5" name="Text 2"/>
          <p:cNvSpPr txBox="1"/>
          <p:nvPr/>
        </p:nvSpPr>
        <p:spPr>
          <a:xfrm>
            <a:off x="914400" y="2331720"/>
            <a:ext cx="5166360" cy="777240"/>
          </a:xfrm>
          <a:prstGeom prst="rect">
            <a:avLst/>
          </a:prstGeom>
          <a:solidFill>
            <a:srgbClr val="B26B5A"/>
          </a:solidFill>
          <a:ln/>
        </p:spPr>
        <p:txBody>
          <a:bodyPr wrap="square" lIns="38100" tIns="38100" rIns="38100" bIns="38100" rtlCol="0" anchor="ctr"/>
          <a:lstStyle/>
          <a:p>
            <a:pPr algn="ctr" indent="0" marL="0">
              <a:buNone/>
            </a:pPr>
            <a:r>
              <a:rPr lang="en-US" sz="1300" b="1" dirty="0">
                <a:solidFill>
                  <a:schemeClr val="bg1"/>
                </a:solidFill>
              </a:rPr>
              <a:t>FIRST 3½ YEARS</a:t>
            </a:r>
            <a:endParaRPr lang="en-US" sz="1300" dirty="0"/>
          </a:p>
          <a:p>
            <a:pPr algn="ctr" indent="0" marL="0">
              <a:buNone/>
            </a:pPr>
            <a:r>
              <a:rPr lang="en-US" sz="1300" b="1" dirty="0">
                <a:solidFill>
                  <a:schemeClr val="bg1"/>
                </a:solidFill>
              </a:rPr>
              <a:t>“the beginning of sorrows”</a:t>
            </a:r>
            <a:endParaRPr lang="en-US" sz="1300" dirty="0"/>
          </a:p>
        </p:txBody>
      </p:sp>
      <p:sp>
        <p:nvSpPr>
          <p:cNvPr id="6" name="Text 3"/>
          <p:cNvSpPr txBox="1"/>
          <p:nvPr/>
        </p:nvSpPr>
        <p:spPr>
          <a:xfrm>
            <a:off x="6080760" y="2331720"/>
            <a:ext cx="5166360" cy="777240"/>
          </a:xfrm>
          <a:prstGeom prst="rect">
            <a:avLst/>
          </a:prstGeom>
          <a:solidFill>
            <a:schemeClr val="accent4"/>
          </a:solidFill>
          <a:ln/>
        </p:spPr>
        <p:txBody>
          <a:bodyPr wrap="square" lIns="38100" tIns="38100" rIns="38100" bIns="38100" rtlCol="0" anchor="ctr"/>
          <a:lstStyle/>
          <a:p>
            <a:pPr algn="ctr" indent="0" marL="0">
              <a:buNone/>
            </a:pPr>
            <a:r>
              <a:rPr lang="en-US" sz="1300" b="1" dirty="0">
                <a:solidFill>
                  <a:schemeClr val="bg1"/>
                </a:solidFill>
              </a:rPr>
              <a:t>SECOND 3½ YEARS</a:t>
            </a:r>
            <a:endParaRPr lang="en-US" sz="1300" dirty="0"/>
          </a:p>
          <a:p>
            <a:pPr algn="ctr" indent="0" marL="0">
              <a:buNone/>
            </a:pPr>
            <a:r>
              <a:rPr lang="en-US" sz="1300" b="1" dirty="0">
                <a:solidFill>
                  <a:schemeClr val="bg1"/>
                </a:solidFill>
              </a:rPr>
              <a:t>“the great tribulation”  (Matt 24:21)</a:t>
            </a:r>
            <a:endParaRPr lang="en-US" sz="1300" dirty="0"/>
          </a:p>
        </p:txBody>
      </p:sp>
      <p:sp>
        <p:nvSpPr>
          <p:cNvPr id="7" name="Shape 4"/>
          <p:cNvSpPr/>
          <p:nvPr/>
        </p:nvSpPr>
        <p:spPr>
          <a:xfrm>
            <a:off x="6080760" y="2103120"/>
            <a:ext cx="0" cy="1234440"/>
          </a:xfrm>
          <a:prstGeom prst="line">
            <a:avLst/>
          </a:prstGeom>
          <a:noFill/>
          <a:ln w="31750">
            <a:solidFill>
              <a:srgbClr val="1F3864"/>
            </a:solidFill>
            <a:prstDash val="solid"/>
          </a:ln>
        </p:spPr>
      </p:sp>
      <p:sp>
        <p:nvSpPr>
          <p:cNvPr id="8" name="Text 5"/>
          <p:cNvSpPr txBox="1"/>
          <p:nvPr/>
        </p:nvSpPr>
        <p:spPr>
          <a:xfrm>
            <a:off x="914400" y="3182112"/>
            <a:ext cx="5166360" cy="274320"/>
          </a:xfrm>
          <a:prstGeom prst="rect">
            <a:avLst/>
          </a:prstGeom>
          <a:noFill/>
          <a:ln/>
        </p:spPr>
        <p:txBody>
          <a:bodyPr wrap="square" lIns="0" tIns="0" rIns="0" bIns="0" rtlCol="0" anchor="t"/>
          <a:lstStyle/>
          <a:p>
            <a:pPr algn="ctr" indent="0" marL="0">
              <a:buNone/>
            </a:pPr>
            <a:r>
              <a:rPr lang="en-US" sz="1100" dirty="0">
                <a:solidFill>
                  <a:schemeClr val="accent6"/>
                </a:solidFill>
              </a:rPr>
              <a:t>1,260 days  ·  42 months  ·  “time, times, and half a time”</a:t>
            </a:r>
            <a:endParaRPr lang="en-US" sz="1100" dirty="0"/>
          </a:p>
        </p:txBody>
      </p:sp>
      <p:sp>
        <p:nvSpPr>
          <p:cNvPr id="9" name="Text 6"/>
          <p:cNvSpPr txBox="1"/>
          <p:nvPr/>
        </p:nvSpPr>
        <p:spPr>
          <a:xfrm>
            <a:off x="6080760" y="3182112"/>
            <a:ext cx="5166360" cy="274320"/>
          </a:xfrm>
          <a:prstGeom prst="rect">
            <a:avLst/>
          </a:prstGeom>
          <a:noFill/>
          <a:ln/>
        </p:spPr>
        <p:txBody>
          <a:bodyPr wrap="square" lIns="0" tIns="0" rIns="0" bIns="0" rtlCol="0" anchor="t"/>
          <a:lstStyle/>
          <a:p>
            <a:pPr algn="ctr" indent="0" marL="0">
              <a:buNone/>
            </a:pPr>
            <a:r>
              <a:rPr lang="en-US" sz="1100" dirty="0">
                <a:solidFill>
                  <a:schemeClr val="accent6"/>
                </a:solidFill>
              </a:rPr>
              <a:t>1,260 days  ·  42 months  ·  “time, times, and half a time”</a:t>
            </a:r>
            <a:endParaRPr lang="en-US" sz="1100" dirty="0"/>
          </a:p>
        </p:txBody>
      </p:sp>
      <p:sp>
        <p:nvSpPr>
          <p:cNvPr id="10" name="Text 7"/>
          <p:cNvSpPr txBox="1"/>
          <p:nvPr/>
        </p:nvSpPr>
        <p:spPr>
          <a:xfrm>
            <a:off x="914400" y="1463040"/>
            <a:ext cx="2743200" cy="548640"/>
          </a:xfrm>
          <a:prstGeom prst="rect">
            <a:avLst/>
          </a:prstGeom>
          <a:noFill/>
          <a:ln/>
        </p:spPr>
        <p:txBody>
          <a:bodyPr wrap="square" lIns="0" tIns="0" rIns="0" bIns="0" rtlCol="0" anchor="b"/>
          <a:lstStyle/>
          <a:p>
            <a:pPr algn="l" indent="0" marL="0">
              <a:buNone/>
            </a:pPr>
            <a:r>
              <a:rPr lang="en-US" sz="1200" b="1" dirty="0">
                <a:solidFill>
                  <a:schemeClr val="tx2"/>
                </a:solidFill>
              </a:rPr>
              <a:t>Covenant confirmed with Israel</a:t>
            </a:r>
            <a:endParaRPr lang="en-US" sz="1200" dirty="0"/>
          </a:p>
          <a:p>
            <a:pPr algn="l" indent="0" marL="0">
              <a:buNone/>
            </a:pPr>
            <a:r>
              <a:rPr lang="en-US" sz="1200" b="1" dirty="0">
                <a:solidFill>
                  <a:schemeClr val="tx2"/>
                </a:solidFill>
              </a:rPr>
              <a:t>Dan 9:27a</a:t>
            </a:r>
            <a:endParaRPr lang="en-US" sz="1200" dirty="0"/>
          </a:p>
        </p:txBody>
      </p:sp>
      <p:sp>
        <p:nvSpPr>
          <p:cNvPr id="11" name="Text 8"/>
          <p:cNvSpPr txBox="1"/>
          <p:nvPr/>
        </p:nvSpPr>
        <p:spPr>
          <a:xfrm>
            <a:off x="3703320" y="1463040"/>
            <a:ext cx="4754880" cy="548640"/>
          </a:xfrm>
          <a:prstGeom prst="rect">
            <a:avLst/>
          </a:prstGeom>
          <a:noFill/>
          <a:ln/>
        </p:spPr>
        <p:txBody>
          <a:bodyPr wrap="square" lIns="0" tIns="0" rIns="0" bIns="0" rtlCol="0" anchor="b"/>
          <a:lstStyle/>
          <a:p>
            <a:pPr algn="ctr" indent="0" marL="0">
              <a:buNone/>
            </a:pPr>
            <a:r>
              <a:rPr lang="en-US" sz="1200" b="1" dirty="0">
                <a:solidFill>
                  <a:schemeClr val="tx2"/>
                </a:solidFill>
              </a:rPr>
              <a:t>MIDPOINT: covenant broken · Abomination of Desolation</a:t>
            </a:r>
            <a:endParaRPr lang="en-US" sz="1200" dirty="0"/>
          </a:p>
          <a:p>
            <a:pPr algn="ctr" indent="0" marL="0">
              <a:buNone/>
            </a:pPr>
            <a:r>
              <a:rPr lang="en-US" sz="1200" b="1" dirty="0">
                <a:solidFill>
                  <a:schemeClr val="tx2"/>
                </a:solidFill>
              </a:rPr>
              <a:t>Dan 9:27b · Matt 24:15 · 2 Thess 2:4</a:t>
            </a:r>
            <a:endParaRPr lang="en-US" sz="1200" dirty="0"/>
          </a:p>
        </p:txBody>
      </p:sp>
      <p:sp>
        <p:nvSpPr>
          <p:cNvPr id="12" name="Text 9"/>
          <p:cNvSpPr txBox="1"/>
          <p:nvPr/>
        </p:nvSpPr>
        <p:spPr>
          <a:xfrm>
            <a:off x="8503920" y="1463040"/>
            <a:ext cx="2743200" cy="548640"/>
          </a:xfrm>
          <a:prstGeom prst="rect">
            <a:avLst/>
          </a:prstGeom>
          <a:noFill/>
          <a:ln/>
        </p:spPr>
        <p:txBody>
          <a:bodyPr wrap="square" lIns="0" tIns="0" rIns="0" bIns="0" rtlCol="0" anchor="b"/>
          <a:lstStyle/>
          <a:p>
            <a:pPr algn="r" indent="0" marL="0">
              <a:buNone/>
            </a:pPr>
            <a:r>
              <a:rPr lang="en-US" sz="1200" b="1" dirty="0">
                <a:solidFill>
                  <a:schemeClr val="tx2"/>
                </a:solidFill>
              </a:rPr>
              <a:t>Second Coming</a:t>
            </a:r>
            <a:endParaRPr lang="en-US" sz="1200" dirty="0"/>
          </a:p>
          <a:p>
            <a:pPr algn="r" indent="0" marL="0">
              <a:buNone/>
            </a:pPr>
            <a:r>
              <a:rPr lang="en-US" sz="1200" b="1" dirty="0">
                <a:solidFill>
                  <a:schemeClr val="tx2"/>
                </a:solidFill>
              </a:rPr>
              <a:t>Rev 19:11–21</a:t>
            </a:r>
            <a:endParaRPr lang="en-US" sz="1200" dirty="0"/>
          </a:p>
        </p:txBody>
      </p:sp>
      <p:sp>
        <p:nvSpPr>
          <p:cNvPr id="13" name="Shape 10"/>
          <p:cNvSpPr/>
          <p:nvPr/>
        </p:nvSpPr>
        <p:spPr>
          <a:xfrm>
            <a:off x="914400" y="3657600"/>
            <a:ext cx="5029200" cy="1691640"/>
          </a:xfrm>
          <a:prstGeom prst="roundRect">
            <a:avLst>
              <a:gd name="adj" fmla="val 4324"/>
            </a:avLst>
          </a:prstGeom>
          <a:solidFill>
            <a:srgbClr val="FFFFFF"/>
          </a:solidFill>
          <a:ln w="15875">
            <a:solidFill>
              <a:srgbClr val="8B2E2E"/>
            </a:solidFill>
            <a:prstDash val="solid"/>
          </a:ln>
        </p:spPr>
      </p:sp>
      <p:sp>
        <p:nvSpPr>
          <p:cNvPr id="14" name="Text 11"/>
          <p:cNvSpPr txBox="1"/>
          <p:nvPr/>
        </p:nvSpPr>
        <p:spPr>
          <a:xfrm>
            <a:off x="1097280" y="3767328"/>
            <a:ext cx="4663440" cy="274320"/>
          </a:xfrm>
          <a:prstGeom prst="rect">
            <a:avLst/>
          </a:prstGeom>
          <a:noFill/>
          <a:ln/>
        </p:spPr>
        <p:txBody>
          <a:bodyPr wrap="square" lIns="0" tIns="0" rIns="0" bIns="0" rtlCol="0" anchor="t"/>
          <a:lstStyle/>
          <a:p>
            <a:pPr algn="l" indent="0" marL="0">
              <a:buNone/>
            </a:pPr>
            <a:r>
              <a:rPr lang="en-US" sz="1300" b="1" dirty="0">
                <a:solidFill>
                  <a:srgbClr val="8B2E2E"/>
                </a:solidFill>
              </a:rPr>
              <a:t>First half</a:t>
            </a:r>
            <a:endParaRPr lang="en-US" sz="1300" dirty="0"/>
          </a:p>
        </p:txBody>
      </p:sp>
      <p:sp>
        <p:nvSpPr>
          <p:cNvPr id="15" name="Text 12"/>
          <p:cNvSpPr txBox="1"/>
          <p:nvPr/>
        </p:nvSpPr>
        <p:spPr>
          <a:xfrm>
            <a:off x="1097280" y="4096512"/>
            <a:ext cx="4663440" cy="114300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Antichrist’s rise and a false peace (Rev 6:2)</a:t>
            </a:r>
            <a:endParaRPr lang="en-US" sz="1200" dirty="0"/>
          </a:p>
          <a:p>
            <a:pPr marL="342900" indent="-342900">
              <a:spcAft>
                <a:spcPts val="300"/>
              </a:spcAft>
              <a:buSzPct val="100000"/>
              <a:buChar char="•"/>
            </a:pPr>
            <a:r>
              <a:rPr lang="en-US" sz="1200" dirty="0">
                <a:solidFill>
                  <a:schemeClr val="tx1"/>
                </a:solidFill>
              </a:rPr>
              <a:t>Seal judgments 1–7 (Rev 6; 8:1)</a:t>
            </a:r>
            <a:endParaRPr lang="en-US" sz="1200" dirty="0"/>
          </a:p>
          <a:p>
            <a:pPr marL="342900" indent="-342900">
              <a:spcAft>
                <a:spcPts val="300"/>
              </a:spcAft>
              <a:buSzPct val="100000"/>
              <a:buChar char="•"/>
            </a:pPr>
            <a:r>
              <a:rPr lang="en-US" sz="1200" dirty="0">
                <a:solidFill>
                  <a:schemeClr val="tx1"/>
                </a:solidFill>
              </a:rPr>
              <a:t>144,000 sealed; a great multitude saved (Rev 7)</a:t>
            </a:r>
            <a:endParaRPr lang="en-US" sz="1200" dirty="0"/>
          </a:p>
          <a:p>
            <a:pPr marL="342900" indent="-342900">
              <a:spcAft>
                <a:spcPts val="300"/>
              </a:spcAft>
              <a:buSzPct val="100000"/>
              <a:buChar char="•"/>
            </a:pPr>
            <a:r>
              <a:rPr lang="en-US" sz="1200" dirty="0">
                <a:solidFill>
                  <a:schemeClr val="tx1"/>
                </a:solidFill>
              </a:rPr>
              <a:t>Two Witnesses prophesy 1,260 days (Rev 11:3)</a:t>
            </a:r>
            <a:endParaRPr lang="en-US" sz="1200" dirty="0"/>
          </a:p>
        </p:txBody>
      </p:sp>
      <p:sp>
        <p:nvSpPr>
          <p:cNvPr id="16" name="Shape 13"/>
          <p:cNvSpPr/>
          <p:nvPr/>
        </p:nvSpPr>
        <p:spPr>
          <a:xfrm>
            <a:off x="6217920" y="3657600"/>
            <a:ext cx="5029200" cy="1691640"/>
          </a:xfrm>
          <a:prstGeom prst="roundRect">
            <a:avLst>
              <a:gd name="adj" fmla="val 4324"/>
            </a:avLst>
          </a:prstGeom>
          <a:solidFill>
            <a:srgbClr val="FFFFFF"/>
          </a:solidFill>
          <a:ln w="15875">
            <a:solidFill>
              <a:srgbClr val="8B2E2E"/>
            </a:solidFill>
            <a:prstDash val="solid"/>
          </a:ln>
        </p:spPr>
      </p:sp>
      <p:sp>
        <p:nvSpPr>
          <p:cNvPr id="17" name="Text 14"/>
          <p:cNvSpPr txBox="1"/>
          <p:nvPr/>
        </p:nvSpPr>
        <p:spPr>
          <a:xfrm>
            <a:off x="6400800" y="3767328"/>
            <a:ext cx="4663440" cy="274320"/>
          </a:xfrm>
          <a:prstGeom prst="rect">
            <a:avLst/>
          </a:prstGeom>
          <a:noFill/>
          <a:ln/>
        </p:spPr>
        <p:txBody>
          <a:bodyPr wrap="square" lIns="0" tIns="0" rIns="0" bIns="0" rtlCol="0" anchor="t"/>
          <a:lstStyle/>
          <a:p>
            <a:pPr algn="l" indent="0" marL="0">
              <a:buNone/>
            </a:pPr>
            <a:r>
              <a:rPr lang="en-US" sz="1300" b="1" dirty="0">
                <a:solidFill>
                  <a:srgbClr val="8B2E2E"/>
                </a:solidFill>
              </a:rPr>
              <a:t>Second half</a:t>
            </a:r>
            <a:endParaRPr lang="en-US" sz="1300" dirty="0"/>
          </a:p>
        </p:txBody>
      </p:sp>
      <p:sp>
        <p:nvSpPr>
          <p:cNvPr id="18" name="Text 15"/>
          <p:cNvSpPr txBox="1"/>
          <p:nvPr/>
        </p:nvSpPr>
        <p:spPr>
          <a:xfrm>
            <a:off x="6400800" y="4096512"/>
            <a:ext cx="4663440" cy="114300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Image worshiped; mark of the beast (Rev 13:14–18)</a:t>
            </a:r>
            <a:endParaRPr lang="en-US" sz="1200" dirty="0"/>
          </a:p>
          <a:p>
            <a:pPr marL="342900" indent="-342900">
              <a:spcAft>
                <a:spcPts val="300"/>
              </a:spcAft>
              <a:buSzPct val="100000"/>
              <a:buChar char="•"/>
            </a:pPr>
            <a:r>
              <a:rPr lang="en-US" sz="1200" dirty="0">
                <a:solidFill>
                  <a:schemeClr val="tx1"/>
                </a:solidFill>
              </a:rPr>
              <a:t>Remnant flees to the wilderness (Rev 12:6, 14)</a:t>
            </a:r>
            <a:endParaRPr lang="en-US" sz="1200" dirty="0"/>
          </a:p>
          <a:p>
            <a:pPr marL="342900" indent="-342900">
              <a:spcAft>
                <a:spcPts val="300"/>
              </a:spcAft>
              <a:buSzPct val="100000"/>
              <a:buChar char="•"/>
            </a:pPr>
            <a:r>
              <a:rPr lang="en-US" sz="1200" dirty="0">
                <a:solidFill>
                  <a:schemeClr val="tx1"/>
                </a:solidFill>
              </a:rPr>
              <a:t>Trumpet judgments (Rev 8–9) and bowl judgments (Rev 16)</a:t>
            </a:r>
            <a:endParaRPr lang="en-US" sz="1200" dirty="0"/>
          </a:p>
          <a:p>
            <a:pPr marL="342900" indent="-342900">
              <a:spcAft>
                <a:spcPts val="300"/>
              </a:spcAft>
              <a:buSzPct val="100000"/>
              <a:buChar char="•"/>
            </a:pPr>
            <a:r>
              <a:rPr lang="en-US" sz="1200" dirty="0">
                <a:solidFill>
                  <a:schemeClr val="tx1"/>
                </a:solidFill>
              </a:rPr>
              <a:t>Babylon falls; Armageddon campaign (Rev 16–18)</a:t>
            </a:r>
            <a:endParaRPr lang="en-US" sz="1200" dirty="0"/>
          </a:p>
        </p:txBody>
      </p:sp>
      <p:sp>
        <p:nvSpPr>
          <p:cNvPr id="19" name="Text 16"/>
          <p:cNvSpPr txBox="1"/>
          <p:nvPr/>
        </p:nvSpPr>
        <p:spPr>
          <a:xfrm>
            <a:off x="914400" y="5577840"/>
            <a:ext cx="10332720" cy="274320"/>
          </a:xfrm>
          <a:prstGeom prst="rect">
            <a:avLst/>
          </a:prstGeom>
          <a:noFill/>
          <a:ln/>
        </p:spPr>
        <p:txBody>
          <a:bodyPr wrap="square" lIns="0" tIns="0" rIns="0" bIns="0" rtlCol="0" anchor="t"/>
          <a:lstStyle/>
          <a:p>
            <a:pPr algn="l" indent="0" marL="0">
              <a:buNone/>
            </a:pPr>
            <a:r>
              <a:rPr lang="en-US" sz="1100" i="1" dirty="0">
                <a:solidFill>
                  <a:schemeClr val="accent6"/>
                </a:solidFill>
              </a:rPr>
              <a:t>The Rapture of the Church precedes the 70th week (Section IV).</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11155680" cy="621792"/>
          </a:xfrm>
          <a:prstGeom prst="rect">
            <a:avLst/>
          </a:prstGeom>
          <a:noFill/>
          <a:ln/>
        </p:spPr>
        <p:txBody>
          <a:bodyPr wrap="square" lIns="0" tIns="0" rIns="0" bIns="0" rtlCol="0" anchor="ctr"/>
          <a:lstStyle/>
          <a:p>
            <a:pPr algn="l" indent="0" marL="0">
              <a:buNone/>
            </a:pPr>
            <a:r>
              <a:rPr lang="en-US" sz="3400" b="1" dirty="0">
                <a:solidFill>
                  <a:srgbClr val="1F3864"/>
                </a:solidFill>
              </a:rPr>
              <a:t>Who Are the Two Witnesses?</a:t>
            </a:r>
            <a:endParaRPr lang="en-US" sz="3400" dirty="0"/>
          </a:p>
        </p:txBody>
      </p:sp>
      <p:sp>
        <p:nvSpPr>
          <p:cNvPr id="3" name="Text 1"/>
          <p:cNvSpPr/>
          <p:nvPr>
            <p:ph idx="102" type="body" hasCustomPrompt="1"/>
          </p:nvPr>
        </p:nvSpPr>
        <p:spPr>
          <a:xfrm>
            <a:off x="502920" y="914400"/>
            <a:ext cx="11155680" cy="347472"/>
          </a:xfrm>
          <a:prstGeom prst="rect">
            <a:avLst/>
          </a:prstGeom>
          <a:noFill/>
          <a:ln/>
        </p:spPr>
        <p:txBody>
          <a:bodyPr wrap="square" lIns="0" tIns="0" rIns="0" bIns="0" rtlCol="0" anchor="ctr"/>
          <a:lstStyle/>
          <a:p>
            <a:pPr indent="0" marL="0">
              <a:buNone/>
            </a:pPr>
            <a:r>
              <a:rPr lang="en-US" sz="1400" i="1" dirty="0">
                <a:solidFill>
                  <a:srgbClr val="6B7A8F"/>
                </a:solidFill>
              </a:rPr>
              <a:t>Revelation 11:3–13  ·  three identifications</a:t>
            </a:r>
            <a:endParaRPr lang="en-US" sz="1400" dirty="0"/>
          </a:p>
        </p:txBody>
      </p:sp>
      <p:sp>
        <p:nvSpPr>
          <p:cNvPr id="5" name="Text 2"/>
          <p:cNvSpPr txBox="1"/>
          <p:nvPr/>
        </p:nvSpPr>
        <p:spPr>
          <a:xfrm>
            <a:off x="548640" y="1417320"/>
            <a:ext cx="11109960" cy="685800"/>
          </a:xfrm>
          <a:prstGeom prst="roundRect">
            <a:avLst>
              <a:gd name="adj" fmla="val 10667"/>
            </a:avLst>
          </a:prstGeom>
          <a:solidFill>
            <a:srgbClr val="EEF1F6"/>
          </a:solidFill>
          <a:ln/>
        </p:spPr>
        <p:txBody>
          <a:bodyPr wrap="square" lIns="101600" tIns="101600" rIns="101600" bIns="101600" rtlCol="0" anchor="ctr"/>
          <a:lstStyle/>
          <a:p>
            <a:pPr algn="ctr" indent="0" marL="0">
              <a:buNone/>
            </a:pPr>
            <a:r>
              <a:rPr lang="en-US" sz="1200" dirty="0">
                <a:solidFill>
                  <a:schemeClr val="tx1"/>
                </a:solidFill>
              </a:rPr>
              <a:t>What all agree the text says:  1,260 days in Jerusalem  ·  sackcloth  ·  fire, drought, water to blood  ·  killed by the beast  ·  bodies lie 3½ days  ·  raised and taken up in view of their enemies</a:t>
            </a:r>
            <a:endParaRPr lang="en-US" sz="1200" dirty="0"/>
          </a:p>
        </p:txBody>
      </p:sp>
      <p:sp>
        <p:nvSpPr>
          <p:cNvPr id="6" name="Shape 3"/>
          <p:cNvSpPr/>
          <p:nvPr/>
        </p:nvSpPr>
        <p:spPr>
          <a:xfrm>
            <a:off x="548640" y="2331720"/>
            <a:ext cx="3611880" cy="2697480"/>
          </a:xfrm>
          <a:prstGeom prst="roundRect">
            <a:avLst>
              <a:gd name="adj" fmla="val 2712"/>
            </a:avLst>
          </a:prstGeom>
          <a:solidFill>
            <a:srgbClr val="FFFFFF"/>
          </a:solidFill>
          <a:ln w="19050">
            <a:solidFill>
              <a:srgbClr val="2E5496"/>
            </a:solidFill>
            <a:prstDash val="solid"/>
          </a:ln>
        </p:spPr>
      </p:sp>
      <p:sp>
        <p:nvSpPr>
          <p:cNvPr id="7" name="Text 4"/>
          <p:cNvSpPr txBox="1"/>
          <p:nvPr/>
        </p:nvSpPr>
        <p:spPr>
          <a:xfrm>
            <a:off x="731520" y="2441448"/>
            <a:ext cx="3246120" cy="320040"/>
          </a:xfrm>
          <a:prstGeom prst="rect">
            <a:avLst/>
          </a:prstGeom>
          <a:noFill/>
          <a:ln/>
        </p:spPr>
        <p:txBody>
          <a:bodyPr wrap="square" lIns="0" tIns="0" rIns="0" bIns="0" rtlCol="0" anchor="t"/>
          <a:lstStyle/>
          <a:p>
            <a:pPr algn="l" indent="0" marL="0">
              <a:buNone/>
            </a:pPr>
            <a:r>
              <a:rPr lang="en-US" sz="1500" b="1" dirty="0">
                <a:solidFill>
                  <a:srgbClr val="2E5496"/>
                </a:solidFill>
              </a:rPr>
              <a:t>Moses and Elijah  ★</a:t>
            </a:r>
            <a:endParaRPr lang="en-US" sz="1500" dirty="0"/>
          </a:p>
        </p:txBody>
      </p:sp>
      <p:sp>
        <p:nvSpPr>
          <p:cNvPr id="8" name="Text 5"/>
          <p:cNvSpPr txBox="1"/>
          <p:nvPr/>
        </p:nvSpPr>
        <p:spPr>
          <a:xfrm>
            <a:off x="731520" y="2788920"/>
            <a:ext cx="3246120" cy="457200"/>
          </a:xfrm>
          <a:prstGeom prst="rect">
            <a:avLst/>
          </a:prstGeom>
          <a:noFill/>
          <a:ln/>
        </p:spPr>
        <p:txBody>
          <a:bodyPr wrap="square" lIns="0" tIns="0" rIns="0" bIns="0" rtlCol="0" anchor="t"/>
          <a:lstStyle/>
          <a:p>
            <a:pPr algn="l" indent="0" marL="0">
              <a:buNone/>
            </a:pPr>
            <a:r>
              <a:rPr lang="en-US" sz="1100" i="1" dirty="0">
                <a:solidFill>
                  <a:schemeClr val="accent6"/>
                </a:solidFill>
              </a:rPr>
              <a:t>Majority dispensational view — Pentecost, Walvoord, Ryrie</a:t>
            </a:r>
            <a:endParaRPr lang="en-US" sz="1100" dirty="0"/>
          </a:p>
        </p:txBody>
      </p:sp>
      <p:sp>
        <p:nvSpPr>
          <p:cNvPr id="9" name="Text 6"/>
          <p:cNvSpPr txBox="1"/>
          <p:nvPr/>
        </p:nvSpPr>
        <p:spPr>
          <a:xfrm>
            <a:off x="731520" y="3337560"/>
            <a:ext cx="3246120" cy="16002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1"/>
                </a:solidFill>
              </a:rPr>
              <a:t>Mal 4:5–6 promises Elijah before the Day of the LORD</a:t>
            </a:r>
            <a:endParaRPr lang="en-US" sz="1200" dirty="0"/>
          </a:p>
          <a:p>
            <a:pPr marL="342900" indent="-342900">
              <a:spcAft>
                <a:spcPts val="400"/>
              </a:spcAft>
              <a:buSzPct val="100000"/>
              <a:buChar char="•"/>
            </a:pPr>
            <a:r>
              <a:rPr lang="en-US" sz="1200" dirty="0">
                <a:solidFill>
                  <a:schemeClr val="tx1"/>
                </a:solidFill>
              </a:rPr>
              <a:t>Moses and Elijah appear together at the Transfiguration (Matt 17:3)</a:t>
            </a:r>
            <a:endParaRPr lang="en-US" sz="1200" dirty="0"/>
          </a:p>
          <a:p>
            <a:pPr marL="342900" indent="-342900">
              <a:spcAft>
                <a:spcPts val="400"/>
              </a:spcAft>
              <a:buSzPct val="100000"/>
              <a:buChar char="•"/>
            </a:pPr>
            <a:r>
              <a:rPr lang="en-US" sz="1200" dirty="0">
                <a:solidFill>
                  <a:schemeClr val="tx1"/>
                </a:solidFill>
              </a:rPr>
              <a:t>Their powers match: water to blood; no rain (Rev 11:6)</a:t>
            </a:r>
            <a:endParaRPr lang="en-US" sz="1200" dirty="0"/>
          </a:p>
        </p:txBody>
      </p:sp>
      <p:sp>
        <p:nvSpPr>
          <p:cNvPr id="10" name="Shape 7"/>
          <p:cNvSpPr/>
          <p:nvPr/>
        </p:nvSpPr>
        <p:spPr>
          <a:xfrm>
            <a:off x="4297680" y="2331720"/>
            <a:ext cx="3611880" cy="2697480"/>
          </a:xfrm>
          <a:prstGeom prst="roundRect">
            <a:avLst>
              <a:gd name="adj" fmla="val 2712"/>
            </a:avLst>
          </a:prstGeom>
          <a:solidFill>
            <a:srgbClr val="FFFFFF"/>
          </a:solidFill>
          <a:ln w="19050">
            <a:solidFill>
              <a:srgbClr val="6B7A8F"/>
            </a:solidFill>
            <a:prstDash val="solid"/>
          </a:ln>
        </p:spPr>
      </p:sp>
      <p:sp>
        <p:nvSpPr>
          <p:cNvPr id="11" name="Text 8"/>
          <p:cNvSpPr txBox="1"/>
          <p:nvPr/>
        </p:nvSpPr>
        <p:spPr>
          <a:xfrm>
            <a:off x="4480560" y="2441448"/>
            <a:ext cx="3246120" cy="320040"/>
          </a:xfrm>
          <a:prstGeom prst="rect">
            <a:avLst/>
          </a:prstGeom>
          <a:noFill/>
          <a:ln/>
        </p:spPr>
        <p:txBody>
          <a:bodyPr wrap="square" lIns="0" tIns="0" rIns="0" bIns="0" rtlCol="0" anchor="t"/>
          <a:lstStyle/>
          <a:p>
            <a:pPr algn="l" indent="0" marL="0">
              <a:buNone/>
            </a:pPr>
            <a:r>
              <a:rPr lang="en-US" sz="1500" b="1" dirty="0">
                <a:solidFill>
                  <a:srgbClr val="6B7A8F"/>
                </a:solidFill>
              </a:rPr>
              <a:t>Enoch and Elijah</a:t>
            </a:r>
            <a:endParaRPr lang="en-US" sz="1500" dirty="0"/>
          </a:p>
        </p:txBody>
      </p:sp>
      <p:sp>
        <p:nvSpPr>
          <p:cNvPr id="12" name="Text 9"/>
          <p:cNvSpPr txBox="1"/>
          <p:nvPr/>
        </p:nvSpPr>
        <p:spPr>
          <a:xfrm>
            <a:off x="4480560" y="2788920"/>
            <a:ext cx="3246120" cy="457200"/>
          </a:xfrm>
          <a:prstGeom prst="rect">
            <a:avLst/>
          </a:prstGeom>
          <a:noFill/>
          <a:ln/>
        </p:spPr>
        <p:txBody>
          <a:bodyPr wrap="square" lIns="0" tIns="0" rIns="0" bIns="0" rtlCol="0" anchor="t"/>
          <a:lstStyle/>
          <a:p>
            <a:pPr algn="l" indent="0" marL="0">
              <a:buNone/>
            </a:pPr>
            <a:r>
              <a:rPr lang="en-US" sz="1100" i="1" dirty="0">
                <a:solidFill>
                  <a:schemeClr val="accent6"/>
                </a:solidFill>
              </a:rPr>
              <a:t>Minority view — Tertullian, Hippolytus</a:t>
            </a:r>
            <a:endParaRPr lang="en-US" sz="1100" dirty="0"/>
          </a:p>
        </p:txBody>
      </p:sp>
      <p:sp>
        <p:nvSpPr>
          <p:cNvPr id="13" name="Text 10"/>
          <p:cNvSpPr txBox="1"/>
          <p:nvPr/>
        </p:nvSpPr>
        <p:spPr>
          <a:xfrm>
            <a:off x="4480560" y="3337560"/>
            <a:ext cx="3246120" cy="16002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1"/>
                </a:solidFill>
              </a:rPr>
              <a:t>The only two who never died (Gen 5:24; 2 Kgs 2:11)</a:t>
            </a:r>
            <a:endParaRPr lang="en-US" sz="1200" dirty="0"/>
          </a:p>
          <a:p>
            <a:pPr marL="342900" indent="-342900">
              <a:spcAft>
                <a:spcPts val="400"/>
              </a:spcAft>
              <a:buSzPct val="100000"/>
              <a:buChar char="•"/>
            </a:pPr>
            <a:r>
              <a:rPr lang="en-US" sz="1200" dirty="0">
                <a:solidFill>
                  <a:schemeClr val="tx1"/>
                </a:solidFill>
              </a:rPr>
              <a:t>“Appointed for men to die once” (Heb 9:27) — their deaths remain</a:t>
            </a:r>
            <a:endParaRPr lang="en-US" sz="1200" dirty="0"/>
          </a:p>
          <a:p>
            <a:pPr marL="342900" indent="-342900">
              <a:spcAft>
                <a:spcPts val="400"/>
              </a:spcAft>
              <a:buSzPct val="100000"/>
              <a:buChar char="•"/>
            </a:pPr>
            <a:r>
              <a:rPr lang="en-US" sz="1200" dirty="0">
                <a:solidFill>
                  <a:schemeClr val="tx1"/>
                </a:solidFill>
              </a:rPr>
              <a:t>Enoch was a prophet (Jude 14–15)</a:t>
            </a:r>
            <a:endParaRPr lang="en-US" sz="1200" dirty="0"/>
          </a:p>
        </p:txBody>
      </p:sp>
      <p:sp>
        <p:nvSpPr>
          <p:cNvPr id="14" name="Shape 11"/>
          <p:cNvSpPr/>
          <p:nvPr/>
        </p:nvSpPr>
        <p:spPr>
          <a:xfrm>
            <a:off x="8046720" y="2331720"/>
            <a:ext cx="3611880" cy="2697480"/>
          </a:xfrm>
          <a:prstGeom prst="roundRect">
            <a:avLst>
              <a:gd name="adj" fmla="val 2712"/>
            </a:avLst>
          </a:prstGeom>
          <a:solidFill>
            <a:srgbClr val="FFFFFF"/>
          </a:solidFill>
          <a:ln w="19050">
            <a:solidFill>
              <a:srgbClr val="8A6A1E"/>
            </a:solidFill>
            <a:prstDash val="solid"/>
          </a:ln>
        </p:spPr>
      </p:sp>
      <p:sp>
        <p:nvSpPr>
          <p:cNvPr id="15" name="Text 12"/>
          <p:cNvSpPr txBox="1"/>
          <p:nvPr/>
        </p:nvSpPr>
        <p:spPr>
          <a:xfrm>
            <a:off x="8229600" y="2441448"/>
            <a:ext cx="3246120" cy="320040"/>
          </a:xfrm>
          <a:prstGeom prst="rect">
            <a:avLst/>
          </a:prstGeom>
          <a:noFill/>
          <a:ln/>
        </p:spPr>
        <p:txBody>
          <a:bodyPr wrap="square" lIns="0" tIns="0" rIns="0" bIns="0" rtlCol="0" anchor="t"/>
          <a:lstStyle/>
          <a:p>
            <a:pPr algn="l" indent="0" marL="0">
              <a:buNone/>
            </a:pPr>
            <a:r>
              <a:rPr lang="en-US" sz="1500" b="1" dirty="0">
                <a:solidFill>
                  <a:srgbClr val="8A6A1E"/>
                </a:solidFill>
              </a:rPr>
              <a:t>Symbolic figures</a:t>
            </a:r>
            <a:endParaRPr lang="en-US" sz="1500" dirty="0"/>
          </a:p>
        </p:txBody>
      </p:sp>
      <p:sp>
        <p:nvSpPr>
          <p:cNvPr id="16" name="Text 13"/>
          <p:cNvSpPr txBox="1"/>
          <p:nvPr/>
        </p:nvSpPr>
        <p:spPr>
          <a:xfrm>
            <a:off x="8229600" y="2788920"/>
            <a:ext cx="3246120" cy="457200"/>
          </a:xfrm>
          <a:prstGeom prst="rect">
            <a:avLst/>
          </a:prstGeom>
          <a:noFill/>
          <a:ln/>
        </p:spPr>
        <p:txBody>
          <a:bodyPr wrap="square" lIns="0" tIns="0" rIns="0" bIns="0" rtlCol="0" anchor="t"/>
          <a:lstStyle/>
          <a:p>
            <a:pPr algn="l" indent="0" marL="0">
              <a:buNone/>
            </a:pPr>
            <a:r>
              <a:rPr lang="en-US" sz="1100" i="1" dirty="0">
                <a:solidFill>
                  <a:schemeClr val="accent6"/>
                </a:solidFill>
              </a:rPr>
              <a:t>Amillennial and some historic premillennial interpreters</a:t>
            </a:r>
            <a:endParaRPr lang="en-US" sz="1100" dirty="0"/>
          </a:p>
        </p:txBody>
      </p:sp>
      <p:sp>
        <p:nvSpPr>
          <p:cNvPr id="17" name="Text 14"/>
          <p:cNvSpPr txBox="1"/>
          <p:nvPr/>
        </p:nvSpPr>
        <p:spPr>
          <a:xfrm>
            <a:off x="8229600" y="3337560"/>
            <a:ext cx="3246120" cy="16002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1"/>
                </a:solidFill>
              </a:rPr>
              <a:t>The Law and the Prophets, or the Church’s witness</a:t>
            </a:r>
            <a:endParaRPr lang="en-US" sz="1200" dirty="0"/>
          </a:p>
          <a:p>
            <a:pPr marL="342900" indent="-342900">
              <a:spcAft>
                <a:spcPts val="400"/>
              </a:spcAft>
              <a:buSzPct val="100000"/>
              <a:buChar char="•"/>
            </a:pPr>
            <a:r>
              <a:rPr lang="en-US" sz="1200" dirty="0">
                <a:solidFill>
                  <a:schemeClr val="tx1"/>
                </a:solidFill>
              </a:rPr>
              <a:t>Not the standard dispensational position</a:t>
            </a:r>
            <a:endParaRPr lang="en-US" sz="1200" dirty="0"/>
          </a:p>
          <a:p>
            <a:pPr marL="342900" indent="-342900">
              <a:spcAft>
                <a:spcPts val="400"/>
              </a:spcAft>
              <a:buSzPct val="100000"/>
              <a:buChar char="•"/>
            </a:pPr>
            <a:r>
              <a:rPr lang="en-US" sz="1200" dirty="0">
                <a:solidFill>
                  <a:schemeClr val="tx1"/>
                </a:solidFill>
              </a:rPr>
              <a:t>The text’s concrete detail argues for real individuals</a:t>
            </a:r>
            <a:endParaRPr lang="en-US" sz="1200" dirty="0"/>
          </a:p>
        </p:txBody>
      </p:sp>
      <p:sp>
        <p:nvSpPr>
          <p:cNvPr id="18" name="Text 15"/>
          <p:cNvSpPr txBox="1"/>
          <p:nvPr/>
        </p:nvSpPr>
        <p:spPr>
          <a:xfrm>
            <a:off x="548640" y="5212080"/>
            <a:ext cx="11064240" cy="502920"/>
          </a:xfrm>
          <a:prstGeom prst="rect">
            <a:avLst/>
          </a:prstGeom>
          <a:noFill/>
          <a:ln/>
        </p:spPr>
        <p:txBody>
          <a:bodyPr wrap="square" lIns="0" tIns="0" rIns="0" bIns="0" rtlCol="0" anchor="t"/>
          <a:lstStyle/>
          <a:p>
            <a:pPr algn="l" indent="0" marL="0">
              <a:buNone/>
            </a:pPr>
            <a:r>
              <a:rPr lang="en-US" sz="1200" i="1" dirty="0">
                <a:solidFill>
                  <a:schemeClr val="accent6"/>
                </a:solidFill>
              </a:rPr>
              <a:t>★ Preferred in this study; the Enoch–Elijah view is acknowledged as legitimate and biblically grounded (Section V.C).</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11155680" cy="621792"/>
          </a:xfrm>
          <a:prstGeom prst="rect">
            <a:avLst/>
          </a:prstGeom>
          <a:noFill/>
          <a:ln/>
        </p:spPr>
        <p:txBody>
          <a:bodyPr wrap="square" lIns="0" tIns="0" rIns="0" bIns="0" rtlCol="0" anchor="ctr"/>
          <a:lstStyle/>
          <a:p>
            <a:pPr algn="l" indent="0" marL="0">
              <a:buNone/>
            </a:pPr>
            <a:r>
              <a:rPr lang="en-US" sz="3400" b="1" dirty="0">
                <a:solidFill>
                  <a:srgbClr val="1F3864"/>
                </a:solidFill>
              </a:rPr>
              <a:t>Seals, Trumpets, and Bowls</a:t>
            </a:r>
            <a:endParaRPr lang="en-US" sz="3400" dirty="0"/>
          </a:p>
        </p:txBody>
      </p:sp>
      <p:sp>
        <p:nvSpPr>
          <p:cNvPr id="3" name="Text 1"/>
          <p:cNvSpPr/>
          <p:nvPr>
            <p:ph idx="102" type="body" hasCustomPrompt="1"/>
          </p:nvPr>
        </p:nvSpPr>
        <p:spPr>
          <a:xfrm>
            <a:off x="502920" y="914400"/>
            <a:ext cx="11155680" cy="347472"/>
          </a:xfrm>
          <a:prstGeom prst="rect">
            <a:avLst/>
          </a:prstGeom>
          <a:noFill/>
          <a:ln/>
        </p:spPr>
        <p:txBody>
          <a:bodyPr wrap="square" lIns="0" tIns="0" rIns="0" bIns="0" rtlCol="0" anchor="ctr"/>
          <a:lstStyle/>
          <a:p>
            <a:pPr indent="0" marL="0">
              <a:buNone/>
            </a:pPr>
            <a:r>
              <a:rPr lang="en-US" sz="1400" i="1" dirty="0">
                <a:solidFill>
                  <a:srgbClr val="6B7A8F"/>
                </a:solidFill>
              </a:rPr>
              <a:t>The telescoping structure of Revelation’s judgments  ·  Revelation 6–16</a:t>
            </a:r>
            <a:endParaRPr lang="en-US" sz="1400" dirty="0"/>
          </a:p>
        </p:txBody>
      </p:sp>
      <p:sp>
        <p:nvSpPr>
          <p:cNvPr id="5" name="Text 2"/>
          <p:cNvSpPr txBox="1"/>
          <p:nvPr/>
        </p:nvSpPr>
        <p:spPr>
          <a:xfrm>
            <a:off x="548640" y="1764792"/>
            <a:ext cx="2834640" cy="292608"/>
          </a:xfrm>
          <a:prstGeom prst="rect">
            <a:avLst/>
          </a:prstGeom>
          <a:noFill/>
          <a:ln/>
        </p:spPr>
        <p:txBody>
          <a:bodyPr wrap="square" lIns="0" tIns="0" rIns="0" bIns="0" rtlCol="0" anchor="t"/>
          <a:lstStyle/>
          <a:p>
            <a:pPr algn="l" indent="0" marL="0">
              <a:buNone/>
            </a:pPr>
            <a:r>
              <a:rPr lang="en-US" sz="1500" b="1" dirty="0">
                <a:solidFill>
                  <a:srgbClr val="B26B5A"/>
                </a:solidFill>
              </a:rPr>
              <a:t>7 SEALS</a:t>
            </a:r>
            <a:endParaRPr lang="en-US" sz="1500" dirty="0"/>
          </a:p>
        </p:txBody>
      </p:sp>
      <p:sp>
        <p:nvSpPr>
          <p:cNvPr id="6" name="Text 3"/>
          <p:cNvSpPr txBox="1"/>
          <p:nvPr/>
        </p:nvSpPr>
        <p:spPr>
          <a:xfrm>
            <a:off x="548640" y="2057400"/>
            <a:ext cx="2926080" cy="502920"/>
          </a:xfrm>
          <a:prstGeom prst="rect">
            <a:avLst/>
          </a:prstGeom>
          <a:noFill/>
          <a:ln/>
        </p:spPr>
        <p:txBody>
          <a:bodyPr wrap="square" lIns="0" tIns="0" rIns="0" bIns="0" rtlCol="0" anchor="t"/>
          <a:lstStyle/>
          <a:p>
            <a:pPr algn="l" indent="0" marL="0">
              <a:buNone/>
            </a:pPr>
            <a:r>
              <a:rPr lang="en-US" sz="1100" dirty="0">
                <a:solidFill>
                  <a:schemeClr val="accent6"/>
                </a:solidFill>
              </a:rPr>
              <a:t>Rev 6:1–8:1</a:t>
            </a:r>
            <a:endParaRPr lang="en-US" sz="1100" dirty="0"/>
          </a:p>
          <a:p>
            <a:pPr algn="l" indent="0" marL="0">
              <a:buNone/>
            </a:pPr>
            <a:r>
              <a:rPr lang="en-US" sz="1100" dirty="0">
                <a:solidFill>
                  <a:schemeClr val="accent6"/>
                </a:solidFill>
              </a:rPr>
              <a:t>opened by the Lamb</a:t>
            </a:r>
            <a:endParaRPr lang="en-US" sz="1100" dirty="0"/>
          </a:p>
        </p:txBody>
      </p:sp>
      <p:sp>
        <p:nvSpPr>
          <p:cNvPr id="7" name="Text 4"/>
          <p:cNvSpPr txBox="1"/>
          <p:nvPr/>
        </p:nvSpPr>
        <p:spPr>
          <a:xfrm>
            <a:off x="3749040" y="1783080"/>
            <a:ext cx="548640" cy="548640"/>
          </a:xfrm>
          <a:prstGeom prst="ellipse">
            <a:avLst/>
          </a:prstGeom>
          <a:solidFill>
            <a:srgbClr val="B26B5A"/>
          </a:solidFill>
          <a:ln>
            <a:solidFill>
              <a:srgbClr val="B26B5A"/>
            </a:solid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8" name="Text 5"/>
          <p:cNvSpPr txBox="1"/>
          <p:nvPr/>
        </p:nvSpPr>
        <p:spPr>
          <a:xfrm>
            <a:off x="4553712" y="1783080"/>
            <a:ext cx="548640" cy="548640"/>
          </a:xfrm>
          <a:prstGeom prst="ellipse">
            <a:avLst/>
          </a:prstGeom>
          <a:solidFill>
            <a:srgbClr val="B26B5A"/>
          </a:solidFill>
          <a:ln>
            <a:solidFill>
              <a:srgbClr val="B26B5A"/>
            </a:solid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9" name="Text 6"/>
          <p:cNvSpPr txBox="1"/>
          <p:nvPr/>
        </p:nvSpPr>
        <p:spPr>
          <a:xfrm>
            <a:off x="5358384" y="1783080"/>
            <a:ext cx="548640" cy="548640"/>
          </a:xfrm>
          <a:prstGeom prst="ellipse">
            <a:avLst/>
          </a:prstGeom>
          <a:solidFill>
            <a:srgbClr val="B26B5A"/>
          </a:solidFill>
          <a:ln>
            <a:solidFill>
              <a:srgbClr val="B26B5A"/>
            </a:solid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0" name="Text 7"/>
          <p:cNvSpPr txBox="1"/>
          <p:nvPr/>
        </p:nvSpPr>
        <p:spPr>
          <a:xfrm>
            <a:off x="6163056" y="1783080"/>
            <a:ext cx="548640" cy="548640"/>
          </a:xfrm>
          <a:prstGeom prst="ellipse">
            <a:avLst/>
          </a:prstGeom>
          <a:solidFill>
            <a:srgbClr val="B26B5A"/>
          </a:solidFill>
          <a:ln>
            <a:solidFill>
              <a:srgbClr val="B26B5A"/>
            </a:solid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1" name="Text 8"/>
          <p:cNvSpPr txBox="1"/>
          <p:nvPr/>
        </p:nvSpPr>
        <p:spPr>
          <a:xfrm>
            <a:off x="6967728" y="1783080"/>
            <a:ext cx="548640" cy="548640"/>
          </a:xfrm>
          <a:prstGeom prst="ellipse">
            <a:avLst/>
          </a:prstGeom>
          <a:solidFill>
            <a:srgbClr val="B26B5A"/>
          </a:solidFill>
          <a:ln>
            <a:solidFill>
              <a:srgbClr val="B26B5A"/>
            </a:solid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12" name="Text 9"/>
          <p:cNvSpPr txBox="1"/>
          <p:nvPr/>
        </p:nvSpPr>
        <p:spPr>
          <a:xfrm>
            <a:off x="7772400" y="1783080"/>
            <a:ext cx="548640" cy="548640"/>
          </a:xfrm>
          <a:prstGeom prst="ellipse">
            <a:avLst/>
          </a:prstGeom>
          <a:solidFill>
            <a:srgbClr val="B26B5A"/>
          </a:solidFill>
          <a:ln>
            <a:solidFill>
              <a:srgbClr val="B26B5A"/>
            </a:solidFill>
          </a:ln>
        </p:spPr>
        <p:txBody>
          <a:bodyPr wrap="square" lIns="0" tIns="0" rIns="0" bIns="0" rtlCol="0" anchor="ctr"/>
          <a:lstStyle/>
          <a:p>
            <a:pPr algn="ctr" indent="0" marL="0">
              <a:buNone/>
            </a:pPr>
            <a:r>
              <a:rPr lang="en-US" sz="1500" b="1" dirty="0">
                <a:solidFill>
                  <a:srgbClr val="FFFFFF"/>
                </a:solidFill>
              </a:rPr>
              <a:t>6</a:t>
            </a:r>
            <a:endParaRPr lang="en-US" sz="1500" dirty="0"/>
          </a:p>
        </p:txBody>
      </p:sp>
      <p:sp>
        <p:nvSpPr>
          <p:cNvPr id="13" name="Text 10"/>
          <p:cNvSpPr txBox="1"/>
          <p:nvPr/>
        </p:nvSpPr>
        <p:spPr>
          <a:xfrm>
            <a:off x="8577072" y="1783080"/>
            <a:ext cx="548640" cy="548640"/>
          </a:xfrm>
          <a:prstGeom prst="ellipse">
            <a:avLst/>
          </a:prstGeom>
          <a:solidFill>
            <a:srgbClr val="B8892B"/>
          </a:solidFill>
          <a:ln>
            <a:solidFill>
              <a:srgbClr val="B8892B"/>
            </a:solidFill>
          </a:ln>
        </p:spPr>
        <p:txBody>
          <a:bodyPr wrap="square" lIns="0" tIns="0" rIns="0" bIns="0" rtlCol="0" anchor="ctr"/>
          <a:lstStyle/>
          <a:p>
            <a:pPr algn="ctr" indent="0" marL="0">
              <a:buNone/>
            </a:pPr>
            <a:r>
              <a:rPr lang="en-US" sz="1500" b="1" dirty="0">
                <a:solidFill>
                  <a:srgbClr val="FFFFFF"/>
                </a:solidFill>
              </a:rPr>
              <a:t>7</a:t>
            </a:r>
            <a:endParaRPr lang="en-US" sz="1500" dirty="0"/>
          </a:p>
        </p:txBody>
      </p:sp>
      <p:sp>
        <p:nvSpPr>
          <p:cNvPr id="14" name="Shape 11"/>
          <p:cNvSpPr/>
          <p:nvPr/>
        </p:nvSpPr>
        <p:spPr>
          <a:xfrm flipH="1">
            <a:off x="4023360" y="2331720"/>
            <a:ext cx="4828032" cy="868680"/>
          </a:xfrm>
          <a:prstGeom prst="line">
            <a:avLst/>
          </a:prstGeom>
          <a:noFill/>
          <a:ln w="15875">
            <a:solidFill>
              <a:srgbClr val="B8892B"/>
            </a:solidFill>
            <a:prstDash val="dash"/>
          </a:ln>
        </p:spPr>
      </p:sp>
      <p:sp>
        <p:nvSpPr>
          <p:cNvPr id="15" name="Shape 12"/>
          <p:cNvSpPr/>
          <p:nvPr/>
        </p:nvSpPr>
        <p:spPr>
          <a:xfrm>
            <a:off x="8851392" y="2331720"/>
            <a:ext cx="0" cy="868680"/>
          </a:xfrm>
          <a:prstGeom prst="line">
            <a:avLst/>
          </a:prstGeom>
          <a:noFill/>
          <a:ln w="15875">
            <a:solidFill>
              <a:srgbClr val="B8892B"/>
            </a:solidFill>
            <a:prstDash val="dash"/>
          </a:ln>
        </p:spPr>
      </p:sp>
      <p:sp>
        <p:nvSpPr>
          <p:cNvPr id="16" name="Text 13"/>
          <p:cNvSpPr txBox="1"/>
          <p:nvPr/>
        </p:nvSpPr>
        <p:spPr>
          <a:xfrm>
            <a:off x="9262872" y="1892808"/>
            <a:ext cx="2926080" cy="365760"/>
          </a:xfrm>
          <a:prstGeom prst="rect">
            <a:avLst/>
          </a:prstGeom>
          <a:noFill/>
          <a:ln/>
        </p:spPr>
        <p:txBody>
          <a:bodyPr wrap="square" lIns="0" tIns="0" rIns="0" bIns="0" rtlCol="0" anchor="t"/>
          <a:lstStyle/>
          <a:p>
            <a:pPr algn="l" indent="0" marL="0">
              <a:buNone/>
            </a:pPr>
            <a:r>
              <a:rPr lang="en-US" sz="1100" i="1" dirty="0">
                <a:solidFill>
                  <a:srgbClr val="8A6A1E"/>
                </a:solidFill>
              </a:rPr>
              <a:t>the 7th seal releases the 7 trumpets</a:t>
            </a:r>
            <a:endParaRPr lang="en-US" sz="1100" dirty="0"/>
          </a:p>
        </p:txBody>
      </p:sp>
      <p:sp>
        <p:nvSpPr>
          <p:cNvPr id="17" name="Text 14"/>
          <p:cNvSpPr txBox="1"/>
          <p:nvPr/>
        </p:nvSpPr>
        <p:spPr>
          <a:xfrm>
            <a:off x="548640" y="3227832"/>
            <a:ext cx="2834640" cy="292608"/>
          </a:xfrm>
          <a:prstGeom prst="rect">
            <a:avLst/>
          </a:prstGeom>
          <a:noFill/>
          <a:ln/>
        </p:spPr>
        <p:txBody>
          <a:bodyPr wrap="square" lIns="0" tIns="0" rIns="0" bIns="0" rtlCol="0" anchor="t"/>
          <a:lstStyle/>
          <a:p>
            <a:pPr algn="l" indent="0" marL="0">
              <a:buNone/>
            </a:pPr>
            <a:r>
              <a:rPr lang="en-US" sz="1500" b="1" dirty="0">
                <a:solidFill>
                  <a:srgbClr val="8B2E2E"/>
                </a:solidFill>
              </a:rPr>
              <a:t>7 TRUMPETS</a:t>
            </a:r>
            <a:endParaRPr lang="en-US" sz="1500" dirty="0"/>
          </a:p>
        </p:txBody>
      </p:sp>
      <p:sp>
        <p:nvSpPr>
          <p:cNvPr id="18" name="Text 15"/>
          <p:cNvSpPr txBox="1"/>
          <p:nvPr/>
        </p:nvSpPr>
        <p:spPr>
          <a:xfrm>
            <a:off x="548640" y="3520440"/>
            <a:ext cx="2926080" cy="502920"/>
          </a:xfrm>
          <a:prstGeom prst="rect">
            <a:avLst/>
          </a:prstGeom>
          <a:noFill/>
          <a:ln/>
        </p:spPr>
        <p:txBody>
          <a:bodyPr wrap="square" lIns="0" tIns="0" rIns="0" bIns="0" rtlCol="0" anchor="t"/>
          <a:lstStyle/>
          <a:p>
            <a:pPr algn="l" indent="0" marL="0">
              <a:buNone/>
            </a:pPr>
            <a:r>
              <a:rPr lang="en-US" sz="1100" dirty="0">
                <a:solidFill>
                  <a:schemeClr val="accent6"/>
                </a:solidFill>
              </a:rPr>
              <a:t>Rev 8:2–9:21; 11:15–19</a:t>
            </a:r>
            <a:endParaRPr lang="en-US" sz="1100" dirty="0"/>
          </a:p>
          <a:p>
            <a:pPr algn="l" indent="0" marL="0">
              <a:buNone/>
            </a:pPr>
            <a:r>
              <a:rPr lang="en-US" sz="1100" dirty="0">
                <a:solidFill>
                  <a:schemeClr val="accent6"/>
                </a:solidFill>
              </a:rPr>
              <a:t>sounded by angels</a:t>
            </a:r>
            <a:endParaRPr lang="en-US" sz="1100" dirty="0"/>
          </a:p>
        </p:txBody>
      </p:sp>
      <p:sp>
        <p:nvSpPr>
          <p:cNvPr id="19" name="Text 16"/>
          <p:cNvSpPr txBox="1"/>
          <p:nvPr/>
        </p:nvSpPr>
        <p:spPr>
          <a:xfrm>
            <a:off x="3749040" y="3246120"/>
            <a:ext cx="548640" cy="548640"/>
          </a:xfrm>
          <a:prstGeom prst="ellipse">
            <a:avLst/>
          </a:prstGeom>
          <a:solidFill>
            <a:srgbClr val="8B2E2E"/>
          </a:solidFill>
          <a:ln>
            <a:solidFill>
              <a:srgbClr val="8B2E2E"/>
            </a:solid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20" name="Text 17"/>
          <p:cNvSpPr txBox="1"/>
          <p:nvPr/>
        </p:nvSpPr>
        <p:spPr>
          <a:xfrm>
            <a:off x="4553712" y="3246120"/>
            <a:ext cx="548640" cy="548640"/>
          </a:xfrm>
          <a:prstGeom prst="ellipse">
            <a:avLst/>
          </a:prstGeom>
          <a:solidFill>
            <a:srgbClr val="8B2E2E"/>
          </a:solidFill>
          <a:ln>
            <a:solidFill>
              <a:srgbClr val="8B2E2E"/>
            </a:solid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21" name="Text 18"/>
          <p:cNvSpPr txBox="1"/>
          <p:nvPr/>
        </p:nvSpPr>
        <p:spPr>
          <a:xfrm>
            <a:off x="5358384" y="3246120"/>
            <a:ext cx="548640" cy="548640"/>
          </a:xfrm>
          <a:prstGeom prst="ellipse">
            <a:avLst/>
          </a:prstGeom>
          <a:solidFill>
            <a:srgbClr val="8B2E2E"/>
          </a:solidFill>
          <a:ln>
            <a:solidFill>
              <a:srgbClr val="8B2E2E"/>
            </a:solid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22" name="Text 19"/>
          <p:cNvSpPr txBox="1"/>
          <p:nvPr/>
        </p:nvSpPr>
        <p:spPr>
          <a:xfrm>
            <a:off x="6163056" y="3246120"/>
            <a:ext cx="548640" cy="548640"/>
          </a:xfrm>
          <a:prstGeom prst="ellipse">
            <a:avLst/>
          </a:prstGeom>
          <a:solidFill>
            <a:srgbClr val="8B2E2E"/>
          </a:solidFill>
          <a:ln>
            <a:solidFill>
              <a:srgbClr val="8B2E2E"/>
            </a:solid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23" name="Text 20"/>
          <p:cNvSpPr txBox="1"/>
          <p:nvPr/>
        </p:nvSpPr>
        <p:spPr>
          <a:xfrm>
            <a:off x="6967728" y="3246120"/>
            <a:ext cx="548640" cy="548640"/>
          </a:xfrm>
          <a:prstGeom prst="ellipse">
            <a:avLst/>
          </a:prstGeom>
          <a:solidFill>
            <a:srgbClr val="8B2E2E"/>
          </a:solidFill>
          <a:ln>
            <a:solidFill>
              <a:srgbClr val="8B2E2E"/>
            </a:solid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24" name="Text 21"/>
          <p:cNvSpPr txBox="1"/>
          <p:nvPr/>
        </p:nvSpPr>
        <p:spPr>
          <a:xfrm>
            <a:off x="7772400" y="3246120"/>
            <a:ext cx="548640" cy="548640"/>
          </a:xfrm>
          <a:prstGeom prst="ellipse">
            <a:avLst/>
          </a:prstGeom>
          <a:solidFill>
            <a:srgbClr val="8B2E2E"/>
          </a:solidFill>
          <a:ln>
            <a:solidFill>
              <a:srgbClr val="8B2E2E"/>
            </a:solidFill>
          </a:ln>
        </p:spPr>
        <p:txBody>
          <a:bodyPr wrap="square" lIns="0" tIns="0" rIns="0" bIns="0" rtlCol="0" anchor="ctr"/>
          <a:lstStyle/>
          <a:p>
            <a:pPr algn="ctr" indent="0" marL="0">
              <a:buNone/>
            </a:pPr>
            <a:r>
              <a:rPr lang="en-US" sz="1500" b="1" dirty="0">
                <a:solidFill>
                  <a:srgbClr val="FFFFFF"/>
                </a:solidFill>
              </a:rPr>
              <a:t>6</a:t>
            </a:r>
            <a:endParaRPr lang="en-US" sz="1500" dirty="0"/>
          </a:p>
        </p:txBody>
      </p:sp>
      <p:sp>
        <p:nvSpPr>
          <p:cNvPr id="25" name="Text 22"/>
          <p:cNvSpPr txBox="1"/>
          <p:nvPr/>
        </p:nvSpPr>
        <p:spPr>
          <a:xfrm>
            <a:off x="8577072" y="3246120"/>
            <a:ext cx="548640" cy="548640"/>
          </a:xfrm>
          <a:prstGeom prst="ellipse">
            <a:avLst/>
          </a:prstGeom>
          <a:solidFill>
            <a:srgbClr val="B8892B"/>
          </a:solidFill>
          <a:ln>
            <a:solidFill>
              <a:srgbClr val="B8892B"/>
            </a:solidFill>
          </a:ln>
        </p:spPr>
        <p:txBody>
          <a:bodyPr wrap="square" lIns="0" tIns="0" rIns="0" bIns="0" rtlCol="0" anchor="ctr"/>
          <a:lstStyle/>
          <a:p>
            <a:pPr algn="ctr" indent="0" marL="0">
              <a:buNone/>
            </a:pPr>
            <a:r>
              <a:rPr lang="en-US" sz="1500" b="1" dirty="0">
                <a:solidFill>
                  <a:srgbClr val="FFFFFF"/>
                </a:solidFill>
              </a:rPr>
              <a:t>7</a:t>
            </a:r>
            <a:endParaRPr lang="en-US" sz="1500" dirty="0"/>
          </a:p>
        </p:txBody>
      </p:sp>
      <p:sp>
        <p:nvSpPr>
          <p:cNvPr id="26" name="Shape 23"/>
          <p:cNvSpPr/>
          <p:nvPr/>
        </p:nvSpPr>
        <p:spPr>
          <a:xfrm flipH="1">
            <a:off x="4023360" y="3794760"/>
            <a:ext cx="4828032" cy="868680"/>
          </a:xfrm>
          <a:prstGeom prst="line">
            <a:avLst/>
          </a:prstGeom>
          <a:noFill/>
          <a:ln w="15875">
            <a:solidFill>
              <a:srgbClr val="B8892B"/>
            </a:solidFill>
            <a:prstDash val="dash"/>
          </a:ln>
        </p:spPr>
      </p:sp>
      <p:sp>
        <p:nvSpPr>
          <p:cNvPr id="27" name="Shape 24"/>
          <p:cNvSpPr/>
          <p:nvPr/>
        </p:nvSpPr>
        <p:spPr>
          <a:xfrm>
            <a:off x="8851392" y="3794760"/>
            <a:ext cx="0" cy="868680"/>
          </a:xfrm>
          <a:prstGeom prst="line">
            <a:avLst/>
          </a:prstGeom>
          <a:noFill/>
          <a:ln w="15875">
            <a:solidFill>
              <a:srgbClr val="B8892B"/>
            </a:solidFill>
            <a:prstDash val="dash"/>
          </a:ln>
        </p:spPr>
      </p:sp>
      <p:sp>
        <p:nvSpPr>
          <p:cNvPr id="28" name="Text 25"/>
          <p:cNvSpPr txBox="1"/>
          <p:nvPr/>
        </p:nvSpPr>
        <p:spPr>
          <a:xfrm>
            <a:off x="9262872" y="3355848"/>
            <a:ext cx="2926080" cy="365760"/>
          </a:xfrm>
          <a:prstGeom prst="rect">
            <a:avLst/>
          </a:prstGeom>
          <a:noFill/>
          <a:ln/>
        </p:spPr>
        <p:txBody>
          <a:bodyPr wrap="square" lIns="0" tIns="0" rIns="0" bIns="0" rtlCol="0" anchor="t"/>
          <a:lstStyle/>
          <a:p>
            <a:pPr algn="l" indent="0" marL="0">
              <a:buNone/>
            </a:pPr>
            <a:r>
              <a:rPr lang="en-US" sz="1100" i="1" dirty="0">
                <a:solidFill>
                  <a:srgbClr val="8A6A1E"/>
                </a:solidFill>
              </a:rPr>
              <a:t>the 7th trumpet releases the 7 bowls</a:t>
            </a:r>
            <a:endParaRPr lang="en-US" sz="1100" dirty="0"/>
          </a:p>
        </p:txBody>
      </p:sp>
      <p:sp>
        <p:nvSpPr>
          <p:cNvPr id="29" name="Text 26"/>
          <p:cNvSpPr txBox="1"/>
          <p:nvPr/>
        </p:nvSpPr>
        <p:spPr>
          <a:xfrm>
            <a:off x="548640" y="4690872"/>
            <a:ext cx="2834640" cy="292608"/>
          </a:xfrm>
          <a:prstGeom prst="rect">
            <a:avLst/>
          </a:prstGeom>
          <a:noFill/>
          <a:ln/>
        </p:spPr>
        <p:txBody>
          <a:bodyPr wrap="square" lIns="0" tIns="0" rIns="0" bIns="0" rtlCol="0" anchor="t"/>
          <a:lstStyle/>
          <a:p>
            <a:pPr algn="l" indent="0" marL="0">
              <a:buNone/>
            </a:pPr>
            <a:r>
              <a:rPr lang="en-US" sz="1500" b="1" dirty="0">
                <a:solidFill>
                  <a:srgbClr val="5E1E1E"/>
                </a:solidFill>
              </a:rPr>
              <a:t>7 BOWLS</a:t>
            </a:r>
            <a:endParaRPr lang="en-US" sz="1500" dirty="0"/>
          </a:p>
        </p:txBody>
      </p:sp>
      <p:sp>
        <p:nvSpPr>
          <p:cNvPr id="30" name="Text 27"/>
          <p:cNvSpPr txBox="1"/>
          <p:nvPr/>
        </p:nvSpPr>
        <p:spPr>
          <a:xfrm>
            <a:off x="548640" y="4983480"/>
            <a:ext cx="2926080" cy="502920"/>
          </a:xfrm>
          <a:prstGeom prst="rect">
            <a:avLst/>
          </a:prstGeom>
          <a:noFill/>
          <a:ln/>
        </p:spPr>
        <p:txBody>
          <a:bodyPr wrap="square" lIns="0" tIns="0" rIns="0" bIns="0" rtlCol="0" anchor="t"/>
          <a:lstStyle/>
          <a:p>
            <a:pPr algn="l" indent="0" marL="0">
              <a:buNone/>
            </a:pPr>
            <a:r>
              <a:rPr lang="en-US" sz="1100" dirty="0">
                <a:solidFill>
                  <a:schemeClr val="accent6"/>
                </a:solidFill>
              </a:rPr>
              <a:t>Rev 16</a:t>
            </a:r>
            <a:endParaRPr lang="en-US" sz="1100" dirty="0"/>
          </a:p>
          <a:p>
            <a:pPr algn="l" indent="0" marL="0">
              <a:buNone/>
            </a:pPr>
            <a:r>
              <a:rPr lang="en-US" sz="1100" dirty="0">
                <a:solidFill>
                  <a:schemeClr val="accent6"/>
                </a:solidFill>
              </a:rPr>
              <a:t>“the wrath of God is finished”</a:t>
            </a:r>
            <a:endParaRPr lang="en-US" sz="1100" dirty="0"/>
          </a:p>
        </p:txBody>
      </p:sp>
      <p:sp>
        <p:nvSpPr>
          <p:cNvPr id="31" name="Text 28"/>
          <p:cNvSpPr txBox="1"/>
          <p:nvPr/>
        </p:nvSpPr>
        <p:spPr>
          <a:xfrm>
            <a:off x="3749040" y="4709160"/>
            <a:ext cx="548640" cy="548640"/>
          </a:xfrm>
          <a:prstGeom prst="ellipse">
            <a:avLst/>
          </a:prstGeom>
          <a:solidFill>
            <a:srgbClr val="5E1E1E"/>
          </a:solidFill>
          <a:ln>
            <a:solidFill>
              <a:srgbClr val="5E1E1E"/>
            </a:solid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32" name="Text 29"/>
          <p:cNvSpPr txBox="1"/>
          <p:nvPr/>
        </p:nvSpPr>
        <p:spPr>
          <a:xfrm>
            <a:off x="4553712" y="4709160"/>
            <a:ext cx="548640" cy="548640"/>
          </a:xfrm>
          <a:prstGeom prst="ellipse">
            <a:avLst/>
          </a:prstGeom>
          <a:solidFill>
            <a:srgbClr val="5E1E1E"/>
          </a:solidFill>
          <a:ln>
            <a:solidFill>
              <a:srgbClr val="5E1E1E"/>
            </a:solid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33" name="Text 30"/>
          <p:cNvSpPr txBox="1"/>
          <p:nvPr/>
        </p:nvSpPr>
        <p:spPr>
          <a:xfrm>
            <a:off x="5358384" y="4709160"/>
            <a:ext cx="548640" cy="548640"/>
          </a:xfrm>
          <a:prstGeom prst="ellipse">
            <a:avLst/>
          </a:prstGeom>
          <a:solidFill>
            <a:srgbClr val="5E1E1E"/>
          </a:solidFill>
          <a:ln>
            <a:solidFill>
              <a:srgbClr val="5E1E1E"/>
            </a:solid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34" name="Text 31"/>
          <p:cNvSpPr txBox="1"/>
          <p:nvPr/>
        </p:nvSpPr>
        <p:spPr>
          <a:xfrm>
            <a:off x="6163056" y="4709160"/>
            <a:ext cx="548640" cy="548640"/>
          </a:xfrm>
          <a:prstGeom prst="ellipse">
            <a:avLst/>
          </a:prstGeom>
          <a:solidFill>
            <a:srgbClr val="5E1E1E"/>
          </a:solidFill>
          <a:ln>
            <a:solidFill>
              <a:srgbClr val="5E1E1E"/>
            </a:solid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35" name="Text 32"/>
          <p:cNvSpPr txBox="1"/>
          <p:nvPr/>
        </p:nvSpPr>
        <p:spPr>
          <a:xfrm>
            <a:off x="6967728" y="4709160"/>
            <a:ext cx="548640" cy="548640"/>
          </a:xfrm>
          <a:prstGeom prst="ellipse">
            <a:avLst/>
          </a:prstGeom>
          <a:solidFill>
            <a:srgbClr val="5E1E1E"/>
          </a:solidFill>
          <a:ln>
            <a:solidFill>
              <a:srgbClr val="5E1E1E"/>
            </a:solid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36" name="Text 33"/>
          <p:cNvSpPr txBox="1"/>
          <p:nvPr/>
        </p:nvSpPr>
        <p:spPr>
          <a:xfrm>
            <a:off x="7772400" y="4709160"/>
            <a:ext cx="548640" cy="548640"/>
          </a:xfrm>
          <a:prstGeom prst="ellipse">
            <a:avLst/>
          </a:prstGeom>
          <a:solidFill>
            <a:srgbClr val="5E1E1E"/>
          </a:solidFill>
          <a:ln>
            <a:solidFill>
              <a:srgbClr val="5E1E1E"/>
            </a:solidFill>
          </a:ln>
        </p:spPr>
        <p:txBody>
          <a:bodyPr wrap="square" lIns="0" tIns="0" rIns="0" bIns="0" rtlCol="0" anchor="ctr"/>
          <a:lstStyle/>
          <a:p>
            <a:pPr algn="ctr" indent="0" marL="0">
              <a:buNone/>
            </a:pPr>
            <a:r>
              <a:rPr lang="en-US" sz="1500" b="1" dirty="0">
                <a:solidFill>
                  <a:srgbClr val="FFFFFF"/>
                </a:solidFill>
              </a:rPr>
              <a:t>6</a:t>
            </a:r>
            <a:endParaRPr lang="en-US" sz="1500" dirty="0"/>
          </a:p>
        </p:txBody>
      </p:sp>
      <p:sp>
        <p:nvSpPr>
          <p:cNvPr id="37" name="Text 34"/>
          <p:cNvSpPr txBox="1"/>
          <p:nvPr/>
        </p:nvSpPr>
        <p:spPr>
          <a:xfrm>
            <a:off x="8577072" y="4709160"/>
            <a:ext cx="548640" cy="548640"/>
          </a:xfrm>
          <a:prstGeom prst="ellipse">
            <a:avLst/>
          </a:prstGeom>
          <a:solidFill>
            <a:srgbClr val="5E1E1E"/>
          </a:solidFill>
          <a:ln>
            <a:solidFill>
              <a:srgbClr val="5E1E1E"/>
            </a:solidFill>
          </a:ln>
        </p:spPr>
        <p:txBody>
          <a:bodyPr wrap="square" lIns="0" tIns="0" rIns="0" bIns="0" rtlCol="0" anchor="ctr"/>
          <a:lstStyle/>
          <a:p>
            <a:pPr algn="ctr" indent="0" marL="0">
              <a:buNone/>
            </a:pPr>
            <a:r>
              <a:rPr lang="en-US" sz="1500" b="1" dirty="0">
                <a:solidFill>
                  <a:srgbClr val="FFFFFF"/>
                </a:solidFill>
              </a:rPr>
              <a:t>7</a:t>
            </a:r>
            <a:endParaRPr lang="en-US" sz="1500" dirty="0"/>
          </a:p>
        </p:txBody>
      </p:sp>
      <p:sp>
        <p:nvSpPr>
          <p:cNvPr id="38" name="Shape 35"/>
          <p:cNvSpPr/>
          <p:nvPr/>
        </p:nvSpPr>
        <p:spPr>
          <a:xfrm>
            <a:off x="9144000" y="4983480"/>
            <a:ext cx="274320" cy="0"/>
          </a:xfrm>
          <a:prstGeom prst="line">
            <a:avLst/>
          </a:prstGeom>
          <a:noFill/>
          <a:ln w="22225">
            <a:solidFill>
              <a:srgbClr val="1F3864"/>
            </a:solidFill>
            <a:prstDash val="solid"/>
            <a:tailEnd type="triangle"/>
          </a:ln>
        </p:spPr>
      </p:sp>
      <p:sp>
        <p:nvSpPr>
          <p:cNvPr id="39" name="Text 36"/>
          <p:cNvSpPr txBox="1"/>
          <p:nvPr/>
        </p:nvSpPr>
        <p:spPr>
          <a:xfrm>
            <a:off x="9445752" y="4617720"/>
            <a:ext cx="1828800" cy="731520"/>
          </a:xfrm>
          <a:prstGeom prst="roundRect">
            <a:avLst>
              <a:gd name="adj" fmla="val 10000"/>
            </a:avLst>
          </a:prstGeom>
          <a:solidFill>
            <a:schemeClr val="accent3"/>
          </a:solidFill>
          <a:ln/>
        </p:spPr>
        <p:txBody>
          <a:bodyPr wrap="square" lIns="38100" tIns="38100" rIns="38100" bIns="38100" rtlCol="0" anchor="ctr"/>
          <a:lstStyle/>
          <a:p>
            <a:pPr algn="ctr" indent="0" marL="0">
              <a:buNone/>
            </a:pPr>
            <a:r>
              <a:rPr lang="en-US" sz="1200" b="1" dirty="0">
                <a:solidFill>
                  <a:schemeClr val="bg1"/>
                </a:solidFill>
              </a:rPr>
              <a:t>Second Coming</a:t>
            </a:r>
            <a:endParaRPr lang="en-US" sz="1200" dirty="0"/>
          </a:p>
          <a:p>
            <a:pPr algn="ctr" indent="0" marL="0">
              <a:buNone/>
            </a:pPr>
            <a:r>
              <a:rPr lang="en-US" sz="1200" b="1" dirty="0">
                <a:solidFill>
                  <a:schemeClr val="bg1"/>
                </a:solidFill>
              </a:rPr>
              <a:t>Rev 19:11–21</a:t>
            </a:r>
            <a:endParaRPr lang="en-US" sz="1200" dirty="0"/>
          </a:p>
        </p:txBody>
      </p:sp>
      <p:sp>
        <p:nvSpPr>
          <p:cNvPr id="40" name="Text 37"/>
          <p:cNvSpPr txBox="1"/>
          <p:nvPr/>
        </p:nvSpPr>
        <p:spPr>
          <a:xfrm>
            <a:off x="548640" y="5760720"/>
            <a:ext cx="10058400" cy="320040"/>
          </a:xfrm>
          <a:prstGeom prst="rect">
            <a:avLst/>
          </a:prstGeom>
          <a:noFill/>
          <a:ln/>
        </p:spPr>
        <p:txBody>
          <a:bodyPr wrap="square" lIns="0" tIns="0" rIns="0" bIns="0" rtlCol="0" anchor="t"/>
          <a:lstStyle/>
          <a:p>
            <a:pPr algn="l" indent="0" marL="0">
              <a:buNone/>
            </a:pPr>
            <a:r>
              <a:rPr lang="en-US" sz="1200" i="1" dirty="0">
                <a:solidFill>
                  <a:schemeClr val="accent6"/>
                </a:solidFill>
              </a:rPr>
              <a:t>“A crescendo of divine wrath reaching its climax in the personal return of Jesus Christ” — Walvoord</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11155680" cy="621792"/>
          </a:xfrm>
          <a:prstGeom prst="rect">
            <a:avLst/>
          </a:prstGeom>
          <a:noFill/>
          <a:ln/>
        </p:spPr>
        <p:txBody>
          <a:bodyPr wrap="square" lIns="0" tIns="0" rIns="0" bIns="0" rtlCol="0" anchor="ctr"/>
          <a:lstStyle/>
          <a:p>
            <a:pPr algn="l" indent="0" marL="0">
              <a:buNone/>
            </a:pPr>
            <a:r>
              <a:rPr lang="en-US" sz="3400" b="1" dirty="0">
                <a:solidFill>
                  <a:srgbClr val="1F3864"/>
                </a:solidFill>
              </a:rPr>
              <a:t>The Seven Seal Judgments</a:t>
            </a:r>
            <a:endParaRPr lang="en-US" sz="3400" dirty="0"/>
          </a:p>
        </p:txBody>
      </p:sp>
      <p:sp>
        <p:nvSpPr>
          <p:cNvPr id="3" name="Text 1"/>
          <p:cNvSpPr/>
          <p:nvPr>
            <p:ph idx="102" type="body" hasCustomPrompt="1"/>
          </p:nvPr>
        </p:nvSpPr>
        <p:spPr>
          <a:xfrm>
            <a:off x="502920" y="914400"/>
            <a:ext cx="11155680" cy="347472"/>
          </a:xfrm>
          <a:prstGeom prst="rect">
            <a:avLst/>
          </a:prstGeom>
          <a:noFill/>
          <a:ln/>
        </p:spPr>
        <p:txBody>
          <a:bodyPr wrap="square" lIns="0" tIns="0" rIns="0" bIns="0" rtlCol="0" anchor="ctr"/>
          <a:lstStyle/>
          <a:p>
            <a:pPr indent="0" marL="0">
              <a:buNone/>
            </a:pPr>
            <a:r>
              <a:rPr lang="en-US" sz="1400" i="1" dirty="0">
                <a:solidFill>
                  <a:srgbClr val="6B7A8F"/>
                </a:solidFill>
              </a:rPr>
              <a:t>Revelation 6:1–8:1  ·  first half of the 70th week  ·  opened by the Lamb</a:t>
            </a:r>
            <a:endParaRPr lang="en-US" sz="1400" dirty="0"/>
          </a:p>
        </p:txBody>
      </p:sp>
      <p:sp>
        <p:nvSpPr>
          <p:cNvPr id="5" name="Shape 2"/>
          <p:cNvSpPr/>
          <p:nvPr/>
        </p:nvSpPr>
        <p:spPr>
          <a:xfrm>
            <a:off x="548640" y="1417320"/>
            <a:ext cx="2670048" cy="1874520"/>
          </a:xfrm>
          <a:prstGeom prst="roundRect">
            <a:avLst>
              <a:gd name="adj" fmla="val 3902"/>
            </a:avLst>
          </a:prstGeom>
          <a:solidFill>
            <a:srgbClr val="FFFFFF"/>
          </a:solidFill>
          <a:ln w="19050">
            <a:solidFill>
              <a:srgbClr val="B26B5A"/>
            </a:solidFill>
            <a:prstDash val="solid"/>
          </a:ln>
        </p:spPr>
      </p:sp>
      <p:sp>
        <p:nvSpPr>
          <p:cNvPr id="6" name="Text 3"/>
          <p:cNvSpPr txBox="1"/>
          <p:nvPr/>
        </p:nvSpPr>
        <p:spPr>
          <a:xfrm>
            <a:off x="685800" y="1554480"/>
            <a:ext cx="438912" cy="438912"/>
          </a:xfrm>
          <a:prstGeom prst="ellipse">
            <a:avLst/>
          </a:prstGeom>
          <a:solidFill>
            <a:srgbClr val="B26B5A"/>
          </a:solidFill>
          <a:ln>
            <a:solidFill>
              <a:srgbClr val="B26B5A"/>
            </a:solid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7" name="Text 4"/>
          <p:cNvSpPr txBox="1"/>
          <p:nvPr/>
        </p:nvSpPr>
        <p:spPr>
          <a:xfrm>
            <a:off x="1207008" y="1527048"/>
            <a:ext cx="1892808" cy="502920"/>
          </a:xfrm>
          <a:prstGeom prst="rect">
            <a:avLst/>
          </a:prstGeom>
          <a:noFill/>
          <a:ln/>
        </p:spPr>
        <p:txBody>
          <a:bodyPr wrap="square" lIns="0" tIns="0" rIns="0" bIns="0" rtlCol="0" anchor="ctr"/>
          <a:lstStyle/>
          <a:p>
            <a:pPr algn="l" indent="0" marL="0">
              <a:buNone/>
            </a:pPr>
            <a:r>
              <a:rPr lang="en-US" sz="1300" b="1" dirty="0">
                <a:solidFill>
                  <a:srgbClr val="8E4A3B"/>
                </a:solidFill>
              </a:rPr>
              <a:t>White horse</a:t>
            </a:r>
            <a:endParaRPr lang="en-US" sz="1300" dirty="0"/>
          </a:p>
        </p:txBody>
      </p:sp>
      <p:sp>
        <p:nvSpPr>
          <p:cNvPr id="8" name="Text 5"/>
          <p:cNvSpPr txBox="1"/>
          <p:nvPr/>
        </p:nvSpPr>
        <p:spPr>
          <a:xfrm>
            <a:off x="685800" y="2075688"/>
            <a:ext cx="2395728" cy="256032"/>
          </a:xfrm>
          <a:prstGeom prst="rect">
            <a:avLst/>
          </a:prstGeom>
          <a:noFill/>
          <a:ln/>
        </p:spPr>
        <p:txBody>
          <a:bodyPr wrap="square" lIns="0" tIns="0" rIns="0" bIns="0" rtlCol="0" anchor="t"/>
          <a:lstStyle/>
          <a:p>
            <a:pPr algn="l" indent="0" marL="0">
              <a:buNone/>
            </a:pPr>
            <a:r>
              <a:rPr lang="en-US" sz="1000" i="1" dirty="0">
                <a:solidFill>
                  <a:schemeClr val="accent6"/>
                </a:solidFill>
              </a:rPr>
              <a:t>Rev 6:1–2</a:t>
            </a:r>
            <a:endParaRPr lang="en-US" sz="1000" dirty="0"/>
          </a:p>
        </p:txBody>
      </p:sp>
      <p:sp>
        <p:nvSpPr>
          <p:cNvPr id="9" name="Text 6"/>
          <p:cNvSpPr txBox="1"/>
          <p:nvPr/>
        </p:nvSpPr>
        <p:spPr>
          <a:xfrm>
            <a:off x="685800" y="2331720"/>
            <a:ext cx="2395728" cy="886968"/>
          </a:xfrm>
          <a:prstGeom prst="rect">
            <a:avLst/>
          </a:prstGeom>
          <a:noFill/>
          <a:ln/>
        </p:spPr>
        <p:txBody>
          <a:bodyPr wrap="square" lIns="0" tIns="0" rIns="0" bIns="0" rtlCol="0" anchor="t"/>
          <a:lstStyle/>
          <a:p>
            <a:pPr algn="l" indent="0" marL="0">
              <a:buNone/>
            </a:pPr>
            <a:r>
              <a:rPr lang="en-US" sz="1100" dirty="0">
                <a:solidFill>
                  <a:schemeClr val="tx1"/>
                </a:solidFill>
              </a:rPr>
              <a:t>The Antichrist rides out as a false peacemaker — a crown and a bow but no arrow. The nations accept a counterfeit peace.</a:t>
            </a:r>
            <a:endParaRPr lang="en-US" sz="1100" dirty="0"/>
          </a:p>
        </p:txBody>
      </p:sp>
      <p:sp>
        <p:nvSpPr>
          <p:cNvPr id="10" name="Shape 7"/>
          <p:cNvSpPr/>
          <p:nvPr/>
        </p:nvSpPr>
        <p:spPr>
          <a:xfrm>
            <a:off x="3364992" y="1417320"/>
            <a:ext cx="2670048" cy="1874520"/>
          </a:xfrm>
          <a:prstGeom prst="roundRect">
            <a:avLst>
              <a:gd name="adj" fmla="val 3902"/>
            </a:avLst>
          </a:prstGeom>
          <a:solidFill>
            <a:srgbClr val="FFFFFF"/>
          </a:solidFill>
          <a:ln w="19050">
            <a:solidFill>
              <a:srgbClr val="B26B5A"/>
            </a:solidFill>
            <a:prstDash val="solid"/>
          </a:ln>
        </p:spPr>
      </p:sp>
      <p:sp>
        <p:nvSpPr>
          <p:cNvPr id="11" name="Text 8"/>
          <p:cNvSpPr txBox="1"/>
          <p:nvPr/>
        </p:nvSpPr>
        <p:spPr>
          <a:xfrm>
            <a:off x="3502152" y="1554480"/>
            <a:ext cx="438912" cy="438912"/>
          </a:xfrm>
          <a:prstGeom prst="ellipse">
            <a:avLst/>
          </a:prstGeom>
          <a:solidFill>
            <a:srgbClr val="B26B5A"/>
          </a:solidFill>
          <a:ln>
            <a:solidFill>
              <a:srgbClr val="B26B5A"/>
            </a:solid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2" name="Text 9"/>
          <p:cNvSpPr txBox="1"/>
          <p:nvPr/>
        </p:nvSpPr>
        <p:spPr>
          <a:xfrm>
            <a:off x="4023360" y="1527048"/>
            <a:ext cx="1892808" cy="502920"/>
          </a:xfrm>
          <a:prstGeom prst="rect">
            <a:avLst/>
          </a:prstGeom>
          <a:noFill/>
          <a:ln/>
        </p:spPr>
        <p:txBody>
          <a:bodyPr wrap="square" lIns="0" tIns="0" rIns="0" bIns="0" rtlCol="0" anchor="ctr"/>
          <a:lstStyle/>
          <a:p>
            <a:pPr algn="l" indent="0" marL="0">
              <a:buNone/>
            </a:pPr>
            <a:r>
              <a:rPr lang="en-US" sz="1300" b="1" dirty="0">
                <a:solidFill>
                  <a:srgbClr val="8E4A3B"/>
                </a:solidFill>
              </a:rPr>
              <a:t>Red horse</a:t>
            </a:r>
            <a:endParaRPr lang="en-US" sz="1300" dirty="0"/>
          </a:p>
        </p:txBody>
      </p:sp>
      <p:sp>
        <p:nvSpPr>
          <p:cNvPr id="13" name="Text 10"/>
          <p:cNvSpPr txBox="1"/>
          <p:nvPr/>
        </p:nvSpPr>
        <p:spPr>
          <a:xfrm>
            <a:off x="3502152" y="2075688"/>
            <a:ext cx="2395728" cy="256032"/>
          </a:xfrm>
          <a:prstGeom prst="rect">
            <a:avLst/>
          </a:prstGeom>
          <a:noFill/>
          <a:ln/>
        </p:spPr>
        <p:txBody>
          <a:bodyPr wrap="square" lIns="0" tIns="0" rIns="0" bIns="0" rtlCol="0" anchor="t"/>
          <a:lstStyle/>
          <a:p>
            <a:pPr algn="l" indent="0" marL="0">
              <a:buNone/>
            </a:pPr>
            <a:r>
              <a:rPr lang="en-US" sz="1000" i="1" dirty="0">
                <a:solidFill>
                  <a:schemeClr val="accent6"/>
                </a:solidFill>
              </a:rPr>
              <a:t>Rev 6:3–4</a:t>
            </a:r>
            <a:endParaRPr lang="en-US" sz="1000" dirty="0"/>
          </a:p>
        </p:txBody>
      </p:sp>
      <p:sp>
        <p:nvSpPr>
          <p:cNvPr id="14" name="Text 11"/>
          <p:cNvSpPr txBox="1"/>
          <p:nvPr/>
        </p:nvSpPr>
        <p:spPr>
          <a:xfrm>
            <a:off x="3502152" y="2331720"/>
            <a:ext cx="2395728" cy="886968"/>
          </a:xfrm>
          <a:prstGeom prst="rect">
            <a:avLst/>
          </a:prstGeom>
          <a:noFill/>
          <a:ln/>
        </p:spPr>
        <p:txBody>
          <a:bodyPr wrap="square" lIns="0" tIns="0" rIns="0" bIns="0" rtlCol="0" anchor="t"/>
          <a:lstStyle/>
          <a:p>
            <a:pPr algn="l" indent="0" marL="0">
              <a:buNone/>
            </a:pPr>
            <a:r>
              <a:rPr lang="en-US" sz="1100" dirty="0">
                <a:solidFill>
                  <a:schemeClr val="tx1"/>
                </a:solidFill>
              </a:rPr>
              <a:t>Peace is taken from the earth and men slay one another. The false peace gives way to war on an unprecedented scale.</a:t>
            </a:r>
            <a:endParaRPr lang="en-US" sz="1100" dirty="0"/>
          </a:p>
        </p:txBody>
      </p:sp>
      <p:sp>
        <p:nvSpPr>
          <p:cNvPr id="15" name="Shape 12"/>
          <p:cNvSpPr/>
          <p:nvPr/>
        </p:nvSpPr>
        <p:spPr>
          <a:xfrm>
            <a:off x="6181344" y="1417320"/>
            <a:ext cx="2670048" cy="1874520"/>
          </a:xfrm>
          <a:prstGeom prst="roundRect">
            <a:avLst>
              <a:gd name="adj" fmla="val 3902"/>
            </a:avLst>
          </a:prstGeom>
          <a:solidFill>
            <a:srgbClr val="FFFFFF"/>
          </a:solidFill>
          <a:ln w="19050">
            <a:solidFill>
              <a:srgbClr val="B26B5A"/>
            </a:solidFill>
            <a:prstDash val="solid"/>
          </a:ln>
        </p:spPr>
      </p:sp>
      <p:sp>
        <p:nvSpPr>
          <p:cNvPr id="16" name="Text 13"/>
          <p:cNvSpPr txBox="1"/>
          <p:nvPr/>
        </p:nvSpPr>
        <p:spPr>
          <a:xfrm>
            <a:off x="6318504" y="1554480"/>
            <a:ext cx="438912" cy="438912"/>
          </a:xfrm>
          <a:prstGeom prst="ellipse">
            <a:avLst/>
          </a:prstGeom>
          <a:solidFill>
            <a:srgbClr val="B26B5A"/>
          </a:solidFill>
          <a:ln>
            <a:solidFill>
              <a:srgbClr val="B26B5A"/>
            </a:solid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7" name="Text 14"/>
          <p:cNvSpPr txBox="1"/>
          <p:nvPr/>
        </p:nvSpPr>
        <p:spPr>
          <a:xfrm>
            <a:off x="6839712" y="1527048"/>
            <a:ext cx="1892808" cy="502920"/>
          </a:xfrm>
          <a:prstGeom prst="rect">
            <a:avLst/>
          </a:prstGeom>
          <a:noFill/>
          <a:ln/>
        </p:spPr>
        <p:txBody>
          <a:bodyPr wrap="square" lIns="0" tIns="0" rIns="0" bIns="0" rtlCol="0" anchor="ctr"/>
          <a:lstStyle/>
          <a:p>
            <a:pPr algn="l" indent="0" marL="0">
              <a:buNone/>
            </a:pPr>
            <a:r>
              <a:rPr lang="en-US" sz="1300" b="1" dirty="0">
                <a:solidFill>
                  <a:srgbClr val="8E4A3B"/>
                </a:solidFill>
              </a:rPr>
              <a:t>Black horse</a:t>
            </a:r>
            <a:endParaRPr lang="en-US" sz="1300" dirty="0"/>
          </a:p>
        </p:txBody>
      </p:sp>
      <p:sp>
        <p:nvSpPr>
          <p:cNvPr id="18" name="Text 15"/>
          <p:cNvSpPr txBox="1"/>
          <p:nvPr/>
        </p:nvSpPr>
        <p:spPr>
          <a:xfrm>
            <a:off x="6318504" y="2075688"/>
            <a:ext cx="2395728" cy="256032"/>
          </a:xfrm>
          <a:prstGeom prst="rect">
            <a:avLst/>
          </a:prstGeom>
          <a:noFill/>
          <a:ln/>
        </p:spPr>
        <p:txBody>
          <a:bodyPr wrap="square" lIns="0" tIns="0" rIns="0" bIns="0" rtlCol="0" anchor="t"/>
          <a:lstStyle/>
          <a:p>
            <a:pPr algn="l" indent="0" marL="0">
              <a:buNone/>
            </a:pPr>
            <a:r>
              <a:rPr lang="en-US" sz="1000" i="1" dirty="0">
                <a:solidFill>
                  <a:schemeClr val="accent6"/>
                </a:solidFill>
              </a:rPr>
              <a:t>Rev 6:5–6</a:t>
            </a:r>
            <a:endParaRPr lang="en-US" sz="1000" dirty="0"/>
          </a:p>
        </p:txBody>
      </p:sp>
      <p:sp>
        <p:nvSpPr>
          <p:cNvPr id="19" name="Text 16"/>
          <p:cNvSpPr txBox="1"/>
          <p:nvPr/>
        </p:nvSpPr>
        <p:spPr>
          <a:xfrm>
            <a:off x="6318504" y="2331720"/>
            <a:ext cx="2395728" cy="886968"/>
          </a:xfrm>
          <a:prstGeom prst="rect">
            <a:avLst/>
          </a:prstGeom>
          <a:noFill/>
          <a:ln/>
        </p:spPr>
        <p:txBody>
          <a:bodyPr wrap="square" lIns="0" tIns="0" rIns="0" bIns="0" rtlCol="0" anchor="t"/>
          <a:lstStyle/>
          <a:p>
            <a:pPr algn="l" indent="0" marL="0">
              <a:buNone/>
            </a:pPr>
            <a:r>
              <a:rPr lang="en-US" sz="1100" dirty="0">
                <a:solidFill>
                  <a:schemeClr val="tx1"/>
                </a:solidFill>
              </a:rPr>
              <a:t>Famine and runaway prices: a day’s wage buys a quart of wheat. Oil and wine — luxuries — are left untouched.</a:t>
            </a:r>
            <a:endParaRPr lang="en-US" sz="1100" dirty="0"/>
          </a:p>
        </p:txBody>
      </p:sp>
      <p:sp>
        <p:nvSpPr>
          <p:cNvPr id="20" name="Shape 17"/>
          <p:cNvSpPr/>
          <p:nvPr/>
        </p:nvSpPr>
        <p:spPr>
          <a:xfrm>
            <a:off x="8997696" y="1417320"/>
            <a:ext cx="2670048" cy="1874520"/>
          </a:xfrm>
          <a:prstGeom prst="roundRect">
            <a:avLst>
              <a:gd name="adj" fmla="val 3902"/>
            </a:avLst>
          </a:prstGeom>
          <a:solidFill>
            <a:srgbClr val="FFFFFF"/>
          </a:solidFill>
          <a:ln w="19050">
            <a:solidFill>
              <a:srgbClr val="B26B5A"/>
            </a:solidFill>
            <a:prstDash val="solid"/>
          </a:ln>
        </p:spPr>
      </p:sp>
      <p:sp>
        <p:nvSpPr>
          <p:cNvPr id="21" name="Text 18"/>
          <p:cNvSpPr txBox="1"/>
          <p:nvPr/>
        </p:nvSpPr>
        <p:spPr>
          <a:xfrm>
            <a:off x="9134856" y="1554480"/>
            <a:ext cx="438912" cy="438912"/>
          </a:xfrm>
          <a:prstGeom prst="ellipse">
            <a:avLst/>
          </a:prstGeom>
          <a:solidFill>
            <a:srgbClr val="B26B5A"/>
          </a:solidFill>
          <a:ln>
            <a:solidFill>
              <a:srgbClr val="B26B5A"/>
            </a:solid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22" name="Text 19"/>
          <p:cNvSpPr txBox="1"/>
          <p:nvPr/>
        </p:nvSpPr>
        <p:spPr>
          <a:xfrm>
            <a:off x="9656064" y="1527048"/>
            <a:ext cx="1892808" cy="502920"/>
          </a:xfrm>
          <a:prstGeom prst="rect">
            <a:avLst/>
          </a:prstGeom>
          <a:noFill/>
          <a:ln/>
        </p:spPr>
        <p:txBody>
          <a:bodyPr wrap="square" lIns="0" tIns="0" rIns="0" bIns="0" rtlCol="0" anchor="ctr"/>
          <a:lstStyle/>
          <a:p>
            <a:pPr algn="l" indent="0" marL="0">
              <a:buNone/>
            </a:pPr>
            <a:r>
              <a:rPr lang="en-US" sz="1300" b="1" dirty="0">
                <a:solidFill>
                  <a:srgbClr val="8E4A3B"/>
                </a:solidFill>
              </a:rPr>
              <a:t>Pale horse</a:t>
            </a:r>
            <a:endParaRPr lang="en-US" sz="1300" dirty="0"/>
          </a:p>
        </p:txBody>
      </p:sp>
      <p:sp>
        <p:nvSpPr>
          <p:cNvPr id="23" name="Text 20"/>
          <p:cNvSpPr txBox="1"/>
          <p:nvPr/>
        </p:nvSpPr>
        <p:spPr>
          <a:xfrm>
            <a:off x="9134856" y="2075688"/>
            <a:ext cx="2395728" cy="256032"/>
          </a:xfrm>
          <a:prstGeom prst="rect">
            <a:avLst/>
          </a:prstGeom>
          <a:noFill/>
          <a:ln/>
        </p:spPr>
        <p:txBody>
          <a:bodyPr wrap="square" lIns="0" tIns="0" rIns="0" bIns="0" rtlCol="0" anchor="t"/>
          <a:lstStyle/>
          <a:p>
            <a:pPr algn="l" indent="0" marL="0">
              <a:buNone/>
            </a:pPr>
            <a:r>
              <a:rPr lang="en-US" sz="1000" i="1" dirty="0">
                <a:solidFill>
                  <a:schemeClr val="accent6"/>
                </a:solidFill>
              </a:rPr>
              <a:t>Rev 6:7–8</a:t>
            </a:r>
            <a:endParaRPr lang="en-US" sz="1000" dirty="0"/>
          </a:p>
        </p:txBody>
      </p:sp>
      <p:sp>
        <p:nvSpPr>
          <p:cNvPr id="24" name="Text 21"/>
          <p:cNvSpPr txBox="1"/>
          <p:nvPr/>
        </p:nvSpPr>
        <p:spPr>
          <a:xfrm>
            <a:off x="9134856" y="2331720"/>
            <a:ext cx="2395728" cy="886968"/>
          </a:xfrm>
          <a:prstGeom prst="rect">
            <a:avLst/>
          </a:prstGeom>
          <a:noFill/>
          <a:ln/>
        </p:spPr>
        <p:txBody>
          <a:bodyPr wrap="square" lIns="0" tIns="0" rIns="0" bIns="0" rtlCol="0" anchor="t"/>
          <a:lstStyle/>
          <a:p>
            <a:pPr algn="l" indent="0" marL="0">
              <a:buNone/>
            </a:pPr>
            <a:r>
              <a:rPr lang="en-US" sz="1100" dirty="0">
                <a:solidFill>
                  <a:schemeClr val="tx1"/>
                </a:solidFill>
              </a:rPr>
              <a:t>Death and Hades are given authority over a fourth of the earth: sword, famine, pestilence and wild beasts.</a:t>
            </a:r>
            <a:endParaRPr lang="en-US" sz="1100" dirty="0"/>
          </a:p>
        </p:txBody>
      </p:sp>
      <p:sp>
        <p:nvSpPr>
          <p:cNvPr id="25" name="Shape 22"/>
          <p:cNvSpPr/>
          <p:nvPr/>
        </p:nvSpPr>
        <p:spPr>
          <a:xfrm>
            <a:off x="548640" y="3456432"/>
            <a:ext cx="2670048" cy="1874520"/>
          </a:xfrm>
          <a:prstGeom prst="roundRect">
            <a:avLst>
              <a:gd name="adj" fmla="val 3902"/>
            </a:avLst>
          </a:prstGeom>
          <a:solidFill>
            <a:srgbClr val="FFFFFF"/>
          </a:solidFill>
          <a:ln w="19050">
            <a:solidFill>
              <a:srgbClr val="B26B5A"/>
            </a:solidFill>
            <a:prstDash val="solid"/>
          </a:ln>
        </p:spPr>
      </p:sp>
      <p:sp>
        <p:nvSpPr>
          <p:cNvPr id="26" name="Text 23"/>
          <p:cNvSpPr txBox="1"/>
          <p:nvPr/>
        </p:nvSpPr>
        <p:spPr>
          <a:xfrm>
            <a:off x="685800" y="3593592"/>
            <a:ext cx="438912" cy="438912"/>
          </a:xfrm>
          <a:prstGeom prst="ellipse">
            <a:avLst/>
          </a:prstGeom>
          <a:solidFill>
            <a:srgbClr val="B26B5A"/>
          </a:solidFill>
          <a:ln>
            <a:solidFill>
              <a:srgbClr val="B26B5A"/>
            </a:solidFill>
          </a:ln>
        </p:spPr>
        <p:txBody>
          <a:bodyPr wrap="square" lIns="0" tIns="0" rIns="0" bIns="0" rtlCol="0" anchor="ctr"/>
          <a:lstStyle/>
          <a:p>
            <a:pPr algn="ctr" indent="0" marL="0">
              <a:buNone/>
            </a:pPr>
            <a:r>
              <a:rPr lang="en-US" sz="1600" b="1" dirty="0">
                <a:solidFill>
                  <a:srgbClr val="FFFFFF"/>
                </a:solidFill>
              </a:rPr>
              <a:t>5</a:t>
            </a:r>
            <a:endParaRPr lang="en-US" sz="1600" dirty="0"/>
          </a:p>
        </p:txBody>
      </p:sp>
      <p:sp>
        <p:nvSpPr>
          <p:cNvPr id="27" name="Text 24"/>
          <p:cNvSpPr txBox="1"/>
          <p:nvPr/>
        </p:nvSpPr>
        <p:spPr>
          <a:xfrm>
            <a:off x="1207008" y="3566160"/>
            <a:ext cx="1892808" cy="502920"/>
          </a:xfrm>
          <a:prstGeom prst="rect">
            <a:avLst/>
          </a:prstGeom>
          <a:noFill/>
          <a:ln/>
        </p:spPr>
        <p:txBody>
          <a:bodyPr wrap="square" lIns="0" tIns="0" rIns="0" bIns="0" rtlCol="0" anchor="ctr"/>
          <a:lstStyle/>
          <a:p>
            <a:pPr algn="l" indent="0" marL="0">
              <a:buNone/>
            </a:pPr>
            <a:r>
              <a:rPr lang="en-US" sz="1300" b="1" dirty="0">
                <a:solidFill>
                  <a:srgbClr val="8E4A3B"/>
                </a:solidFill>
              </a:rPr>
              <a:t>Martyrs under the altar</a:t>
            </a:r>
            <a:endParaRPr lang="en-US" sz="1300" dirty="0"/>
          </a:p>
        </p:txBody>
      </p:sp>
      <p:sp>
        <p:nvSpPr>
          <p:cNvPr id="28" name="Text 25"/>
          <p:cNvSpPr txBox="1"/>
          <p:nvPr/>
        </p:nvSpPr>
        <p:spPr>
          <a:xfrm>
            <a:off x="685800" y="4114800"/>
            <a:ext cx="2395728" cy="256032"/>
          </a:xfrm>
          <a:prstGeom prst="rect">
            <a:avLst/>
          </a:prstGeom>
          <a:noFill/>
          <a:ln/>
        </p:spPr>
        <p:txBody>
          <a:bodyPr wrap="square" lIns="0" tIns="0" rIns="0" bIns="0" rtlCol="0" anchor="t"/>
          <a:lstStyle/>
          <a:p>
            <a:pPr algn="l" indent="0" marL="0">
              <a:buNone/>
            </a:pPr>
            <a:r>
              <a:rPr lang="en-US" sz="1000" i="1" dirty="0">
                <a:solidFill>
                  <a:schemeClr val="accent6"/>
                </a:solidFill>
              </a:rPr>
              <a:t>Rev 6:9–11</a:t>
            </a:r>
            <a:endParaRPr lang="en-US" sz="1000" dirty="0"/>
          </a:p>
        </p:txBody>
      </p:sp>
      <p:sp>
        <p:nvSpPr>
          <p:cNvPr id="29" name="Text 26"/>
          <p:cNvSpPr txBox="1"/>
          <p:nvPr/>
        </p:nvSpPr>
        <p:spPr>
          <a:xfrm>
            <a:off x="685800" y="4370832"/>
            <a:ext cx="2395728" cy="886968"/>
          </a:xfrm>
          <a:prstGeom prst="rect">
            <a:avLst/>
          </a:prstGeom>
          <a:noFill/>
          <a:ln/>
        </p:spPr>
        <p:txBody>
          <a:bodyPr wrap="square" lIns="0" tIns="0" rIns="0" bIns="0" rtlCol="0" anchor="t"/>
          <a:lstStyle/>
          <a:p>
            <a:pPr algn="l" indent="0" marL="0">
              <a:buNone/>
            </a:pPr>
            <a:r>
              <a:rPr lang="en-US" sz="1100" dirty="0">
                <a:solidFill>
                  <a:schemeClr val="tx1"/>
                </a:solidFill>
              </a:rPr>
              <a:t>Souls slain for the word of God cry out for justice. They receive white robes and are told to wait a little longer.</a:t>
            </a:r>
            <a:endParaRPr lang="en-US" sz="1100" dirty="0"/>
          </a:p>
        </p:txBody>
      </p:sp>
      <p:sp>
        <p:nvSpPr>
          <p:cNvPr id="30" name="Shape 27"/>
          <p:cNvSpPr/>
          <p:nvPr/>
        </p:nvSpPr>
        <p:spPr>
          <a:xfrm>
            <a:off x="3364992" y="3456432"/>
            <a:ext cx="2670048" cy="1874520"/>
          </a:xfrm>
          <a:prstGeom prst="roundRect">
            <a:avLst>
              <a:gd name="adj" fmla="val 3902"/>
            </a:avLst>
          </a:prstGeom>
          <a:solidFill>
            <a:srgbClr val="FFFFFF"/>
          </a:solidFill>
          <a:ln w="19050">
            <a:solidFill>
              <a:srgbClr val="B26B5A"/>
            </a:solidFill>
            <a:prstDash val="solid"/>
          </a:ln>
        </p:spPr>
      </p:sp>
      <p:sp>
        <p:nvSpPr>
          <p:cNvPr id="31" name="Text 28"/>
          <p:cNvSpPr txBox="1"/>
          <p:nvPr/>
        </p:nvSpPr>
        <p:spPr>
          <a:xfrm>
            <a:off x="3502152" y="3593592"/>
            <a:ext cx="438912" cy="438912"/>
          </a:xfrm>
          <a:prstGeom prst="ellipse">
            <a:avLst/>
          </a:prstGeom>
          <a:solidFill>
            <a:srgbClr val="B26B5A"/>
          </a:solidFill>
          <a:ln>
            <a:solidFill>
              <a:srgbClr val="B26B5A"/>
            </a:solidFill>
          </a:ln>
        </p:spPr>
        <p:txBody>
          <a:bodyPr wrap="square" lIns="0" tIns="0" rIns="0" bIns="0" rtlCol="0" anchor="ctr"/>
          <a:lstStyle/>
          <a:p>
            <a:pPr algn="ctr" indent="0" marL="0">
              <a:buNone/>
            </a:pPr>
            <a:r>
              <a:rPr lang="en-US" sz="1600" b="1" dirty="0">
                <a:solidFill>
                  <a:srgbClr val="FFFFFF"/>
                </a:solidFill>
              </a:rPr>
              <a:t>6</a:t>
            </a:r>
            <a:endParaRPr lang="en-US" sz="1600" dirty="0"/>
          </a:p>
        </p:txBody>
      </p:sp>
      <p:sp>
        <p:nvSpPr>
          <p:cNvPr id="32" name="Text 29"/>
          <p:cNvSpPr txBox="1"/>
          <p:nvPr/>
        </p:nvSpPr>
        <p:spPr>
          <a:xfrm>
            <a:off x="4023360" y="3566160"/>
            <a:ext cx="1892808" cy="502920"/>
          </a:xfrm>
          <a:prstGeom prst="rect">
            <a:avLst/>
          </a:prstGeom>
          <a:noFill/>
          <a:ln/>
        </p:spPr>
        <p:txBody>
          <a:bodyPr wrap="square" lIns="0" tIns="0" rIns="0" bIns="0" rtlCol="0" anchor="ctr"/>
          <a:lstStyle/>
          <a:p>
            <a:pPr algn="l" indent="0" marL="0">
              <a:buNone/>
            </a:pPr>
            <a:r>
              <a:rPr lang="en-US" sz="1300" b="1" dirty="0">
                <a:solidFill>
                  <a:srgbClr val="8E4A3B"/>
                </a:solidFill>
              </a:rPr>
              <a:t>Cosmic upheaval</a:t>
            </a:r>
            <a:endParaRPr lang="en-US" sz="1300" dirty="0"/>
          </a:p>
        </p:txBody>
      </p:sp>
      <p:sp>
        <p:nvSpPr>
          <p:cNvPr id="33" name="Text 30"/>
          <p:cNvSpPr txBox="1"/>
          <p:nvPr/>
        </p:nvSpPr>
        <p:spPr>
          <a:xfrm>
            <a:off x="3502152" y="4114800"/>
            <a:ext cx="2395728" cy="256032"/>
          </a:xfrm>
          <a:prstGeom prst="rect">
            <a:avLst/>
          </a:prstGeom>
          <a:noFill/>
          <a:ln/>
        </p:spPr>
        <p:txBody>
          <a:bodyPr wrap="square" lIns="0" tIns="0" rIns="0" bIns="0" rtlCol="0" anchor="t"/>
          <a:lstStyle/>
          <a:p>
            <a:pPr algn="l" indent="0" marL="0">
              <a:buNone/>
            </a:pPr>
            <a:r>
              <a:rPr lang="en-US" sz="1000" i="1" dirty="0">
                <a:solidFill>
                  <a:schemeClr val="accent6"/>
                </a:solidFill>
              </a:rPr>
              <a:t>Rev 6:12–17</a:t>
            </a:r>
            <a:endParaRPr lang="en-US" sz="1000" dirty="0"/>
          </a:p>
        </p:txBody>
      </p:sp>
      <p:sp>
        <p:nvSpPr>
          <p:cNvPr id="34" name="Text 31"/>
          <p:cNvSpPr txBox="1"/>
          <p:nvPr/>
        </p:nvSpPr>
        <p:spPr>
          <a:xfrm>
            <a:off x="3502152" y="4370832"/>
            <a:ext cx="2395728" cy="886968"/>
          </a:xfrm>
          <a:prstGeom prst="rect">
            <a:avLst/>
          </a:prstGeom>
          <a:noFill/>
          <a:ln/>
        </p:spPr>
        <p:txBody>
          <a:bodyPr wrap="square" lIns="0" tIns="0" rIns="0" bIns="0" rtlCol="0" anchor="t"/>
          <a:lstStyle/>
          <a:p>
            <a:pPr algn="l" indent="0" marL="0">
              <a:buNone/>
            </a:pPr>
            <a:r>
              <a:rPr lang="en-US" sz="1100" dirty="0">
                <a:solidFill>
                  <a:schemeClr val="tx1"/>
                </a:solidFill>
              </a:rPr>
              <a:t>A great earthquake; the sun black, the moon like blood, stars falling. All ranks of people hide from “the wrath of the Lamb.”</a:t>
            </a:r>
            <a:endParaRPr lang="en-US" sz="1100" dirty="0"/>
          </a:p>
        </p:txBody>
      </p:sp>
      <p:sp>
        <p:nvSpPr>
          <p:cNvPr id="35" name="Shape 32"/>
          <p:cNvSpPr/>
          <p:nvPr/>
        </p:nvSpPr>
        <p:spPr>
          <a:xfrm>
            <a:off x="6181344" y="3456432"/>
            <a:ext cx="2670048" cy="1874520"/>
          </a:xfrm>
          <a:prstGeom prst="roundRect">
            <a:avLst>
              <a:gd name="adj" fmla="val 3902"/>
            </a:avLst>
          </a:prstGeom>
          <a:solidFill>
            <a:srgbClr val="FFFFFF"/>
          </a:solidFill>
          <a:ln w="19050">
            <a:solidFill>
              <a:srgbClr val="B8892B"/>
            </a:solidFill>
            <a:prstDash val="solid"/>
          </a:ln>
        </p:spPr>
      </p:sp>
      <p:sp>
        <p:nvSpPr>
          <p:cNvPr id="36" name="Text 33"/>
          <p:cNvSpPr txBox="1"/>
          <p:nvPr/>
        </p:nvSpPr>
        <p:spPr>
          <a:xfrm>
            <a:off x="6318504" y="3593592"/>
            <a:ext cx="438912" cy="438912"/>
          </a:xfrm>
          <a:prstGeom prst="ellipse">
            <a:avLst/>
          </a:prstGeom>
          <a:solidFill>
            <a:srgbClr val="B8892B"/>
          </a:solidFill>
          <a:ln>
            <a:solidFill>
              <a:srgbClr val="B8892B"/>
            </a:solidFill>
          </a:ln>
        </p:spPr>
        <p:txBody>
          <a:bodyPr wrap="square" lIns="0" tIns="0" rIns="0" bIns="0" rtlCol="0" anchor="ctr"/>
          <a:lstStyle/>
          <a:p>
            <a:pPr algn="ctr" indent="0" marL="0">
              <a:buNone/>
            </a:pPr>
            <a:r>
              <a:rPr lang="en-US" sz="1600" b="1" dirty="0">
                <a:solidFill>
                  <a:srgbClr val="FFFFFF"/>
                </a:solidFill>
              </a:rPr>
              <a:t>7</a:t>
            </a:r>
            <a:endParaRPr lang="en-US" sz="1600" dirty="0"/>
          </a:p>
        </p:txBody>
      </p:sp>
      <p:sp>
        <p:nvSpPr>
          <p:cNvPr id="37" name="Text 34"/>
          <p:cNvSpPr txBox="1"/>
          <p:nvPr/>
        </p:nvSpPr>
        <p:spPr>
          <a:xfrm>
            <a:off x="6839712" y="3566160"/>
            <a:ext cx="1892808" cy="502920"/>
          </a:xfrm>
          <a:prstGeom prst="rect">
            <a:avLst/>
          </a:prstGeom>
          <a:noFill/>
          <a:ln/>
        </p:spPr>
        <p:txBody>
          <a:bodyPr wrap="square" lIns="0" tIns="0" rIns="0" bIns="0" rtlCol="0" anchor="ctr"/>
          <a:lstStyle/>
          <a:p>
            <a:pPr algn="l" indent="0" marL="0">
              <a:buNone/>
            </a:pPr>
            <a:r>
              <a:rPr lang="en-US" sz="1300" b="1" dirty="0">
                <a:solidFill>
                  <a:srgbClr val="8A6A1E"/>
                </a:solidFill>
              </a:rPr>
              <a:t>Silence in heaven</a:t>
            </a:r>
            <a:endParaRPr lang="en-US" sz="1300" dirty="0"/>
          </a:p>
        </p:txBody>
      </p:sp>
      <p:sp>
        <p:nvSpPr>
          <p:cNvPr id="38" name="Text 35"/>
          <p:cNvSpPr txBox="1"/>
          <p:nvPr/>
        </p:nvSpPr>
        <p:spPr>
          <a:xfrm>
            <a:off x="6318504" y="4114800"/>
            <a:ext cx="2395728" cy="256032"/>
          </a:xfrm>
          <a:prstGeom prst="rect">
            <a:avLst/>
          </a:prstGeom>
          <a:noFill/>
          <a:ln/>
        </p:spPr>
        <p:txBody>
          <a:bodyPr wrap="square" lIns="0" tIns="0" rIns="0" bIns="0" rtlCol="0" anchor="t"/>
          <a:lstStyle/>
          <a:p>
            <a:pPr algn="l" indent="0" marL="0">
              <a:buNone/>
            </a:pPr>
            <a:r>
              <a:rPr lang="en-US" sz="1000" i="1" dirty="0">
                <a:solidFill>
                  <a:schemeClr val="accent6"/>
                </a:solidFill>
              </a:rPr>
              <a:t>Rev 8:1</a:t>
            </a:r>
            <a:endParaRPr lang="en-US" sz="1000" dirty="0"/>
          </a:p>
        </p:txBody>
      </p:sp>
      <p:sp>
        <p:nvSpPr>
          <p:cNvPr id="39" name="Text 36"/>
          <p:cNvSpPr txBox="1"/>
          <p:nvPr/>
        </p:nvSpPr>
        <p:spPr>
          <a:xfrm>
            <a:off x="6318504" y="4370832"/>
            <a:ext cx="2395728" cy="886968"/>
          </a:xfrm>
          <a:prstGeom prst="rect">
            <a:avLst/>
          </a:prstGeom>
          <a:noFill/>
          <a:ln/>
        </p:spPr>
        <p:txBody>
          <a:bodyPr wrap="square" lIns="0" tIns="0" rIns="0" bIns="0" rtlCol="0" anchor="t"/>
          <a:lstStyle/>
          <a:p>
            <a:pPr algn="l" indent="0" marL="0">
              <a:buNone/>
            </a:pPr>
            <a:r>
              <a:rPr lang="en-US" sz="1100" dirty="0">
                <a:solidFill>
                  <a:schemeClr val="tx1"/>
                </a:solidFill>
              </a:rPr>
              <a:t>Half an hour of silence — a pause of awe before the next series. The seventh seal contains the seven trumpets.</a:t>
            </a:r>
            <a:endParaRPr lang="en-US" sz="1100" dirty="0"/>
          </a:p>
        </p:txBody>
      </p:sp>
      <p:sp>
        <p:nvSpPr>
          <p:cNvPr id="40" name="Shape 37"/>
          <p:cNvSpPr/>
          <p:nvPr/>
        </p:nvSpPr>
        <p:spPr>
          <a:xfrm>
            <a:off x="8997696" y="3456432"/>
            <a:ext cx="2670048" cy="1874520"/>
          </a:xfrm>
          <a:prstGeom prst="roundRect">
            <a:avLst>
              <a:gd name="adj" fmla="val 3902"/>
            </a:avLst>
          </a:prstGeom>
          <a:solidFill>
            <a:srgbClr val="B26B5A"/>
          </a:solidFill>
          <a:ln w="12700">
            <a:solidFill>
              <a:srgbClr val="B26B5A"/>
            </a:solidFill>
            <a:prstDash val="solid"/>
          </a:ln>
        </p:spPr>
      </p:sp>
      <p:sp>
        <p:nvSpPr>
          <p:cNvPr id="41" name="Text 38"/>
          <p:cNvSpPr txBox="1"/>
          <p:nvPr/>
        </p:nvSpPr>
        <p:spPr>
          <a:xfrm>
            <a:off x="9134856" y="3593592"/>
            <a:ext cx="2395728" cy="160020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FFFFFF"/>
                </a:solidFill>
              </a:rPr>
              <a:t>Opened by Christ Himself (Rev 5:5–6; 6:1)</a:t>
            </a:r>
            <a:endParaRPr lang="en-US" sz="1100" dirty="0"/>
          </a:p>
          <a:p>
            <a:pPr marL="342900" indent="-342900">
              <a:spcAft>
                <a:spcPts val="400"/>
              </a:spcAft>
              <a:buSzPct val="100000"/>
              <a:buChar char="•"/>
            </a:pPr>
            <a:r>
              <a:rPr lang="en-US" sz="1100" dirty="0">
                <a:solidFill>
                  <a:srgbClr val="FFFFFF"/>
                </a:solidFill>
              </a:rPr>
              <a:t>Judgments 1–4: the four horsemen</a:t>
            </a:r>
            <a:endParaRPr lang="en-US" sz="1100" dirty="0"/>
          </a:p>
          <a:p>
            <a:pPr marL="342900" indent="-342900">
              <a:spcAft>
                <a:spcPts val="400"/>
              </a:spcAft>
              <a:buSzPct val="100000"/>
              <a:buChar char="•"/>
            </a:pPr>
            <a:r>
              <a:rPr lang="en-US" sz="1100" dirty="0">
                <a:solidFill>
                  <a:srgbClr val="FFFFFF"/>
                </a:solidFill>
              </a:rPr>
              <a:t>Seal 4 alone takes a fourth of the earth’s people</a:t>
            </a:r>
            <a:endParaRPr lang="en-US" sz="1100" dirty="0"/>
          </a:p>
          <a:p>
            <a:pPr marL="342900" indent="-342900">
              <a:spcAft>
                <a:spcPts val="400"/>
              </a:spcAft>
              <a:buSzPct val="100000"/>
              <a:buChar char="•"/>
            </a:pPr>
            <a:r>
              <a:rPr lang="en-US" sz="1100" dirty="0">
                <a:solidFill>
                  <a:srgbClr val="FFFFFF"/>
                </a:solidFill>
              </a:rPr>
              <a:t>The 7th seal releases the trumpets</a:t>
            </a:r>
            <a:endParaRPr lang="en-US" sz="1100" dirty="0"/>
          </a:p>
        </p:txBody>
      </p:sp>
      <p:sp>
        <p:nvSpPr>
          <p:cNvPr id="42" name="Text 39"/>
          <p:cNvSpPr txBox="1"/>
          <p:nvPr/>
        </p:nvSpPr>
        <p:spPr>
          <a:xfrm>
            <a:off x="548640" y="5486400"/>
            <a:ext cx="11064240" cy="365760"/>
          </a:xfrm>
          <a:prstGeom prst="rect">
            <a:avLst/>
          </a:prstGeom>
          <a:noFill/>
          <a:ln/>
        </p:spPr>
        <p:txBody>
          <a:bodyPr wrap="square" lIns="0" tIns="0" rIns="0" bIns="0" rtlCol="0" anchor="t"/>
          <a:lstStyle/>
          <a:p>
            <a:pPr algn="l" indent="0" marL="0">
              <a:buNone/>
            </a:pPr>
            <a:r>
              <a:rPr lang="en-US" sz="1200" i="1" dirty="0">
                <a:solidFill>
                  <a:schemeClr val="accent6"/>
                </a:solidFill>
              </a:rPr>
              <a:t>The seals are not merely permitted but actively initiated by the Lamb — the direct expression of the wrath of God (Rev 6:16–17; Section V.B).</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11155680" cy="621792"/>
          </a:xfrm>
          <a:prstGeom prst="rect">
            <a:avLst/>
          </a:prstGeom>
          <a:noFill/>
          <a:ln/>
        </p:spPr>
        <p:txBody>
          <a:bodyPr wrap="square" lIns="0" tIns="0" rIns="0" bIns="0" rtlCol="0" anchor="ctr"/>
          <a:lstStyle/>
          <a:p>
            <a:pPr algn="l" indent="0" marL="0">
              <a:buNone/>
            </a:pPr>
            <a:r>
              <a:rPr lang="en-US" sz="3400" b="1" dirty="0">
                <a:solidFill>
                  <a:srgbClr val="1F3864"/>
                </a:solidFill>
              </a:rPr>
              <a:t>The Seven Trumpet Judgments</a:t>
            </a:r>
            <a:endParaRPr lang="en-US" sz="3400" dirty="0"/>
          </a:p>
        </p:txBody>
      </p:sp>
      <p:sp>
        <p:nvSpPr>
          <p:cNvPr id="3" name="Text 1"/>
          <p:cNvSpPr/>
          <p:nvPr>
            <p:ph idx="102" type="body" hasCustomPrompt="1"/>
          </p:nvPr>
        </p:nvSpPr>
        <p:spPr>
          <a:xfrm>
            <a:off x="502920" y="914400"/>
            <a:ext cx="11155680" cy="347472"/>
          </a:xfrm>
          <a:prstGeom prst="rect">
            <a:avLst/>
          </a:prstGeom>
          <a:noFill/>
          <a:ln/>
        </p:spPr>
        <p:txBody>
          <a:bodyPr wrap="square" lIns="0" tIns="0" rIns="0" bIns="0" rtlCol="0" anchor="ctr"/>
          <a:lstStyle/>
          <a:p>
            <a:pPr indent="0" marL="0">
              <a:buNone/>
            </a:pPr>
            <a:r>
              <a:rPr lang="en-US" sz="1400" i="1" dirty="0">
                <a:solidFill>
                  <a:srgbClr val="6B7A8F"/>
                </a:solidFill>
              </a:rPr>
              <a:t>Revelation 8:2–9:21; 11:15–19  ·  sounded by seven angels  ·  trumpets 5–7 are the three woes</a:t>
            </a:r>
            <a:endParaRPr lang="en-US" sz="1400" dirty="0"/>
          </a:p>
        </p:txBody>
      </p:sp>
      <p:sp>
        <p:nvSpPr>
          <p:cNvPr id="5" name="Shape 2"/>
          <p:cNvSpPr/>
          <p:nvPr/>
        </p:nvSpPr>
        <p:spPr>
          <a:xfrm>
            <a:off x="548640" y="1417320"/>
            <a:ext cx="2670048" cy="1874520"/>
          </a:xfrm>
          <a:prstGeom prst="roundRect">
            <a:avLst>
              <a:gd name="adj" fmla="val 3902"/>
            </a:avLst>
          </a:prstGeom>
          <a:solidFill>
            <a:srgbClr val="FFFFFF"/>
          </a:solidFill>
          <a:ln w="19050">
            <a:solidFill>
              <a:srgbClr val="8B2E2E"/>
            </a:solidFill>
            <a:prstDash val="solid"/>
          </a:ln>
        </p:spPr>
      </p:sp>
      <p:sp>
        <p:nvSpPr>
          <p:cNvPr id="6" name="Text 3"/>
          <p:cNvSpPr txBox="1"/>
          <p:nvPr/>
        </p:nvSpPr>
        <p:spPr>
          <a:xfrm>
            <a:off x="685800" y="1554480"/>
            <a:ext cx="438912" cy="438912"/>
          </a:xfrm>
          <a:prstGeom prst="ellipse">
            <a:avLst/>
          </a:prstGeom>
          <a:solidFill>
            <a:srgbClr val="8B2E2E"/>
          </a:solidFill>
          <a:ln>
            <a:solidFill>
              <a:srgbClr val="8B2E2E"/>
            </a:solid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7" name="Text 4"/>
          <p:cNvSpPr txBox="1"/>
          <p:nvPr/>
        </p:nvSpPr>
        <p:spPr>
          <a:xfrm>
            <a:off x="1207008" y="1527048"/>
            <a:ext cx="1892808" cy="502920"/>
          </a:xfrm>
          <a:prstGeom prst="rect">
            <a:avLst/>
          </a:prstGeom>
          <a:noFill/>
          <a:ln/>
        </p:spPr>
        <p:txBody>
          <a:bodyPr wrap="square" lIns="0" tIns="0" rIns="0" bIns="0" rtlCol="0" anchor="ctr"/>
          <a:lstStyle/>
          <a:p>
            <a:pPr algn="l" indent="0" marL="0">
              <a:buNone/>
            </a:pPr>
            <a:r>
              <a:rPr lang="en-US" sz="1300" b="1" dirty="0">
                <a:solidFill>
                  <a:srgbClr val="8B2E2E"/>
                </a:solidFill>
              </a:rPr>
              <a:t>Hail and fire mixed with blood</a:t>
            </a:r>
            <a:endParaRPr lang="en-US" sz="1300" dirty="0"/>
          </a:p>
        </p:txBody>
      </p:sp>
      <p:sp>
        <p:nvSpPr>
          <p:cNvPr id="8" name="Text 5"/>
          <p:cNvSpPr txBox="1"/>
          <p:nvPr/>
        </p:nvSpPr>
        <p:spPr>
          <a:xfrm>
            <a:off x="685800" y="2075688"/>
            <a:ext cx="2395728" cy="256032"/>
          </a:xfrm>
          <a:prstGeom prst="rect">
            <a:avLst/>
          </a:prstGeom>
          <a:noFill/>
          <a:ln/>
        </p:spPr>
        <p:txBody>
          <a:bodyPr wrap="square" lIns="0" tIns="0" rIns="0" bIns="0" rtlCol="0" anchor="t"/>
          <a:lstStyle/>
          <a:p>
            <a:pPr algn="l" indent="0" marL="0">
              <a:buNone/>
            </a:pPr>
            <a:r>
              <a:rPr lang="en-US" sz="1000" i="1" dirty="0">
                <a:solidFill>
                  <a:schemeClr val="accent6"/>
                </a:solidFill>
              </a:rPr>
              <a:t>Rev 8:7</a:t>
            </a:r>
            <a:endParaRPr lang="en-US" sz="1000" dirty="0"/>
          </a:p>
        </p:txBody>
      </p:sp>
      <p:sp>
        <p:nvSpPr>
          <p:cNvPr id="9" name="Text 6"/>
          <p:cNvSpPr txBox="1"/>
          <p:nvPr/>
        </p:nvSpPr>
        <p:spPr>
          <a:xfrm>
            <a:off x="685800" y="2331720"/>
            <a:ext cx="2395728" cy="886968"/>
          </a:xfrm>
          <a:prstGeom prst="rect">
            <a:avLst/>
          </a:prstGeom>
          <a:noFill/>
          <a:ln/>
        </p:spPr>
        <p:txBody>
          <a:bodyPr wrap="square" lIns="0" tIns="0" rIns="0" bIns="0" rtlCol="0" anchor="t"/>
          <a:lstStyle/>
          <a:p>
            <a:pPr algn="l" indent="0" marL="0">
              <a:buNone/>
            </a:pPr>
            <a:r>
              <a:rPr lang="en-US" sz="1100" dirty="0">
                <a:solidFill>
                  <a:schemeClr val="tx1"/>
                </a:solidFill>
              </a:rPr>
              <a:t>A third of the earth and a third of the trees burned up, and all green grass. Agricultural catastrophe.</a:t>
            </a:r>
            <a:endParaRPr lang="en-US" sz="1100" dirty="0"/>
          </a:p>
        </p:txBody>
      </p:sp>
      <p:sp>
        <p:nvSpPr>
          <p:cNvPr id="10" name="Shape 7"/>
          <p:cNvSpPr/>
          <p:nvPr/>
        </p:nvSpPr>
        <p:spPr>
          <a:xfrm>
            <a:off x="3364992" y="1417320"/>
            <a:ext cx="2670048" cy="1874520"/>
          </a:xfrm>
          <a:prstGeom prst="roundRect">
            <a:avLst>
              <a:gd name="adj" fmla="val 3902"/>
            </a:avLst>
          </a:prstGeom>
          <a:solidFill>
            <a:srgbClr val="FFFFFF"/>
          </a:solidFill>
          <a:ln w="19050">
            <a:solidFill>
              <a:srgbClr val="8B2E2E"/>
            </a:solidFill>
            <a:prstDash val="solid"/>
          </a:ln>
        </p:spPr>
      </p:sp>
      <p:sp>
        <p:nvSpPr>
          <p:cNvPr id="11" name="Text 8"/>
          <p:cNvSpPr txBox="1"/>
          <p:nvPr/>
        </p:nvSpPr>
        <p:spPr>
          <a:xfrm>
            <a:off x="3502152" y="1554480"/>
            <a:ext cx="438912" cy="438912"/>
          </a:xfrm>
          <a:prstGeom prst="ellipse">
            <a:avLst/>
          </a:prstGeom>
          <a:solidFill>
            <a:srgbClr val="8B2E2E"/>
          </a:solidFill>
          <a:ln>
            <a:solidFill>
              <a:srgbClr val="8B2E2E"/>
            </a:solid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2" name="Text 9"/>
          <p:cNvSpPr txBox="1"/>
          <p:nvPr/>
        </p:nvSpPr>
        <p:spPr>
          <a:xfrm>
            <a:off x="4023360" y="1527048"/>
            <a:ext cx="1892808" cy="502920"/>
          </a:xfrm>
          <a:prstGeom prst="rect">
            <a:avLst/>
          </a:prstGeom>
          <a:noFill/>
          <a:ln/>
        </p:spPr>
        <p:txBody>
          <a:bodyPr wrap="square" lIns="0" tIns="0" rIns="0" bIns="0" rtlCol="0" anchor="ctr"/>
          <a:lstStyle/>
          <a:p>
            <a:pPr algn="l" indent="0" marL="0">
              <a:buNone/>
            </a:pPr>
            <a:r>
              <a:rPr lang="en-US" sz="1300" b="1" dirty="0">
                <a:solidFill>
                  <a:srgbClr val="8B2E2E"/>
                </a:solidFill>
              </a:rPr>
              <a:t>A burning mountain into the sea</a:t>
            </a:r>
            <a:endParaRPr lang="en-US" sz="1300" dirty="0"/>
          </a:p>
        </p:txBody>
      </p:sp>
      <p:sp>
        <p:nvSpPr>
          <p:cNvPr id="13" name="Text 10"/>
          <p:cNvSpPr txBox="1"/>
          <p:nvPr/>
        </p:nvSpPr>
        <p:spPr>
          <a:xfrm>
            <a:off x="3502152" y="2075688"/>
            <a:ext cx="2395728" cy="256032"/>
          </a:xfrm>
          <a:prstGeom prst="rect">
            <a:avLst/>
          </a:prstGeom>
          <a:noFill/>
          <a:ln/>
        </p:spPr>
        <p:txBody>
          <a:bodyPr wrap="square" lIns="0" tIns="0" rIns="0" bIns="0" rtlCol="0" anchor="t"/>
          <a:lstStyle/>
          <a:p>
            <a:pPr algn="l" indent="0" marL="0">
              <a:buNone/>
            </a:pPr>
            <a:r>
              <a:rPr lang="en-US" sz="1000" i="1" dirty="0">
                <a:solidFill>
                  <a:schemeClr val="accent6"/>
                </a:solidFill>
              </a:rPr>
              <a:t>Rev 8:8–9</a:t>
            </a:r>
            <a:endParaRPr lang="en-US" sz="1000" dirty="0"/>
          </a:p>
        </p:txBody>
      </p:sp>
      <p:sp>
        <p:nvSpPr>
          <p:cNvPr id="14" name="Text 11"/>
          <p:cNvSpPr txBox="1"/>
          <p:nvPr/>
        </p:nvSpPr>
        <p:spPr>
          <a:xfrm>
            <a:off x="3502152" y="2331720"/>
            <a:ext cx="2395728" cy="886968"/>
          </a:xfrm>
          <a:prstGeom prst="rect">
            <a:avLst/>
          </a:prstGeom>
          <a:noFill/>
          <a:ln/>
        </p:spPr>
        <p:txBody>
          <a:bodyPr wrap="square" lIns="0" tIns="0" rIns="0" bIns="0" rtlCol="0" anchor="t"/>
          <a:lstStyle/>
          <a:p>
            <a:pPr algn="l" indent="0" marL="0">
              <a:buNone/>
            </a:pPr>
            <a:r>
              <a:rPr lang="en-US" sz="1100" dirty="0">
                <a:solidFill>
                  <a:schemeClr val="tx1"/>
                </a:solidFill>
              </a:rPr>
              <a:t>A third of the sea becomes blood; a third of sea creatures die; a third of the ships are destroyed.</a:t>
            </a:r>
            <a:endParaRPr lang="en-US" sz="1100" dirty="0"/>
          </a:p>
        </p:txBody>
      </p:sp>
      <p:sp>
        <p:nvSpPr>
          <p:cNvPr id="15" name="Shape 12"/>
          <p:cNvSpPr/>
          <p:nvPr/>
        </p:nvSpPr>
        <p:spPr>
          <a:xfrm>
            <a:off x="6181344" y="1417320"/>
            <a:ext cx="2670048" cy="1874520"/>
          </a:xfrm>
          <a:prstGeom prst="roundRect">
            <a:avLst>
              <a:gd name="adj" fmla="val 3902"/>
            </a:avLst>
          </a:prstGeom>
          <a:solidFill>
            <a:srgbClr val="FFFFFF"/>
          </a:solidFill>
          <a:ln w="19050">
            <a:solidFill>
              <a:srgbClr val="8B2E2E"/>
            </a:solidFill>
            <a:prstDash val="solid"/>
          </a:ln>
        </p:spPr>
      </p:sp>
      <p:sp>
        <p:nvSpPr>
          <p:cNvPr id="16" name="Text 13"/>
          <p:cNvSpPr txBox="1"/>
          <p:nvPr/>
        </p:nvSpPr>
        <p:spPr>
          <a:xfrm>
            <a:off x="6318504" y="1554480"/>
            <a:ext cx="438912" cy="438912"/>
          </a:xfrm>
          <a:prstGeom prst="ellipse">
            <a:avLst/>
          </a:prstGeom>
          <a:solidFill>
            <a:srgbClr val="8B2E2E"/>
          </a:solidFill>
          <a:ln>
            <a:solidFill>
              <a:srgbClr val="8B2E2E"/>
            </a:solid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7" name="Text 14"/>
          <p:cNvSpPr txBox="1"/>
          <p:nvPr/>
        </p:nvSpPr>
        <p:spPr>
          <a:xfrm>
            <a:off x="6839712" y="1527048"/>
            <a:ext cx="1892808" cy="502920"/>
          </a:xfrm>
          <a:prstGeom prst="rect">
            <a:avLst/>
          </a:prstGeom>
          <a:noFill/>
          <a:ln/>
        </p:spPr>
        <p:txBody>
          <a:bodyPr wrap="square" lIns="0" tIns="0" rIns="0" bIns="0" rtlCol="0" anchor="ctr"/>
          <a:lstStyle/>
          <a:p>
            <a:pPr algn="l" indent="0" marL="0">
              <a:buNone/>
            </a:pPr>
            <a:r>
              <a:rPr lang="en-US" sz="1300" b="1" dirty="0">
                <a:solidFill>
                  <a:srgbClr val="8B2E2E"/>
                </a:solidFill>
              </a:rPr>
              <a:t>The star Wormwood</a:t>
            </a:r>
            <a:endParaRPr lang="en-US" sz="1300" dirty="0"/>
          </a:p>
        </p:txBody>
      </p:sp>
      <p:sp>
        <p:nvSpPr>
          <p:cNvPr id="18" name="Text 15"/>
          <p:cNvSpPr txBox="1"/>
          <p:nvPr/>
        </p:nvSpPr>
        <p:spPr>
          <a:xfrm>
            <a:off x="6318504" y="2075688"/>
            <a:ext cx="2395728" cy="256032"/>
          </a:xfrm>
          <a:prstGeom prst="rect">
            <a:avLst/>
          </a:prstGeom>
          <a:noFill/>
          <a:ln/>
        </p:spPr>
        <p:txBody>
          <a:bodyPr wrap="square" lIns="0" tIns="0" rIns="0" bIns="0" rtlCol="0" anchor="t"/>
          <a:lstStyle/>
          <a:p>
            <a:pPr algn="l" indent="0" marL="0">
              <a:buNone/>
            </a:pPr>
            <a:r>
              <a:rPr lang="en-US" sz="1000" i="1" dirty="0">
                <a:solidFill>
                  <a:schemeClr val="accent6"/>
                </a:solidFill>
              </a:rPr>
              <a:t>Rev 8:10–11</a:t>
            </a:r>
            <a:endParaRPr lang="en-US" sz="1000" dirty="0"/>
          </a:p>
        </p:txBody>
      </p:sp>
      <p:sp>
        <p:nvSpPr>
          <p:cNvPr id="19" name="Text 16"/>
          <p:cNvSpPr txBox="1"/>
          <p:nvPr/>
        </p:nvSpPr>
        <p:spPr>
          <a:xfrm>
            <a:off x="6318504" y="2331720"/>
            <a:ext cx="2395728" cy="886968"/>
          </a:xfrm>
          <a:prstGeom prst="rect">
            <a:avLst/>
          </a:prstGeom>
          <a:noFill/>
          <a:ln/>
        </p:spPr>
        <p:txBody>
          <a:bodyPr wrap="square" lIns="0" tIns="0" rIns="0" bIns="0" rtlCol="0" anchor="t"/>
          <a:lstStyle/>
          <a:p>
            <a:pPr algn="l" indent="0" marL="0">
              <a:buNone/>
            </a:pPr>
            <a:r>
              <a:rPr lang="en-US" sz="1100" dirty="0">
                <a:solidFill>
                  <a:schemeClr val="tx1"/>
                </a:solidFill>
              </a:rPr>
              <a:t>A third of the rivers and springs turn bitter. Many people die from the waters.</a:t>
            </a:r>
            <a:endParaRPr lang="en-US" sz="1100" dirty="0"/>
          </a:p>
        </p:txBody>
      </p:sp>
      <p:sp>
        <p:nvSpPr>
          <p:cNvPr id="20" name="Shape 17"/>
          <p:cNvSpPr/>
          <p:nvPr/>
        </p:nvSpPr>
        <p:spPr>
          <a:xfrm>
            <a:off x="8997696" y="1417320"/>
            <a:ext cx="2670048" cy="1874520"/>
          </a:xfrm>
          <a:prstGeom prst="roundRect">
            <a:avLst>
              <a:gd name="adj" fmla="val 3902"/>
            </a:avLst>
          </a:prstGeom>
          <a:solidFill>
            <a:srgbClr val="FFFFFF"/>
          </a:solidFill>
          <a:ln w="19050">
            <a:solidFill>
              <a:srgbClr val="8B2E2E"/>
            </a:solidFill>
            <a:prstDash val="solid"/>
          </a:ln>
        </p:spPr>
      </p:sp>
      <p:sp>
        <p:nvSpPr>
          <p:cNvPr id="21" name="Text 18"/>
          <p:cNvSpPr txBox="1"/>
          <p:nvPr/>
        </p:nvSpPr>
        <p:spPr>
          <a:xfrm>
            <a:off x="9134856" y="1554480"/>
            <a:ext cx="438912" cy="438912"/>
          </a:xfrm>
          <a:prstGeom prst="ellipse">
            <a:avLst/>
          </a:prstGeom>
          <a:solidFill>
            <a:srgbClr val="8B2E2E"/>
          </a:solidFill>
          <a:ln>
            <a:solidFill>
              <a:srgbClr val="8B2E2E"/>
            </a:solid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22" name="Text 19"/>
          <p:cNvSpPr txBox="1"/>
          <p:nvPr/>
        </p:nvSpPr>
        <p:spPr>
          <a:xfrm>
            <a:off x="9656064" y="1527048"/>
            <a:ext cx="1892808" cy="502920"/>
          </a:xfrm>
          <a:prstGeom prst="rect">
            <a:avLst/>
          </a:prstGeom>
          <a:noFill/>
          <a:ln/>
        </p:spPr>
        <p:txBody>
          <a:bodyPr wrap="square" lIns="0" tIns="0" rIns="0" bIns="0" rtlCol="0" anchor="ctr"/>
          <a:lstStyle/>
          <a:p>
            <a:pPr algn="l" indent="0" marL="0">
              <a:buNone/>
            </a:pPr>
            <a:r>
              <a:rPr lang="en-US" sz="1300" b="1" dirty="0">
                <a:solidFill>
                  <a:srgbClr val="8B2E2E"/>
                </a:solidFill>
              </a:rPr>
              <a:t>Sun, moon and stars struck</a:t>
            </a:r>
            <a:endParaRPr lang="en-US" sz="1300" dirty="0"/>
          </a:p>
        </p:txBody>
      </p:sp>
      <p:sp>
        <p:nvSpPr>
          <p:cNvPr id="23" name="Text 20"/>
          <p:cNvSpPr txBox="1"/>
          <p:nvPr/>
        </p:nvSpPr>
        <p:spPr>
          <a:xfrm>
            <a:off x="9134856" y="2075688"/>
            <a:ext cx="2395728" cy="256032"/>
          </a:xfrm>
          <a:prstGeom prst="rect">
            <a:avLst/>
          </a:prstGeom>
          <a:noFill/>
          <a:ln/>
        </p:spPr>
        <p:txBody>
          <a:bodyPr wrap="square" lIns="0" tIns="0" rIns="0" bIns="0" rtlCol="0" anchor="t"/>
          <a:lstStyle/>
          <a:p>
            <a:pPr algn="l" indent="0" marL="0">
              <a:buNone/>
            </a:pPr>
            <a:r>
              <a:rPr lang="en-US" sz="1000" i="1" dirty="0">
                <a:solidFill>
                  <a:schemeClr val="accent6"/>
                </a:solidFill>
              </a:rPr>
              <a:t>Rev 8:12–13</a:t>
            </a:r>
            <a:endParaRPr lang="en-US" sz="1000" dirty="0"/>
          </a:p>
        </p:txBody>
      </p:sp>
      <p:sp>
        <p:nvSpPr>
          <p:cNvPr id="24" name="Text 21"/>
          <p:cNvSpPr txBox="1"/>
          <p:nvPr/>
        </p:nvSpPr>
        <p:spPr>
          <a:xfrm>
            <a:off x="9134856" y="2331720"/>
            <a:ext cx="2395728" cy="886968"/>
          </a:xfrm>
          <a:prstGeom prst="rect">
            <a:avLst/>
          </a:prstGeom>
          <a:noFill/>
          <a:ln/>
        </p:spPr>
        <p:txBody>
          <a:bodyPr wrap="square" lIns="0" tIns="0" rIns="0" bIns="0" rtlCol="0" anchor="t"/>
          <a:lstStyle/>
          <a:p>
            <a:pPr algn="l" indent="0" marL="0">
              <a:buNone/>
            </a:pPr>
            <a:r>
              <a:rPr lang="en-US" sz="1100" dirty="0">
                <a:solidFill>
                  <a:schemeClr val="tx1"/>
                </a:solidFill>
              </a:rPr>
              <a:t>A third of the light is darkened. An eagle announces three woes for the trumpets still to come.</a:t>
            </a:r>
            <a:endParaRPr lang="en-US" sz="1100" dirty="0"/>
          </a:p>
        </p:txBody>
      </p:sp>
      <p:sp>
        <p:nvSpPr>
          <p:cNvPr id="25" name="Shape 22"/>
          <p:cNvSpPr/>
          <p:nvPr/>
        </p:nvSpPr>
        <p:spPr>
          <a:xfrm>
            <a:off x="548640" y="3456432"/>
            <a:ext cx="2670048" cy="1874520"/>
          </a:xfrm>
          <a:prstGeom prst="roundRect">
            <a:avLst>
              <a:gd name="adj" fmla="val 3902"/>
            </a:avLst>
          </a:prstGeom>
          <a:solidFill>
            <a:srgbClr val="FFFFFF"/>
          </a:solidFill>
          <a:ln w="19050">
            <a:solidFill>
              <a:srgbClr val="8B2E2E"/>
            </a:solidFill>
            <a:prstDash val="solid"/>
          </a:ln>
        </p:spPr>
      </p:sp>
      <p:sp>
        <p:nvSpPr>
          <p:cNvPr id="26" name="Text 23"/>
          <p:cNvSpPr txBox="1"/>
          <p:nvPr/>
        </p:nvSpPr>
        <p:spPr>
          <a:xfrm>
            <a:off x="685800" y="3593592"/>
            <a:ext cx="438912" cy="438912"/>
          </a:xfrm>
          <a:prstGeom prst="ellipse">
            <a:avLst/>
          </a:prstGeom>
          <a:solidFill>
            <a:srgbClr val="8B2E2E"/>
          </a:solidFill>
          <a:ln>
            <a:solidFill>
              <a:srgbClr val="8B2E2E"/>
            </a:solidFill>
          </a:ln>
        </p:spPr>
        <p:txBody>
          <a:bodyPr wrap="square" lIns="0" tIns="0" rIns="0" bIns="0" rtlCol="0" anchor="ctr"/>
          <a:lstStyle/>
          <a:p>
            <a:pPr algn="ctr" indent="0" marL="0">
              <a:buNone/>
            </a:pPr>
            <a:r>
              <a:rPr lang="en-US" sz="1600" b="1" dirty="0">
                <a:solidFill>
                  <a:srgbClr val="FFFFFF"/>
                </a:solidFill>
              </a:rPr>
              <a:t>5</a:t>
            </a:r>
            <a:endParaRPr lang="en-US" sz="1600" dirty="0"/>
          </a:p>
        </p:txBody>
      </p:sp>
      <p:sp>
        <p:nvSpPr>
          <p:cNvPr id="27" name="Text 24"/>
          <p:cNvSpPr txBox="1"/>
          <p:nvPr/>
        </p:nvSpPr>
        <p:spPr>
          <a:xfrm>
            <a:off x="1207008" y="3566160"/>
            <a:ext cx="1892808" cy="502920"/>
          </a:xfrm>
          <a:prstGeom prst="rect">
            <a:avLst/>
          </a:prstGeom>
          <a:noFill/>
          <a:ln/>
        </p:spPr>
        <p:txBody>
          <a:bodyPr wrap="square" lIns="0" tIns="0" rIns="0" bIns="0" rtlCol="0" anchor="ctr"/>
          <a:lstStyle/>
          <a:p>
            <a:pPr algn="l" indent="0" marL="0">
              <a:buNone/>
            </a:pPr>
            <a:r>
              <a:rPr lang="en-US" sz="1300" b="1" dirty="0">
                <a:solidFill>
                  <a:srgbClr val="8B2E2E"/>
                </a:solidFill>
              </a:rPr>
              <a:t>WOE 1 — locusts from the abyss</a:t>
            </a:r>
            <a:endParaRPr lang="en-US" sz="1300" dirty="0"/>
          </a:p>
        </p:txBody>
      </p:sp>
      <p:sp>
        <p:nvSpPr>
          <p:cNvPr id="28" name="Text 25"/>
          <p:cNvSpPr txBox="1"/>
          <p:nvPr/>
        </p:nvSpPr>
        <p:spPr>
          <a:xfrm>
            <a:off x="685800" y="4114800"/>
            <a:ext cx="2395728" cy="256032"/>
          </a:xfrm>
          <a:prstGeom prst="rect">
            <a:avLst/>
          </a:prstGeom>
          <a:noFill/>
          <a:ln/>
        </p:spPr>
        <p:txBody>
          <a:bodyPr wrap="square" lIns="0" tIns="0" rIns="0" bIns="0" rtlCol="0" anchor="t"/>
          <a:lstStyle/>
          <a:p>
            <a:pPr algn="l" indent="0" marL="0">
              <a:buNone/>
            </a:pPr>
            <a:r>
              <a:rPr lang="en-US" sz="1000" i="1" dirty="0">
                <a:solidFill>
                  <a:schemeClr val="accent6"/>
                </a:solidFill>
              </a:rPr>
              <a:t>Rev 9:1–12</a:t>
            </a:r>
            <a:endParaRPr lang="en-US" sz="1000" dirty="0"/>
          </a:p>
        </p:txBody>
      </p:sp>
      <p:sp>
        <p:nvSpPr>
          <p:cNvPr id="29" name="Text 26"/>
          <p:cNvSpPr txBox="1"/>
          <p:nvPr/>
        </p:nvSpPr>
        <p:spPr>
          <a:xfrm>
            <a:off x="685800" y="4370832"/>
            <a:ext cx="2395728" cy="886968"/>
          </a:xfrm>
          <a:prstGeom prst="rect">
            <a:avLst/>
          </a:prstGeom>
          <a:noFill/>
          <a:ln/>
        </p:spPr>
        <p:txBody>
          <a:bodyPr wrap="square" lIns="0" tIns="0" rIns="0" bIns="0" rtlCol="0" anchor="t"/>
          <a:lstStyle/>
          <a:p>
            <a:pPr algn="l" indent="0" marL="0">
              <a:buNone/>
            </a:pPr>
            <a:r>
              <a:rPr lang="en-US" sz="1100" dirty="0">
                <a:solidFill>
                  <a:schemeClr val="tx1"/>
                </a:solidFill>
              </a:rPr>
              <a:t>Demonic locusts torment those without God’s seal for five months. Men seek death and cannot find it.</a:t>
            </a:r>
            <a:endParaRPr lang="en-US" sz="1100" dirty="0"/>
          </a:p>
        </p:txBody>
      </p:sp>
      <p:sp>
        <p:nvSpPr>
          <p:cNvPr id="30" name="Shape 27"/>
          <p:cNvSpPr/>
          <p:nvPr/>
        </p:nvSpPr>
        <p:spPr>
          <a:xfrm>
            <a:off x="3364992" y="3456432"/>
            <a:ext cx="2670048" cy="1874520"/>
          </a:xfrm>
          <a:prstGeom prst="roundRect">
            <a:avLst>
              <a:gd name="adj" fmla="val 3902"/>
            </a:avLst>
          </a:prstGeom>
          <a:solidFill>
            <a:srgbClr val="FFFFFF"/>
          </a:solidFill>
          <a:ln w="19050">
            <a:solidFill>
              <a:srgbClr val="8B2E2E"/>
            </a:solidFill>
            <a:prstDash val="solid"/>
          </a:ln>
        </p:spPr>
      </p:sp>
      <p:sp>
        <p:nvSpPr>
          <p:cNvPr id="31" name="Text 28"/>
          <p:cNvSpPr txBox="1"/>
          <p:nvPr/>
        </p:nvSpPr>
        <p:spPr>
          <a:xfrm>
            <a:off x="3502152" y="3593592"/>
            <a:ext cx="438912" cy="438912"/>
          </a:xfrm>
          <a:prstGeom prst="ellipse">
            <a:avLst/>
          </a:prstGeom>
          <a:solidFill>
            <a:srgbClr val="8B2E2E"/>
          </a:solidFill>
          <a:ln>
            <a:solidFill>
              <a:srgbClr val="8B2E2E"/>
            </a:solidFill>
          </a:ln>
        </p:spPr>
        <p:txBody>
          <a:bodyPr wrap="square" lIns="0" tIns="0" rIns="0" bIns="0" rtlCol="0" anchor="ctr"/>
          <a:lstStyle/>
          <a:p>
            <a:pPr algn="ctr" indent="0" marL="0">
              <a:buNone/>
            </a:pPr>
            <a:r>
              <a:rPr lang="en-US" sz="1600" b="1" dirty="0">
                <a:solidFill>
                  <a:srgbClr val="FFFFFF"/>
                </a:solidFill>
              </a:rPr>
              <a:t>6</a:t>
            </a:r>
            <a:endParaRPr lang="en-US" sz="1600" dirty="0"/>
          </a:p>
        </p:txBody>
      </p:sp>
      <p:sp>
        <p:nvSpPr>
          <p:cNvPr id="32" name="Text 29"/>
          <p:cNvSpPr txBox="1"/>
          <p:nvPr/>
        </p:nvSpPr>
        <p:spPr>
          <a:xfrm>
            <a:off x="4023360" y="3566160"/>
            <a:ext cx="1892808" cy="502920"/>
          </a:xfrm>
          <a:prstGeom prst="rect">
            <a:avLst/>
          </a:prstGeom>
          <a:noFill/>
          <a:ln/>
        </p:spPr>
        <p:txBody>
          <a:bodyPr wrap="square" lIns="0" tIns="0" rIns="0" bIns="0" rtlCol="0" anchor="ctr"/>
          <a:lstStyle/>
          <a:p>
            <a:pPr algn="l" indent="0" marL="0">
              <a:buNone/>
            </a:pPr>
            <a:r>
              <a:rPr lang="en-US" sz="1300" b="1" dirty="0">
                <a:solidFill>
                  <a:srgbClr val="8B2E2E"/>
                </a:solidFill>
              </a:rPr>
              <a:t>WOE 2 — the Euphrates army</a:t>
            </a:r>
            <a:endParaRPr lang="en-US" sz="1300" dirty="0"/>
          </a:p>
        </p:txBody>
      </p:sp>
      <p:sp>
        <p:nvSpPr>
          <p:cNvPr id="33" name="Text 30"/>
          <p:cNvSpPr txBox="1"/>
          <p:nvPr/>
        </p:nvSpPr>
        <p:spPr>
          <a:xfrm>
            <a:off x="3502152" y="4114800"/>
            <a:ext cx="2395728" cy="256032"/>
          </a:xfrm>
          <a:prstGeom prst="rect">
            <a:avLst/>
          </a:prstGeom>
          <a:noFill/>
          <a:ln/>
        </p:spPr>
        <p:txBody>
          <a:bodyPr wrap="square" lIns="0" tIns="0" rIns="0" bIns="0" rtlCol="0" anchor="t"/>
          <a:lstStyle/>
          <a:p>
            <a:pPr algn="l" indent="0" marL="0">
              <a:buNone/>
            </a:pPr>
            <a:r>
              <a:rPr lang="en-US" sz="1000" i="1" dirty="0">
                <a:solidFill>
                  <a:schemeClr val="accent6"/>
                </a:solidFill>
              </a:rPr>
              <a:t>Rev 9:13–21</a:t>
            </a:r>
            <a:endParaRPr lang="en-US" sz="1000" dirty="0"/>
          </a:p>
        </p:txBody>
      </p:sp>
      <p:sp>
        <p:nvSpPr>
          <p:cNvPr id="34" name="Text 31"/>
          <p:cNvSpPr txBox="1"/>
          <p:nvPr/>
        </p:nvSpPr>
        <p:spPr>
          <a:xfrm>
            <a:off x="3502152" y="4370832"/>
            <a:ext cx="2395728" cy="886968"/>
          </a:xfrm>
          <a:prstGeom prst="rect">
            <a:avLst/>
          </a:prstGeom>
          <a:noFill/>
          <a:ln/>
        </p:spPr>
        <p:txBody>
          <a:bodyPr wrap="square" lIns="0" tIns="0" rIns="0" bIns="0" rtlCol="0" anchor="t"/>
          <a:lstStyle/>
          <a:p>
            <a:pPr algn="l" indent="0" marL="0">
              <a:buNone/>
            </a:pPr>
            <a:r>
              <a:rPr lang="en-US" sz="1100" dirty="0">
                <a:solidFill>
                  <a:schemeClr val="tx1"/>
                </a:solidFill>
              </a:rPr>
              <a:t>Four bound angels released; an army of 200 million kills a third of mankind. The survivors still do not repent.</a:t>
            </a:r>
            <a:endParaRPr lang="en-US" sz="1100" dirty="0"/>
          </a:p>
        </p:txBody>
      </p:sp>
      <p:sp>
        <p:nvSpPr>
          <p:cNvPr id="35" name="Shape 32"/>
          <p:cNvSpPr/>
          <p:nvPr/>
        </p:nvSpPr>
        <p:spPr>
          <a:xfrm>
            <a:off x="6181344" y="3456432"/>
            <a:ext cx="2670048" cy="1874520"/>
          </a:xfrm>
          <a:prstGeom prst="roundRect">
            <a:avLst>
              <a:gd name="adj" fmla="val 3902"/>
            </a:avLst>
          </a:prstGeom>
          <a:solidFill>
            <a:srgbClr val="FFFFFF"/>
          </a:solidFill>
          <a:ln w="19050">
            <a:solidFill>
              <a:srgbClr val="B8892B"/>
            </a:solidFill>
            <a:prstDash val="solid"/>
          </a:ln>
        </p:spPr>
      </p:sp>
      <p:sp>
        <p:nvSpPr>
          <p:cNvPr id="36" name="Text 33"/>
          <p:cNvSpPr txBox="1"/>
          <p:nvPr/>
        </p:nvSpPr>
        <p:spPr>
          <a:xfrm>
            <a:off x="6318504" y="3593592"/>
            <a:ext cx="438912" cy="438912"/>
          </a:xfrm>
          <a:prstGeom prst="ellipse">
            <a:avLst/>
          </a:prstGeom>
          <a:solidFill>
            <a:srgbClr val="B8892B"/>
          </a:solidFill>
          <a:ln>
            <a:solidFill>
              <a:srgbClr val="B8892B"/>
            </a:solidFill>
          </a:ln>
        </p:spPr>
        <p:txBody>
          <a:bodyPr wrap="square" lIns="0" tIns="0" rIns="0" bIns="0" rtlCol="0" anchor="ctr"/>
          <a:lstStyle/>
          <a:p>
            <a:pPr algn="ctr" indent="0" marL="0">
              <a:buNone/>
            </a:pPr>
            <a:r>
              <a:rPr lang="en-US" sz="1600" b="1" dirty="0">
                <a:solidFill>
                  <a:srgbClr val="FFFFFF"/>
                </a:solidFill>
              </a:rPr>
              <a:t>7</a:t>
            </a:r>
            <a:endParaRPr lang="en-US" sz="1600" dirty="0"/>
          </a:p>
        </p:txBody>
      </p:sp>
      <p:sp>
        <p:nvSpPr>
          <p:cNvPr id="37" name="Text 34"/>
          <p:cNvSpPr txBox="1"/>
          <p:nvPr/>
        </p:nvSpPr>
        <p:spPr>
          <a:xfrm>
            <a:off x="6839712" y="3566160"/>
            <a:ext cx="1892808" cy="502920"/>
          </a:xfrm>
          <a:prstGeom prst="rect">
            <a:avLst/>
          </a:prstGeom>
          <a:noFill/>
          <a:ln/>
        </p:spPr>
        <p:txBody>
          <a:bodyPr wrap="square" lIns="0" tIns="0" rIns="0" bIns="0" rtlCol="0" anchor="ctr"/>
          <a:lstStyle/>
          <a:p>
            <a:pPr algn="l" indent="0" marL="0">
              <a:buNone/>
            </a:pPr>
            <a:r>
              <a:rPr lang="en-US" sz="1300" b="1" dirty="0">
                <a:solidFill>
                  <a:srgbClr val="8A6A1E"/>
                </a:solidFill>
              </a:rPr>
              <a:t>WOE 3 — the kingdom proclaimed</a:t>
            </a:r>
            <a:endParaRPr lang="en-US" sz="1300" dirty="0"/>
          </a:p>
        </p:txBody>
      </p:sp>
      <p:sp>
        <p:nvSpPr>
          <p:cNvPr id="38" name="Text 35"/>
          <p:cNvSpPr txBox="1"/>
          <p:nvPr/>
        </p:nvSpPr>
        <p:spPr>
          <a:xfrm>
            <a:off x="6318504" y="4114800"/>
            <a:ext cx="2395728" cy="256032"/>
          </a:xfrm>
          <a:prstGeom prst="rect">
            <a:avLst/>
          </a:prstGeom>
          <a:noFill/>
          <a:ln/>
        </p:spPr>
        <p:txBody>
          <a:bodyPr wrap="square" lIns="0" tIns="0" rIns="0" bIns="0" rtlCol="0" anchor="t"/>
          <a:lstStyle/>
          <a:p>
            <a:pPr algn="l" indent="0" marL="0">
              <a:buNone/>
            </a:pPr>
            <a:r>
              <a:rPr lang="en-US" sz="1000" i="1" dirty="0">
                <a:solidFill>
                  <a:schemeClr val="accent6"/>
                </a:solidFill>
              </a:rPr>
              <a:t>Rev 11:15–19</a:t>
            </a:r>
            <a:endParaRPr lang="en-US" sz="1000" dirty="0"/>
          </a:p>
        </p:txBody>
      </p:sp>
      <p:sp>
        <p:nvSpPr>
          <p:cNvPr id="39" name="Text 36"/>
          <p:cNvSpPr txBox="1"/>
          <p:nvPr/>
        </p:nvSpPr>
        <p:spPr>
          <a:xfrm>
            <a:off x="6318504" y="4370832"/>
            <a:ext cx="2395728" cy="886968"/>
          </a:xfrm>
          <a:prstGeom prst="rect">
            <a:avLst/>
          </a:prstGeom>
          <a:noFill/>
          <a:ln/>
        </p:spPr>
        <p:txBody>
          <a:bodyPr wrap="square" lIns="0" tIns="0" rIns="0" bIns="0" rtlCol="0" anchor="t"/>
          <a:lstStyle/>
          <a:p>
            <a:pPr algn="l" indent="0" marL="0">
              <a:buNone/>
            </a:pPr>
            <a:r>
              <a:rPr lang="en-US" sz="1100" dirty="0">
                <a:solidFill>
                  <a:schemeClr val="tx1"/>
                </a:solidFill>
              </a:rPr>
              <a:t>“The kingdom of the world has become the kingdom of our Lord and of His Christ.” The seventh trumpet contains the seven bowls.</a:t>
            </a:r>
            <a:endParaRPr lang="en-US" sz="1100" dirty="0"/>
          </a:p>
        </p:txBody>
      </p:sp>
      <p:sp>
        <p:nvSpPr>
          <p:cNvPr id="40" name="Shape 37"/>
          <p:cNvSpPr/>
          <p:nvPr/>
        </p:nvSpPr>
        <p:spPr>
          <a:xfrm>
            <a:off x="8997696" y="3456432"/>
            <a:ext cx="2670048" cy="1874520"/>
          </a:xfrm>
          <a:prstGeom prst="roundRect">
            <a:avLst>
              <a:gd name="adj" fmla="val 3902"/>
            </a:avLst>
          </a:prstGeom>
          <a:solidFill>
            <a:srgbClr val="8B2E2E"/>
          </a:solidFill>
          <a:ln w="12700">
            <a:solidFill>
              <a:srgbClr val="8B2E2E"/>
            </a:solidFill>
            <a:prstDash val="solid"/>
          </a:ln>
        </p:spPr>
      </p:sp>
      <p:sp>
        <p:nvSpPr>
          <p:cNvPr id="41" name="Text 38"/>
          <p:cNvSpPr txBox="1"/>
          <p:nvPr/>
        </p:nvSpPr>
        <p:spPr>
          <a:xfrm>
            <a:off x="9134856" y="3593592"/>
            <a:ext cx="2395728" cy="160020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FFFFFF"/>
                </a:solidFill>
              </a:rPr>
              <a:t>Treated in the second half of the week (Section V.E)</a:t>
            </a:r>
            <a:endParaRPr lang="en-US" sz="1100" dirty="0"/>
          </a:p>
          <a:p>
            <a:pPr marL="342900" indent="-342900">
              <a:spcAft>
                <a:spcPts val="400"/>
              </a:spcAft>
              <a:buSzPct val="100000"/>
              <a:buChar char="•"/>
            </a:pPr>
            <a:r>
              <a:rPr lang="en-US" sz="1100" dirty="0">
                <a:solidFill>
                  <a:srgbClr val="FFFFFF"/>
                </a:solidFill>
              </a:rPr>
              <a:t>Trumpets 1–4 strike creation by thirds</a:t>
            </a:r>
            <a:endParaRPr lang="en-US" sz="1100" dirty="0"/>
          </a:p>
          <a:p>
            <a:pPr marL="342900" indent="-342900">
              <a:spcAft>
                <a:spcPts val="400"/>
              </a:spcAft>
              <a:buSzPct val="100000"/>
              <a:buChar char="•"/>
            </a:pPr>
            <a:r>
              <a:rPr lang="en-US" sz="1100" dirty="0">
                <a:solidFill>
                  <a:srgbClr val="FFFFFF"/>
                </a:solidFill>
              </a:rPr>
              <a:t>Trumpets 5–7 are the three woes (8:13)</a:t>
            </a:r>
            <a:endParaRPr lang="en-US" sz="1100" dirty="0"/>
          </a:p>
          <a:p>
            <a:pPr marL="342900" indent="-342900">
              <a:spcAft>
                <a:spcPts val="400"/>
              </a:spcAft>
              <a:buSzPct val="100000"/>
              <a:buChar char="•"/>
            </a:pPr>
            <a:r>
              <a:rPr lang="en-US" sz="1100" dirty="0">
                <a:solidFill>
                  <a:srgbClr val="FFFFFF"/>
                </a:solidFill>
              </a:rPr>
              <a:t>After Seal 4 and Trumpet 6, over half of the world’s people have died</a:t>
            </a:r>
            <a:endParaRPr lang="en-US" sz="1100" dirty="0"/>
          </a:p>
        </p:txBody>
      </p:sp>
      <p:sp>
        <p:nvSpPr>
          <p:cNvPr id="42" name="Text 39"/>
          <p:cNvSpPr txBox="1"/>
          <p:nvPr/>
        </p:nvSpPr>
        <p:spPr>
          <a:xfrm>
            <a:off x="548640" y="5486400"/>
            <a:ext cx="11064240" cy="365760"/>
          </a:xfrm>
          <a:prstGeom prst="rect">
            <a:avLst/>
          </a:prstGeom>
          <a:noFill/>
          <a:ln/>
        </p:spPr>
        <p:txBody>
          <a:bodyPr wrap="square" lIns="0" tIns="0" rIns="0" bIns="0" rtlCol="0" anchor="t"/>
          <a:lstStyle/>
          <a:p>
            <a:pPr algn="l" indent="0" marL="0">
              <a:buNone/>
            </a:pPr>
            <a:r>
              <a:rPr lang="en-US" sz="1200" i="1" dirty="0">
                <a:solidFill>
                  <a:schemeClr val="accent6"/>
                </a:solidFill>
              </a:rPr>
              <a:t>“They did not repent” (Rev 9:20–21) — even obvious divine judgment does not soften the hardened heart.</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11155680" cy="621792"/>
          </a:xfrm>
          <a:prstGeom prst="rect">
            <a:avLst/>
          </a:prstGeom>
          <a:noFill/>
          <a:ln/>
        </p:spPr>
        <p:txBody>
          <a:bodyPr wrap="square" lIns="0" tIns="0" rIns="0" bIns="0" rtlCol="0" anchor="ctr"/>
          <a:lstStyle/>
          <a:p>
            <a:pPr algn="l" indent="0" marL="0">
              <a:buNone/>
            </a:pPr>
            <a:r>
              <a:rPr lang="en-US" sz="3400" b="1" dirty="0">
                <a:solidFill>
                  <a:srgbClr val="1F3864"/>
                </a:solidFill>
              </a:rPr>
              <a:t>The Seven Bowl Judgments</a:t>
            </a:r>
            <a:endParaRPr lang="en-US" sz="3400" dirty="0"/>
          </a:p>
        </p:txBody>
      </p:sp>
      <p:sp>
        <p:nvSpPr>
          <p:cNvPr id="3" name="Text 1"/>
          <p:cNvSpPr/>
          <p:nvPr>
            <p:ph idx="102" type="body" hasCustomPrompt="1"/>
          </p:nvPr>
        </p:nvSpPr>
        <p:spPr>
          <a:xfrm>
            <a:off x="502920" y="914400"/>
            <a:ext cx="11155680" cy="347472"/>
          </a:xfrm>
          <a:prstGeom prst="rect">
            <a:avLst/>
          </a:prstGeom>
          <a:noFill/>
          <a:ln/>
        </p:spPr>
        <p:txBody>
          <a:bodyPr wrap="square" lIns="0" tIns="0" rIns="0" bIns="0" rtlCol="0" anchor="ctr"/>
          <a:lstStyle/>
          <a:p>
            <a:pPr indent="0" marL="0">
              <a:buNone/>
            </a:pPr>
            <a:r>
              <a:rPr lang="en-US" sz="1400" i="1" dirty="0">
                <a:solidFill>
                  <a:srgbClr val="6B7A8F"/>
                </a:solidFill>
              </a:rPr>
              <a:t>Revelation 16  ·  “the seven last plagues” (15:1)  ·  poured out in rapid succession</a:t>
            </a:r>
            <a:endParaRPr lang="en-US" sz="1400" dirty="0"/>
          </a:p>
        </p:txBody>
      </p:sp>
      <p:sp>
        <p:nvSpPr>
          <p:cNvPr id="5" name="Shape 2"/>
          <p:cNvSpPr/>
          <p:nvPr/>
        </p:nvSpPr>
        <p:spPr>
          <a:xfrm>
            <a:off x="548640" y="1417320"/>
            <a:ext cx="2670048" cy="1874520"/>
          </a:xfrm>
          <a:prstGeom prst="roundRect">
            <a:avLst>
              <a:gd name="adj" fmla="val 3902"/>
            </a:avLst>
          </a:prstGeom>
          <a:solidFill>
            <a:srgbClr val="FFFFFF"/>
          </a:solidFill>
          <a:ln w="19050">
            <a:solidFill>
              <a:srgbClr val="5E1E1E"/>
            </a:solidFill>
            <a:prstDash val="solid"/>
          </a:ln>
        </p:spPr>
      </p:sp>
      <p:sp>
        <p:nvSpPr>
          <p:cNvPr id="6" name="Text 3"/>
          <p:cNvSpPr txBox="1"/>
          <p:nvPr/>
        </p:nvSpPr>
        <p:spPr>
          <a:xfrm>
            <a:off x="685800" y="1554480"/>
            <a:ext cx="438912" cy="438912"/>
          </a:xfrm>
          <a:prstGeom prst="ellipse">
            <a:avLst/>
          </a:prstGeom>
          <a:solidFill>
            <a:srgbClr val="5E1E1E"/>
          </a:solidFill>
          <a:ln>
            <a:solidFill>
              <a:srgbClr val="5E1E1E"/>
            </a:solid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7" name="Text 4"/>
          <p:cNvSpPr txBox="1"/>
          <p:nvPr/>
        </p:nvSpPr>
        <p:spPr>
          <a:xfrm>
            <a:off x="1207008" y="1527048"/>
            <a:ext cx="1892808" cy="502920"/>
          </a:xfrm>
          <a:prstGeom prst="rect">
            <a:avLst/>
          </a:prstGeom>
          <a:noFill/>
          <a:ln/>
        </p:spPr>
        <p:txBody>
          <a:bodyPr wrap="square" lIns="0" tIns="0" rIns="0" bIns="0" rtlCol="0" anchor="ctr"/>
          <a:lstStyle/>
          <a:p>
            <a:pPr algn="l" indent="0" marL="0">
              <a:buNone/>
            </a:pPr>
            <a:r>
              <a:rPr lang="en-US" sz="1300" b="1" dirty="0">
                <a:solidFill>
                  <a:srgbClr val="5E1E1E"/>
                </a:solidFill>
              </a:rPr>
              <a:t>Sores</a:t>
            </a:r>
            <a:endParaRPr lang="en-US" sz="1300" dirty="0"/>
          </a:p>
        </p:txBody>
      </p:sp>
      <p:sp>
        <p:nvSpPr>
          <p:cNvPr id="8" name="Text 5"/>
          <p:cNvSpPr txBox="1"/>
          <p:nvPr/>
        </p:nvSpPr>
        <p:spPr>
          <a:xfrm>
            <a:off x="685800" y="2075688"/>
            <a:ext cx="2395728" cy="256032"/>
          </a:xfrm>
          <a:prstGeom prst="rect">
            <a:avLst/>
          </a:prstGeom>
          <a:noFill/>
          <a:ln/>
        </p:spPr>
        <p:txBody>
          <a:bodyPr wrap="square" lIns="0" tIns="0" rIns="0" bIns="0" rtlCol="0" anchor="t"/>
          <a:lstStyle/>
          <a:p>
            <a:pPr algn="l" indent="0" marL="0">
              <a:buNone/>
            </a:pPr>
            <a:r>
              <a:rPr lang="en-US" sz="1000" i="1" dirty="0">
                <a:solidFill>
                  <a:schemeClr val="accent6"/>
                </a:solidFill>
              </a:rPr>
              <a:t>Rev 16:2</a:t>
            </a:r>
            <a:endParaRPr lang="en-US" sz="1000" dirty="0"/>
          </a:p>
        </p:txBody>
      </p:sp>
      <p:sp>
        <p:nvSpPr>
          <p:cNvPr id="9" name="Text 6"/>
          <p:cNvSpPr txBox="1"/>
          <p:nvPr/>
        </p:nvSpPr>
        <p:spPr>
          <a:xfrm>
            <a:off x="685800" y="2331720"/>
            <a:ext cx="2395728" cy="886968"/>
          </a:xfrm>
          <a:prstGeom prst="rect">
            <a:avLst/>
          </a:prstGeom>
          <a:noFill/>
          <a:ln/>
        </p:spPr>
        <p:txBody>
          <a:bodyPr wrap="square" lIns="0" tIns="0" rIns="0" bIns="0" rtlCol="0" anchor="t"/>
          <a:lstStyle/>
          <a:p>
            <a:pPr algn="l" indent="0" marL="0">
              <a:buNone/>
            </a:pPr>
            <a:r>
              <a:rPr lang="en-US" sz="1100" dirty="0">
                <a:solidFill>
                  <a:schemeClr val="tx1"/>
                </a:solidFill>
              </a:rPr>
              <a:t>Loathsome, malignant sores on everyone who bears the mark of the beast and worships his image.</a:t>
            </a:r>
            <a:endParaRPr lang="en-US" sz="1100" dirty="0"/>
          </a:p>
        </p:txBody>
      </p:sp>
      <p:sp>
        <p:nvSpPr>
          <p:cNvPr id="10" name="Shape 7"/>
          <p:cNvSpPr/>
          <p:nvPr/>
        </p:nvSpPr>
        <p:spPr>
          <a:xfrm>
            <a:off x="3364992" y="1417320"/>
            <a:ext cx="2670048" cy="1874520"/>
          </a:xfrm>
          <a:prstGeom prst="roundRect">
            <a:avLst>
              <a:gd name="adj" fmla="val 3902"/>
            </a:avLst>
          </a:prstGeom>
          <a:solidFill>
            <a:srgbClr val="FFFFFF"/>
          </a:solidFill>
          <a:ln w="19050">
            <a:solidFill>
              <a:srgbClr val="5E1E1E"/>
            </a:solidFill>
            <a:prstDash val="solid"/>
          </a:ln>
        </p:spPr>
      </p:sp>
      <p:sp>
        <p:nvSpPr>
          <p:cNvPr id="11" name="Text 8"/>
          <p:cNvSpPr txBox="1"/>
          <p:nvPr/>
        </p:nvSpPr>
        <p:spPr>
          <a:xfrm>
            <a:off x="3502152" y="1554480"/>
            <a:ext cx="438912" cy="438912"/>
          </a:xfrm>
          <a:prstGeom prst="ellipse">
            <a:avLst/>
          </a:prstGeom>
          <a:solidFill>
            <a:srgbClr val="5E1E1E"/>
          </a:solidFill>
          <a:ln>
            <a:solidFill>
              <a:srgbClr val="5E1E1E"/>
            </a:solid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2" name="Text 9"/>
          <p:cNvSpPr txBox="1"/>
          <p:nvPr/>
        </p:nvSpPr>
        <p:spPr>
          <a:xfrm>
            <a:off x="4023360" y="1527048"/>
            <a:ext cx="1892808" cy="502920"/>
          </a:xfrm>
          <a:prstGeom prst="rect">
            <a:avLst/>
          </a:prstGeom>
          <a:noFill/>
          <a:ln/>
        </p:spPr>
        <p:txBody>
          <a:bodyPr wrap="square" lIns="0" tIns="0" rIns="0" bIns="0" rtlCol="0" anchor="ctr"/>
          <a:lstStyle/>
          <a:p>
            <a:pPr algn="l" indent="0" marL="0">
              <a:buNone/>
            </a:pPr>
            <a:r>
              <a:rPr lang="en-US" sz="1300" b="1" dirty="0">
                <a:solidFill>
                  <a:srgbClr val="5E1E1E"/>
                </a:solidFill>
              </a:rPr>
              <a:t>The sea becomes blood</a:t>
            </a:r>
            <a:endParaRPr lang="en-US" sz="1300" dirty="0"/>
          </a:p>
        </p:txBody>
      </p:sp>
      <p:sp>
        <p:nvSpPr>
          <p:cNvPr id="13" name="Text 10"/>
          <p:cNvSpPr txBox="1"/>
          <p:nvPr/>
        </p:nvSpPr>
        <p:spPr>
          <a:xfrm>
            <a:off x="3502152" y="2075688"/>
            <a:ext cx="2395728" cy="256032"/>
          </a:xfrm>
          <a:prstGeom prst="rect">
            <a:avLst/>
          </a:prstGeom>
          <a:noFill/>
          <a:ln/>
        </p:spPr>
        <p:txBody>
          <a:bodyPr wrap="square" lIns="0" tIns="0" rIns="0" bIns="0" rtlCol="0" anchor="t"/>
          <a:lstStyle/>
          <a:p>
            <a:pPr algn="l" indent="0" marL="0">
              <a:buNone/>
            </a:pPr>
            <a:r>
              <a:rPr lang="en-US" sz="1000" i="1" dirty="0">
                <a:solidFill>
                  <a:schemeClr val="accent6"/>
                </a:solidFill>
              </a:rPr>
              <a:t>Rev 16:3</a:t>
            </a:r>
            <a:endParaRPr lang="en-US" sz="1000" dirty="0"/>
          </a:p>
        </p:txBody>
      </p:sp>
      <p:sp>
        <p:nvSpPr>
          <p:cNvPr id="14" name="Text 11"/>
          <p:cNvSpPr txBox="1"/>
          <p:nvPr/>
        </p:nvSpPr>
        <p:spPr>
          <a:xfrm>
            <a:off x="3502152" y="2331720"/>
            <a:ext cx="2395728" cy="886968"/>
          </a:xfrm>
          <a:prstGeom prst="rect">
            <a:avLst/>
          </a:prstGeom>
          <a:noFill/>
          <a:ln/>
        </p:spPr>
        <p:txBody>
          <a:bodyPr wrap="square" lIns="0" tIns="0" rIns="0" bIns="0" rtlCol="0" anchor="t"/>
          <a:lstStyle/>
          <a:p>
            <a:pPr algn="l" indent="0" marL="0">
              <a:buNone/>
            </a:pPr>
            <a:r>
              <a:rPr lang="en-US" sz="1100" dirty="0">
                <a:solidFill>
                  <a:schemeClr val="tx1"/>
                </a:solidFill>
              </a:rPr>
              <a:t>Blood like that of a dead man. Every living thing in the sea dies — not a third, but all.</a:t>
            </a:r>
            <a:endParaRPr lang="en-US" sz="1100" dirty="0"/>
          </a:p>
        </p:txBody>
      </p:sp>
      <p:sp>
        <p:nvSpPr>
          <p:cNvPr id="15" name="Shape 12"/>
          <p:cNvSpPr/>
          <p:nvPr/>
        </p:nvSpPr>
        <p:spPr>
          <a:xfrm>
            <a:off x="6181344" y="1417320"/>
            <a:ext cx="2670048" cy="1874520"/>
          </a:xfrm>
          <a:prstGeom prst="roundRect">
            <a:avLst>
              <a:gd name="adj" fmla="val 3902"/>
            </a:avLst>
          </a:prstGeom>
          <a:solidFill>
            <a:srgbClr val="FFFFFF"/>
          </a:solidFill>
          <a:ln w="19050">
            <a:solidFill>
              <a:srgbClr val="5E1E1E"/>
            </a:solidFill>
            <a:prstDash val="solid"/>
          </a:ln>
        </p:spPr>
      </p:sp>
      <p:sp>
        <p:nvSpPr>
          <p:cNvPr id="16" name="Text 13"/>
          <p:cNvSpPr txBox="1"/>
          <p:nvPr/>
        </p:nvSpPr>
        <p:spPr>
          <a:xfrm>
            <a:off x="6318504" y="1554480"/>
            <a:ext cx="438912" cy="438912"/>
          </a:xfrm>
          <a:prstGeom prst="ellipse">
            <a:avLst/>
          </a:prstGeom>
          <a:solidFill>
            <a:srgbClr val="5E1E1E"/>
          </a:solidFill>
          <a:ln>
            <a:solidFill>
              <a:srgbClr val="5E1E1E"/>
            </a:solid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7" name="Text 14"/>
          <p:cNvSpPr txBox="1"/>
          <p:nvPr/>
        </p:nvSpPr>
        <p:spPr>
          <a:xfrm>
            <a:off x="6839712" y="1527048"/>
            <a:ext cx="1892808" cy="502920"/>
          </a:xfrm>
          <a:prstGeom prst="rect">
            <a:avLst/>
          </a:prstGeom>
          <a:noFill/>
          <a:ln/>
        </p:spPr>
        <p:txBody>
          <a:bodyPr wrap="square" lIns="0" tIns="0" rIns="0" bIns="0" rtlCol="0" anchor="ctr"/>
          <a:lstStyle/>
          <a:p>
            <a:pPr algn="l" indent="0" marL="0">
              <a:buNone/>
            </a:pPr>
            <a:r>
              <a:rPr lang="en-US" sz="1300" b="1" dirty="0">
                <a:solidFill>
                  <a:srgbClr val="5E1E1E"/>
                </a:solidFill>
              </a:rPr>
              <a:t>Rivers and springs become blood</a:t>
            </a:r>
            <a:endParaRPr lang="en-US" sz="1300" dirty="0"/>
          </a:p>
        </p:txBody>
      </p:sp>
      <p:sp>
        <p:nvSpPr>
          <p:cNvPr id="18" name="Text 15"/>
          <p:cNvSpPr txBox="1"/>
          <p:nvPr/>
        </p:nvSpPr>
        <p:spPr>
          <a:xfrm>
            <a:off x="6318504" y="2075688"/>
            <a:ext cx="2395728" cy="256032"/>
          </a:xfrm>
          <a:prstGeom prst="rect">
            <a:avLst/>
          </a:prstGeom>
          <a:noFill/>
          <a:ln/>
        </p:spPr>
        <p:txBody>
          <a:bodyPr wrap="square" lIns="0" tIns="0" rIns="0" bIns="0" rtlCol="0" anchor="t"/>
          <a:lstStyle/>
          <a:p>
            <a:pPr algn="l" indent="0" marL="0">
              <a:buNone/>
            </a:pPr>
            <a:r>
              <a:rPr lang="en-US" sz="1000" i="1" dirty="0">
                <a:solidFill>
                  <a:schemeClr val="accent6"/>
                </a:solidFill>
              </a:rPr>
              <a:t>Rev 16:4–7</a:t>
            </a:r>
            <a:endParaRPr lang="en-US" sz="1000" dirty="0"/>
          </a:p>
        </p:txBody>
      </p:sp>
      <p:sp>
        <p:nvSpPr>
          <p:cNvPr id="19" name="Text 16"/>
          <p:cNvSpPr txBox="1"/>
          <p:nvPr/>
        </p:nvSpPr>
        <p:spPr>
          <a:xfrm>
            <a:off x="6318504" y="2331720"/>
            <a:ext cx="2395728" cy="886968"/>
          </a:xfrm>
          <a:prstGeom prst="rect">
            <a:avLst/>
          </a:prstGeom>
          <a:noFill/>
          <a:ln/>
        </p:spPr>
        <p:txBody>
          <a:bodyPr wrap="square" lIns="0" tIns="0" rIns="0" bIns="0" rtlCol="0" anchor="t"/>
          <a:lstStyle/>
          <a:p>
            <a:pPr algn="l" indent="0" marL="0">
              <a:buNone/>
            </a:pPr>
            <a:r>
              <a:rPr lang="en-US" sz="1100" dirty="0">
                <a:solidFill>
                  <a:schemeClr val="tx1"/>
                </a:solidFill>
              </a:rPr>
              <a:t>All fresh water turns to blood. “They poured out the blood of saints and prophets… they deserve it.”</a:t>
            </a:r>
            <a:endParaRPr lang="en-US" sz="1100" dirty="0"/>
          </a:p>
        </p:txBody>
      </p:sp>
      <p:sp>
        <p:nvSpPr>
          <p:cNvPr id="20" name="Shape 17"/>
          <p:cNvSpPr/>
          <p:nvPr/>
        </p:nvSpPr>
        <p:spPr>
          <a:xfrm>
            <a:off x="8997696" y="1417320"/>
            <a:ext cx="2670048" cy="1874520"/>
          </a:xfrm>
          <a:prstGeom prst="roundRect">
            <a:avLst>
              <a:gd name="adj" fmla="val 3902"/>
            </a:avLst>
          </a:prstGeom>
          <a:solidFill>
            <a:srgbClr val="FFFFFF"/>
          </a:solidFill>
          <a:ln w="19050">
            <a:solidFill>
              <a:srgbClr val="5E1E1E"/>
            </a:solidFill>
            <a:prstDash val="solid"/>
          </a:ln>
        </p:spPr>
      </p:sp>
      <p:sp>
        <p:nvSpPr>
          <p:cNvPr id="21" name="Text 18"/>
          <p:cNvSpPr txBox="1"/>
          <p:nvPr/>
        </p:nvSpPr>
        <p:spPr>
          <a:xfrm>
            <a:off x="9134856" y="1554480"/>
            <a:ext cx="438912" cy="438912"/>
          </a:xfrm>
          <a:prstGeom prst="ellipse">
            <a:avLst/>
          </a:prstGeom>
          <a:solidFill>
            <a:srgbClr val="5E1E1E"/>
          </a:solidFill>
          <a:ln>
            <a:solidFill>
              <a:srgbClr val="5E1E1E"/>
            </a:solid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22" name="Text 19"/>
          <p:cNvSpPr txBox="1"/>
          <p:nvPr/>
        </p:nvSpPr>
        <p:spPr>
          <a:xfrm>
            <a:off x="9656064" y="1527048"/>
            <a:ext cx="1892808" cy="502920"/>
          </a:xfrm>
          <a:prstGeom prst="rect">
            <a:avLst/>
          </a:prstGeom>
          <a:noFill/>
          <a:ln/>
        </p:spPr>
        <p:txBody>
          <a:bodyPr wrap="square" lIns="0" tIns="0" rIns="0" bIns="0" rtlCol="0" anchor="ctr"/>
          <a:lstStyle/>
          <a:p>
            <a:pPr algn="l" indent="0" marL="0">
              <a:buNone/>
            </a:pPr>
            <a:r>
              <a:rPr lang="en-US" sz="1300" b="1" dirty="0">
                <a:solidFill>
                  <a:srgbClr val="5E1E1E"/>
                </a:solidFill>
              </a:rPr>
              <a:t>Scorching sun</a:t>
            </a:r>
            <a:endParaRPr lang="en-US" sz="1300" dirty="0"/>
          </a:p>
        </p:txBody>
      </p:sp>
      <p:sp>
        <p:nvSpPr>
          <p:cNvPr id="23" name="Text 20"/>
          <p:cNvSpPr txBox="1"/>
          <p:nvPr/>
        </p:nvSpPr>
        <p:spPr>
          <a:xfrm>
            <a:off x="9134856" y="2075688"/>
            <a:ext cx="2395728" cy="256032"/>
          </a:xfrm>
          <a:prstGeom prst="rect">
            <a:avLst/>
          </a:prstGeom>
          <a:noFill/>
          <a:ln/>
        </p:spPr>
        <p:txBody>
          <a:bodyPr wrap="square" lIns="0" tIns="0" rIns="0" bIns="0" rtlCol="0" anchor="t"/>
          <a:lstStyle/>
          <a:p>
            <a:pPr algn="l" indent="0" marL="0">
              <a:buNone/>
            </a:pPr>
            <a:r>
              <a:rPr lang="en-US" sz="1000" i="1" dirty="0">
                <a:solidFill>
                  <a:schemeClr val="accent6"/>
                </a:solidFill>
              </a:rPr>
              <a:t>Rev 16:8–9</a:t>
            </a:r>
            <a:endParaRPr lang="en-US" sz="1000" dirty="0"/>
          </a:p>
        </p:txBody>
      </p:sp>
      <p:sp>
        <p:nvSpPr>
          <p:cNvPr id="24" name="Text 21"/>
          <p:cNvSpPr txBox="1"/>
          <p:nvPr/>
        </p:nvSpPr>
        <p:spPr>
          <a:xfrm>
            <a:off x="9134856" y="2331720"/>
            <a:ext cx="2395728" cy="886968"/>
          </a:xfrm>
          <a:prstGeom prst="rect">
            <a:avLst/>
          </a:prstGeom>
          <a:noFill/>
          <a:ln/>
        </p:spPr>
        <p:txBody>
          <a:bodyPr wrap="square" lIns="0" tIns="0" rIns="0" bIns="0" rtlCol="0" anchor="t"/>
          <a:lstStyle/>
          <a:p>
            <a:pPr algn="l" indent="0" marL="0">
              <a:buNone/>
            </a:pPr>
            <a:r>
              <a:rPr lang="en-US" sz="1100" dirty="0">
                <a:solidFill>
                  <a:schemeClr val="tx1"/>
                </a:solidFill>
              </a:rPr>
              <a:t>The sun is given power to scorch men with fire. They blaspheme God and do not repent.</a:t>
            </a:r>
            <a:endParaRPr lang="en-US" sz="1100" dirty="0"/>
          </a:p>
        </p:txBody>
      </p:sp>
      <p:sp>
        <p:nvSpPr>
          <p:cNvPr id="25" name="Shape 22"/>
          <p:cNvSpPr/>
          <p:nvPr/>
        </p:nvSpPr>
        <p:spPr>
          <a:xfrm>
            <a:off x="548640" y="3456432"/>
            <a:ext cx="2670048" cy="1874520"/>
          </a:xfrm>
          <a:prstGeom prst="roundRect">
            <a:avLst>
              <a:gd name="adj" fmla="val 3902"/>
            </a:avLst>
          </a:prstGeom>
          <a:solidFill>
            <a:srgbClr val="FFFFFF"/>
          </a:solidFill>
          <a:ln w="19050">
            <a:solidFill>
              <a:srgbClr val="5E1E1E"/>
            </a:solidFill>
            <a:prstDash val="solid"/>
          </a:ln>
        </p:spPr>
      </p:sp>
      <p:sp>
        <p:nvSpPr>
          <p:cNvPr id="26" name="Text 23"/>
          <p:cNvSpPr txBox="1"/>
          <p:nvPr/>
        </p:nvSpPr>
        <p:spPr>
          <a:xfrm>
            <a:off x="685800" y="3593592"/>
            <a:ext cx="438912" cy="438912"/>
          </a:xfrm>
          <a:prstGeom prst="ellipse">
            <a:avLst/>
          </a:prstGeom>
          <a:solidFill>
            <a:srgbClr val="5E1E1E"/>
          </a:solidFill>
          <a:ln>
            <a:solidFill>
              <a:srgbClr val="5E1E1E"/>
            </a:solidFill>
          </a:ln>
        </p:spPr>
        <p:txBody>
          <a:bodyPr wrap="square" lIns="0" tIns="0" rIns="0" bIns="0" rtlCol="0" anchor="ctr"/>
          <a:lstStyle/>
          <a:p>
            <a:pPr algn="ctr" indent="0" marL="0">
              <a:buNone/>
            </a:pPr>
            <a:r>
              <a:rPr lang="en-US" sz="1600" b="1" dirty="0">
                <a:solidFill>
                  <a:srgbClr val="FFFFFF"/>
                </a:solidFill>
              </a:rPr>
              <a:t>5</a:t>
            </a:r>
            <a:endParaRPr lang="en-US" sz="1600" dirty="0"/>
          </a:p>
        </p:txBody>
      </p:sp>
      <p:sp>
        <p:nvSpPr>
          <p:cNvPr id="27" name="Text 24"/>
          <p:cNvSpPr txBox="1"/>
          <p:nvPr/>
        </p:nvSpPr>
        <p:spPr>
          <a:xfrm>
            <a:off x="1207008" y="3566160"/>
            <a:ext cx="1892808" cy="502920"/>
          </a:xfrm>
          <a:prstGeom prst="rect">
            <a:avLst/>
          </a:prstGeom>
          <a:noFill/>
          <a:ln/>
        </p:spPr>
        <p:txBody>
          <a:bodyPr wrap="square" lIns="0" tIns="0" rIns="0" bIns="0" rtlCol="0" anchor="ctr"/>
          <a:lstStyle/>
          <a:p>
            <a:pPr algn="l" indent="0" marL="0">
              <a:buNone/>
            </a:pPr>
            <a:r>
              <a:rPr lang="en-US" sz="1300" b="1" dirty="0">
                <a:solidFill>
                  <a:srgbClr val="5E1E1E"/>
                </a:solidFill>
              </a:rPr>
              <a:t>Darkness on the beast’s throne</a:t>
            </a:r>
            <a:endParaRPr lang="en-US" sz="1300" dirty="0"/>
          </a:p>
        </p:txBody>
      </p:sp>
      <p:sp>
        <p:nvSpPr>
          <p:cNvPr id="28" name="Text 25"/>
          <p:cNvSpPr txBox="1"/>
          <p:nvPr/>
        </p:nvSpPr>
        <p:spPr>
          <a:xfrm>
            <a:off x="685800" y="4114800"/>
            <a:ext cx="2395728" cy="256032"/>
          </a:xfrm>
          <a:prstGeom prst="rect">
            <a:avLst/>
          </a:prstGeom>
          <a:noFill/>
          <a:ln/>
        </p:spPr>
        <p:txBody>
          <a:bodyPr wrap="square" lIns="0" tIns="0" rIns="0" bIns="0" rtlCol="0" anchor="t"/>
          <a:lstStyle/>
          <a:p>
            <a:pPr algn="l" indent="0" marL="0">
              <a:buNone/>
            </a:pPr>
            <a:r>
              <a:rPr lang="en-US" sz="1000" i="1" dirty="0">
                <a:solidFill>
                  <a:schemeClr val="accent6"/>
                </a:solidFill>
              </a:rPr>
              <a:t>Rev 16:10–11</a:t>
            </a:r>
            <a:endParaRPr lang="en-US" sz="1000" dirty="0"/>
          </a:p>
        </p:txBody>
      </p:sp>
      <p:sp>
        <p:nvSpPr>
          <p:cNvPr id="29" name="Text 26"/>
          <p:cNvSpPr txBox="1"/>
          <p:nvPr/>
        </p:nvSpPr>
        <p:spPr>
          <a:xfrm>
            <a:off x="685800" y="4370832"/>
            <a:ext cx="2395728" cy="886968"/>
          </a:xfrm>
          <a:prstGeom prst="rect">
            <a:avLst/>
          </a:prstGeom>
          <a:noFill/>
          <a:ln/>
        </p:spPr>
        <p:txBody>
          <a:bodyPr wrap="square" lIns="0" tIns="0" rIns="0" bIns="0" rtlCol="0" anchor="t"/>
          <a:lstStyle/>
          <a:p>
            <a:pPr algn="l" indent="0" marL="0">
              <a:buNone/>
            </a:pPr>
            <a:r>
              <a:rPr lang="en-US" sz="1100" dirty="0">
                <a:solidFill>
                  <a:schemeClr val="tx1"/>
                </a:solidFill>
              </a:rPr>
              <a:t>The Antichrist’s kingdom is plunged into darkness; men gnaw their tongues in pain. Still no repentance.</a:t>
            </a:r>
            <a:endParaRPr lang="en-US" sz="1100" dirty="0"/>
          </a:p>
        </p:txBody>
      </p:sp>
      <p:sp>
        <p:nvSpPr>
          <p:cNvPr id="30" name="Shape 27"/>
          <p:cNvSpPr/>
          <p:nvPr/>
        </p:nvSpPr>
        <p:spPr>
          <a:xfrm>
            <a:off x="3364992" y="3456432"/>
            <a:ext cx="2670048" cy="1874520"/>
          </a:xfrm>
          <a:prstGeom prst="roundRect">
            <a:avLst>
              <a:gd name="adj" fmla="val 3902"/>
            </a:avLst>
          </a:prstGeom>
          <a:solidFill>
            <a:srgbClr val="FFFFFF"/>
          </a:solidFill>
          <a:ln w="19050">
            <a:solidFill>
              <a:srgbClr val="5E1E1E"/>
            </a:solidFill>
            <a:prstDash val="solid"/>
          </a:ln>
        </p:spPr>
      </p:sp>
      <p:sp>
        <p:nvSpPr>
          <p:cNvPr id="31" name="Text 28"/>
          <p:cNvSpPr txBox="1"/>
          <p:nvPr/>
        </p:nvSpPr>
        <p:spPr>
          <a:xfrm>
            <a:off x="3502152" y="3593592"/>
            <a:ext cx="438912" cy="438912"/>
          </a:xfrm>
          <a:prstGeom prst="ellipse">
            <a:avLst/>
          </a:prstGeom>
          <a:solidFill>
            <a:srgbClr val="5E1E1E"/>
          </a:solidFill>
          <a:ln>
            <a:solidFill>
              <a:srgbClr val="5E1E1E"/>
            </a:solidFill>
          </a:ln>
        </p:spPr>
        <p:txBody>
          <a:bodyPr wrap="square" lIns="0" tIns="0" rIns="0" bIns="0" rtlCol="0" anchor="ctr"/>
          <a:lstStyle/>
          <a:p>
            <a:pPr algn="ctr" indent="0" marL="0">
              <a:buNone/>
            </a:pPr>
            <a:r>
              <a:rPr lang="en-US" sz="1600" b="1" dirty="0">
                <a:solidFill>
                  <a:srgbClr val="FFFFFF"/>
                </a:solidFill>
              </a:rPr>
              <a:t>6</a:t>
            </a:r>
            <a:endParaRPr lang="en-US" sz="1600" dirty="0"/>
          </a:p>
        </p:txBody>
      </p:sp>
      <p:sp>
        <p:nvSpPr>
          <p:cNvPr id="32" name="Text 29"/>
          <p:cNvSpPr txBox="1"/>
          <p:nvPr/>
        </p:nvSpPr>
        <p:spPr>
          <a:xfrm>
            <a:off x="4023360" y="3566160"/>
            <a:ext cx="1892808" cy="502920"/>
          </a:xfrm>
          <a:prstGeom prst="rect">
            <a:avLst/>
          </a:prstGeom>
          <a:noFill/>
          <a:ln/>
        </p:spPr>
        <p:txBody>
          <a:bodyPr wrap="square" lIns="0" tIns="0" rIns="0" bIns="0" rtlCol="0" anchor="ctr"/>
          <a:lstStyle/>
          <a:p>
            <a:pPr algn="l" indent="0" marL="0">
              <a:buNone/>
            </a:pPr>
            <a:r>
              <a:rPr lang="en-US" sz="1300" b="1" dirty="0">
                <a:solidFill>
                  <a:srgbClr val="5E1E1E"/>
                </a:solidFill>
              </a:rPr>
              <a:t>The Euphrates dried up</a:t>
            </a:r>
            <a:endParaRPr lang="en-US" sz="1300" dirty="0"/>
          </a:p>
        </p:txBody>
      </p:sp>
      <p:sp>
        <p:nvSpPr>
          <p:cNvPr id="33" name="Text 30"/>
          <p:cNvSpPr txBox="1"/>
          <p:nvPr/>
        </p:nvSpPr>
        <p:spPr>
          <a:xfrm>
            <a:off x="3502152" y="4114800"/>
            <a:ext cx="2395728" cy="256032"/>
          </a:xfrm>
          <a:prstGeom prst="rect">
            <a:avLst/>
          </a:prstGeom>
          <a:noFill/>
          <a:ln/>
        </p:spPr>
        <p:txBody>
          <a:bodyPr wrap="square" lIns="0" tIns="0" rIns="0" bIns="0" rtlCol="0" anchor="t"/>
          <a:lstStyle/>
          <a:p>
            <a:pPr algn="l" indent="0" marL="0">
              <a:buNone/>
            </a:pPr>
            <a:r>
              <a:rPr lang="en-US" sz="1000" i="1" dirty="0">
                <a:solidFill>
                  <a:schemeClr val="accent6"/>
                </a:solidFill>
              </a:rPr>
              <a:t>Rev 16:12–16</a:t>
            </a:r>
            <a:endParaRPr lang="en-US" sz="1000" dirty="0"/>
          </a:p>
        </p:txBody>
      </p:sp>
      <p:sp>
        <p:nvSpPr>
          <p:cNvPr id="34" name="Text 31"/>
          <p:cNvSpPr txBox="1"/>
          <p:nvPr/>
        </p:nvSpPr>
        <p:spPr>
          <a:xfrm>
            <a:off x="3502152" y="4370832"/>
            <a:ext cx="2395728" cy="886968"/>
          </a:xfrm>
          <a:prstGeom prst="rect">
            <a:avLst/>
          </a:prstGeom>
          <a:noFill/>
          <a:ln/>
        </p:spPr>
        <p:txBody>
          <a:bodyPr wrap="square" lIns="0" tIns="0" rIns="0" bIns="0" rtlCol="0" anchor="t"/>
          <a:lstStyle/>
          <a:p>
            <a:pPr algn="l" indent="0" marL="0">
              <a:buNone/>
            </a:pPr>
            <a:r>
              <a:rPr lang="en-US" sz="1100" dirty="0">
                <a:solidFill>
                  <a:schemeClr val="tx1"/>
                </a:solidFill>
              </a:rPr>
              <a:t>The way is prepared for the kings from the east. Demonic spirits gather the nations to Armageddon.</a:t>
            </a:r>
            <a:endParaRPr lang="en-US" sz="1100" dirty="0"/>
          </a:p>
        </p:txBody>
      </p:sp>
      <p:sp>
        <p:nvSpPr>
          <p:cNvPr id="35" name="Shape 32"/>
          <p:cNvSpPr/>
          <p:nvPr/>
        </p:nvSpPr>
        <p:spPr>
          <a:xfrm>
            <a:off x="6181344" y="3456432"/>
            <a:ext cx="2670048" cy="1874520"/>
          </a:xfrm>
          <a:prstGeom prst="roundRect">
            <a:avLst>
              <a:gd name="adj" fmla="val 3902"/>
            </a:avLst>
          </a:prstGeom>
          <a:solidFill>
            <a:srgbClr val="FFFFFF"/>
          </a:solidFill>
          <a:ln w="19050">
            <a:solidFill>
              <a:srgbClr val="5E1E1E"/>
            </a:solidFill>
            <a:prstDash val="solid"/>
          </a:ln>
        </p:spPr>
      </p:sp>
      <p:sp>
        <p:nvSpPr>
          <p:cNvPr id="36" name="Text 33"/>
          <p:cNvSpPr txBox="1"/>
          <p:nvPr/>
        </p:nvSpPr>
        <p:spPr>
          <a:xfrm>
            <a:off x="6318504" y="3593592"/>
            <a:ext cx="438912" cy="438912"/>
          </a:xfrm>
          <a:prstGeom prst="ellipse">
            <a:avLst/>
          </a:prstGeom>
          <a:solidFill>
            <a:srgbClr val="5E1E1E"/>
          </a:solidFill>
          <a:ln>
            <a:solidFill>
              <a:srgbClr val="5E1E1E"/>
            </a:solidFill>
          </a:ln>
        </p:spPr>
        <p:txBody>
          <a:bodyPr wrap="square" lIns="0" tIns="0" rIns="0" bIns="0" rtlCol="0" anchor="ctr"/>
          <a:lstStyle/>
          <a:p>
            <a:pPr algn="ctr" indent="0" marL="0">
              <a:buNone/>
            </a:pPr>
            <a:r>
              <a:rPr lang="en-US" sz="1600" b="1" dirty="0">
                <a:solidFill>
                  <a:srgbClr val="FFFFFF"/>
                </a:solidFill>
              </a:rPr>
              <a:t>7</a:t>
            </a:r>
            <a:endParaRPr lang="en-US" sz="1600" dirty="0"/>
          </a:p>
        </p:txBody>
      </p:sp>
      <p:sp>
        <p:nvSpPr>
          <p:cNvPr id="37" name="Text 34"/>
          <p:cNvSpPr txBox="1"/>
          <p:nvPr/>
        </p:nvSpPr>
        <p:spPr>
          <a:xfrm>
            <a:off x="6839712" y="3566160"/>
            <a:ext cx="1892808" cy="502920"/>
          </a:xfrm>
          <a:prstGeom prst="rect">
            <a:avLst/>
          </a:prstGeom>
          <a:noFill/>
          <a:ln/>
        </p:spPr>
        <p:txBody>
          <a:bodyPr wrap="square" lIns="0" tIns="0" rIns="0" bIns="0" rtlCol="0" anchor="ctr"/>
          <a:lstStyle/>
          <a:p>
            <a:pPr algn="l" indent="0" marL="0">
              <a:buNone/>
            </a:pPr>
            <a:r>
              <a:rPr lang="en-US" sz="1300" b="1" dirty="0">
                <a:solidFill>
                  <a:srgbClr val="5E1E1E"/>
                </a:solidFill>
              </a:rPr>
              <a:t>“It is done!”</a:t>
            </a:r>
            <a:endParaRPr lang="en-US" sz="1300" dirty="0"/>
          </a:p>
        </p:txBody>
      </p:sp>
      <p:sp>
        <p:nvSpPr>
          <p:cNvPr id="38" name="Text 35"/>
          <p:cNvSpPr txBox="1"/>
          <p:nvPr/>
        </p:nvSpPr>
        <p:spPr>
          <a:xfrm>
            <a:off x="6318504" y="4114800"/>
            <a:ext cx="2395728" cy="256032"/>
          </a:xfrm>
          <a:prstGeom prst="rect">
            <a:avLst/>
          </a:prstGeom>
          <a:noFill/>
          <a:ln/>
        </p:spPr>
        <p:txBody>
          <a:bodyPr wrap="square" lIns="0" tIns="0" rIns="0" bIns="0" rtlCol="0" anchor="t"/>
          <a:lstStyle/>
          <a:p>
            <a:pPr algn="l" indent="0" marL="0">
              <a:buNone/>
            </a:pPr>
            <a:r>
              <a:rPr lang="en-US" sz="1000" i="1" dirty="0">
                <a:solidFill>
                  <a:schemeClr val="accent6"/>
                </a:solidFill>
              </a:rPr>
              <a:t>Rev 16:17–21</a:t>
            </a:r>
            <a:endParaRPr lang="en-US" sz="1000" dirty="0"/>
          </a:p>
        </p:txBody>
      </p:sp>
      <p:sp>
        <p:nvSpPr>
          <p:cNvPr id="39" name="Text 36"/>
          <p:cNvSpPr txBox="1"/>
          <p:nvPr/>
        </p:nvSpPr>
        <p:spPr>
          <a:xfrm>
            <a:off x="6318504" y="4370832"/>
            <a:ext cx="2395728" cy="886968"/>
          </a:xfrm>
          <a:prstGeom prst="rect">
            <a:avLst/>
          </a:prstGeom>
          <a:noFill/>
          <a:ln/>
        </p:spPr>
        <p:txBody>
          <a:bodyPr wrap="square" lIns="0" tIns="0" rIns="0" bIns="0" rtlCol="0" anchor="t"/>
          <a:lstStyle/>
          <a:p>
            <a:pPr algn="l" indent="0" marL="0">
              <a:buNone/>
            </a:pPr>
            <a:r>
              <a:rPr lang="en-US" sz="1100" dirty="0">
                <a:solidFill>
                  <a:schemeClr val="tx1"/>
                </a:solidFill>
              </a:rPr>
              <a:t>The greatest earthquake in history; Babylon split in three; the cities of the nations fall; hailstones of about 100 pounds.</a:t>
            </a:r>
            <a:endParaRPr lang="en-US" sz="1100" dirty="0"/>
          </a:p>
        </p:txBody>
      </p:sp>
      <p:sp>
        <p:nvSpPr>
          <p:cNvPr id="40" name="Shape 37"/>
          <p:cNvSpPr/>
          <p:nvPr/>
        </p:nvSpPr>
        <p:spPr>
          <a:xfrm>
            <a:off x="8997696" y="3456432"/>
            <a:ext cx="2670048" cy="1874520"/>
          </a:xfrm>
          <a:prstGeom prst="roundRect">
            <a:avLst>
              <a:gd name="adj" fmla="val 3902"/>
            </a:avLst>
          </a:prstGeom>
          <a:solidFill>
            <a:srgbClr val="5E1E1E"/>
          </a:solidFill>
          <a:ln w="12700">
            <a:solidFill>
              <a:srgbClr val="5E1E1E"/>
            </a:solidFill>
            <a:prstDash val="solid"/>
          </a:ln>
        </p:spPr>
      </p:sp>
      <p:sp>
        <p:nvSpPr>
          <p:cNvPr id="41" name="Text 38"/>
          <p:cNvSpPr txBox="1"/>
          <p:nvPr/>
        </p:nvSpPr>
        <p:spPr>
          <a:xfrm>
            <a:off x="9134856" y="3593592"/>
            <a:ext cx="2395728" cy="160020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FFFFFF"/>
                </a:solidFill>
              </a:rPr>
              <a:t>“In them the wrath of God is finished” (15:1)</a:t>
            </a:r>
            <a:endParaRPr lang="en-US" sz="1100" dirty="0"/>
          </a:p>
          <a:p>
            <a:pPr marL="342900" indent="-342900">
              <a:spcAft>
                <a:spcPts val="400"/>
              </a:spcAft>
              <a:buSzPct val="100000"/>
              <a:buChar char="•"/>
            </a:pPr>
            <a:r>
              <a:rPr lang="en-US" sz="1100" dirty="0">
                <a:solidFill>
                  <a:srgbClr val="FFFFFF"/>
                </a:solidFill>
              </a:rPr>
              <a:t>No intervals — rapid succession at the very end</a:t>
            </a:r>
            <a:endParaRPr lang="en-US" sz="1100" dirty="0"/>
          </a:p>
          <a:p>
            <a:pPr marL="342900" indent="-342900">
              <a:spcAft>
                <a:spcPts val="400"/>
              </a:spcAft>
              <a:buSzPct val="100000"/>
              <a:buChar char="•"/>
            </a:pPr>
            <a:r>
              <a:rPr lang="en-US" sz="1100" dirty="0">
                <a:solidFill>
                  <a:srgbClr val="FFFFFF"/>
                </a:solidFill>
              </a:rPr>
              <a:t>Climax: the fall of Babylon (Rev 17–18)</a:t>
            </a:r>
            <a:endParaRPr lang="en-US" sz="1100" dirty="0"/>
          </a:p>
          <a:p>
            <a:pPr marL="342900" indent="-342900">
              <a:spcAft>
                <a:spcPts val="400"/>
              </a:spcAft>
              <a:buSzPct val="100000"/>
              <a:buChar char="•"/>
            </a:pPr>
            <a:r>
              <a:rPr lang="en-US" sz="1100" dirty="0">
                <a:solidFill>
                  <a:srgbClr val="FFFFFF"/>
                </a:solidFill>
              </a:rPr>
              <a:t>Followed by the Second Coming (Rev 19:11–21)</a:t>
            </a:r>
            <a:endParaRPr lang="en-US" sz="1100" dirty="0"/>
          </a:p>
        </p:txBody>
      </p:sp>
      <p:sp>
        <p:nvSpPr>
          <p:cNvPr id="42" name="Text 39"/>
          <p:cNvSpPr txBox="1"/>
          <p:nvPr/>
        </p:nvSpPr>
        <p:spPr>
          <a:xfrm>
            <a:off x="548640" y="5486400"/>
            <a:ext cx="11064240" cy="365760"/>
          </a:xfrm>
          <a:prstGeom prst="rect">
            <a:avLst/>
          </a:prstGeom>
          <a:noFill/>
          <a:ln/>
        </p:spPr>
        <p:txBody>
          <a:bodyPr wrap="square" lIns="0" tIns="0" rIns="0" bIns="0" rtlCol="0" anchor="t"/>
          <a:lstStyle/>
          <a:p>
            <a:pPr algn="l" indent="0" marL="0">
              <a:buNone/>
            </a:pPr>
            <a:r>
              <a:rPr lang="en-US" sz="1200" i="1" dirty="0">
                <a:solidFill>
                  <a:schemeClr val="accent6"/>
                </a:solidFill>
              </a:rPr>
              <a:t>Several bowls mirror earlier judgments at full strength — the sea and fresh water now wholly turned to blood (compare Trumpets 2–3).</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11155680" cy="621792"/>
          </a:xfrm>
          <a:prstGeom prst="rect">
            <a:avLst/>
          </a:prstGeom>
          <a:noFill/>
          <a:ln/>
        </p:spPr>
        <p:txBody>
          <a:bodyPr wrap="square" lIns="0" tIns="0" rIns="0" bIns="0" rtlCol="0" anchor="ctr"/>
          <a:lstStyle/>
          <a:p>
            <a:pPr algn="l" indent="0" marL="0">
              <a:buNone/>
            </a:pPr>
            <a:r>
              <a:rPr lang="en-US" sz="3400" b="1" dirty="0">
                <a:solidFill>
                  <a:srgbClr val="1F3864"/>
                </a:solidFill>
              </a:rPr>
              <a:t>From Bozrah to the Mount of Olives</a:t>
            </a:r>
            <a:endParaRPr lang="en-US" sz="3400" dirty="0"/>
          </a:p>
        </p:txBody>
      </p:sp>
      <p:sp>
        <p:nvSpPr>
          <p:cNvPr id="3" name="Text 1"/>
          <p:cNvSpPr/>
          <p:nvPr>
            <p:ph idx="102" type="body" hasCustomPrompt="1"/>
          </p:nvPr>
        </p:nvSpPr>
        <p:spPr>
          <a:xfrm>
            <a:off x="502920" y="914400"/>
            <a:ext cx="11155680" cy="347472"/>
          </a:xfrm>
          <a:prstGeom prst="rect">
            <a:avLst/>
          </a:prstGeom>
          <a:noFill/>
          <a:ln/>
        </p:spPr>
        <p:txBody>
          <a:bodyPr wrap="square" lIns="0" tIns="0" rIns="0" bIns="0" rtlCol="0" anchor="ctr"/>
          <a:lstStyle/>
          <a:p>
            <a:pPr indent="0" marL="0">
              <a:buNone/>
            </a:pPr>
            <a:r>
              <a:rPr lang="en-US" sz="1400" i="1" dirty="0">
                <a:solidFill>
                  <a:srgbClr val="6B7A8F"/>
                </a:solidFill>
              </a:rPr>
              <a:t>The geographic route of the Second Coming  ·  Isaiah 63:1–6  ·  schematic map</a:t>
            </a:r>
            <a:endParaRPr lang="en-US" sz="1400" dirty="0"/>
          </a:p>
        </p:txBody>
      </p:sp>
      <p:pic>
        <p:nvPicPr>
          <p:cNvPr id="5" name="Image 0" descr="Schematic map from Bozrah in Edom north through the Jordan Valley to Jerusalem and the Mount of Olives, with Megiddo and Petra marked.">    </p:cNvPr>
          <p:cNvPicPr>
            <a:picLocks noChangeAspect="1"/>
          </p:cNvPicPr>
          <p:nvPr/>
        </p:nvPicPr>
        <p:blipFill>
          <a:blip r:embed="rId1"/>
          <a:stretch>
            <a:fillRect/>
          </a:stretch>
        </p:blipFill>
        <p:spPr>
          <a:xfrm>
            <a:off x="548640" y="1371600"/>
            <a:ext cx="3740025" cy="4937760"/>
          </a:xfrm>
          <a:prstGeom prst="rect">
            <a:avLst/>
          </a:prstGeom>
        </p:spPr>
      </p:pic>
      <p:sp>
        <p:nvSpPr>
          <p:cNvPr id="6" name="Text 2"/>
          <p:cNvSpPr txBox="1"/>
          <p:nvPr/>
        </p:nvSpPr>
        <p:spPr>
          <a:xfrm>
            <a:off x="4572000" y="1463040"/>
            <a:ext cx="438912" cy="438912"/>
          </a:xfrm>
          <a:prstGeom prst="ellipse">
            <a:avLst/>
          </a:prstGeom>
          <a:solidFill>
            <a:srgbClr val="8B2E2E"/>
          </a:solidFill>
          <a:ln>
            <a:solidFill>
              <a:srgbClr val="FAF7EF"/>
            </a:solid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7" name="Text 3"/>
          <p:cNvSpPr txBox="1"/>
          <p:nvPr/>
        </p:nvSpPr>
        <p:spPr>
          <a:xfrm>
            <a:off x="5166360" y="1444752"/>
            <a:ext cx="6492240" cy="292608"/>
          </a:xfrm>
          <a:prstGeom prst="rect">
            <a:avLst/>
          </a:prstGeom>
          <a:noFill/>
          <a:ln/>
        </p:spPr>
        <p:txBody>
          <a:bodyPr wrap="square" lIns="0" tIns="0" rIns="0" bIns="0" rtlCol="0" anchor="t"/>
          <a:lstStyle/>
          <a:p>
            <a:pPr algn="l" indent="0" marL="0">
              <a:buNone/>
            </a:pPr>
            <a:r>
              <a:rPr lang="en-US" sz="1400" b="1" dirty="0">
                <a:solidFill>
                  <a:schemeClr val="tx2"/>
                </a:solidFill>
              </a:rPr>
              <a:t>The remnant flees to the wilderness</a:t>
            </a:r>
            <a:endParaRPr lang="en-US" sz="1400" dirty="0"/>
          </a:p>
        </p:txBody>
      </p:sp>
      <p:sp>
        <p:nvSpPr>
          <p:cNvPr id="8" name="Text 4"/>
          <p:cNvSpPr txBox="1"/>
          <p:nvPr/>
        </p:nvSpPr>
        <p:spPr>
          <a:xfrm>
            <a:off x="5166360" y="1755648"/>
            <a:ext cx="6492240" cy="594360"/>
          </a:xfrm>
          <a:prstGeom prst="rect">
            <a:avLst/>
          </a:prstGeom>
          <a:noFill/>
          <a:ln/>
        </p:spPr>
        <p:txBody>
          <a:bodyPr wrap="square" lIns="0" tIns="0" rIns="0" bIns="0" rtlCol="0" anchor="t"/>
          <a:lstStyle/>
          <a:p>
            <a:pPr algn="l" indent="0" marL="0">
              <a:buNone/>
            </a:pPr>
            <a:r>
              <a:rPr lang="en-US" sz="1200" dirty="0">
                <a:solidFill>
                  <a:schemeClr val="tx1"/>
                </a:solidFill>
              </a:rPr>
              <a:t>“Flee to the mountains” (Matt 24:16); a place prepared by God (Rev 12:6, 14) — the Petra / Bozrah region of Edom</a:t>
            </a:r>
            <a:endParaRPr lang="en-US" sz="1200" dirty="0"/>
          </a:p>
        </p:txBody>
      </p:sp>
      <p:sp>
        <p:nvSpPr>
          <p:cNvPr id="9" name="Text 5"/>
          <p:cNvSpPr txBox="1"/>
          <p:nvPr/>
        </p:nvSpPr>
        <p:spPr>
          <a:xfrm>
            <a:off x="4572000" y="2487168"/>
            <a:ext cx="438912" cy="438912"/>
          </a:xfrm>
          <a:prstGeom prst="ellipse">
            <a:avLst/>
          </a:prstGeom>
          <a:solidFill>
            <a:srgbClr val="8B2E2E"/>
          </a:solidFill>
          <a:ln>
            <a:solidFill>
              <a:srgbClr val="FAF7EF"/>
            </a:solid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0" name="Text 6"/>
          <p:cNvSpPr txBox="1"/>
          <p:nvPr/>
        </p:nvSpPr>
        <p:spPr>
          <a:xfrm>
            <a:off x="5166360" y="2468880"/>
            <a:ext cx="6492240" cy="292608"/>
          </a:xfrm>
          <a:prstGeom prst="rect">
            <a:avLst/>
          </a:prstGeom>
          <a:noFill/>
          <a:ln/>
        </p:spPr>
        <p:txBody>
          <a:bodyPr wrap="square" lIns="0" tIns="0" rIns="0" bIns="0" rtlCol="0" anchor="t"/>
          <a:lstStyle/>
          <a:p>
            <a:pPr algn="l" indent="0" marL="0">
              <a:buNone/>
            </a:pPr>
            <a:r>
              <a:rPr lang="en-US" sz="1400" b="1" dirty="0">
                <a:solidFill>
                  <a:schemeClr val="tx2"/>
                </a:solidFill>
              </a:rPr>
              <a:t>Christ comes to Bozrah</a:t>
            </a:r>
            <a:endParaRPr lang="en-US" sz="1400" dirty="0"/>
          </a:p>
        </p:txBody>
      </p:sp>
      <p:sp>
        <p:nvSpPr>
          <p:cNvPr id="11" name="Text 7"/>
          <p:cNvSpPr txBox="1"/>
          <p:nvPr/>
        </p:nvSpPr>
        <p:spPr>
          <a:xfrm>
            <a:off x="5166360" y="2779776"/>
            <a:ext cx="6492240" cy="594360"/>
          </a:xfrm>
          <a:prstGeom prst="rect">
            <a:avLst/>
          </a:prstGeom>
          <a:noFill/>
          <a:ln/>
        </p:spPr>
        <p:txBody>
          <a:bodyPr wrap="square" lIns="0" tIns="0" rIns="0" bIns="0" rtlCol="0" anchor="t"/>
          <a:lstStyle/>
          <a:p>
            <a:pPr algn="l" indent="0" marL="0">
              <a:buNone/>
            </a:pPr>
            <a:r>
              <a:rPr lang="en-US" sz="1200" dirty="0">
                <a:solidFill>
                  <a:schemeClr val="tx1"/>
                </a:solidFill>
              </a:rPr>
              <a:t>“Who is this who comes from Edom… from Bozrah?” (Isa 63:1). He gathers His people from their refuge</a:t>
            </a:r>
            <a:endParaRPr lang="en-US" sz="1200" dirty="0"/>
          </a:p>
        </p:txBody>
      </p:sp>
      <p:sp>
        <p:nvSpPr>
          <p:cNvPr id="12" name="Text 8"/>
          <p:cNvSpPr txBox="1"/>
          <p:nvPr/>
        </p:nvSpPr>
        <p:spPr>
          <a:xfrm>
            <a:off x="4572000" y="3511296"/>
            <a:ext cx="438912" cy="438912"/>
          </a:xfrm>
          <a:prstGeom prst="ellipse">
            <a:avLst/>
          </a:prstGeom>
          <a:solidFill>
            <a:srgbClr val="8B2E2E"/>
          </a:solidFill>
          <a:ln>
            <a:solidFill>
              <a:srgbClr val="FAF7EF"/>
            </a:solid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3" name="Text 9"/>
          <p:cNvSpPr txBox="1"/>
          <p:nvPr/>
        </p:nvSpPr>
        <p:spPr>
          <a:xfrm>
            <a:off x="5166360" y="3493008"/>
            <a:ext cx="6492240" cy="292608"/>
          </a:xfrm>
          <a:prstGeom prst="rect">
            <a:avLst/>
          </a:prstGeom>
          <a:noFill/>
          <a:ln/>
        </p:spPr>
        <p:txBody>
          <a:bodyPr wrap="square" lIns="0" tIns="0" rIns="0" bIns="0" rtlCol="0" anchor="t"/>
          <a:lstStyle/>
          <a:p>
            <a:pPr algn="l" indent="0" marL="0">
              <a:buNone/>
            </a:pPr>
            <a:r>
              <a:rPr lang="en-US" sz="1400" b="1" dirty="0">
                <a:solidFill>
                  <a:schemeClr val="tx2"/>
                </a:solidFill>
              </a:rPr>
              <a:t>He advances north through the Jordan Valley</a:t>
            </a:r>
            <a:endParaRPr lang="en-US" sz="1400" dirty="0"/>
          </a:p>
        </p:txBody>
      </p:sp>
      <p:sp>
        <p:nvSpPr>
          <p:cNvPr id="14" name="Text 10"/>
          <p:cNvSpPr txBox="1"/>
          <p:nvPr/>
        </p:nvSpPr>
        <p:spPr>
          <a:xfrm>
            <a:off x="5166360" y="3803904"/>
            <a:ext cx="6492240" cy="594360"/>
          </a:xfrm>
          <a:prstGeom prst="rect">
            <a:avLst/>
          </a:prstGeom>
          <a:noFill/>
          <a:ln/>
        </p:spPr>
        <p:txBody>
          <a:bodyPr wrap="square" lIns="0" tIns="0" rIns="0" bIns="0" rtlCol="0" anchor="t"/>
          <a:lstStyle/>
          <a:p>
            <a:pPr algn="l" indent="0" marL="0">
              <a:buNone/>
            </a:pPr>
            <a:r>
              <a:rPr lang="en-US" sz="1200" dirty="0">
                <a:solidFill>
                  <a:schemeClr val="tx1"/>
                </a:solidFill>
              </a:rPr>
              <a:t>Treading the winepress alone (Isa 63:3); the source of Rev 19:13, 15</a:t>
            </a:r>
            <a:endParaRPr lang="en-US" sz="1200" dirty="0"/>
          </a:p>
        </p:txBody>
      </p:sp>
      <p:sp>
        <p:nvSpPr>
          <p:cNvPr id="15" name="Text 11"/>
          <p:cNvSpPr txBox="1"/>
          <p:nvPr/>
        </p:nvSpPr>
        <p:spPr>
          <a:xfrm>
            <a:off x="4572000" y="4535424"/>
            <a:ext cx="438912" cy="438912"/>
          </a:xfrm>
          <a:prstGeom prst="ellipse">
            <a:avLst/>
          </a:prstGeom>
          <a:solidFill>
            <a:srgbClr val="1F3864"/>
          </a:solidFill>
          <a:ln>
            <a:solidFill>
              <a:srgbClr val="FAF7EF"/>
            </a:solid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6" name="Text 12"/>
          <p:cNvSpPr txBox="1"/>
          <p:nvPr/>
        </p:nvSpPr>
        <p:spPr>
          <a:xfrm>
            <a:off x="5166360" y="4517136"/>
            <a:ext cx="6492240" cy="292608"/>
          </a:xfrm>
          <a:prstGeom prst="rect">
            <a:avLst/>
          </a:prstGeom>
          <a:noFill/>
          <a:ln/>
        </p:spPr>
        <p:txBody>
          <a:bodyPr wrap="square" lIns="0" tIns="0" rIns="0" bIns="0" rtlCol="0" anchor="t"/>
          <a:lstStyle/>
          <a:p>
            <a:pPr algn="l" indent="0" marL="0">
              <a:buNone/>
            </a:pPr>
            <a:r>
              <a:rPr lang="en-US" sz="1400" b="1" dirty="0">
                <a:solidFill>
                  <a:schemeClr val="tx2"/>
                </a:solidFill>
              </a:rPr>
              <a:t>His feet stand on the Mount of Olives</a:t>
            </a:r>
            <a:endParaRPr lang="en-US" sz="1400" dirty="0"/>
          </a:p>
        </p:txBody>
      </p:sp>
      <p:sp>
        <p:nvSpPr>
          <p:cNvPr id="17" name="Text 13"/>
          <p:cNvSpPr txBox="1"/>
          <p:nvPr/>
        </p:nvSpPr>
        <p:spPr>
          <a:xfrm>
            <a:off x="5166360" y="4828032"/>
            <a:ext cx="6492240" cy="594360"/>
          </a:xfrm>
          <a:prstGeom prst="rect">
            <a:avLst/>
          </a:prstGeom>
          <a:noFill/>
          <a:ln/>
        </p:spPr>
        <p:txBody>
          <a:bodyPr wrap="square" lIns="0" tIns="0" rIns="0" bIns="0" rtlCol="0" anchor="t"/>
          <a:lstStyle/>
          <a:p>
            <a:pPr algn="l" indent="0" marL="0">
              <a:buNone/>
            </a:pPr>
            <a:r>
              <a:rPr lang="en-US" sz="1200" dirty="0">
                <a:solidFill>
                  <a:schemeClr val="tx1"/>
                </a:solidFill>
              </a:rPr>
              <a:t>The mountain splits east to west (Zech 14:4); the nations are judged (Joel 3:2, 12)</a:t>
            </a:r>
            <a:endParaRPr lang="en-US" sz="1200" dirty="0"/>
          </a:p>
        </p:txBody>
      </p:sp>
      <p:sp>
        <p:nvSpPr>
          <p:cNvPr id="18" name="Text 14"/>
          <p:cNvSpPr txBox="1"/>
          <p:nvPr/>
        </p:nvSpPr>
        <p:spPr>
          <a:xfrm>
            <a:off x="4572000" y="5623560"/>
            <a:ext cx="7086600" cy="548640"/>
          </a:xfrm>
          <a:prstGeom prst="rect">
            <a:avLst/>
          </a:prstGeom>
          <a:noFill/>
          <a:ln/>
        </p:spPr>
        <p:txBody>
          <a:bodyPr wrap="square" lIns="0" tIns="0" rIns="0" bIns="0" rtlCol="0" anchor="t"/>
          <a:lstStyle/>
          <a:p>
            <a:pPr algn="l" indent="0" marL="0">
              <a:buNone/>
            </a:pPr>
            <a:r>
              <a:rPr lang="en-US" sz="1200" i="1" dirty="0">
                <a:solidFill>
                  <a:schemeClr val="accent6"/>
                </a:solidFill>
              </a:rPr>
              <a:t>Armies gather at Megiddo (Rev 16:16) and converge on Jerusalem (Zech 12:2–3; 14:1–2). Route per Fruchtenbaum, Footsteps of the Messiah, pp. 261–268.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11155680" cy="621792"/>
          </a:xfrm>
          <a:prstGeom prst="rect">
            <a:avLst/>
          </a:prstGeom>
          <a:noFill/>
          <a:ln/>
        </p:spPr>
        <p:txBody>
          <a:bodyPr wrap="square" lIns="0" tIns="0" rIns="0" bIns="0" rtlCol="0" anchor="ctr"/>
          <a:lstStyle/>
          <a:p>
            <a:pPr algn="l" indent="0" marL="0">
              <a:buNone/>
            </a:pPr>
            <a:r>
              <a:rPr lang="en-US" sz="3400" b="1" dirty="0">
                <a:solidFill>
                  <a:srgbClr val="1F3864"/>
                </a:solidFill>
              </a:rPr>
              <a:t>The Program of Resurrections</a:t>
            </a:r>
            <a:endParaRPr lang="en-US" sz="3400" dirty="0"/>
          </a:p>
        </p:txBody>
      </p:sp>
      <p:sp>
        <p:nvSpPr>
          <p:cNvPr id="3" name="Text 1"/>
          <p:cNvSpPr/>
          <p:nvPr>
            <p:ph idx="102" type="body" hasCustomPrompt="1"/>
          </p:nvPr>
        </p:nvSpPr>
        <p:spPr>
          <a:xfrm>
            <a:off x="502920" y="914400"/>
            <a:ext cx="11155680" cy="347472"/>
          </a:xfrm>
          <a:prstGeom prst="rect">
            <a:avLst/>
          </a:prstGeom>
          <a:noFill/>
          <a:ln/>
        </p:spPr>
        <p:txBody>
          <a:bodyPr wrap="square" lIns="0" tIns="0" rIns="0" bIns="0" rtlCol="0" anchor="ctr"/>
          <a:lstStyle/>
          <a:p>
            <a:pPr indent="0" marL="0">
              <a:buNone/>
            </a:pPr>
            <a:r>
              <a:rPr lang="en-US" sz="1400" i="1" dirty="0">
                <a:solidFill>
                  <a:srgbClr val="6B7A8F"/>
                </a:solidFill>
              </a:rPr>
              <a:t>1 Corinthians 15:20–24  ·  firstfruits, harvest, gleanings — then the resurrection of the unsaved  ·  not to scale</a:t>
            </a:r>
            <a:endParaRPr lang="en-US" sz="1400" dirty="0"/>
          </a:p>
        </p:txBody>
      </p:sp>
      <p:sp>
        <p:nvSpPr>
          <p:cNvPr id="5" name="Text 2"/>
          <p:cNvSpPr txBox="1"/>
          <p:nvPr/>
        </p:nvSpPr>
        <p:spPr>
          <a:xfrm>
            <a:off x="548640" y="3063240"/>
            <a:ext cx="3474720" cy="566928"/>
          </a:xfrm>
          <a:prstGeom prst="rect">
            <a:avLst/>
          </a:prstGeom>
          <a:solidFill>
            <a:schemeClr val="accent2"/>
          </a:solidFill>
          <a:ln/>
        </p:spPr>
        <p:txBody>
          <a:bodyPr wrap="square" lIns="38100" tIns="38100" rIns="38100" bIns="38100" rtlCol="0" anchor="ctr"/>
          <a:lstStyle/>
          <a:p>
            <a:pPr algn="ctr" indent="0" marL="0">
              <a:buNone/>
            </a:pPr>
            <a:r>
              <a:rPr lang="en-US" sz="1300" b="1" dirty="0">
                <a:solidFill>
                  <a:schemeClr val="bg1"/>
                </a:solidFill>
              </a:rPr>
              <a:t>Church Age</a:t>
            </a:r>
            <a:endParaRPr lang="en-US" sz="1300" dirty="0"/>
          </a:p>
        </p:txBody>
      </p:sp>
      <p:sp>
        <p:nvSpPr>
          <p:cNvPr id="6" name="Text 3"/>
          <p:cNvSpPr txBox="1"/>
          <p:nvPr/>
        </p:nvSpPr>
        <p:spPr>
          <a:xfrm>
            <a:off x="4023360" y="3063240"/>
            <a:ext cx="1371600" cy="566928"/>
          </a:xfrm>
          <a:prstGeom prst="rect">
            <a:avLst/>
          </a:prstGeom>
          <a:solidFill>
            <a:schemeClr val="accent4"/>
          </a:solidFill>
          <a:ln/>
        </p:spPr>
        <p:txBody>
          <a:bodyPr wrap="square" lIns="38100" tIns="38100" rIns="38100" bIns="38100" rtlCol="0" anchor="ctr"/>
          <a:lstStyle/>
          <a:p>
            <a:pPr algn="ctr" indent="0" marL="0">
              <a:buNone/>
            </a:pPr>
            <a:r>
              <a:rPr lang="en-US" sz="1200" b="1" dirty="0">
                <a:solidFill>
                  <a:schemeClr val="bg1"/>
                </a:solidFill>
              </a:rPr>
              <a:t>Tribulation</a:t>
            </a:r>
            <a:endParaRPr lang="en-US" sz="1200" dirty="0"/>
          </a:p>
        </p:txBody>
      </p:sp>
      <p:sp>
        <p:nvSpPr>
          <p:cNvPr id="7" name="Text 4"/>
          <p:cNvSpPr txBox="1"/>
          <p:nvPr/>
        </p:nvSpPr>
        <p:spPr>
          <a:xfrm>
            <a:off x="5394960" y="3063240"/>
            <a:ext cx="4572000" cy="566928"/>
          </a:xfrm>
          <a:prstGeom prst="rect">
            <a:avLst/>
          </a:prstGeom>
          <a:solidFill>
            <a:schemeClr val="accent3"/>
          </a:solidFill>
          <a:ln/>
        </p:spPr>
        <p:txBody>
          <a:bodyPr wrap="square" lIns="38100" tIns="38100" rIns="38100" bIns="38100" rtlCol="0" anchor="ctr"/>
          <a:lstStyle/>
          <a:p>
            <a:pPr algn="ctr" indent="0" marL="0">
              <a:buNone/>
            </a:pPr>
            <a:r>
              <a:rPr lang="en-US" sz="1300" b="1" dirty="0">
                <a:solidFill>
                  <a:schemeClr val="bg1"/>
                </a:solidFill>
              </a:rPr>
              <a:t>Millennium — 1,000 years (Rev 20:5)</a:t>
            </a:r>
            <a:endParaRPr lang="en-US" sz="1300" dirty="0"/>
          </a:p>
        </p:txBody>
      </p:sp>
      <p:sp>
        <p:nvSpPr>
          <p:cNvPr id="8" name="Text 5"/>
          <p:cNvSpPr txBox="1"/>
          <p:nvPr/>
        </p:nvSpPr>
        <p:spPr>
          <a:xfrm>
            <a:off x="9966960" y="3063240"/>
            <a:ext cx="1691640" cy="566928"/>
          </a:xfrm>
          <a:prstGeom prst="rect">
            <a:avLst/>
          </a:prstGeom>
          <a:solidFill>
            <a:schemeClr val="accent5"/>
          </a:solidFill>
          <a:ln/>
        </p:spPr>
        <p:txBody>
          <a:bodyPr wrap="square" lIns="38100" tIns="38100" rIns="38100" bIns="38100" rtlCol="0" anchor="ctr"/>
          <a:lstStyle/>
          <a:p>
            <a:pPr algn="ctr" indent="0" marL="0">
              <a:buNone/>
            </a:pPr>
            <a:r>
              <a:rPr lang="en-US" sz="1100" b="1" dirty="0">
                <a:solidFill>
                  <a:schemeClr val="bg1"/>
                </a:solidFill>
              </a:rPr>
              <a:t>Eternal</a:t>
            </a:r>
            <a:endParaRPr lang="en-US" sz="1100" dirty="0"/>
          </a:p>
          <a:p>
            <a:pPr algn="ctr" indent="0" marL="0">
              <a:buNone/>
            </a:pPr>
            <a:r>
              <a:rPr lang="en-US" sz="1100" b="1" dirty="0">
                <a:solidFill>
                  <a:schemeClr val="bg1"/>
                </a:solidFill>
              </a:rPr>
              <a:t>State</a:t>
            </a:r>
            <a:endParaRPr lang="en-US" sz="1100" dirty="0"/>
          </a:p>
        </p:txBody>
      </p:sp>
      <p:sp>
        <p:nvSpPr>
          <p:cNvPr id="9" name="Shape 6"/>
          <p:cNvSpPr/>
          <p:nvPr/>
        </p:nvSpPr>
        <p:spPr>
          <a:xfrm>
            <a:off x="548640" y="1874520"/>
            <a:ext cx="0" cy="128016"/>
          </a:xfrm>
          <a:prstGeom prst="line">
            <a:avLst/>
          </a:prstGeom>
          <a:noFill/>
          <a:ln w="15875">
            <a:solidFill>
              <a:srgbClr val="375623"/>
            </a:solidFill>
            <a:prstDash val="solid"/>
          </a:ln>
        </p:spPr>
      </p:sp>
      <p:sp>
        <p:nvSpPr>
          <p:cNvPr id="10" name="Shape 7"/>
          <p:cNvSpPr/>
          <p:nvPr/>
        </p:nvSpPr>
        <p:spPr>
          <a:xfrm>
            <a:off x="5394960" y="1874520"/>
            <a:ext cx="0" cy="128016"/>
          </a:xfrm>
          <a:prstGeom prst="line">
            <a:avLst/>
          </a:prstGeom>
          <a:noFill/>
          <a:ln w="15875">
            <a:solidFill>
              <a:srgbClr val="375623"/>
            </a:solidFill>
            <a:prstDash val="solid"/>
          </a:ln>
        </p:spPr>
      </p:sp>
      <p:sp>
        <p:nvSpPr>
          <p:cNvPr id="11" name="Shape 8"/>
          <p:cNvSpPr/>
          <p:nvPr/>
        </p:nvSpPr>
        <p:spPr>
          <a:xfrm>
            <a:off x="548640" y="1874520"/>
            <a:ext cx="4846320" cy="0"/>
          </a:xfrm>
          <a:prstGeom prst="line">
            <a:avLst/>
          </a:prstGeom>
          <a:noFill/>
          <a:ln w="19050">
            <a:solidFill>
              <a:srgbClr val="375623"/>
            </a:solidFill>
            <a:prstDash val="solid"/>
          </a:ln>
        </p:spPr>
      </p:sp>
      <p:sp>
        <p:nvSpPr>
          <p:cNvPr id="12" name="Text 9"/>
          <p:cNvSpPr txBox="1"/>
          <p:nvPr/>
        </p:nvSpPr>
        <p:spPr>
          <a:xfrm>
            <a:off x="548640" y="1545336"/>
            <a:ext cx="7315200" cy="292608"/>
          </a:xfrm>
          <a:prstGeom prst="rect">
            <a:avLst/>
          </a:prstGeom>
          <a:noFill/>
          <a:ln/>
        </p:spPr>
        <p:txBody>
          <a:bodyPr wrap="square" lIns="0" tIns="0" rIns="0" bIns="0" rtlCol="0" anchor="b"/>
          <a:lstStyle/>
          <a:p>
            <a:pPr algn="l" indent="0" marL="0">
              <a:buNone/>
            </a:pPr>
            <a:r>
              <a:rPr lang="en-US" sz="1200" b="1" dirty="0">
                <a:solidFill>
                  <a:srgbClr val="375623"/>
                </a:solidFill>
              </a:rPr>
              <a:t>THE FIRST RESURRECTION — the righteous, in stages (Rev 20:5–6)</a:t>
            </a:r>
            <a:endParaRPr lang="en-US" sz="1200" dirty="0"/>
          </a:p>
        </p:txBody>
      </p:sp>
      <p:sp>
        <p:nvSpPr>
          <p:cNvPr id="13" name="Shape 10"/>
          <p:cNvSpPr/>
          <p:nvPr/>
        </p:nvSpPr>
        <p:spPr>
          <a:xfrm>
            <a:off x="9144000" y="1874520"/>
            <a:ext cx="0" cy="128016"/>
          </a:xfrm>
          <a:prstGeom prst="line">
            <a:avLst/>
          </a:prstGeom>
          <a:noFill/>
          <a:ln w="15875">
            <a:solidFill>
              <a:srgbClr val="8B2E2E"/>
            </a:solidFill>
            <a:prstDash val="solid"/>
          </a:ln>
        </p:spPr>
      </p:sp>
      <p:sp>
        <p:nvSpPr>
          <p:cNvPr id="14" name="Shape 11"/>
          <p:cNvSpPr/>
          <p:nvPr/>
        </p:nvSpPr>
        <p:spPr>
          <a:xfrm>
            <a:off x="10789920" y="1874520"/>
            <a:ext cx="0" cy="128016"/>
          </a:xfrm>
          <a:prstGeom prst="line">
            <a:avLst/>
          </a:prstGeom>
          <a:noFill/>
          <a:ln w="15875">
            <a:solidFill>
              <a:srgbClr val="8B2E2E"/>
            </a:solidFill>
            <a:prstDash val="solid"/>
          </a:ln>
        </p:spPr>
      </p:sp>
      <p:sp>
        <p:nvSpPr>
          <p:cNvPr id="15" name="Shape 12"/>
          <p:cNvSpPr/>
          <p:nvPr/>
        </p:nvSpPr>
        <p:spPr>
          <a:xfrm>
            <a:off x="9144000" y="1874520"/>
            <a:ext cx="1645920" cy="0"/>
          </a:xfrm>
          <a:prstGeom prst="line">
            <a:avLst/>
          </a:prstGeom>
          <a:noFill/>
          <a:ln w="19050">
            <a:solidFill>
              <a:srgbClr val="8B2E2E"/>
            </a:solidFill>
            <a:prstDash val="solid"/>
          </a:ln>
        </p:spPr>
      </p:sp>
      <p:sp>
        <p:nvSpPr>
          <p:cNvPr id="16" name="Text 13"/>
          <p:cNvSpPr txBox="1"/>
          <p:nvPr/>
        </p:nvSpPr>
        <p:spPr>
          <a:xfrm>
            <a:off x="8686800" y="1545336"/>
            <a:ext cx="2560320" cy="292608"/>
          </a:xfrm>
          <a:prstGeom prst="rect">
            <a:avLst/>
          </a:prstGeom>
          <a:noFill/>
          <a:ln/>
        </p:spPr>
        <p:txBody>
          <a:bodyPr wrap="square" lIns="0" tIns="0" rIns="0" bIns="0" rtlCol="0" anchor="b"/>
          <a:lstStyle/>
          <a:p>
            <a:pPr algn="ctr" indent="0" marL="0">
              <a:buNone/>
            </a:pPr>
            <a:r>
              <a:rPr lang="en-US" sz="1200" b="1" dirty="0">
                <a:solidFill>
                  <a:srgbClr val="8B2E2E"/>
                </a:solidFill>
              </a:rPr>
              <a:t>THE SECOND RESURRECTION</a:t>
            </a:r>
            <a:endParaRPr lang="en-US" sz="1200" dirty="0"/>
          </a:p>
        </p:txBody>
      </p:sp>
      <p:sp>
        <p:nvSpPr>
          <p:cNvPr id="17" name="Shape 14"/>
          <p:cNvSpPr/>
          <p:nvPr/>
        </p:nvSpPr>
        <p:spPr>
          <a:xfrm>
            <a:off x="502920" y="2953512"/>
            <a:ext cx="182880" cy="182880"/>
          </a:xfrm>
          <a:prstGeom prst="ellipse">
            <a:avLst/>
          </a:prstGeom>
          <a:solidFill>
            <a:srgbClr val="375623"/>
          </a:solidFill>
          <a:ln w="12700">
            <a:solidFill>
              <a:srgbClr val="FAF7EF"/>
            </a:solidFill>
            <a:prstDash val="solid"/>
          </a:ln>
        </p:spPr>
      </p:sp>
      <p:sp>
        <p:nvSpPr>
          <p:cNvPr id="18" name="Shape 15"/>
          <p:cNvSpPr/>
          <p:nvPr/>
        </p:nvSpPr>
        <p:spPr>
          <a:xfrm>
            <a:off x="594360" y="2103120"/>
            <a:ext cx="0" cy="868680"/>
          </a:xfrm>
          <a:prstGeom prst="line">
            <a:avLst/>
          </a:prstGeom>
          <a:noFill/>
          <a:ln w="15875">
            <a:solidFill>
              <a:srgbClr val="375623"/>
            </a:solidFill>
            <a:prstDash val="dash"/>
          </a:ln>
        </p:spPr>
      </p:sp>
      <p:sp>
        <p:nvSpPr>
          <p:cNvPr id="19" name="Shape 16"/>
          <p:cNvSpPr/>
          <p:nvPr/>
        </p:nvSpPr>
        <p:spPr>
          <a:xfrm>
            <a:off x="594360" y="3630168"/>
            <a:ext cx="0" cy="210312"/>
          </a:xfrm>
          <a:prstGeom prst="line">
            <a:avLst/>
          </a:prstGeom>
          <a:noFill/>
          <a:ln w="15875">
            <a:solidFill>
              <a:srgbClr val="375623"/>
            </a:solidFill>
            <a:prstDash val="solid"/>
          </a:ln>
        </p:spPr>
      </p:sp>
      <p:sp>
        <p:nvSpPr>
          <p:cNvPr id="20" name="Text 17"/>
          <p:cNvSpPr txBox="1"/>
          <p:nvPr/>
        </p:nvSpPr>
        <p:spPr>
          <a:xfrm>
            <a:off x="548640" y="3886200"/>
            <a:ext cx="2286000" cy="274320"/>
          </a:xfrm>
          <a:prstGeom prst="rect">
            <a:avLst/>
          </a:prstGeom>
          <a:noFill/>
          <a:ln/>
        </p:spPr>
        <p:txBody>
          <a:bodyPr wrap="square" lIns="0" tIns="0" rIns="0" bIns="0" rtlCol="0" anchor="t"/>
          <a:lstStyle/>
          <a:p>
            <a:pPr algn="l" indent="0" marL="0">
              <a:buNone/>
            </a:pPr>
            <a:r>
              <a:rPr lang="en-US" sz="1200" b="1" dirty="0">
                <a:solidFill>
                  <a:schemeClr val="accent2"/>
                </a:solidFill>
              </a:rPr>
              <a:t>FIRSTFRUITS</a:t>
            </a:r>
            <a:endParaRPr lang="en-US" sz="1200" dirty="0"/>
          </a:p>
        </p:txBody>
      </p:sp>
      <p:sp>
        <p:nvSpPr>
          <p:cNvPr id="21" name="Text 18"/>
          <p:cNvSpPr txBox="1"/>
          <p:nvPr/>
        </p:nvSpPr>
        <p:spPr>
          <a:xfrm>
            <a:off x="548640" y="4160520"/>
            <a:ext cx="2286000" cy="777240"/>
          </a:xfrm>
          <a:prstGeom prst="rect">
            <a:avLst/>
          </a:prstGeom>
          <a:noFill/>
          <a:ln/>
        </p:spPr>
        <p:txBody>
          <a:bodyPr wrap="square" lIns="0" tIns="0" rIns="0" bIns="0" rtlCol="0" anchor="t"/>
          <a:lstStyle/>
          <a:p>
            <a:pPr algn="l" indent="0" marL="0">
              <a:buNone/>
            </a:pPr>
            <a:r>
              <a:rPr lang="en-US" sz="1100" dirty="0">
                <a:solidFill>
                  <a:schemeClr val="tx1"/>
                </a:solidFill>
              </a:rPr>
              <a:t>Christ raised, AD 33</a:t>
            </a:r>
            <a:endParaRPr lang="en-US" sz="1100" dirty="0"/>
          </a:p>
          <a:p>
            <a:pPr algn="l" indent="0" marL="0">
              <a:buNone/>
            </a:pPr>
            <a:r>
              <a:rPr lang="en-US" sz="1100" dirty="0">
                <a:solidFill>
                  <a:schemeClr val="tx1"/>
                </a:solidFill>
              </a:rPr>
              <a:t>1 Cor 15:20–23</a:t>
            </a:r>
            <a:endParaRPr lang="en-US" sz="1100" dirty="0"/>
          </a:p>
          <a:p>
            <a:pPr algn="l" indent="0" marL="0">
              <a:buNone/>
            </a:pPr>
            <a:r>
              <a:rPr lang="en-US" sz="1100" dirty="0">
                <a:solidFill>
                  <a:schemeClr val="tx1"/>
                </a:solidFill>
              </a:rPr>
              <a:t>(preview: Matt 27:52–53)</a:t>
            </a:r>
            <a:endParaRPr lang="en-US" sz="1100" dirty="0"/>
          </a:p>
        </p:txBody>
      </p:sp>
      <p:sp>
        <p:nvSpPr>
          <p:cNvPr id="22" name="Shape 19"/>
          <p:cNvSpPr/>
          <p:nvPr/>
        </p:nvSpPr>
        <p:spPr>
          <a:xfrm>
            <a:off x="3931920" y="2953512"/>
            <a:ext cx="182880" cy="182880"/>
          </a:xfrm>
          <a:prstGeom prst="ellipse">
            <a:avLst/>
          </a:prstGeom>
          <a:solidFill>
            <a:srgbClr val="375623"/>
          </a:solidFill>
          <a:ln w="12700">
            <a:solidFill>
              <a:srgbClr val="FAF7EF"/>
            </a:solidFill>
            <a:prstDash val="solid"/>
          </a:ln>
        </p:spPr>
      </p:sp>
      <p:sp>
        <p:nvSpPr>
          <p:cNvPr id="23" name="Shape 20"/>
          <p:cNvSpPr/>
          <p:nvPr/>
        </p:nvSpPr>
        <p:spPr>
          <a:xfrm>
            <a:off x="4023360" y="2103120"/>
            <a:ext cx="0" cy="868680"/>
          </a:xfrm>
          <a:prstGeom prst="line">
            <a:avLst/>
          </a:prstGeom>
          <a:noFill/>
          <a:ln w="15875">
            <a:solidFill>
              <a:srgbClr val="375623"/>
            </a:solidFill>
            <a:prstDash val="dash"/>
          </a:ln>
        </p:spPr>
      </p:sp>
      <p:sp>
        <p:nvSpPr>
          <p:cNvPr id="24" name="Shape 21"/>
          <p:cNvSpPr/>
          <p:nvPr/>
        </p:nvSpPr>
        <p:spPr>
          <a:xfrm>
            <a:off x="4023360" y="3630168"/>
            <a:ext cx="0" cy="210312"/>
          </a:xfrm>
          <a:prstGeom prst="line">
            <a:avLst/>
          </a:prstGeom>
          <a:noFill/>
          <a:ln w="15875">
            <a:solidFill>
              <a:srgbClr val="375623"/>
            </a:solidFill>
            <a:prstDash val="solid"/>
          </a:ln>
        </p:spPr>
      </p:sp>
      <p:sp>
        <p:nvSpPr>
          <p:cNvPr id="25" name="Text 22"/>
          <p:cNvSpPr txBox="1"/>
          <p:nvPr/>
        </p:nvSpPr>
        <p:spPr>
          <a:xfrm>
            <a:off x="2880360" y="3886200"/>
            <a:ext cx="2286000" cy="274320"/>
          </a:xfrm>
          <a:prstGeom prst="rect">
            <a:avLst/>
          </a:prstGeom>
          <a:noFill/>
          <a:ln/>
        </p:spPr>
        <p:txBody>
          <a:bodyPr wrap="square" lIns="0" tIns="0" rIns="0" bIns="0" rtlCol="0" anchor="t"/>
          <a:lstStyle/>
          <a:p>
            <a:pPr algn="ctr" indent="0" marL="0">
              <a:buNone/>
            </a:pPr>
            <a:r>
              <a:rPr lang="en-US" sz="1200" b="1" dirty="0">
                <a:solidFill>
                  <a:schemeClr val="accent2"/>
                </a:solidFill>
              </a:rPr>
              <a:t>HARVEST</a:t>
            </a:r>
            <a:endParaRPr lang="en-US" sz="1200" dirty="0"/>
          </a:p>
        </p:txBody>
      </p:sp>
      <p:sp>
        <p:nvSpPr>
          <p:cNvPr id="26" name="Text 23"/>
          <p:cNvSpPr txBox="1"/>
          <p:nvPr/>
        </p:nvSpPr>
        <p:spPr>
          <a:xfrm>
            <a:off x="2880360" y="4160520"/>
            <a:ext cx="2286000" cy="777240"/>
          </a:xfrm>
          <a:prstGeom prst="rect">
            <a:avLst/>
          </a:prstGeom>
          <a:noFill/>
          <a:ln/>
        </p:spPr>
        <p:txBody>
          <a:bodyPr wrap="square" lIns="0" tIns="0" rIns="0" bIns="0" rtlCol="0" anchor="t"/>
          <a:lstStyle/>
          <a:p>
            <a:pPr algn="ctr" indent="0" marL="0">
              <a:buNone/>
            </a:pPr>
            <a:r>
              <a:rPr lang="en-US" sz="1100" dirty="0">
                <a:solidFill>
                  <a:schemeClr val="tx1"/>
                </a:solidFill>
              </a:rPr>
              <a:t>Church-age believers</a:t>
            </a:r>
            <a:endParaRPr lang="en-US" sz="1100" dirty="0"/>
          </a:p>
          <a:p>
            <a:pPr algn="ctr" indent="0" marL="0">
              <a:buNone/>
            </a:pPr>
            <a:r>
              <a:rPr lang="en-US" sz="1100" dirty="0">
                <a:solidFill>
                  <a:schemeClr val="tx1"/>
                </a:solidFill>
              </a:rPr>
              <a:t>at the Rapture</a:t>
            </a:r>
            <a:endParaRPr lang="en-US" sz="1100" dirty="0"/>
          </a:p>
          <a:p>
            <a:pPr algn="ctr" indent="0" marL="0">
              <a:buNone/>
            </a:pPr>
            <a:r>
              <a:rPr lang="en-US" sz="1100" dirty="0">
                <a:solidFill>
                  <a:schemeClr val="tx1"/>
                </a:solidFill>
              </a:rPr>
              <a:t>1 Thess 4:16</a:t>
            </a:r>
            <a:endParaRPr lang="en-US" sz="1100" dirty="0"/>
          </a:p>
        </p:txBody>
      </p:sp>
      <p:sp>
        <p:nvSpPr>
          <p:cNvPr id="27" name="Shape 24"/>
          <p:cNvSpPr/>
          <p:nvPr/>
        </p:nvSpPr>
        <p:spPr>
          <a:xfrm>
            <a:off x="5303520" y="2953512"/>
            <a:ext cx="182880" cy="182880"/>
          </a:xfrm>
          <a:prstGeom prst="ellipse">
            <a:avLst/>
          </a:prstGeom>
          <a:solidFill>
            <a:srgbClr val="375623"/>
          </a:solidFill>
          <a:ln w="12700">
            <a:solidFill>
              <a:srgbClr val="FAF7EF"/>
            </a:solidFill>
            <a:prstDash val="solid"/>
          </a:ln>
        </p:spPr>
      </p:sp>
      <p:sp>
        <p:nvSpPr>
          <p:cNvPr id="28" name="Shape 25"/>
          <p:cNvSpPr/>
          <p:nvPr/>
        </p:nvSpPr>
        <p:spPr>
          <a:xfrm>
            <a:off x="5394960" y="2103120"/>
            <a:ext cx="0" cy="868680"/>
          </a:xfrm>
          <a:prstGeom prst="line">
            <a:avLst/>
          </a:prstGeom>
          <a:noFill/>
          <a:ln w="15875">
            <a:solidFill>
              <a:srgbClr val="375623"/>
            </a:solidFill>
            <a:prstDash val="dash"/>
          </a:ln>
        </p:spPr>
      </p:sp>
      <p:sp>
        <p:nvSpPr>
          <p:cNvPr id="29" name="Shape 26"/>
          <p:cNvSpPr/>
          <p:nvPr/>
        </p:nvSpPr>
        <p:spPr>
          <a:xfrm>
            <a:off x="5394960" y="3630168"/>
            <a:ext cx="0" cy="210312"/>
          </a:xfrm>
          <a:prstGeom prst="line">
            <a:avLst/>
          </a:prstGeom>
          <a:noFill/>
          <a:ln w="15875">
            <a:solidFill>
              <a:srgbClr val="375623"/>
            </a:solidFill>
            <a:prstDash val="solid"/>
          </a:ln>
        </p:spPr>
      </p:sp>
      <p:sp>
        <p:nvSpPr>
          <p:cNvPr id="30" name="Text 27"/>
          <p:cNvSpPr txBox="1"/>
          <p:nvPr/>
        </p:nvSpPr>
        <p:spPr>
          <a:xfrm>
            <a:off x="4251960" y="3886200"/>
            <a:ext cx="2286000" cy="274320"/>
          </a:xfrm>
          <a:prstGeom prst="rect">
            <a:avLst/>
          </a:prstGeom>
          <a:noFill/>
          <a:ln/>
        </p:spPr>
        <p:txBody>
          <a:bodyPr wrap="square" lIns="0" tIns="0" rIns="0" bIns="0" rtlCol="0" anchor="t"/>
          <a:lstStyle/>
          <a:p>
            <a:pPr algn="ctr" indent="0" marL="0">
              <a:buNone/>
            </a:pPr>
            <a:r>
              <a:rPr lang="en-US" sz="1200" b="1" dirty="0">
                <a:solidFill>
                  <a:schemeClr val="accent2"/>
                </a:solidFill>
              </a:rPr>
              <a:t>GLEANINGS</a:t>
            </a:r>
            <a:endParaRPr lang="en-US" sz="1200" dirty="0"/>
          </a:p>
        </p:txBody>
      </p:sp>
      <p:sp>
        <p:nvSpPr>
          <p:cNvPr id="31" name="Text 28"/>
          <p:cNvSpPr txBox="1"/>
          <p:nvPr/>
        </p:nvSpPr>
        <p:spPr>
          <a:xfrm>
            <a:off x="4251960" y="4160520"/>
            <a:ext cx="2286000" cy="777240"/>
          </a:xfrm>
          <a:prstGeom prst="rect">
            <a:avLst/>
          </a:prstGeom>
          <a:noFill/>
          <a:ln/>
        </p:spPr>
        <p:txBody>
          <a:bodyPr wrap="square" lIns="0" tIns="0" rIns="0" bIns="0" rtlCol="0" anchor="t"/>
          <a:lstStyle/>
          <a:p>
            <a:pPr algn="ctr" indent="0" marL="0">
              <a:buNone/>
            </a:pPr>
            <a:r>
              <a:rPr lang="en-US" sz="1100" dirty="0">
                <a:solidFill>
                  <a:schemeClr val="tx1"/>
                </a:solidFill>
              </a:rPr>
              <a:t>OT saints and</a:t>
            </a:r>
            <a:endParaRPr lang="en-US" sz="1100" dirty="0"/>
          </a:p>
          <a:p>
            <a:pPr algn="ctr" indent="0" marL="0">
              <a:buNone/>
            </a:pPr>
            <a:r>
              <a:rPr lang="en-US" sz="1100" dirty="0">
                <a:solidFill>
                  <a:schemeClr val="tx1"/>
                </a:solidFill>
              </a:rPr>
              <a:t>Tribulation martyrs</a:t>
            </a:r>
            <a:endParaRPr lang="en-US" sz="1100" dirty="0"/>
          </a:p>
          <a:p>
            <a:pPr algn="ctr" indent="0" marL="0">
              <a:buNone/>
            </a:pPr>
            <a:r>
              <a:rPr lang="en-US" sz="1100" dirty="0">
                <a:solidFill>
                  <a:schemeClr val="tx1"/>
                </a:solidFill>
              </a:rPr>
              <a:t>Dan 12:2; Rev 20:4</a:t>
            </a:r>
            <a:endParaRPr lang="en-US" sz="1100" dirty="0"/>
          </a:p>
        </p:txBody>
      </p:sp>
      <p:sp>
        <p:nvSpPr>
          <p:cNvPr id="32" name="Shape 29"/>
          <p:cNvSpPr/>
          <p:nvPr/>
        </p:nvSpPr>
        <p:spPr>
          <a:xfrm>
            <a:off x="9875520" y="2953512"/>
            <a:ext cx="182880" cy="182880"/>
          </a:xfrm>
          <a:prstGeom prst="ellipse">
            <a:avLst/>
          </a:prstGeom>
          <a:solidFill>
            <a:srgbClr val="8B2E2E"/>
          </a:solidFill>
          <a:ln w="12700">
            <a:solidFill>
              <a:srgbClr val="FAF7EF"/>
            </a:solidFill>
            <a:prstDash val="solid"/>
          </a:ln>
        </p:spPr>
      </p:sp>
      <p:sp>
        <p:nvSpPr>
          <p:cNvPr id="33" name="Shape 30"/>
          <p:cNvSpPr/>
          <p:nvPr/>
        </p:nvSpPr>
        <p:spPr>
          <a:xfrm>
            <a:off x="9966960" y="2103120"/>
            <a:ext cx="0" cy="868680"/>
          </a:xfrm>
          <a:prstGeom prst="line">
            <a:avLst/>
          </a:prstGeom>
          <a:noFill/>
          <a:ln w="15875">
            <a:solidFill>
              <a:srgbClr val="8B2E2E"/>
            </a:solidFill>
            <a:prstDash val="dash"/>
          </a:ln>
        </p:spPr>
      </p:sp>
      <p:sp>
        <p:nvSpPr>
          <p:cNvPr id="34" name="Shape 31"/>
          <p:cNvSpPr/>
          <p:nvPr/>
        </p:nvSpPr>
        <p:spPr>
          <a:xfrm>
            <a:off x="9966960" y="3630168"/>
            <a:ext cx="0" cy="210312"/>
          </a:xfrm>
          <a:prstGeom prst="line">
            <a:avLst/>
          </a:prstGeom>
          <a:noFill/>
          <a:ln w="15875">
            <a:solidFill>
              <a:srgbClr val="8B2E2E"/>
            </a:solidFill>
            <a:prstDash val="solid"/>
          </a:ln>
        </p:spPr>
      </p:sp>
      <p:sp>
        <p:nvSpPr>
          <p:cNvPr id="35" name="Text 32"/>
          <p:cNvSpPr txBox="1"/>
          <p:nvPr/>
        </p:nvSpPr>
        <p:spPr>
          <a:xfrm>
            <a:off x="8823960" y="3886200"/>
            <a:ext cx="2286000" cy="274320"/>
          </a:xfrm>
          <a:prstGeom prst="rect">
            <a:avLst/>
          </a:prstGeom>
          <a:noFill/>
          <a:ln/>
        </p:spPr>
        <p:txBody>
          <a:bodyPr wrap="square" lIns="0" tIns="0" rIns="0" bIns="0" rtlCol="0" anchor="t"/>
          <a:lstStyle/>
          <a:p>
            <a:pPr algn="ctr" indent="0" marL="0">
              <a:buNone/>
            </a:pPr>
            <a:r>
              <a:rPr lang="en-US" sz="1200" b="1" dirty="0">
                <a:solidFill>
                  <a:schemeClr val="accent4"/>
                </a:solidFill>
              </a:rPr>
              <a:t>THE UNSAVED</a:t>
            </a:r>
            <a:endParaRPr lang="en-US" sz="1200" dirty="0"/>
          </a:p>
        </p:txBody>
      </p:sp>
      <p:sp>
        <p:nvSpPr>
          <p:cNvPr id="36" name="Text 33"/>
          <p:cNvSpPr txBox="1"/>
          <p:nvPr/>
        </p:nvSpPr>
        <p:spPr>
          <a:xfrm>
            <a:off x="8823960" y="4160520"/>
            <a:ext cx="2286000" cy="777240"/>
          </a:xfrm>
          <a:prstGeom prst="rect">
            <a:avLst/>
          </a:prstGeom>
          <a:noFill/>
          <a:ln/>
        </p:spPr>
        <p:txBody>
          <a:bodyPr wrap="square" lIns="0" tIns="0" rIns="0" bIns="0" rtlCol="0" anchor="t"/>
          <a:lstStyle/>
          <a:p>
            <a:pPr algn="ctr" indent="0" marL="0">
              <a:buNone/>
            </a:pPr>
            <a:r>
              <a:rPr lang="en-US" sz="1100" dirty="0">
                <a:solidFill>
                  <a:schemeClr val="tx1"/>
                </a:solidFill>
              </a:rPr>
              <a:t>All ages — raised to</a:t>
            </a:r>
            <a:endParaRPr lang="en-US" sz="1100" dirty="0"/>
          </a:p>
          <a:p>
            <a:pPr algn="ctr" indent="0" marL="0">
              <a:buNone/>
            </a:pPr>
            <a:r>
              <a:rPr lang="en-US" sz="1100" dirty="0">
                <a:solidFill>
                  <a:schemeClr val="tx1"/>
                </a:solidFill>
              </a:rPr>
              <a:t>the Great White Throne</a:t>
            </a:r>
            <a:endParaRPr lang="en-US" sz="1100" dirty="0"/>
          </a:p>
          <a:p>
            <a:pPr algn="ctr" indent="0" marL="0">
              <a:buNone/>
            </a:pPr>
            <a:r>
              <a:rPr lang="en-US" sz="1100" dirty="0">
                <a:solidFill>
                  <a:schemeClr val="tx1"/>
                </a:solidFill>
              </a:rPr>
              <a:t>Rev 20:11–15</a:t>
            </a:r>
            <a:endParaRPr lang="en-US" sz="1100" dirty="0"/>
          </a:p>
        </p:txBody>
      </p:sp>
      <p:sp>
        <p:nvSpPr>
          <p:cNvPr id="37" name="Text 34"/>
          <p:cNvSpPr txBox="1"/>
          <p:nvPr/>
        </p:nvSpPr>
        <p:spPr>
          <a:xfrm>
            <a:off x="548640" y="5486400"/>
            <a:ext cx="11064240" cy="502920"/>
          </a:xfrm>
          <a:prstGeom prst="rect">
            <a:avLst/>
          </a:prstGeom>
          <a:noFill/>
          <a:ln/>
        </p:spPr>
        <p:txBody>
          <a:bodyPr wrap="square" lIns="0" tIns="0" rIns="0" bIns="0" rtlCol="0" anchor="t"/>
          <a:lstStyle/>
          <a:p>
            <a:pPr algn="l" indent="0" marL="0">
              <a:buNone/>
            </a:pPr>
            <a:r>
              <a:rPr lang="en-US" sz="1200" i="1" dirty="0">
                <a:solidFill>
                  <a:schemeClr val="accent6"/>
                </a:solidFill>
              </a:rPr>
              <a:t>“Blessed and holy is the one who has a part in the first resurrection; over these the second death has no power” (Rev 20:6). The two resurrections stand 1,000 years apart.</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11155680" cy="621792"/>
          </a:xfrm>
          <a:prstGeom prst="rect">
            <a:avLst/>
          </a:prstGeom>
          <a:noFill/>
          <a:ln/>
        </p:spPr>
        <p:txBody>
          <a:bodyPr wrap="square" lIns="0" tIns="0" rIns="0" bIns="0" rtlCol="0" anchor="ctr"/>
          <a:lstStyle/>
          <a:p>
            <a:pPr algn="l" indent="0" marL="0">
              <a:buNone/>
            </a:pPr>
            <a:r>
              <a:rPr lang="en-US" sz="3400" b="1" dirty="0">
                <a:solidFill>
                  <a:srgbClr val="1F3864"/>
                </a:solidFill>
              </a:rPr>
              <a:t>The Divine Program of Judgments</a:t>
            </a:r>
            <a:endParaRPr lang="en-US" sz="3400" dirty="0"/>
          </a:p>
        </p:txBody>
      </p:sp>
      <p:sp>
        <p:nvSpPr>
          <p:cNvPr id="3" name="Text 1"/>
          <p:cNvSpPr/>
          <p:nvPr>
            <p:ph idx="102" type="body" hasCustomPrompt="1"/>
          </p:nvPr>
        </p:nvSpPr>
        <p:spPr>
          <a:xfrm>
            <a:off x="502920" y="914400"/>
            <a:ext cx="11155680" cy="347472"/>
          </a:xfrm>
          <a:prstGeom prst="rect">
            <a:avLst/>
          </a:prstGeom>
          <a:noFill/>
          <a:ln/>
        </p:spPr>
        <p:txBody>
          <a:bodyPr wrap="square" lIns="0" tIns="0" rIns="0" bIns="0" rtlCol="0" anchor="ctr"/>
          <a:lstStyle/>
          <a:p>
            <a:pPr indent="0" marL="0">
              <a:buNone/>
            </a:pPr>
            <a:r>
              <a:rPr lang="en-US" sz="1400" i="1" dirty="0">
                <a:solidFill>
                  <a:srgbClr val="6B7A8F"/>
                </a:solidFill>
              </a:rPr>
              <a:t>Seven judgments, different in time, subjects, basis and result  ·  not to scale</a:t>
            </a:r>
            <a:endParaRPr lang="en-US" sz="1400" dirty="0"/>
          </a:p>
        </p:txBody>
      </p:sp>
      <p:sp>
        <p:nvSpPr>
          <p:cNvPr id="5" name="Text 2"/>
          <p:cNvSpPr txBox="1"/>
          <p:nvPr/>
        </p:nvSpPr>
        <p:spPr>
          <a:xfrm>
            <a:off x="548640" y="2148840"/>
            <a:ext cx="5212080" cy="548640"/>
          </a:xfrm>
          <a:prstGeom prst="rect">
            <a:avLst/>
          </a:prstGeom>
          <a:solidFill>
            <a:schemeClr val="accent2"/>
          </a:solidFill>
          <a:ln/>
        </p:spPr>
        <p:txBody>
          <a:bodyPr wrap="square" lIns="38100" tIns="38100" rIns="38100" bIns="38100" rtlCol="0" anchor="ctr"/>
          <a:lstStyle/>
          <a:p>
            <a:pPr algn="ctr" indent="0" marL="0">
              <a:buNone/>
            </a:pPr>
            <a:r>
              <a:rPr lang="en-US" sz="1300" b="1" dirty="0">
                <a:solidFill>
                  <a:schemeClr val="bg1"/>
                </a:solidFill>
              </a:rPr>
              <a:t>Present age — the Church Age</a:t>
            </a:r>
            <a:endParaRPr lang="en-US" sz="1300" dirty="0"/>
          </a:p>
        </p:txBody>
      </p:sp>
      <p:sp>
        <p:nvSpPr>
          <p:cNvPr id="6" name="Text 3"/>
          <p:cNvSpPr txBox="1"/>
          <p:nvPr/>
        </p:nvSpPr>
        <p:spPr>
          <a:xfrm>
            <a:off x="5760720" y="2148840"/>
            <a:ext cx="1463040" cy="548640"/>
          </a:xfrm>
          <a:prstGeom prst="rect">
            <a:avLst/>
          </a:prstGeom>
          <a:solidFill>
            <a:schemeClr val="accent4"/>
          </a:solidFill>
          <a:ln/>
        </p:spPr>
        <p:txBody>
          <a:bodyPr wrap="square" lIns="38100" tIns="38100" rIns="38100" bIns="38100" rtlCol="0" anchor="ctr"/>
          <a:lstStyle/>
          <a:p>
            <a:pPr algn="ctr" indent="0" marL="0">
              <a:buNone/>
            </a:pPr>
            <a:r>
              <a:rPr lang="en-US" sz="1200" b="1" dirty="0">
                <a:solidFill>
                  <a:schemeClr val="bg1"/>
                </a:solidFill>
              </a:rPr>
              <a:t>Tribulation</a:t>
            </a:r>
            <a:endParaRPr lang="en-US" sz="1200" dirty="0"/>
          </a:p>
        </p:txBody>
      </p:sp>
      <p:sp>
        <p:nvSpPr>
          <p:cNvPr id="7" name="Text 4"/>
          <p:cNvSpPr txBox="1"/>
          <p:nvPr/>
        </p:nvSpPr>
        <p:spPr>
          <a:xfrm>
            <a:off x="7223760" y="2148840"/>
            <a:ext cx="3108960" cy="548640"/>
          </a:xfrm>
          <a:prstGeom prst="rect">
            <a:avLst/>
          </a:prstGeom>
          <a:solidFill>
            <a:schemeClr val="accent3"/>
          </a:solidFill>
          <a:ln/>
        </p:spPr>
        <p:txBody>
          <a:bodyPr wrap="square" lIns="38100" tIns="38100" rIns="38100" bIns="38100" rtlCol="0" anchor="ctr"/>
          <a:lstStyle/>
          <a:p>
            <a:pPr algn="ctr" indent="0" marL="0">
              <a:buNone/>
            </a:pPr>
            <a:r>
              <a:rPr lang="en-US" sz="1300" b="1" dirty="0">
                <a:solidFill>
                  <a:schemeClr val="bg1"/>
                </a:solidFill>
              </a:rPr>
              <a:t>Millennium — 1,000 years</a:t>
            </a:r>
            <a:endParaRPr lang="en-US" sz="1300" dirty="0"/>
          </a:p>
        </p:txBody>
      </p:sp>
      <p:sp>
        <p:nvSpPr>
          <p:cNvPr id="8" name="Text 5"/>
          <p:cNvSpPr txBox="1"/>
          <p:nvPr/>
        </p:nvSpPr>
        <p:spPr>
          <a:xfrm>
            <a:off x="10332720" y="2148840"/>
            <a:ext cx="1325880" cy="548640"/>
          </a:xfrm>
          <a:prstGeom prst="rect">
            <a:avLst/>
          </a:prstGeom>
          <a:solidFill>
            <a:schemeClr val="accent5"/>
          </a:solidFill>
          <a:ln/>
        </p:spPr>
        <p:txBody>
          <a:bodyPr wrap="square" lIns="38100" tIns="38100" rIns="38100" bIns="38100" rtlCol="0" anchor="ctr"/>
          <a:lstStyle/>
          <a:p>
            <a:pPr algn="ctr" indent="0" marL="0">
              <a:buNone/>
            </a:pPr>
            <a:r>
              <a:rPr lang="en-US" sz="1200" b="1" dirty="0">
                <a:solidFill>
                  <a:schemeClr val="bg1"/>
                </a:solidFill>
              </a:rPr>
              <a:t>Eternal</a:t>
            </a:r>
            <a:endParaRPr lang="en-US" sz="1200" dirty="0"/>
          </a:p>
        </p:txBody>
      </p:sp>
      <p:sp>
        <p:nvSpPr>
          <p:cNvPr id="9" name="Text 6"/>
          <p:cNvSpPr txBox="1"/>
          <p:nvPr/>
        </p:nvSpPr>
        <p:spPr>
          <a:xfrm>
            <a:off x="5029200" y="1783080"/>
            <a:ext cx="1463040" cy="274320"/>
          </a:xfrm>
          <a:prstGeom prst="rect">
            <a:avLst/>
          </a:prstGeom>
          <a:noFill/>
          <a:ln/>
        </p:spPr>
        <p:txBody>
          <a:bodyPr wrap="square" lIns="0" tIns="0" rIns="0" bIns="0" rtlCol="0" anchor="b"/>
          <a:lstStyle/>
          <a:p>
            <a:pPr algn="ctr" indent="0" marL="0">
              <a:buNone/>
            </a:pPr>
            <a:r>
              <a:rPr lang="en-US" sz="1100" b="1" dirty="0">
                <a:solidFill>
                  <a:schemeClr val="tx2"/>
                </a:solidFill>
              </a:rPr>
              <a:t>Rapture</a:t>
            </a:r>
            <a:endParaRPr lang="en-US" sz="1100" dirty="0"/>
          </a:p>
        </p:txBody>
      </p:sp>
      <p:sp>
        <p:nvSpPr>
          <p:cNvPr id="10" name="Text 7"/>
          <p:cNvSpPr txBox="1"/>
          <p:nvPr/>
        </p:nvSpPr>
        <p:spPr>
          <a:xfrm>
            <a:off x="6400800" y="1783080"/>
            <a:ext cx="1645920" cy="274320"/>
          </a:xfrm>
          <a:prstGeom prst="rect">
            <a:avLst/>
          </a:prstGeom>
          <a:noFill/>
          <a:ln/>
        </p:spPr>
        <p:txBody>
          <a:bodyPr wrap="square" lIns="0" tIns="0" rIns="0" bIns="0" rtlCol="0" anchor="b"/>
          <a:lstStyle/>
          <a:p>
            <a:pPr algn="ctr" indent="0" marL="0">
              <a:buNone/>
            </a:pPr>
            <a:r>
              <a:rPr lang="en-US" sz="1100" b="1" dirty="0">
                <a:solidFill>
                  <a:schemeClr val="tx2"/>
                </a:solidFill>
              </a:rPr>
              <a:t>Second Coming</a:t>
            </a:r>
            <a:endParaRPr lang="en-US" sz="1100" dirty="0"/>
          </a:p>
        </p:txBody>
      </p:sp>
      <p:sp>
        <p:nvSpPr>
          <p:cNvPr id="11" name="Shape 8"/>
          <p:cNvSpPr/>
          <p:nvPr/>
        </p:nvSpPr>
        <p:spPr>
          <a:xfrm>
            <a:off x="5660136" y="2048256"/>
            <a:ext cx="201168" cy="201168"/>
          </a:xfrm>
          <a:prstGeom prst="diamond">
            <a:avLst/>
          </a:prstGeom>
          <a:solidFill>
            <a:srgbClr val="1F3864"/>
          </a:solidFill>
          <a:ln w="12700">
            <a:solidFill>
              <a:srgbClr val="FAF7EF"/>
            </a:solidFill>
            <a:prstDash val="solid"/>
          </a:ln>
        </p:spPr>
      </p:sp>
      <p:sp>
        <p:nvSpPr>
          <p:cNvPr id="12" name="Shape 9"/>
          <p:cNvSpPr/>
          <p:nvPr/>
        </p:nvSpPr>
        <p:spPr>
          <a:xfrm>
            <a:off x="7123176" y="2048256"/>
            <a:ext cx="201168" cy="201168"/>
          </a:xfrm>
          <a:prstGeom prst="diamond">
            <a:avLst/>
          </a:prstGeom>
          <a:solidFill>
            <a:srgbClr val="1F3864"/>
          </a:solidFill>
          <a:ln w="12700">
            <a:solidFill>
              <a:srgbClr val="FAF7EF"/>
            </a:solidFill>
            <a:prstDash val="solid"/>
          </a:ln>
        </p:spPr>
      </p:sp>
      <p:sp>
        <p:nvSpPr>
          <p:cNvPr id="13" name="Text 10"/>
          <p:cNvSpPr txBox="1"/>
          <p:nvPr/>
        </p:nvSpPr>
        <p:spPr>
          <a:xfrm>
            <a:off x="530352" y="2752344"/>
            <a:ext cx="310896" cy="310896"/>
          </a:xfrm>
          <a:prstGeom prst="ellipse">
            <a:avLst/>
          </a:prstGeom>
          <a:solidFill>
            <a:srgbClr val="2E5496"/>
          </a:solidFill>
          <a:ln>
            <a:solidFill>
              <a:srgbClr val="2E5496"/>
            </a:solid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14" name="Shape 11"/>
          <p:cNvSpPr/>
          <p:nvPr/>
        </p:nvSpPr>
        <p:spPr>
          <a:xfrm>
            <a:off x="685800" y="3063240"/>
            <a:ext cx="0" cy="45720"/>
          </a:xfrm>
          <a:prstGeom prst="line">
            <a:avLst/>
          </a:prstGeom>
          <a:noFill/>
          <a:ln w="12700">
            <a:solidFill>
              <a:srgbClr val="2E5496"/>
            </a:solidFill>
            <a:prstDash val="dash"/>
          </a:ln>
        </p:spPr>
      </p:sp>
      <p:sp>
        <p:nvSpPr>
          <p:cNvPr id="15" name="Text 12"/>
          <p:cNvSpPr txBox="1"/>
          <p:nvPr/>
        </p:nvSpPr>
        <p:spPr>
          <a:xfrm>
            <a:off x="548640" y="3127248"/>
            <a:ext cx="1463040" cy="457200"/>
          </a:xfrm>
          <a:prstGeom prst="rect">
            <a:avLst/>
          </a:prstGeom>
          <a:noFill/>
          <a:ln/>
        </p:spPr>
        <p:txBody>
          <a:bodyPr wrap="square" lIns="0" tIns="0" rIns="0" bIns="0" rtlCol="0" anchor="t"/>
          <a:lstStyle/>
          <a:p>
            <a:pPr algn="ctr" indent="0" marL="0">
              <a:buNone/>
            </a:pPr>
            <a:r>
              <a:rPr lang="en-US" sz="1200" b="1" dirty="0">
                <a:solidFill>
                  <a:srgbClr val="2E5496"/>
                </a:solidFill>
              </a:rPr>
              <a:t>Sin at Calvary</a:t>
            </a:r>
            <a:endParaRPr lang="en-US" sz="1200" dirty="0"/>
          </a:p>
        </p:txBody>
      </p:sp>
      <p:sp>
        <p:nvSpPr>
          <p:cNvPr id="16" name="Text 13"/>
          <p:cNvSpPr txBox="1"/>
          <p:nvPr/>
        </p:nvSpPr>
        <p:spPr>
          <a:xfrm>
            <a:off x="548640" y="3355848"/>
            <a:ext cx="1463040" cy="640080"/>
          </a:xfrm>
          <a:prstGeom prst="rect">
            <a:avLst/>
          </a:prstGeom>
          <a:noFill/>
          <a:ln/>
        </p:spPr>
        <p:txBody>
          <a:bodyPr wrap="square" lIns="0" tIns="0" rIns="0" bIns="0" rtlCol="0" anchor="t"/>
          <a:lstStyle/>
          <a:p>
            <a:pPr algn="ctr" indent="0" marL="0">
              <a:buNone/>
            </a:pPr>
            <a:r>
              <a:rPr lang="en-US" sz="1000" dirty="0">
                <a:solidFill>
                  <a:schemeClr val="tx1"/>
                </a:solidFill>
              </a:rPr>
              <a:t>Christ our substitute</a:t>
            </a:r>
            <a:endParaRPr lang="en-US" sz="1000" dirty="0"/>
          </a:p>
          <a:p>
            <a:pPr algn="ctr" indent="0" marL="0">
              <a:buNone/>
            </a:pPr>
            <a:r>
              <a:rPr lang="en-US" sz="1000" dirty="0">
                <a:solidFill>
                  <a:schemeClr val="tx1"/>
                </a:solidFill>
              </a:rPr>
              <a:t>Past — AD 33</a:t>
            </a:r>
            <a:endParaRPr lang="en-US" sz="1000" dirty="0"/>
          </a:p>
          <a:p>
            <a:pPr algn="ctr" indent="0" marL="0">
              <a:buNone/>
            </a:pPr>
            <a:r>
              <a:rPr lang="en-US" sz="1000" dirty="0">
                <a:solidFill>
                  <a:schemeClr val="tx1"/>
                </a:solidFill>
              </a:rPr>
              <a:t>John 5:24; Rom 8:1</a:t>
            </a:r>
            <a:endParaRPr lang="en-US" sz="1000" dirty="0"/>
          </a:p>
        </p:txBody>
      </p:sp>
      <p:sp>
        <p:nvSpPr>
          <p:cNvPr id="17" name="Text 14"/>
          <p:cNvSpPr txBox="1"/>
          <p:nvPr/>
        </p:nvSpPr>
        <p:spPr>
          <a:xfrm>
            <a:off x="2862072" y="2752344"/>
            <a:ext cx="310896" cy="310896"/>
          </a:xfrm>
          <a:prstGeom prst="ellipse">
            <a:avLst/>
          </a:prstGeom>
          <a:solidFill>
            <a:srgbClr val="375623"/>
          </a:solidFill>
          <a:ln>
            <a:solidFill>
              <a:srgbClr val="375623"/>
            </a:solid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8" name="Shape 15"/>
          <p:cNvSpPr/>
          <p:nvPr/>
        </p:nvSpPr>
        <p:spPr>
          <a:xfrm>
            <a:off x="3017520" y="3063240"/>
            <a:ext cx="0" cy="1143000"/>
          </a:xfrm>
          <a:prstGeom prst="line">
            <a:avLst/>
          </a:prstGeom>
          <a:noFill/>
          <a:ln w="12700">
            <a:solidFill>
              <a:srgbClr val="375623"/>
            </a:solidFill>
            <a:prstDash val="dash"/>
          </a:ln>
        </p:spPr>
      </p:sp>
      <p:sp>
        <p:nvSpPr>
          <p:cNvPr id="19" name="Text 16"/>
          <p:cNvSpPr txBox="1"/>
          <p:nvPr/>
        </p:nvSpPr>
        <p:spPr>
          <a:xfrm>
            <a:off x="2286000" y="4224528"/>
            <a:ext cx="1463040" cy="457200"/>
          </a:xfrm>
          <a:prstGeom prst="rect">
            <a:avLst/>
          </a:prstGeom>
          <a:noFill/>
          <a:ln/>
        </p:spPr>
        <p:txBody>
          <a:bodyPr wrap="square" lIns="0" tIns="0" rIns="0" bIns="0" rtlCol="0" anchor="t"/>
          <a:lstStyle/>
          <a:p>
            <a:pPr algn="ctr" indent="0" marL="0">
              <a:buNone/>
            </a:pPr>
            <a:r>
              <a:rPr lang="en-US" sz="1200" b="1" dirty="0">
                <a:solidFill>
                  <a:srgbClr val="375623"/>
                </a:solidFill>
              </a:rPr>
              <a:t>Self-judgment</a:t>
            </a:r>
            <a:endParaRPr lang="en-US" sz="1200" dirty="0"/>
          </a:p>
        </p:txBody>
      </p:sp>
      <p:sp>
        <p:nvSpPr>
          <p:cNvPr id="20" name="Text 17"/>
          <p:cNvSpPr txBox="1"/>
          <p:nvPr/>
        </p:nvSpPr>
        <p:spPr>
          <a:xfrm>
            <a:off x="2286000" y="4453128"/>
            <a:ext cx="1463040" cy="640080"/>
          </a:xfrm>
          <a:prstGeom prst="rect">
            <a:avLst/>
          </a:prstGeom>
          <a:noFill/>
          <a:ln/>
        </p:spPr>
        <p:txBody>
          <a:bodyPr wrap="square" lIns="0" tIns="0" rIns="0" bIns="0" rtlCol="0" anchor="t"/>
          <a:lstStyle/>
          <a:p>
            <a:pPr algn="ctr" indent="0" marL="0">
              <a:buNone/>
            </a:pPr>
            <a:r>
              <a:rPr lang="en-US" sz="1000" dirty="0">
                <a:solidFill>
                  <a:schemeClr val="tx1"/>
                </a:solidFill>
              </a:rPr>
              <a:t>Believers, now</a:t>
            </a:r>
            <a:endParaRPr lang="en-US" sz="1000" dirty="0"/>
          </a:p>
          <a:p>
            <a:pPr algn="ctr" indent="0" marL="0">
              <a:buNone/>
            </a:pPr>
            <a:r>
              <a:rPr lang="en-US" sz="1000" dirty="0">
                <a:solidFill>
                  <a:schemeClr val="tx1"/>
                </a:solidFill>
              </a:rPr>
              <a:t>1 Cor 11:31–32</a:t>
            </a:r>
            <a:endParaRPr lang="en-US" sz="1000" dirty="0"/>
          </a:p>
        </p:txBody>
      </p:sp>
      <p:sp>
        <p:nvSpPr>
          <p:cNvPr id="21" name="Text 18"/>
          <p:cNvSpPr txBox="1"/>
          <p:nvPr/>
        </p:nvSpPr>
        <p:spPr>
          <a:xfrm>
            <a:off x="6199632" y="2752344"/>
            <a:ext cx="310896" cy="310896"/>
          </a:xfrm>
          <a:prstGeom prst="ellipse">
            <a:avLst/>
          </a:prstGeom>
          <a:solidFill>
            <a:srgbClr val="375623"/>
          </a:solidFill>
          <a:ln>
            <a:solidFill>
              <a:srgbClr val="375623"/>
            </a:solid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22" name="Shape 19"/>
          <p:cNvSpPr/>
          <p:nvPr/>
        </p:nvSpPr>
        <p:spPr>
          <a:xfrm>
            <a:off x="6355080" y="3063240"/>
            <a:ext cx="0" cy="45720"/>
          </a:xfrm>
          <a:prstGeom prst="line">
            <a:avLst/>
          </a:prstGeom>
          <a:noFill/>
          <a:ln w="12700">
            <a:solidFill>
              <a:srgbClr val="375623"/>
            </a:solidFill>
            <a:prstDash val="dash"/>
          </a:ln>
        </p:spPr>
      </p:sp>
      <p:sp>
        <p:nvSpPr>
          <p:cNvPr id="23" name="Text 20"/>
          <p:cNvSpPr txBox="1"/>
          <p:nvPr/>
        </p:nvSpPr>
        <p:spPr>
          <a:xfrm>
            <a:off x="5623560" y="3127248"/>
            <a:ext cx="1463040" cy="457200"/>
          </a:xfrm>
          <a:prstGeom prst="rect">
            <a:avLst/>
          </a:prstGeom>
          <a:noFill/>
          <a:ln/>
        </p:spPr>
        <p:txBody>
          <a:bodyPr wrap="square" lIns="0" tIns="0" rIns="0" bIns="0" rtlCol="0" anchor="t"/>
          <a:lstStyle/>
          <a:p>
            <a:pPr algn="ctr" indent="0" marL="0">
              <a:buNone/>
            </a:pPr>
            <a:r>
              <a:rPr lang="en-US" sz="1200" b="1" dirty="0">
                <a:solidFill>
                  <a:srgbClr val="375623"/>
                </a:solidFill>
              </a:rPr>
              <a:t>Bema Seat</a:t>
            </a:r>
            <a:endParaRPr lang="en-US" sz="1200" dirty="0"/>
          </a:p>
        </p:txBody>
      </p:sp>
      <p:sp>
        <p:nvSpPr>
          <p:cNvPr id="24" name="Text 21"/>
          <p:cNvSpPr txBox="1"/>
          <p:nvPr/>
        </p:nvSpPr>
        <p:spPr>
          <a:xfrm>
            <a:off x="5623560" y="3355848"/>
            <a:ext cx="1463040" cy="640080"/>
          </a:xfrm>
          <a:prstGeom prst="rect">
            <a:avLst/>
          </a:prstGeom>
          <a:noFill/>
          <a:ln/>
        </p:spPr>
        <p:txBody>
          <a:bodyPr wrap="square" lIns="0" tIns="0" rIns="0" bIns="0" rtlCol="0" anchor="t"/>
          <a:lstStyle/>
          <a:p>
            <a:pPr algn="ctr" indent="0" marL="0">
              <a:buNone/>
            </a:pPr>
            <a:r>
              <a:rPr lang="en-US" sz="1000" dirty="0">
                <a:solidFill>
                  <a:schemeClr val="tx1"/>
                </a:solidFill>
              </a:rPr>
              <a:t>Church-age believers</a:t>
            </a:r>
            <a:endParaRPr lang="en-US" sz="1000" dirty="0"/>
          </a:p>
          <a:p>
            <a:pPr algn="ctr" indent="0" marL="0">
              <a:buNone/>
            </a:pPr>
            <a:r>
              <a:rPr lang="en-US" sz="1000" dirty="0">
                <a:solidFill>
                  <a:schemeClr val="tx1"/>
                </a:solidFill>
              </a:rPr>
              <a:t>Rewards, not condemnation</a:t>
            </a:r>
            <a:endParaRPr lang="en-US" sz="1000" dirty="0"/>
          </a:p>
          <a:p>
            <a:pPr algn="ctr" indent="0" marL="0">
              <a:buNone/>
            </a:pPr>
            <a:r>
              <a:rPr lang="en-US" sz="1000" dirty="0">
                <a:solidFill>
                  <a:schemeClr val="tx1"/>
                </a:solidFill>
              </a:rPr>
              <a:t>2 Cor 5:10</a:t>
            </a:r>
            <a:endParaRPr lang="en-US" sz="1000" dirty="0"/>
          </a:p>
        </p:txBody>
      </p:sp>
      <p:sp>
        <p:nvSpPr>
          <p:cNvPr id="25" name="Text 22"/>
          <p:cNvSpPr txBox="1"/>
          <p:nvPr/>
        </p:nvSpPr>
        <p:spPr>
          <a:xfrm>
            <a:off x="7068312" y="2752344"/>
            <a:ext cx="310896" cy="310896"/>
          </a:xfrm>
          <a:prstGeom prst="ellipse">
            <a:avLst/>
          </a:prstGeom>
          <a:solidFill>
            <a:srgbClr val="2E5496"/>
          </a:solidFill>
          <a:ln>
            <a:solidFill>
              <a:srgbClr val="2E5496"/>
            </a:solid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26" name="Shape 23"/>
          <p:cNvSpPr/>
          <p:nvPr/>
        </p:nvSpPr>
        <p:spPr>
          <a:xfrm>
            <a:off x="7223760" y="3063240"/>
            <a:ext cx="0" cy="1143000"/>
          </a:xfrm>
          <a:prstGeom prst="line">
            <a:avLst/>
          </a:prstGeom>
          <a:noFill/>
          <a:ln w="12700">
            <a:solidFill>
              <a:srgbClr val="2E5496"/>
            </a:solidFill>
            <a:prstDash val="dash"/>
          </a:ln>
        </p:spPr>
      </p:sp>
      <p:sp>
        <p:nvSpPr>
          <p:cNvPr id="27" name="Text 24"/>
          <p:cNvSpPr txBox="1"/>
          <p:nvPr/>
        </p:nvSpPr>
        <p:spPr>
          <a:xfrm>
            <a:off x="6492240" y="4224528"/>
            <a:ext cx="1463040" cy="457200"/>
          </a:xfrm>
          <a:prstGeom prst="rect">
            <a:avLst/>
          </a:prstGeom>
          <a:noFill/>
          <a:ln/>
        </p:spPr>
        <p:txBody>
          <a:bodyPr wrap="square" lIns="0" tIns="0" rIns="0" bIns="0" rtlCol="0" anchor="t"/>
          <a:lstStyle/>
          <a:p>
            <a:pPr algn="ctr" indent="0" marL="0">
              <a:buNone/>
            </a:pPr>
            <a:r>
              <a:rPr lang="en-US" sz="1200" b="1" dirty="0">
                <a:solidFill>
                  <a:srgbClr val="2E5496"/>
                </a:solidFill>
              </a:rPr>
              <a:t>Living Israel</a:t>
            </a:r>
            <a:endParaRPr lang="en-US" sz="1200" dirty="0"/>
          </a:p>
        </p:txBody>
      </p:sp>
      <p:sp>
        <p:nvSpPr>
          <p:cNvPr id="28" name="Text 25"/>
          <p:cNvSpPr txBox="1"/>
          <p:nvPr/>
        </p:nvSpPr>
        <p:spPr>
          <a:xfrm>
            <a:off x="6492240" y="4453128"/>
            <a:ext cx="1463040" cy="640080"/>
          </a:xfrm>
          <a:prstGeom prst="rect">
            <a:avLst/>
          </a:prstGeom>
          <a:noFill/>
          <a:ln/>
        </p:spPr>
        <p:txBody>
          <a:bodyPr wrap="square" lIns="0" tIns="0" rIns="0" bIns="0" rtlCol="0" anchor="t"/>
          <a:lstStyle/>
          <a:p>
            <a:pPr algn="ctr" indent="0" marL="0">
              <a:buNone/>
            </a:pPr>
            <a:r>
              <a:rPr lang="en-US" sz="1000" dirty="0">
                <a:solidFill>
                  <a:schemeClr val="tx1"/>
                </a:solidFill>
              </a:rPr>
              <a:t>Tribulation survivors</a:t>
            </a:r>
            <a:endParaRPr lang="en-US" sz="1000" dirty="0"/>
          </a:p>
          <a:p>
            <a:pPr algn="ctr" indent="0" marL="0">
              <a:buNone/>
            </a:pPr>
            <a:r>
              <a:rPr lang="en-US" sz="1000" dirty="0">
                <a:solidFill>
                  <a:schemeClr val="tx1"/>
                </a:solidFill>
              </a:rPr>
              <a:t>Ezek 20:33–38</a:t>
            </a:r>
            <a:endParaRPr lang="en-US" sz="1000" dirty="0"/>
          </a:p>
        </p:txBody>
      </p:sp>
      <p:sp>
        <p:nvSpPr>
          <p:cNvPr id="29" name="Text 26"/>
          <p:cNvSpPr txBox="1"/>
          <p:nvPr/>
        </p:nvSpPr>
        <p:spPr>
          <a:xfrm>
            <a:off x="8074152" y="2752344"/>
            <a:ext cx="310896" cy="310896"/>
          </a:xfrm>
          <a:prstGeom prst="ellipse">
            <a:avLst/>
          </a:prstGeom>
          <a:solidFill>
            <a:srgbClr val="B8892B"/>
          </a:solidFill>
          <a:ln>
            <a:solidFill>
              <a:srgbClr val="B8892B"/>
            </a:solid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30" name="Shape 27"/>
          <p:cNvSpPr/>
          <p:nvPr/>
        </p:nvSpPr>
        <p:spPr>
          <a:xfrm>
            <a:off x="8229600" y="3063240"/>
            <a:ext cx="0" cy="45720"/>
          </a:xfrm>
          <a:prstGeom prst="line">
            <a:avLst/>
          </a:prstGeom>
          <a:noFill/>
          <a:ln w="12700">
            <a:solidFill>
              <a:srgbClr val="B8892B"/>
            </a:solidFill>
            <a:prstDash val="dash"/>
          </a:ln>
        </p:spPr>
      </p:sp>
      <p:sp>
        <p:nvSpPr>
          <p:cNvPr id="31" name="Text 28"/>
          <p:cNvSpPr txBox="1"/>
          <p:nvPr/>
        </p:nvSpPr>
        <p:spPr>
          <a:xfrm>
            <a:off x="7498080" y="3127248"/>
            <a:ext cx="1463040" cy="457200"/>
          </a:xfrm>
          <a:prstGeom prst="rect">
            <a:avLst/>
          </a:prstGeom>
          <a:noFill/>
          <a:ln/>
        </p:spPr>
        <p:txBody>
          <a:bodyPr wrap="square" lIns="0" tIns="0" rIns="0" bIns="0" rtlCol="0" anchor="t"/>
          <a:lstStyle/>
          <a:p>
            <a:pPr algn="ctr" indent="0" marL="0">
              <a:buNone/>
            </a:pPr>
            <a:r>
              <a:rPr lang="en-US" sz="1200" b="1" dirty="0">
                <a:solidFill>
                  <a:srgbClr val="B8892B"/>
                </a:solidFill>
              </a:rPr>
              <a:t>Sheep &amp; Goats</a:t>
            </a:r>
            <a:endParaRPr lang="en-US" sz="1200" dirty="0"/>
          </a:p>
        </p:txBody>
      </p:sp>
      <p:sp>
        <p:nvSpPr>
          <p:cNvPr id="32" name="Text 29"/>
          <p:cNvSpPr txBox="1"/>
          <p:nvPr/>
        </p:nvSpPr>
        <p:spPr>
          <a:xfrm>
            <a:off x="7498080" y="3355848"/>
            <a:ext cx="1463040" cy="640080"/>
          </a:xfrm>
          <a:prstGeom prst="rect">
            <a:avLst/>
          </a:prstGeom>
          <a:noFill/>
          <a:ln/>
        </p:spPr>
        <p:txBody>
          <a:bodyPr wrap="square" lIns="0" tIns="0" rIns="0" bIns="0" rtlCol="0" anchor="t"/>
          <a:lstStyle/>
          <a:p>
            <a:pPr algn="ctr" indent="0" marL="0">
              <a:buNone/>
            </a:pPr>
            <a:r>
              <a:rPr lang="en-US" sz="1000" dirty="0">
                <a:solidFill>
                  <a:schemeClr val="tx1"/>
                </a:solidFill>
              </a:rPr>
              <a:t>Living Gentiles</a:t>
            </a:r>
            <a:endParaRPr lang="en-US" sz="1000" dirty="0"/>
          </a:p>
          <a:p>
            <a:pPr algn="ctr" indent="0" marL="0">
              <a:buNone/>
            </a:pPr>
            <a:r>
              <a:rPr lang="en-US" sz="1000" dirty="0">
                <a:solidFill>
                  <a:schemeClr val="tx1"/>
                </a:solidFill>
              </a:rPr>
              <a:t>Matt 25:31–46</a:t>
            </a:r>
            <a:endParaRPr lang="en-US" sz="1000" dirty="0"/>
          </a:p>
        </p:txBody>
      </p:sp>
      <p:sp>
        <p:nvSpPr>
          <p:cNvPr id="33" name="Text 30"/>
          <p:cNvSpPr txBox="1"/>
          <p:nvPr/>
        </p:nvSpPr>
        <p:spPr>
          <a:xfrm>
            <a:off x="9902952" y="2752344"/>
            <a:ext cx="310896" cy="310896"/>
          </a:xfrm>
          <a:prstGeom prst="ellipse">
            <a:avLst/>
          </a:prstGeom>
          <a:solidFill>
            <a:srgbClr val="7030A0"/>
          </a:solidFill>
          <a:ln>
            <a:solidFill>
              <a:srgbClr val="7030A0"/>
            </a:solidFill>
          </a:ln>
        </p:spPr>
        <p:txBody>
          <a:bodyPr wrap="square" lIns="0" tIns="0" rIns="0" bIns="0" rtlCol="0" anchor="ctr"/>
          <a:lstStyle/>
          <a:p>
            <a:pPr algn="ctr" indent="0" marL="0">
              <a:buNone/>
            </a:pPr>
            <a:r>
              <a:rPr lang="en-US" sz="1200" b="1" dirty="0">
                <a:solidFill>
                  <a:srgbClr val="FFFFFF"/>
                </a:solidFill>
              </a:rPr>
              <a:t>6</a:t>
            </a:r>
            <a:endParaRPr lang="en-US" sz="1200" dirty="0"/>
          </a:p>
        </p:txBody>
      </p:sp>
      <p:sp>
        <p:nvSpPr>
          <p:cNvPr id="34" name="Shape 31"/>
          <p:cNvSpPr/>
          <p:nvPr/>
        </p:nvSpPr>
        <p:spPr>
          <a:xfrm>
            <a:off x="10058400" y="3063240"/>
            <a:ext cx="0" cy="1143000"/>
          </a:xfrm>
          <a:prstGeom prst="line">
            <a:avLst/>
          </a:prstGeom>
          <a:noFill/>
          <a:ln w="12700">
            <a:solidFill>
              <a:srgbClr val="7030A0"/>
            </a:solidFill>
            <a:prstDash val="dash"/>
          </a:ln>
        </p:spPr>
      </p:sp>
      <p:sp>
        <p:nvSpPr>
          <p:cNvPr id="35" name="Text 32"/>
          <p:cNvSpPr txBox="1"/>
          <p:nvPr/>
        </p:nvSpPr>
        <p:spPr>
          <a:xfrm>
            <a:off x="9326880" y="4224528"/>
            <a:ext cx="1463040" cy="457200"/>
          </a:xfrm>
          <a:prstGeom prst="rect">
            <a:avLst/>
          </a:prstGeom>
          <a:noFill/>
          <a:ln/>
        </p:spPr>
        <p:txBody>
          <a:bodyPr wrap="square" lIns="0" tIns="0" rIns="0" bIns="0" rtlCol="0" anchor="t"/>
          <a:lstStyle/>
          <a:p>
            <a:pPr algn="ctr" indent="0" marL="0">
              <a:buNone/>
            </a:pPr>
            <a:r>
              <a:rPr lang="en-US" sz="1200" b="1" dirty="0">
                <a:solidFill>
                  <a:srgbClr val="7030A0"/>
                </a:solidFill>
              </a:rPr>
              <a:t>Satan &amp; angels</a:t>
            </a:r>
            <a:endParaRPr lang="en-US" sz="1200" dirty="0"/>
          </a:p>
        </p:txBody>
      </p:sp>
      <p:sp>
        <p:nvSpPr>
          <p:cNvPr id="36" name="Text 33"/>
          <p:cNvSpPr txBox="1"/>
          <p:nvPr/>
        </p:nvSpPr>
        <p:spPr>
          <a:xfrm>
            <a:off x="9326880" y="4453128"/>
            <a:ext cx="1463040" cy="640080"/>
          </a:xfrm>
          <a:prstGeom prst="rect">
            <a:avLst/>
          </a:prstGeom>
          <a:noFill/>
          <a:ln/>
        </p:spPr>
        <p:txBody>
          <a:bodyPr wrap="square" lIns="0" tIns="0" rIns="0" bIns="0" rtlCol="0" anchor="t"/>
          <a:lstStyle/>
          <a:p>
            <a:pPr algn="ctr" indent="0" marL="0">
              <a:buNone/>
            </a:pPr>
            <a:r>
              <a:rPr lang="en-US" sz="1000" dirty="0">
                <a:solidFill>
                  <a:schemeClr val="tx1"/>
                </a:solidFill>
              </a:rPr>
              <a:t>Rev 20:10;</a:t>
            </a:r>
            <a:endParaRPr lang="en-US" sz="1000" dirty="0"/>
          </a:p>
          <a:p>
            <a:pPr algn="ctr" indent="0" marL="0">
              <a:buNone/>
            </a:pPr>
            <a:r>
              <a:rPr lang="en-US" sz="1000" dirty="0">
                <a:solidFill>
                  <a:schemeClr val="tx1"/>
                </a:solidFill>
              </a:rPr>
              <a:t>Jude 6</a:t>
            </a:r>
            <a:endParaRPr lang="en-US" sz="1000" dirty="0"/>
          </a:p>
        </p:txBody>
      </p:sp>
      <p:sp>
        <p:nvSpPr>
          <p:cNvPr id="37" name="Text 34"/>
          <p:cNvSpPr txBox="1"/>
          <p:nvPr/>
        </p:nvSpPr>
        <p:spPr>
          <a:xfrm>
            <a:off x="11091672" y="2752344"/>
            <a:ext cx="310896" cy="310896"/>
          </a:xfrm>
          <a:prstGeom prst="ellipse">
            <a:avLst/>
          </a:prstGeom>
          <a:solidFill>
            <a:srgbClr val="8B2E2E"/>
          </a:solidFill>
          <a:ln>
            <a:solidFill>
              <a:srgbClr val="8B2E2E"/>
            </a:solidFill>
          </a:ln>
        </p:spPr>
        <p:txBody>
          <a:bodyPr wrap="square" lIns="0" tIns="0" rIns="0" bIns="0" rtlCol="0" anchor="ctr"/>
          <a:lstStyle/>
          <a:p>
            <a:pPr algn="ctr" indent="0" marL="0">
              <a:buNone/>
            </a:pPr>
            <a:r>
              <a:rPr lang="en-US" sz="1200" b="1" dirty="0">
                <a:solidFill>
                  <a:srgbClr val="FFFFFF"/>
                </a:solidFill>
              </a:rPr>
              <a:t>7</a:t>
            </a:r>
            <a:endParaRPr lang="en-US" sz="1200" dirty="0"/>
          </a:p>
        </p:txBody>
      </p:sp>
      <p:sp>
        <p:nvSpPr>
          <p:cNvPr id="38" name="Shape 35"/>
          <p:cNvSpPr/>
          <p:nvPr/>
        </p:nvSpPr>
        <p:spPr>
          <a:xfrm>
            <a:off x="11247120" y="3063240"/>
            <a:ext cx="0" cy="45720"/>
          </a:xfrm>
          <a:prstGeom prst="line">
            <a:avLst/>
          </a:prstGeom>
          <a:noFill/>
          <a:ln w="12700">
            <a:solidFill>
              <a:srgbClr val="8B2E2E"/>
            </a:solidFill>
            <a:prstDash val="dash"/>
          </a:ln>
        </p:spPr>
      </p:sp>
      <p:sp>
        <p:nvSpPr>
          <p:cNvPr id="39" name="Text 36"/>
          <p:cNvSpPr txBox="1"/>
          <p:nvPr/>
        </p:nvSpPr>
        <p:spPr>
          <a:xfrm>
            <a:off x="10195560" y="3127248"/>
            <a:ext cx="1463040" cy="457200"/>
          </a:xfrm>
          <a:prstGeom prst="rect">
            <a:avLst/>
          </a:prstGeom>
          <a:noFill/>
          <a:ln/>
        </p:spPr>
        <p:txBody>
          <a:bodyPr wrap="square" lIns="0" tIns="0" rIns="0" bIns="0" rtlCol="0" anchor="t"/>
          <a:lstStyle/>
          <a:p>
            <a:pPr algn="ctr" indent="0" marL="0">
              <a:buNone/>
            </a:pPr>
            <a:r>
              <a:rPr lang="en-US" sz="1200" b="1" dirty="0">
                <a:solidFill>
                  <a:srgbClr val="8B2E2E"/>
                </a:solidFill>
              </a:rPr>
              <a:t>Great White</a:t>
            </a:r>
            <a:endParaRPr lang="en-US" sz="1200" dirty="0"/>
          </a:p>
          <a:p>
            <a:pPr algn="ctr" indent="0" marL="0">
              <a:buNone/>
            </a:pPr>
            <a:r>
              <a:rPr lang="en-US" sz="1200" b="1" dirty="0">
                <a:solidFill>
                  <a:srgbClr val="8B2E2E"/>
                </a:solidFill>
              </a:rPr>
              <a:t>Throne</a:t>
            </a:r>
            <a:endParaRPr lang="en-US" sz="1200" dirty="0"/>
          </a:p>
        </p:txBody>
      </p:sp>
      <p:sp>
        <p:nvSpPr>
          <p:cNvPr id="40" name="Text 37"/>
          <p:cNvSpPr txBox="1"/>
          <p:nvPr/>
        </p:nvSpPr>
        <p:spPr>
          <a:xfrm>
            <a:off x="10195560" y="3520440"/>
            <a:ext cx="1463040" cy="640080"/>
          </a:xfrm>
          <a:prstGeom prst="rect">
            <a:avLst/>
          </a:prstGeom>
          <a:noFill/>
          <a:ln/>
        </p:spPr>
        <p:txBody>
          <a:bodyPr wrap="square" lIns="0" tIns="0" rIns="0" bIns="0" rtlCol="0" anchor="t"/>
          <a:lstStyle/>
          <a:p>
            <a:pPr algn="ctr" indent="0" marL="0">
              <a:buNone/>
            </a:pPr>
            <a:r>
              <a:rPr lang="en-US" sz="1000" dirty="0">
                <a:solidFill>
                  <a:schemeClr val="tx1"/>
                </a:solidFill>
              </a:rPr>
              <a:t>All unsaved</a:t>
            </a:r>
            <a:endParaRPr lang="en-US" sz="1000" dirty="0"/>
          </a:p>
          <a:p>
            <a:pPr algn="ctr" indent="0" marL="0">
              <a:buNone/>
            </a:pPr>
            <a:r>
              <a:rPr lang="en-US" sz="1000" dirty="0">
                <a:solidFill>
                  <a:schemeClr val="tx1"/>
                </a:solidFill>
              </a:rPr>
              <a:t>Rev 20:11–15</a:t>
            </a:r>
            <a:endParaRPr lang="en-US" sz="1000" dirty="0"/>
          </a:p>
        </p:txBody>
      </p:sp>
      <p:sp>
        <p:nvSpPr>
          <p:cNvPr id="41" name="Text 38"/>
          <p:cNvSpPr txBox="1"/>
          <p:nvPr/>
        </p:nvSpPr>
        <p:spPr>
          <a:xfrm>
            <a:off x="548640" y="5669280"/>
            <a:ext cx="11064240" cy="502920"/>
          </a:xfrm>
          <a:prstGeom prst="rect">
            <a:avLst/>
          </a:prstGeom>
          <a:noFill/>
          <a:ln/>
        </p:spPr>
        <p:txBody>
          <a:bodyPr wrap="square" lIns="0" tIns="0" rIns="0" bIns="0" rtlCol="0" anchor="t"/>
          <a:lstStyle/>
          <a:p>
            <a:pPr algn="l" indent="0" marL="0">
              <a:buNone/>
            </a:pPr>
            <a:r>
              <a:rPr lang="en-US" sz="1200" i="1" dirty="0">
                <a:solidFill>
                  <a:schemeClr val="accent6"/>
                </a:solidFill>
              </a:rPr>
              <a:t>Merging the Bema Seat (3) with the Great White Throne (7) confuses the believer’s reward with the unbeliever’s condemnation (Section VIII).</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11155680" cy="621792"/>
          </a:xfrm>
          <a:prstGeom prst="rect">
            <a:avLst/>
          </a:prstGeom>
          <a:noFill/>
          <a:ln/>
        </p:spPr>
        <p:txBody>
          <a:bodyPr wrap="square" lIns="0" tIns="0" rIns="0" bIns="0" rtlCol="0" anchor="ctr"/>
          <a:lstStyle/>
          <a:p>
            <a:pPr algn="l" indent="0" marL="0">
              <a:buNone/>
            </a:pPr>
            <a:r>
              <a:rPr lang="en-US" sz="3400" b="1" dirty="0">
                <a:solidFill>
                  <a:srgbClr val="1F3864"/>
                </a:solidFill>
              </a:rPr>
              <a:t>Two Kinds of People in the Millennium</a:t>
            </a:r>
            <a:endParaRPr lang="en-US" sz="3400" dirty="0"/>
          </a:p>
        </p:txBody>
      </p:sp>
      <p:sp>
        <p:nvSpPr>
          <p:cNvPr id="3" name="Text 1"/>
          <p:cNvSpPr/>
          <p:nvPr>
            <p:ph idx="102" type="body" hasCustomPrompt="1"/>
          </p:nvPr>
        </p:nvSpPr>
        <p:spPr>
          <a:xfrm>
            <a:off x="502920" y="914400"/>
            <a:ext cx="11155680" cy="347472"/>
          </a:xfrm>
          <a:prstGeom prst="rect">
            <a:avLst/>
          </a:prstGeom>
          <a:noFill/>
          <a:ln/>
        </p:spPr>
        <p:txBody>
          <a:bodyPr wrap="square" lIns="0" tIns="0" rIns="0" bIns="0" rtlCol="0" anchor="ctr"/>
          <a:lstStyle/>
          <a:p>
            <a:pPr indent="0" marL="0">
              <a:buNone/>
            </a:pPr>
            <a:r>
              <a:rPr lang="en-US" sz="1400" i="1" dirty="0">
                <a:solidFill>
                  <a:srgbClr val="6B7A8F"/>
                </a:solidFill>
              </a:rPr>
              <a:t>Glorified saints and mortal survivors under the reign of Christ  ·  Section IX.E</a:t>
            </a:r>
            <a:endParaRPr lang="en-US" sz="1400" dirty="0"/>
          </a:p>
        </p:txBody>
      </p:sp>
      <p:sp>
        <p:nvSpPr>
          <p:cNvPr id="5" name="Text 2"/>
          <p:cNvSpPr txBox="1"/>
          <p:nvPr/>
        </p:nvSpPr>
        <p:spPr>
          <a:xfrm>
            <a:off x="548640" y="1417320"/>
            <a:ext cx="11109960" cy="502920"/>
          </a:xfrm>
          <a:prstGeom prst="roundRect">
            <a:avLst>
              <a:gd name="adj" fmla="val 14545"/>
            </a:avLst>
          </a:prstGeom>
          <a:solidFill>
            <a:schemeClr val="accent3"/>
          </a:solidFill>
          <a:ln/>
        </p:spPr>
        <p:txBody>
          <a:bodyPr wrap="square" lIns="38100" tIns="38100" rIns="38100" bIns="38100" rtlCol="0" anchor="ctr"/>
          <a:lstStyle/>
          <a:p>
            <a:pPr algn="ctr" indent="0" marL="0">
              <a:buNone/>
            </a:pPr>
            <a:r>
              <a:rPr lang="en-US" sz="1300" b="1" dirty="0">
                <a:solidFill>
                  <a:schemeClr val="bg1"/>
                </a:solidFill>
              </a:rPr>
              <a:t>CHRIST THE KING reigns from Jerusalem  ·  Satan bound in the abyss (Rev 20:1–3)</a:t>
            </a:r>
            <a:endParaRPr lang="en-US" sz="1300" dirty="0"/>
          </a:p>
        </p:txBody>
      </p:sp>
      <p:sp>
        <p:nvSpPr>
          <p:cNvPr id="6" name="Shape 3"/>
          <p:cNvSpPr/>
          <p:nvPr/>
        </p:nvSpPr>
        <p:spPr>
          <a:xfrm>
            <a:off x="548640" y="2148840"/>
            <a:ext cx="5349240" cy="1691640"/>
          </a:xfrm>
          <a:prstGeom prst="roundRect">
            <a:avLst>
              <a:gd name="adj" fmla="val 4324"/>
            </a:avLst>
          </a:prstGeom>
          <a:solidFill>
            <a:srgbClr val="FFFFFF"/>
          </a:solidFill>
          <a:ln w="19050">
            <a:solidFill>
              <a:srgbClr val="7030A0"/>
            </a:solidFill>
            <a:prstDash val="solid"/>
          </a:ln>
        </p:spPr>
      </p:sp>
      <p:sp>
        <p:nvSpPr>
          <p:cNvPr id="7" name="Text 4"/>
          <p:cNvSpPr txBox="1"/>
          <p:nvPr/>
        </p:nvSpPr>
        <p:spPr>
          <a:xfrm>
            <a:off x="731520" y="2240280"/>
            <a:ext cx="4983480" cy="310896"/>
          </a:xfrm>
          <a:prstGeom prst="rect">
            <a:avLst/>
          </a:prstGeom>
          <a:noFill/>
          <a:ln/>
        </p:spPr>
        <p:txBody>
          <a:bodyPr wrap="square" lIns="0" tIns="0" rIns="0" bIns="0" rtlCol="0" anchor="t"/>
          <a:lstStyle/>
          <a:p>
            <a:pPr algn="l" indent="0" marL="0">
              <a:buNone/>
            </a:pPr>
            <a:r>
              <a:rPr lang="en-US" sz="1400" b="1" dirty="0">
                <a:solidFill>
                  <a:srgbClr val="7030A0"/>
                </a:solidFill>
              </a:rPr>
              <a:t>GLORIFIED SAINTS — resurrected bodies</a:t>
            </a:r>
            <a:endParaRPr lang="en-US" sz="1400" dirty="0"/>
          </a:p>
        </p:txBody>
      </p:sp>
      <p:sp>
        <p:nvSpPr>
          <p:cNvPr id="8" name="Text 5"/>
          <p:cNvSpPr txBox="1"/>
          <p:nvPr/>
        </p:nvSpPr>
        <p:spPr>
          <a:xfrm>
            <a:off x="731520" y="2606040"/>
            <a:ext cx="4983480" cy="15544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Church, OT saints, Tribulation martyrs</a:t>
            </a:r>
            <a:endParaRPr lang="en-US" sz="1200" dirty="0"/>
          </a:p>
          <a:p>
            <a:pPr marL="342900" indent="-342900">
              <a:spcAft>
                <a:spcPts val="300"/>
              </a:spcAft>
              <a:buSzPct val="100000"/>
              <a:buChar char="•"/>
            </a:pPr>
            <a:r>
              <a:rPr lang="en-US" sz="1200" dirty="0">
                <a:solidFill>
                  <a:schemeClr val="tx1"/>
                </a:solidFill>
              </a:rPr>
              <a:t>Do not marry or bear children</a:t>
            </a:r>
            <a:endParaRPr lang="en-US" sz="1200" dirty="0"/>
          </a:p>
          <a:p>
            <a:pPr marL="342900" indent="-342900">
              <a:spcAft>
                <a:spcPts val="300"/>
              </a:spcAft>
              <a:buSzPct val="100000"/>
              <a:buChar char="•"/>
            </a:pPr>
            <a:r>
              <a:rPr lang="en-US" sz="1200" dirty="0">
                <a:solidFill>
                  <a:schemeClr val="tx1"/>
                </a:solidFill>
              </a:rPr>
              <a:t>Reign with Christ (Rev 20:4; 2 Tim 2:12)</a:t>
            </a:r>
            <a:endParaRPr lang="en-US" sz="1200" dirty="0"/>
          </a:p>
          <a:p>
            <a:pPr marL="342900" indent="-342900">
              <a:spcAft>
                <a:spcPts val="300"/>
              </a:spcAft>
              <a:buSzPct val="100000"/>
              <a:buChar char="•"/>
            </a:pPr>
            <a:r>
              <a:rPr lang="en-US" sz="1200" dirty="0">
                <a:solidFill>
                  <a:schemeClr val="tx1"/>
                </a:solidFill>
              </a:rPr>
              <a:t>Cannot die again</a:t>
            </a:r>
            <a:endParaRPr lang="en-US" sz="1200" dirty="0"/>
          </a:p>
        </p:txBody>
      </p:sp>
      <p:sp>
        <p:nvSpPr>
          <p:cNvPr id="9" name="Shape 6"/>
          <p:cNvSpPr/>
          <p:nvPr/>
        </p:nvSpPr>
        <p:spPr>
          <a:xfrm>
            <a:off x="6309360" y="2148840"/>
            <a:ext cx="5349240" cy="1691640"/>
          </a:xfrm>
          <a:prstGeom prst="roundRect">
            <a:avLst>
              <a:gd name="adj" fmla="val 4324"/>
            </a:avLst>
          </a:prstGeom>
          <a:solidFill>
            <a:srgbClr val="FFFFFF"/>
          </a:solidFill>
          <a:ln w="19050">
            <a:solidFill>
              <a:srgbClr val="375623"/>
            </a:solidFill>
            <a:prstDash val="solid"/>
          </a:ln>
        </p:spPr>
      </p:sp>
      <p:sp>
        <p:nvSpPr>
          <p:cNvPr id="10" name="Text 7"/>
          <p:cNvSpPr txBox="1"/>
          <p:nvPr/>
        </p:nvSpPr>
        <p:spPr>
          <a:xfrm>
            <a:off x="6492240" y="2240280"/>
            <a:ext cx="4983480" cy="310896"/>
          </a:xfrm>
          <a:prstGeom prst="rect">
            <a:avLst/>
          </a:prstGeom>
          <a:noFill/>
          <a:ln/>
        </p:spPr>
        <p:txBody>
          <a:bodyPr wrap="square" lIns="0" tIns="0" rIns="0" bIns="0" rtlCol="0" anchor="t"/>
          <a:lstStyle/>
          <a:p>
            <a:pPr algn="l" indent="0" marL="0">
              <a:buNone/>
            </a:pPr>
            <a:r>
              <a:rPr lang="en-US" sz="1400" b="1" dirty="0">
                <a:solidFill>
                  <a:srgbClr val="375623"/>
                </a:solidFill>
              </a:rPr>
              <a:t>MORTAL SURVIVORS — natural bodies</a:t>
            </a:r>
            <a:endParaRPr lang="en-US" sz="1400" dirty="0"/>
          </a:p>
        </p:txBody>
      </p:sp>
      <p:sp>
        <p:nvSpPr>
          <p:cNvPr id="11" name="Text 8"/>
          <p:cNvSpPr txBox="1"/>
          <p:nvPr/>
        </p:nvSpPr>
        <p:spPr>
          <a:xfrm>
            <a:off x="6492240" y="2606040"/>
            <a:ext cx="4983480" cy="15544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Believing Israel, purged and restored (Ezek 20:33–38)</a:t>
            </a:r>
            <a:endParaRPr lang="en-US" sz="1200" dirty="0"/>
          </a:p>
          <a:p>
            <a:pPr marL="342900" indent="-342900">
              <a:spcAft>
                <a:spcPts val="300"/>
              </a:spcAft>
              <a:buSzPct val="100000"/>
              <a:buChar char="•"/>
            </a:pPr>
            <a:r>
              <a:rPr lang="en-US" sz="1200" dirty="0">
                <a:solidFill>
                  <a:schemeClr val="tx1"/>
                </a:solidFill>
              </a:rPr>
              <a:t>Believing Gentiles — the “sheep” (Matt 25:31–46)</a:t>
            </a:r>
            <a:endParaRPr lang="en-US" sz="1200" dirty="0"/>
          </a:p>
          <a:p>
            <a:pPr marL="342900" indent="-342900">
              <a:spcAft>
                <a:spcPts val="300"/>
              </a:spcAft>
              <a:buSzPct val="100000"/>
              <a:buChar char="•"/>
            </a:pPr>
            <a:r>
              <a:rPr lang="en-US" sz="1200" dirty="0">
                <a:solidFill>
                  <a:schemeClr val="tx1"/>
                </a:solidFill>
              </a:rPr>
              <a:t>Marry, bear children, build and plant (Isa 65:21–23)</a:t>
            </a:r>
            <a:endParaRPr lang="en-US" sz="1200" dirty="0"/>
          </a:p>
          <a:p>
            <a:pPr marL="342900" indent="-342900">
              <a:spcAft>
                <a:spcPts val="300"/>
              </a:spcAft>
              <a:buSzPct val="100000"/>
              <a:buChar char="•"/>
            </a:pPr>
            <a:r>
              <a:rPr lang="en-US" sz="1200" dirty="0">
                <a:solidFill>
                  <a:schemeClr val="tx1"/>
                </a:solidFill>
              </a:rPr>
              <a:t>Long lives — dying at 100 is dying young (Isa 65:20)</a:t>
            </a:r>
            <a:endParaRPr lang="en-US" sz="1200" dirty="0"/>
          </a:p>
        </p:txBody>
      </p:sp>
      <p:sp>
        <p:nvSpPr>
          <p:cNvPr id="12" name="Shape 9"/>
          <p:cNvSpPr/>
          <p:nvPr/>
        </p:nvSpPr>
        <p:spPr>
          <a:xfrm>
            <a:off x="8961120" y="3858768"/>
            <a:ext cx="0" cy="365760"/>
          </a:xfrm>
          <a:prstGeom prst="line">
            <a:avLst/>
          </a:prstGeom>
          <a:noFill/>
          <a:ln w="25400">
            <a:solidFill>
              <a:srgbClr val="375623"/>
            </a:solidFill>
            <a:prstDash val="solid"/>
            <a:tailEnd type="triangle"/>
          </a:ln>
        </p:spPr>
      </p:sp>
      <p:sp>
        <p:nvSpPr>
          <p:cNvPr id="13" name="Text 10"/>
          <p:cNvSpPr txBox="1"/>
          <p:nvPr/>
        </p:nvSpPr>
        <p:spPr>
          <a:xfrm>
            <a:off x="6309360" y="4251960"/>
            <a:ext cx="5349240" cy="502920"/>
          </a:xfrm>
          <a:prstGeom prst="roundRect">
            <a:avLst>
              <a:gd name="adj" fmla="val 14545"/>
            </a:avLst>
          </a:prstGeom>
          <a:solidFill>
            <a:srgbClr val="EEF1F6"/>
          </a:solidFill>
          <a:ln/>
        </p:spPr>
        <p:txBody>
          <a:bodyPr wrap="square" lIns="38100" tIns="38100" rIns="38100" bIns="38100" rtlCol="0" anchor="ctr"/>
          <a:lstStyle/>
          <a:p>
            <a:pPr algn="ctr" indent="0" marL="0">
              <a:buNone/>
            </a:pPr>
            <a:r>
              <a:rPr lang="en-US" sz="1100" dirty="0">
                <a:solidFill>
                  <a:schemeClr val="tx1"/>
                </a:solidFill>
              </a:rPr>
              <a:t>Their children, over 1,000 years — born with a sin nature; each must believe personally</a:t>
            </a:r>
            <a:endParaRPr lang="en-US" sz="1100" dirty="0"/>
          </a:p>
        </p:txBody>
      </p:sp>
      <p:sp>
        <p:nvSpPr>
          <p:cNvPr id="14" name="Text 11"/>
          <p:cNvSpPr txBox="1"/>
          <p:nvPr/>
        </p:nvSpPr>
        <p:spPr>
          <a:xfrm>
            <a:off x="6309360" y="4983480"/>
            <a:ext cx="2560320" cy="438912"/>
          </a:xfrm>
          <a:prstGeom prst="roundRect">
            <a:avLst>
              <a:gd name="adj" fmla="val 16667"/>
            </a:avLst>
          </a:prstGeom>
          <a:solidFill>
            <a:schemeClr val="accent2"/>
          </a:solidFill>
          <a:ln/>
        </p:spPr>
        <p:txBody>
          <a:bodyPr wrap="square" lIns="38100" tIns="38100" rIns="38100" bIns="38100" rtlCol="0" anchor="ctr"/>
          <a:lstStyle/>
          <a:p>
            <a:pPr algn="ctr" indent="0" marL="0">
              <a:buNone/>
            </a:pPr>
            <a:r>
              <a:rPr lang="en-US" sz="1100" b="1" dirty="0">
                <a:solidFill>
                  <a:schemeClr val="bg1"/>
                </a:solidFill>
              </a:rPr>
              <a:t>Many believe</a:t>
            </a:r>
            <a:endParaRPr lang="en-US" sz="1100" dirty="0"/>
          </a:p>
        </p:txBody>
      </p:sp>
      <p:sp>
        <p:nvSpPr>
          <p:cNvPr id="15" name="Text 12"/>
          <p:cNvSpPr txBox="1"/>
          <p:nvPr/>
        </p:nvSpPr>
        <p:spPr>
          <a:xfrm>
            <a:off x="9006840" y="4983480"/>
            <a:ext cx="2651760" cy="502920"/>
          </a:xfrm>
          <a:prstGeom prst="roundRect">
            <a:avLst>
              <a:gd name="adj" fmla="val 14545"/>
            </a:avLst>
          </a:prstGeom>
          <a:solidFill>
            <a:schemeClr val="accent4"/>
          </a:solidFill>
          <a:ln/>
        </p:spPr>
        <p:txBody>
          <a:bodyPr wrap="square" lIns="38100" tIns="38100" rIns="38100" bIns="38100" rtlCol="0" anchor="ctr"/>
          <a:lstStyle/>
          <a:p>
            <a:pPr algn="ctr" indent="0" marL="0">
              <a:buNone/>
            </a:pPr>
            <a:r>
              <a:rPr lang="en-US" sz="1100" b="1" dirty="0">
                <a:solidFill>
                  <a:schemeClr val="bg1"/>
                </a:solidFill>
              </a:rPr>
              <a:t>Others join the final rebellion (Rev 20:7–9)</a:t>
            </a:r>
            <a:endParaRPr lang="en-US" sz="1100" dirty="0"/>
          </a:p>
        </p:txBody>
      </p:sp>
      <p:sp>
        <p:nvSpPr>
          <p:cNvPr id="16" name="Text 13"/>
          <p:cNvSpPr txBox="1"/>
          <p:nvPr/>
        </p:nvSpPr>
        <p:spPr>
          <a:xfrm>
            <a:off x="548640" y="4160520"/>
            <a:ext cx="5349240" cy="1097280"/>
          </a:xfrm>
          <a:prstGeom prst="rect">
            <a:avLst/>
          </a:prstGeom>
          <a:noFill/>
          <a:ln/>
        </p:spPr>
        <p:txBody>
          <a:bodyPr wrap="square" lIns="0" tIns="0" rIns="0" bIns="0" rtlCol="0" anchor="t"/>
          <a:lstStyle/>
          <a:p>
            <a:pPr algn="l" indent="0" marL="0">
              <a:buNone/>
            </a:pPr>
            <a:r>
              <a:rPr lang="en-US" sz="1300" i="1" dirty="0">
                <a:solidFill>
                  <a:schemeClr val="accent6"/>
                </a:solidFill>
              </a:rPr>
              <a:t>Even with Satan bound and Christ ruling in perfect justice, the unregenerate heart still rebels — sin is in human nature, not only in its surroundings (Section X.B).</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11155680" cy="621792"/>
          </a:xfrm>
          <a:prstGeom prst="rect">
            <a:avLst/>
          </a:prstGeom>
          <a:noFill/>
          <a:ln/>
        </p:spPr>
        <p:txBody>
          <a:bodyPr wrap="square" lIns="0" tIns="0" rIns="0" bIns="0" rtlCol="0" anchor="ctr"/>
          <a:lstStyle/>
          <a:p>
            <a:pPr algn="l" indent="0" marL="0">
              <a:buNone/>
            </a:pPr>
            <a:r>
              <a:rPr lang="en-US" sz="3400" b="1" dirty="0">
                <a:solidFill>
                  <a:srgbClr val="1F3864"/>
                </a:solidFill>
              </a:rPr>
              <a:t>Isaiah 65 Describes the Millennium</a:t>
            </a:r>
            <a:endParaRPr lang="en-US" sz="3400" dirty="0"/>
          </a:p>
        </p:txBody>
      </p:sp>
      <p:sp>
        <p:nvSpPr>
          <p:cNvPr id="3" name="Text 1"/>
          <p:cNvSpPr/>
          <p:nvPr>
            <p:ph idx="102" type="body" hasCustomPrompt="1"/>
          </p:nvPr>
        </p:nvSpPr>
        <p:spPr>
          <a:xfrm>
            <a:off x="502920" y="914400"/>
            <a:ext cx="11155680" cy="347472"/>
          </a:xfrm>
          <a:prstGeom prst="rect">
            <a:avLst/>
          </a:prstGeom>
          <a:noFill/>
          <a:ln/>
        </p:spPr>
        <p:txBody>
          <a:bodyPr wrap="square" lIns="0" tIns="0" rIns="0" bIns="0" rtlCol="0" anchor="ctr"/>
          <a:lstStyle/>
          <a:p>
            <a:pPr indent="0" marL="0">
              <a:buNone/>
            </a:pPr>
            <a:r>
              <a:rPr lang="en-US" sz="1400" i="1" dirty="0">
                <a:solidFill>
                  <a:srgbClr val="6B7A8F"/>
                </a:solidFill>
              </a:rPr>
              <a:t>Why Isaiah 65:17–25 cannot be the eternal state of Revelation 21–22</a:t>
            </a:r>
            <a:endParaRPr lang="en-US" sz="1400" dirty="0"/>
          </a:p>
        </p:txBody>
      </p:sp>
      <p:sp>
        <p:nvSpPr>
          <p:cNvPr id="5" name="Text 2"/>
          <p:cNvSpPr txBox="1"/>
          <p:nvPr/>
        </p:nvSpPr>
        <p:spPr>
          <a:xfrm>
            <a:off x="1874520" y="1508760"/>
            <a:ext cx="4434840" cy="438912"/>
          </a:xfrm>
          <a:prstGeom prst="roundRect">
            <a:avLst>
              <a:gd name="adj" fmla="val 16667"/>
            </a:avLst>
          </a:prstGeom>
          <a:solidFill>
            <a:schemeClr val="accent3"/>
          </a:solidFill>
          <a:ln/>
        </p:spPr>
        <p:txBody>
          <a:bodyPr wrap="square" lIns="38100" tIns="38100" rIns="38100" bIns="38100" rtlCol="0" anchor="ctr"/>
          <a:lstStyle/>
          <a:p>
            <a:pPr algn="ctr" indent="0" marL="0">
              <a:buNone/>
            </a:pPr>
            <a:r>
              <a:rPr lang="en-US" sz="1300" b="1" dirty="0">
                <a:solidFill>
                  <a:schemeClr val="bg1"/>
                </a:solidFill>
              </a:rPr>
              <a:t>ISAIAH 65:17–25</a:t>
            </a:r>
            <a:endParaRPr lang="en-US" sz="1300" dirty="0"/>
          </a:p>
        </p:txBody>
      </p:sp>
      <p:sp>
        <p:nvSpPr>
          <p:cNvPr id="6" name="Text 3"/>
          <p:cNvSpPr txBox="1"/>
          <p:nvPr/>
        </p:nvSpPr>
        <p:spPr>
          <a:xfrm>
            <a:off x="7223760" y="1508760"/>
            <a:ext cx="4434840" cy="438912"/>
          </a:xfrm>
          <a:prstGeom prst="roundRect">
            <a:avLst>
              <a:gd name="adj" fmla="val 16667"/>
            </a:avLst>
          </a:prstGeom>
          <a:solidFill>
            <a:schemeClr val="accent5"/>
          </a:solidFill>
          <a:ln/>
        </p:spPr>
        <p:txBody>
          <a:bodyPr wrap="square" lIns="38100" tIns="38100" rIns="38100" bIns="38100" rtlCol="0" anchor="ctr"/>
          <a:lstStyle/>
          <a:p>
            <a:pPr algn="ctr" indent="0" marL="0">
              <a:buNone/>
            </a:pPr>
            <a:r>
              <a:rPr lang="en-US" sz="1300" b="1" dirty="0">
                <a:solidFill>
                  <a:schemeClr val="bg1"/>
                </a:solidFill>
              </a:rPr>
              <a:t>REVELATION 21–22</a:t>
            </a:r>
            <a:endParaRPr lang="en-US" sz="1300" dirty="0"/>
          </a:p>
        </p:txBody>
      </p:sp>
      <p:sp>
        <p:nvSpPr>
          <p:cNvPr id="7" name="Text 4"/>
          <p:cNvSpPr txBox="1"/>
          <p:nvPr/>
        </p:nvSpPr>
        <p:spPr>
          <a:xfrm>
            <a:off x="548640" y="2286000"/>
            <a:ext cx="1280160" cy="274320"/>
          </a:xfrm>
          <a:prstGeom prst="rect">
            <a:avLst/>
          </a:prstGeom>
          <a:noFill/>
          <a:ln/>
        </p:spPr>
        <p:txBody>
          <a:bodyPr wrap="square" lIns="0" tIns="0" rIns="0" bIns="0" rtlCol="0" anchor="t"/>
          <a:lstStyle/>
          <a:p>
            <a:pPr algn="l" indent="0" marL="0">
              <a:buNone/>
            </a:pPr>
            <a:r>
              <a:rPr lang="en-US" sz="1100" b="1" dirty="0">
                <a:solidFill>
                  <a:schemeClr val="tx2"/>
                </a:solidFill>
              </a:rPr>
              <a:t>DEATH</a:t>
            </a:r>
            <a:endParaRPr lang="en-US" sz="1100" dirty="0"/>
          </a:p>
        </p:txBody>
      </p:sp>
      <p:sp>
        <p:nvSpPr>
          <p:cNvPr id="8" name="Text 5"/>
          <p:cNvSpPr txBox="1"/>
          <p:nvPr/>
        </p:nvSpPr>
        <p:spPr>
          <a:xfrm>
            <a:off x="1874520" y="2075688"/>
            <a:ext cx="4434840" cy="694944"/>
          </a:xfrm>
          <a:prstGeom prst="rect">
            <a:avLst/>
          </a:prstGeom>
          <a:solidFill>
            <a:srgbClr val="FFFFFF"/>
          </a:solidFill>
          <a:ln w="12700">
            <a:solidFill>
              <a:srgbClr val="B8892B"/>
            </a:solidFill>
          </a:ln>
        </p:spPr>
        <p:txBody>
          <a:bodyPr wrap="square" lIns="38100" tIns="38100" rIns="38100" bIns="38100" rtlCol="0" anchor="ctr"/>
          <a:lstStyle/>
          <a:p>
            <a:pPr algn="ctr" indent="0" marL="0">
              <a:buNone/>
            </a:pPr>
            <a:r>
              <a:rPr lang="en-US" sz="1200" dirty="0">
                <a:solidFill>
                  <a:schemeClr val="tx1"/>
                </a:solidFill>
              </a:rPr>
              <a:t>Still occurs — “the youth will die at the age of one hundred” (65:20)</a:t>
            </a:r>
            <a:endParaRPr lang="en-US" sz="1200" dirty="0"/>
          </a:p>
        </p:txBody>
      </p:sp>
      <p:sp>
        <p:nvSpPr>
          <p:cNvPr id="9" name="Text 6"/>
          <p:cNvSpPr txBox="1"/>
          <p:nvPr/>
        </p:nvSpPr>
        <p:spPr>
          <a:xfrm>
            <a:off x="7223760" y="2075688"/>
            <a:ext cx="4434840" cy="694944"/>
          </a:xfrm>
          <a:prstGeom prst="rect">
            <a:avLst/>
          </a:prstGeom>
          <a:solidFill>
            <a:srgbClr val="FFFFFF"/>
          </a:solidFill>
          <a:ln w="12700">
            <a:solidFill>
              <a:srgbClr val="7030A0"/>
            </a:solidFill>
          </a:ln>
        </p:spPr>
        <p:txBody>
          <a:bodyPr wrap="square" lIns="38100" tIns="38100" rIns="38100" bIns="38100" rtlCol="0" anchor="ctr"/>
          <a:lstStyle/>
          <a:p>
            <a:pPr algn="ctr" indent="0" marL="0">
              <a:buNone/>
            </a:pPr>
            <a:r>
              <a:rPr lang="en-US" sz="1200" dirty="0">
                <a:solidFill>
                  <a:schemeClr val="tx1"/>
                </a:solidFill>
              </a:rPr>
              <a:t>“There will no longer be any death” (21:4)</a:t>
            </a:r>
            <a:endParaRPr lang="en-US" sz="1200" dirty="0"/>
          </a:p>
        </p:txBody>
      </p:sp>
      <p:sp>
        <p:nvSpPr>
          <p:cNvPr id="10" name="Text 7"/>
          <p:cNvSpPr txBox="1"/>
          <p:nvPr/>
        </p:nvSpPr>
        <p:spPr>
          <a:xfrm>
            <a:off x="548640" y="3090672"/>
            <a:ext cx="1280160" cy="274320"/>
          </a:xfrm>
          <a:prstGeom prst="rect">
            <a:avLst/>
          </a:prstGeom>
          <a:noFill/>
          <a:ln/>
        </p:spPr>
        <p:txBody>
          <a:bodyPr wrap="square" lIns="0" tIns="0" rIns="0" bIns="0" rtlCol="0" anchor="t"/>
          <a:lstStyle/>
          <a:p>
            <a:pPr algn="l" indent="0" marL="0">
              <a:buNone/>
            </a:pPr>
            <a:r>
              <a:rPr lang="en-US" sz="1100" b="1" dirty="0">
                <a:solidFill>
                  <a:schemeClr val="tx2"/>
                </a:solidFill>
              </a:rPr>
              <a:t>SIN</a:t>
            </a:r>
            <a:endParaRPr lang="en-US" sz="1100" dirty="0"/>
          </a:p>
        </p:txBody>
      </p:sp>
      <p:sp>
        <p:nvSpPr>
          <p:cNvPr id="11" name="Text 8"/>
          <p:cNvSpPr txBox="1"/>
          <p:nvPr/>
        </p:nvSpPr>
        <p:spPr>
          <a:xfrm>
            <a:off x="1874520" y="2880360"/>
            <a:ext cx="4434840" cy="694944"/>
          </a:xfrm>
          <a:prstGeom prst="rect">
            <a:avLst/>
          </a:prstGeom>
          <a:solidFill>
            <a:srgbClr val="FFFFFF"/>
          </a:solidFill>
          <a:ln w="12700">
            <a:solidFill>
              <a:srgbClr val="B8892B"/>
            </a:solidFill>
          </a:ln>
        </p:spPr>
        <p:txBody>
          <a:bodyPr wrap="square" lIns="38100" tIns="38100" rIns="38100" bIns="38100" rtlCol="0" anchor="ctr"/>
          <a:lstStyle/>
          <a:p>
            <a:pPr algn="ctr" indent="0" marL="0">
              <a:buNone/>
            </a:pPr>
            <a:r>
              <a:rPr lang="en-US" sz="1200" dirty="0">
                <a:solidFill>
                  <a:schemeClr val="tx1"/>
                </a:solidFill>
              </a:rPr>
              <a:t>Still possible — the sinner “will be thought accursed” (65:20)</a:t>
            </a:r>
            <a:endParaRPr lang="en-US" sz="1200" dirty="0"/>
          </a:p>
        </p:txBody>
      </p:sp>
      <p:sp>
        <p:nvSpPr>
          <p:cNvPr id="12" name="Text 9"/>
          <p:cNvSpPr txBox="1"/>
          <p:nvPr/>
        </p:nvSpPr>
        <p:spPr>
          <a:xfrm>
            <a:off x="7223760" y="2880360"/>
            <a:ext cx="4434840" cy="694944"/>
          </a:xfrm>
          <a:prstGeom prst="rect">
            <a:avLst/>
          </a:prstGeom>
          <a:solidFill>
            <a:srgbClr val="FFFFFF"/>
          </a:solidFill>
          <a:ln w="12700">
            <a:solidFill>
              <a:srgbClr val="7030A0"/>
            </a:solidFill>
          </a:ln>
        </p:spPr>
        <p:txBody>
          <a:bodyPr wrap="square" lIns="38100" tIns="38100" rIns="38100" bIns="38100" rtlCol="0" anchor="ctr"/>
          <a:lstStyle/>
          <a:p>
            <a:pPr algn="ctr" indent="0" marL="0">
              <a:buNone/>
            </a:pPr>
            <a:r>
              <a:rPr lang="en-US" sz="1200" dirty="0">
                <a:solidFill>
                  <a:schemeClr val="tx1"/>
                </a:solidFill>
              </a:rPr>
              <a:t>Nothing unclean will ever enter (21:27)</a:t>
            </a:r>
            <a:endParaRPr lang="en-US" sz="1200" dirty="0"/>
          </a:p>
        </p:txBody>
      </p:sp>
      <p:sp>
        <p:nvSpPr>
          <p:cNvPr id="13" name="Text 10"/>
          <p:cNvSpPr txBox="1"/>
          <p:nvPr/>
        </p:nvSpPr>
        <p:spPr>
          <a:xfrm>
            <a:off x="548640" y="3895344"/>
            <a:ext cx="1280160" cy="274320"/>
          </a:xfrm>
          <a:prstGeom prst="rect">
            <a:avLst/>
          </a:prstGeom>
          <a:noFill/>
          <a:ln/>
        </p:spPr>
        <p:txBody>
          <a:bodyPr wrap="square" lIns="0" tIns="0" rIns="0" bIns="0" rtlCol="0" anchor="t"/>
          <a:lstStyle/>
          <a:p>
            <a:pPr algn="l" indent="0" marL="0">
              <a:buNone/>
            </a:pPr>
            <a:r>
              <a:rPr lang="en-US" sz="1100" b="1" dirty="0">
                <a:solidFill>
                  <a:schemeClr val="tx2"/>
                </a:solidFill>
              </a:rPr>
              <a:t>LIFESPAN</a:t>
            </a:r>
            <a:endParaRPr lang="en-US" sz="1100" dirty="0"/>
          </a:p>
        </p:txBody>
      </p:sp>
      <p:sp>
        <p:nvSpPr>
          <p:cNvPr id="14" name="Text 11"/>
          <p:cNvSpPr txBox="1"/>
          <p:nvPr/>
        </p:nvSpPr>
        <p:spPr>
          <a:xfrm>
            <a:off x="1874520" y="3685032"/>
            <a:ext cx="4434840" cy="694944"/>
          </a:xfrm>
          <a:prstGeom prst="rect">
            <a:avLst/>
          </a:prstGeom>
          <a:solidFill>
            <a:srgbClr val="FFFFFF"/>
          </a:solidFill>
          <a:ln w="12700">
            <a:solidFill>
              <a:srgbClr val="B8892B"/>
            </a:solidFill>
          </a:ln>
        </p:spPr>
        <p:txBody>
          <a:bodyPr wrap="square" lIns="38100" tIns="38100" rIns="38100" bIns="38100" rtlCol="0" anchor="ctr"/>
          <a:lstStyle/>
          <a:p>
            <a:pPr algn="ctr" indent="0" marL="0">
              <a:buNone/>
            </a:pPr>
            <a:r>
              <a:rPr lang="en-US" sz="1200" dirty="0">
                <a:solidFill>
                  <a:schemeClr val="tx1"/>
                </a:solidFill>
              </a:rPr>
              <a:t>Long but finite — “like the days of a tree” (65:22)</a:t>
            </a:r>
            <a:endParaRPr lang="en-US" sz="1200" dirty="0"/>
          </a:p>
        </p:txBody>
      </p:sp>
      <p:sp>
        <p:nvSpPr>
          <p:cNvPr id="15" name="Text 12"/>
          <p:cNvSpPr txBox="1"/>
          <p:nvPr/>
        </p:nvSpPr>
        <p:spPr>
          <a:xfrm>
            <a:off x="7223760" y="3685032"/>
            <a:ext cx="4434840" cy="694944"/>
          </a:xfrm>
          <a:prstGeom prst="rect">
            <a:avLst/>
          </a:prstGeom>
          <a:solidFill>
            <a:srgbClr val="FFFFFF"/>
          </a:solidFill>
          <a:ln w="12700">
            <a:solidFill>
              <a:srgbClr val="7030A0"/>
            </a:solidFill>
          </a:ln>
        </p:spPr>
        <p:txBody>
          <a:bodyPr wrap="square" lIns="38100" tIns="38100" rIns="38100" bIns="38100" rtlCol="0" anchor="ctr"/>
          <a:lstStyle/>
          <a:p>
            <a:pPr algn="ctr" indent="0" marL="0">
              <a:buNone/>
            </a:pPr>
            <a:r>
              <a:rPr lang="en-US" sz="1200" dirty="0">
                <a:solidFill>
                  <a:schemeClr val="tx1"/>
                </a:solidFill>
              </a:rPr>
              <a:t>“They will reign forever and ever” (22:5)</a:t>
            </a:r>
            <a:endParaRPr lang="en-US" sz="1200" dirty="0"/>
          </a:p>
        </p:txBody>
      </p:sp>
      <p:sp>
        <p:nvSpPr>
          <p:cNvPr id="16" name="Text 13"/>
          <p:cNvSpPr txBox="1"/>
          <p:nvPr/>
        </p:nvSpPr>
        <p:spPr>
          <a:xfrm>
            <a:off x="548640" y="4700016"/>
            <a:ext cx="1280160" cy="274320"/>
          </a:xfrm>
          <a:prstGeom prst="rect">
            <a:avLst/>
          </a:prstGeom>
          <a:noFill/>
          <a:ln/>
        </p:spPr>
        <p:txBody>
          <a:bodyPr wrap="square" lIns="0" tIns="0" rIns="0" bIns="0" rtlCol="0" anchor="t"/>
          <a:lstStyle/>
          <a:p>
            <a:pPr algn="l" indent="0" marL="0">
              <a:buNone/>
            </a:pPr>
            <a:r>
              <a:rPr lang="en-US" sz="1100" b="1" dirty="0">
                <a:solidFill>
                  <a:schemeClr val="tx2"/>
                </a:solidFill>
              </a:rPr>
              <a:t>DAILY LIFE</a:t>
            </a:r>
            <a:endParaRPr lang="en-US" sz="1100" dirty="0"/>
          </a:p>
        </p:txBody>
      </p:sp>
      <p:sp>
        <p:nvSpPr>
          <p:cNvPr id="17" name="Text 14"/>
          <p:cNvSpPr txBox="1"/>
          <p:nvPr/>
        </p:nvSpPr>
        <p:spPr>
          <a:xfrm>
            <a:off x="1874520" y="4489704"/>
            <a:ext cx="4434840" cy="694944"/>
          </a:xfrm>
          <a:prstGeom prst="rect">
            <a:avLst/>
          </a:prstGeom>
          <a:solidFill>
            <a:srgbClr val="FFFFFF"/>
          </a:solidFill>
          <a:ln w="12700">
            <a:solidFill>
              <a:srgbClr val="B8892B"/>
            </a:solidFill>
          </a:ln>
        </p:spPr>
        <p:txBody>
          <a:bodyPr wrap="square" lIns="38100" tIns="38100" rIns="38100" bIns="38100" rtlCol="0" anchor="ctr"/>
          <a:lstStyle/>
          <a:p>
            <a:pPr algn="ctr" indent="0" marL="0">
              <a:buNone/>
            </a:pPr>
            <a:r>
              <a:rPr lang="en-US" sz="1200" dirty="0">
                <a:solidFill>
                  <a:schemeClr val="tx1"/>
                </a:solidFill>
              </a:rPr>
              <a:t>Building houses, planting vineyards, bearing children (65:21–23)</a:t>
            </a:r>
            <a:endParaRPr lang="en-US" sz="1200" dirty="0"/>
          </a:p>
        </p:txBody>
      </p:sp>
      <p:sp>
        <p:nvSpPr>
          <p:cNvPr id="18" name="Text 15"/>
          <p:cNvSpPr txBox="1"/>
          <p:nvPr/>
        </p:nvSpPr>
        <p:spPr>
          <a:xfrm>
            <a:off x="7223760" y="4489704"/>
            <a:ext cx="4434840" cy="694944"/>
          </a:xfrm>
          <a:prstGeom prst="rect">
            <a:avLst/>
          </a:prstGeom>
          <a:solidFill>
            <a:srgbClr val="FFFFFF"/>
          </a:solidFill>
          <a:ln w="12700">
            <a:solidFill>
              <a:srgbClr val="7030A0"/>
            </a:solidFill>
          </a:ln>
        </p:spPr>
        <p:txBody>
          <a:bodyPr wrap="square" lIns="38100" tIns="38100" rIns="38100" bIns="38100" rtlCol="0" anchor="ctr"/>
          <a:lstStyle/>
          <a:p>
            <a:pPr algn="ctr" indent="0" marL="0">
              <a:buNone/>
            </a:pPr>
            <a:r>
              <a:rPr lang="en-US" sz="1200" dirty="0">
                <a:solidFill>
                  <a:schemeClr val="tx1"/>
                </a:solidFill>
              </a:rPr>
              <a:t>God dwells among His people; the first things passed away (21:3–4)</a:t>
            </a:r>
            <a:endParaRPr lang="en-US" sz="1200" dirty="0"/>
          </a:p>
        </p:txBody>
      </p:sp>
      <p:sp>
        <p:nvSpPr>
          <p:cNvPr id="19" name="Text 16"/>
          <p:cNvSpPr txBox="1"/>
          <p:nvPr/>
        </p:nvSpPr>
        <p:spPr>
          <a:xfrm>
            <a:off x="548640" y="5349240"/>
            <a:ext cx="11109960" cy="457200"/>
          </a:xfrm>
          <a:prstGeom prst="roundRect">
            <a:avLst>
              <a:gd name="adj" fmla="val 16000"/>
            </a:avLst>
          </a:prstGeom>
          <a:solidFill>
            <a:srgbClr val="EEF1F6"/>
          </a:solidFill>
          <a:ln/>
        </p:spPr>
        <p:txBody>
          <a:bodyPr wrap="square" lIns="38100" tIns="38100" rIns="38100" bIns="38100" rtlCol="0" anchor="ctr"/>
          <a:lstStyle/>
          <a:p>
            <a:pPr algn="ctr" indent="0" marL="0">
              <a:buNone/>
            </a:pPr>
            <a:r>
              <a:rPr lang="en-US" sz="1300" b="1" dirty="0">
                <a:solidFill>
                  <a:schemeClr val="tx2"/>
                </a:solidFill>
              </a:rPr>
              <a:t>Isaiah 65:17–25 → the MILLENNIUM (a renewed creation)          Revelation 21–22 → the ETERNAL STATE</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11155680" cy="621792"/>
          </a:xfrm>
          <a:prstGeom prst="rect">
            <a:avLst/>
          </a:prstGeom>
          <a:noFill/>
          <a:ln/>
        </p:spPr>
        <p:txBody>
          <a:bodyPr wrap="square" lIns="0" tIns="0" rIns="0" bIns="0" rtlCol="0" anchor="ctr"/>
          <a:lstStyle/>
          <a:p>
            <a:pPr algn="l" indent="0" marL="0">
              <a:buNone/>
            </a:pPr>
            <a:r>
              <a:rPr lang="en-US" sz="3400" b="1" dirty="0">
                <a:solidFill>
                  <a:srgbClr val="1F3864"/>
                </a:solidFill>
              </a:rPr>
              <a:t>Zechariah 14: The Land Transformed</a:t>
            </a:r>
            <a:endParaRPr lang="en-US" sz="3400" dirty="0"/>
          </a:p>
        </p:txBody>
      </p:sp>
      <p:sp>
        <p:nvSpPr>
          <p:cNvPr id="3" name="Text 1"/>
          <p:cNvSpPr/>
          <p:nvPr>
            <p:ph idx="102" type="body" hasCustomPrompt="1"/>
          </p:nvPr>
        </p:nvSpPr>
        <p:spPr>
          <a:xfrm>
            <a:off x="502920" y="914400"/>
            <a:ext cx="11155680" cy="347472"/>
          </a:xfrm>
          <a:prstGeom prst="rect">
            <a:avLst/>
          </a:prstGeom>
          <a:noFill/>
          <a:ln/>
        </p:spPr>
        <p:txBody>
          <a:bodyPr wrap="square" lIns="0" tIns="0" rIns="0" bIns="0" rtlCol="0" anchor="ctr"/>
          <a:lstStyle/>
          <a:p>
            <a:pPr indent="0" marL="0">
              <a:buNone/>
            </a:pPr>
            <a:r>
              <a:rPr lang="en-US" sz="1400" i="1" dirty="0">
                <a:solidFill>
                  <a:srgbClr val="6B7A8F"/>
                </a:solidFill>
              </a:rPr>
              <a:t>What changes around Jerusalem when Christ’s feet stand on the Mount of Olives  ·  schematic, not to scale</a:t>
            </a:r>
            <a:endParaRPr lang="en-US" sz="1400" dirty="0"/>
          </a:p>
        </p:txBody>
      </p:sp>
      <p:sp>
        <p:nvSpPr>
          <p:cNvPr id="5" name="Text 2"/>
          <p:cNvSpPr txBox="1"/>
          <p:nvPr/>
        </p:nvSpPr>
        <p:spPr>
          <a:xfrm>
            <a:off x="548640" y="1508760"/>
            <a:ext cx="1371600" cy="4206240"/>
          </a:xfrm>
          <a:prstGeom prst="rect">
            <a:avLst/>
          </a:prstGeom>
          <a:solidFill>
            <a:srgbClr val="C9D9E5"/>
          </a:solidFill>
          <a:ln/>
        </p:spPr>
        <p:txBody>
          <a:bodyPr wrap="square" lIns="38100" tIns="38100" rIns="38100" bIns="38100" rtlCol="0" anchor="ctr"/>
          <a:lstStyle/>
          <a:p>
            <a:pPr algn="ctr" indent="0" marL="0">
              <a:buNone/>
            </a:pPr>
            <a:r>
              <a:rPr lang="en-US" sz="1100" b="1" dirty="0">
                <a:solidFill>
                  <a:schemeClr val="tx2"/>
                </a:solidFill>
              </a:rPr>
              <a:t>MEDITERRANEAN</a:t>
            </a:r>
            <a:endParaRPr lang="en-US" sz="1100" dirty="0"/>
          </a:p>
          <a:p>
            <a:pPr algn="ctr" indent="0" marL="0">
              <a:buNone/>
            </a:pPr>
            <a:r>
              <a:rPr lang="en-US" sz="1100" b="1" dirty="0">
                <a:solidFill>
                  <a:schemeClr val="tx2"/>
                </a:solidFill>
              </a:rPr>
              <a:t>“the western sea”</a:t>
            </a:r>
            <a:endParaRPr lang="en-US" sz="1100" dirty="0"/>
          </a:p>
        </p:txBody>
      </p:sp>
      <p:sp>
        <p:nvSpPr>
          <p:cNvPr id="6" name="Shape 3"/>
          <p:cNvSpPr/>
          <p:nvPr/>
        </p:nvSpPr>
        <p:spPr>
          <a:xfrm>
            <a:off x="10104120" y="2423160"/>
            <a:ext cx="1554480" cy="2377440"/>
          </a:xfrm>
          <a:prstGeom prst="ellipse">
            <a:avLst/>
          </a:prstGeom>
          <a:solidFill>
            <a:srgbClr val="C9D9E5"/>
          </a:solidFill>
          <a:ln w="12700">
            <a:solidFill>
              <a:srgbClr val="9AB2C6"/>
            </a:solidFill>
            <a:prstDash val="solid"/>
          </a:ln>
        </p:spPr>
      </p:sp>
      <p:sp>
        <p:nvSpPr>
          <p:cNvPr id="7" name="Text 4"/>
          <p:cNvSpPr txBox="1"/>
          <p:nvPr/>
        </p:nvSpPr>
        <p:spPr>
          <a:xfrm>
            <a:off x="10058400" y="3017520"/>
            <a:ext cx="1645920" cy="1188720"/>
          </a:xfrm>
          <a:prstGeom prst="rect">
            <a:avLst/>
          </a:prstGeom>
          <a:noFill/>
          <a:ln/>
        </p:spPr>
        <p:txBody>
          <a:bodyPr wrap="square" lIns="0" tIns="0" rIns="0" bIns="0" rtlCol="0" anchor="ctr"/>
          <a:lstStyle/>
          <a:p>
            <a:pPr algn="ctr" indent="0" marL="0">
              <a:buNone/>
            </a:pPr>
            <a:r>
              <a:rPr lang="en-US" sz="1000" b="1" dirty="0">
                <a:solidFill>
                  <a:schemeClr val="tx2"/>
                </a:solidFill>
              </a:rPr>
              <a:t>DEAD SEA</a:t>
            </a:r>
            <a:endParaRPr lang="en-US" sz="1000" dirty="0"/>
          </a:p>
          <a:p>
            <a:pPr algn="ctr" indent="0" marL="0">
              <a:buNone/>
            </a:pPr>
            <a:r>
              <a:rPr lang="en-US" sz="1000" b="1" dirty="0">
                <a:solidFill>
                  <a:schemeClr val="tx2"/>
                </a:solidFill>
              </a:rPr>
              <a:t>“the eastern sea”</a:t>
            </a:r>
            <a:endParaRPr lang="en-US" sz="1000" dirty="0"/>
          </a:p>
          <a:p>
            <a:pPr algn="ctr" indent="0" marL="0">
              <a:buNone/>
            </a:pPr>
            <a:r>
              <a:rPr lang="en-US" sz="1000" b="1" dirty="0">
                <a:solidFill>
                  <a:schemeClr val="tx2"/>
                </a:solidFill>
              </a:rPr>
              <a:t>healed — fish abound</a:t>
            </a:r>
            <a:endParaRPr lang="en-US" sz="1000" dirty="0"/>
          </a:p>
          <a:p>
            <a:pPr algn="ctr" indent="0" marL="0">
              <a:buNone/>
            </a:pPr>
            <a:r>
              <a:rPr lang="en-US" sz="1000" b="1" dirty="0">
                <a:solidFill>
                  <a:schemeClr val="tx2"/>
                </a:solidFill>
              </a:rPr>
              <a:t>(Ezek 47:8–9)</a:t>
            </a:r>
            <a:endParaRPr lang="en-US" sz="1000" dirty="0"/>
          </a:p>
        </p:txBody>
      </p:sp>
      <p:sp>
        <p:nvSpPr>
          <p:cNvPr id="8" name="Shape 5"/>
          <p:cNvSpPr/>
          <p:nvPr/>
        </p:nvSpPr>
        <p:spPr>
          <a:xfrm>
            <a:off x="3931920" y="1600200"/>
            <a:ext cx="3108960" cy="4023360"/>
          </a:xfrm>
          <a:prstGeom prst="rect">
            <a:avLst/>
          </a:prstGeom>
          <a:solidFill>
            <a:srgbClr val="B8892B">
              <a:alpha val="15000"/>
            </a:srgbClr>
          </a:solidFill>
          <a:ln w="12700">
            <a:solidFill>
              <a:srgbClr val="B8892B"/>
            </a:solidFill>
            <a:prstDash val="dash"/>
          </a:ln>
        </p:spPr>
      </p:sp>
      <p:sp>
        <p:nvSpPr>
          <p:cNvPr id="9" name="Text 6"/>
          <p:cNvSpPr txBox="1"/>
          <p:nvPr/>
        </p:nvSpPr>
        <p:spPr>
          <a:xfrm>
            <a:off x="3931920" y="1645920"/>
            <a:ext cx="3108960" cy="256032"/>
          </a:xfrm>
          <a:prstGeom prst="rect">
            <a:avLst/>
          </a:prstGeom>
          <a:noFill/>
          <a:ln/>
        </p:spPr>
        <p:txBody>
          <a:bodyPr wrap="square" lIns="0" tIns="0" rIns="0" bIns="0" rtlCol="0" anchor="t"/>
          <a:lstStyle/>
          <a:p>
            <a:pPr algn="ctr" indent="0" marL="0">
              <a:buNone/>
            </a:pPr>
            <a:r>
              <a:rPr lang="en-US" sz="1100" b="1" dirty="0">
                <a:solidFill>
                  <a:srgbClr val="8A6A1E"/>
                </a:solidFill>
              </a:rPr>
              <a:t>GEBA (north)</a:t>
            </a:r>
            <a:endParaRPr lang="en-US" sz="1100" dirty="0"/>
          </a:p>
        </p:txBody>
      </p:sp>
      <p:sp>
        <p:nvSpPr>
          <p:cNvPr id="10" name="Text 7"/>
          <p:cNvSpPr txBox="1"/>
          <p:nvPr/>
        </p:nvSpPr>
        <p:spPr>
          <a:xfrm>
            <a:off x="3931920" y="5321808"/>
            <a:ext cx="3108960" cy="256032"/>
          </a:xfrm>
          <a:prstGeom prst="rect">
            <a:avLst/>
          </a:prstGeom>
          <a:noFill/>
          <a:ln/>
        </p:spPr>
        <p:txBody>
          <a:bodyPr wrap="square" lIns="0" tIns="0" rIns="0" bIns="0" rtlCol="0" anchor="t"/>
          <a:lstStyle/>
          <a:p>
            <a:pPr algn="ctr" indent="0" marL="0">
              <a:buNone/>
            </a:pPr>
            <a:r>
              <a:rPr lang="en-US" sz="1100" b="1" dirty="0">
                <a:solidFill>
                  <a:srgbClr val="8A6A1E"/>
                </a:solidFill>
              </a:rPr>
              <a:t>RIMMON (south)</a:t>
            </a:r>
            <a:endParaRPr lang="en-US" sz="1100" dirty="0"/>
          </a:p>
        </p:txBody>
      </p:sp>
      <p:sp>
        <p:nvSpPr>
          <p:cNvPr id="11" name="Text 8"/>
          <p:cNvSpPr txBox="1"/>
          <p:nvPr/>
        </p:nvSpPr>
        <p:spPr>
          <a:xfrm>
            <a:off x="4023360" y="1920240"/>
            <a:ext cx="2011680" cy="457200"/>
          </a:xfrm>
          <a:prstGeom prst="rect">
            <a:avLst/>
          </a:prstGeom>
          <a:noFill/>
          <a:ln/>
        </p:spPr>
        <p:txBody>
          <a:bodyPr wrap="square" lIns="0" tIns="0" rIns="0" bIns="0" rtlCol="0" anchor="t"/>
          <a:lstStyle/>
          <a:p>
            <a:pPr algn="l" indent="0" marL="0">
              <a:buNone/>
            </a:pPr>
            <a:r>
              <a:rPr lang="en-US" sz="1000" i="1" dirty="0">
                <a:solidFill>
                  <a:srgbClr val="8A6A1E"/>
                </a:solidFill>
              </a:rPr>
              <a:t>the land becomes a plain (v. 10)</a:t>
            </a:r>
            <a:endParaRPr lang="en-US" sz="1000" dirty="0"/>
          </a:p>
        </p:txBody>
      </p:sp>
      <p:sp>
        <p:nvSpPr>
          <p:cNvPr id="12" name="Shape 9"/>
          <p:cNvSpPr/>
          <p:nvPr/>
        </p:nvSpPr>
        <p:spPr>
          <a:xfrm>
            <a:off x="4434840" y="3063240"/>
            <a:ext cx="1097280" cy="1097280"/>
          </a:xfrm>
          <a:prstGeom prst="ellipse">
            <a:avLst/>
          </a:prstGeom>
          <a:solidFill>
            <a:srgbClr val="1F3864"/>
          </a:solidFill>
          <a:ln w="38100">
            <a:solidFill>
              <a:srgbClr val="B8892B"/>
            </a:solidFill>
            <a:prstDash val="solid"/>
          </a:ln>
        </p:spPr>
      </p:sp>
      <p:sp>
        <p:nvSpPr>
          <p:cNvPr id="13" name="Text 10"/>
          <p:cNvSpPr txBox="1"/>
          <p:nvPr/>
        </p:nvSpPr>
        <p:spPr>
          <a:xfrm>
            <a:off x="4434840" y="3337560"/>
            <a:ext cx="1097280" cy="548640"/>
          </a:xfrm>
          <a:prstGeom prst="rect">
            <a:avLst/>
          </a:prstGeom>
          <a:noFill/>
          <a:ln/>
        </p:spPr>
        <p:txBody>
          <a:bodyPr wrap="square" lIns="0" tIns="0" rIns="0" bIns="0" rtlCol="0" anchor="ctr"/>
          <a:lstStyle/>
          <a:p>
            <a:pPr algn="ctr" indent="0" marL="0">
              <a:buNone/>
            </a:pPr>
            <a:r>
              <a:rPr lang="en-US" sz="1000" b="1" dirty="0">
                <a:solidFill>
                  <a:srgbClr val="FFFFFF"/>
                </a:solidFill>
              </a:rPr>
              <a:t>JERUSALEM</a:t>
            </a:r>
            <a:endParaRPr lang="en-US" sz="1000" dirty="0"/>
          </a:p>
          <a:p>
            <a:pPr algn="ctr" indent="0" marL="0">
              <a:buNone/>
            </a:pPr>
            <a:r>
              <a:rPr lang="en-US" sz="1000" b="1" dirty="0">
                <a:solidFill>
                  <a:srgbClr val="FFFFFF"/>
                </a:solidFill>
              </a:rPr>
              <a:t>raised up</a:t>
            </a:r>
            <a:endParaRPr lang="en-US" sz="1000" dirty="0"/>
          </a:p>
        </p:txBody>
      </p:sp>
      <p:sp>
        <p:nvSpPr>
          <p:cNvPr id="14" name="Shape 11"/>
          <p:cNvSpPr/>
          <p:nvPr/>
        </p:nvSpPr>
        <p:spPr>
          <a:xfrm>
            <a:off x="5852160" y="2377440"/>
            <a:ext cx="1005840" cy="777240"/>
          </a:xfrm>
          <a:prstGeom prst="triangle">
            <a:avLst/>
          </a:prstGeom>
          <a:solidFill>
            <a:srgbClr val="7E8A5E"/>
          </a:solidFill>
          <a:ln w="12700">
            <a:solidFill>
              <a:srgbClr val="7E8A5E"/>
            </a:solidFill>
            <a:prstDash val="solid"/>
          </a:ln>
        </p:spPr>
      </p:sp>
      <p:sp>
        <p:nvSpPr>
          <p:cNvPr id="15" name="Shape 12"/>
          <p:cNvSpPr/>
          <p:nvPr/>
        </p:nvSpPr>
        <p:spPr>
          <a:xfrm>
            <a:off x="5852160" y="4069080"/>
            <a:ext cx="1005840" cy="777240"/>
          </a:xfrm>
          <a:prstGeom prst="triangle">
            <a:avLst/>
          </a:prstGeom>
          <a:solidFill>
            <a:srgbClr val="7E8A5E"/>
          </a:solidFill>
          <a:ln w="12700">
            <a:solidFill>
              <a:srgbClr val="7E8A5E"/>
            </a:solidFill>
            <a:prstDash val="solid"/>
          </a:ln>
        </p:spPr>
      </p:sp>
      <p:sp>
        <p:nvSpPr>
          <p:cNvPr id="16" name="Shape 13"/>
          <p:cNvSpPr/>
          <p:nvPr/>
        </p:nvSpPr>
        <p:spPr>
          <a:xfrm>
            <a:off x="6245352" y="1874520"/>
            <a:ext cx="219456" cy="457200"/>
          </a:xfrm>
          <a:prstGeom prst="upArrow">
            <a:avLst/>
          </a:prstGeom>
          <a:solidFill>
            <a:srgbClr val="5E6B45"/>
          </a:solidFill>
          <a:ln w="12700">
            <a:solidFill>
              <a:srgbClr val="5E6B45"/>
            </a:solidFill>
            <a:prstDash val="solid"/>
          </a:ln>
        </p:spPr>
      </p:sp>
      <p:sp>
        <p:nvSpPr>
          <p:cNvPr id="17" name="Shape 14"/>
          <p:cNvSpPr/>
          <p:nvPr/>
        </p:nvSpPr>
        <p:spPr>
          <a:xfrm>
            <a:off x="6245352" y="4892040"/>
            <a:ext cx="219456" cy="457200"/>
          </a:xfrm>
          <a:prstGeom prst="downArrow">
            <a:avLst/>
          </a:prstGeom>
          <a:solidFill>
            <a:srgbClr val="5E6B45"/>
          </a:solidFill>
          <a:ln w="12700">
            <a:solidFill>
              <a:srgbClr val="5E6B45"/>
            </a:solidFill>
            <a:prstDash val="solid"/>
          </a:ln>
        </p:spPr>
      </p:sp>
      <p:sp>
        <p:nvSpPr>
          <p:cNvPr id="18" name="Text 15"/>
          <p:cNvSpPr txBox="1"/>
          <p:nvPr/>
        </p:nvSpPr>
        <p:spPr>
          <a:xfrm>
            <a:off x="7086600" y="2148840"/>
            <a:ext cx="2194560" cy="685800"/>
          </a:xfrm>
          <a:prstGeom prst="rect">
            <a:avLst/>
          </a:prstGeom>
          <a:noFill/>
          <a:ln/>
        </p:spPr>
        <p:txBody>
          <a:bodyPr wrap="square" lIns="0" tIns="0" rIns="0" bIns="0" rtlCol="0" anchor="t"/>
          <a:lstStyle/>
          <a:p>
            <a:pPr algn="l" indent="0" marL="0">
              <a:buNone/>
            </a:pPr>
            <a:r>
              <a:rPr lang="en-US" sz="1000" b="1" dirty="0">
                <a:solidFill>
                  <a:srgbClr val="5E6B45"/>
                </a:solidFill>
              </a:rPr>
              <a:t>Mount of Olives splits</a:t>
            </a:r>
            <a:endParaRPr lang="en-US" sz="1000" dirty="0"/>
          </a:p>
          <a:p>
            <a:pPr algn="l" indent="0" marL="0">
              <a:buNone/>
            </a:pPr>
            <a:r>
              <a:rPr lang="en-US" sz="1000" b="1" dirty="0">
                <a:solidFill>
                  <a:srgbClr val="5E6B45"/>
                </a:solidFill>
              </a:rPr>
              <a:t>— half moves north,</a:t>
            </a:r>
            <a:endParaRPr lang="en-US" sz="1000" dirty="0"/>
          </a:p>
          <a:p>
            <a:pPr algn="l" indent="0" marL="0">
              <a:buNone/>
            </a:pPr>
            <a:r>
              <a:rPr lang="en-US" sz="1000" b="1" dirty="0">
                <a:solidFill>
                  <a:srgbClr val="5E6B45"/>
                </a:solidFill>
              </a:rPr>
              <a:t>half south (v. 4)</a:t>
            </a:r>
            <a:endParaRPr lang="en-US" sz="1000" dirty="0"/>
          </a:p>
        </p:txBody>
      </p:sp>
      <p:sp>
        <p:nvSpPr>
          <p:cNvPr id="19" name="Text 16"/>
          <p:cNvSpPr txBox="1"/>
          <p:nvPr/>
        </p:nvSpPr>
        <p:spPr>
          <a:xfrm>
            <a:off x="7086600" y="4160520"/>
            <a:ext cx="2194560" cy="457200"/>
          </a:xfrm>
          <a:prstGeom prst="rect">
            <a:avLst/>
          </a:prstGeom>
          <a:noFill/>
          <a:ln/>
        </p:spPr>
        <p:txBody>
          <a:bodyPr wrap="square" lIns="0" tIns="0" rIns="0" bIns="0" rtlCol="0" anchor="t"/>
          <a:lstStyle/>
          <a:p>
            <a:pPr algn="l" indent="0" marL="0">
              <a:buNone/>
            </a:pPr>
            <a:r>
              <a:rPr lang="en-US" sz="1000" b="1" dirty="0">
                <a:solidFill>
                  <a:srgbClr val="5E6B45"/>
                </a:solidFill>
              </a:rPr>
              <a:t>a very large valley</a:t>
            </a:r>
            <a:endParaRPr lang="en-US" sz="1000" dirty="0"/>
          </a:p>
          <a:p>
            <a:pPr algn="l" indent="0" marL="0">
              <a:buNone/>
            </a:pPr>
            <a:r>
              <a:rPr lang="en-US" sz="1000" b="1" dirty="0">
                <a:solidFill>
                  <a:srgbClr val="5E6B45"/>
                </a:solidFill>
              </a:rPr>
              <a:t>opens east–west</a:t>
            </a:r>
            <a:endParaRPr lang="en-US" sz="1000" dirty="0"/>
          </a:p>
        </p:txBody>
      </p:sp>
      <p:sp>
        <p:nvSpPr>
          <p:cNvPr id="20" name="Shape 17"/>
          <p:cNvSpPr/>
          <p:nvPr/>
        </p:nvSpPr>
        <p:spPr>
          <a:xfrm>
            <a:off x="5532120" y="3611880"/>
            <a:ext cx="4526280" cy="0"/>
          </a:xfrm>
          <a:prstGeom prst="line">
            <a:avLst/>
          </a:prstGeom>
          <a:noFill/>
          <a:ln w="63500">
            <a:solidFill>
              <a:srgbClr val="3D6E99"/>
            </a:solidFill>
            <a:prstDash val="solid"/>
            <a:tailEnd type="triangle"/>
          </a:ln>
        </p:spPr>
      </p:sp>
      <p:sp>
        <p:nvSpPr>
          <p:cNvPr id="21" name="Shape 18"/>
          <p:cNvSpPr/>
          <p:nvPr/>
        </p:nvSpPr>
        <p:spPr>
          <a:xfrm flipH="1">
            <a:off x="1965960" y="3611880"/>
            <a:ext cx="2468880" cy="0"/>
          </a:xfrm>
          <a:prstGeom prst="line">
            <a:avLst/>
          </a:prstGeom>
          <a:noFill/>
          <a:ln w="63500">
            <a:solidFill>
              <a:srgbClr val="3D6E99"/>
            </a:solidFill>
            <a:prstDash val="solid"/>
            <a:tailEnd type="triangle"/>
          </a:ln>
        </p:spPr>
      </p:sp>
      <p:sp>
        <p:nvSpPr>
          <p:cNvPr id="22" name="Text 19"/>
          <p:cNvSpPr txBox="1"/>
          <p:nvPr/>
        </p:nvSpPr>
        <p:spPr>
          <a:xfrm>
            <a:off x="7086600" y="3264408"/>
            <a:ext cx="2926080" cy="274320"/>
          </a:xfrm>
          <a:prstGeom prst="rect">
            <a:avLst/>
          </a:prstGeom>
          <a:noFill/>
          <a:ln/>
        </p:spPr>
        <p:txBody>
          <a:bodyPr wrap="square" lIns="0" tIns="0" rIns="0" bIns="0" rtlCol="0" anchor="t"/>
          <a:lstStyle/>
          <a:p>
            <a:pPr algn="l" indent="0" marL="0">
              <a:buNone/>
            </a:pPr>
            <a:r>
              <a:rPr lang="en-US" sz="1000" b="1" dirty="0">
                <a:solidFill>
                  <a:srgbClr val="3D6E99"/>
                </a:solidFill>
              </a:rPr>
              <a:t>living waters — half to the eastern sea (v. 8)</a:t>
            </a:r>
            <a:endParaRPr lang="en-US" sz="1000" dirty="0"/>
          </a:p>
        </p:txBody>
      </p:sp>
      <p:sp>
        <p:nvSpPr>
          <p:cNvPr id="23" name="Text 20"/>
          <p:cNvSpPr txBox="1"/>
          <p:nvPr/>
        </p:nvSpPr>
        <p:spPr>
          <a:xfrm>
            <a:off x="2011680" y="3264408"/>
            <a:ext cx="1920240" cy="274320"/>
          </a:xfrm>
          <a:prstGeom prst="rect">
            <a:avLst/>
          </a:prstGeom>
          <a:noFill/>
          <a:ln/>
        </p:spPr>
        <p:txBody>
          <a:bodyPr wrap="square" lIns="0" tIns="0" rIns="0" bIns="0" rtlCol="0" anchor="t"/>
          <a:lstStyle/>
          <a:p>
            <a:pPr algn="l" indent="0" marL="0">
              <a:buNone/>
            </a:pPr>
            <a:r>
              <a:rPr lang="en-US" sz="1000" b="1" dirty="0">
                <a:solidFill>
                  <a:srgbClr val="3D6E99"/>
                </a:solidFill>
              </a:rPr>
              <a:t>half to the western sea (v. 8)</a:t>
            </a:r>
            <a:endParaRPr lang="en-US" sz="1000" dirty="0"/>
          </a:p>
        </p:txBody>
      </p:sp>
      <p:sp>
        <p:nvSpPr>
          <p:cNvPr id="24" name="Text 21"/>
          <p:cNvSpPr txBox="1"/>
          <p:nvPr/>
        </p:nvSpPr>
        <p:spPr>
          <a:xfrm>
            <a:off x="548640" y="5897880"/>
            <a:ext cx="11064240" cy="365760"/>
          </a:xfrm>
          <a:prstGeom prst="rect">
            <a:avLst/>
          </a:prstGeom>
          <a:noFill/>
          <a:ln/>
        </p:spPr>
        <p:txBody>
          <a:bodyPr wrap="square" lIns="0" tIns="0" rIns="0" bIns="0" rtlCol="0" anchor="t"/>
          <a:lstStyle/>
          <a:p>
            <a:pPr algn="l" indent="0" marL="0">
              <a:buNone/>
            </a:pPr>
            <a:r>
              <a:rPr lang="en-US" sz="1200" i="1" dirty="0">
                <a:solidFill>
                  <a:schemeClr val="accent6"/>
                </a:solidFill>
              </a:rPr>
              <a:t>“In summer as well as in winter” (v. 8) — a perennial river, parallel to Ezekiel’s river from the temple (Ezek 47:1–12).</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11155680" cy="621792"/>
          </a:xfrm>
          <a:prstGeom prst="rect">
            <a:avLst/>
          </a:prstGeom>
          <a:noFill/>
          <a:ln/>
        </p:spPr>
        <p:txBody>
          <a:bodyPr wrap="square" lIns="0" tIns="0" rIns="0" bIns="0" rtlCol="0" anchor="ctr"/>
          <a:lstStyle/>
          <a:p>
            <a:pPr algn="l" indent="0" marL="0">
              <a:buNone/>
            </a:pPr>
            <a:r>
              <a:rPr lang="en-US" sz="3400" b="1" dirty="0">
                <a:solidFill>
                  <a:srgbClr val="1F3864"/>
                </a:solidFill>
              </a:rPr>
              <a:t>Gog and Magog: Two Different Battles</a:t>
            </a:r>
            <a:endParaRPr lang="en-US" sz="3400" dirty="0"/>
          </a:p>
        </p:txBody>
      </p:sp>
      <p:sp>
        <p:nvSpPr>
          <p:cNvPr id="3" name="Text 1"/>
          <p:cNvSpPr/>
          <p:nvPr>
            <p:ph idx="102" type="body" hasCustomPrompt="1"/>
          </p:nvPr>
        </p:nvSpPr>
        <p:spPr>
          <a:xfrm>
            <a:off x="502920" y="914400"/>
            <a:ext cx="11155680" cy="347472"/>
          </a:xfrm>
          <a:prstGeom prst="rect">
            <a:avLst/>
          </a:prstGeom>
          <a:noFill/>
          <a:ln/>
        </p:spPr>
        <p:txBody>
          <a:bodyPr wrap="square" lIns="0" tIns="0" rIns="0" bIns="0" rtlCol="0" anchor="ctr"/>
          <a:lstStyle/>
          <a:p>
            <a:pPr indent="0" marL="0">
              <a:buNone/>
            </a:pPr>
            <a:r>
              <a:rPr lang="en-US" sz="1400" i="1" dirty="0">
                <a:solidFill>
                  <a:srgbClr val="6B7A8F"/>
                </a:solidFill>
              </a:rPr>
              <a:t>Ezekiel 38–39 and Revelation 20:7–9 share a name but not a date</a:t>
            </a:r>
            <a:endParaRPr lang="en-US" sz="1400" dirty="0"/>
          </a:p>
        </p:txBody>
      </p:sp>
      <p:sp>
        <p:nvSpPr>
          <p:cNvPr id="5" name="Text 2"/>
          <p:cNvSpPr txBox="1"/>
          <p:nvPr/>
        </p:nvSpPr>
        <p:spPr>
          <a:xfrm>
            <a:off x="548640" y="2788920"/>
            <a:ext cx="2560320" cy="731520"/>
          </a:xfrm>
          <a:prstGeom prst="rect">
            <a:avLst/>
          </a:prstGeom>
          <a:solidFill>
            <a:schemeClr val="accent2"/>
          </a:solidFill>
          <a:ln/>
        </p:spPr>
        <p:txBody>
          <a:bodyPr wrap="square" lIns="38100" tIns="38100" rIns="38100" bIns="38100" rtlCol="0" anchor="ctr"/>
          <a:lstStyle/>
          <a:p>
            <a:pPr algn="ctr" indent="0" marL="0">
              <a:buNone/>
            </a:pPr>
            <a:r>
              <a:rPr lang="en-US" sz="1300" b="1" dirty="0">
                <a:solidFill>
                  <a:schemeClr val="bg1"/>
                </a:solidFill>
              </a:rPr>
              <a:t>Church Age</a:t>
            </a:r>
            <a:endParaRPr lang="en-US" sz="1300" dirty="0"/>
          </a:p>
        </p:txBody>
      </p:sp>
      <p:sp>
        <p:nvSpPr>
          <p:cNvPr id="6" name="Text 3"/>
          <p:cNvSpPr txBox="1"/>
          <p:nvPr/>
        </p:nvSpPr>
        <p:spPr>
          <a:xfrm>
            <a:off x="3108960" y="2788920"/>
            <a:ext cx="1600200" cy="731520"/>
          </a:xfrm>
          <a:prstGeom prst="rect">
            <a:avLst/>
          </a:prstGeom>
          <a:solidFill>
            <a:srgbClr val="B26B5A"/>
          </a:solidFill>
          <a:ln/>
        </p:spPr>
        <p:txBody>
          <a:bodyPr wrap="square" lIns="38100" tIns="38100" rIns="38100" bIns="38100" rtlCol="0" anchor="ctr"/>
          <a:lstStyle/>
          <a:p>
            <a:pPr algn="ctr" indent="0" marL="0">
              <a:buNone/>
            </a:pPr>
            <a:r>
              <a:rPr lang="en-US" sz="1200" b="1" dirty="0">
                <a:solidFill>
                  <a:schemeClr val="bg1"/>
                </a:solidFill>
              </a:rPr>
              <a:t>70th Week</a:t>
            </a:r>
            <a:endParaRPr lang="en-US" sz="1200" dirty="0"/>
          </a:p>
          <a:p>
            <a:pPr algn="ctr" indent="0" marL="0">
              <a:buNone/>
            </a:pPr>
            <a:r>
              <a:rPr lang="en-US" sz="1200" b="1" dirty="0">
                <a:solidFill>
                  <a:schemeClr val="bg1"/>
                </a:solidFill>
              </a:rPr>
              <a:t>1st half</a:t>
            </a:r>
            <a:endParaRPr lang="en-US" sz="1200" dirty="0"/>
          </a:p>
        </p:txBody>
      </p:sp>
      <p:sp>
        <p:nvSpPr>
          <p:cNvPr id="7" name="Text 4"/>
          <p:cNvSpPr txBox="1"/>
          <p:nvPr/>
        </p:nvSpPr>
        <p:spPr>
          <a:xfrm>
            <a:off x="4709160" y="2788920"/>
            <a:ext cx="1600200" cy="731520"/>
          </a:xfrm>
          <a:prstGeom prst="rect">
            <a:avLst/>
          </a:prstGeom>
          <a:solidFill>
            <a:schemeClr val="accent4"/>
          </a:solidFill>
          <a:ln/>
        </p:spPr>
        <p:txBody>
          <a:bodyPr wrap="square" lIns="38100" tIns="38100" rIns="38100" bIns="38100" rtlCol="0" anchor="ctr"/>
          <a:lstStyle/>
          <a:p>
            <a:pPr algn="ctr" indent="0" marL="0">
              <a:buNone/>
            </a:pPr>
            <a:r>
              <a:rPr lang="en-US" sz="1200" b="1" dirty="0">
                <a:solidFill>
                  <a:schemeClr val="bg1"/>
                </a:solidFill>
              </a:rPr>
              <a:t>70th Week</a:t>
            </a:r>
            <a:endParaRPr lang="en-US" sz="1200" dirty="0"/>
          </a:p>
          <a:p>
            <a:pPr algn="ctr" indent="0" marL="0">
              <a:buNone/>
            </a:pPr>
            <a:r>
              <a:rPr lang="en-US" sz="1200" b="1" dirty="0">
                <a:solidFill>
                  <a:schemeClr val="bg1"/>
                </a:solidFill>
              </a:rPr>
              <a:t>2nd half</a:t>
            </a:r>
            <a:endParaRPr lang="en-US" sz="1200" dirty="0"/>
          </a:p>
        </p:txBody>
      </p:sp>
      <p:sp>
        <p:nvSpPr>
          <p:cNvPr id="8" name="Text 5"/>
          <p:cNvSpPr txBox="1"/>
          <p:nvPr/>
        </p:nvSpPr>
        <p:spPr>
          <a:xfrm>
            <a:off x="6309360" y="2788920"/>
            <a:ext cx="4023360" cy="731520"/>
          </a:xfrm>
          <a:prstGeom prst="rect">
            <a:avLst/>
          </a:prstGeom>
          <a:solidFill>
            <a:schemeClr val="accent3"/>
          </a:solidFill>
          <a:ln/>
        </p:spPr>
        <p:txBody>
          <a:bodyPr wrap="square" lIns="38100" tIns="38100" rIns="38100" bIns="38100" rtlCol="0" anchor="ctr"/>
          <a:lstStyle/>
          <a:p>
            <a:pPr algn="ctr" indent="0" marL="0">
              <a:buNone/>
            </a:pPr>
            <a:r>
              <a:rPr lang="en-US" sz="1300" b="1" dirty="0">
                <a:solidFill>
                  <a:schemeClr val="bg1"/>
                </a:solidFill>
              </a:rPr>
              <a:t>Millennial Kingdom — 1,000 years</a:t>
            </a:r>
            <a:endParaRPr lang="en-US" sz="1300" dirty="0"/>
          </a:p>
        </p:txBody>
      </p:sp>
      <p:sp>
        <p:nvSpPr>
          <p:cNvPr id="9" name="Text 6"/>
          <p:cNvSpPr txBox="1"/>
          <p:nvPr/>
        </p:nvSpPr>
        <p:spPr>
          <a:xfrm>
            <a:off x="10332720" y="2788920"/>
            <a:ext cx="1325880" cy="731520"/>
          </a:xfrm>
          <a:prstGeom prst="rect">
            <a:avLst/>
          </a:prstGeom>
          <a:solidFill>
            <a:schemeClr val="accent5"/>
          </a:solidFill>
          <a:ln/>
        </p:spPr>
        <p:txBody>
          <a:bodyPr wrap="square" lIns="38100" tIns="38100" rIns="38100" bIns="38100" rtlCol="0" anchor="ctr"/>
          <a:lstStyle/>
          <a:p>
            <a:pPr algn="ctr" indent="0" marL="0">
              <a:buNone/>
            </a:pPr>
            <a:r>
              <a:rPr lang="en-US" sz="1200" b="1" dirty="0">
                <a:solidFill>
                  <a:schemeClr val="bg1"/>
                </a:solidFill>
              </a:rPr>
              <a:t>Eternal</a:t>
            </a:r>
            <a:endParaRPr lang="en-US" sz="1200" dirty="0"/>
          </a:p>
          <a:p>
            <a:pPr algn="ctr" indent="0" marL="0">
              <a:buNone/>
            </a:pPr>
            <a:r>
              <a:rPr lang="en-US" sz="1200" b="1" dirty="0">
                <a:solidFill>
                  <a:schemeClr val="bg1"/>
                </a:solidFill>
              </a:rPr>
              <a:t>State</a:t>
            </a:r>
            <a:endParaRPr lang="en-US" sz="1200" dirty="0"/>
          </a:p>
        </p:txBody>
      </p:sp>
      <p:sp>
        <p:nvSpPr>
          <p:cNvPr id="10" name="Shape 7"/>
          <p:cNvSpPr/>
          <p:nvPr/>
        </p:nvSpPr>
        <p:spPr>
          <a:xfrm>
            <a:off x="1828800" y="1965960"/>
            <a:ext cx="0" cy="128016"/>
          </a:xfrm>
          <a:prstGeom prst="line">
            <a:avLst/>
          </a:prstGeom>
          <a:noFill/>
          <a:ln w="15875">
            <a:solidFill>
              <a:srgbClr val="6B7A8F"/>
            </a:solidFill>
            <a:prstDash val="solid"/>
          </a:ln>
        </p:spPr>
      </p:sp>
      <p:sp>
        <p:nvSpPr>
          <p:cNvPr id="11" name="Shape 8"/>
          <p:cNvSpPr/>
          <p:nvPr/>
        </p:nvSpPr>
        <p:spPr>
          <a:xfrm>
            <a:off x="4709160" y="1965960"/>
            <a:ext cx="0" cy="128016"/>
          </a:xfrm>
          <a:prstGeom prst="line">
            <a:avLst/>
          </a:prstGeom>
          <a:noFill/>
          <a:ln w="15875">
            <a:solidFill>
              <a:srgbClr val="6B7A8F"/>
            </a:solidFill>
            <a:prstDash val="solid"/>
          </a:ln>
        </p:spPr>
      </p:sp>
      <p:sp>
        <p:nvSpPr>
          <p:cNvPr id="12" name="Shape 9"/>
          <p:cNvSpPr/>
          <p:nvPr/>
        </p:nvSpPr>
        <p:spPr>
          <a:xfrm>
            <a:off x="1828800" y="1965960"/>
            <a:ext cx="2880360" cy="0"/>
          </a:xfrm>
          <a:prstGeom prst="line">
            <a:avLst/>
          </a:prstGeom>
          <a:noFill/>
          <a:ln w="19050">
            <a:solidFill>
              <a:srgbClr val="6B7A8F"/>
            </a:solidFill>
            <a:prstDash val="solid"/>
          </a:ln>
        </p:spPr>
      </p:sp>
      <p:sp>
        <p:nvSpPr>
          <p:cNvPr id="13" name="Text 10"/>
          <p:cNvSpPr txBox="1"/>
          <p:nvPr/>
        </p:nvSpPr>
        <p:spPr>
          <a:xfrm>
            <a:off x="548640" y="1636776"/>
            <a:ext cx="6400800" cy="292608"/>
          </a:xfrm>
          <a:prstGeom prst="rect">
            <a:avLst/>
          </a:prstGeom>
          <a:noFill/>
          <a:ln/>
        </p:spPr>
        <p:txBody>
          <a:bodyPr wrap="square" lIns="0" tIns="0" rIns="0" bIns="0" rtlCol="0" anchor="b"/>
          <a:lstStyle/>
          <a:p>
            <a:pPr algn="ctr" indent="0" marL="0">
              <a:buNone/>
            </a:pPr>
            <a:r>
              <a:rPr lang="en-US" sz="1200" b="1" dirty="0">
                <a:solidFill>
                  <a:srgbClr val="6B7A8F"/>
                </a:solidFill>
              </a:rPr>
              <a:t>EZEKIEL 38–39 — three placements held by dispensationalists</a:t>
            </a:r>
            <a:endParaRPr lang="en-US" sz="1200" dirty="0"/>
          </a:p>
        </p:txBody>
      </p:sp>
      <p:sp>
        <p:nvSpPr>
          <p:cNvPr id="14" name="Shape 11"/>
          <p:cNvSpPr/>
          <p:nvPr/>
        </p:nvSpPr>
        <p:spPr>
          <a:xfrm>
            <a:off x="1709928" y="2194560"/>
            <a:ext cx="237744" cy="502920"/>
          </a:xfrm>
          <a:prstGeom prst="downArrow">
            <a:avLst/>
          </a:prstGeom>
          <a:solidFill>
            <a:srgbClr val="6B7A8F"/>
          </a:solidFill>
          <a:ln w="12700">
            <a:solidFill>
              <a:srgbClr val="6B7A8F"/>
            </a:solidFill>
            <a:prstDash val="solid"/>
          </a:ln>
        </p:spPr>
      </p:sp>
      <p:sp>
        <p:nvSpPr>
          <p:cNvPr id="15" name="Shape 12"/>
          <p:cNvSpPr/>
          <p:nvPr/>
        </p:nvSpPr>
        <p:spPr>
          <a:xfrm>
            <a:off x="2990088" y="2194560"/>
            <a:ext cx="237744" cy="502920"/>
          </a:xfrm>
          <a:prstGeom prst="downArrow">
            <a:avLst/>
          </a:prstGeom>
          <a:solidFill>
            <a:srgbClr val="6B7A8F"/>
          </a:solidFill>
          <a:ln w="12700">
            <a:solidFill>
              <a:srgbClr val="6B7A8F"/>
            </a:solidFill>
            <a:prstDash val="solid"/>
          </a:ln>
        </p:spPr>
      </p:sp>
      <p:sp>
        <p:nvSpPr>
          <p:cNvPr id="16" name="Shape 13"/>
          <p:cNvSpPr/>
          <p:nvPr/>
        </p:nvSpPr>
        <p:spPr>
          <a:xfrm>
            <a:off x="4590288" y="2194560"/>
            <a:ext cx="237744" cy="502920"/>
          </a:xfrm>
          <a:prstGeom prst="downArrow">
            <a:avLst/>
          </a:prstGeom>
          <a:solidFill>
            <a:srgbClr val="6B7A8F"/>
          </a:solidFill>
          <a:ln w="12700">
            <a:solidFill>
              <a:srgbClr val="6B7A8F"/>
            </a:solidFill>
            <a:prstDash val="solid"/>
          </a:ln>
        </p:spPr>
      </p:sp>
      <p:sp>
        <p:nvSpPr>
          <p:cNvPr id="17" name="Text 14"/>
          <p:cNvSpPr txBox="1"/>
          <p:nvPr/>
        </p:nvSpPr>
        <p:spPr>
          <a:xfrm>
            <a:off x="1234440" y="3611880"/>
            <a:ext cx="1188720" cy="274320"/>
          </a:xfrm>
          <a:prstGeom prst="rect">
            <a:avLst/>
          </a:prstGeom>
          <a:noFill/>
          <a:ln/>
        </p:spPr>
        <p:txBody>
          <a:bodyPr wrap="square" lIns="0" tIns="0" rIns="0" bIns="0" rtlCol="0" anchor="t"/>
          <a:lstStyle/>
          <a:p>
            <a:pPr algn="ctr" indent="0" marL="0">
              <a:buNone/>
            </a:pPr>
            <a:r>
              <a:rPr lang="en-US" sz="1100" b="1" dirty="0">
                <a:solidFill>
                  <a:schemeClr val="accent6"/>
                </a:solidFill>
              </a:rPr>
              <a:t>before the Tribulation</a:t>
            </a:r>
            <a:endParaRPr lang="en-US" sz="1100" dirty="0"/>
          </a:p>
        </p:txBody>
      </p:sp>
      <p:sp>
        <p:nvSpPr>
          <p:cNvPr id="18" name="Text 15"/>
          <p:cNvSpPr txBox="1"/>
          <p:nvPr/>
        </p:nvSpPr>
        <p:spPr>
          <a:xfrm>
            <a:off x="2514600" y="3611880"/>
            <a:ext cx="1188720" cy="274320"/>
          </a:xfrm>
          <a:prstGeom prst="rect">
            <a:avLst/>
          </a:prstGeom>
          <a:noFill/>
          <a:ln/>
        </p:spPr>
        <p:txBody>
          <a:bodyPr wrap="square" lIns="0" tIns="0" rIns="0" bIns="0" rtlCol="0" anchor="t"/>
          <a:lstStyle/>
          <a:p>
            <a:pPr algn="ctr" indent="0" marL="0">
              <a:buNone/>
            </a:pPr>
            <a:r>
              <a:rPr lang="en-US" sz="1100" b="1" dirty="0">
                <a:solidFill>
                  <a:schemeClr val="accent6"/>
                </a:solidFill>
              </a:rPr>
              <a:t>at its start</a:t>
            </a:r>
            <a:endParaRPr lang="en-US" sz="1100" dirty="0"/>
          </a:p>
        </p:txBody>
      </p:sp>
      <p:sp>
        <p:nvSpPr>
          <p:cNvPr id="19" name="Text 16"/>
          <p:cNvSpPr txBox="1"/>
          <p:nvPr/>
        </p:nvSpPr>
        <p:spPr>
          <a:xfrm>
            <a:off x="4114800" y="3611880"/>
            <a:ext cx="1188720" cy="274320"/>
          </a:xfrm>
          <a:prstGeom prst="rect">
            <a:avLst/>
          </a:prstGeom>
          <a:noFill/>
          <a:ln/>
        </p:spPr>
        <p:txBody>
          <a:bodyPr wrap="square" lIns="0" tIns="0" rIns="0" bIns="0" rtlCol="0" anchor="t"/>
          <a:lstStyle/>
          <a:p>
            <a:pPr algn="ctr" indent="0" marL="0">
              <a:buNone/>
            </a:pPr>
            <a:r>
              <a:rPr lang="en-US" sz="1100" b="1" dirty="0">
                <a:solidFill>
                  <a:schemeClr val="accent6"/>
                </a:solidFill>
              </a:rPr>
              <a:t>at its midpoint</a:t>
            </a:r>
            <a:endParaRPr lang="en-US" sz="1100" dirty="0"/>
          </a:p>
        </p:txBody>
      </p:sp>
      <p:sp>
        <p:nvSpPr>
          <p:cNvPr id="20" name="Shape 17"/>
          <p:cNvSpPr/>
          <p:nvPr/>
        </p:nvSpPr>
        <p:spPr>
          <a:xfrm>
            <a:off x="10195560" y="2194560"/>
            <a:ext cx="274320" cy="502920"/>
          </a:xfrm>
          <a:prstGeom prst="downArrow">
            <a:avLst/>
          </a:prstGeom>
          <a:solidFill>
            <a:srgbClr val="8B2E2E"/>
          </a:solidFill>
          <a:ln w="12700">
            <a:solidFill>
              <a:srgbClr val="8B2E2E"/>
            </a:solidFill>
            <a:prstDash val="solid"/>
          </a:ln>
        </p:spPr>
      </p:sp>
      <p:sp>
        <p:nvSpPr>
          <p:cNvPr id="21" name="Text 18"/>
          <p:cNvSpPr txBox="1"/>
          <p:nvPr/>
        </p:nvSpPr>
        <p:spPr>
          <a:xfrm>
            <a:off x="8595360" y="1600200"/>
            <a:ext cx="2377440" cy="548640"/>
          </a:xfrm>
          <a:prstGeom prst="rect">
            <a:avLst/>
          </a:prstGeom>
          <a:noFill/>
          <a:ln/>
        </p:spPr>
        <p:txBody>
          <a:bodyPr wrap="square" lIns="0" tIns="0" rIns="0" bIns="0" rtlCol="0" anchor="b"/>
          <a:lstStyle/>
          <a:p>
            <a:pPr algn="r" indent="0" marL="0">
              <a:buNone/>
            </a:pPr>
            <a:r>
              <a:rPr lang="en-US" sz="1200" b="1" dirty="0">
                <a:solidFill>
                  <a:schemeClr val="accent4"/>
                </a:solidFill>
              </a:rPr>
              <a:t>REVELATION 20:7–9</a:t>
            </a:r>
            <a:endParaRPr lang="en-US" sz="1200" dirty="0"/>
          </a:p>
          <a:p>
            <a:pPr algn="r" indent="0" marL="0">
              <a:buNone/>
            </a:pPr>
            <a:r>
              <a:rPr lang="en-US" sz="1200" b="1" dirty="0">
                <a:solidFill>
                  <a:schemeClr val="accent4"/>
                </a:solidFill>
              </a:rPr>
              <a:t>after the 1,000 years</a:t>
            </a:r>
            <a:endParaRPr lang="en-US" sz="1200" dirty="0"/>
          </a:p>
        </p:txBody>
      </p:sp>
      <p:sp>
        <p:nvSpPr>
          <p:cNvPr id="22" name="Shape 19"/>
          <p:cNvSpPr/>
          <p:nvPr/>
        </p:nvSpPr>
        <p:spPr>
          <a:xfrm>
            <a:off x="548640" y="4160520"/>
            <a:ext cx="5440680" cy="1325880"/>
          </a:xfrm>
          <a:prstGeom prst="roundRect">
            <a:avLst>
              <a:gd name="adj" fmla="val 5517"/>
            </a:avLst>
          </a:prstGeom>
          <a:solidFill>
            <a:srgbClr val="FFFFFF"/>
          </a:solidFill>
          <a:ln w="15875">
            <a:solidFill>
              <a:srgbClr val="6B7A8F"/>
            </a:solidFill>
            <a:prstDash val="solid"/>
          </a:ln>
        </p:spPr>
      </p:sp>
      <p:sp>
        <p:nvSpPr>
          <p:cNvPr id="23" name="Text 20"/>
          <p:cNvSpPr txBox="1"/>
          <p:nvPr/>
        </p:nvSpPr>
        <p:spPr>
          <a:xfrm>
            <a:off x="731520" y="4251960"/>
            <a:ext cx="5074920" cy="274320"/>
          </a:xfrm>
          <a:prstGeom prst="rect">
            <a:avLst/>
          </a:prstGeom>
          <a:noFill/>
          <a:ln/>
        </p:spPr>
        <p:txBody>
          <a:bodyPr wrap="square" lIns="0" tIns="0" rIns="0" bIns="0" rtlCol="0" anchor="t"/>
          <a:lstStyle/>
          <a:p>
            <a:pPr algn="l" indent="0" marL="0">
              <a:buNone/>
            </a:pPr>
            <a:r>
              <a:rPr lang="en-US" sz="1300" b="1" dirty="0">
                <a:solidFill>
                  <a:srgbClr val="6B7A8F"/>
                </a:solidFill>
              </a:rPr>
              <a:t>Ezekiel 38–39</a:t>
            </a:r>
            <a:endParaRPr lang="en-US" sz="1300" dirty="0"/>
          </a:p>
        </p:txBody>
      </p:sp>
      <p:sp>
        <p:nvSpPr>
          <p:cNvPr id="24" name="Text 21"/>
          <p:cNvSpPr txBox="1"/>
          <p:nvPr/>
        </p:nvSpPr>
        <p:spPr>
          <a:xfrm>
            <a:off x="731520" y="4572000"/>
            <a:ext cx="5074920" cy="868680"/>
          </a:xfrm>
          <a:prstGeom prst="rect">
            <a:avLst/>
          </a:prstGeom>
          <a:noFill/>
          <a:ln/>
        </p:spPr>
        <p:txBody>
          <a:bodyPr wrap="square" lIns="0" tIns="0" rIns="0" bIns="0" rtlCol="0" anchor="t"/>
          <a:lstStyle/>
          <a:p>
            <a:pPr marL="342900" indent="-342900">
              <a:spcAft>
                <a:spcPts val="200"/>
              </a:spcAft>
              <a:buSzPct val="100000"/>
              <a:buChar char="•"/>
            </a:pPr>
            <a:r>
              <a:rPr lang="en-US" sz="1200" dirty="0">
                <a:solidFill>
                  <a:schemeClr val="tx1"/>
                </a:solidFill>
              </a:rPr>
              <a:t>A northern coalition invades Israel</a:t>
            </a:r>
            <a:endParaRPr lang="en-US" sz="1200" dirty="0"/>
          </a:p>
          <a:p>
            <a:pPr marL="342900" indent="-342900">
              <a:spcAft>
                <a:spcPts val="200"/>
              </a:spcAft>
              <a:buSzPct val="100000"/>
              <a:buChar char="•"/>
            </a:pPr>
            <a:r>
              <a:rPr lang="en-US" sz="1200" dirty="0">
                <a:solidFill>
                  <a:schemeClr val="tx1"/>
                </a:solidFill>
              </a:rPr>
              <a:t>Destroyed by earthquake, hail, fire and plague</a:t>
            </a:r>
            <a:endParaRPr lang="en-US" sz="1200" dirty="0"/>
          </a:p>
          <a:p>
            <a:pPr marL="342900" indent="-342900">
              <a:spcAft>
                <a:spcPts val="200"/>
              </a:spcAft>
              <a:buSzPct val="100000"/>
              <a:buChar char="•"/>
            </a:pPr>
            <a:r>
              <a:rPr lang="en-US" sz="1200" dirty="0">
                <a:solidFill>
                  <a:schemeClr val="tx1"/>
                </a:solidFill>
              </a:rPr>
              <a:t>Before the Millennium</a:t>
            </a:r>
            <a:endParaRPr lang="en-US" sz="1200" dirty="0"/>
          </a:p>
        </p:txBody>
      </p:sp>
      <p:sp>
        <p:nvSpPr>
          <p:cNvPr id="25" name="Shape 22"/>
          <p:cNvSpPr/>
          <p:nvPr/>
        </p:nvSpPr>
        <p:spPr>
          <a:xfrm>
            <a:off x="6217920" y="4160520"/>
            <a:ext cx="5440680" cy="1325880"/>
          </a:xfrm>
          <a:prstGeom prst="roundRect">
            <a:avLst>
              <a:gd name="adj" fmla="val 5517"/>
            </a:avLst>
          </a:prstGeom>
          <a:solidFill>
            <a:srgbClr val="FFFFFF"/>
          </a:solidFill>
          <a:ln w="15875">
            <a:solidFill>
              <a:srgbClr val="8B2E2E"/>
            </a:solidFill>
            <a:prstDash val="solid"/>
          </a:ln>
        </p:spPr>
      </p:sp>
      <p:sp>
        <p:nvSpPr>
          <p:cNvPr id="26" name="Text 23"/>
          <p:cNvSpPr txBox="1"/>
          <p:nvPr/>
        </p:nvSpPr>
        <p:spPr>
          <a:xfrm>
            <a:off x="6400800" y="4251960"/>
            <a:ext cx="5074920" cy="274320"/>
          </a:xfrm>
          <a:prstGeom prst="rect">
            <a:avLst/>
          </a:prstGeom>
          <a:noFill/>
          <a:ln/>
        </p:spPr>
        <p:txBody>
          <a:bodyPr wrap="square" lIns="0" tIns="0" rIns="0" bIns="0" rtlCol="0" anchor="t"/>
          <a:lstStyle/>
          <a:p>
            <a:pPr algn="l" indent="0" marL="0">
              <a:buNone/>
            </a:pPr>
            <a:r>
              <a:rPr lang="en-US" sz="1300" b="1" dirty="0">
                <a:solidFill>
                  <a:srgbClr val="8B2E2E"/>
                </a:solidFill>
              </a:rPr>
              <a:t>Revelation 20:7–9</a:t>
            </a:r>
            <a:endParaRPr lang="en-US" sz="1300" dirty="0"/>
          </a:p>
        </p:txBody>
      </p:sp>
      <p:sp>
        <p:nvSpPr>
          <p:cNvPr id="27" name="Text 24"/>
          <p:cNvSpPr txBox="1"/>
          <p:nvPr/>
        </p:nvSpPr>
        <p:spPr>
          <a:xfrm>
            <a:off x="6400800" y="4572000"/>
            <a:ext cx="5074920" cy="868680"/>
          </a:xfrm>
          <a:prstGeom prst="rect">
            <a:avLst/>
          </a:prstGeom>
          <a:noFill/>
          <a:ln/>
        </p:spPr>
        <p:txBody>
          <a:bodyPr wrap="square" lIns="0" tIns="0" rIns="0" bIns="0" rtlCol="0" anchor="t"/>
          <a:lstStyle/>
          <a:p>
            <a:pPr marL="342900" indent="-342900">
              <a:spcAft>
                <a:spcPts val="200"/>
              </a:spcAft>
              <a:buSzPct val="100000"/>
              <a:buChar char="•"/>
            </a:pPr>
            <a:r>
              <a:rPr lang="en-US" sz="1200" dirty="0">
                <a:solidFill>
                  <a:schemeClr val="tx1"/>
                </a:solidFill>
              </a:rPr>
              <a:t>Satan released; nations from the four corners</a:t>
            </a:r>
            <a:endParaRPr lang="en-US" sz="1200" dirty="0"/>
          </a:p>
          <a:p>
            <a:pPr marL="342900" indent="-342900">
              <a:spcAft>
                <a:spcPts val="200"/>
              </a:spcAft>
              <a:buSzPct val="100000"/>
              <a:buChar char="•"/>
            </a:pPr>
            <a:r>
              <a:rPr lang="en-US" sz="1200" dirty="0">
                <a:solidFill>
                  <a:schemeClr val="tx1"/>
                </a:solidFill>
              </a:rPr>
              <a:t>Surround Jerusalem; fire from heaven</a:t>
            </a:r>
            <a:endParaRPr lang="en-US" sz="1200" dirty="0"/>
          </a:p>
          <a:p>
            <a:pPr marL="342900" indent="-342900">
              <a:spcAft>
                <a:spcPts val="200"/>
              </a:spcAft>
              <a:buSzPct val="100000"/>
              <a:buChar char="•"/>
            </a:pPr>
            <a:r>
              <a:rPr lang="en-US" sz="1200" dirty="0">
                <a:solidFill>
                  <a:schemeClr val="tx1"/>
                </a:solidFill>
              </a:rPr>
              <a:t>After the Millennium — the name used typologically</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11155680" cy="621792"/>
          </a:xfrm>
          <a:prstGeom prst="rect">
            <a:avLst/>
          </a:prstGeom>
          <a:noFill/>
          <a:ln/>
        </p:spPr>
        <p:txBody>
          <a:bodyPr wrap="square" lIns="0" tIns="0" rIns="0" bIns="0" rtlCol="0" anchor="ctr"/>
          <a:lstStyle/>
          <a:p>
            <a:pPr algn="l" indent="0" marL="0">
              <a:buNone/>
            </a:pPr>
            <a:r>
              <a:rPr lang="en-US" sz="3400" b="1" dirty="0">
                <a:solidFill>
                  <a:srgbClr val="1F3864"/>
                </a:solidFill>
              </a:rPr>
              <a:t>“Then Comes the End”</a:t>
            </a:r>
            <a:endParaRPr lang="en-US" sz="3400" dirty="0"/>
          </a:p>
        </p:txBody>
      </p:sp>
      <p:sp>
        <p:nvSpPr>
          <p:cNvPr id="3" name="Text 1"/>
          <p:cNvSpPr/>
          <p:nvPr>
            <p:ph idx="102" type="body" hasCustomPrompt="1"/>
          </p:nvPr>
        </p:nvSpPr>
        <p:spPr>
          <a:xfrm>
            <a:off x="502920" y="914400"/>
            <a:ext cx="11155680" cy="347472"/>
          </a:xfrm>
          <a:prstGeom prst="rect">
            <a:avLst/>
          </a:prstGeom>
          <a:noFill/>
          <a:ln/>
        </p:spPr>
        <p:txBody>
          <a:bodyPr wrap="square" lIns="0" tIns="0" rIns="0" bIns="0" rtlCol="0" anchor="ctr"/>
          <a:lstStyle/>
          <a:p>
            <a:pPr indent="0" marL="0">
              <a:buNone/>
            </a:pPr>
            <a:r>
              <a:rPr lang="en-US" sz="1400" i="1" dirty="0">
                <a:solidFill>
                  <a:srgbClr val="6B7A8F"/>
                </a:solidFill>
              </a:rPr>
              <a:t>1 Corinthians 15:24–28  ·  from the Millennial Kingdom to the eternal state</a:t>
            </a:r>
            <a:endParaRPr lang="en-US" sz="1400" dirty="0"/>
          </a:p>
        </p:txBody>
      </p:sp>
      <p:sp>
        <p:nvSpPr>
          <p:cNvPr id="5" name="Shape 2"/>
          <p:cNvSpPr/>
          <p:nvPr/>
        </p:nvSpPr>
        <p:spPr>
          <a:xfrm>
            <a:off x="548640" y="1554480"/>
            <a:ext cx="3566160" cy="685800"/>
          </a:xfrm>
          <a:prstGeom prst="chevron">
            <a:avLst/>
          </a:prstGeom>
          <a:solidFill>
            <a:srgbClr val="B8892B"/>
          </a:solidFill>
          <a:ln w="12700">
            <a:solidFill>
              <a:srgbClr val="B8892B"/>
            </a:solidFill>
            <a:prstDash val="solid"/>
          </a:ln>
        </p:spPr>
      </p:sp>
      <p:sp>
        <p:nvSpPr>
          <p:cNvPr id="6" name="Text 3"/>
          <p:cNvSpPr txBox="1"/>
          <p:nvPr/>
        </p:nvSpPr>
        <p:spPr>
          <a:xfrm>
            <a:off x="868680" y="1554480"/>
            <a:ext cx="2926080" cy="685800"/>
          </a:xfrm>
          <a:prstGeom prst="rect">
            <a:avLst/>
          </a:prstGeom>
          <a:noFill/>
          <a:ln/>
        </p:spPr>
        <p:txBody>
          <a:bodyPr wrap="square" lIns="0" tIns="0" rIns="0" bIns="0" rtlCol="0" anchor="ctr"/>
          <a:lstStyle/>
          <a:p>
            <a:pPr algn="ctr" indent="0" marL="0">
              <a:buNone/>
            </a:pPr>
            <a:r>
              <a:rPr lang="en-US" sz="1300" b="1" dirty="0">
                <a:solidFill>
                  <a:srgbClr val="FFFFFF"/>
                </a:solidFill>
              </a:rPr>
              <a:t>1  CHRIST REIGNS</a:t>
            </a:r>
            <a:endParaRPr lang="en-US" sz="1300" dirty="0"/>
          </a:p>
        </p:txBody>
      </p:sp>
      <p:sp>
        <p:nvSpPr>
          <p:cNvPr id="7" name="Shape 4"/>
          <p:cNvSpPr/>
          <p:nvPr/>
        </p:nvSpPr>
        <p:spPr>
          <a:xfrm>
            <a:off x="548640" y="2468880"/>
            <a:ext cx="3383280" cy="1874520"/>
          </a:xfrm>
          <a:prstGeom prst="roundRect">
            <a:avLst>
              <a:gd name="adj" fmla="val 3902"/>
            </a:avLst>
          </a:prstGeom>
          <a:solidFill>
            <a:srgbClr val="FFFFFF"/>
          </a:solidFill>
          <a:ln w="15875">
            <a:solidFill>
              <a:srgbClr val="B8892B"/>
            </a:solidFill>
            <a:prstDash val="solid"/>
          </a:ln>
        </p:spPr>
      </p:sp>
      <p:sp>
        <p:nvSpPr>
          <p:cNvPr id="8" name="Text 5"/>
          <p:cNvSpPr txBox="1"/>
          <p:nvPr/>
        </p:nvSpPr>
        <p:spPr>
          <a:xfrm>
            <a:off x="731520" y="2606040"/>
            <a:ext cx="3017520" cy="1097280"/>
          </a:xfrm>
          <a:prstGeom prst="rect">
            <a:avLst/>
          </a:prstGeom>
          <a:noFill/>
          <a:ln/>
        </p:spPr>
        <p:txBody>
          <a:bodyPr wrap="square" lIns="0" tIns="0" rIns="0" bIns="0" rtlCol="0" anchor="t"/>
          <a:lstStyle/>
          <a:p>
            <a:pPr algn="l" indent="0" marL="0">
              <a:buNone/>
            </a:pPr>
            <a:r>
              <a:rPr lang="en-US" sz="1300" i="1" dirty="0">
                <a:solidFill>
                  <a:schemeClr val="tx1"/>
                </a:solidFill>
              </a:rPr>
              <a:t>“He must reign until He has put all His enemies under His feet” (v. 25)</a:t>
            </a:r>
            <a:endParaRPr lang="en-US" sz="1300" dirty="0"/>
          </a:p>
        </p:txBody>
      </p:sp>
      <p:sp>
        <p:nvSpPr>
          <p:cNvPr id="9" name="Text 6"/>
          <p:cNvSpPr txBox="1"/>
          <p:nvPr/>
        </p:nvSpPr>
        <p:spPr>
          <a:xfrm>
            <a:off x="731520" y="3520440"/>
            <a:ext cx="3017520" cy="822960"/>
          </a:xfrm>
          <a:prstGeom prst="rect">
            <a:avLst/>
          </a:prstGeom>
          <a:noFill/>
          <a:ln/>
        </p:spPr>
        <p:txBody>
          <a:bodyPr wrap="square" lIns="0" tIns="0" rIns="0" bIns="0" rtlCol="0" anchor="t"/>
          <a:lstStyle/>
          <a:p>
            <a:pPr algn="l" indent="0" marL="0">
              <a:buNone/>
            </a:pPr>
            <a:r>
              <a:rPr lang="en-US" sz="1200" b="1" dirty="0">
                <a:solidFill>
                  <a:srgbClr val="8A6A1E"/>
                </a:solidFill>
              </a:rPr>
              <a:t>The Millennium; the final rebellion crushed (Section X.A)</a:t>
            </a:r>
            <a:endParaRPr lang="en-US" sz="1200" dirty="0"/>
          </a:p>
        </p:txBody>
      </p:sp>
      <p:sp>
        <p:nvSpPr>
          <p:cNvPr id="10" name="Shape 7"/>
          <p:cNvSpPr/>
          <p:nvPr/>
        </p:nvSpPr>
        <p:spPr>
          <a:xfrm>
            <a:off x="4297680" y="1554480"/>
            <a:ext cx="3566160" cy="685800"/>
          </a:xfrm>
          <a:prstGeom prst="chevron">
            <a:avLst/>
          </a:prstGeom>
          <a:solidFill>
            <a:srgbClr val="8B2E2E"/>
          </a:solidFill>
          <a:ln w="12700">
            <a:solidFill>
              <a:srgbClr val="8B2E2E"/>
            </a:solidFill>
            <a:prstDash val="solid"/>
          </a:ln>
        </p:spPr>
      </p:sp>
      <p:sp>
        <p:nvSpPr>
          <p:cNvPr id="11" name="Text 8"/>
          <p:cNvSpPr txBox="1"/>
          <p:nvPr/>
        </p:nvSpPr>
        <p:spPr>
          <a:xfrm>
            <a:off x="4617720" y="1554480"/>
            <a:ext cx="2926080" cy="685800"/>
          </a:xfrm>
          <a:prstGeom prst="rect">
            <a:avLst/>
          </a:prstGeom>
          <a:noFill/>
          <a:ln/>
        </p:spPr>
        <p:txBody>
          <a:bodyPr wrap="square" lIns="0" tIns="0" rIns="0" bIns="0" rtlCol="0" anchor="ctr"/>
          <a:lstStyle/>
          <a:p>
            <a:pPr algn="ctr" indent="0" marL="0">
              <a:buNone/>
            </a:pPr>
            <a:r>
              <a:rPr lang="en-US" sz="1300" b="1" dirty="0">
                <a:solidFill>
                  <a:srgbClr val="FFFFFF"/>
                </a:solidFill>
              </a:rPr>
              <a:t>2  THE LAST ENEMY ABOLISHED</a:t>
            </a:r>
            <a:endParaRPr lang="en-US" sz="1300" dirty="0"/>
          </a:p>
        </p:txBody>
      </p:sp>
      <p:sp>
        <p:nvSpPr>
          <p:cNvPr id="12" name="Shape 9"/>
          <p:cNvSpPr/>
          <p:nvPr/>
        </p:nvSpPr>
        <p:spPr>
          <a:xfrm>
            <a:off x="4297680" y="2468880"/>
            <a:ext cx="3383280" cy="1874520"/>
          </a:xfrm>
          <a:prstGeom prst="roundRect">
            <a:avLst>
              <a:gd name="adj" fmla="val 3902"/>
            </a:avLst>
          </a:prstGeom>
          <a:solidFill>
            <a:srgbClr val="FFFFFF"/>
          </a:solidFill>
          <a:ln w="15875">
            <a:solidFill>
              <a:srgbClr val="8B2E2E"/>
            </a:solidFill>
            <a:prstDash val="solid"/>
          </a:ln>
        </p:spPr>
      </p:sp>
      <p:sp>
        <p:nvSpPr>
          <p:cNvPr id="13" name="Text 10"/>
          <p:cNvSpPr txBox="1"/>
          <p:nvPr/>
        </p:nvSpPr>
        <p:spPr>
          <a:xfrm>
            <a:off x="4480560" y="2606040"/>
            <a:ext cx="3017520" cy="1097280"/>
          </a:xfrm>
          <a:prstGeom prst="rect">
            <a:avLst/>
          </a:prstGeom>
          <a:noFill/>
          <a:ln/>
        </p:spPr>
        <p:txBody>
          <a:bodyPr wrap="square" lIns="0" tIns="0" rIns="0" bIns="0" rtlCol="0" anchor="t"/>
          <a:lstStyle/>
          <a:p>
            <a:pPr algn="l" indent="0" marL="0">
              <a:buNone/>
            </a:pPr>
            <a:r>
              <a:rPr lang="en-US" sz="1300" i="1" dirty="0">
                <a:solidFill>
                  <a:schemeClr val="tx1"/>
                </a:solidFill>
              </a:rPr>
              <a:t>“The last enemy that will be abolished is death” (v. 26)</a:t>
            </a:r>
            <a:endParaRPr lang="en-US" sz="1300" dirty="0"/>
          </a:p>
        </p:txBody>
      </p:sp>
      <p:sp>
        <p:nvSpPr>
          <p:cNvPr id="14" name="Text 11"/>
          <p:cNvSpPr txBox="1"/>
          <p:nvPr/>
        </p:nvSpPr>
        <p:spPr>
          <a:xfrm>
            <a:off x="4480560" y="3520440"/>
            <a:ext cx="3017520" cy="822960"/>
          </a:xfrm>
          <a:prstGeom prst="rect">
            <a:avLst/>
          </a:prstGeom>
          <a:noFill/>
          <a:ln/>
        </p:spPr>
        <p:txBody>
          <a:bodyPr wrap="square" lIns="0" tIns="0" rIns="0" bIns="0" rtlCol="0" anchor="t"/>
          <a:lstStyle/>
          <a:p>
            <a:pPr algn="l" indent="0" marL="0">
              <a:buNone/>
            </a:pPr>
            <a:r>
              <a:rPr lang="en-US" sz="1200" b="1" dirty="0">
                <a:solidFill>
                  <a:srgbClr val="8B2E2E"/>
                </a:solidFill>
              </a:rPr>
              <a:t>Death and Hades thrown into the lake of fire (Rev 20:14)</a:t>
            </a:r>
            <a:endParaRPr lang="en-US" sz="1200" dirty="0"/>
          </a:p>
        </p:txBody>
      </p:sp>
      <p:sp>
        <p:nvSpPr>
          <p:cNvPr id="15" name="Shape 12"/>
          <p:cNvSpPr/>
          <p:nvPr/>
        </p:nvSpPr>
        <p:spPr>
          <a:xfrm>
            <a:off x="8046720" y="1554480"/>
            <a:ext cx="3566160" cy="685800"/>
          </a:xfrm>
          <a:prstGeom prst="chevron">
            <a:avLst/>
          </a:prstGeom>
          <a:solidFill>
            <a:srgbClr val="7030A0"/>
          </a:solidFill>
          <a:ln w="12700">
            <a:solidFill>
              <a:srgbClr val="7030A0"/>
            </a:solidFill>
            <a:prstDash val="solid"/>
          </a:ln>
        </p:spPr>
      </p:sp>
      <p:sp>
        <p:nvSpPr>
          <p:cNvPr id="16" name="Text 13"/>
          <p:cNvSpPr txBox="1"/>
          <p:nvPr/>
        </p:nvSpPr>
        <p:spPr>
          <a:xfrm>
            <a:off x="8366760" y="1554480"/>
            <a:ext cx="2926080" cy="685800"/>
          </a:xfrm>
          <a:prstGeom prst="rect">
            <a:avLst/>
          </a:prstGeom>
          <a:noFill/>
          <a:ln/>
        </p:spPr>
        <p:txBody>
          <a:bodyPr wrap="square" lIns="0" tIns="0" rIns="0" bIns="0" rtlCol="0" anchor="ctr"/>
          <a:lstStyle/>
          <a:p>
            <a:pPr algn="ctr" indent="0" marL="0">
              <a:buNone/>
            </a:pPr>
            <a:r>
              <a:rPr lang="en-US" sz="1300" b="1" dirty="0">
                <a:solidFill>
                  <a:srgbClr val="FFFFFF"/>
                </a:solidFill>
              </a:rPr>
              <a:t>3  THE KINGDOM HANDED OVER</a:t>
            </a:r>
            <a:endParaRPr lang="en-US" sz="1300" dirty="0"/>
          </a:p>
        </p:txBody>
      </p:sp>
      <p:sp>
        <p:nvSpPr>
          <p:cNvPr id="17" name="Shape 14"/>
          <p:cNvSpPr/>
          <p:nvPr/>
        </p:nvSpPr>
        <p:spPr>
          <a:xfrm>
            <a:off x="8046720" y="2468880"/>
            <a:ext cx="3383280" cy="1874520"/>
          </a:xfrm>
          <a:prstGeom prst="roundRect">
            <a:avLst>
              <a:gd name="adj" fmla="val 3902"/>
            </a:avLst>
          </a:prstGeom>
          <a:solidFill>
            <a:srgbClr val="FFFFFF"/>
          </a:solidFill>
          <a:ln w="15875">
            <a:solidFill>
              <a:srgbClr val="7030A0"/>
            </a:solidFill>
            <a:prstDash val="solid"/>
          </a:ln>
        </p:spPr>
      </p:sp>
      <p:sp>
        <p:nvSpPr>
          <p:cNvPr id="18" name="Text 15"/>
          <p:cNvSpPr txBox="1"/>
          <p:nvPr/>
        </p:nvSpPr>
        <p:spPr>
          <a:xfrm>
            <a:off x="8229600" y="2606040"/>
            <a:ext cx="3017520" cy="1097280"/>
          </a:xfrm>
          <a:prstGeom prst="rect">
            <a:avLst/>
          </a:prstGeom>
          <a:noFill/>
          <a:ln/>
        </p:spPr>
        <p:txBody>
          <a:bodyPr wrap="square" lIns="0" tIns="0" rIns="0" bIns="0" rtlCol="0" anchor="t"/>
          <a:lstStyle/>
          <a:p>
            <a:pPr algn="l" indent="0" marL="0">
              <a:buNone/>
            </a:pPr>
            <a:r>
              <a:rPr lang="en-US" sz="1300" i="1" dirty="0">
                <a:solidFill>
                  <a:schemeClr val="tx1"/>
                </a:solidFill>
              </a:rPr>
              <a:t>“He hands over the kingdom to the God and Father… that God may be all in all” (vv. 24, 28)</a:t>
            </a:r>
            <a:endParaRPr lang="en-US" sz="1300" dirty="0"/>
          </a:p>
        </p:txBody>
      </p:sp>
      <p:sp>
        <p:nvSpPr>
          <p:cNvPr id="19" name="Text 16"/>
          <p:cNvSpPr txBox="1"/>
          <p:nvPr/>
        </p:nvSpPr>
        <p:spPr>
          <a:xfrm>
            <a:off x="8229600" y="3520440"/>
            <a:ext cx="3017520" cy="822960"/>
          </a:xfrm>
          <a:prstGeom prst="rect">
            <a:avLst/>
          </a:prstGeom>
          <a:noFill/>
          <a:ln/>
        </p:spPr>
        <p:txBody>
          <a:bodyPr wrap="square" lIns="0" tIns="0" rIns="0" bIns="0" rtlCol="0" anchor="t"/>
          <a:lstStyle/>
          <a:p>
            <a:pPr algn="l" indent="0" marL="0">
              <a:buNone/>
            </a:pPr>
            <a:r>
              <a:rPr lang="en-US" sz="1200" b="1" dirty="0">
                <a:solidFill>
                  <a:srgbClr val="7030A0"/>
                </a:solidFill>
              </a:rPr>
              <a:t>The eternal state; “the throne of God and of the Lamb” (Rev 22:3)</a:t>
            </a:r>
            <a:endParaRPr lang="en-US" sz="1200" dirty="0"/>
          </a:p>
        </p:txBody>
      </p:sp>
      <p:sp>
        <p:nvSpPr>
          <p:cNvPr id="20" name="Text 17"/>
          <p:cNvSpPr txBox="1"/>
          <p:nvPr/>
        </p:nvSpPr>
        <p:spPr>
          <a:xfrm>
            <a:off x="548640" y="4617720"/>
            <a:ext cx="11109960" cy="685800"/>
          </a:xfrm>
          <a:prstGeom prst="roundRect">
            <a:avLst>
              <a:gd name="adj" fmla="val 10667"/>
            </a:avLst>
          </a:prstGeom>
          <a:solidFill>
            <a:srgbClr val="EEF1F6"/>
          </a:solidFill>
          <a:ln/>
        </p:spPr>
        <p:txBody>
          <a:bodyPr wrap="square" lIns="38100" tIns="38100" rIns="38100" bIns="38100" rtlCol="0" anchor="ctr"/>
          <a:lstStyle/>
          <a:p>
            <a:pPr algn="ctr" indent="0" marL="0">
              <a:buNone/>
            </a:pPr>
            <a:r>
              <a:rPr lang="en-US" sz="1300" dirty="0">
                <a:solidFill>
                  <a:schemeClr val="tx2"/>
                </a:solidFill>
              </a:rPr>
              <a:t>Not the end of Christ’s reign — “His kingdom will have no end” (Luke 1:33) — but the completion of His mediatorial kingdom program (Pentecost; Walvoord).</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11155680" cy="621792"/>
          </a:xfrm>
          <a:prstGeom prst="rect">
            <a:avLst/>
          </a:prstGeom>
          <a:noFill/>
          <a:ln/>
        </p:spPr>
        <p:txBody>
          <a:bodyPr wrap="square" lIns="0" tIns="0" rIns="0" bIns="0" rtlCol="0" anchor="ctr"/>
          <a:lstStyle/>
          <a:p>
            <a:pPr algn="l" indent="0" marL="0">
              <a:buNone/>
            </a:pPr>
            <a:r>
              <a:rPr lang="en-US" sz="3400" b="1" dirty="0">
                <a:solidFill>
                  <a:srgbClr val="1F3864"/>
                </a:solidFill>
              </a:rPr>
              <a:t>From Eden to the New Jerusalem</a:t>
            </a:r>
            <a:endParaRPr lang="en-US" sz="3400" dirty="0"/>
          </a:p>
        </p:txBody>
      </p:sp>
      <p:sp>
        <p:nvSpPr>
          <p:cNvPr id="3" name="Text 1"/>
          <p:cNvSpPr/>
          <p:nvPr>
            <p:ph idx="102" type="body" hasCustomPrompt="1"/>
          </p:nvPr>
        </p:nvSpPr>
        <p:spPr>
          <a:xfrm>
            <a:off x="502920" y="914400"/>
            <a:ext cx="11155680" cy="347472"/>
          </a:xfrm>
          <a:prstGeom prst="rect">
            <a:avLst/>
          </a:prstGeom>
          <a:noFill/>
          <a:ln/>
        </p:spPr>
        <p:txBody>
          <a:bodyPr wrap="square" lIns="0" tIns="0" rIns="0" bIns="0" rtlCol="0" anchor="ctr"/>
          <a:lstStyle/>
          <a:p>
            <a:pPr indent="0" marL="0">
              <a:buNone/>
            </a:pPr>
            <a:r>
              <a:rPr lang="en-US" sz="1400" i="1" dirty="0">
                <a:solidFill>
                  <a:srgbClr val="6B7A8F"/>
                </a:solidFill>
              </a:rPr>
              <a:t>What sin corrupted in a garden, God restores — and exceeds — in a city</a:t>
            </a:r>
            <a:endParaRPr lang="en-US" sz="1400" dirty="0"/>
          </a:p>
        </p:txBody>
      </p:sp>
      <p:sp>
        <p:nvSpPr>
          <p:cNvPr id="5" name="Text 2"/>
          <p:cNvSpPr txBox="1"/>
          <p:nvPr/>
        </p:nvSpPr>
        <p:spPr>
          <a:xfrm>
            <a:off x="1783080" y="1572768"/>
            <a:ext cx="4069080" cy="438912"/>
          </a:xfrm>
          <a:prstGeom prst="roundRect">
            <a:avLst>
              <a:gd name="adj" fmla="val 16667"/>
            </a:avLst>
          </a:prstGeom>
          <a:solidFill>
            <a:schemeClr val="accent1"/>
          </a:solidFill>
          <a:ln/>
        </p:spPr>
        <p:txBody>
          <a:bodyPr wrap="square" lIns="38100" tIns="38100" rIns="38100" bIns="38100" rtlCol="0" anchor="ctr"/>
          <a:lstStyle/>
          <a:p>
            <a:pPr algn="ctr" indent="0" marL="0">
              <a:buNone/>
            </a:pPr>
            <a:r>
              <a:rPr lang="en-US" sz="1300" b="1" dirty="0">
                <a:solidFill>
                  <a:schemeClr val="bg1"/>
                </a:solidFill>
              </a:rPr>
              <a:t>GENESIS 1–3  ·  the garden</a:t>
            </a:r>
            <a:endParaRPr lang="en-US" sz="1300" dirty="0"/>
          </a:p>
        </p:txBody>
      </p:sp>
      <p:sp>
        <p:nvSpPr>
          <p:cNvPr id="6" name="Text 3"/>
          <p:cNvSpPr txBox="1"/>
          <p:nvPr/>
        </p:nvSpPr>
        <p:spPr>
          <a:xfrm>
            <a:off x="7223760" y="1572768"/>
            <a:ext cx="4069080" cy="438912"/>
          </a:xfrm>
          <a:prstGeom prst="roundRect">
            <a:avLst>
              <a:gd name="adj" fmla="val 16667"/>
            </a:avLst>
          </a:prstGeom>
          <a:solidFill>
            <a:schemeClr val="accent3"/>
          </a:solidFill>
          <a:ln/>
        </p:spPr>
        <p:txBody>
          <a:bodyPr wrap="square" lIns="38100" tIns="38100" rIns="38100" bIns="38100" rtlCol="0" anchor="ctr"/>
          <a:lstStyle/>
          <a:p>
            <a:pPr algn="ctr" indent="0" marL="0">
              <a:buNone/>
            </a:pPr>
            <a:r>
              <a:rPr lang="en-US" sz="1300" b="1" dirty="0">
                <a:solidFill>
                  <a:schemeClr val="bg1"/>
                </a:solidFill>
              </a:rPr>
              <a:t>REVELATION 21–22  ·  the city</a:t>
            </a:r>
            <a:endParaRPr lang="en-US" sz="1300" dirty="0"/>
          </a:p>
        </p:txBody>
      </p:sp>
      <p:sp>
        <p:nvSpPr>
          <p:cNvPr id="7" name="Text 4"/>
          <p:cNvSpPr txBox="1"/>
          <p:nvPr/>
        </p:nvSpPr>
        <p:spPr>
          <a:xfrm>
            <a:off x="411480" y="2304288"/>
            <a:ext cx="1280160" cy="292608"/>
          </a:xfrm>
          <a:prstGeom prst="rect">
            <a:avLst/>
          </a:prstGeom>
          <a:noFill/>
          <a:ln/>
        </p:spPr>
        <p:txBody>
          <a:bodyPr wrap="square" lIns="0" tIns="0" rIns="0" bIns="0" rtlCol="0" anchor="t"/>
          <a:lstStyle/>
          <a:p>
            <a:pPr algn="l" indent="0" marL="0">
              <a:buNone/>
            </a:pPr>
            <a:r>
              <a:rPr lang="en-US" sz="1100" b="1" dirty="0">
                <a:solidFill>
                  <a:schemeClr val="tx2"/>
                </a:solidFill>
              </a:rPr>
              <a:t>THE RIVER</a:t>
            </a:r>
            <a:endParaRPr lang="en-US" sz="1100" dirty="0"/>
          </a:p>
        </p:txBody>
      </p:sp>
      <p:sp>
        <p:nvSpPr>
          <p:cNvPr id="8" name="Text 5"/>
          <p:cNvSpPr txBox="1"/>
          <p:nvPr/>
        </p:nvSpPr>
        <p:spPr>
          <a:xfrm>
            <a:off x="1783080" y="2139696"/>
            <a:ext cx="4069080" cy="603504"/>
          </a:xfrm>
          <a:prstGeom prst="rect">
            <a:avLst/>
          </a:prstGeom>
          <a:solidFill>
            <a:srgbClr val="FFFFFF"/>
          </a:solidFill>
          <a:ln w="12700">
            <a:solidFill>
              <a:srgbClr val="2E5496"/>
            </a:solidFill>
          </a:ln>
        </p:spPr>
        <p:txBody>
          <a:bodyPr wrap="square" lIns="38100" tIns="38100" rIns="38100" bIns="38100" rtlCol="0" anchor="ctr"/>
          <a:lstStyle/>
          <a:p>
            <a:pPr algn="ctr" indent="0" marL="0">
              <a:buNone/>
            </a:pPr>
            <a:r>
              <a:rPr lang="en-US" sz="1200" dirty="0">
                <a:solidFill>
                  <a:schemeClr val="tx1"/>
                </a:solidFill>
              </a:rPr>
              <a:t>A river flows out of Eden</a:t>
            </a:r>
            <a:endParaRPr lang="en-US" sz="1200" dirty="0"/>
          </a:p>
          <a:p>
            <a:pPr algn="ctr" indent="0" marL="0">
              <a:buNone/>
            </a:pPr>
            <a:r>
              <a:rPr lang="en-US" sz="1200" dirty="0">
                <a:solidFill>
                  <a:schemeClr val="tx1"/>
                </a:solidFill>
              </a:rPr>
              <a:t>Gen 2:10</a:t>
            </a:r>
            <a:endParaRPr lang="en-US" sz="1200" dirty="0"/>
          </a:p>
        </p:txBody>
      </p:sp>
      <p:sp>
        <p:nvSpPr>
          <p:cNvPr id="9" name="Text 6"/>
          <p:cNvSpPr txBox="1"/>
          <p:nvPr/>
        </p:nvSpPr>
        <p:spPr>
          <a:xfrm>
            <a:off x="7223760" y="2139696"/>
            <a:ext cx="4069080" cy="603504"/>
          </a:xfrm>
          <a:prstGeom prst="rect">
            <a:avLst/>
          </a:prstGeom>
          <a:solidFill>
            <a:srgbClr val="FFFFFF"/>
          </a:solidFill>
          <a:ln w="12700">
            <a:solidFill>
              <a:srgbClr val="B8892B"/>
            </a:solidFill>
          </a:ln>
        </p:spPr>
        <p:txBody>
          <a:bodyPr wrap="square" lIns="38100" tIns="38100" rIns="38100" bIns="38100" rtlCol="0" anchor="ctr"/>
          <a:lstStyle/>
          <a:p>
            <a:pPr algn="ctr" indent="0" marL="0">
              <a:buNone/>
            </a:pPr>
            <a:r>
              <a:rPr lang="en-US" sz="1200" dirty="0">
                <a:solidFill>
                  <a:schemeClr val="tx1"/>
                </a:solidFill>
              </a:rPr>
              <a:t>The river of the water of life</a:t>
            </a:r>
            <a:endParaRPr lang="en-US" sz="1200" dirty="0"/>
          </a:p>
          <a:p>
            <a:pPr algn="ctr" indent="0" marL="0">
              <a:buNone/>
            </a:pPr>
            <a:r>
              <a:rPr lang="en-US" sz="1200" dirty="0">
                <a:solidFill>
                  <a:schemeClr val="tx1"/>
                </a:solidFill>
              </a:rPr>
              <a:t>Rev 22:1</a:t>
            </a:r>
            <a:endParaRPr lang="en-US" sz="1200" dirty="0"/>
          </a:p>
        </p:txBody>
      </p:sp>
      <p:sp>
        <p:nvSpPr>
          <p:cNvPr id="10" name="Shape 7"/>
          <p:cNvSpPr/>
          <p:nvPr/>
        </p:nvSpPr>
        <p:spPr>
          <a:xfrm>
            <a:off x="5989320" y="2441448"/>
            <a:ext cx="1097280" cy="0"/>
          </a:xfrm>
          <a:prstGeom prst="line">
            <a:avLst/>
          </a:prstGeom>
          <a:noFill/>
          <a:ln w="25400">
            <a:solidFill>
              <a:srgbClr val="7030A0"/>
            </a:solidFill>
            <a:prstDash val="solid"/>
            <a:tailEnd type="triangle"/>
          </a:ln>
        </p:spPr>
      </p:sp>
      <p:sp>
        <p:nvSpPr>
          <p:cNvPr id="11" name="Text 8"/>
          <p:cNvSpPr txBox="1"/>
          <p:nvPr/>
        </p:nvSpPr>
        <p:spPr>
          <a:xfrm>
            <a:off x="411480" y="2999232"/>
            <a:ext cx="1280160" cy="292608"/>
          </a:xfrm>
          <a:prstGeom prst="rect">
            <a:avLst/>
          </a:prstGeom>
          <a:noFill/>
          <a:ln/>
        </p:spPr>
        <p:txBody>
          <a:bodyPr wrap="square" lIns="0" tIns="0" rIns="0" bIns="0" rtlCol="0" anchor="t"/>
          <a:lstStyle/>
          <a:p>
            <a:pPr algn="l" indent="0" marL="0">
              <a:buNone/>
            </a:pPr>
            <a:r>
              <a:rPr lang="en-US" sz="1100" b="1" dirty="0">
                <a:solidFill>
                  <a:schemeClr val="tx2"/>
                </a:solidFill>
              </a:rPr>
              <a:t>THE TREE</a:t>
            </a:r>
            <a:endParaRPr lang="en-US" sz="1100" dirty="0"/>
          </a:p>
        </p:txBody>
      </p:sp>
      <p:sp>
        <p:nvSpPr>
          <p:cNvPr id="12" name="Text 9"/>
          <p:cNvSpPr txBox="1"/>
          <p:nvPr/>
        </p:nvSpPr>
        <p:spPr>
          <a:xfrm>
            <a:off x="1783080" y="2834640"/>
            <a:ext cx="4069080" cy="603504"/>
          </a:xfrm>
          <a:prstGeom prst="rect">
            <a:avLst/>
          </a:prstGeom>
          <a:solidFill>
            <a:srgbClr val="FFFFFF"/>
          </a:solidFill>
          <a:ln w="12700">
            <a:solidFill>
              <a:srgbClr val="2E5496"/>
            </a:solidFill>
          </a:ln>
        </p:spPr>
        <p:txBody>
          <a:bodyPr wrap="square" lIns="38100" tIns="38100" rIns="38100" bIns="38100" rtlCol="0" anchor="ctr"/>
          <a:lstStyle/>
          <a:p>
            <a:pPr algn="ctr" indent="0" marL="0">
              <a:buNone/>
            </a:pPr>
            <a:r>
              <a:rPr lang="en-US" sz="1200" dirty="0">
                <a:solidFill>
                  <a:schemeClr val="tx1"/>
                </a:solidFill>
              </a:rPr>
              <a:t>The tree of life in the garden</a:t>
            </a:r>
            <a:endParaRPr lang="en-US" sz="1200" dirty="0"/>
          </a:p>
          <a:p>
            <a:pPr algn="ctr" indent="0" marL="0">
              <a:buNone/>
            </a:pPr>
            <a:r>
              <a:rPr lang="en-US" sz="1200" dirty="0">
                <a:solidFill>
                  <a:schemeClr val="tx1"/>
                </a:solidFill>
              </a:rPr>
              <a:t>Gen 2:9</a:t>
            </a:r>
            <a:endParaRPr lang="en-US" sz="1200" dirty="0"/>
          </a:p>
        </p:txBody>
      </p:sp>
      <p:sp>
        <p:nvSpPr>
          <p:cNvPr id="13" name="Text 10"/>
          <p:cNvSpPr txBox="1"/>
          <p:nvPr/>
        </p:nvSpPr>
        <p:spPr>
          <a:xfrm>
            <a:off x="7223760" y="2834640"/>
            <a:ext cx="4069080" cy="603504"/>
          </a:xfrm>
          <a:prstGeom prst="rect">
            <a:avLst/>
          </a:prstGeom>
          <a:solidFill>
            <a:srgbClr val="FFFFFF"/>
          </a:solidFill>
          <a:ln w="12700">
            <a:solidFill>
              <a:srgbClr val="B8892B"/>
            </a:solidFill>
          </a:ln>
        </p:spPr>
        <p:txBody>
          <a:bodyPr wrap="square" lIns="38100" tIns="38100" rIns="38100" bIns="38100" rtlCol="0" anchor="ctr"/>
          <a:lstStyle/>
          <a:p>
            <a:pPr algn="ctr" indent="0" marL="0">
              <a:buNone/>
            </a:pPr>
            <a:r>
              <a:rPr lang="en-US" sz="1200" dirty="0">
                <a:solidFill>
                  <a:schemeClr val="tx1"/>
                </a:solidFill>
              </a:rPr>
              <a:t>The tree of life, fruit every month</a:t>
            </a:r>
            <a:endParaRPr lang="en-US" sz="1200" dirty="0"/>
          </a:p>
          <a:p>
            <a:pPr algn="ctr" indent="0" marL="0">
              <a:buNone/>
            </a:pPr>
            <a:r>
              <a:rPr lang="en-US" sz="1200" dirty="0">
                <a:solidFill>
                  <a:schemeClr val="tx1"/>
                </a:solidFill>
              </a:rPr>
              <a:t>Rev 22:2</a:t>
            </a:r>
            <a:endParaRPr lang="en-US" sz="1200" dirty="0"/>
          </a:p>
        </p:txBody>
      </p:sp>
      <p:sp>
        <p:nvSpPr>
          <p:cNvPr id="14" name="Shape 11"/>
          <p:cNvSpPr/>
          <p:nvPr/>
        </p:nvSpPr>
        <p:spPr>
          <a:xfrm>
            <a:off x="5989320" y="3136392"/>
            <a:ext cx="1097280" cy="0"/>
          </a:xfrm>
          <a:prstGeom prst="line">
            <a:avLst/>
          </a:prstGeom>
          <a:noFill/>
          <a:ln w="25400">
            <a:solidFill>
              <a:srgbClr val="7030A0"/>
            </a:solidFill>
            <a:prstDash val="solid"/>
            <a:tailEnd type="triangle"/>
          </a:ln>
        </p:spPr>
      </p:sp>
      <p:sp>
        <p:nvSpPr>
          <p:cNvPr id="15" name="Text 12"/>
          <p:cNvSpPr txBox="1"/>
          <p:nvPr/>
        </p:nvSpPr>
        <p:spPr>
          <a:xfrm>
            <a:off x="411480" y="3694176"/>
            <a:ext cx="1280160" cy="292608"/>
          </a:xfrm>
          <a:prstGeom prst="rect">
            <a:avLst/>
          </a:prstGeom>
          <a:noFill/>
          <a:ln/>
        </p:spPr>
        <p:txBody>
          <a:bodyPr wrap="square" lIns="0" tIns="0" rIns="0" bIns="0" rtlCol="0" anchor="t"/>
          <a:lstStyle/>
          <a:p>
            <a:pPr algn="l" indent="0" marL="0">
              <a:buNone/>
            </a:pPr>
            <a:r>
              <a:rPr lang="en-US" sz="1100" b="1" dirty="0">
                <a:solidFill>
                  <a:schemeClr val="tx2"/>
                </a:solidFill>
              </a:rPr>
              <a:t>ACCESS</a:t>
            </a:r>
            <a:endParaRPr lang="en-US" sz="1100" dirty="0"/>
          </a:p>
        </p:txBody>
      </p:sp>
      <p:sp>
        <p:nvSpPr>
          <p:cNvPr id="16" name="Text 13"/>
          <p:cNvSpPr txBox="1"/>
          <p:nvPr/>
        </p:nvSpPr>
        <p:spPr>
          <a:xfrm>
            <a:off x="1783080" y="3529584"/>
            <a:ext cx="4069080" cy="603504"/>
          </a:xfrm>
          <a:prstGeom prst="rect">
            <a:avLst/>
          </a:prstGeom>
          <a:solidFill>
            <a:srgbClr val="FFFFFF"/>
          </a:solidFill>
          <a:ln w="12700">
            <a:solidFill>
              <a:srgbClr val="2E5496"/>
            </a:solidFill>
          </a:ln>
        </p:spPr>
        <p:txBody>
          <a:bodyPr wrap="square" lIns="38100" tIns="38100" rIns="38100" bIns="38100" rtlCol="0" anchor="ctr"/>
          <a:lstStyle/>
          <a:p>
            <a:pPr algn="ctr" indent="0" marL="0">
              <a:buNone/>
            </a:pPr>
            <a:r>
              <a:rPr lang="en-US" sz="1200" dirty="0">
                <a:solidFill>
                  <a:schemeClr val="tx1"/>
                </a:solidFill>
              </a:rPr>
              <a:t>Cherubim and a flaming sword bar the way</a:t>
            </a:r>
            <a:endParaRPr lang="en-US" sz="1200" dirty="0"/>
          </a:p>
          <a:p>
            <a:pPr algn="ctr" indent="0" marL="0">
              <a:buNone/>
            </a:pPr>
            <a:r>
              <a:rPr lang="en-US" sz="1200" dirty="0">
                <a:solidFill>
                  <a:schemeClr val="tx1"/>
                </a:solidFill>
              </a:rPr>
              <a:t>Gen 3:22–24</a:t>
            </a:r>
            <a:endParaRPr lang="en-US" sz="1200" dirty="0"/>
          </a:p>
        </p:txBody>
      </p:sp>
      <p:sp>
        <p:nvSpPr>
          <p:cNvPr id="17" name="Text 14"/>
          <p:cNvSpPr txBox="1"/>
          <p:nvPr/>
        </p:nvSpPr>
        <p:spPr>
          <a:xfrm>
            <a:off x="7223760" y="3529584"/>
            <a:ext cx="4069080" cy="603504"/>
          </a:xfrm>
          <a:prstGeom prst="rect">
            <a:avLst/>
          </a:prstGeom>
          <a:solidFill>
            <a:srgbClr val="FFFFFF"/>
          </a:solidFill>
          <a:ln w="12700">
            <a:solidFill>
              <a:srgbClr val="B8892B"/>
            </a:solidFill>
          </a:ln>
        </p:spPr>
        <p:txBody>
          <a:bodyPr wrap="square" lIns="38100" tIns="38100" rIns="38100" bIns="38100" rtlCol="0" anchor="ctr"/>
          <a:lstStyle/>
          <a:p>
            <a:pPr algn="ctr" indent="0" marL="0">
              <a:buNone/>
            </a:pPr>
            <a:r>
              <a:rPr lang="en-US" sz="1200" dirty="0">
                <a:solidFill>
                  <a:schemeClr val="tx1"/>
                </a:solidFill>
              </a:rPr>
              <a:t>Gates never closed; right to the tree</a:t>
            </a:r>
            <a:endParaRPr lang="en-US" sz="1200" dirty="0"/>
          </a:p>
          <a:p>
            <a:pPr algn="ctr" indent="0" marL="0">
              <a:buNone/>
            </a:pPr>
            <a:r>
              <a:rPr lang="en-US" sz="1200" dirty="0">
                <a:solidFill>
                  <a:schemeClr val="tx1"/>
                </a:solidFill>
              </a:rPr>
              <a:t>Rev 21:25; 22:14</a:t>
            </a:r>
            <a:endParaRPr lang="en-US" sz="1200" dirty="0"/>
          </a:p>
        </p:txBody>
      </p:sp>
      <p:sp>
        <p:nvSpPr>
          <p:cNvPr id="18" name="Shape 15"/>
          <p:cNvSpPr/>
          <p:nvPr/>
        </p:nvSpPr>
        <p:spPr>
          <a:xfrm>
            <a:off x="5989320" y="3831336"/>
            <a:ext cx="1097280" cy="0"/>
          </a:xfrm>
          <a:prstGeom prst="line">
            <a:avLst/>
          </a:prstGeom>
          <a:noFill/>
          <a:ln w="25400">
            <a:solidFill>
              <a:srgbClr val="7030A0"/>
            </a:solidFill>
            <a:prstDash val="solid"/>
            <a:tailEnd type="triangle"/>
          </a:ln>
        </p:spPr>
      </p:sp>
      <p:sp>
        <p:nvSpPr>
          <p:cNvPr id="19" name="Text 16"/>
          <p:cNvSpPr txBox="1"/>
          <p:nvPr/>
        </p:nvSpPr>
        <p:spPr>
          <a:xfrm>
            <a:off x="411480" y="4389120"/>
            <a:ext cx="1280160" cy="292608"/>
          </a:xfrm>
          <a:prstGeom prst="rect">
            <a:avLst/>
          </a:prstGeom>
          <a:noFill/>
          <a:ln/>
        </p:spPr>
        <p:txBody>
          <a:bodyPr wrap="square" lIns="0" tIns="0" rIns="0" bIns="0" rtlCol="0" anchor="t"/>
          <a:lstStyle/>
          <a:p>
            <a:pPr algn="l" indent="0" marL="0">
              <a:buNone/>
            </a:pPr>
            <a:r>
              <a:rPr lang="en-US" sz="1100" b="1" dirty="0">
                <a:solidFill>
                  <a:schemeClr val="tx2"/>
                </a:solidFill>
              </a:rPr>
              <a:t>THE CURSE</a:t>
            </a:r>
            <a:endParaRPr lang="en-US" sz="1100" dirty="0"/>
          </a:p>
        </p:txBody>
      </p:sp>
      <p:sp>
        <p:nvSpPr>
          <p:cNvPr id="20" name="Text 17"/>
          <p:cNvSpPr txBox="1"/>
          <p:nvPr/>
        </p:nvSpPr>
        <p:spPr>
          <a:xfrm>
            <a:off x="1783080" y="4224528"/>
            <a:ext cx="4069080" cy="603504"/>
          </a:xfrm>
          <a:prstGeom prst="rect">
            <a:avLst/>
          </a:prstGeom>
          <a:solidFill>
            <a:srgbClr val="FFFFFF"/>
          </a:solidFill>
          <a:ln w="12700">
            <a:solidFill>
              <a:srgbClr val="2E5496"/>
            </a:solidFill>
          </a:ln>
        </p:spPr>
        <p:txBody>
          <a:bodyPr wrap="square" lIns="38100" tIns="38100" rIns="38100" bIns="38100" rtlCol="0" anchor="ctr"/>
          <a:lstStyle/>
          <a:p>
            <a:pPr algn="ctr" indent="0" marL="0">
              <a:buNone/>
            </a:pPr>
            <a:r>
              <a:rPr lang="en-US" sz="1200" dirty="0">
                <a:solidFill>
                  <a:schemeClr val="tx1"/>
                </a:solidFill>
              </a:rPr>
              <a:t>Ground cursed; toil and pain</a:t>
            </a:r>
            <a:endParaRPr lang="en-US" sz="1200" dirty="0"/>
          </a:p>
          <a:p>
            <a:pPr algn="ctr" indent="0" marL="0">
              <a:buNone/>
            </a:pPr>
            <a:r>
              <a:rPr lang="en-US" sz="1200" dirty="0">
                <a:solidFill>
                  <a:schemeClr val="tx1"/>
                </a:solidFill>
              </a:rPr>
              <a:t>Gen 3:16–19</a:t>
            </a:r>
            <a:endParaRPr lang="en-US" sz="1200" dirty="0"/>
          </a:p>
        </p:txBody>
      </p:sp>
      <p:sp>
        <p:nvSpPr>
          <p:cNvPr id="21" name="Text 18"/>
          <p:cNvSpPr txBox="1"/>
          <p:nvPr/>
        </p:nvSpPr>
        <p:spPr>
          <a:xfrm>
            <a:off x="7223760" y="4224528"/>
            <a:ext cx="4069080" cy="603504"/>
          </a:xfrm>
          <a:prstGeom prst="rect">
            <a:avLst/>
          </a:prstGeom>
          <a:solidFill>
            <a:srgbClr val="FFFFFF"/>
          </a:solidFill>
          <a:ln w="12700">
            <a:solidFill>
              <a:srgbClr val="B8892B"/>
            </a:solidFill>
          </a:ln>
        </p:spPr>
        <p:txBody>
          <a:bodyPr wrap="square" lIns="38100" tIns="38100" rIns="38100" bIns="38100" rtlCol="0" anchor="ctr"/>
          <a:lstStyle/>
          <a:p>
            <a:pPr algn="ctr" indent="0" marL="0">
              <a:buNone/>
            </a:pPr>
            <a:r>
              <a:rPr lang="en-US" sz="1200" dirty="0">
                <a:solidFill>
                  <a:schemeClr val="tx1"/>
                </a:solidFill>
              </a:rPr>
              <a:t>“There will no longer be any curse”</a:t>
            </a:r>
            <a:endParaRPr lang="en-US" sz="1200" dirty="0"/>
          </a:p>
          <a:p>
            <a:pPr algn="ctr" indent="0" marL="0">
              <a:buNone/>
            </a:pPr>
            <a:r>
              <a:rPr lang="en-US" sz="1200" dirty="0">
                <a:solidFill>
                  <a:schemeClr val="tx1"/>
                </a:solidFill>
              </a:rPr>
              <a:t>Rev 22:3</a:t>
            </a:r>
            <a:endParaRPr lang="en-US" sz="1200" dirty="0"/>
          </a:p>
        </p:txBody>
      </p:sp>
      <p:sp>
        <p:nvSpPr>
          <p:cNvPr id="22" name="Shape 19"/>
          <p:cNvSpPr/>
          <p:nvPr/>
        </p:nvSpPr>
        <p:spPr>
          <a:xfrm>
            <a:off x="5989320" y="4526280"/>
            <a:ext cx="1097280" cy="0"/>
          </a:xfrm>
          <a:prstGeom prst="line">
            <a:avLst/>
          </a:prstGeom>
          <a:noFill/>
          <a:ln w="25400">
            <a:solidFill>
              <a:srgbClr val="7030A0"/>
            </a:solidFill>
            <a:prstDash val="solid"/>
            <a:tailEnd type="triangle"/>
          </a:ln>
        </p:spPr>
      </p:sp>
      <p:sp>
        <p:nvSpPr>
          <p:cNvPr id="23" name="Text 20"/>
          <p:cNvSpPr txBox="1"/>
          <p:nvPr/>
        </p:nvSpPr>
        <p:spPr>
          <a:xfrm>
            <a:off x="411480" y="5084064"/>
            <a:ext cx="1280160" cy="292608"/>
          </a:xfrm>
          <a:prstGeom prst="rect">
            <a:avLst/>
          </a:prstGeom>
          <a:noFill/>
          <a:ln/>
        </p:spPr>
        <p:txBody>
          <a:bodyPr wrap="square" lIns="0" tIns="0" rIns="0" bIns="0" rtlCol="0" anchor="t"/>
          <a:lstStyle/>
          <a:p>
            <a:pPr algn="l" indent="0" marL="0">
              <a:buNone/>
            </a:pPr>
            <a:r>
              <a:rPr lang="en-US" sz="1100" b="1" dirty="0">
                <a:solidFill>
                  <a:schemeClr val="tx2"/>
                </a:solidFill>
              </a:rPr>
              <a:t>DEATH &amp; TEARS</a:t>
            </a:r>
            <a:endParaRPr lang="en-US" sz="1100" dirty="0"/>
          </a:p>
        </p:txBody>
      </p:sp>
      <p:sp>
        <p:nvSpPr>
          <p:cNvPr id="24" name="Text 21"/>
          <p:cNvSpPr txBox="1"/>
          <p:nvPr/>
        </p:nvSpPr>
        <p:spPr>
          <a:xfrm>
            <a:off x="1783080" y="4919472"/>
            <a:ext cx="4069080" cy="603504"/>
          </a:xfrm>
          <a:prstGeom prst="rect">
            <a:avLst/>
          </a:prstGeom>
          <a:solidFill>
            <a:srgbClr val="FFFFFF"/>
          </a:solidFill>
          <a:ln w="12700">
            <a:solidFill>
              <a:srgbClr val="2E5496"/>
            </a:solidFill>
          </a:ln>
        </p:spPr>
        <p:txBody>
          <a:bodyPr wrap="square" lIns="38100" tIns="38100" rIns="38100" bIns="38100" rtlCol="0" anchor="ctr"/>
          <a:lstStyle/>
          <a:p>
            <a:pPr algn="ctr" indent="0" marL="0">
              <a:buNone/>
            </a:pPr>
            <a:r>
              <a:rPr lang="en-US" sz="1200" dirty="0">
                <a:solidFill>
                  <a:schemeClr val="tx1"/>
                </a:solidFill>
              </a:rPr>
              <a:t>“To dust you shall return”</a:t>
            </a:r>
            <a:endParaRPr lang="en-US" sz="1200" dirty="0"/>
          </a:p>
          <a:p>
            <a:pPr algn="ctr" indent="0" marL="0">
              <a:buNone/>
            </a:pPr>
            <a:r>
              <a:rPr lang="en-US" sz="1200" dirty="0">
                <a:solidFill>
                  <a:schemeClr val="tx1"/>
                </a:solidFill>
              </a:rPr>
              <a:t>Gen 3:19</a:t>
            </a:r>
            <a:endParaRPr lang="en-US" sz="1200" dirty="0"/>
          </a:p>
        </p:txBody>
      </p:sp>
      <p:sp>
        <p:nvSpPr>
          <p:cNvPr id="25" name="Text 22"/>
          <p:cNvSpPr txBox="1"/>
          <p:nvPr/>
        </p:nvSpPr>
        <p:spPr>
          <a:xfrm>
            <a:off x="7223760" y="4919472"/>
            <a:ext cx="4069080" cy="603504"/>
          </a:xfrm>
          <a:prstGeom prst="rect">
            <a:avLst/>
          </a:prstGeom>
          <a:solidFill>
            <a:srgbClr val="FFFFFF"/>
          </a:solidFill>
          <a:ln w="12700">
            <a:solidFill>
              <a:srgbClr val="B8892B"/>
            </a:solidFill>
          </a:ln>
        </p:spPr>
        <p:txBody>
          <a:bodyPr wrap="square" lIns="38100" tIns="38100" rIns="38100" bIns="38100" rtlCol="0" anchor="ctr"/>
          <a:lstStyle/>
          <a:p>
            <a:pPr algn="ctr" indent="0" marL="0">
              <a:buNone/>
            </a:pPr>
            <a:r>
              <a:rPr lang="en-US" sz="1200" dirty="0">
                <a:solidFill>
                  <a:schemeClr val="tx1"/>
                </a:solidFill>
              </a:rPr>
              <a:t>No death, no tears  (cf. Isa 25:8)</a:t>
            </a:r>
            <a:endParaRPr lang="en-US" sz="1200" dirty="0"/>
          </a:p>
          <a:p>
            <a:pPr algn="ctr" indent="0" marL="0">
              <a:buNone/>
            </a:pPr>
            <a:r>
              <a:rPr lang="en-US" sz="1200" dirty="0">
                <a:solidFill>
                  <a:schemeClr val="tx1"/>
                </a:solidFill>
              </a:rPr>
              <a:t>Rev 21:4</a:t>
            </a:r>
            <a:endParaRPr lang="en-US" sz="1200" dirty="0"/>
          </a:p>
        </p:txBody>
      </p:sp>
      <p:sp>
        <p:nvSpPr>
          <p:cNvPr id="26" name="Shape 23"/>
          <p:cNvSpPr/>
          <p:nvPr/>
        </p:nvSpPr>
        <p:spPr>
          <a:xfrm>
            <a:off x="5989320" y="5221224"/>
            <a:ext cx="1097280" cy="0"/>
          </a:xfrm>
          <a:prstGeom prst="line">
            <a:avLst/>
          </a:prstGeom>
          <a:noFill/>
          <a:ln w="25400">
            <a:solidFill>
              <a:srgbClr val="7030A0"/>
            </a:solidFill>
            <a:prstDash val="solid"/>
            <a:tailEnd type="triangle"/>
          </a:ln>
        </p:spPr>
      </p:sp>
      <p:sp>
        <p:nvSpPr>
          <p:cNvPr id="27" name="Text 24"/>
          <p:cNvSpPr txBox="1"/>
          <p:nvPr/>
        </p:nvSpPr>
        <p:spPr>
          <a:xfrm>
            <a:off x="411480" y="5779008"/>
            <a:ext cx="1280160" cy="292608"/>
          </a:xfrm>
          <a:prstGeom prst="rect">
            <a:avLst/>
          </a:prstGeom>
          <a:noFill/>
          <a:ln/>
        </p:spPr>
        <p:txBody>
          <a:bodyPr wrap="square" lIns="0" tIns="0" rIns="0" bIns="0" rtlCol="0" anchor="t"/>
          <a:lstStyle/>
          <a:p>
            <a:pPr algn="l" indent="0" marL="0">
              <a:buNone/>
            </a:pPr>
            <a:r>
              <a:rPr lang="en-US" sz="1100" b="1" dirty="0">
                <a:solidFill>
                  <a:schemeClr val="tx2"/>
                </a:solidFill>
              </a:rPr>
              <a:t>GOD’S PRESENCE</a:t>
            </a:r>
            <a:endParaRPr lang="en-US" sz="1100" dirty="0"/>
          </a:p>
        </p:txBody>
      </p:sp>
      <p:sp>
        <p:nvSpPr>
          <p:cNvPr id="28" name="Text 25"/>
          <p:cNvSpPr txBox="1"/>
          <p:nvPr/>
        </p:nvSpPr>
        <p:spPr>
          <a:xfrm>
            <a:off x="1783080" y="5614416"/>
            <a:ext cx="4069080" cy="603504"/>
          </a:xfrm>
          <a:prstGeom prst="rect">
            <a:avLst/>
          </a:prstGeom>
          <a:solidFill>
            <a:srgbClr val="FFFFFF"/>
          </a:solidFill>
          <a:ln w="12700">
            <a:solidFill>
              <a:srgbClr val="2E5496"/>
            </a:solidFill>
          </a:ln>
        </p:spPr>
        <p:txBody>
          <a:bodyPr wrap="square" lIns="38100" tIns="38100" rIns="38100" bIns="38100" rtlCol="0" anchor="ctr"/>
          <a:lstStyle/>
          <a:p>
            <a:pPr algn="ctr" indent="0" marL="0">
              <a:buNone/>
            </a:pPr>
            <a:r>
              <a:rPr lang="en-US" sz="1200" dirty="0">
                <a:solidFill>
                  <a:schemeClr val="tx1"/>
                </a:solidFill>
              </a:rPr>
              <a:t>Man driven from God’s presence</a:t>
            </a:r>
            <a:endParaRPr lang="en-US" sz="1200" dirty="0"/>
          </a:p>
          <a:p>
            <a:pPr algn="ctr" indent="0" marL="0">
              <a:buNone/>
            </a:pPr>
            <a:r>
              <a:rPr lang="en-US" sz="1200" dirty="0">
                <a:solidFill>
                  <a:schemeClr val="tx1"/>
                </a:solidFill>
              </a:rPr>
              <a:t>Gen 3:23–24</a:t>
            </a:r>
            <a:endParaRPr lang="en-US" sz="1200" dirty="0"/>
          </a:p>
        </p:txBody>
      </p:sp>
      <p:sp>
        <p:nvSpPr>
          <p:cNvPr id="29" name="Text 26"/>
          <p:cNvSpPr txBox="1"/>
          <p:nvPr/>
        </p:nvSpPr>
        <p:spPr>
          <a:xfrm>
            <a:off x="7223760" y="5614416"/>
            <a:ext cx="4069080" cy="603504"/>
          </a:xfrm>
          <a:prstGeom prst="rect">
            <a:avLst/>
          </a:prstGeom>
          <a:solidFill>
            <a:srgbClr val="FFFFFF"/>
          </a:solidFill>
          <a:ln w="12700">
            <a:solidFill>
              <a:srgbClr val="B8892B"/>
            </a:solidFill>
          </a:ln>
        </p:spPr>
        <p:txBody>
          <a:bodyPr wrap="square" lIns="38100" tIns="38100" rIns="38100" bIns="38100" rtlCol="0" anchor="ctr"/>
          <a:lstStyle/>
          <a:p>
            <a:pPr algn="ctr" indent="0" marL="0">
              <a:buNone/>
            </a:pPr>
            <a:r>
              <a:rPr lang="en-US" sz="1200" dirty="0">
                <a:solidFill>
                  <a:schemeClr val="tx1"/>
                </a:solidFill>
              </a:rPr>
              <a:t>“The tabernacle of God is among men”</a:t>
            </a:r>
            <a:endParaRPr lang="en-US" sz="1200" dirty="0"/>
          </a:p>
          <a:p>
            <a:pPr algn="ctr" indent="0" marL="0">
              <a:buNone/>
            </a:pPr>
            <a:r>
              <a:rPr lang="en-US" sz="1200" dirty="0">
                <a:solidFill>
                  <a:schemeClr val="tx1"/>
                </a:solidFill>
              </a:rPr>
              <a:t>Rev 21:3  (cf. Exod 25:8)</a:t>
            </a:r>
            <a:endParaRPr lang="en-US" sz="1200" dirty="0"/>
          </a:p>
        </p:txBody>
      </p:sp>
      <p:sp>
        <p:nvSpPr>
          <p:cNvPr id="30" name="Shape 27"/>
          <p:cNvSpPr/>
          <p:nvPr/>
        </p:nvSpPr>
        <p:spPr>
          <a:xfrm>
            <a:off x="5989320" y="5916168"/>
            <a:ext cx="1097280" cy="0"/>
          </a:xfrm>
          <a:prstGeom prst="line">
            <a:avLst/>
          </a:prstGeom>
          <a:noFill/>
          <a:ln w="25400">
            <a:solidFill>
              <a:srgbClr val="7030A0"/>
            </a:solidFill>
            <a:prstDash val="solid"/>
            <a:tailEnd type="triangle"/>
          </a:ln>
        </p:spPr>
      </p:sp>
      <p:sp>
        <p:nvSpPr>
          <p:cNvPr id="31" name="Text 28"/>
          <p:cNvSpPr txBox="1"/>
          <p:nvPr/>
        </p:nvSpPr>
        <p:spPr>
          <a:xfrm>
            <a:off x="5852160" y="1645920"/>
            <a:ext cx="1371600" cy="274320"/>
          </a:xfrm>
          <a:prstGeom prst="rect">
            <a:avLst/>
          </a:prstGeom>
          <a:noFill/>
          <a:ln/>
        </p:spPr>
        <p:txBody>
          <a:bodyPr wrap="square" lIns="0" tIns="0" rIns="0" bIns="0" rtlCol="0" anchor="t"/>
          <a:lstStyle/>
          <a:p>
            <a:pPr algn="ctr" indent="0" marL="0">
              <a:buNone/>
            </a:pPr>
            <a:r>
              <a:rPr lang="en-US" sz="1100" i="1" dirty="0">
                <a:solidFill>
                  <a:schemeClr val="accent5"/>
                </a:solidFill>
              </a:rPr>
              <a:t>restored</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11155680" cy="621792"/>
          </a:xfrm>
          <a:prstGeom prst="rect">
            <a:avLst/>
          </a:prstGeom>
          <a:noFill/>
          <a:ln/>
        </p:spPr>
        <p:txBody>
          <a:bodyPr wrap="square" lIns="0" tIns="0" rIns="0" bIns="0" rtlCol="0" anchor="ctr"/>
          <a:lstStyle/>
          <a:p>
            <a:pPr algn="l" indent="0" marL="0">
              <a:buNone/>
            </a:pPr>
            <a:r>
              <a:rPr lang="en-US" sz="3400" b="1" dirty="0">
                <a:solidFill>
                  <a:srgbClr val="1F3864"/>
                </a:solidFill>
              </a:rPr>
              <a:t>The Abrahamic Land Grant: Two Layers</a:t>
            </a:r>
            <a:endParaRPr lang="en-US" sz="3400" dirty="0"/>
          </a:p>
        </p:txBody>
      </p:sp>
      <p:sp>
        <p:nvSpPr>
          <p:cNvPr id="3" name="Text 1"/>
          <p:cNvSpPr/>
          <p:nvPr>
            <p:ph idx="102" type="body" hasCustomPrompt="1"/>
          </p:nvPr>
        </p:nvSpPr>
        <p:spPr>
          <a:xfrm>
            <a:off x="502920" y="914400"/>
            <a:ext cx="11155680" cy="347472"/>
          </a:xfrm>
          <a:prstGeom prst="rect">
            <a:avLst/>
          </a:prstGeom>
          <a:noFill/>
          <a:ln/>
        </p:spPr>
        <p:txBody>
          <a:bodyPr wrap="square" lIns="0" tIns="0" rIns="0" bIns="0" rtlCol="0" anchor="ctr"/>
          <a:lstStyle/>
          <a:p>
            <a:pPr indent="0" marL="0">
              <a:buNone/>
            </a:pPr>
            <a:r>
              <a:rPr lang="en-US" sz="1400" i="1" dirty="0">
                <a:solidFill>
                  <a:srgbClr val="6B7A8F"/>
                </a:solidFill>
              </a:rPr>
              <a:t>Genesis 15:18 (covenant grant) and Numbers 34 / Ezekiel 47–48 (tribal allotment)  ·  schematic map</a:t>
            </a:r>
            <a:endParaRPr lang="en-US" sz="1400" dirty="0"/>
          </a:p>
        </p:txBody>
      </p:sp>
      <p:pic>
        <p:nvPicPr>
          <p:cNvPr id="5" name="Image 0" descr="Schematic map of the Abrahamic land grant from the Nile to the Euphrates, with the smaller tribal allotment grid from the Wadi el-Arish to Lebo-hamath shaded inside it.">    </p:cNvPr>
          <p:cNvPicPr>
            <a:picLocks noChangeAspect="1"/>
          </p:cNvPicPr>
          <p:nvPr/>
        </p:nvPicPr>
        <p:blipFill>
          <a:blip r:embed="rId1"/>
          <a:stretch>
            <a:fillRect/>
          </a:stretch>
        </p:blipFill>
        <p:spPr>
          <a:xfrm>
            <a:off x="548640" y="1371600"/>
            <a:ext cx="7589520" cy="4912311"/>
          </a:xfrm>
          <a:prstGeom prst="rect">
            <a:avLst/>
          </a:prstGeom>
        </p:spPr>
      </p:pic>
      <p:sp>
        <p:nvSpPr>
          <p:cNvPr id="6" name="Shape 2"/>
          <p:cNvSpPr/>
          <p:nvPr/>
        </p:nvSpPr>
        <p:spPr>
          <a:xfrm>
            <a:off x="8412480" y="1508760"/>
            <a:ext cx="292608" cy="292608"/>
          </a:xfrm>
          <a:prstGeom prst="rect">
            <a:avLst/>
          </a:prstGeom>
          <a:solidFill>
            <a:srgbClr val="375623">
              <a:alpha val="30000"/>
            </a:srgbClr>
          </a:solidFill>
          <a:ln w="12700">
            <a:solidFill>
              <a:srgbClr val="375623"/>
            </a:solidFill>
            <a:prstDash val="solid"/>
          </a:ln>
        </p:spPr>
      </p:sp>
      <p:sp>
        <p:nvSpPr>
          <p:cNvPr id="7" name="Text 3"/>
          <p:cNvSpPr txBox="1"/>
          <p:nvPr/>
        </p:nvSpPr>
        <p:spPr>
          <a:xfrm>
            <a:off x="8823960" y="1463040"/>
            <a:ext cx="2834640" cy="292608"/>
          </a:xfrm>
          <a:prstGeom prst="rect">
            <a:avLst/>
          </a:prstGeom>
          <a:noFill/>
          <a:ln/>
        </p:spPr>
        <p:txBody>
          <a:bodyPr wrap="square" lIns="0" tIns="0" rIns="0" bIns="0" rtlCol="0" anchor="t"/>
          <a:lstStyle/>
          <a:p>
            <a:pPr algn="l" indent="0" marL="0">
              <a:buNone/>
            </a:pPr>
            <a:r>
              <a:rPr lang="en-US" sz="1200" b="1" dirty="0">
                <a:solidFill>
                  <a:srgbClr val="375623"/>
                </a:solidFill>
              </a:rPr>
              <a:t>Covenant grant</a:t>
            </a:r>
            <a:endParaRPr lang="en-US" sz="1200" dirty="0"/>
          </a:p>
        </p:txBody>
      </p:sp>
      <p:sp>
        <p:nvSpPr>
          <p:cNvPr id="8" name="Text 4"/>
          <p:cNvSpPr txBox="1"/>
          <p:nvPr/>
        </p:nvSpPr>
        <p:spPr>
          <a:xfrm>
            <a:off x="8823960" y="1755648"/>
            <a:ext cx="2834640" cy="822960"/>
          </a:xfrm>
          <a:prstGeom prst="rect">
            <a:avLst/>
          </a:prstGeom>
          <a:noFill/>
          <a:ln/>
        </p:spPr>
        <p:txBody>
          <a:bodyPr wrap="square" lIns="0" tIns="0" rIns="0" bIns="0" rtlCol="0" anchor="t"/>
          <a:lstStyle/>
          <a:p>
            <a:pPr algn="l" indent="0" marL="0">
              <a:buNone/>
            </a:pPr>
            <a:r>
              <a:rPr lang="en-US" sz="1100" dirty="0">
                <a:solidFill>
                  <a:schemeClr val="tx1"/>
                </a:solidFill>
              </a:rPr>
              <a:t>Gen 15:18 — Nile (nahar) to Euphrates. Israel’s outer national domain.</a:t>
            </a:r>
            <a:endParaRPr lang="en-US" sz="1100" dirty="0"/>
          </a:p>
        </p:txBody>
      </p:sp>
      <p:sp>
        <p:nvSpPr>
          <p:cNvPr id="9" name="Shape 5"/>
          <p:cNvSpPr/>
          <p:nvPr/>
        </p:nvSpPr>
        <p:spPr>
          <a:xfrm>
            <a:off x="8412480" y="2651760"/>
            <a:ext cx="292608" cy="292608"/>
          </a:xfrm>
          <a:prstGeom prst="rect">
            <a:avLst/>
          </a:prstGeom>
          <a:solidFill>
            <a:srgbClr val="2E5496">
              <a:alpha val="60000"/>
            </a:srgbClr>
          </a:solidFill>
          <a:ln w="12700">
            <a:solidFill>
              <a:srgbClr val="2E5496"/>
            </a:solidFill>
            <a:prstDash val="solid"/>
          </a:ln>
        </p:spPr>
      </p:sp>
      <p:sp>
        <p:nvSpPr>
          <p:cNvPr id="10" name="Text 6"/>
          <p:cNvSpPr txBox="1"/>
          <p:nvPr/>
        </p:nvSpPr>
        <p:spPr>
          <a:xfrm>
            <a:off x="8823960" y="2606040"/>
            <a:ext cx="2834640" cy="292608"/>
          </a:xfrm>
          <a:prstGeom prst="rect">
            <a:avLst/>
          </a:prstGeom>
          <a:noFill/>
          <a:ln/>
        </p:spPr>
        <p:txBody>
          <a:bodyPr wrap="square" lIns="0" tIns="0" rIns="0" bIns="0" rtlCol="0" anchor="t"/>
          <a:lstStyle/>
          <a:p>
            <a:pPr algn="l" indent="0" marL="0">
              <a:buNone/>
            </a:pPr>
            <a:r>
              <a:rPr lang="en-US" sz="1200" b="1" dirty="0">
                <a:solidFill>
                  <a:srgbClr val="2E5496"/>
                </a:solidFill>
              </a:rPr>
              <a:t>Tribal allotment grid</a:t>
            </a:r>
            <a:endParaRPr lang="en-US" sz="1200" dirty="0"/>
          </a:p>
        </p:txBody>
      </p:sp>
      <p:sp>
        <p:nvSpPr>
          <p:cNvPr id="11" name="Text 7"/>
          <p:cNvSpPr txBox="1"/>
          <p:nvPr/>
        </p:nvSpPr>
        <p:spPr>
          <a:xfrm>
            <a:off x="8823960" y="2898648"/>
            <a:ext cx="2834640" cy="822960"/>
          </a:xfrm>
          <a:prstGeom prst="rect">
            <a:avLst/>
          </a:prstGeom>
          <a:noFill/>
          <a:ln/>
        </p:spPr>
        <p:txBody>
          <a:bodyPr wrap="square" lIns="0" tIns="0" rIns="0" bIns="0" rtlCol="0" anchor="t"/>
          <a:lstStyle/>
          <a:p>
            <a:pPr algn="l" indent="0" marL="0">
              <a:buNone/>
            </a:pPr>
            <a:r>
              <a:rPr lang="en-US" sz="1100" dirty="0">
                <a:solidFill>
                  <a:schemeClr val="tx1"/>
                </a:solidFill>
              </a:rPr>
              <a:t>Num 34; Ezek 47:13–20 — Wadi el-Arish (nachal) to Lebo-hamath. Settled by the twelve tribes.</a:t>
            </a:r>
            <a:endParaRPr lang="en-US" sz="1100" dirty="0"/>
          </a:p>
        </p:txBody>
      </p:sp>
      <p:sp>
        <p:nvSpPr>
          <p:cNvPr id="12" name="Text 8"/>
          <p:cNvSpPr txBox="1"/>
          <p:nvPr/>
        </p:nvSpPr>
        <p:spPr>
          <a:xfrm>
            <a:off x="8412480" y="3749040"/>
            <a:ext cx="3246120" cy="274320"/>
          </a:xfrm>
          <a:prstGeom prst="rect">
            <a:avLst/>
          </a:prstGeom>
          <a:noFill/>
          <a:ln/>
        </p:spPr>
        <p:txBody>
          <a:bodyPr wrap="square" lIns="0" tIns="0" rIns="0" bIns="0" rtlCol="0" anchor="t"/>
          <a:lstStyle/>
          <a:p>
            <a:pPr algn="l" indent="0" marL="0">
              <a:buNone/>
            </a:pPr>
            <a:r>
              <a:rPr lang="en-US" sz="1200" b="1" dirty="0">
                <a:solidFill>
                  <a:schemeClr val="tx2"/>
                </a:solidFill>
              </a:rPr>
              <a:t>Sovereignty zone</a:t>
            </a:r>
            <a:endParaRPr lang="en-US" sz="1200" dirty="0"/>
          </a:p>
        </p:txBody>
      </p:sp>
      <p:sp>
        <p:nvSpPr>
          <p:cNvPr id="13" name="Text 9"/>
          <p:cNvSpPr txBox="1"/>
          <p:nvPr/>
        </p:nvSpPr>
        <p:spPr>
          <a:xfrm>
            <a:off x="8412480" y="4023360"/>
            <a:ext cx="3246120" cy="868680"/>
          </a:xfrm>
          <a:prstGeom prst="rect">
            <a:avLst/>
          </a:prstGeom>
          <a:noFill/>
          <a:ln/>
        </p:spPr>
        <p:txBody>
          <a:bodyPr wrap="square" lIns="0" tIns="0" rIns="0" bIns="0" rtlCol="0" anchor="t"/>
          <a:lstStyle/>
          <a:p>
            <a:pPr algn="l" indent="0" marL="0">
              <a:buNone/>
            </a:pPr>
            <a:r>
              <a:rPr lang="en-US" sz="1100" dirty="0">
                <a:solidFill>
                  <a:schemeClr val="tx1"/>
                </a:solidFill>
              </a:rPr>
              <a:t>Green beyond the blue: within the grant but not allotted to a tribe — Sinai, Transjordan, Syria and Iraq west of the Euphrates (Isa 19:23–25).</a:t>
            </a:r>
            <a:endParaRPr lang="en-US" sz="1100" dirty="0"/>
          </a:p>
        </p:txBody>
      </p:sp>
      <p:sp>
        <p:nvSpPr>
          <p:cNvPr id="14" name="Text 10"/>
          <p:cNvSpPr txBox="1"/>
          <p:nvPr/>
        </p:nvSpPr>
        <p:spPr>
          <a:xfrm>
            <a:off x="8412480" y="4983480"/>
            <a:ext cx="3246120" cy="822960"/>
          </a:xfrm>
          <a:prstGeom prst="rect">
            <a:avLst/>
          </a:prstGeom>
          <a:noFill/>
          <a:ln/>
        </p:spPr>
        <p:txBody>
          <a:bodyPr wrap="square" lIns="0" tIns="0" rIns="0" bIns="0" rtlCol="0" anchor="t"/>
          <a:lstStyle/>
          <a:p>
            <a:pPr algn="l" indent="0" marL="0">
              <a:buNone/>
            </a:pPr>
            <a:r>
              <a:rPr lang="en-US" sz="1000" i="1" dirty="0">
                <a:solidFill>
                  <a:schemeClr val="accent6"/>
                </a:solidFill>
              </a:rPr>
              <a:t>View held: the river of Egypt in Gen 15:18 is the Nile (Pentecost, Walvoord, Ryrie). Alternative view: Wadi el-Arish throughout.</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11155680" cy="621792"/>
          </a:xfrm>
          <a:prstGeom prst="rect">
            <a:avLst/>
          </a:prstGeom>
          <a:noFill/>
          <a:ln/>
        </p:spPr>
        <p:txBody>
          <a:bodyPr wrap="square" lIns="0" tIns="0" rIns="0" bIns="0" rtlCol="0" anchor="ctr"/>
          <a:lstStyle/>
          <a:p>
            <a:pPr algn="l" indent="0" marL="0">
              <a:buNone/>
            </a:pPr>
            <a:r>
              <a:rPr lang="en-US" sz="3400" b="1" dirty="0">
                <a:solidFill>
                  <a:srgbClr val="1F3864"/>
                </a:solidFill>
              </a:rPr>
              <a:t>The Millennial Land Allotment</a:t>
            </a:r>
            <a:endParaRPr lang="en-US" sz="3400" dirty="0"/>
          </a:p>
        </p:txBody>
      </p:sp>
      <p:sp>
        <p:nvSpPr>
          <p:cNvPr id="3" name="Text 1"/>
          <p:cNvSpPr/>
          <p:nvPr>
            <p:ph idx="102" type="body" hasCustomPrompt="1"/>
          </p:nvPr>
        </p:nvSpPr>
        <p:spPr>
          <a:xfrm>
            <a:off x="502920" y="914400"/>
            <a:ext cx="11155680" cy="347472"/>
          </a:xfrm>
          <a:prstGeom prst="rect">
            <a:avLst/>
          </a:prstGeom>
          <a:noFill/>
          <a:ln/>
        </p:spPr>
        <p:txBody>
          <a:bodyPr wrap="square" lIns="0" tIns="0" rIns="0" bIns="0" rtlCol="0" anchor="ctr"/>
          <a:lstStyle/>
          <a:p>
            <a:pPr indent="0" marL="0">
              <a:buNone/>
            </a:pPr>
            <a:r>
              <a:rPr lang="en-US" sz="1400" i="1" dirty="0">
                <a:solidFill>
                  <a:srgbClr val="6B7A8F"/>
                </a:solidFill>
              </a:rPr>
              <a:t>Ezekiel 47:13–48:35  ·  twelve tribal bands from north to south  ·  schematic, not to scale</a:t>
            </a:r>
            <a:endParaRPr lang="en-US" sz="1400" dirty="0"/>
          </a:p>
        </p:txBody>
      </p:sp>
      <p:sp>
        <p:nvSpPr>
          <p:cNvPr id="5" name="Text 2"/>
          <p:cNvSpPr txBox="1"/>
          <p:nvPr/>
        </p:nvSpPr>
        <p:spPr>
          <a:xfrm>
            <a:off x="1097280" y="1325880"/>
            <a:ext cx="5120640" cy="256032"/>
          </a:xfrm>
          <a:prstGeom prst="rect">
            <a:avLst/>
          </a:prstGeom>
          <a:noFill/>
          <a:ln/>
        </p:spPr>
        <p:txBody>
          <a:bodyPr wrap="square" lIns="0" tIns="0" rIns="0" bIns="0" rtlCol="0" anchor="t"/>
          <a:lstStyle/>
          <a:p>
            <a:pPr algn="ctr" indent="0" marL="0">
              <a:buNone/>
            </a:pPr>
            <a:r>
              <a:rPr lang="en-US" sz="1000" b="1" dirty="0">
                <a:solidFill>
                  <a:schemeClr val="accent6"/>
                </a:solidFill>
              </a:rPr>
              <a:t>NORTH</a:t>
            </a:r>
            <a:endParaRPr lang="en-US" sz="1000" dirty="0"/>
          </a:p>
        </p:txBody>
      </p:sp>
      <p:sp>
        <p:nvSpPr>
          <p:cNvPr id="6" name="Text 3"/>
          <p:cNvSpPr txBox="1"/>
          <p:nvPr/>
        </p:nvSpPr>
        <p:spPr>
          <a:xfrm>
            <a:off x="548640" y="3566160"/>
            <a:ext cx="457200" cy="274320"/>
          </a:xfrm>
          <a:prstGeom prst="rect">
            <a:avLst/>
          </a:prstGeom>
          <a:noFill/>
          <a:ln/>
        </p:spPr>
        <p:txBody>
          <a:bodyPr wrap="square" lIns="0" tIns="0" rIns="0" bIns="0" rtlCol="0" anchor="t"/>
          <a:lstStyle/>
          <a:p>
            <a:pPr algn="ctr" indent="0" marL="0">
              <a:buNone/>
            </a:pPr>
            <a:r>
              <a:rPr lang="en-US" sz="1100" b="1" dirty="0">
                <a:solidFill>
                  <a:schemeClr val="accent6"/>
                </a:solidFill>
              </a:rPr>
              <a:t>W</a:t>
            </a:r>
            <a:endParaRPr lang="en-US" sz="1100" dirty="0"/>
          </a:p>
        </p:txBody>
      </p:sp>
      <p:sp>
        <p:nvSpPr>
          <p:cNvPr id="7" name="Text 4"/>
          <p:cNvSpPr txBox="1"/>
          <p:nvPr/>
        </p:nvSpPr>
        <p:spPr>
          <a:xfrm>
            <a:off x="6263640" y="3566160"/>
            <a:ext cx="457200" cy="274320"/>
          </a:xfrm>
          <a:prstGeom prst="rect">
            <a:avLst/>
          </a:prstGeom>
          <a:noFill/>
          <a:ln/>
        </p:spPr>
        <p:txBody>
          <a:bodyPr wrap="square" lIns="0" tIns="0" rIns="0" bIns="0" rtlCol="0" anchor="t"/>
          <a:lstStyle/>
          <a:p>
            <a:pPr algn="ctr" indent="0" marL="0">
              <a:buNone/>
            </a:pPr>
            <a:r>
              <a:rPr lang="en-US" sz="1100" b="1" dirty="0">
                <a:solidFill>
                  <a:schemeClr val="accent6"/>
                </a:solidFill>
              </a:rPr>
              <a:t>E</a:t>
            </a:r>
            <a:endParaRPr lang="en-US" sz="1100" dirty="0"/>
          </a:p>
        </p:txBody>
      </p:sp>
      <p:sp>
        <p:nvSpPr>
          <p:cNvPr id="8" name="Text 5"/>
          <p:cNvSpPr txBox="1"/>
          <p:nvPr/>
        </p:nvSpPr>
        <p:spPr>
          <a:xfrm>
            <a:off x="1097280" y="1600200"/>
            <a:ext cx="5120640" cy="310896"/>
          </a:xfrm>
          <a:prstGeom prst="rect">
            <a:avLst/>
          </a:prstGeom>
          <a:solidFill>
            <a:srgbClr val="2E5496"/>
          </a:solidFill>
          <a:ln w="9525">
            <a:solidFill>
              <a:srgbClr val="FAF7EF"/>
            </a:solidFill>
          </a:ln>
        </p:spPr>
        <p:txBody>
          <a:bodyPr wrap="square" lIns="38100" tIns="38100" rIns="38100" bIns="38100" rtlCol="0" anchor="ctr"/>
          <a:lstStyle/>
          <a:p>
            <a:pPr algn="ctr" indent="0" marL="0">
              <a:buNone/>
            </a:pPr>
            <a:r>
              <a:rPr lang="en-US" sz="1100" b="1" dirty="0">
                <a:solidFill>
                  <a:schemeClr val="bg1"/>
                </a:solidFill>
              </a:rPr>
              <a:t>Dan</a:t>
            </a:r>
            <a:endParaRPr lang="en-US" sz="1100" dirty="0"/>
          </a:p>
        </p:txBody>
      </p:sp>
      <p:sp>
        <p:nvSpPr>
          <p:cNvPr id="9" name="Text 6"/>
          <p:cNvSpPr txBox="1"/>
          <p:nvPr/>
        </p:nvSpPr>
        <p:spPr>
          <a:xfrm>
            <a:off x="1097280" y="1911096"/>
            <a:ext cx="5120640" cy="310896"/>
          </a:xfrm>
          <a:prstGeom prst="rect">
            <a:avLst/>
          </a:prstGeom>
          <a:solidFill>
            <a:srgbClr val="3B62A3"/>
          </a:solidFill>
          <a:ln w="9525">
            <a:solidFill>
              <a:srgbClr val="FAF7EF"/>
            </a:solidFill>
          </a:ln>
        </p:spPr>
        <p:txBody>
          <a:bodyPr wrap="square" lIns="38100" tIns="38100" rIns="38100" bIns="38100" rtlCol="0" anchor="ctr"/>
          <a:lstStyle/>
          <a:p>
            <a:pPr algn="ctr" indent="0" marL="0">
              <a:buNone/>
            </a:pPr>
            <a:r>
              <a:rPr lang="en-US" sz="1100" b="1" dirty="0">
                <a:solidFill>
                  <a:schemeClr val="bg1"/>
                </a:solidFill>
              </a:rPr>
              <a:t>Asher</a:t>
            </a:r>
            <a:endParaRPr lang="en-US" sz="1100" dirty="0"/>
          </a:p>
        </p:txBody>
      </p:sp>
      <p:sp>
        <p:nvSpPr>
          <p:cNvPr id="10" name="Text 7"/>
          <p:cNvSpPr txBox="1"/>
          <p:nvPr/>
        </p:nvSpPr>
        <p:spPr>
          <a:xfrm>
            <a:off x="1097280" y="2221992"/>
            <a:ext cx="5120640" cy="310896"/>
          </a:xfrm>
          <a:prstGeom prst="rect">
            <a:avLst/>
          </a:prstGeom>
          <a:solidFill>
            <a:srgbClr val="2E5496"/>
          </a:solidFill>
          <a:ln w="9525">
            <a:solidFill>
              <a:srgbClr val="FAF7EF"/>
            </a:solidFill>
          </a:ln>
        </p:spPr>
        <p:txBody>
          <a:bodyPr wrap="square" lIns="38100" tIns="38100" rIns="38100" bIns="38100" rtlCol="0" anchor="ctr"/>
          <a:lstStyle/>
          <a:p>
            <a:pPr algn="ctr" indent="0" marL="0">
              <a:buNone/>
            </a:pPr>
            <a:r>
              <a:rPr lang="en-US" sz="1100" b="1" dirty="0">
                <a:solidFill>
                  <a:schemeClr val="bg1"/>
                </a:solidFill>
              </a:rPr>
              <a:t>Naphtali</a:t>
            </a:r>
            <a:endParaRPr lang="en-US" sz="1100" dirty="0"/>
          </a:p>
        </p:txBody>
      </p:sp>
      <p:sp>
        <p:nvSpPr>
          <p:cNvPr id="11" name="Text 8"/>
          <p:cNvSpPr txBox="1"/>
          <p:nvPr/>
        </p:nvSpPr>
        <p:spPr>
          <a:xfrm>
            <a:off x="1097280" y="2532888"/>
            <a:ext cx="5120640" cy="310896"/>
          </a:xfrm>
          <a:prstGeom prst="rect">
            <a:avLst/>
          </a:prstGeom>
          <a:solidFill>
            <a:srgbClr val="3B62A3"/>
          </a:solidFill>
          <a:ln w="9525">
            <a:solidFill>
              <a:srgbClr val="FAF7EF"/>
            </a:solidFill>
          </a:ln>
        </p:spPr>
        <p:txBody>
          <a:bodyPr wrap="square" lIns="38100" tIns="38100" rIns="38100" bIns="38100" rtlCol="0" anchor="ctr"/>
          <a:lstStyle/>
          <a:p>
            <a:pPr algn="ctr" indent="0" marL="0">
              <a:buNone/>
            </a:pPr>
            <a:r>
              <a:rPr lang="en-US" sz="1100" b="1" dirty="0">
                <a:solidFill>
                  <a:schemeClr val="bg1"/>
                </a:solidFill>
              </a:rPr>
              <a:t>Manasseh</a:t>
            </a:r>
            <a:endParaRPr lang="en-US" sz="1100" dirty="0"/>
          </a:p>
        </p:txBody>
      </p:sp>
      <p:sp>
        <p:nvSpPr>
          <p:cNvPr id="12" name="Text 9"/>
          <p:cNvSpPr txBox="1"/>
          <p:nvPr/>
        </p:nvSpPr>
        <p:spPr>
          <a:xfrm>
            <a:off x="1097280" y="2843784"/>
            <a:ext cx="5120640" cy="310896"/>
          </a:xfrm>
          <a:prstGeom prst="rect">
            <a:avLst/>
          </a:prstGeom>
          <a:solidFill>
            <a:srgbClr val="2E5496"/>
          </a:solidFill>
          <a:ln w="9525">
            <a:solidFill>
              <a:srgbClr val="FAF7EF"/>
            </a:solidFill>
          </a:ln>
        </p:spPr>
        <p:txBody>
          <a:bodyPr wrap="square" lIns="38100" tIns="38100" rIns="38100" bIns="38100" rtlCol="0" anchor="ctr"/>
          <a:lstStyle/>
          <a:p>
            <a:pPr algn="ctr" indent="0" marL="0">
              <a:buNone/>
            </a:pPr>
            <a:r>
              <a:rPr lang="en-US" sz="1100" b="1" dirty="0">
                <a:solidFill>
                  <a:schemeClr val="bg1"/>
                </a:solidFill>
              </a:rPr>
              <a:t>Ephraim</a:t>
            </a:r>
            <a:endParaRPr lang="en-US" sz="1100" dirty="0"/>
          </a:p>
        </p:txBody>
      </p:sp>
      <p:sp>
        <p:nvSpPr>
          <p:cNvPr id="13" name="Text 10"/>
          <p:cNvSpPr txBox="1"/>
          <p:nvPr/>
        </p:nvSpPr>
        <p:spPr>
          <a:xfrm>
            <a:off x="1097280" y="3154680"/>
            <a:ext cx="5120640" cy="310896"/>
          </a:xfrm>
          <a:prstGeom prst="rect">
            <a:avLst/>
          </a:prstGeom>
          <a:solidFill>
            <a:srgbClr val="3B62A3"/>
          </a:solidFill>
          <a:ln w="9525">
            <a:solidFill>
              <a:srgbClr val="FAF7EF"/>
            </a:solidFill>
          </a:ln>
        </p:spPr>
        <p:txBody>
          <a:bodyPr wrap="square" lIns="38100" tIns="38100" rIns="38100" bIns="38100" rtlCol="0" anchor="ctr"/>
          <a:lstStyle/>
          <a:p>
            <a:pPr algn="ctr" indent="0" marL="0">
              <a:buNone/>
            </a:pPr>
            <a:r>
              <a:rPr lang="en-US" sz="1100" b="1" dirty="0">
                <a:solidFill>
                  <a:schemeClr val="bg1"/>
                </a:solidFill>
              </a:rPr>
              <a:t>Reuben</a:t>
            </a:r>
            <a:endParaRPr lang="en-US" sz="1100" dirty="0"/>
          </a:p>
        </p:txBody>
      </p:sp>
      <p:sp>
        <p:nvSpPr>
          <p:cNvPr id="14" name="Text 11"/>
          <p:cNvSpPr txBox="1"/>
          <p:nvPr/>
        </p:nvSpPr>
        <p:spPr>
          <a:xfrm>
            <a:off x="1097280" y="3465576"/>
            <a:ext cx="5120640" cy="310896"/>
          </a:xfrm>
          <a:prstGeom prst="rect">
            <a:avLst/>
          </a:prstGeom>
          <a:solidFill>
            <a:srgbClr val="2E5496"/>
          </a:solidFill>
          <a:ln w="9525">
            <a:solidFill>
              <a:srgbClr val="FAF7EF"/>
            </a:solidFill>
          </a:ln>
        </p:spPr>
        <p:txBody>
          <a:bodyPr wrap="square" lIns="38100" tIns="38100" rIns="38100" bIns="38100" rtlCol="0" anchor="ctr"/>
          <a:lstStyle/>
          <a:p>
            <a:pPr algn="ctr" indent="0" marL="0">
              <a:buNone/>
            </a:pPr>
            <a:r>
              <a:rPr lang="en-US" sz="1100" b="1" dirty="0">
                <a:solidFill>
                  <a:schemeClr val="bg1"/>
                </a:solidFill>
              </a:rPr>
              <a:t>Judah</a:t>
            </a:r>
            <a:endParaRPr lang="en-US" sz="1100" dirty="0"/>
          </a:p>
        </p:txBody>
      </p:sp>
      <p:sp>
        <p:nvSpPr>
          <p:cNvPr id="15" name="Text 12"/>
          <p:cNvSpPr txBox="1"/>
          <p:nvPr/>
        </p:nvSpPr>
        <p:spPr>
          <a:xfrm>
            <a:off x="1097280" y="3776472"/>
            <a:ext cx="1097280" cy="868680"/>
          </a:xfrm>
          <a:prstGeom prst="rect">
            <a:avLst/>
          </a:prstGeom>
          <a:solidFill>
            <a:srgbClr val="C9A227"/>
          </a:solidFill>
          <a:ln w="9525">
            <a:solidFill>
              <a:srgbClr val="FAF7EF"/>
            </a:solidFill>
          </a:ln>
        </p:spPr>
        <p:txBody>
          <a:bodyPr wrap="square" lIns="38100" tIns="38100" rIns="38100" bIns="38100" rtlCol="0" anchor="ctr"/>
          <a:lstStyle/>
          <a:p>
            <a:pPr algn="ctr" indent="0" marL="0">
              <a:buNone/>
            </a:pPr>
            <a:r>
              <a:rPr lang="en-US" sz="1100" b="1" dirty="0">
                <a:solidFill>
                  <a:srgbClr val="1F2A3D"/>
                </a:solidFill>
              </a:rPr>
              <a:t>Prince</a:t>
            </a:r>
            <a:endParaRPr lang="en-US" sz="1100" dirty="0"/>
          </a:p>
        </p:txBody>
      </p:sp>
      <p:sp>
        <p:nvSpPr>
          <p:cNvPr id="16" name="Text 13"/>
          <p:cNvSpPr txBox="1"/>
          <p:nvPr/>
        </p:nvSpPr>
        <p:spPr>
          <a:xfrm>
            <a:off x="2194560" y="3776472"/>
            <a:ext cx="2926080" cy="868680"/>
          </a:xfrm>
          <a:prstGeom prst="rect">
            <a:avLst/>
          </a:prstGeom>
          <a:solidFill>
            <a:schemeClr val="accent3"/>
          </a:solidFill>
          <a:ln w="9525">
            <a:solidFill>
              <a:srgbClr val="FAF7EF"/>
            </a:solidFill>
          </a:ln>
        </p:spPr>
        <p:txBody>
          <a:bodyPr wrap="square" lIns="38100" tIns="38100" rIns="38100" bIns="38100" rtlCol="0" anchor="ctr"/>
          <a:lstStyle/>
          <a:p>
            <a:pPr algn="ctr" indent="0" marL="0">
              <a:buNone/>
            </a:pPr>
            <a:r>
              <a:rPr lang="en-US" sz="1100" b="1" dirty="0">
                <a:solidFill>
                  <a:schemeClr val="bg1"/>
                </a:solidFill>
              </a:rPr>
              <a:t>HOLY ALLOTMENT</a:t>
            </a:r>
            <a:endParaRPr lang="en-US" sz="1100" dirty="0"/>
          </a:p>
          <a:p>
            <a:pPr algn="ctr" indent="0" marL="0">
              <a:buNone/>
            </a:pPr>
            <a:r>
              <a:rPr lang="en-US" sz="1100" b="1" dirty="0">
                <a:solidFill>
                  <a:schemeClr val="bg1"/>
                </a:solidFill>
              </a:rPr>
              <a:t>25,000 cubits square</a:t>
            </a:r>
            <a:endParaRPr lang="en-US" sz="1100" dirty="0"/>
          </a:p>
          <a:p>
            <a:pPr algn="ctr" indent="0" marL="0">
              <a:buNone/>
            </a:pPr>
            <a:r>
              <a:rPr lang="en-US" sz="1100" b="1" dirty="0">
                <a:solidFill>
                  <a:schemeClr val="bg1"/>
                </a:solidFill>
              </a:rPr>
              <a:t>sanctuary · priests · Levites · city</a:t>
            </a:r>
            <a:endParaRPr lang="en-US" sz="1100" dirty="0"/>
          </a:p>
        </p:txBody>
      </p:sp>
      <p:sp>
        <p:nvSpPr>
          <p:cNvPr id="17" name="Text 14"/>
          <p:cNvSpPr txBox="1"/>
          <p:nvPr/>
        </p:nvSpPr>
        <p:spPr>
          <a:xfrm>
            <a:off x="5120640" y="3776472"/>
            <a:ext cx="1097280" cy="868680"/>
          </a:xfrm>
          <a:prstGeom prst="rect">
            <a:avLst/>
          </a:prstGeom>
          <a:solidFill>
            <a:srgbClr val="C9A227"/>
          </a:solidFill>
          <a:ln w="9525">
            <a:solidFill>
              <a:srgbClr val="FAF7EF"/>
            </a:solidFill>
          </a:ln>
        </p:spPr>
        <p:txBody>
          <a:bodyPr wrap="square" lIns="38100" tIns="38100" rIns="38100" bIns="38100" rtlCol="0" anchor="ctr"/>
          <a:lstStyle/>
          <a:p>
            <a:pPr algn="ctr" indent="0" marL="0">
              <a:buNone/>
            </a:pPr>
            <a:r>
              <a:rPr lang="en-US" sz="1100" b="1" dirty="0">
                <a:solidFill>
                  <a:srgbClr val="1F2A3D"/>
                </a:solidFill>
              </a:rPr>
              <a:t>Prince</a:t>
            </a:r>
            <a:endParaRPr lang="en-US" sz="1100" dirty="0"/>
          </a:p>
        </p:txBody>
      </p:sp>
      <p:sp>
        <p:nvSpPr>
          <p:cNvPr id="18" name="Text 15"/>
          <p:cNvSpPr txBox="1"/>
          <p:nvPr/>
        </p:nvSpPr>
        <p:spPr>
          <a:xfrm>
            <a:off x="1097280" y="4645152"/>
            <a:ext cx="5120640" cy="310896"/>
          </a:xfrm>
          <a:prstGeom prst="rect">
            <a:avLst/>
          </a:prstGeom>
          <a:solidFill>
            <a:srgbClr val="2E5496"/>
          </a:solidFill>
          <a:ln w="9525">
            <a:solidFill>
              <a:srgbClr val="FAF7EF"/>
            </a:solidFill>
          </a:ln>
        </p:spPr>
        <p:txBody>
          <a:bodyPr wrap="square" lIns="38100" tIns="38100" rIns="38100" bIns="38100" rtlCol="0" anchor="ctr"/>
          <a:lstStyle/>
          <a:p>
            <a:pPr algn="ctr" indent="0" marL="0">
              <a:buNone/>
            </a:pPr>
            <a:r>
              <a:rPr lang="en-US" sz="1100" b="1" dirty="0">
                <a:solidFill>
                  <a:schemeClr val="bg1"/>
                </a:solidFill>
              </a:rPr>
              <a:t>Benjamin</a:t>
            </a:r>
            <a:endParaRPr lang="en-US" sz="1100" dirty="0"/>
          </a:p>
        </p:txBody>
      </p:sp>
      <p:sp>
        <p:nvSpPr>
          <p:cNvPr id="19" name="Text 16"/>
          <p:cNvSpPr txBox="1"/>
          <p:nvPr/>
        </p:nvSpPr>
        <p:spPr>
          <a:xfrm>
            <a:off x="1097280" y="4956048"/>
            <a:ext cx="5120640" cy="310896"/>
          </a:xfrm>
          <a:prstGeom prst="rect">
            <a:avLst/>
          </a:prstGeom>
          <a:solidFill>
            <a:srgbClr val="3B62A3"/>
          </a:solidFill>
          <a:ln w="9525">
            <a:solidFill>
              <a:srgbClr val="FAF7EF"/>
            </a:solidFill>
          </a:ln>
        </p:spPr>
        <p:txBody>
          <a:bodyPr wrap="square" lIns="38100" tIns="38100" rIns="38100" bIns="38100" rtlCol="0" anchor="ctr"/>
          <a:lstStyle/>
          <a:p>
            <a:pPr algn="ctr" indent="0" marL="0">
              <a:buNone/>
            </a:pPr>
            <a:r>
              <a:rPr lang="en-US" sz="1100" b="1" dirty="0">
                <a:solidFill>
                  <a:schemeClr val="bg1"/>
                </a:solidFill>
              </a:rPr>
              <a:t>Simeon</a:t>
            </a:r>
            <a:endParaRPr lang="en-US" sz="1100" dirty="0"/>
          </a:p>
        </p:txBody>
      </p:sp>
      <p:sp>
        <p:nvSpPr>
          <p:cNvPr id="20" name="Text 17"/>
          <p:cNvSpPr txBox="1"/>
          <p:nvPr/>
        </p:nvSpPr>
        <p:spPr>
          <a:xfrm>
            <a:off x="1097280" y="5266944"/>
            <a:ext cx="5120640" cy="310896"/>
          </a:xfrm>
          <a:prstGeom prst="rect">
            <a:avLst/>
          </a:prstGeom>
          <a:solidFill>
            <a:srgbClr val="2E5496"/>
          </a:solidFill>
          <a:ln w="9525">
            <a:solidFill>
              <a:srgbClr val="FAF7EF"/>
            </a:solidFill>
          </a:ln>
        </p:spPr>
        <p:txBody>
          <a:bodyPr wrap="square" lIns="38100" tIns="38100" rIns="38100" bIns="38100" rtlCol="0" anchor="ctr"/>
          <a:lstStyle/>
          <a:p>
            <a:pPr algn="ctr" indent="0" marL="0">
              <a:buNone/>
            </a:pPr>
            <a:r>
              <a:rPr lang="en-US" sz="1100" b="1" dirty="0">
                <a:solidFill>
                  <a:schemeClr val="bg1"/>
                </a:solidFill>
              </a:rPr>
              <a:t>Issachar</a:t>
            </a:r>
            <a:endParaRPr lang="en-US" sz="1100" dirty="0"/>
          </a:p>
        </p:txBody>
      </p:sp>
      <p:sp>
        <p:nvSpPr>
          <p:cNvPr id="21" name="Text 18"/>
          <p:cNvSpPr txBox="1"/>
          <p:nvPr/>
        </p:nvSpPr>
        <p:spPr>
          <a:xfrm>
            <a:off x="1097280" y="5577840"/>
            <a:ext cx="5120640" cy="310896"/>
          </a:xfrm>
          <a:prstGeom prst="rect">
            <a:avLst/>
          </a:prstGeom>
          <a:solidFill>
            <a:srgbClr val="3B62A3"/>
          </a:solidFill>
          <a:ln w="9525">
            <a:solidFill>
              <a:srgbClr val="FAF7EF"/>
            </a:solidFill>
          </a:ln>
        </p:spPr>
        <p:txBody>
          <a:bodyPr wrap="square" lIns="38100" tIns="38100" rIns="38100" bIns="38100" rtlCol="0" anchor="ctr"/>
          <a:lstStyle/>
          <a:p>
            <a:pPr algn="ctr" indent="0" marL="0">
              <a:buNone/>
            </a:pPr>
            <a:r>
              <a:rPr lang="en-US" sz="1100" b="1" dirty="0">
                <a:solidFill>
                  <a:schemeClr val="bg1"/>
                </a:solidFill>
              </a:rPr>
              <a:t>Zebulun</a:t>
            </a:r>
            <a:endParaRPr lang="en-US" sz="1100" dirty="0"/>
          </a:p>
        </p:txBody>
      </p:sp>
      <p:sp>
        <p:nvSpPr>
          <p:cNvPr id="22" name="Text 19"/>
          <p:cNvSpPr txBox="1"/>
          <p:nvPr/>
        </p:nvSpPr>
        <p:spPr>
          <a:xfrm>
            <a:off x="1097280" y="5888736"/>
            <a:ext cx="5120640" cy="310896"/>
          </a:xfrm>
          <a:prstGeom prst="rect">
            <a:avLst/>
          </a:prstGeom>
          <a:solidFill>
            <a:srgbClr val="2E5496"/>
          </a:solidFill>
          <a:ln w="9525">
            <a:solidFill>
              <a:srgbClr val="FAF7EF"/>
            </a:solidFill>
          </a:ln>
        </p:spPr>
        <p:txBody>
          <a:bodyPr wrap="square" lIns="38100" tIns="38100" rIns="38100" bIns="38100" rtlCol="0" anchor="ctr"/>
          <a:lstStyle/>
          <a:p>
            <a:pPr algn="ctr" indent="0" marL="0">
              <a:buNone/>
            </a:pPr>
            <a:r>
              <a:rPr lang="en-US" sz="1100" b="1" dirty="0">
                <a:solidFill>
                  <a:schemeClr val="bg1"/>
                </a:solidFill>
              </a:rPr>
              <a:t>Gad</a:t>
            </a:r>
            <a:endParaRPr lang="en-US" sz="1100" dirty="0"/>
          </a:p>
        </p:txBody>
      </p:sp>
      <p:sp>
        <p:nvSpPr>
          <p:cNvPr id="23" name="Text 20"/>
          <p:cNvSpPr txBox="1"/>
          <p:nvPr/>
        </p:nvSpPr>
        <p:spPr>
          <a:xfrm>
            <a:off x="1097280" y="6227064"/>
            <a:ext cx="5120640" cy="256032"/>
          </a:xfrm>
          <a:prstGeom prst="rect">
            <a:avLst/>
          </a:prstGeom>
          <a:noFill/>
          <a:ln/>
        </p:spPr>
        <p:txBody>
          <a:bodyPr wrap="square" lIns="0" tIns="0" rIns="0" bIns="0" rtlCol="0" anchor="t"/>
          <a:lstStyle/>
          <a:p>
            <a:pPr algn="ctr" indent="0" marL="0">
              <a:buNone/>
            </a:pPr>
            <a:r>
              <a:rPr lang="en-US" sz="1000" b="1" dirty="0">
                <a:solidFill>
                  <a:schemeClr val="accent6"/>
                </a:solidFill>
              </a:rPr>
              <a:t>SOUTH</a:t>
            </a:r>
            <a:endParaRPr lang="en-US" sz="1000" dirty="0"/>
          </a:p>
        </p:txBody>
      </p:sp>
      <p:sp>
        <p:nvSpPr>
          <p:cNvPr id="24" name="Text 21"/>
          <p:cNvSpPr txBox="1"/>
          <p:nvPr/>
        </p:nvSpPr>
        <p:spPr>
          <a:xfrm>
            <a:off x="6766560" y="1417320"/>
            <a:ext cx="4892040" cy="274320"/>
          </a:xfrm>
          <a:prstGeom prst="rect">
            <a:avLst/>
          </a:prstGeom>
          <a:noFill/>
          <a:ln/>
        </p:spPr>
        <p:txBody>
          <a:bodyPr wrap="square" lIns="0" tIns="0" rIns="0" bIns="0" rtlCol="0" anchor="t"/>
          <a:lstStyle/>
          <a:p>
            <a:pPr algn="ctr" indent="0" marL="0">
              <a:buNone/>
            </a:pPr>
            <a:r>
              <a:rPr lang="en-US" sz="1300" b="1" dirty="0">
                <a:solidFill>
                  <a:schemeClr val="tx2"/>
                </a:solidFill>
              </a:rPr>
              <a:t>The city and its twelve gates  (Ezek 48:30–35)</a:t>
            </a:r>
            <a:endParaRPr lang="en-US" sz="1300" dirty="0"/>
          </a:p>
        </p:txBody>
      </p:sp>
      <p:sp>
        <p:nvSpPr>
          <p:cNvPr id="25" name="Shape 22"/>
          <p:cNvSpPr/>
          <p:nvPr/>
        </p:nvSpPr>
        <p:spPr>
          <a:xfrm>
            <a:off x="7772400" y="2788920"/>
            <a:ext cx="2011680" cy="2011680"/>
          </a:xfrm>
          <a:prstGeom prst="rect">
            <a:avLst/>
          </a:prstGeom>
          <a:solidFill>
            <a:srgbClr val="FFFFFF"/>
          </a:solidFill>
          <a:ln w="31750">
            <a:solidFill>
              <a:srgbClr val="B8892B"/>
            </a:solidFill>
            <a:prstDash val="solid"/>
          </a:ln>
        </p:spPr>
      </p:sp>
      <p:sp>
        <p:nvSpPr>
          <p:cNvPr id="26" name="Text 23"/>
          <p:cNvSpPr txBox="1"/>
          <p:nvPr/>
        </p:nvSpPr>
        <p:spPr>
          <a:xfrm>
            <a:off x="7772400" y="3291840"/>
            <a:ext cx="2011680" cy="1005840"/>
          </a:xfrm>
          <a:prstGeom prst="rect">
            <a:avLst/>
          </a:prstGeom>
          <a:noFill/>
          <a:ln/>
        </p:spPr>
        <p:txBody>
          <a:bodyPr wrap="square" lIns="0" tIns="0" rIns="0" bIns="0" rtlCol="0" anchor="ctr"/>
          <a:lstStyle/>
          <a:p>
            <a:pPr algn="ctr" indent="0" marL="0">
              <a:buNone/>
            </a:pPr>
            <a:r>
              <a:rPr lang="en-US" sz="1100" b="1" dirty="0">
                <a:solidFill>
                  <a:srgbClr val="8A6A1E"/>
                </a:solidFill>
              </a:rPr>
              <a:t>YAHWEH SHAMMAH</a:t>
            </a:r>
            <a:endParaRPr lang="en-US" sz="1100" dirty="0"/>
          </a:p>
          <a:p>
            <a:pPr algn="ctr" indent="0" marL="0">
              <a:buNone/>
            </a:pPr>
            <a:r>
              <a:rPr lang="en-US" sz="1100" b="1" dirty="0">
                <a:solidFill>
                  <a:srgbClr val="8A6A1E"/>
                </a:solidFill>
              </a:rPr>
              <a:t>“The LORD is there”</a:t>
            </a:r>
            <a:endParaRPr lang="en-US" sz="1100" dirty="0"/>
          </a:p>
          <a:p>
            <a:pPr algn="ctr" indent="0" marL="0">
              <a:buNone/>
            </a:pPr>
            <a:r>
              <a:rPr lang="en-US" sz="1100" b="1" dirty="0">
                <a:solidFill>
                  <a:srgbClr val="8A6A1E"/>
                </a:solidFill>
              </a:rPr>
              <a:t>Ezek 48:35</a:t>
            </a:r>
            <a:endParaRPr lang="en-US" sz="1100" dirty="0"/>
          </a:p>
          <a:p>
            <a:pPr algn="ctr" indent="0" marL="0">
              <a:buNone/>
            </a:pPr>
            <a:r>
              <a:rPr lang="en-US" sz="1100" b="1" dirty="0">
                <a:solidFill>
                  <a:srgbClr val="8A6A1E"/>
                </a:solidFill>
              </a:rPr>
              <a:t>4,500 cubits a side</a:t>
            </a:r>
            <a:endParaRPr lang="en-US" sz="1100" dirty="0"/>
          </a:p>
        </p:txBody>
      </p:sp>
      <p:sp>
        <p:nvSpPr>
          <p:cNvPr id="27" name="Text 24"/>
          <p:cNvSpPr txBox="1"/>
          <p:nvPr/>
        </p:nvSpPr>
        <p:spPr>
          <a:xfrm>
            <a:off x="7708392" y="2496312"/>
            <a:ext cx="822960" cy="256032"/>
          </a:xfrm>
          <a:prstGeom prst="rect">
            <a:avLst/>
          </a:prstGeom>
          <a:noFill/>
          <a:ln/>
        </p:spPr>
        <p:txBody>
          <a:bodyPr wrap="square" lIns="0" tIns="0" rIns="0" bIns="0" rtlCol="0" anchor="t"/>
          <a:lstStyle/>
          <a:p>
            <a:pPr algn="ctr" indent="0" marL="0">
              <a:buNone/>
            </a:pPr>
            <a:r>
              <a:rPr lang="en-US" sz="1000" b="1" dirty="0">
                <a:solidFill>
                  <a:schemeClr val="tx2"/>
                </a:solidFill>
              </a:rPr>
              <a:t>Reuben</a:t>
            </a:r>
            <a:endParaRPr lang="en-US" sz="1000" dirty="0"/>
          </a:p>
        </p:txBody>
      </p:sp>
      <p:sp>
        <p:nvSpPr>
          <p:cNvPr id="28" name="Text 25"/>
          <p:cNvSpPr txBox="1"/>
          <p:nvPr/>
        </p:nvSpPr>
        <p:spPr>
          <a:xfrm>
            <a:off x="7662672" y="4837176"/>
            <a:ext cx="914400" cy="256032"/>
          </a:xfrm>
          <a:prstGeom prst="rect">
            <a:avLst/>
          </a:prstGeom>
          <a:noFill/>
          <a:ln/>
        </p:spPr>
        <p:txBody>
          <a:bodyPr wrap="square" lIns="0" tIns="0" rIns="0" bIns="0" rtlCol="0" anchor="t"/>
          <a:lstStyle/>
          <a:p>
            <a:pPr algn="ctr" indent="0" marL="0">
              <a:buNone/>
            </a:pPr>
            <a:r>
              <a:rPr lang="en-US" sz="1000" b="1" dirty="0">
                <a:solidFill>
                  <a:schemeClr val="tx2"/>
                </a:solidFill>
              </a:rPr>
              <a:t>Simeon</a:t>
            </a:r>
            <a:endParaRPr lang="en-US" sz="1000" dirty="0"/>
          </a:p>
        </p:txBody>
      </p:sp>
      <p:sp>
        <p:nvSpPr>
          <p:cNvPr id="29" name="Text 26"/>
          <p:cNvSpPr txBox="1"/>
          <p:nvPr/>
        </p:nvSpPr>
        <p:spPr>
          <a:xfrm>
            <a:off x="6675120" y="3008376"/>
            <a:ext cx="914400" cy="256032"/>
          </a:xfrm>
          <a:prstGeom prst="rect">
            <a:avLst/>
          </a:prstGeom>
          <a:noFill/>
          <a:ln/>
        </p:spPr>
        <p:txBody>
          <a:bodyPr wrap="square" lIns="0" tIns="0" rIns="0" bIns="0" rtlCol="0" anchor="t"/>
          <a:lstStyle/>
          <a:p>
            <a:pPr algn="r" indent="0" marL="0">
              <a:buNone/>
            </a:pPr>
            <a:r>
              <a:rPr lang="en-US" sz="1000" b="1" dirty="0">
                <a:solidFill>
                  <a:schemeClr val="tx2"/>
                </a:solidFill>
              </a:rPr>
              <a:t>Gad</a:t>
            </a:r>
            <a:endParaRPr lang="en-US" sz="1000" dirty="0"/>
          </a:p>
        </p:txBody>
      </p:sp>
      <p:sp>
        <p:nvSpPr>
          <p:cNvPr id="30" name="Text 27"/>
          <p:cNvSpPr txBox="1"/>
          <p:nvPr/>
        </p:nvSpPr>
        <p:spPr>
          <a:xfrm>
            <a:off x="9966960" y="3008376"/>
            <a:ext cx="914400" cy="256032"/>
          </a:xfrm>
          <a:prstGeom prst="rect">
            <a:avLst/>
          </a:prstGeom>
          <a:noFill/>
          <a:ln/>
        </p:spPr>
        <p:txBody>
          <a:bodyPr wrap="square" lIns="0" tIns="0" rIns="0" bIns="0" rtlCol="0" anchor="t"/>
          <a:lstStyle/>
          <a:p>
            <a:pPr algn="l" indent="0" marL="0">
              <a:buNone/>
            </a:pPr>
            <a:r>
              <a:rPr lang="en-US" sz="1000" b="1" dirty="0">
                <a:solidFill>
                  <a:schemeClr val="tx2"/>
                </a:solidFill>
              </a:rPr>
              <a:t>Joseph</a:t>
            </a:r>
            <a:endParaRPr lang="en-US" sz="1000" dirty="0"/>
          </a:p>
        </p:txBody>
      </p:sp>
      <p:sp>
        <p:nvSpPr>
          <p:cNvPr id="31" name="Shape 28"/>
          <p:cNvSpPr/>
          <p:nvPr/>
        </p:nvSpPr>
        <p:spPr>
          <a:xfrm>
            <a:off x="8037576" y="2743200"/>
            <a:ext cx="164592" cy="91440"/>
          </a:xfrm>
          <a:prstGeom prst="rect">
            <a:avLst/>
          </a:prstGeom>
          <a:solidFill>
            <a:srgbClr val="1F3864"/>
          </a:solidFill>
          <a:ln w="12700">
            <a:solidFill>
              <a:srgbClr val="1F3864"/>
            </a:solidFill>
            <a:prstDash val="solid"/>
          </a:ln>
        </p:spPr>
      </p:sp>
      <p:sp>
        <p:nvSpPr>
          <p:cNvPr id="32" name="Shape 29"/>
          <p:cNvSpPr/>
          <p:nvPr/>
        </p:nvSpPr>
        <p:spPr>
          <a:xfrm>
            <a:off x="8037576" y="4754880"/>
            <a:ext cx="164592" cy="91440"/>
          </a:xfrm>
          <a:prstGeom prst="rect">
            <a:avLst/>
          </a:prstGeom>
          <a:solidFill>
            <a:srgbClr val="1F3864"/>
          </a:solidFill>
          <a:ln w="12700">
            <a:solidFill>
              <a:srgbClr val="1F3864"/>
            </a:solidFill>
            <a:prstDash val="solid"/>
          </a:ln>
        </p:spPr>
      </p:sp>
      <p:sp>
        <p:nvSpPr>
          <p:cNvPr id="33" name="Shape 30"/>
          <p:cNvSpPr/>
          <p:nvPr/>
        </p:nvSpPr>
        <p:spPr>
          <a:xfrm>
            <a:off x="7726680" y="3054096"/>
            <a:ext cx="91440" cy="164592"/>
          </a:xfrm>
          <a:prstGeom prst="rect">
            <a:avLst/>
          </a:prstGeom>
          <a:solidFill>
            <a:srgbClr val="1F3864"/>
          </a:solidFill>
          <a:ln w="12700">
            <a:solidFill>
              <a:srgbClr val="1F3864"/>
            </a:solidFill>
            <a:prstDash val="solid"/>
          </a:ln>
        </p:spPr>
      </p:sp>
      <p:sp>
        <p:nvSpPr>
          <p:cNvPr id="34" name="Shape 31"/>
          <p:cNvSpPr/>
          <p:nvPr/>
        </p:nvSpPr>
        <p:spPr>
          <a:xfrm>
            <a:off x="9738360" y="3054096"/>
            <a:ext cx="91440" cy="164592"/>
          </a:xfrm>
          <a:prstGeom prst="rect">
            <a:avLst/>
          </a:prstGeom>
          <a:solidFill>
            <a:srgbClr val="1F3864"/>
          </a:solidFill>
          <a:ln w="12700">
            <a:solidFill>
              <a:srgbClr val="1F3864"/>
            </a:solidFill>
            <a:prstDash val="solid"/>
          </a:ln>
        </p:spPr>
      </p:sp>
      <p:sp>
        <p:nvSpPr>
          <p:cNvPr id="35" name="Text 32"/>
          <p:cNvSpPr txBox="1"/>
          <p:nvPr/>
        </p:nvSpPr>
        <p:spPr>
          <a:xfrm>
            <a:off x="8366760" y="2496312"/>
            <a:ext cx="822960" cy="256032"/>
          </a:xfrm>
          <a:prstGeom prst="rect">
            <a:avLst/>
          </a:prstGeom>
          <a:noFill/>
          <a:ln/>
        </p:spPr>
        <p:txBody>
          <a:bodyPr wrap="square" lIns="0" tIns="0" rIns="0" bIns="0" rtlCol="0" anchor="t"/>
          <a:lstStyle/>
          <a:p>
            <a:pPr algn="ctr" indent="0" marL="0">
              <a:buNone/>
            </a:pPr>
            <a:r>
              <a:rPr lang="en-US" sz="1000" b="1" dirty="0">
                <a:solidFill>
                  <a:schemeClr val="tx2"/>
                </a:solidFill>
              </a:rPr>
              <a:t>Judah</a:t>
            </a:r>
            <a:endParaRPr lang="en-US" sz="1000" dirty="0"/>
          </a:p>
        </p:txBody>
      </p:sp>
      <p:sp>
        <p:nvSpPr>
          <p:cNvPr id="36" name="Text 33"/>
          <p:cNvSpPr txBox="1"/>
          <p:nvPr/>
        </p:nvSpPr>
        <p:spPr>
          <a:xfrm>
            <a:off x="8321040" y="4837176"/>
            <a:ext cx="914400" cy="256032"/>
          </a:xfrm>
          <a:prstGeom prst="rect">
            <a:avLst/>
          </a:prstGeom>
          <a:noFill/>
          <a:ln/>
        </p:spPr>
        <p:txBody>
          <a:bodyPr wrap="square" lIns="0" tIns="0" rIns="0" bIns="0" rtlCol="0" anchor="t"/>
          <a:lstStyle/>
          <a:p>
            <a:pPr algn="ctr" indent="0" marL="0">
              <a:buNone/>
            </a:pPr>
            <a:r>
              <a:rPr lang="en-US" sz="1000" b="1" dirty="0">
                <a:solidFill>
                  <a:schemeClr val="tx2"/>
                </a:solidFill>
              </a:rPr>
              <a:t>Issachar</a:t>
            </a:r>
            <a:endParaRPr lang="en-US" sz="1000" dirty="0"/>
          </a:p>
        </p:txBody>
      </p:sp>
      <p:sp>
        <p:nvSpPr>
          <p:cNvPr id="37" name="Text 34"/>
          <p:cNvSpPr txBox="1"/>
          <p:nvPr/>
        </p:nvSpPr>
        <p:spPr>
          <a:xfrm>
            <a:off x="6675120" y="3666744"/>
            <a:ext cx="914400" cy="256032"/>
          </a:xfrm>
          <a:prstGeom prst="rect">
            <a:avLst/>
          </a:prstGeom>
          <a:noFill/>
          <a:ln/>
        </p:spPr>
        <p:txBody>
          <a:bodyPr wrap="square" lIns="0" tIns="0" rIns="0" bIns="0" rtlCol="0" anchor="t"/>
          <a:lstStyle/>
          <a:p>
            <a:pPr algn="r" indent="0" marL="0">
              <a:buNone/>
            </a:pPr>
            <a:r>
              <a:rPr lang="en-US" sz="1000" b="1" dirty="0">
                <a:solidFill>
                  <a:schemeClr val="tx2"/>
                </a:solidFill>
              </a:rPr>
              <a:t>Asher</a:t>
            </a:r>
            <a:endParaRPr lang="en-US" sz="1000" dirty="0"/>
          </a:p>
        </p:txBody>
      </p:sp>
      <p:sp>
        <p:nvSpPr>
          <p:cNvPr id="38" name="Text 35"/>
          <p:cNvSpPr txBox="1"/>
          <p:nvPr/>
        </p:nvSpPr>
        <p:spPr>
          <a:xfrm>
            <a:off x="9966960" y="3666744"/>
            <a:ext cx="914400" cy="256032"/>
          </a:xfrm>
          <a:prstGeom prst="rect">
            <a:avLst/>
          </a:prstGeom>
          <a:noFill/>
          <a:ln/>
        </p:spPr>
        <p:txBody>
          <a:bodyPr wrap="square" lIns="0" tIns="0" rIns="0" bIns="0" rtlCol="0" anchor="t"/>
          <a:lstStyle/>
          <a:p>
            <a:pPr algn="l" indent="0" marL="0">
              <a:buNone/>
            </a:pPr>
            <a:r>
              <a:rPr lang="en-US" sz="1000" b="1" dirty="0">
                <a:solidFill>
                  <a:schemeClr val="tx2"/>
                </a:solidFill>
              </a:rPr>
              <a:t>Benjamin</a:t>
            </a:r>
            <a:endParaRPr lang="en-US" sz="1000" dirty="0"/>
          </a:p>
        </p:txBody>
      </p:sp>
      <p:sp>
        <p:nvSpPr>
          <p:cNvPr id="39" name="Shape 36"/>
          <p:cNvSpPr/>
          <p:nvPr/>
        </p:nvSpPr>
        <p:spPr>
          <a:xfrm>
            <a:off x="8695944" y="2743200"/>
            <a:ext cx="164592" cy="91440"/>
          </a:xfrm>
          <a:prstGeom prst="rect">
            <a:avLst/>
          </a:prstGeom>
          <a:solidFill>
            <a:srgbClr val="1F3864"/>
          </a:solidFill>
          <a:ln w="12700">
            <a:solidFill>
              <a:srgbClr val="1F3864"/>
            </a:solidFill>
            <a:prstDash val="solid"/>
          </a:ln>
        </p:spPr>
      </p:sp>
      <p:sp>
        <p:nvSpPr>
          <p:cNvPr id="40" name="Shape 37"/>
          <p:cNvSpPr/>
          <p:nvPr/>
        </p:nvSpPr>
        <p:spPr>
          <a:xfrm>
            <a:off x="8695944" y="4754880"/>
            <a:ext cx="164592" cy="91440"/>
          </a:xfrm>
          <a:prstGeom prst="rect">
            <a:avLst/>
          </a:prstGeom>
          <a:solidFill>
            <a:srgbClr val="1F3864"/>
          </a:solidFill>
          <a:ln w="12700">
            <a:solidFill>
              <a:srgbClr val="1F3864"/>
            </a:solidFill>
            <a:prstDash val="solid"/>
          </a:ln>
        </p:spPr>
      </p:sp>
      <p:sp>
        <p:nvSpPr>
          <p:cNvPr id="41" name="Shape 38"/>
          <p:cNvSpPr/>
          <p:nvPr/>
        </p:nvSpPr>
        <p:spPr>
          <a:xfrm>
            <a:off x="7726680" y="3712464"/>
            <a:ext cx="91440" cy="164592"/>
          </a:xfrm>
          <a:prstGeom prst="rect">
            <a:avLst/>
          </a:prstGeom>
          <a:solidFill>
            <a:srgbClr val="1F3864"/>
          </a:solidFill>
          <a:ln w="12700">
            <a:solidFill>
              <a:srgbClr val="1F3864"/>
            </a:solidFill>
            <a:prstDash val="solid"/>
          </a:ln>
        </p:spPr>
      </p:sp>
      <p:sp>
        <p:nvSpPr>
          <p:cNvPr id="42" name="Shape 39"/>
          <p:cNvSpPr/>
          <p:nvPr/>
        </p:nvSpPr>
        <p:spPr>
          <a:xfrm>
            <a:off x="9738360" y="3712464"/>
            <a:ext cx="91440" cy="164592"/>
          </a:xfrm>
          <a:prstGeom prst="rect">
            <a:avLst/>
          </a:prstGeom>
          <a:solidFill>
            <a:srgbClr val="1F3864"/>
          </a:solidFill>
          <a:ln w="12700">
            <a:solidFill>
              <a:srgbClr val="1F3864"/>
            </a:solidFill>
            <a:prstDash val="solid"/>
          </a:ln>
        </p:spPr>
      </p:sp>
      <p:sp>
        <p:nvSpPr>
          <p:cNvPr id="43" name="Text 40"/>
          <p:cNvSpPr txBox="1"/>
          <p:nvPr/>
        </p:nvSpPr>
        <p:spPr>
          <a:xfrm>
            <a:off x="9025128" y="2496312"/>
            <a:ext cx="822960" cy="256032"/>
          </a:xfrm>
          <a:prstGeom prst="rect">
            <a:avLst/>
          </a:prstGeom>
          <a:noFill/>
          <a:ln/>
        </p:spPr>
        <p:txBody>
          <a:bodyPr wrap="square" lIns="0" tIns="0" rIns="0" bIns="0" rtlCol="0" anchor="t"/>
          <a:lstStyle/>
          <a:p>
            <a:pPr algn="ctr" indent="0" marL="0">
              <a:buNone/>
            </a:pPr>
            <a:r>
              <a:rPr lang="en-US" sz="1000" b="1" dirty="0">
                <a:solidFill>
                  <a:schemeClr val="tx2"/>
                </a:solidFill>
              </a:rPr>
              <a:t>Levi</a:t>
            </a:r>
            <a:endParaRPr lang="en-US" sz="1000" dirty="0"/>
          </a:p>
        </p:txBody>
      </p:sp>
      <p:sp>
        <p:nvSpPr>
          <p:cNvPr id="44" name="Text 41"/>
          <p:cNvSpPr txBox="1"/>
          <p:nvPr/>
        </p:nvSpPr>
        <p:spPr>
          <a:xfrm>
            <a:off x="8979408" y="4837176"/>
            <a:ext cx="914400" cy="256032"/>
          </a:xfrm>
          <a:prstGeom prst="rect">
            <a:avLst/>
          </a:prstGeom>
          <a:noFill/>
          <a:ln/>
        </p:spPr>
        <p:txBody>
          <a:bodyPr wrap="square" lIns="0" tIns="0" rIns="0" bIns="0" rtlCol="0" anchor="t"/>
          <a:lstStyle/>
          <a:p>
            <a:pPr algn="ctr" indent="0" marL="0">
              <a:buNone/>
            </a:pPr>
            <a:r>
              <a:rPr lang="en-US" sz="1000" b="1" dirty="0">
                <a:solidFill>
                  <a:schemeClr val="tx2"/>
                </a:solidFill>
              </a:rPr>
              <a:t>Zebulun</a:t>
            </a:r>
            <a:endParaRPr lang="en-US" sz="1000" dirty="0"/>
          </a:p>
        </p:txBody>
      </p:sp>
      <p:sp>
        <p:nvSpPr>
          <p:cNvPr id="45" name="Text 42"/>
          <p:cNvSpPr txBox="1"/>
          <p:nvPr/>
        </p:nvSpPr>
        <p:spPr>
          <a:xfrm>
            <a:off x="6675120" y="4325112"/>
            <a:ext cx="914400" cy="256032"/>
          </a:xfrm>
          <a:prstGeom prst="rect">
            <a:avLst/>
          </a:prstGeom>
          <a:noFill/>
          <a:ln/>
        </p:spPr>
        <p:txBody>
          <a:bodyPr wrap="square" lIns="0" tIns="0" rIns="0" bIns="0" rtlCol="0" anchor="t"/>
          <a:lstStyle/>
          <a:p>
            <a:pPr algn="r" indent="0" marL="0">
              <a:buNone/>
            </a:pPr>
            <a:r>
              <a:rPr lang="en-US" sz="1000" b="1" dirty="0">
                <a:solidFill>
                  <a:schemeClr val="tx2"/>
                </a:solidFill>
              </a:rPr>
              <a:t>Naphtali</a:t>
            </a:r>
            <a:endParaRPr lang="en-US" sz="1000" dirty="0"/>
          </a:p>
        </p:txBody>
      </p:sp>
      <p:sp>
        <p:nvSpPr>
          <p:cNvPr id="46" name="Text 43"/>
          <p:cNvSpPr txBox="1"/>
          <p:nvPr/>
        </p:nvSpPr>
        <p:spPr>
          <a:xfrm>
            <a:off x="9966960" y="4325112"/>
            <a:ext cx="914400" cy="256032"/>
          </a:xfrm>
          <a:prstGeom prst="rect">
            <a:avLst/>
          </a:prstGeom>
          <a:noFill/>
          <a:ln/>
        </p:spPr>
        <p:txBody>
          <a:bodyPr wrap="square" lIns="0" tIns="0" rIns="0" bIns="0" rtlCol="0" anchor="t"/>
          <a:lstStyle/>
          <a:p>
            <a:pPr algn="l" indent="0" marL="0">
              <a:buNone/>
            </a:pPr>
            <a:r>
              <a:rPr lang="en-US" sz="1000" b="1" dirty="0">
                <a:solidFill>
                  <a:schemeClr val="tx2"/>
                </a:solidFill>
              </a:rPr>
              <a:t>Dan</a:t>
            </a:r>
            <a:endParaRPr lang="en-US" sz="1000" dirty="0"/>
          </a:p>
        </p:txBody>
      </p:sp>
      <p:sp>
        <p:nvSpPr>
          <p:cNvPr id="47" name="Shape 44"/>
          <p:cNvSpPr/>
          <p:nvPr/>
        </p:nvSpPr>
        <p:spPr>
          <a:xfrm>
            <a:off x="9354312" y="2743200"/>
            <a:ext cx="164592" cy="91440"/>
          </a:xfrm>
          <a:prstGeom prst="rect">
            <a:avLst/>
          </a:prstGeom>
          <a:solidFill>
            <a:srgbClr val="1F3864"/>
          </a:solidFill>
          <a:ln w="12700">
            <a:solidFill>
              <a:srgbClr val="1F3864"/>
            </a:solidFill>
            <a:prstDash val="solid"/>
          </a:ln>
        </p:spPr>
      </p:sp>
      <p:sp>
        <p:nvSpPr>
          <p:cNvPr id="48" name="Shape 45"/>
          <p:cNvSpPr/>
          <p:nvPr/>
        </p:nvSpPr>
        <p:spPr>
          <a:xfrm>
            <a:off x="9354312" y="4754880"/>
            <a:ext cx="164592" cy="91440"/>
          </a:xfrm>
          <a:prstGeom prst="rect">
            <a:avLst/>
          </a:prstGeom>
          <a:solidFill>
            <a:srgbClr val="1F3864"/>
          </a:solidFill>
          <a:ln w="12700">
            <a:solidFill>
              <a:srgbClr val="1F3864"/>
            </a:solidFill>
            <a:prstDash val="solid"/>
          </a:ln>
        </p:spPr>
      </p:sp>
      <p:sp>
        <p:nvSpPr>
          <p:cNvPr id="49" name="Shape 46"/>
          <p:cNvSpPr/>
          <p:nvPr/>
        </p:nvSpPr>
        <p:spPr>
          <a:xfrm>
            <a:off x="7726680" y="4370832"/>
            <a:ext cx="91440" cy="164592"/>
          </a:xfrm>
          <a:prstGeom prst="rect">
            <a:avLst/>
          </a:prstGeom>
          <a:solidFill>
            <a:srgbClr val="1F3864"/>
          </a:solidFill>
          <a:ln w="12700">
            <a:solidFill>
              <a:srgbClr val="1F3864"/>
            </a:solidFill>
            <a:prstDash val="solid"/>
          </a:ln>
        </p:spPr>
      </p:sp>
      <p:sp>
        <p:nvSpPr>
          <p:cNvPr id="50" name="Shape 47"/>
          <p:cNvSpPr/>
          <p:nvPr/>
        </p:nvSpPr>
        <p:spPr>
          <a:xfrm>
            <a:off x="9738360" y="4370832"/>
            <a:ext cx="91440" cy="164592"/>
          </a:xfrm>
          <a:prstGeom prst="rect">
            <a:avLst/>
          </a:prstGeom>
          <a:solidFill>
            <a:srgbClr val="1F3864"/>
          </a:solidFill>
          <a:ln w="12700">
            <a:solidFill>
              <a:srgbClr val="1F3864"/>
            </a:solidFill>
            <a:prstDash val="solid"/>
          </a:ln>
        </p:spPr>
      </p:sp>
      <p:sp>
        <p:nvSpPr>
          <p:cNvPr id="51" name="Text 48"/>
          <p:cNvSpPr txBox="1"/>
          <p:nvPr/>
        </p:nvSpPr>
        <p:spPr>
          <a:xfrm>
            <a:off x="6766560" y="5897880"/>
            <a:ext cx="4892040" cy="457200"/>
          </a:xfrm>
          <a:prstGeom prst="rect">
            <a:avLst/>
          </a:prstGeom>
          <a:noFill/>
          <a:ln/>
        </p:spPr>
        <p:txBody>
          <a:bodyPr wrap="square" lIns="0" tIns="0" rIns="0" bIns="0" rtlCol="0" anchor="t"/>
          <a:lstStyle/>
          <a:p>
            <a:pPr algn="l" indent="0" marL="0">
              <a:buNone/>
            </a:pPr>
            <a:r>
              <a:rPr lang="en-US" sz="1100" i="1" dirty="0">
                <a:solidFill>
                  <a:schemeClr val="accent6"/>
                </a:solidFill>
              </a:rPr>
              <a:t>Joseph receives two portions (Manasseh and Ephraim), so Levi’s name appears on a gate, not a land band (Ezek 47:13; 48:31–32).</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11155680" cy="621792"/>
          </a:xfrm>
          <a:prstGeom prst="rect">
            <a:avLst/>
          </a:prstGeom>
          <a:noFill/>
          <a:ln/>
        </p:spPr>
        <p:txBody>
          <a:bodyPr wrap="square" lIns="0" tIns="0" rIns="0" bIns="0" rtlCol="0" anchor="ctr"/>
          <a:lstStyle/>
          <a:p>
            <a:pPr algn="l" indent="0" marL="0">
              <a:buNone/>
            </a:pPr>
            <a:r>
              <a:rPr lang="en-US" sz="3400" b="1" dirty="0">
                <a:solidFill>
                  <a:srgbClr val="1F3864"/>
                </a:solidFill>
              </a:rPr>
              <a:t>When Is the Rapture?</a:t>
            </a:r>
            <a:endParaRPr lang="en-US" sz="3400" dirty="0"/>
          </a:p>
        </p:txBody>
      </p:sp>
      <p:sp>
        <p:nvSpPr>
          <p:cNvPr id="3" name="Text 1"/>
          <p:cNvSpPr/>
          <p:nvPr>
            <p:ph idx="102" type="body" hasCustomPrompt="1"/>
          </p:nvPr>
        </p:nvSpPr>
        <p:spPr>
          <a:xfrm>
            <a:off x="502920" y="914400"/>
            <a:ext cx="11155680" cy="347472"/>
          </a:xfrm>
          <a:prstGeom prst="rect">
            <a:avLst/>
          </a:prstGeom>
          <a:noFill/>
          <a:ln/>
        </p:spPr>
        <p:txBody>
          <a:bodyPr wrap="square" lIns="0" tIns="0" rIns="0" bIns="0" rtlCol="0" anchor="ctr"/>
          <a:lstStyle/>
          <a:p>
            <a:pPr indent="0" marL="0">
              <a:buNone/>
            </a:pPr>
            <a:r>
              <a:rPr lang="en-US" sz="1400" i="1" dirty="0">
                <a:solidFill>
                  <a:srgbClr val="6B7A8F"/>
                </a:solidFill>
              </a:rPr>
              <a:t>Five views of the Rapture’s timing relative to Daniel’s 70th week</a:t>
            </a:r>
            <a:endParaRPr lang="en-US" sz="1400" dirty="0"/>
          </a:p>
        </p:txBody>
      </p:sp>
      <p:sp>
        <p:nvSpPr>
          <p:cNvPr id="5" name="Text 2"/>
          <p:cNvSpPr txBox="1"/>
          <p:nvPr/>
        </p:nvSpPr>
        <p:spPr>
          <a:xfrm>
            <a:off x="3931920" y="1417320"/>
            <a:ext cx="5394960" cy="274320"/>
          </a:xfrm>
          <a:prstGeom prst="rect">
            <a:avLst/>
          </a:prstGeom>
          <a:noFill/>
          <a:ln/>
        </p:spPr>
        <p:txBody>
          <a:bodyPr wrap="square" lIns="0" tIns="0" rIns="0" bIns="0" rtlCol="0" anchor="t"/>
          <a:lstStyle/>
          <a:p>
            <a:pPr algn="ctr" indent="0" marL="0">
              <a:buNone/>
            </a:pPr>
            <a:r>
              <a:rPr lang="en-US" sz="1200" b="1" dirty="0">
                <a:solidFill>
                  <a:schemeClr val="accent4"/>
                </a:solidFill>
              </a:rPr>
              <a:t>Daniel’s 70th week — 7 years</a:t>
            </a:r>
            <a:endParaRPr lang="en-US" sz="1200" dirty="0"/>
          </a:p>
        </p:txBody>
      </p:sp>
      <p:sp>
        <p:nvSpPr>
          <p:cNvPr id="6" name="Text 3"/>
          <p:cNvSpPr txBox="1"/>
          <p:nvPr/>
        </p:nvSpPr>
        <p:spPr>
          <a:xfrm>
            <a:off x="548640" y="1810512"/>
            <a:ext cx="3200400" cy="274320"/>
          </a:xfrm>
          <a:prstGeom prst="rect">
            <a:avLst/>
          </a:prstGeom>
          <a:noFill/>
          <a:ln/>
        </p:spPr>
        <p:txBody>
          <a:bodyPr wrap="square" lIns="0" tIns="0" rIns="0" bIns="0" rtlCol="0" anchor="t"/>
          <a:lstStyle/>
          <a:p>
            <a:pPr algn="l" indent="0" marL="0">
              <a:buNone/>
            </a:pPr>
            <a:r>
              <a:rPr lang="en-US" sz="1300" b="1" dirty="0">
                <a:solidFill>
                  <a:schemeClr val="tx2"/>
                </a:solidFill>
              </a:rPr>
              <a:t>Pretribulation  ★</a:t>
            </a:r>
            <a:endParaRPr lang="en-US" sz="1300" dirty="0"/>
          </a:p>
        </p:txBody>
      </p:sp>
      <p:sp>
        <p:nvSpPr>
          <p:cNvPr id="7" name="Text 4"/>
          <p:cNvSpPr txBox="1"/>
          <p:nvPr/>
        </p:nvSpPr>
        <p:spPr>
          <a:xfrm>
            <a:off x="548640" y="2075688"/>
            <a:ext cx="3291840" cy="256032"/>
          </a:xfrm>
          <a:prstGeom prst="rect">
            <a:avLst/>
          </a:prstGeom>
          <a:noFill/>
          <a:ln/>
        </p:spPr>
        <p:txBody>
          <a:bodyPr wrap="square" lIns="0" tIns="0" rIns="0" bIns="0" rtlCol="0" anchor="t"/>
          <a:lstStyle/>
          <a:p>
            <a:pPr algn="l" indent="0" marL="0">
              <a:buNone/>
            </a:pPr>
            <a:r>
              <a:rPr lang="en-US" sz="1000" i="1" dirty="0">
                <a:solidFill>
                  <a:schemeClr val="accent6"/>
                </a:solidFill>
              </a:rPr>
              <a:t>Darby, Chafer, Walvoord, Pentecost, Ryrie; DTS</a:t>
            </a:r>
            <a:endParaRPr lang="en-US" sz="1000" dirty="0"/>
          </a:p>
        </p:txBody>
      </p:sp>
      <p:sp>
        <p:nvSpPr>
          <p:cNvPr id="8" name="Text 5"/>
          <p:cNvSpPr txBox="1"/>
          <p:nvPr/>
        </p:nvSpPr>
        <p:spPr>
          <a:xfrm>
            <a:off x="3931920" y="1828800"/>
            <a:ext cx="2697480" cy="457200"/>
          </a:xfrm>
          <a:prstGeom prst="rect">
            <a:avLst/>
          </a:prstGeom>
          <a:solidFill>
            <a:srgbClr val="D9B3AA"/>
          </a:solidFill>
          <a:ln w="12700">
            <a:solidFill>
              <a:srgbClr val="FAF7EF"/>
            </a:solidFill>
          </a:ln>
        </p:spPr>
        <p:txBody>
          <a:bodyPr wrap="square" lIns="38100" tIns="38100" rIns="38100" bIns="38100" rtlCol="0" anchor="ctr"/>
          <a:lstStyle/>
          <a:p>
            <a:pPr algn="ctr" indent="0" marL="0">
              <a:buNone/>
            </a:pPr>
            <a:endParaRPr lang="en-US" sz="1300" dirty="0"/>
          </a:p>
        </p:txBody>
      </p:sp>
      <p:sp>
        <p:nvSpPr>
          <p:cNvPr id="9" name="Text 6"/>
          <p:cNvSpPr txBox="1"/>
          <p:nvPr/>
        </p:nvSpPr>
        <p:spPr>
          <a:xfrm>
            <a:off x="6629400" y="1828800"/>
            <a:ext cx="2697480" cy="457200"/>
          </a:xfrm>
          <a:prstGeom prst="rect">
            <a:avLst/>
          </a:prstGeom>
          <a:solidFill>
            <a:srgbClr val="C99A90"/>
          </a:solidFill>
          <a:ln w="12700">
            <a:solidFill>
              <a:srgbClr val="FAF7EF"/>
            </a:solidFill>
          </a:ln>
        </p:spPr>
        <p:txBody>
          <a:bodyPr wrap="square" lIns="38100" tIns="38100" rIns="38100" bIns="38100" rtlCol="0" anchor="ctr"/>
          <a:lstStyle/>
          <a:p>
            <a:pPr algn="ctr" indent="0" marL="0">
              <a:buNone/>
            </a:pPr>
            <a:endParaRPr lang="en-US" sz="1300" dirty="0"/>
          </a:p>
        </p:txBody>
      </p:sp>
      <p:sp>
        <p:nvSpPr>
          <p:cNvPr id="10" name="Shape 7"/>
          <p:cNvSpPr/>
          <p:nvPr/>
        </p:nvSpPr>
        <p:spPr>
          <a:xfrm>
            <a:off x="3480206" y="1783080"/>
            <a:ext cx="256032" cy="548640"/>
          </a:xfrm>
          <a:prstGeom prst="upArrow">
            <a:avLst/>
          </a:prstGeom>
          <a:solidFill>
            <a:srgbClr val="375623"/>
          </a:solidFill>
          <a:ln w="9525">
            <a:solidFill>
              <a:srgbClr val="FAF7EF"/>
            </a:solidFill>
            <a:prstDash val="solid"/>
          </a:ln>
        </p:spPr>
      </p:sp>
      <p:sp>
        <p:nvSpPr>
          <p:cNvPr id="11" name="Text 8"/>
          <p:cNvSpPr txBox="1"/>
          <p:nvPr/>
        </p:nvSpPr>
        <p:spPr>
          <a:xfrm>
            <a:off x="9692640" y="1847088"/>
            <a:ext cx="1965960" cy="457200"/>
          </a:xfrm>
          <a:prstGeom prst="rect">
            <a:avLst/>
          </a:prstGeom>
          <a:noFill/>
          <a:ln/>
        </p:spPr>
        <p:txBody>
          <a:bodyPr wrap="square" lIns="0" tIns="0" rIns="0" bIns="0" rtlCol="0" anchor="ctr"/>
          <a:lstStyle/>
          <a:p>
            <a:pPr algn="l" indent="0" marL="0">
              <a:buNone/>
            </a:pPr>
            <a:r>
              <a:rPr lang="en-US" sz="1200" b="1" dirty="0">
                <a:solidFill>
                  <a:schemeClr val="accent2"/>
                </a:solidFill>
              </a:rPr>
              <a:t>Before the week begins</a:t>
            </a:r>
            <a:endParaRPr lang="en-US" sz="1200" dirty="0"/>
          </a:p>
        </p:txBody>
      </p:sp>
      <p:sp>
        <p:nvSpPr>
          <p:cNvPr id="12" name="Text 9"/>
          <p:cNvSpPr txBox="1"/>
          <p:nvPr/>
        </p:nvSpPr>
        <p:spPr>
          <a:xfrm>
            <a:off x="548640" y="2596896"/>
            <a:ext cx="3200400" cy="274320"/>
          </a:xfrm>
          <a:prstGeom prst="rect">
            <a:avLst/>
          </a:prstGeom>
          <a:noFill/>
          <a:ln/>
        </p:spPr>
        <p:txBody>
          <a:bodyPr wrap="square" lIns="0" tIns="0" rIns="0" bIns="0" rtlCol="0" anchor="t"/>
          <a:lstStyle/>
          <a:p>
            <a:pPr algn="l" indent="0" marL="0">
              <a:buNone/>
            </a:pPr>
            <a:r>
              <a:rPr lang="en-US" sz="1300" b="1" dirty="0">
                <a:solidFill>
                  <a:schemeClr val="tx1"/>
                </a:solidFill>
              </a:rPr>
              <a:t>Midtribulation</a:t>
            </a:r>
            <a:endParaRPr lang="en-US" sz="1300" dirty="0"/>
          </a:p>
        </p:txBody>
      </p:sp>
      <p:sp>
        <p:nvSpPr>
          <p:cNvPr id="13" name="Text 10"/>
          <p:cNvSpPr txBox="1"/>
          <p:nvPr/>
        </p:nvSpPr>
        <p:spPr>
          <a:xfrm>
            <a:off x="548640" y="2862072"/>
            <a:ext cx="3291840" cy="256032"/>
          </a:xfrm>
          <a:prstGeom prst="rect">
            <a:avLst/>
          </a:prstGeom>
          <a:noFill/>
          <a:ln/>
        </p:spPr>
        <p:txBody>
          <a:bodyPr wrap="square" lIns="0" tIns="0" rIns="0" bIns="0" rtlCol="0" anchor="t"/>
          <a:lstStyle/>
          <a:p>
            <a:pPr algn="l" indent="0" marL="0">
              <a:buNone/>
            </a:pPr>
            <a:r>
              <a:rPr lang="en-US" sz="1000" i="1" dirty="0">
                <a:solidFill>
                  <a:schemeClr val="accent6"/>
                </a:solidFill>
              </a:rPr>
              <a:t>Gleason Archer, Norman Harrison</a:t>
            </a:r>
            <a:endParaRPr lang="en-US" sz="1000" dirty="0"/>
          </a:p>
        </p:txBody>
      </p:sp>
      <p:sp>
        <p:nvSpPr>
          <p:cNvPr id="14" name="Text 11"/>
          <p:cNvSpPr txBox="1"/>
          <p:nvPr/>
        </p:nvSpPr>
        <p:spPr>
          <a:xfrm>
            <a:off x="3931920" y="2615184"/>
            <a:ext cx="2697480" cy="457200"/>
          </a:xfrm>
          <a:prstGeom prst="rect">
            <a:avLst/>
          </a:prstGeom>
          <a:solidFill>
            <a:srgbClr val="D9B3AA"/>
          </a:solidFill>
          <a:ln w="12700">
            <a:solidFill>
              <a:srgbClr val="FAF7EF"/>
            </a:solidFill>
          </a:ln>
        </p:spPr>
        <p:txBody>
          <a:bodyPr wrap="square" lIns="38100" tIns="38100" rIns="38100" bIns="38100" rtlCol="0" anchor="ctr"/>
          <a:lstStyle/>
          <a:p>
            <a:pPr algn="ctr" indent="0" marL="0">
              <a:buNone/>
            </a:pPr>
            <a:endParaRPr lang="en-US" sz="1300" dirty="0"/>
          </a:p>
        </p:txBody>
      </p:sp>
      <p:sp>
        <p:nvSpPr>
          <p:cNvPr id="15" name="Text 12"/>
          <p:cNvSpPr txBox="1"/>
          <p:nvPr/>
        </p:nvSpPr>
        <p:spPr>
          <a:xfrm>
            <a:off x="6629400" y="2615184"/>
            <a:ext cx="2697480" cy="457200"/>
          </a:xfrm>
          <a:prstGeom prst="rect">
            <a:avLst/>
          </a:prstGeom>
          <a:solidFill>
            <a:srgbClr val="C99A90"/>
          </a:solidFill>
          <a:ln w="12700">
            <a:solidFill>
              <a:srgbClr val="FAF7EF"/>
            </a:solidFill>
          </a:ln>
        </p:spPr>
        <p:txBody>
          <a:bodyPr wrap="square" lIns="38100" tIns="38100" rIns="38100" bIns="38100" rtlCol="0" anchor="ctr"/>
          <a:lstStyle/>
          <a:p>
            <a:pPr algn="ctr" indent="0" marL="0">
              <a:buNone/>
            </a:pPr>
            <a:endParaRPr lang="en-US" sz="1300" dirty="0"/>
          </a:p>
        </p:txBody>
      </p:sp>
      <p:sp>
        <p:nvSpPr>
          <p:cNvPr id="16" name="Shape 13"/>
          <p:cNvSpPr/>
          <p:nvPr/>
        </p:nvSpPr>
        <p:spPr>
          <a:xfrm>
            <a:off x="6501384" y="2569464"/>
            <a:ext cx="256032" cy="548640"/>
          </a:xfrm>
          <a:prstGeom prst="upArrow">
            <a:avLst/>
          </a:prstGeom>
          <a:solidFill>
            <a:srgbClr val="375623"/>
          </a:solidFill>
          <a:ln w="9525">
            <a:solidFill>
              <a:srgbClr val="FAF7EF"/>
            </a:solidFill>
            <a:prstDash val="solid"/>
          </a:ln>
        </p:spPr>
      </p:sp>
      <p:sp>
        <p:nvSpPr>
          <p:cNvPr id="17" name="Text 14"/>
          <p:cNvSpPr txBox="1"/>
          <p:nvPr/>
        </p:nvSpPr>
        <p:spPr>
          <a:xfrm>
            <a:off x="9692640" y="2633472"/>
            <a:ext cx="1965960" cy="457200"/>
          </a:xfrm>
          <a:prstGeom prst="rect">
            <a:avLst/>
          </a:prstGeom>
          <a:noFill/>
          <a:ln/>
        </p:spPr>
        <p:txBody>
          <a:bodyPr wrap="square" lIns="0" tIns="0" rIns="0" bIns="0" rtlCol="0" anchor="ctr"/>
          <a:lstStyle/>
          <a:p>
            <a:pPr algn="l" indent="0" marL="0">
              <a:buNone/>
            </a:pPr>
            <a:r>
              <a:rPr lang="en-US" sz="1200" b="1" dirty="0">
                <a:solidFill>
                  <a:schemeClr val="accent2"/>
                </a:solidFill>
              </a:rPr>
              <a:t>At the midpoint</a:t>
            </a:r>
            <a:endParaRPr lang="en-US" sz="1200" dirty="0"/>
          </a:p>
        </p:txBody>
      </p:sp>
      <p:sp>
        <p:nvSpPr>
          <p:cNvPr id="18" name="Text 15"/>
          <p:cNvSpPr txBox="1"/>
          <p:nvPr/>
        </p:nvSpPr>
        <p:spPr>
          <a:xfrm>
            <a:off x="548640" y="3383280"/>
            <a:ext cx="3200400" cy="274320"/>
          </a:xfrm>
          <a:prstGeom prst="rect">
            <a:avLst/>
          </a:prstGeom>
          <a:noFill/>
          <a:ln/>
        </p:spPr>
        <p:txBody>
          <a:bodyPr wrap="square" lIns="0" tIns="0" rIns="0" bIns="0" rtlCol="0" anchor="t"/>
          <a:lstStyle/>
          <a:p>
            <a:pPr algn="l" indent="0" marL="0">
              <a:buNone/>
            </a:pPr>
            <a:r>
              <a:rPr lang="en-US" sz="1300" b="1" dirty="0">
                <a:solidFill>
                  <a:schemeClr val="tx1"/>
                </a:solidFill>
              </a:rPr>
              <a:t>Pre-wrath</a:t>
            </a:r>
            <a:endParaRPr lang="en-US" sz="1300" dirty="0"/>
          </a:p>
        </p:txBody>
      </p:sp>
      <p:sp>
        <p:nvSpPr>
          <p:cNvPr id="19" name="Text 16"/>
          <p:cNvSpPr txBox="1"/>
          <p:nvPr/>
        </p:nvSpPr>
        <p:spPr>
          <a:xfrm>
            <a:off x="548640" y="3648456"/>
            <a:ext cx="3291840" cy="256032"/>
          </a:xfrm>
          <a:prstGeom prst="rect">
            <a:avLst/>
          </a:prstGeom>
          <a:noFill/>
          <a:ln/>
        </p:spPr>
        <p:txBody>
          <a:bodyPr wrap="square" lIns="0" tIns="0" rIns="0" bIns="0" rtlCol="0" anchor="t"/>
          <a:lstStyle/>
          <a:p>
            <a:pPr algn="l" indent="0" marL="0">
              <a:buNone/>
            </a:pPr>
            <a:r>
              <a:rPr lang="en-US" sz="1000" i="1" dirty="0">
                <a:solidFill>
                  <a:schemeClr val="accent6"/>
                </a:solidFill>
              </a:rPr>
              <a:t>Marvin Rosenthal, Robert Van Kampen</a:t>
            </a:r>
            <a:endParaRPr lang="en-US" sz="1000" dirty="0"/>
          </a:p>
        </p:txBody>
      </p:sp>
      <p:sp>
        <p:nvSpPr>
          <p:cNvPr id="20" name="Text 17"/>
          <p:cNvSpPr txBox="1"/>
          <p:nvPr/>
        </p:nvSpPr>
        <p:spPr>
          <a:xfrm>
            <a:off x="3931920" y="3401568"/>
            <a:ext cx="2697480" cy="457200"/>
          </a:xfrm>
          <a:prstGeom prst="rect">
            <a:avLst/>
          </a:prstGeom>
          <a:solidFill>
            <a:srgbClr val="D9B3AA"/>
          </a:solidFill>
          <a:ln w="12700">
            <a:solidFill>
              <a:srgbClr val="FAF7EF"/>
            </a:solidFill>
          </a:ln>
        </p:spPr>
        <p:txBody>
          <a:bodyPr wrap="square" lIns="38100" tIns="38100" rIns="38100" bIns="38100" rtlCol="0" anchor="ctr"/>
          <a:lstStyle/>
          <a:p>
            <a:pPr algn="ctr" indent="0" marL="0">
              <a:buNone/>
            </a:pPr>
            <a:endParaRPr lang="en-US" sz="1300" dirty="0"/>
          </a:p>
        </p:txBody>
      </p:sp>
      <p:sp>
        <p:nvSpPr>
          <p:cNvPr id="21" name="Text 18"/>
          <p:cNvSpPr txBox="1"/>
          <p:nvPr/>
        </p:nvSpPr>
        <p:spPr>
          <a:xfrm>
            <a:off x="6629400" y="3401568"/>
            <a:ext cx="2697480" cy="457200"/>
          </a:xfrm>
          <a:prstGeom prst="rect">
            <a:avLst/>
          </a:prstGeom>
          <a:solidFill>
            <a:srgbClr val="C99A90"/>
          </a:solidFill>
          <a:ln w="12700">
            <a:solidFill>
              <a:srgbClr val="FAF7EF"/>
            </a:solidFill>
          </a:ln>
        </p:spPr>
        <p:txBody>
          <a:bodyPr wrap="square" lIns="38100" tIns="38100" rIns="38100" bIns="38100" rtlCol="0" anchor="ctr"/>
          <a:lstStyle/>
          <a:p>
            <a:pPr algn="ctr" indent="0" marL="0">
              <a:buNone/>
            </a:pPr>
            <a:endParaRPr lang="en-US" sz="1300" dirty="0"/>
          </a:p>
        </p:txBody>
      </p:sp>
      <p:sp>
        <p:nvSpPr>
          <p:cNvPr id="22" name="Shape 19"/>
          <p:cNvSpPr/>
          <p:nvPr/>
        </p:nvSpPr>
        <p:spPr>
          <a:xfrm>
            <a:off x="8011973" y="3355848"/>
            <a:ext cx="256032" cy="548640"/>
          </a:xfrm>
          <a:prstGeom prst="upArrow">
            <a:avLst/>
          </a:prstGeom>
          <a:solidFill>
            <a:srgbClr val="375623"/>
          </a:solidFill>
          <a:ln w="9525">
            <a:solidFill>
              <a:srgbClr val="FAF7EF"/>
            </a:solidFill>
            <a:prstDash val="solid"/>
          </a:ln>
        </p:spPr>
      </p:sp>
      <p:sp>
        <p:nvSpPr>
          <p:cNvPr id="23" name="Text 20"/>
          <p:cNvSpPr txBox="1"/>
          <p:nvPr/>
        </p:nvSpPr>
        <p:spPr>
          <a:xfrm>
            <a:off x="9692640" y="3419856"/>
            <a:ext cx="1965960" cy="457200"/>
          </a:xfrm>
          <a:prstGeom prst="rect">
            <a:avLst/>
          </a:prstGeom>
          <a:noFill/>
          <a:ln/>
        </p:spPr>
        <p:txBody>
          <a:bodyPr wrap="square" lIns="0" tIns="0" rIns="0" bIns="0" rtlCol="0" anchor="ctr"/>
          <a:lstStyle/>
          <a:p>
            <a:pPr algn="l" indent="0" marL="0">
              <a:buNone/>
            </a:pPr>
            <a:r>
              <a:rPr lang="en-US" sz="1200" b="1" dirty="0">
                <a:solidFill>
                  <a:schemeClr val="accent2"/>
                </a:solidFill>
              </a:rPr>
              <a:t>At the sixth seal, late</a:t>
            </a:r>
            <a:endParaRPr lang="en-US" sz="1200" dirty="0"/>
          </a:p>
        </p:txBody>
      </p:sp>
      <p:sp>
        <p:nvSpPr>
          <p:cNvPr id="24" name="Text 21"/>
          <p:cNvSpPr txBox="1"/>
          <p:nvPr/>
        </p:nvSpPr>
        <p:spPr>
          <a:xfrm>
            <a:off x="548640" y="4169664"/>
            <a:ext cx="3200400" cy="274320"/>
          </a:xfrm>
          <a:prstGeom prst="rect">
            <a:avLst/>
          </a:prstGeom>
          <a:noFill/>
          <a:ln/>
        </p:spPr>
        <p:txBody>
          <a:bodyPr wrap="square" lIns="0" tIns="0" rIns="0" bIns="0" rtlCol="0" anchor="t"/>
          <a:lstStyle/>
          <a:p>
            <a:pPr algn="l" indent="0" marL="0">
              <a:buNone/>
            </a:pPr>
            <a:r>
              <a:rPr lang="en-US" sz="1300" b="1" dirty="0">
                <a:solidFill>
                  <a:schemeClr val="tx1"/>
                </a:solidFill>
              </a:rPr>
              <a:t>Posttribulation</a:t>
            </a:r>
            <a:endParaRPr lang="en-US" sz="1300" dirty="0"/>
          </a:p>
        </p:txBody>
      </p:sp>
      <p:sp>
        <p:nvSpPr>
          <p:cNvPr id="25" name="Text 22"/>
          <p:cNvSpPr txBox="1"/>
          <p:nvPr/>
        </p:nvSpPr>
        <p:spPr>
          <a:xfrm>
            <a:off x="548640" y="4434840"/>
            <a:ext cx="3291840" cy="256032"/>
          </a:xfrm>
          <a:prstGeom prst="rect">
            <a:avLst/>
          </a:prstGeom>
          <a:noFill/>
          <a:ln/>
        </p:spPr>
        <p:txBody>
          <a:bodyPr wrap="square" lIns="0" tIns="0" rIns="0" bIns="0" rtlCol="0" anchor="t"/>
          <a:lstStyle/>
          <a:p>
            <a:pPr algn="l" indent="0" marL="0">
              <a:buNone/>
            </a:pPr>
            <a:r>
              <a:rPr lang="en-US" sz="1000" i="1" dirty="0">
                <a:solidFill>
                  <a:schemeClr val="accent6"/>
                </a:solidFill>
              </a:rPr>
              <a:t>George Ladd, Robert Gundry, Doug Moo</a:t>
            </a:r>
            <a:endParaRPr lang="en-US" sz="1000" dirty="0"/>
          </a:p>
        </p:txBody>
      </p:sp>
      <p:sp>
        <p:nvSpPr>
          <p:cNvPr id="26" name="Text 23"/>
          <p:cNvSpPr txBox="1"/>
          <p:nvPr/>
        </p:nvSpPr>
        <p:spPr>
          <a:xfrm>
            <a:off x="3931920" y="4187952"/>
            <a:ext cx="2697480" cy="457200"/>
          </a:xfrm>
          <a:prstGeom prst="rect">
            <a:avLst/>
          </a:prstGeom>
          <a:solidFill>
            <a:srgbClr val="D9B3AA"/>
          </a:solidFill>
          <a:ln w="12700">
            <a:solidFill>
              <a:srgbClr val="FAF7EF"/>
            </a:solidFill>
          </a:ln>
        </p:spPr>
        <p:txBody>
          <a:bodyPr wrap="square" lIns="38100" tIns="38100" rIns="38100" bIns="38100" rtlCol="0" anchor="ctr"/>
          <a:lstStyle/>
          <a:p>
            <a:pPr algn="ctr" indent="0" marL="0">
              <a:buNone/>
            </a:pPr>
            <a:endParaRPr lang="en-US" sz="1300" dirty="0"/>
          </a:p>
        </p:txBody>
      </p:sp>
      <p:sp>
        <p:nvSpPr>
          <p:cNvPr id="27" name="Text 24"/>
          <p:cNvSpPr txBox="1"/>
          <p:nvPr/>
        </p:nvSpPr>
        <p:spPr>
          <a:xfrm>
            <a:off x="6629400" y="4187952"/>
            <a:ext cx="2697480" cy="457200"/>
          </a:xfrm>
          <a:prstGeom prst="rect">
            <a:avLst/>
          </a:prstGeom>
          <a:solidFill>
            <a:srgbClr val="C99A90"/>
          </a:solidFill>
          <a:ln w="12700">
            <a:solidFill>
              <a:srgbClr val="FAF7EF"/>
            </a:solidFill>
          </a:ln>
        </p:spPr>
        <p:txBody>
          <a:bodyPr wrap="square" lIns="38100" tIns="38100" rIns="38100" bIns="38100" rtlCol="0" anchor="ctr"/>
          <a:lstStyle/>
          <a:p>
            <a:pPr algn="ctr" indent="0" marL="0">
              <a:buNone/>
            </a:pPr>
            <a:endParaRPr lang="en-US" sz="1300" dirty="0"/>
          </a:p>
        </p:txBody>
      </p:sp>
      <p:sp>
        <p:nvSpPr>
          <p:cNvPr id="28" name="Shape 25"/>
          <p:cNvSpPr/>
          <p:nvPr/>
        </p:nvSpPr>
        <p:spPr>
          <a:xfrm>
            <a:off x="9198864" y="4142232"/>
            <a:ext cx="256032" cy="548640"/>
          </a:xfrm>
          <a:prstGeom prst="upArrow">
            <a:avLst/>
          </a:prstGeom>
          <a:solidFill>
            <a:srgbClr val="375623"/>
          </a:solidFill>
          <a:ln w="9525">
            <a:solidFill>
              <a:srgbClr val="FAF7EF"/>
            </a:solidFill>
            <a:prstDash val="solid"/>
          </a:ln>
        </p:spPr>
      </p:sp>
      <p:sp>
        <p:nvSpPr>
          <p:cNvPr id="29" name="Text 26"/>
          <p:cNvSpPr txBox="1"/>
          <p:nvPr/>
        </p:nvSpPr>
        <p:spPr>
          <a:xfrm>
            <a:off x="9692640" y="4206240"/>
            <a:ext cx="1965960" cy="457200"/>
          </a:xfrm>
          <a:prstGeom prst="rect">
            <a:avLst/>
          </a:prstGeom>
          <a:noFill/>
          <a:ln/>
        </p:spPr>
        <p:txBody>
          <a:bodyPr wrap="square" lIns="0" tIns="0" rIns="0" bIns="0" rtlCol="0" anchor="ctr"/>
          <a:lstStyle/>
          <a:p>
            <a:pPr algn="l" indent="0" marL="0">
              <a:buNone/>
            </a:pPr>
            <a:r>
              <a:rPr lang="en-US" sz="1200" b="1" dirty="0">
                <a:solidFill>
                  <a:schemeClr val="accent2"/>
                </a:solidFill>
              </a:rPr>
              <a:t>With the Second Coming</a:t>
            </a:r>
            <a:endParaRPr lang="en-US" sz="1200" dirty="0"/>
          </a:p>
        </p:txBody>
      </p:sp>
      <p:sp>
        <p:nvSpPr>
          <p:cNvPr id="30" name="Text 27"/>
          <p:cNvSpPr txBox="1"/>
          <p:nvPr/>
        </p:nvSpPr>
        <p:spPr>
          <a:xfrm>
            <a:off x="548640" y="4956048"/>
            <a:ext cx="3200400" cy="274320"/>
          </a:xfrm>
          <a:prstGeom prst="rect">
            <a:avLst/>
          </a:prstGeom>
          <a:noFill/>
          <a:ln/>
        </p:spPr>
        <p:txBody>
          <a:bodyPr wrap="square" lIns="0" tIns="0" rIns="0" bIns="0" rtlCol="0" anchor="t"/>
          <a:lstStyle/>
          <a:p>
            <a:pPr algn="l" indent="0" marL="0">
              <a:buNone/>
            </a:pPr>
            <a:r>
              <a:rPr lang="en-US" sz="1300" b="1" dirty="0">
                <a:solidFill>
                  <a:schemeClr val="tx1"/>
                </a:solidFill>
              </a:rPr>
              <a:t>Partial rapture</a:t>
            </a:r>
            <a:endParaRPr lang="en-US" sz="1300" dirty="0"/>
          </a:p>
        </p:txBody>
      </p:sp>
      <p:sp>
        <p:nvSpPr>
          <p:cNvPr id="31" name="Text 28"/>
          <p:cNvSpPr txBox="1"/>
          <p:nvPr/>
        </p:nvSpPr>
        <p:spPr>
          <a:xfrm>
            <a:off x="548640" y="5221224"/>
            <a:ext cx="3291840" cy="256032"/>
          </a:xfrm>
          <a:prstGeom prst="rect">
            <a:avLst/>
          </a:prstGeom>
          <a:noFill/>
          <a:ln/>
        </p:spPr>
        <p:txBody>
          <a:bodyPr wrap="square" lIns="0" tIns="0" rIns="0" bIns="0" rtlCol="0" anchor="t"/>
          <a:lstStyle/>
          <a:p>
            <a:pPr algn="l" indent="0" marL="0">
              <a:buNone/>
            </a:pPr>
            <a:r>
              <a:rPr lang="en-US" sz="1000" i="1" dirty="0">
                <a:solidFill>
                  <a:schemeClr val="accent6"/>
                </a:solidFill>
              </a:rPr>
              <a:t>Robert Govett, G. H. Pember</a:t>
            </a:r>
            <a:endParaRPr lang="en-US" sz="1000" dirty="0"/>
          </a:p>
        </p:txBody>
      </p:sp>
      <p:sp>
        <p:nvSpPr>
          <p:cNvPr id="32" name="Text 29"/>
          <p:cNvSpPr txBox="1"/>
          <p:nvPr/>
        </p:nvSpPr>
        <p:spPr>
          <a:xfrm>
            <a:off x="3931920" y="4974336"/>
            <a:ext cx="2697480" cy="457200"/>
          </a:xfrm>
          <a:prstGeom prst="rect">
            <a:avLst/>
          </a:prstGeom>
          <a:solidFill>
            <a:srgbClr val="D9B3AA"/>
          </a:solidFill>
          <a:ln w="12700">
            <a:solidFill>
              <a:srgbClr val="FAF7EF"/>
            </a:solidFill>
          </a:ln>
        </p:spPr>
        <p:txBody>
          <a:bodyPr wrap="square" lIns="38100" tIns="38100" rIns="38100" bIns="38100" rtlCol="0" anchor="ctr"/>
          <a:lstStyle/>
          <a:p>
            <a:pPr algn="ctr" indent="0" marL="0">
              <a:buNone/>
            </a:pPr>
            <a:endParaRPr lang="en-US" sz="1300" dirty="0"/>
          </a:p>
        </p:txBody>
      </p:sp>
      <p:sp>
        <p:nvSpPr>
          <p:cNvPr id="33" name="Text 30"/>
          <p:cNvSpPr txBox="1"/>
          <p:nvPr/>
        </p:nvSpPr>
        <p:spPr>
          <a:xfrm>
            <a:off x="6629400" y="4974336"/>
            <a:ext cx="2697480" cy="457200"/>
          </a:xfrm>
          <a:prstGeom prst="rect">
            <a:avLst/>
          </a:prstGeom>
          <a:solidFill>
            <a:srgbClr val="C99A90"/>
          </a:solidFill>
          <a:ln w="12700">
            <a:solidFill>
              <a:srgbClr val="FAF7EF"/>
            </a:solidFill>
          </a:ln>
        </p:spPr>
        <p:txBody>
          <a:bodyPr wrap="square" lIns="38100" tIns="38100" rIns="38100" bIns="38100" rtlCol="0" anchor="ctr"/>
          <a:lstStyle/>
          <a:p>
            <a:pPr algn="ctr" indent="0" marL="0">
              <a:buNone/>
            </a:pPr>
            <a:endParaRPr lang="en-US" sz="1300" dirty="0"/>
          </a:p>
        </p:txBody>
      </p:sp>
      <p:sp>
        <p:nvSpPr>
          <p:cNvPr id="34" name="Shape 31"/>
          <p:cNvSpPr/>
          <p:nvPr/>
        </p:nvSpPr>
        <p:spPr>
          <a:xfrm>
            <a:off x="3480206" y="4928616"/>
            <a:ext cx="256032" cy="548640"/>
          </a:xfrm>
          <a:prstGeom prst="upArrow">
            <a:avLst/>
          </a:prstGeom>
          <a:solidFill>
            <a:srgbClr val="375623"/>
          </a:solidFill>
          <a:ln w="9525">
            <a:solidFill>
              <a:srgbClr val="FAF7EF"/>
            </a:solidFill>
            <a:prstDash val="solid"/>
          </a:ln>
        </p:spPr>
      </p:sp>
      <p:sp>
        <p:nvSpPr>
          <p:cNvPr id="35" name="Shape 32"/>
          <p:cNvSpPr/>
          <p:nvPr/>
        </p:nvSpPr>
        <p:spPr>
          <a:xfrm>
            <a:off x="5422392" y="4928616"/>
            <a:ext cx="256032" cy="548640"/>
          </a:xfrm>
          <a:prstGeom prst="upArrow">
            <a:avLst/>
          </a:prstGeom>
          <a:solidFill>
            <a:srgbClr val="375623"/>
          </a:solidFill>
          <a:ln w="9525">
            <a:solidFill>
              <a:srgbClr val="FAF7EF"/>
            </a:solidFill>
            <a:prstDash val="solid"/>
          </a:ln>
        </p:spPr>
      </p:sp>
      <p:sp>
        <p:nvSpPr>
          <p:cNvPr id="36" name="Shape 33"/>
          <p:cNvSpPr/>
          <p:nvPr/>
        </p:nvSpPr>
        <p:spPr>
          <a:xfrm>
            <a:off x="7148779" y="4928616"/>
            <a:ext cx="256032" cy="548640"/>
          </a:xfrm>
          <a:prstGeom prst="upArrow">
            <a:avLst/>
          </a:prstGeom>
          <a:solidFill>
            <a:srgbClr val="375623"/>
          </a:solidFill>
          <a:ln w="9525">
            <a:solidFill>
              <a:srgbClr val="FAF7EF"/>
            </a:solidFill>
            <a:prstDash val="solid"/>
          </a:ln>
        </p:spPr>
      </p:sp>
      <p:sp>
        <p:nvSpPr>
          <p:cNvPr id="37" name="Text 34"/>
          <p:cNvSpPr txBox="1"/>
          <p:nvPr/>
        </p:nvSpPr>
        <p:spPr>
          <a:xfrm>
            <a:off x="9692640" y="4992624"/>
            <a:ext cx="1965960" cy="457200"/>
          </a:xfrm>
          <a:prstGeom prst="rect">
            <a:avLst/>
          </a:prstGeom>
          <a:noFill/>
          <a:ln/>
        </p:spPr>
        <p:txBody>
          <a:bodyPr wrap="square" lIns="0" tIns="0" rIns="0" bIns="0" rtlCol="0" anchor="ctr"/>
          <a:lstStyle/>
          <a:p>
            <a:pPr algn="l" indent="0" marL="0">
              <a:buNone/>
            </a:pPr>
            <a:r>
              <a:rPr lang="en-US" sz="1200" b="1" dirty="0">
                <a:solidFill>
                  <a:schemeClr val="accent2"/>
                </a:solidFill>
              </a:rPr>
              <a:t>Watchful believers only, at several points</a:t>
            </a:r>
            <a:endParaRPr lang="en-US" sz="1200" dirty="0"/>
          </a:p>
        </p:txBody>
      </p:sp>
      <p:sp>
        <p:nvSpPr>
          <p:cNvPr id="38" name="Text 35"/>
          <p:cNvSpPr txBox="1"/>
          <p:nvPr/>
        </p:nvSpPr>
        <p:spPr>
          <a:xfrm>
            <a:off x="548640" y="5833872"/>
            <a:ext cx="11064240" cy="502920"/>
          </a:xfrm>
          <a:prstGeom prst="rect">
            <a:avLst/>
          </a:prstGeom>
          <a:noFill/>
          <a:ln/>
        </p:spPr>
        <p:txBody>
          <a:bodyPr wrap="square" lIns="0" tIns="0" rIns="0" bIns="0" rtlCol="0" anchor="t"/>
          <a:lstStyle/>
          <a:p>
            <a:pPr algn="l" indent="0" marL="0">
              <a:buNone/>
            </a:pPr>
            <a:r>
              <a:rPr lang="en-US" sz="1200" i="1" dirty="0">
                <a:solidFill>
                  <a:schemeClr val="accent6"/>
                </a:solidFill>
              </a:rPr>
              <a:t>★ The view held throughout this study. Green arrows mark where each view places the Rapture.</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11155680" cy="621792"/>
          </a:xfrm>
          <a:prstGeom prst="rect">
            <a:avLst/>
          </a:prstGeom>
          <a:noFill/>
          <a:ln/>
        </p:spPr>
        <p:txBody>
          <a:bodyPr wrap="square" lIns="0" tIns="0" rIns="0" bIns="0" rtlCol="0" anchor="ctr"/>
          <a:lstStyle/>
          <a:p>
            <a:pPr algn="l" indent="0" marL="0">
              <a:buNone/>
            </a:pPr>
            <a:r>
              <a:rPr lang="en-US" sz="3400" b="1" dirty="0">
                <a:solidFill>
                  <a:srgbClr val="1F3864"/>
                </a:solidFill>
              </a:rPr>
              <a:t>Four Views of the Millennium</a:t>
            </a:r>
            <a:endParaRPr lang="en-US" sz="3400" dirty="0"/>
          </a:p>
        </p:txBody>
      </p:sp>
      <p:sp>
        <p:nvSpPr>
          <p:cNvPr id="3" name="Text 1"/>
          <p:cNvSpPr/>
          <p:nvPr>
            <p:ph idx="102" type="body" hasCustomPrompt="1"/>
          </p:nvPr>
        </p:nvSpPr>
        <p:spPr>
          <a:xfrm>
            <a:off x="502920" y="914400"/>
            <a:ext cx="11155680" cy="347472"/>
          </a:xfrm>
          <a:prstGeom prst="rect">
            <a:avLst/>
          </a:prstGeom>
          <a:noFill/>
          <a:ln/>
        </p:spPr>
        <p:txBody>
          <a:bodyPr wrap="square" lIns="0" tIns="0" rIns="0" bIns="0" rtlCol="0" anchor="ctr"/>
          <a:lstStyle/>
          <a:p>
            <a:pPr indent="0" marL="0">
              <a:buNone/>
            </a:pPr>
            <a:r>
              <a:rPr lang="en-US" sz="1400" i="1" dirty="0">
                <a:solidFill>
                  <a:srgbClr val="6B7A8F"/>
                </a:solidFill>
              </a:rPr>
              <a:t>Where each view places the Second Coming and the 1,000 years of Revelation 20  ·  not to scale</a:t>
            </a:r>
            <a:endParaRPr lang="en-US" sz="1400" dirty="0"/>
          </a:p>
        </p:txBody>
      </p:sp>
      <p:sp>
        <p:nvSpPr>
          <p:cNvPr id="5" name="Text 2"/>
          <p:cNvSpPr txBox="1"/>
          <p:nvPr/>
        </p:nvSpPr>
        <p:spPr>
          <a:xfrm>
            <a:off x="548640" y="1673352"/>
            <a:ext cx="2560320" cy="457200"/>
          </a:xfrm>
          <a:prstGeom prst="rect">
            <a:avLst/>
          </a:prstGeom>
          <a:noFill/>
          <a:ln/>
        </p:spPr>
        <p:txBody>
          <a:bodyPr wrap="square" lIns="0" tIns="0" rIns="0" bIns="0" rtlCol="0" anchor="t"/>
          <a:lstStyle/>
          <a:p>
            <a:pPr algn="l" indent="0" marL="0">
              <a:buNone/>
            </a:pPr>
            <a:r>
              <a:rPr lang="en-US" sz="1300" b="1" dirty="0">
                <a:solidFill>
                  <a:schemeClr val="tx2"/>
                </a:solidFill>
              </a:rPr>
              <a:t>Dispensational</a:t>
            </a:r>
            <a:endParaRPr lang="en-US" sz="1300" dirty="0"/>
          </a:p>
          <a:p>
            <a:pPr algn="l" indent="0" marL="0">
              <a:buNone/>
            </a:pPr>
            <a:r>
              <a:rPr lang="en-US" sz="1300" b="1" dirty="0">
                <a:solidFill>
                  <a:schemeClr val="tx2"/>
                </a:solidFill>
              </a:rPr>
              <a:t>premillennial  ★</a:t>
            </a:r>
            <a:endParaRPr lang="en-US" sz="1300" dirty="0"/>
          </a:p>
        </p:txBody>
      </p:sp>
      <p:sp>
        <p:nvSpPr>
          <p:cNvPr id="6" name="Text 3"/>
          <p:cNvSpPr txBox="1"/>
          <p:nvPr/>
        </p:nvSpPr>
        <p:spPr>
          <a:xfrm>
            <a:off x="548640" y="2148840"/>
            <a:ext cx="2560320" cy="274320"/>
          </a:xfrm>
          <a:prstGeom prst="rect">
            <a:avLst/>
          </a:prstGeom>
          <a:noFill/>
          <a:ln/>
        </p:spPr>
        <p:txBody>
          <a:bodyPr wrap="square" lIns="0" tIns="0" rIns="0" bIns="0" rtlCol="0" anchor="t"/>
          <a:lstStyle/>
          <a:p>
            <a:pPr algn="l" indent="0" marL="0">
              <a:buNone/>
            </a:pPr>
            <a:r>
              <a:rPr lang="en-US" sz="1000" i="1" dirty="0">
                <a:solidFill>
                  <a:schemeClr val="accent6"/>
                </a:solidFill>
              </a:rPr>
              <a:t>Chafer, Walvoord, Pentecost, Ryrie</a:t>
            </a:r>
            <a:endParaRPr lang="en-US" sz="1000" dirty="0"/>
          </a:p>
        </p:txBody>
      </p:sp>
      <p:sp>
        <p:nvSpPr>
          <p:cNvPr id="7" name="Text 4"/>
          <p:cNvSpPr txBox="1"/>
          <p:nvPr/>
        </p:nvSpPr>
        <p:spPr>
          <a:xfrm>
            <a:off x="3246120" y="1691640"/>
            <a:ext cx="2523744" cy="566928"/>
          </a:xfrm>
          <a:prstGeom prst="rect">
            <a:avLst/>
          </a:prstGeom>
          <a:solidFill>
            <a:srgbClr val="375623"/>
          </a:solidFill>
          <a:ln w="12700">
            <a:solidFill>
              <a:srgbClr val="FAF7EF"/>
            </a:solidFill>
          </a:ln>
        </p:spPr>
        <p:txBody>
          <a:bodyPr wrap="square" lIns="38100" tIns="38100" rIns="38100" bIns="38100" rtlCol="0" anchor="ctr"/>
          <a:lstStyle/>
          <a:p>
            <a:pPr algn="ctr" indent="0" marL="0">
              <a:buNone/>
            </a:pPr>
            <a:r>
              <a:rPr lang="en-US" sz="1100" b="1" dirty="0">
                <a:solidFill>
                  <a:schemeClr val="bg1"/>
                </a:solidFill>
              </a:rPr>
              <a:t>Church Age</a:t>
            </a:r>
            <a:endParaRPr lang="en-US" sz="1100" dirty="0"/>
          </a:p>
        </p:txBody>
      </p:sp>
      <p:sp>
        <p:nvSpPr>
          <p:cNvPr id="8" name="Text 5"/>
          <p:cNvSpPr txBox="1"/>
          <p:nvPr/>
        </p:nvSpPr>
        <p:spPr>
          <a:xfrm>
            <a:off x="5769864" y="1691640"/>
            <a:ext cx="1009498" cy="566928"/>
          </a:xfrm>
          <a:prstGeom prst="rect">
            <a:avLst/>
          </a:prstGeom>
          <a:solidFill>
            <a:srgbClr val="8B2E2E"/>
          </a:solidFill>
          <a:ln w="12700">
            <a:solidFill>
              <a:srgbClr val="FAF7EF"/>
            </a:solidFill>
          </a:ln>
        </p:spPr>
        <p:txBody>
          <a:bodyPr wrap="square" lIns="38100" tIns="38100" rIns="38100" bIns="38100" rtlCol="0" anchor="ctr"/>
          <a:lstStyle/>
          <a:p>
            <a:pPr algn="ctr" indent="0" marL="0">
              <a:buNone/>
            </a:pPr>
            <a:r>
              <a:rPr lang="en-US" sz="1100" b="1" dirty="0">
                <a:solidFill>
                  <a:schemeClr val="bg1"/>
                </a:solidFill>
              </a:rPr>
              <a:t>Tribulation</a:t>
            </a:r>
            <a:endParaRPr lang="en-US" sz="1100" dirty="0"/>
          </a:p>
        </p:txBody>
      </p:sp>
      <p:sp>
        <p:nvSpPr>
          <p:cNvPr id="9" name="Text 6"/>
          <p:cNvSpPr txBox="1"/>
          <p:nvPr/>
        </p:nvSpPr>
        <p:spPr>
          <a:xfrm>
            <a:off x="6779362" y="1691640"/>
            <a:ext cx="3701491" cy="566928"/>
          </a:xfrm>
          <a:prstGeom prst="rect">
            <a:avLst/>
          </a:prstGeom>
          <a:solidFill>
            <a:srgbClr val="B8892B"/>
          </a:solidFill>
          <a:ln w="12700">
            <a:solidFill>
              <a:srgbClr val="FAF7EF"/>
            </a:solidFill>
          </a:ln>
        </p:spPr>
        <p:txBody>
          <a:bodyPr wrap="square" lIns="38100" tIns="38100" rIns="38100" bIns="38100" rtlCol="0" anchor="ctr"/>
          <a:lstStyle/>
          <a:p>
            <a:pPr algn="ctr" indent="0" marL="0">
              <a:buNone/>
            </a:pPr>
            <a:r>
              <a:rPr lang="en-US" sz="1100" b="1" dirty="0">
                <a:solidFill>
                  <a:schemeClr val="bg1"/>
                </a:solidFill>
              </a:rPr>
              <a:t>Millennium — 1,000 yrs</a:t>
            </a:r>
            <a:endParaRPr lang="en-US" sz="1100" dirty="0"/>
          </a:p>
          <a:p>
            <a:pPr algn="ctr" indent="0" marL="0">
              <a:buNone/>
            </a:pPr>
            <a:r>
              <a:rPr lang="en-US" sz="1100" b="1" dirty="0">
                <a:solidFill>
                  <a:schemeClr val="bg1"/>
                </a:solidFill>
              </a:rPr>
              <a:t>Christ reigns from Jerusalem</a:t>
            </a:r>
            <a:endParaRPr lang="en-US" sz="1100" dirty="0"/>
          </a:p>
        </p:txBody>
      </p:sp>
      <p:sp>
        <p:nvSpPr>
          <p:cNvPr id="10" name="Text 7"/>
          <p:cNvSpPr txBox="1"/>
          <p:nvPr/>
        </p:nvSpPr>
        <p:spPr>
          <a:xfrm>
            <a:off x="10480853" y="1691640"/>
            <a:ext cx="1177747" cy="566928"/>
          </a:xfrm>
          <a:prstGeom prst="rect">
            <a:avLst/>
          </a:prstGeom>
          <a:solidFill>
            <a:srgbClr val="7030A0"/>
          </a:solidFill>
          <a:ln w="12700">
            <a:solidFill>
              <a:srgbClr val="FAF7EF"/>
            </a:solidFill>
          </a:ln>
        </p:spPr>
        <p:txBody>
          <a:bodyPr wrap="square" lIns="38100" tIns="38100" rIns="38100" bIns="38100" rtlCol="0" anchor="ctr"/>
          <a:lstStyle/>
          <a:p>
            <a:pPr algn="ctr" indent="0" marL="0">
              <a:buNone/>
            </a:pPr>
            <a:r>
              <a:rPr lang="en-US" sz="1100" b="1" dirty="0">
                <a:solidFill>
                  <a:schemeClr val="bg1"/>
                </a:solidFill>
              </a:rPr>
              <a:t>Eternal</a:t>
            </a:r>
            <a:endParaRPr lang="en-US" sz="1100" dirty="0"/>
          </a:p>
          <a:p>
            <a:pPr algn="ctr" indent="0" marL="0">
              <a:buNone/>
            </a:pPr>
            <a:r>
              <a:rPr lang="en-US" sz="1100" b="1" dirty="0">
                <a:solidFill>
                  <a:schemeClr val="bg1"/>
                </a:solidFill>
              </a:rPr>
              <a:t>State</a:t>
            </a:r>
            <a:endParaRPr lang="en-US" sz="1100" dirty="0"/>
          </a:p>
        </p:txBody>
      </p:sp>
      <p:sp>
        <p:nvSpPr>
          <p:cNvPr id="11" name="Shape 8"/>
          <p:cNvSpPr/>
          <p:nvPr/>
        </p:nvSpPr>
        <p:spPr>
          <a:xfrm>
            <a:off x="5669280" y="2176272"/>
            <a:ext cx="201168" cy="201168"/>
          </a:xfrm>
          <a:prstGeom prst="diamond">
            <a:avLst/>
          </a:prstGeom>
          <a:solidFill>
            <a:srgbClr val="375623"/>
          </a:solidFill>
          <a:ln w="12700">
            <a:solidFill>
              <a:srgbClr val="FAF7EF"/>
            </a:solidFill>
            <a:prstDash val="solid"/>
          </a:ln>
        </p:spPr>
      </p:sp>
      <p:sp>
        <p:nvSpPr>
          <p:cNvPr id="12" name="Text 9"/>
          <p:cNvSpPr txBox="1"/>
          <p:nvPr/>
        </p:nvSpPr>
        <p:spPr>
          <a:xfrm>
            <a:off x="4672584" y="2386584"/>
            <a:ext cx="2194560" cy="256032"/>
          </a:xfrm>
          <a:prstGeom prst="rect">
            <a:avLst/>
          </a:prstGeom>
          <a:noFill/>
          <a:ln/>
        </p:spPr>
        <p:txBody>
          <a:bodyPr wrap="square" lIns="0" tIns="0" rIns="0" bIns="0" rtlCol="0" anchor="t"/>
          <a:lstStyle/>
          <a:p>
            <a:pPr algn="ctr" indent="0" marL="0">
              <a:buNone/>
            </a:pPr>
            <a:r>
              <a:rPr lang="en-US" sz="1000" b="1" dirty="0">
                <a:solidFill>
                  <a:schemeClr val="accent2"/>
                </a:solidFill>
              </a:rPr>
              <a:t>Rapture</a:t>
            </a:r>
            <a:endParaRPr lang="en-US" sz="1000" dirty="0"/>
          </a:p>
        </p:txBody>
      </p:sp>
      <p:sp>
        <p:nvSpPr>
          <p:cNvPr id="13" name="Shape 10"/>
          <p:cNvSpPr/>
          <p:nvPr/>
        </p:nvSpPr>
        <p:spPr>
          <a:xfrm>
            <a:off x="6678778" y="2176272"/>
            <a:ext cx="201168" cy="201168"/>
          </a:xfrm>
          <a:prstGeom prst="diamond">
            <a:avLst/>
          </a:prstGeom>
          <a:solidFill>
            <a:srgbClr val="1F3864"/>
          </a:solidFill>
          <a:ln w="12700">
            <a:solidFill>
              <a:srgbClr val="FAF7EF"/>
            </a:solidFill>
            <a:prstDash val="solid"/>
          </a:ln>
        </p:spPr>
      </p:sp>
      <p:sp>
        <p:nvSpPr>
          <p:cNvPr id="14" name="Text 11"/>
          <p:cNvSpPr txBox="1"/>
          <p:nvPr/>
        </p:nvSpPr>
        <p:spPr>
          <a:xfrm>
            <a:off x="5682082" y="2386584"/>
            <a:ext cx="2194560" cy="256032"/>
          </a:xfrm>
          <a:prstGeom prst="rect">
            <a:avLst/>
          </a:prstGeom>
          <a:noFill/>
          <a:ln/>
        </p:spPr>
        <p:txBody>
          <a:bodyPr wrap="square" lIns="0" tIns="0" rIns="0" bIns="0" rtlCol="0" anchor="t"/>
          <a:lstStyle/>
          <a:p>
            <a:pPr algn="ctr" indent="0" marL="0">
              <a:buNone/>
            </a:pPr>
            <a:r>
              <a:rPr lang="en-US" sz="1000" b="1" dirty="0">
                <a:solidFill>
                  <a:schemeClr val="tx2"/>
                </a:solidFill>
              </a:rPr>
              <a:t>Second Coming</a:t>
            </a:r>
            <a:endParaRPr lang="en-US" sz="1000" dirty="0"/>
          </a:p>
        </p:txBody>
      </p:sp>
      <p:sp>
        <p:nvSpPr>
          <p:cNvPr id="15" name="Text 12"/>
          <p:cNvSpPr txBox="1"/>
          <p:nvPr/>
        </p:nvSpPr>
        <p:spPr>
          <a:xfrm>
            <a:off x="548640" y="2697480"/>
            <a:ext cx="2560320" cy="457200"/>
          </a:xfrm>
          <a:prstGeom prst="rect">
            <a:avLst/>
          </a:prstGeom>
          <a:noFill/>
          <a:ln/>
        </p:spPr>
        <p:txBody>
          <a:bodyPr wrap="square" lIns="0" tIns="0" rIns="0" bIns="0" rtlCol="0" anchor="t"/>
          <a:lstStyle/>
          <a:p>
            <a:pPr algn="l" indent="0" marL="0">
              <a:buNone/>
            </a:pPr>
            <a:r>
              <a:rPr lang="en-US" sz="1300" b="1" dirty="0">
                <a:solidFill>
                  <a:schemeClr val="tx1"/>
                </a:solidFill>
              </a:rPr>
              <a:t>Historic</a:t>
            </a:r>
            <a:endParaRPr lang="en-US" sz="1300" dirty="0"/>
          </a:p>
          <a:p>
            <a:pPr algn="l" indent="0" marL="0">
              <a:buNone/>
            </a:pPr>
            <a:r>
              <a:rPr lang="en-US" sz="1300" b="1" dirty="0">
                <a:solidFill>
                  <a:schemeClr val="tx1"/>
                </a:solidFill>
              </a:rPr>
              <a:t>premillennial</a:t>
            </a:r>
            <a:endParaRPr lang="en-US" sz="1300" dirty="0"/>
          </a:p>
        </p:txBody>
      </p:sp>
      <p:sp>
        <p:nvSpPr>
          <p:cNvPr id="16" name="Text 13"/>
          <p:cNvSpPr txBox="1"/>
          <p:nvPr/>
        </p:nvSpPr>
        <p:spPr>
          <a:xfrm>
            <a:off x="548640" y="3172968"/>
            <a:ext cx="2560320" cy="274320"/>
          </a:xfrm>
          <a:prstGeom prst="rect">
            <a:avLst/>
          </a:prstGeom>
          <a:noFill/>
          <a:ln/>
        </p:spPr>
        <p:txBody>
          <a:bodyPr wrap="square" lIns="0" tIns="0" rIns="0" bIns="0" rtlCol="0" anchor="t"/>
          <a:lstStyle/>
          <a:p>
            <a:pPr algn="l" indent="0" marL="0">
              <a:buNone/>
            </a:pPr>
            <a:r>
              <a:rPr lang="en-US" sz="1000" i="1" dirty="0">
                <a:solidFill>
                  <a:schemeClr val="accent6"/>
                </a:solidFill>
              </a:rPr>
              <a:t>Ladd, Blomberg, Schreiner</a:t>
            </a:r>
            <a:endParaRPr lang="en-US" sz="1000" dirty="0"/>
          </a:p>
        </p:txBody>
      </p:sp>
      <p:sp>
        <p:nvSpPr>
          <p:cNvPr id="17" name="Text 14"/>
          <p:cNvSpPr txBox="1"/>
          <p:nvPr/>
        </p:nvSpPr>
        <p:spPr>
          <a:xfrm>
            <a:off x="3246120" y="2715768"/>
            <a:ext cx="2523744" cy="566928"/>
          </a:xfrm>
          <a:prstGeom prst="rect">
            <a:avLst/>
          </a:prstGeom>
          <a:solidFill>
            <a:srgbClr val="375623"/>
          </a:solidFill>
          <a:ln w="12700">
            <a:solidFill>
              <a:srgbClr val="FAF7EF"/>
            </a:solidFill>
          </a:ln>
        </p:spPr>
        <p:txBody>
          <a:bodyPr wrap="square" lIns="38100" tIns="38100" rIns="38100" bIns="38100" rtlCol="0" anchor="ctr"/>
          <a:lstStyle/>
          <a:p>
            <a:pPr algn="ctr" indent="0" marL="0">
              <a:buNone/>
            </a:pPr>
            <a:r>
              <a:rPr lang="en-US" sz="1100" b="1" dirty="0">
                <a:solidFill>
                  <a:schemeClr val="bg1"/>
                </a:solidFill>
              </a:rPr>
              <a:t>Church Age</a:t>
            </a:r>
            <a:endParaRPr lang="en-US" sz="1100" dirty="0"/>
          </a:p>
        </p:txBody>
      </p:sp>
      <p:sp>
        <p:nvSpPr>
          <p:cNvPr id="18" name="Text 15"/>
          <p:cNvSpPr txBox="1"/>
          <p:nvPr/>
        </p:nvSpPr>
        <p:spPr>
          <a:xfrm>
            <a:off x="5769864" y="2715768"/>
            <a:ext cx="1009498" cy="566928"/>
          </a:xfrm>
          <a:prstGeom prst="rect">
            <a:avLst/>
          </a:prstGeom>
          <a:solidFill>
            <a:srgbClr val="8B2E2E"/>
          </a:solidFill>
          <a:ln w="12700">
            <a:solidFill>
              <a:srgbClr val="FAF7EF"/>
            </a:solidFill>
          </a:ln>
        </p:spPr>
        <p:txBody>
          <a:bodyPr wrap="square" lIns="38100" tIns="38100" rIns="38100" bIns="38100" rtlCol="0" anchor="ctr"/>
          <a:lstStyle/>
          <a:p>
            <a:pPr algn="ctr" indent="0" marL="0">
              <a:buNone/>
            </a:pPr>
            <a:r>
              <a:rPr lang="en-US" sz="1100" b="1" dirty="0">
                <a:solidFill>
                  <a:schemeClr val="bg1"/>
                </a:solidFill>
              </a:rPr>
              <a:t>Tribulation</a:t>
            </a:r>
            <a:endParaRPr lang="en-US" sz="1100" dirty="0"/>
          </a:p>
          <a:p>
            <a:pPr algn="ctr" indent="0" marL="0">
              <a:buNone/>
            </a:pPr>
            <a:r>
              <a:rPr lang="en-US" sz="1100" b="1" dirty="0">
                <a:solidFill>
                  <a:schemeClr val="bg1"/>
                </a:solidFill>
              </a:rPr>
              <a:t>(Church present)</a:t>
            </a:r>
            <a:endParaRPr lang="en-US" sz="1100" dirty="0"/>
          </a:p>
        </p:txBody>
      </p:sp>
      <p:sp>
        <p:nvSpPr>
          <p:cNvPr id="19" name="Text 16"/>
          <p:cNvSpPr txBox="1"/>
          <p:nvPr/>
        </p:nvSpPr>
        <p:spPr>
          <a:xfrm>
            <a:off x="6779362" y="2715768"/>
            <a:ext cx="3701491" cy="566928"/>
          </a:xfrm>
          <a:prstGeom prst="rect">
            <a:avLst/>
          </a:prstGeom>
          <a:solidFill>
            <a:srgbClr val="B8892B"/>
          </a:solidFill>
          <a:ln w="12700">
            <a:solidFill>
              <a:srgbClr val="FAF7EF"/>
            </a:solidFill>
          </a:ln>
        </p:spPr>
        <p:txBody>
          <a:bodyPr wrap="square" lIns="38100" tIns="38100" rIns="38100" bIns="38100" rtlCol="0" anchor="ctr"/>
          <a:lstStyle/>
          <a:p>
            <a:pPr algn="ctr" indent="0" marL="0">
              <a:buNone/>
            </a:pPr>
            <a:r>
              <a:rPr lang="en-US" sz="1100" b="1" dirty="0">
                <a:solidFill>
                  <a:schemeClr val="bg1"/>
                </a:solidFill>
              </a:rPr>
              <a:t>Millennium — 1,000 yrs</a:t>
            </a:r>
            <a:endParaRPr lang="en-US" sz="1100" dirty="0"/>
          </a:p>
          <a:p>
            <a:pPr algn="ctr" indent="0" marL="0">
              <a:buNone/>
            </a:pPr>
            <a:r>
              <a:rPr lang="en-US" sz="1100" b="1" dirty="0">
                <a:solidFill>
                  <a:schemeClr val="bg1"/>
                </a:solidFill>
              </a:rPr>
              <a:t>(Church inherits the promises)</a:t>
            </a:r>
            <a:endParaRPr lang="en-US" sz="1100" dirty="0"/>
          </a:p>
        </p:txBody>
      </p:sp>
      <p:sp>
        <p:nvSpPr>
          <p:cNvPr id="20" name="Text 17"/>
          <p:cNvSpPr txBox="1"/>
          <p:nvPr/>
        </p:nvSpPr>
        <p:spPr>
          <a:xfrm>
            <a:off x="10480853" y="2715768"/>
            <a:ext cx="1177747" cy="566928"/>
          </a:xfrm>
          <a:prstGeom prst="rect">
            <a:avLst/>
          </a:prstGeom>
          <a:solidFill>
            <a:srgbClr val="7030A0"/>
          </a:solidFill>
          <a:ln w="12700">
            <a:solidFill>
              <a:srgbClr val="FAF7EF"/>
            </a:solidFill>
          </a:ln>
        </p:spPr>
        <p:txBody>
          <a:bodyPr wrap="square" lIns="38100" tIns="38100" rIns="38100" bIns="38100" rtlCol="0" anchor="ctr"/>
          <a:lstStyle/>
          <a:p>
            <a:pPr algn="ctr" indent="0" marL="0">
              <a:buNone/>
            </a:pPr>
            <a:r>
              <a:rPr lang="en-US" sz="1100" b="1" dirty="0">
                <a:solidFill>
                  <a:schemeClr val="bg1"/>
                </a:solidFill>
              </a:rPr>
              <a:t>Eternal</a:t>
            </a:r>
            <a:endParaRPr lang="en-US" sz="1100" dirty="0"/>
          </a:p>
          <a:p>
            <a:pPr algn="ctr" indent="0" marL="0">
              <a:buNone/>
            </a:pPr>
            <a:r>
              <a:rPr lang="en-US" sz="1100" b="1" dirty="0">
                <a:solidFill>
                  <a:schemeClr val="bg1"/>
                </a:solidFill>
              </a:rPr>
              <a:t>State</a:t>
            </a:r>
            <a:endParaRPr lang="en-US" sz="1100" dirty="0"/>
          </a:p>
        </p:txBody>
      </p:sp>
      <p:sp>
        <p:nvSpPr>
          <p:cNvPr id="21" name="Shape 18"/>
          <p:cNvSpPr/>
          <p:nvPr/>
        </p:nvSpPr>
        <p:spPr>
          <a:xfrm>
            <a:off x="6678778" y="3200400"/>
            <a:ext cx="201168" cy="201168"/>
          </a:xfrm>
          <a:prstGeom prst="diamond">
            <a:avLst/>
          </a:prstGeom>
          <a:solidFill>
            <a:srgbClr val="1F3864"/>
          </a:solidFill>
          <a:ln w="12700">
            <a:solidFill>
              <a:srgbClr val="FAF7EF"/>
            </a:solidFill>
            <a:prstDash val="solid"/>
          </a:ln>
        </p:spPr>
      </p:sp>
      <p:sp>
        <p:nvSpPr>
          <p:cNvPr id="22" name="Text 19"/>
          <p:cNvSpPr txBox="1"/>
          <p:nvPr/>
        </p:nvSpPr>
        <p:spPr>
          <a:xfrm>
            <a:off x="5682082" y="3410712"/>
            <a:ext cx="2194560" cy="256032"/>
          </a:xfrm>
          <a:prstGeom prst="rect">
            <a:avLst/>
          </a:prstGeom>
          <a:noFill/>
          <a:ln/>
        </p:spPr>
        <p:txBody>
          <a:bodyPr wrap="square" lIns="0" tIns="0" rIns="0" bIns="0" rtlCol="0" anchor="t"/>
          <a:lstStyle/>
          <a:p>
            <a:pPr algn="ctr" indent="0" marL="0">
              <a:buNone/>
            </a:pPr>
            <a:r>
              <a:rPr lang="en-US" sz="1000" b="1" dirty="0">
                <a:solidFill>
                  <a:schemeClr val="tx2"/>
                </a:solidFill>
              </a:rPr>
              <a:t>Second Coming + Rapture</a:t>
            </a:r>
            <a:endParaRPr lang="en-US" sz="1000" dirty="0"/>
          </a:p>
        </p:txBody>
      </p:sp>
      <p:sp>
        <p:nvSpPr>
          <p:cNvPr id="23" name="Text 20"/>
          <p:cNvSpPr txBox="1"/>
          <p:nvPr/>
        </p:nvSpPr>
        <p:spPr>
          <a:xfrm>
            <a:off x="548640" y="3721608"/>
            <a:ext cx="2560320" cy="457200"/>
          </a:xfrm>
          <a:prstGeom prst="rect">
            <a:avLst/>
          </a:prstGeom>
          <a:noFill/>
          <a:ln/>
        </p:spPr>
        <p:txBody>
          <a:bodyPr wrap="square" lIns="0" tIns="0" rIns="0" bIns="0" rtlCol="0" anchor="t"/>
          <a:lstStyle/>
          <a:p>
            <a:pPr algn="l" indent="0" marL="0">
              <a:buNone/>
            </a:pPr>
            <a:r>
              <a:rPr lang="en-US" sz="1300" b="1" dirty="0">
                <a:solidFill>
                  <a:schemeClr val="tx1"/>
                </a:solidFill>
              </a:rPr>
              <a:t>Amillennial</a:t>
            </a:r>
            <a:endParaRPr lang="en-US" sz="1300" dirty="0"/>
          </a:p>
        </p:txBody>
      </p:sp>
      <p:sp>
        <p:nvSpPr>
          <p:cNvPr id="24" name="Text 21"/>
          <p:cNvSpPr txBox="1"/>
          <p:nvPr/>
        </p:nvSpPr>
        <p:spPr>
          <a:xfrm>
            <a:off x="548640" y="4197096"/>
            <a:ext cx="2560320" cy="274320"/>
          </a:xfrm>
          <a:prstGeom prst="rect">
            <a:avLst/>
          </a:prstGeom>
          <a:noFill/>
          <a:ln/>
        </p:spPr>
        <p:txBody>
          <a:bodyPr wrap="square" lIns="0" tIns="0" rIns="0" bIns="0" rtlCol="0" anchor="t"/>
          <a:lstStyle/>
          <a:p>
            <a:pPr algn="l" indent="0" marL="0">
              <a:buNone/>
            </a:pPr>
            <a:r>
              <a:rPr lang="en-US" sz="1000" i="1" dirty="0">
                <a:solidFill>
                  <a:schemeClr val="accent6"/>
                </a:solidFill>
              </a:rPr>
              <a:t>Augustine, Luther, Calvin, Berkhof, Hoekema</a:t>
            </a:r>
            <a:endParaRPr lang="en-US" sz="1000" dirty="0"/>
          </a:p>
        </p:txBody>
      </p:sp>
      <p:sp>
        <p:nvSpPr>
          <p:cNvPr id="25" name="Text 22"/>
          <p:cNvSpPr txBox="1"/>
          <p:nvPr/>
        </p:nvSpPr>
        <p:spPr>
          <a:xfrm>
            <a:off x="3246120" y="3739896"/>
            <a:ext cx="7234733" cy="566928"/>
          </a:xfrm>
          <a:prstGeom prst="rect">
            <a:avLst/>
          </a:prstGeom>
          <a:solidFill>
            <a:srgbClr val="7E8A5E"/>
          </a:solidFill>
          <a:ln w="12700">
            <a:solidFill>
              <a:srgbClr val="FAF7EF"/>
            </a:solidFill>
          </a:ln>
        </p:spPr>
        <p:txBody>
          <a:bodyPr wrap="square" lIns="38100" tIns="38100" rIns="38100" bIns="38100" rtlCol="0" anchor="ctr"/>
          <a:lstStyle/>
          <a:p>
            <a:pPr algn="ctr" indent="0" marL="0">
              <a:buNone/>
            </a:pPr>
            <a:r>
              <a:rPr lang="en-US" sz="1100" b="1" dirty="0">
                <a:solidFill>
                  <a:schemeClr val="bg1"/>
                </a:solidFill>
              </a:rPr>
              <a:t>“Millennium” = the present Church Age  (Rev 20 read symbolically)</a:t>
            </a:r>
            <a:endParaRPr lang="en-US" sz="1100" dirty="0"/>
          </a:p>
        </p:txBody>
      </p:sp>
      <p:sp>
        <p:nvSpPr>
          <p:cNvPr id="26" name="Text 23"/>
          <p:cNvSpPr txBox="1"/>
          <p:nvPr/>
        </p:nvSpPr>
        <p:spPr>
          <a:xfrm>
            <a:off x="10480853" y="3739896"/>
            <a:ext cx="1177747" cy="566928"/>
          </a:xfrm>
          <a:prstGeom prst="rect">
            <a:avLst/>
          </a:prstGeom>
          <a:solidFill>
            <a:srgbClr val="7030A0"/>
          </a:solidFill>
          <a:ln w="12700">
            <a:solidFill>
              <a:srgbClr val="FAF7EF"/>
            </a:solidFill>
          </a:ln>
        </p:spPr>
        <p:txBody>
          <a:bodyPr wrap="square" lIns="38100" tIns="38100" rIns="38100" bIns="38100" rtlCol="0" anchor="ctr"/>
          <a:lstStyle/>
          <a:p>
            <a:pPr algn="ctr" indent="0" marL="0">
              <a:buNone/>
            </a:pPr>
            <a:r>
              <a:rPr lang="en-US" sz="1100" b="1" dirty="0">
                <a:solidFill>
                  <a:schemeClr val="bg1"/>
                </a:solidFill>
              </a:rPr>
              <a:t>Eternal</a:t>
            </a:r>
            <a:endParaRPr lang="en-US" sz="1100" dirty="0"/>
          </a:p>
          <a:p>
            <a:pPr algn="ctr" indent="0" marL="0">
              <a:buNone/>
            </a:pPr>
            <a:r>
              <a:rPr lang="en-US" sz="1100" b="1" dirty="0">
                <a:solidFill>
                  <a:schemeClr val="bg1"/>
                </a:solidFill>
              </a:rPr>
              <a:t>State</a:t>
            </a:r>
            <a:endParaRPr lang="en-US" sz="1100" dirty="0"/>
          </a:p>
        </p:txBody>
      </p:sp>
      <p:sp>
        <p:nvSpPr>
          <p:cNvPr id="27" name="Shape 24"/>
          <p:cNvSpPr/>
          <p:nvPr/>
        </p:nvSpPr>
        <p:spPr>
          <a:xfrm>
            <a:off x="10380269" y="4224528"/>
            <a:ext cx="201168" cy="201168"/>
          </a:xfrm>
          <a:prstGeom prst="diamond">
            <a:avLst/>
          </a:prstGeom>
          <a:solidFill>
            <a:srgbClr val="1F3864"/>
          </a:solidFill>
          <a:ln w="12700">
            <a:solidFill>
              <a:srgbClr val="FAF7EF"/>
            </a:solidFill>
            <a:prstDash val="solid"/>
          </a:ln>
        </p:spPr>
      </p:sp>
      <p:sp>
        <p:nvSpPr>
          <p:cNvPr id="28" name="Text 25"/>
          <p:cNvSpPr txBox="1"/>
          <p:nvPr/>
        </p:nvSpPr>
        <p:spPr>
          <a:xfrm>
            <a:off x="9383573" y="4434840"/>
            <a:ext cx="2194560" cy="256032"/>
          </a:xfrm>
          <a:prstGeom prst="rect">
            <a:avLst/>
          </a:prstGeom>
          <a:noFill/>
          <a:ln/>
        </p:spPr>
        <p:txBody>
          <a:bodyPr wrap="square" lIns="0" tIns="0" rIns="0" bIns="0" rtlCol="0" anchor="t"/>
          <a:lstStyle/>
          <a:p>
            <a:pPr algn="ctr" indent="0" marL="0">
              <a:buNone/>
            </a:pPr>
            <a:r>
              <a:rPr lang="en-US" sz="1000" b="1" dirty="0">
                <a:solidFill>
                  <a:schemeClr val="tx2"/>
                </a:solidFill>
              </a:rPr>
              <a:t>Second Coming</a:t>
            </a:r>
            <a:endParaRPr lang="en-US" sz="1000" dirty="0"/>
          </a:p>
        </p:txBody>
      </p:sp>
      <p:sp>
        <p:nvSpPr>
          <p:cNvPr id="29" name="Text 26"/>
          <p:cNvSpPr txBox="1"/>
          <p:nvPr/>
        </p:nvSpPr>
        <p:spPr>
          <a:xfrm>
            <a:off x="548640" y="4745736"/>
            <a:ext cx="2560320" cy="457200"/>
          </a:xfrm>
          <a:prstGeom prst="rect">
            <a:avLst/>
          </a:prstGeom>
          <a:noFill/>
          <a:ln/>
        </p:spPr>
        <p:txBody>
          <a:bodyPr wrap="square" lIns="0" tIns="0" rIns="0" bIns="0" rtlCol="0" anchor="t"/>
          <a:lstStyle/>
          <a:p>
            <a:pPr algn="l" indent="0" marL="0">
              <a:buNone/>
            </a:pPr>
            <a:r>
              <a:rPr lang="en-US" sz="1300" b="1" dirty="0">
                <a:solidFill>
                  <a:schemeClr val="tx1"/>
                </a:solidFill>
              </a:rPr>
              <a:t>Postmillennial</a:t>
            </a:r>
            <a:endParaRPr lang="en-US" sz="1300" dirty="0"/>
          </a:p>
        </p:txBody>
      </p:sp>
      <p:sp>
        <p:nvSpPr>
          <p:cNvPr id="30" name="Text 27"/>
          <p:cNvSpPr txBox="1"/>
          <p:nvPr/>
        </p:nvSpPr>
        <p:spPr>
          <a:xfrm>
            <a:off x="548640" y="5221224"/>
            <a:ext cx="2560320" cy="274320"/>
          </a:xfrm>
          <a:prstGeom prst="rect">
            <a:avLst/>
          </a:prstGeom>
          <a:noFill/>
          <a:ln/>
        </p:spPr>
        <p:txBody>
          <a:bodyPr wrap="square" lIns="0" tIns="0" rIns="0" bIns="0" rtlCol="0" anchor="t"/>
          <a:lstStyle/>
          <a:p>
            <a:pPr algn="l" indent="0" marL="0">
              <a:buNone/>
            </a:pPr>
            <a:r>
              <a:rPr lang="en-US" sz="1000" i="1" dirty="0">
                <a:solidFill>
                  <a:schemeClr val="accent6"/>
                </a:solidFill>
              </a:rPr>
              <a:t>Edwards, Hodge, Warfield; DeMar</a:t>
            </a:r>
            <a:endParaRPr lang="en-US" sz="1000" dirty="0"/>
          </a:p>
        </p:txBody>
      </p:sp>
      <p:sp>
        <p:nvSpPr>
          <p:cNvPr id="31" name="Text 28"/>
          <p:cNvSpPr txBox="1"/>
          <p:nvPr/>
        </p:nvSpPr>
        <p:spPr>
          <a:xfrm>
            <a:off x="3246120" y="4764024"/>
            <a:ext cx="3028493" cy="566928"/>
          </a:xfrm>
          <a:prstGeom prst="rect">
            <a:avLst/>
          </a:prstGeom>
          <a:solidFill>
            <a:srgbClr val="375623"/>
          </a:solidFill>
          <a:ln w="12700">
            <a:solidFill>
              <a:srgbClr val="FAF7EF"/>
            </a:solidFill>
          </a:ln>
        </p:spPr>
        <p:txBody>
          <a:bodyPr wrap="square" lIns="38100" tIns="38100" rIns="38100" bIns="38100" rtlCol="0" anchor="ctr"/>
          <a:lstStyle/>
          <a:p>
            <a:pPr algn="ctr" indent="0" marL="0">
              <a:buNone/>
            </a:pPr>
            <a:r>
              <a:rPr lang="en-US" sz="1100" b="1" dirty="0">
                <a:solidFill>
                  <a:schemeClr val="bg1"/>
                </a:solidFill>
              </a:rPr>
              <a:t>Church Age — the gospel advances</a:t>
            </a:r>
            <a:endParaRPr lang="en-US" sz="1100" dirty="0"/>
          </a:p>
        </p:txBody>
      </p:sp>
      <p:sp>
        <p:nvSpPr>
          <p:cNvPr id="32" name="Text 29"/>
          <p:cNvSpPr txBox="1"/>
          <p:nvPr/>
        </p:nvSpPr>
        <p:spPr>
          <a:xfrm>
            <a:off x="6274613" y="4764024"/>
            <a:ext cx="4206240" cy="566928"/>
          </a:xfrm>
          <a:prstGeom prst="rect">
            <a:avLst/>
          </a:prstGeom>
          <a:solidFill>
            <a:srgbClr val="7E8A5E"/>
          </a:solidFill>
          <a:ln w="12700">
            <a:solidFill>
              <a:srgbClr val="FAF7EF"/>
            </a:solidFill>
          </a:ln>
        </p:spPr>
        <p:txBody>
          <a:bodyPr wrap="square" lIns="38100" tIns="38100" rIns="38100" bIns="38100" rtlCol="0" anchor="ctr"/>
          <a:lstStyle/>
          <a:p>
            <a:pPr algn="ctr" indent="0" marL="0">
              <a:buNone/>
            </a:pPr>
            <a:r>
              <a:rPr lang="en-US" sz="1100" b="1" dirty="0">
                <a:solidFill>
                  <a:schemeClr val="bg1"/>
                </a:solidFill>
              </a:rPr>
              <a:t>“Millennium” — a Christianized golden age</a:t>
            </a:r>
            <a:endParaRPr lang="en-US" sz="1100" dirty="0"/>
          </a:p>
        </p:txBody>
      </p:sp>
      <p:sp>
        <p:nvSpPr>
          <p:cNvPr id="33" name="Text 30"/>
          <p:cNvSpPr txBox="1"/>
          <p:nvPr/>
        </p:nvSpPr>
        <p:spPr>
          <a:xfrm>
            <a:off x="10480853" y="4764024"/>
            <a:ext cx="1177747" cy="566928"/>
          </a:xfrm>
          <a:prstGeom prst="rect">
            <a:avLst/>
          </a:prstGeom>
          <a:solidFill>
            <a:srgbClr val="7030A0"/>
          </a:solidFill>
          <a:ln w="12700">
            <a:solidFill>
              <a:srgbClr val="FAF7EF"/>
            </a:solidFill>
          </a:ln>
        </p:spPr>
        <p:txBody>
          <a:bodyPr wrap="square" lIns="38100" tIns="38100" rIns="38100" bIns="38100" rtlCol="0" anchor="ctr"/>
          <a:lstStyle/>
          <a:p>
            <a:pPr algn="ctr" indent="0" marL="0">
              <a:buNone/>
            </a:pPr>
            <a:r>
              <a:rPr lang="en-US" sz="1100" b="1" dirty="0">
                <a:solidFill>
                  <a:schemeClr val="bg1"/>
                </a:solidFill>
              </a:rPr>
              <a:t>Eternal</a:t>
            </a:r>
            <a:endParaRPr lang="en-US" sz="1100" dirty="0"/>
          </a:p>
          <a:p>
            <a:pPr algn="ctr" indent="0" marL="0">
              <a:buNone/>
            </a:pPr>
            <a:r>
              <a:rPr lang="en-US" sz="1100" b="1" dirty="0">
                <a:solidFill>
                  <a:schemeClr val="bg1"/>
                </a:solidFill>
              </a:rPr>
              <a:t>State</a:t>
            </a:r>
            <a:endParaRPr lang="en-US" sz="1100" dirty="0"/>
          </a:p>
        </p:txBody>
      </p:sp>
      <p:sp>
        <p:nvSpPr>
          <p:cNvPr id="34" name="Shape 31"/>
          <p:cNvSpPr/>
          <p:nvPr/>
        </p:nvSpPr>
        <p:spPr>
          <a:xfrm>
            <a:off x="10380269" y="5248656"/>
            <a:ext cx="201168" cy="201168"/>
          </a:xfrm>
          <a:prstGeom prst="diamond">
            <a:avLst/>
          </a:prstGeom>
          <a:solidFill>
            <a:srgbClr val="1F3864"/>
          </a:solidFill>
          <a:ln w="12700">
            <a:solidFill>
              <a:srgbClr val="FAF7EF"/>
            </a:solidFill>
            <a:prstDash val="solid"/>
          </a:ln>
        </p:spPr>
      </p:sp>
      <p:sp>
        <p:nvSpPr>
          <p:cNvPr id="35" name="Text 32"/>
          <p:cNvSpPr txBox="1"/>
          <p:nvPr/>
        </p:nvSpPr>
        <p:spPr>
          <a:xfrm>
            <a:off x="9383573" y="5458968"/>
            <a:ext cx="2194560" cy="256032"/>
          </a:xfrm>
          <a:prstGeom prst="rect">
            <a:avLst/>
          </a:prstGeom>
          <a:noFill/>
          <a:ln/>
        </p:spPr>
        <p:txBody>
          <a:bodyPr wrap="square" lIns="0" tIns="0" rIns="0" bIns="0" rtlCol="0" anchor="t"/>
          <a:lstStyle/>
          <a:p>
            <a:pPr algn="ctr" indent="0" marL="0">
              <a:buNone/>
            </a:pPr>
            <a:r>
              <a:rPr lang="en-US" sz="1000" b="1" dirty="0">
                <a:solidFill>
                  <a:schemeClr val="tx2"/>
                </a:solidFill>
              </a:rPr>
              <a:t>Second Coming</a:t>
            </a:r>
            <a:endParaRPr lang="en-US" sz="1000" dirty="0"/>
          </a:p>
        </p:txBody>
      </p:sp>
      <p:sp>
        <p:nvSpPr>
          <p:cNvPr id="36" name="Text 33"/>
          <p:cNvSpPr txBox="1"/>
          <p:nvPr/>
        </p:nvSpPr>
        <p:spPr>
          <a:xfrm>
            <a:off x="548640" y="5833872"/>
            <a:ext cx="11064240" cy="502920"/>
          </a:xfrm>
          <a:prstGeom prst="rect">
            <a:avLst/>
          </a:prstGeom>
          <a:noFill/>
          <a:ln/>
        </p:spPr>
        <p:txBody>
          <a:bodyPr wrap="square" lIns="0" tIns="0" rIns="0" bIns="0" rtlCol="0" anchor="t"/>
          <a:lstStyle/>
          <a:p>
            <a:pPr algn="l" indent="0" marL="0">
              <a:buNone/>
            </a:pPr>
            <a:r>
              <a:rPr lang="en-US" sz="1200" i="1" dirty="0">
                <a:solidFill>
                  <a:schemeClr val="accent6"/>
                </a:solidFill>
              </a:rPr>
              <a:t>★ The view held throughout this study. Two views place Christ’s return before the 1,000 years; two place it after.</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11155680" cy="621792"/>
          </a:xfrm>
          <a:prstGeom prst="rect">
            <a:avLst/>
          </a:prstGeom>
          <a:noFill/>
          <a:ln/>
        </p:spPr>
        <p:txBody>
          <a:bodyPr wrap="square" lIns="0" tIns="0" rIns="0" bIns="0" rtlCol="0" anchor="ctr"/>
          <a:lstStyle/>
          <a:p>
            <a:pPr algn="l" indent="0" marL="0">
              <a:buNone/>
            </a:pPr>
            <a:r>
              <a:rPr lang="en-US" sz="3400" b="1" dirty="0">
                <a:solidFill>
                  <a:srgbClr val="1F3864"/>
                </a:solidFill>
              </a:rPr>
              <a:t>The Amillennial View</a:t>
            </a:r>
            <a:endParaRPr lang="en-US" sz="3400" dirty="0"/>
          </a:p>
        </p:txBody>
      </p:sp>
      <p:sp>
        <p:nvSpPr>
          <p:cNvPr id="3" name="Text 1"/>
          <p:cNvSpPr/>
          <p:nvPr>
            <p:ph idx="102" type="body" hasCustomPrompt="1"/>
          </p:nvPr>
        </p:nvSpPr>
        <p:spPr>
          <a:xfrm>
            <a:off x="502920" y="914400"/>
            <a:ext cx="11155680" cy="347472"/>
          </a:xfrm>
          <a:prstGeom prst="rect">
            <a:avLst/>
          </a:prstGeom>
          <a:noFill/>
          <a:ln/>
        </p:spPr>
        <p:txBody>
          <a:bodyPr wrap="square" lIns="0" tIns="0" rIns="0" bIns="0" rtlCol="0" anchor="ctr"/>
          <a:lstStyle/>
          <a:p>
            <a:pPr indent="0" marL="0">
              <a:buNone/>
            </a:pPr>
            <a:r>
              <a:rPr lang="en-US" sz="1400" i="1" dirty="0">
                <a:solidFill>
                  <a:srgbClr val="6B7A8F"/>
                </a:solidFill>
              </a:rPr>
              <a:t>No future earthly millennium  ·  the “1,000 years” of Revelation 20 = the present age</a:t>
            </a:r>
            <a:endParaRPr lang="en-US" sz="1400" dirty="0"/>
          </a:p>
        </p:txBody>
      </p:sp>
      <p:sp>
        <p:nvSpPr>
          <p:cNvPr id="5" name="Text 2"/>
          <p:cNvSpPr txBox="1"/>
          <p:nvPr/>
        </p:nvSpPr>
        <p:spPr>
          <a:xfrm>
            <a:off x="548640" y="1920240"/>
            <a:ext cx="777697" cy="731520"/>
          </a:xfrm>
          <a:prstGeom prst="rect">
            <a:avLst/>
          </a:prstGeom>
          <a:solidFill>
            <a:srgbClr val="2E5496"/>
          </a:solidFill>
          <a:ln w="12700">
            <a:solidFill>
              <a:srgbClr val="FAF7EF"/>
            </a:solidFill>
          </a:ln>
        </p:spPr>
        <p:txBody>
          <a:bodyPr wrap="square" lIns="38100" tIns="38100" rIns="38100" bIns="38100" rtlCol="0" anchor="ctr"/>
          <a:lstStyle/>
          <a:p>
            <a:pPr algn="ctr" indent="0" marL="0">
              <a:buNone/>
            </a:pPr>
            <a:r>
              <a:rPr lang="en-US" sz="1200" b="1" dirty="0">
                <a:solidFill>
                  <a:schemeClr val="bg1"/>
                </a:solidFill>
              </a:rPr>
              <a:t>First</a:t>
            </a:r>
            <a:endParaRPr lang="en-US" sz="1200" dirty="0"/>
          </a:p>
          <a:p>
            <a:pPr algn="ctr" indent="0" marL="0">
              <a:buNone/>
            </a:pPr>
            <a:r>
              <a:rPr lang="en-US" sz="1200" b="1" dirty="0">
                <a:solidFill>
                  <a:schemeClr val="bg1"/>
                </a:solidFill>
              </a:rPr>
              <a:t>Advent</a:t>
            </a:r>
            <a:endParaRPr lang="en-US" sz="1200" dirty="0"/>
          </a:p>
        </p:txBody>
      </p:sp>
      <p:sp>
        <p:nvSpPr>
          <p:cNvPr id="6" name="Text 3"/>
          <p:cNvSpPr txBox="1"/>
          <p:nvPr/>
        </p:nvSpPr>
        <p:spPr>
          <a:xfrm>
            <a:off x="1326337" y="1920240"/>
            <a:ext cx="7221474" cy="731520"/>
          </a:xfrm>
          <a:prstGeom prst="rect">
            <a:avLst/>
          </a:prstGeom>
          <a:solidFill>
            <a:srgbClr val="7E8A5E"/>
          </a:solidFill>
          <a:ln w="12700">
            <a:solidFill>
              <a:srgbClr val="FAF7EF"/>
            </a:solidFill>
          </a:ln>
        </p:spPr>
        <p:txBody>
          <a:bodyPr wrap="square" lIns="38100" tIns="38100" rIns="38100" bIns="38100" rtlCol="0" anchor="ctr"/>
          <a:lstStyle/>
          <a:p>
            <a:pPr algn="ctr" indent="0" marL="0">
              <a:buNone/>
            </a:pPr>
            <a:r>
              <a:rPr lang="en-US" sz="1200" b="1" dirty="0">
                <a:solidFill>
                  <a:schemeClr val="bg1"/>
                </a:solidFill>
              </a:rPr>
              <a:t>“The 1,000 years” = the Church Age</a:t>
            </a:r>
            <a:endParaRPr lang="en-US" sz="1200" dirty="0"/>
          </a:p>
          <a:p>
            <a:pPr algn="ctr" indent="0" marL="0">
              <a:buNone/>
            </a:pPr>
            <a:r>
              <a:rPr lang="en-US" sz="1200" b="1" dirty="0">
                <a:solidFill>
                  <a:schemeClr val="bg1"/>
                </a:solidFill>
              </a:rPr>
              <a:t>Christ reigns now from heaven; the saints reign with Him</a:t>
            </a:r>
            <a:endParaRPr lang="en-US" sz="1200" dirty="0"/>
          </a:p>
        </p:txBody>
      </p:sp>
      <p:sp>
        <p:nvSpPr>
          <p:cNvPr id="7" name="Text 4"/>
          <p:cNvSpPr txBox="1"/>
          <p:nvPr/>
        </p:nvSpPr>
        <p:spPr>
          <a:xfrm>
            <a:off x="8547811" y="1920240"/>
            <a:ext cx="888797" cy="731520"/>
          </a:xfrm>
          <a:prstGeom prst="rect">
            <a:avLst/>
          </a:prstGeom>
          <a:solidFill>
            <a:srgbClr val="8B2E2E"/>
          </a:solidFill>
          <a:ln w="12700">
            <a:solidFill>
              <a:srgbClr val="FAF7EF"/>
            </a:solidFill>
          </a:ln>
        </p:spPr>
        <p:txBody>
          <a:bodyPr wrap="square" lIns="38100" tIns="38100" rIns="38100" bIns="38100" rtlCol="0" anchor="ctr"/>
          <a:lstStyle/>
          <a:p>
            <a:pPr algn="ctr" indent="0" marL="0">
              <a:buNone/>
            </a:pPr>
            <a:r>
              <a:rPr lang="en-US" sz="1200" b="1" dirty="0">
                <a:solidFill>
                  <a:schemeClr val="bg1"/>
                </a:solidFill>
              </a:rPr>
              <a:t>Final</a:t>
            </a:r>
            <a:endParaRPr lang="en-US" sz="1200" dirty="0"/>
          </a:p>
          <a:p>
            <a:pPr algn="ctr" indent="0" marL="0">
              <a:buNone/>
            </a:pPr>
            <a:r>
              <a:rPr lang="en-US" sz="1200" b="1" dirty="0">
                <a:solidFill>
                  <a:schemeClr val="bg1"/>
                </a:solidFill>
              </a:rPr>
              <a:t>apostasy</a:t>
            </a:r>
            <a:endParaRPr lang="en-US" sz="1200" dirty="0"/>
          </a:p>
        </p:txBody>
      </p:sp>
      <p:sp>
        <p:nvSpPr>
          <p:cNvPr id="8" name="Text 5"/>
          <p:cNvSpPr txBox="1"/>
          <p:nvPr/>
        </p:nvSpPr>
        <p:spPr>
          <a:xfrm>
            <a:off x="9436608" y="1920240"/>
            <a:ext cx="2221992" cy="731520"/>
          </a:xfrm>
          <a:prstGeom prst="rect">
            <a:avLst/>
          </a:prstGeom>
          <a:solidFill>
            <a:srgbClr val="7030A0"/>
          </a:solidFill>
          <a:ln w="12700">
            <a:solidFill>
              <a:srgbClr val="FAF7EF"/>
            </a:solidFill>
          </a:ln>
        </p:spPr>
        <p:txBody>
          <a:bodyPr wrap="square" lIns="38100" tIns="38100" rIns="38100" bIns="38100" rtlCol="0" anchor="ctr"/>
          <a:lstStyle/>
          <a:p>
            <a:pPr algn="ctr" indent="0" marL="0">
              <a:buNone/>
            </a:pPr>
            <a:r>
              <a:rPr lang="en-US" sz="1200" b="1" dirty="0">
                <a:solidFill>
                  <a:schemeClr val="bg1"/>
                </a:solidFill>
              </a:rPr>
              <a:t>New heavens</a:t>
            </a:r>
            <a:endParaRPr lang="en-US" sz="1200" dirty="0"/>
          </a:p>
          <a:p>
            <a:pPr algn="ctr" indent="0" marL="0">
              <a:buNone/>
            </a:pPr>
            <a:r>
              <a:rPr lang="en-US" sz="1200" b="1" dirty="0">
                <a:solidFill>
                  <a:schemeClr val="bg1"/>
                </a:solidFill>
              </a:rPr>
              <a:t>and new earth</a:t>
            </a:r>
            <a:endParaRPr lang="en-US" sz="1200" dirty="0"/>
          </a:p>
        </p:txBody>
      </p:sp>
      <p:sp>
        <p:nvSpPr>
          <p:cNvPr id="9" name="Shape 6"/>
          <p:cNvSpPr/>
          <p:nvPr/>
        </p:nvSpPr>
        <p:spPr>
          <a:xfrm>
            <a:off x="1207465" y="1783080"/>
            <a:ext cx="237744" cy="237744"/>
          </a:xfrm>
          <a:prstGeom prst="diamond">
            <a:avLst/>
          </a:prstGeom>
          <a:solidFill>
            <a:srgbClr val="1F3864"/>
          </a:solidFill>
          <a:ln w="12700">
            <a:solidFill>
              <a:srgbClr val="FAF7EF"/>
            </a:solidFill>
            <a:prstDash val="solid"/>
          </a:ln>
        </p:spPr>
      </p:sp>
      <p:sp>
        <p:nvSpPr>
          <p:cNvPr id="10" name="Text 7"/>
          <p:cNvSpPr txBox="1"/>
          <p:nvPr/>
        </p:nvSpPr>
        <p:spPr>
          <a:xfrm>
            <a:off x="46177" y="1481328"/>
            <a:ext cx="2560320" cy="274320"/>
          </a:xfrm>
          <a:prstGeom prst="rect">
            <a:avLst/>
          </a:prstGeom>
          <a:noFill/>
          <a:ln/>
        </p:spPr>
        <p:txBody>
          <a:bodyPr wrap="square" lIns="0" tIns="0" rIns="0" bIns="0" rtlCol="0" anchor="b"/>
          <a:lstStyle/>
          <a:p>
            <a:pPr algn="ctr" indent="0" marL="0">
              <a:buNone/>
            </a:pPr>
            <a:r>
              <a:rPr lang="en-US" sz="1100" b="1" dirty="0">
                <a:solidFill>
                  <a:schemeClr val="tx2"/>
                </a:solidFill>
              </a:rPr>
              <a:t>Cross &amp; Resurrection</a:t>
            </a:r>
            <a:endParaRPr lang="en-US" sz="1100" dirty="0"/>
          </a:p>
        </p:txBody>
      </p:sp>
      <p:sp>
        <p:nvSpPr>
          <p:cNvPr id="11" name="Shape 8"/>
          <p:cNvSpPr/>
          <p:nvPr/>
        </p:nvSpPr>
        <p:spPr>
          <a:xfrm>
            <a:off x="9317736" y="1783080"/>
            <a:ext cx="237744" cy="237744"/>
          </a:xfrm>
          <a:prstGeom prst="diamond">
            <a:avLst/>
          </a:prstGeom>
          <a:solidFill>
            <a:srgbClr val="1F3864"/>
          </a:solidFill>
          <a:ln w="12700">
            <a:solidFill>
              <a:srgbClr val="FAF7EF"/>
            </a:solidFill>
            <a:prstDash val="solid"/>
          </a:ln>
        </p:spPr>
      </p:sp>
      <p:sp>
        <p:nvSpPr>
          <p:cNvPr id="12" name="Text 9"/>
          <p:cNvSpPr txBox="1"/>
          <p:nvPr/>
        </p:nvSpPr>
        <p:spPr>
          <a:xfrm>
            <a:off x="8156448" y="1481328"/>
            <a:ext cx="2560320" cy="274320"/>
          </a:xfrm>
          <a:prstGeom prst="rect">
            <a:avLst/>
          </a:prstGeom>
          <a:noFill/>
          <a:ln/>
        </p:spPr>
        <p:txBody>
          <a:bodyPr wrap="square" lIns="0" tIns="0" rIns="0" bIns="0" rtlCol="0" anchor="b"/>
          <a:lstStyle/>
          <a:p>
            <a:pPr algn="ctr" indent="0" marL="0">
              <a:buNone/>
            </a:pPr>
            <a:r>
              <a:rPr lang="en-US" sz="1100" b="1" dirty="0">
                <a:solidFill>
                  <a:schemeClr val="tx2"/>
                </a:solidFill>
              </a:rPr>
              <a:t>Second Coming (one return)</a:t>
            </a:r>
            <a:endParaRPr lang="en-US" sz="1100" dirty="0"/>
          </a:p>
        </p:txBody>
      </p:sp>
      <p:sp>
        <p:nvSpPr>
          <p:cNvPr id="13" name="Text 10"/>
          <p:cNvSpPr txBox="1"/>
          <p:nvPr/>
        </p:nvSpPr>
        <p:spPr>
          <a:xfrm>
            <a:off x="548640" y="2926080"/>
            <a:ext cx="5486400" cy="274320"/>
          </a:xfrm>
          <a:prstGeom prst="rect">
            <a:avLst/>
          </a:prstGeom>
          <a:noFill/>
          <a:ln/>
        </p:spPr>
        <p:txBody>
          <a:bodyPr wrap="square" lIns="0" tIns="0" rIns="0" bIns="0" rtlCol="0" anchor="t"/>
          <a:lstStyle/>
          <a:p>
            <a:pPr algn="l" indent="0" marL="0">
              <a:buNone/>
            </a:pPr>
            <a:r>
              <a:rPr lang="en-US" sz="1100" b="1" dirty="0">
                <a:solidFill>
                  <a:schemeClr val="accent6"/>
                </a:solidFill>
              </a:rPr>
              <a:t>RESURRECTIONS &amp; JUDGMENT IN THIS VIEW</a:t>
            </a:r>
            <a:endParaRPr lang="en-US" sz="1100" dirty="0"/>
          </a:p>
        </p:txBody>
      </p:sp>
      <p:sp>
        <p:nvSpPr>
          <p:cNvPr id="14" name="Shape 11"/>
          <p:cNvSpPr/>
          <p:nvPr/>
        </p:nvSpPr>
        <p:spPr>
          <a:xfrm>
            <a:off x="1326337" y="2651760"/>
            <a:ext cx="0" cy="658368"/>
          </a:xfrm>
          <a:prstGeom prst="line">
            <a:avLst/>
          </a:prstGeom>
          <a:noFill/>
          <a:ln w="15875">
            <a:solidFill>
              <a:srgbClr val="6B7A8F"/>
            </a:solidFill>
            <a:prstDash val="dash"/>
          </a:ln>
        </p:spPr>
      </p:sp>
      <p:sp>
        <p:nvSpPr>
          <p:cNvPr id="15" name="Text 12"/>
          <p:cNvSpPr txBox="1"/>
          <p:nvPr/>
        </p:nvSpPr>
        <p:spPr>
          <a:xfrm>
            <a:off x="548640" y="3310128"/>
            <a:ext cx="2286000" cy="914400"/>
          </a:xfrm>
          <a:prstGeom prst="roundRect">
            <a:avLst>
              <a:gd name="adj" fmla="val 8000"/>
            </a:avLst>
          </a:prstGeom>
          <a:solidFill>
            <a:srgbClr val="FFFFFF"/>
          </a:solidFill>
          <a:ln w="15875">
            <a:solidFill>
              <a:srgbClr val="6B7A8F"/>
            </a:solidFill>
          </a:ln>
        </p:spPr>
        <p:txBody>
          <a:bodyPr wrap="square" lIns="38100" tIns="38100" rIns="38100" bIns="38100" rtlCol="0" anchor="ctr"/>
          <a:lstStyle/>
          <a:p>
            <a:pPr algn="ctr" indent="0" marL="0">
              <a:buNone/>
            </a:pPr>
            <a:r>
              <a:rPr lang="en-US" sz="1100" b="1" dirty="0">
                <a:solidFill>
                  <a:srgbClr val="6B7A8F"/>
                </a:solidFill>
              </a:rPr>
              <a:t>Satan “bound” at the cross</a:t>
            </a:r>
            <a:endParaRPr lang="en-US" sz="1100" dirty="0"/>
          </a:p>
          <a:p>
            <a:pPr algn="ctr" indent="0" marL="0">
              <a:buNone/>
            </a:pPr>
            <a:r>
              <a:rPr lang="en-US" sz="1100" b="1" dirty="0">
                <a:solidFill>
                  <a:srgbClr val="6B7A8F"/>
                </a:solidFill>
              </a:rPr>
              <a:t>(Rev 20:2–3; Matt 12:29)</a:t>
            </a:r>
            <a:endParaRPr lang="en-US" sz="1100" dirty="0"/>
          </a:p>
        </p:txBody>
      </p:sp>
      <p:sp>
        <p:nvSpPr>
          <p:cNvPr id="16" name="Shape 13"/>
          <p:cNvSpPr/>
          <p:nvPr/>
        </p:nvSpPr>
        <p:spPr>
          <a:xfrm>
            <a:off x="4992624" y="2651760"/>
            <a:ext cx="0" cy="658368"/>
          </a:xfrm>
          <a:prstGeom prst="line">
            <a:avLst/>
          </a:prstGeom>
          <a:noFill/>
          <a:ln w="15875">
            <a:solidFill>
              <a:srgbClr val="5E6B45"/>
            </a:solidFill>
            <a:prstDash val="dash"/>
          </a:ln>
        </p:spPr>
      </p:sp>
      <p:sp>
        <p:nvSpPr>
          <p:cNvPr id="17" name="Text 14"/>
          <p:cNvSpPr txBox="1"/>
          <p:nvPr/>
        </p:nvSpPr>
        <p:spPr>
          <a:xfrm>
            <a:off x="3575304" y="3310128"/>
            <a:ext cx="2834640" cy="914400"/>
          </a:xfrm>
          <a:prstGeom prst="roundRect">
            <a:avLst>
              <a:gd name="adj" fmla="val 8000"/>
            </a:avLst>
          </a:prstGeom>
          <a:solidFill>
            <a:srgbClr val="FFFFFF"/>
          </a:solidFill>
          <a:ln w="15875">
            <a:solidFill>
              <a:srgbClr val="5E6B45"/>
            </a:solidFill>
          </a:ln>
        </p:spPr>
        <p:txBody>
          <a:bodyPr wrap="square" lIns="38100" tIns="38100" rIns="38100" bIns="38100" rtlCol="0" anchor="ctr"/>
          <a:lstStyle/>
          <a:p>
            <a:pPr algn="ctr" indent="0" marL="0">
              <a:buNone/>
            </a:pPr>
            <a:r>
              <a:rPr lang="en-US" sz="1100" b="1" dirty="0">
                <a:solidFill>
                  <a:srgbClr val="5E6B45"/>
                </a:solidFill>
              </a:rPr>
              <a:t>“First resurrection” = spiritual:</a:t>
            </a:r>
            <a:endParaRPr lang="en-US" sz="1100" dirty="0"/>
          </a:p>
          <a:p>
            <a:pPr algn="ctr" indent="0" marL="0">
              <a:buNone/>
            </a:pPr>
            <a:r>
              <a:rPr lang="en-US" sz="1100" b="1" dirty="0">
                <a:solidFill>
                  <a:srgbClr val="5E6B45"/>
                </a:solidFill>
              </a:rPr>
              <a:t>new birth, or the believer’s soul</a:t>
            </a:r>
            <a:endParaRPr lang="en-US" sz="1100" dirty="0"/>
          </a:p>
          <a:p>
            <a:pPr algn="ctr" indent="0" marL="0">
              <a:buNone/>
            </a:pPr>
            <a:r>
              <a:rPr lang="en-US" sz="1100" b="1" dirty="0">
                <a:solidFill>
                  <a:srgbClr val="5E6B45"/>
                </a:solidFill>
              </a:rPr>
              <a:t>reigning with Christ in heaven</a:t>
            </a:r>
            <a:endParaRPr lang="en-US" sz="1100" dirty="0"/>
          </a:p>
        </p:txBody>
      </p:sp>
      <p:sp>
        <p:nvSpPr>
          <p:cNvPr id="18" name="Shape 15"/>
          <p:cNvSpPr/>
          <p:nvPr/>
        </p:nvSpPr>
        <p:spPr>
          <a:xfrm>
            <a:off x="9436608" y="2651760"/>
            <a:ext cx="0" cy="658368"/>
          </a:xfrm>
          <a:prstGeom prst="line">
            <a:avLst/>
          </a:prstGeom>
          <a:noFill/>
          <a:ln w="15875">
            <a:solidFill>
              <a:srgbClr val="8B2E2E"/>
            </a:solidFill>
            <a:prstDash val="dash"/>
          </a:ln>
        </p:spPr>
      </p:sp>
      <p:sp>
        <p:nvSpPr>
          <p:cNvPr id="19" name="Text 16"/>
          <p:cNvSpPr txBox="1"/>
          <p:nvPr/>
        </p:nvSpPr>
        <p:spPr>
          <a:xfrm>
            <a:off x="7927848" y="3310128"/>
            <a:ext cx="3017520" cy="914400"/>
          </a:xfrm>
          <a:prstGeom prst="roundRect">
            <a:avLst>
              <a:gd name="adj" fmla="val 8000"/>
            </a:avLst>
          </a:prstGeom>
          <a:solidFill>
            <a:srgbClr val="FFFFFF"/>
          </a:solidFill>
          <a:ln w="15875">
            <a:solidFill>
              <a:srgbClr val="8B2E2E"/>
            </a:solidFill>
          </a:ln>
        </p:spPr>
        <p:txBody>
          <a:bodyPr wrap="square" lIns="38100" tIns="38100" rIns="38100" bIns="38100" rtlCol="0" anchor="ctr"/>
          <a:lstStyle/>
          <a:p>
            <a:pPr algn="ctr" indent="0" marL="0">
              <a:buNone/>
            </a:pPr>
            <a:r>
              <a:rPr lang="en-US" sz="1100" b="1" dirty="0">
                <a:solidFill>
                  <a:srgbClr val="8B2E2E"/>
                </a:solidFill>
              </a:rPr>
              <a:t>ONE general resurrection and</a:t>
            </a:r>
            <a:endParaRPr lang="en-US" sz="1100" dirty="0"/>
          </a:p>
          <a:p>
            <a:pPr algn="ctr" indent="0" marL="0">
              <a:buNone/>
            </a:pPr>
            <a:r>
              <a:rPr lang="en-US" sz="1100" b="1" dirty="0">
                <a:solidFill>
                  <a:srgbClr val="8B2E2E"/>
                </a:solidFill>
              </a:rPr>
              <a:t>ONE general judgment — righteous</a:t>
            </a:r>
            <a:endParaRPr lang="en-US" sz="1100" dirty="0"/>
          </a:p>
          <a:p>
            <a:pPr algn="ctr" indent="0" marL="0">
              <a:buNone/>
            </a:pPr>
            <a:r>
              <a:rPr lang="en-US" sz="1100" b="1" dirty="0">
                <a:solidFill>
                  <a:srgbClr val="8B2E2E"/>
                </a:solidFill>
              </a:rPr>
              <a:t>and wicked together (John 5:28–29)</a:t>
            </a:r>
            <a:endParaRPr lang="en-US" sz="1100" dirty="0"/>
          </a:p>
        </p:txBody>
      </p:sp>
      <p:sp>
        <p:nvSpPr>
          <p:cNvPr id="20" name="Text 17"/>
          <p:cNvSpPr txBox="1"/>
          <p:nvPr/>
        </p:nvSpPr>
        <p:spPr>
          <a:xfrm>
            <a:off x="548640" y="4526280"/>
            <a:ext cx="11064240" cy="274320"/>
          </a:xfrm>
          <a:prstGeom prst="rect">
            <a:avLst/>
          </a:prstGeom>
          <a:noFill/>
          <a:ln/>
        </p:spPr>
        <p:txBody>
          <a:bodyPr wrap="square" lIns="0" tIns="0" rIns="0" bIns="0" rtlCol="0" anchor="t"/>
          <a:lstStyle/>
          <a:p>
            <a:pPr algn="l" indent="0" marL="0">
              <a:buNone/>
            </a:pPr>
            <a:r>
              <a:rPr lang="en-US" sz="1200" dirty="0">
                <a:solidFill>
                  <a:schemeClr val="tx1"/>
                </a:solidFill>
              </a:rPr>
              <a:t>Proponents: Augustine, Luther, Calvin, Berkhof, Hoekema; most Reformed and mainline traditions</a:t>
            </a:r>
            <a:endParaRPr lang="en-US" sz="1200" dirty="0"/>
          </a:p>
        </p:txBody>
      </p:sp>
      <p:sp>
        <p:nvSpPr>
          <p:cNvPr id="21" name="Text 18"/>
          <p:cNvSpPr txBox="1"/>
          <p:nvPr/>
        </p:nvSpPr>
        <p:spPr>
          <a:xfrm>
            <a:off x="548640" y="4983480"/>
            <a:ext cx="11109960" cy="777240"/>
          </a:xfrm>
          <a:prstGeom prst="roundRect">
            <a:avLst>
              <a:gd name="adj" fmla="val 9412"/>
            </a:avLst>
          </a:prstGeom>
          <a:solidFill>
            <a:srgbClr val="EEF1F6"/>
          </a:solidFill>
          <a:ln/>
        </p:spPr>
        <p:txBody>
          <a:bodyPr wrap="square" lIns="101600" tIns="101600" rIns="101600" bIns="101600" rtlCol="0" anchor="ctr"/>
          <a:lstStyle/>
          <a:p>
            <a:pPr algn="l" indent="0" marL="0">
              <a:buNone/>
            </a:pPr>
            <a:r>
              <a:rPr lang="en-US" sz="1200" dirty="0">
                <a:solidFill>
                  <a:schemeClr val="tx1"/>
                </a:solidFill>
              </a:rPr>
              <a:t>This study’s view: two bodily resurrections separated by a literal 1,000 years (Rev 20:4–6; Section VII), and distinct judgments at different times (Section VIII). See Appendix F for the assessment.</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11155680" cy="621792"/>
          </a:xfrm>
          <a:prstGeom prst="rect">
            <a:avLst/>
          </a:prstGeom>
          <a:noFill/>
          <a:ln/>
        </p:spPr>
        <p:txBody>
          <a:bodyPr wrap="square" lIns="0" tIns="0" rIns="0" bIns="0" rtlCol="0" anchor="ctr"/>
          <a:lstStyle/>
          <a:p>
            <a:pPr algn="l" indent="0" marL="0">
              <a:buNone/>
            </a:pPr>
            <a:r>
              <a:rPr lang="en-US" sz="3400" b="1" dirty="0">
                <a:solidFill>
                  <a:srgbClr val="1F3864"/>
                </a:solidFill>
              </a:rPr>
              <a:t>The Postmillennial View</a:t>
            </a:r>
            <a:endParaRPr lang="en-US" sz="3400" dirty="0"/>
          </a:p>
        </p:txBody>
      </p:sp>
      <p:sp>
        <p:nvSpPr>
          <p:cNvPr id="3" name="Text 1"/>
          <p:cNvSpPr/>
          <p:nvPr>
            <p:ph idx="102" type="body" hasCustomPrompt="1"/>
          </p:nvPr>
        </p:nvSpPr>
        <p:spPr>
          <a:xfrm>
            <a:off x="502920" y="914400"/>
            <a:ext cx="11155680" cy="347472"/>
          </a:xfrm>
          <a:prstGeom prst="rect">
            <a:avLst/>
          </a:prstGeom>
          <a:noFill/>
          <a:ln/>
        </p:spPr>
        <p:txBody>
          <a:bodyPr wrap="square" lIns="0" tIns="0" rIns="0" bIns="0" rtlCol="0" anchor="ctr"/>
          <a:lstStyle/>
          <a:p>
            <a:pPr indent="0" marL="0">
              <a:buNone/>
            </a:pPr>
            <a:r>
              <a:rPr lang="en-US" sz="1400" i="1" dirty="0">
                <a:solidFill>
                  <a:srgbClr val="6B7A8F"/>
                </a:solidFill>
              </a:rPr>
              <a:t>Christ returns after a golden age brought about through the spread of the gospel</a:t>
            </a:r>
            <a:endParaRPr lang="en-US" sz="1400" dirty="0"/>
          </a:p>
        </p:txBody>
      </p:sp>
      <p:sp>
        <p:nvSpPr>
          <p:cNvPr id="5" name="Text 2"/>
          <p:cNvSpPr txBox="1"/>
          <p:nvPr/>
        </p:nvSpPr>
        <p:spPr>
          <a:xfrm>
            <a:off x="548640" y="1920240"/>
            <a:ext cx="666598" cy="731520"/>
          </a:xfrm>
          <a:prstGeom prst="rect">
            <a:avLst/>
          </a:prstGeom>
          <a:solidFill>
            <a:srgbClr val="2E5496"/>
          </a:solidFill>
          <a:ln w="12700">
            <a:solidFill>
              <a:srgbClr val="FAF7EF"/>
            </a:solidFill>
          </a:ln>
        </p:spPr>
        <p:txBody>
          <a:bodyPr wrap="square" lIns="38100" tIns="38100" rIns="38100" bIns="38100" rtlCol="0" anchor="ctr"/>
          <a:lstStyle/>
          <a:p>
            <a:pPr algn="ctr" indent="0" marL="0">
              <a:buNone/>
            </a:pPr>
            <a:r>
              <a:rPr lang="en-US" sz="1200" b="1" dirty="0">
                <a:solidFill>
                  <a:schemeClr val="bg1"/>
                </a:solidFill>
              </a:rPr>
              <a:t>First</a:t>
            </a:r>
            <a:endParaRPr lang="en-US" sz="1200" dirty="0"/>
          </a:p>
          <a:p>
            <a:pPr algn="ctr" indent="0" marL="0">
              <a:buNone/>
            </a:pPr>
            <a:r>
              <a:rPr lang="en-US" sz="1200" b="1" dirty="0">
                <a:solidFill>
                  <a:schemeClr val="bg1"/>
                </a:solidFill>
              </a:rPr>
              <a:t>Advent</a:t>
            </a:r>
            <a:endParaRPr lang="en-US" sz="1200" dirty="0"/>
          </a:p>
        </p:txBody>
      </p:sp>
      <p:sp>
        <p:nvSpPr>
          <p:cNvPr id="6" name="Text 3"/>
          <p:cNvSpPr txBox="1"/>
          <p:nvPr/>
        </p:nvSpPr>
        <p:spPr>
          <a:xfrm>
            <a:off x="1215238" y="1920240"/>
            <a:ext cx="3110789" cy="731520"/>
          </a:xfrm>
          <a:prstGeom prst="rect">
            <a:avLst/>
          </a:prstGeom>
          <a:solidFill>
            <a:srgbClr val="375623"/>
          </a:solidFill>
          <a:ln w="12700">
            <a:solidFill>
              <a:srgbClr val="FAF7EF"/>
            </a:solidFill>
          </a:ln>
        </p:spPr>
        <p:txBody>
          <a:bodyPr wrap="square" lIns="38100" tIns="38100" rIns="38100" bIns="38100" rtlCol="0" anchor="ctr"/>
          <a:lstStyle/>
          <a:p>
            <a:pPr algn="ctr" indent="0" marL="0">
              <a:buNone/>
            </a:pPr>
            <a:r>
              <a:rPr lang="en-US" sz="1200" b="1" dirty="0">
                <a:solidFill>
                  <a:schemeClr val="bg1"/>
                </a:solidFill>
              </a:rPr>
              <a:t>Church Age — the gospel</a:t>
            </a:r>
            <a:endParaRPr lang="en-US" sz="1200" dirty="0"/>
          </a:p>
          <a:p>
            <a:pPr algn="ctr" indent="0" marL="0">
              <a:buNone/>
            </a:pPr>
            <a:r>
              <a:rPr lang="en-US" sz="1200" b="1" dirty="0">
                <a:solidFill>
                  <a:schemeClr val="bg1"/>
                </a:solidFill>
              </a:rPr>
              <a:t>progressively advances</a:t>
            </a:r>
            <a:endParaRPr lang="en-US" sz="1200" dirty="0"/>
          </a:p>
        </p:txBody>
      </p:sp>
      <p:sp>
        <p:nvSpPr>
          <p:cNvPr id="7" name="Text 4"/>
          <p:cNvSpPr txBox="1"/>
          <p:nvPr/>
        </p:nvSpPr>
        <p:spPr>
          <a:xfrm>
            <a:off x="4326026" y="1920240"/>
            <a:ext cx="4221785" cy="731520"/>
          </a:xfrm>
          <a:prstGeom prst="rect">
            <a:avLst/>
          </a:prstGeom>
          <a:solidFill>
            <a:srgbClr val="7E8A5E"/>
          </a:solidFill>
          <a:ln w="12700">
            <a:solidFill>
              <a:srgbClr val="FAF7EF"/>
            </a:solidFill>
          </a:ln>
        </p:spPr>
        <p:txBody>
          <a:bodyPr wrap="square" lIns="38100" tIns="38100" rIns="38100" bIns="38100" rtlCol="0" anchor="ctr"/>
          <a:lstStyle/>
          <a:p>
            <a:pPr algn="ctr" indent="0" marL="0">
              <a:buNone/>
            </a:pPr>
            <a:r>
              <a:rPr lang="en-US" sz="1200" b="1" dirty="0">
                <a:solidFill>
                  <a:schemeClr val="bg1"/>
                </a:solidFill>
              </a:rPr>
              <a:t>“Millennium” — a Christianized golden age</a:t>
            </a:r>
            <a:endParaRPr lang="en-US" sz="1200" dirty="0"/>
          </a:p>
          <a:p>
            <a:pPr algn="ctr" indent="0" marL="0">
              <a:buNone/>
            </a:pPr>
            <a:r>
              <a:rPr lang="en-US" sz="1200" b="1" dirty="0">
                <a:solidFill>
                  <a:schemeClr val="bg1"/>
                </a:solidFill>
              </a:rPr>
              <a:t>(a long era; 1,000 literal years for some)</a:t>
            </a:r>
            <a:endParaRPr lang="en-US" sz="1200" dirty="0"/>
          </a:p>
        </p:txBody>
      </p:sp>
      <p:sp>
        <p:nvSpPr>
          <p:cNvPr id="8" name="Text 5"/>
          <p:cNvSpPr txBox="1"/>
          <p:nvPr/>
        </p:nvSpPr>
        <p:spPr>
          <a:xfrm>
            <a:off x="8547811" y="1920240"/>
            <a:ext cx="888797" cy="731520"/>
          </a:xfrm>
          <a:prstGeom prst="rect">
            <a:avLst/>
          </a:prstGeom>
          <a:solidFill>
            <a:srgbClr val="8B2E2E"/>
          </a:solidFill>
          <a:ln w="12700">
            <a:solidFill>
              <a:srgbClr val="FAF7EF"/>
            </a:solidFill>
          </a:ln>
        </p:spPr>
        <p:txBody>
          <a:bodyPr wrap="square" lIns="38100" tIns="38100" rIns="38100" bIns="38100" rtlCol="0" anchor="ctr"/>
          <a:lstStyle/>
          <a:p>
            <a:pPr algn="ctr" indent="0" marL="0">
              <a:buNone/>
            </a:pPr>
            <a:r>
              <a:rPr lang="en-US" sz="1200" b="1" dirty="0">
                <a:solidFill>
                  <a:schemeClr val="bg1"/>
                </a:solidFill>
              </a:rPr>
              <a:t>Brief</a:t>
            </a:r>
            <a:endParaRPr lang="en-US" sz="1200" dirty="0"/>
          </a:p>
          <a:p>
            <a:pPr algn="ctr" indent="0" marL="0">
              <a:buNone/>
            </a:pPr>
            <a:r>
              <a:rPr lang="en-US" sz="1200" b="1" dirty="0">
                <a:solidFill>
                  <a:schemeClr val="bg1"/>
                </a:solidFill>
              </a:rPr>
              <a:t>apostasy</a:t>
            </a:r>
            <a:endParaRPr lang="en-US" sz="1200" dirty="0"/>
          </a:p>
        </p:txBody>
      </p:sp>
      <p:sp>
        <p:nvSpPr>
          <p:cNvPr id="9" name="Text 6"/>
          <p:cNvSpPr txBox="1"/>
          <p:nvPr/>
        </p:nvSpPr>
        <p:spPr>
          <a:xfrm>
            <a:off x="9436608" y="1920240"/>
            <a:ext cx="2221992" cy="731520"/>
          </a:xfrm>
          <a:prstGeom prst="rect">
            <a:avLst/>
          </a:prstGeom>
          <a:solidFill>
            <a:srgbClr val="7030A0"/>
          </a:solidFill>
          <a:ln w="12700">
            <a:solidFill>
              <a:srgbClr val="FAF7EF"/>
            </a:solidFill>
          </a:ln>
        </p:spPr>
        <p:txBody>
          <a:bodyPr wrap="square" lIns="38100" tIns="38100" rIns="38100" bIns="38100" rtlCol="0" anchor="ctr"/>
          <a:lstStyle/>
          <a:p>
            <a:pPr algn="ctr" indent="0" marL="0">
              <a:buNone/>
            </a:pPr>
            <a:r>
              <a:rPr lang="en-US" sz="1200" b="1" dirty="0">
                <a:solidFill>
                  <a:schemeClr val="bg1"/>
                </a:solidFill>
              </a:rPr>
              <a:t>New heavens</a:t>
            </a:r>
            <a:endParaRPr lang="en-US" sz="1200" dirty="0"/>
          </a:p>
          <a:p>
            <a:pPr algn="ctr" indent="0" marL="0">
              <a:buNone/>
            </a:pPr>
            <a:r>
              <a:rPr lang="en-US" sz="1200" b="1" dirty="0">
                <a:solidFill>
                  <a:schemeClr val="bg1"/>
                </a:solidFill>
              </a:rPr>
              <a:t>and new earth</a:t>
            </a:r>
            <a:endParaRPr lang="en-US" sz="1200" dirty="0"/>
          </a:p>
        </p:txBody>
      </p:sp>
      <p:sp>
        <p:nvSpPr>
          <p:cNvPr id="10" name="Shape 7"/>
          <p:cNvSpPr/>
          <p:nvPr/>
        </p:nvSpPr>
        <p:spPr>
          <a:xfrm>
            <a:off x="1096366" y="1783080"/>
            <a:ext cx="237744" cy="237744"/>
          </a:xfrm>
          <a:prstGeom prst="diamond">
            <a:avLst/>
          </a:prstGeom>
          <a:solidFill>
            <a:srgbClr val="1F3864"/>
          </a:solidFill>
          <a:ln w="12700">
            <a:solidFill>
              <a:srgbClr val="FAF7EF"/>
            </a:solidFill>
            <a:prstDash val="solid"/>
          </a:ln>
        </p:spPr>
      </p:sp>
      <p:sp>
        <p:nvSpPr>
          <p:cNvPr id="11" name="Text 8"/>
          <p:cNvSpPr txBox="1"/>
          <p:nvPr/>
        </p:nvSpPr>
        <p:spPr>
          <a:xfrm>
            <a:off x="-64922" y="1481328"/>
            <a:ext cx="2560320" cy="274320"/>
          </a:xfrm>
          <a:prstGeom prst="rect">
            <a:avLst/>
          </a:prstGeom>
          <a:noFill/>
          <a:ln/>
        </p:spPr>
        <p:txBody>
          <a:bodyPr wrap="square" lIns="0" tIns="0" rIns="0" bIns="0" rtlCol="0" anchor="b"/>
          <a:lstStyle/>
          <a:p>
            <a:pPr algn="ctr" indent="0" marL="0">
              <a:buNone/>
            </a:pPr>
            <a:r>
              <a:rPr lang="en-US" sz="1100" b="1" dirty="0">
                <a:solidFill>
                  <a:schemeClr val="tx2"/>
                </a:solidFill>
              </a:rPr>
              <a:t>Cross &amp; Pentecost</a:t>
            </a:r>
            <a:endParaRPr lang="en-US" sz="1100" dirty="0"/>
          </a:p>
        </p:txBody>
      </p:sp>
      <p:sp>
        <p:nvSpPr>
          <p:cNvPr id="12" name="Shape 9"/>
          <p:cNvSpPr/>
          <p:nvPr/>
        </p:nvSpPr>
        <p:spPr>
          <a:xfrm>
            <a:off x="9317736" y="1783080"/>
            <a:ext cx="237744" cy="237744"/>
          </a:xfrm>
          <a:prstGeom prst="diamond">
            <a:avLst/>
          </a:prstGeom>
          <a:solidFill>
            <a:srgbClr val="1F3864"/>
          </a:solidFill>
          <a:ln w="12700">
            <a:solidFill>
              <a:srgbClr val="FAF7EF"/>
            </a:solidFill>
            <a:prstDash val="solid"/>
          </a:ln>
        </p:spPr>
      </p:sp>
      <p:sp>
        <p:nvSpPr>
          <p:cNvPr id="13" name="Text 10"/>
          <p:cNvSpPr txBox="1"/>
          <p:nvPr/>
        </p:nvSpPr>
        <p:spPr>
          <a:xfrm>
            <a:off x="8156448" y="1481328"/>
            <a:ext cx="2560320" cy="274320"/>
          </a:xfrm>
          <a:prstGeom prst="rect">
            <a:avLst/>
          </a:prstGeom>
          <a:noFill/>
          <a:ln/>
        </p:spPr>
        <p:txBody>
          <a:bodyPr wrap="square" lIns="0" tIns="0" rIns="0" bIns="0" rtlCol="0" anchor="b"/>
          <a:lstStyle/>
          <a:p>
            <a:pPr algn="ctr" indent="0" marL="0">
              <a:buNone/>
            </a:pPr>
            <a:r>
              <a:rPr lang="en-US" sz="1100" b="1" dirty="0">
                <a:solidFill>
                  <a:schemeClr val="tx2"/>
                </a:solidFill>
              </a:rPr>
              <a:t>Second Coming (one return)</a:t>
            </a:r>
            <a:endParaRPr lang="en-US" sz="1100" dirty="0"/>
          </a:p>
        </p:txBody>
      </p:sp>
      <p:sp>
        <p:nvSpPr>
          <p:cNvPr id="14" name="Text 11"/>
          <p:cNvSpPr txBox="1"/>
          <p:nvPr/>
        </p:nvSpPr>
        <p:spPr>
          <a:xfrm>
            <a:off x="548640" y="2926080"/>
            <a:ext cx="5486400" cy="274320"/>
          </a:xfrm>
          <a:prstGeom prst="rect">
            <a:avLst/>
          </a:prstGeom>
          <a:noFill/>
          <a:ln/>
        </p:spPr>
        <p:txBody>
          <a:bodyPr wrap="square" lIns="0" tIns="0" rIns="0" bIns="0" rtlCol="0" anchor="t"/>
          <a:lstStyle/>
          <a:p>
            <a:pPr algn="l" indent="0" marL="0">
              <a:buNone/>
            </a:pPr>
            <a:r>
              <a:rPr lang="en-US" sz="1100" b="1" dirty="0">
                <a:solidFill>
                  <a:schemeClr val="accent6"/>
                </a:solidFill>
              </a:rPr>
              <a:t>RESURRECTIONS &amp; JUDGMENT IN THIS VIEW</a:t>
            </a:r>
            <a:endParaRPr lang="en-US" sz="1100" dirty="0"/>
          </a:p>
        </p:txBody>
      </p:sp>
      <p:sp>
        <p:nvSpPr>
          <p:cNvPr id="15" name="Shape 12"/>
          <p:cNvSpPr/>
          <p:nvPr/>
        </p:nvSpPr>
        <p:spPr>
          <a:xfrm>
            <a:off x="2770632" y="2651760"/>
            <a:ext cx="0" cy="658368"/>
          </a:xfrm>
          <a:prstGeom prst="line">
            <a:avLst/>
          </a:prstGeom>
          <a:noFill/>
          <a:ln w="15875">
            <a:solidFill>
              <a:srgbClr val="375623"/>
            </a:solidFill>
            <a:prstDash val="dash"/>
          </a:ln>
        </p:spPr>
      </p:sp>
      <p:sp>
        <p:nvSpPr>
          <p:cNvPr id="16" name="Text 13"/>
          <p:cNvSpPr txBox="1"/>
          <p:nvPr/>
        </p:nvSpPr>
        <p:spPr>
          <a:xfrm>
            <a:off x="1490472" y="3310128"/>
            <a:ext cx="2560320" cy="914400"/>
          </a:xfrm>
          <a:prstGeom prst="roundRect">
            <a:avLst>
              <a:gd name="adj" fmla="val 8000"/>
            </a:avLst>
          </a:prstGeom>
          <a:solidFill>
            <a:srgbClr val="FFFFFF"/>
          </a:solidFill>
          <a:ln w="15875">
            <a:solidFill>
              <a:srgbClr val="375623"/>
            </a:solidFill>
          </a:ln>
        </p:spPr>
        <p:txBody>
          <a:bodyPr wrap="square" lIns="38100" tIns="38100" rIns="38100" bIns="38100" rtlCol="0" anchor="ctr"/>
          <a:lstStyle/>
          <a:p>
            <a:pPr algn="ctr" indent="0" marL="0">
              <a:buNone/>
            </a:pPr>
            <a:r>
              <a:rPr lang="en-US" sz="1100" b="1" dirty="0">
                <a:solidFill>
                  <a:srgbClr val="375623"/>
                </a:solidFill>
              </a:rPr>
              <a:t>Great Commission fulfilled</a:t>
            </a:r>
            <a:endParaRPr lang="en-US" sz="1100" dirty="0"/>
          </a:p>
          <a:p>
            <a:pPr algn="ctr" indent="0" marL="0">
              <a:buNone/>
            </a:pPr>
            <a:r>
              <a:rPr lang="en-US" sz="1100" b="1" dirty="0">
                <a:solidFill>
                  <a:srgbClr val="375623"/>
                </a:solidFill>
              </a:rPr>
              <a:t>through the Church</a:t>
            </a:r>
            <a:endParaRPr lang="en-US" sz="1100" dirty="0"/>
          </a:p>
          <a:p>
            <a:pPr algn="ctr" indent="0" marL="0">
              <a:buNone/>
            </a:pPr>
            <a:r>
              <a:rPr lang="en-US" sz="1100" b="1" dirty="0">
                <a:solidFill>
                  <a:srgbClr val="375623"/>
                </a:solidFill>
              </a:rPr>
              <a:t>(Matt 13:31–33; 28:18–20)</a:t>
            </a:r>
            <a:endParaRPr lang="en-US" sz="1100" dirty="0"/>
          </a:p>
        </p:txBody>
      </p:sp>
      <p:sp>
        <p:nvSpPr>
          <p:cNvPr id="17" name="Shape 14"/>
          <p:cNvSpPr/>
          <p:nvPr/>
        </p:nvSpPr>
        <p:spPr>
          <a:xfrm>
            <a:off x="6436919" y="2651760"/>
            <a:ext cx="0" cy="658368"/>
          </a:xfrm>
          <a:prstGeom prst="line">
            <a:avLst/>
          </a:prstGeom>
          <a:noFill/>
          <a:ln w="15875">
            <a:solidFill>
              <a:srgbClr val="5E6B45"/>
            </a:solidFill>
            <a:prstDash val="dash"/>
          </a:ln>
        </p:spPr>
      </p:sp>
      <p:sp>
        <p:nvSpPr>
          <p:cNvPr id="18" name="Text 15"/>
          <p:cNvSpPr txBox="1"/>
          <p:nvPr/>
        </p:nvSpPr>
        <p:spPr>
          <a:xfrm>
            <a:off x="5156759" y="3310128"/>
            <a:ext cx="2560320" cy="914400"/>
          </a:xfrm>
          <a:prstGeom prst="roundRect">
            <a:avLst>
              <a:gd name="adj" fmla="val 8000"/>
            </a:avLst>
          </a:prstGeom>
          <a:solidFill>
            <a:srgbClr val="FFFFFF"/>
          </a:solidFill>
          <a:ln w="15875">
            <a:solidFill>
              <a:srgbClr val="5E6B45"/>
            </a:solidFill>
          </a:ln>
        </p:spPr>
        <p:txBody>
          <a:bodyPr wrap="square" lIns="38100" tIns="38100" rIns="38100" bIns="38100" rtlCol="0" anchor="ctr"/>
          <a:lstStyle/>
          <a:p>
            <a:pPr algn="ctr" indent="0" marL="0">
              <a:buNone/>
            </a:pPr>
            <a:r>
              <a:rPr lang="en-US" sz="1100" b="1" dirty="0">
                <a:solidFill>
                  <a:srgbClr val="5E6B45"/>
                </a:solidFill>
              </a:rPr>
              <a:t>“First resurrection” usually</a:t>
            </a:r>
            <a:endParaRPr lang="en-US" sz="1100" dirty="0"/>
          </a:p>
          <a:p>
            <a:pPr algn="ctr" indent="0" marL="0">
              <a:buNone/>
            </a:pPr>
            <a:r>
              <a:rPr lang="en-US" sz="1100" b="1" dirty="0">
                <a:solidFill>
                  <a:srgbClr val="5E6B45"/>
                </a:solidFill>
              </a:rPr>
              <a:t>read spiritually — new birth</a:t>
            </a:r>
            <a:endParaRPr lang="en-US" sz="1100" dirty="0"/>
          </a:p>
          <a:p>
            <a:pPr algn="ctr" indent="0" marL="0">
              <a:buNone/>
            </a:pPr>
            <a:r>
              <a:rPr lang="en-US" sz="1100" b="1" dirty="0">
                <a:solidFill>
                  <a:srgbClr val="5E6B45"/>
                </a:solidFill>
              </a:rPr>
              <a:t>and revival</a:t>
            </a:r>
            <a:endParaRPr lang="en-US" sz="1100" dirty="0"/>
          </a:p>
        </p:txBody>
      </p:sp>
      <p:sp>
        <p:nvSpPr>
          <p:cNvPr id="19" name="Shape 16"/>
          <p:cNvSpPr/>
          <p:nvPr/>
        </p:nvSpPr>
        <p:spPr>
          <a:xfrm>
            <a:off x="9436608" y="2651760"/>
            <a:ext cx="0" cy="658368"/>
          </a:xfrm>
          <a:prstGeom prst="line">
            <a:avLst/>
          </a:prstGeom>
          <a:noFill/>
          <a:ln w="15875">
            <a:solidFill>
              <a:srgbClr val="8B2E2E"/>
            </a:solidFill>
            <a:prstDash val="dash"/>
          </a:ln>
        </p:spPr>
      </p:sp>
      <p:sp>
        <p:nvSpPr>
          <p:cNvPr id="20" name="Text 17"/>
          <p:cNvSpPr txBox="1"/>
          <p:nvPr/>
        </p:nvSpPr>
        <p:spPr>
          <a:xfrm>
            <a:off x="8019288" y="3310128"/>
            <a:ext cx="2834640" cy="914400"/>
          </a:xfrm>
          <a:prstGeom prst="roundRect">
            <a:avLst>
              <a:gd name="adj" fmla="val 8000"/>
            </a:avLst>
          </a:prstGeom>
          <a:solidFill>
            <a:srgbClr val="FFFFFF"/>
          </a:solidFill>
          <a:ln w="15875">
            <a:solidFill>
              <a:srgbClr val="8B2E2E"/>
            </a:solidFill>
          </a:ln>
        </p:spPr>
        <p:txBody>
          <a:bodyPr wrap="square" lIns="38100" tIns="38100" rIns="38100" bIns="38100" rtlCol="0" anchor="ctr"/>
          <a:lstStyle/>
          <a:p>
            <a:pPr algn="ctr" indent="0" marL="0">
              <a:buNone/>
            </a:pPr>
            <a:r>
              <a:rPr lang="en-US" sz="1100" b="1" dirty="0">
                <a:solidFill>
                  <a:srgbClr val="8B2E2E"/>
                </a:solidFill>
              </a:rPr>
              <a:t>ONE general resurrection and</a:t>
            </a:r>
            <a:endParaRPr lang="en-US" sz="1100" dirty="0"/>
          </a:p>
          <a:p>
            <a:pPr algn="ctr" indent="0" marL="0">
              <a:buNone/>
            </a:pPr>
            <a:r>
              <a:rPr lang="en-US" sz="1100" b="1" dirty="0">
                <a:solidFill>
                  <a:srgbClr val="8B2E2E"/>
                </a:solidFill>
              </a:rPr>
              <a:t>ONE general judgment</a:t>
            </a:r>
            <a:endParaRPr lang="en-US" sz="1100" dirty="0"/>
          </a:p>
          <a:p>
            <a:pPr algn="ctr" indent="0" marL="0">
              <a:buNone/>
            </a:pPr>
            <a:r>
              <a:rPr lang="en-US" sz="1100" b="1" dirty="0">
                <a:solidFill>
                  <a:srgbClr val="8B2E2E"/>
                </a:solidFill>
              </a:rPr>
              <a:t>at Christ’s return</a:t>
            </a:r>
            <a:endParaRPr lang="en-US" sz="1100" dirty="0"/>
          </a:p>
        </p:txBody>
      </p:sp>
      <p:sp>
        <p:nvSpPr>
          <p:cNvPr id="21" name="Text 18"/>
          <p:cNvSpPr txBox="1"/>
          <p:nvPr/>
        </p:nvSpPr>
        <p:spPr>
          <a:xfrm>
            <a:off x="548640" y="4526280"/>
            <a:ext cx="11064240" cy="274320"/>
          </a:xfrm>
          <a:prstGeom prst="rect">
            <a:avLst/>
          </a:prstGeom>
          <a:noFill/>
          <a:ln/>
        </p:spPr>
        <p:txBody>
          <a:bodyPr wrap="square" lIns="0" tIns="0" rIns="0" bIns="0" rtlCol="0" anchor="t"/>
          <a:lstStyle/>
          <a:p>
            <a:pPr algn="l" indent="0" marL="0">
              <a:buNone/>
            </a:pPr>
            <a:r>
              <a:rPr lang="en-US" sz="1200" dirty="0">
                <a:solidFill>
                  <a:schemeClr val="tx1"/>
                </a:solidFill>
              </a:rPr>
              <a:t>Proponents: Jonathan Edwards, Charles Hodge, B. B. Warfield (historic); Gary DeMar, R. J. Rushdoony (theonomic)</a:t>
            </a:r>
            <a:endParaRPr lang="en-US" sz="1200" dirty="0"/>
          </a:p>
        </p:txBody>
      </p:sp>
      <p:sp>
        <p:nvSpPr>
          <p:cNvPr id="22" name="Text 19"/>
          <p:cNvSpPr txBox="1"/>
          <p:nvPr/>
        </p:nvSpPr>
        <p:spPr>
          <a:xfrm>
            <a:off x="548640" y="4983480"/>
            <a:ext cx="11109960" cy="777240"/>
          </a:xfrm>
          <a:prstGeom prst="roundRect">
            <a:avLst>
              <a:gd name="adj" fmla="val 9412"/>
            </a:avLst>
          </a:prstGeom>
          <a:solidFill>
            <a:srgbClr val="EEF1F6"/>
          </a:solidFill>
          <a:ln/>
        </p:spPr>
        <p:txBody>
          <a:bodyPr wrap="square" lIns="101600" tIns="101600" rIns="101600" bIns="101600" rtlCol="0" anchor="ctr"/>
          <a:lstStyle/>
          <a:p>
            <a:pPr algn="l" indent="0" marL="0">
              <a:buNone/>
            </a:pPr>
            <a:r>
              <a:rPr lang="en-US" sz="1200" dirty="0">
                <a:solidFill>
                  <a:schemeClr val="tx1"/>
                </a:solidFill>
              </a:rPr>
              <a:t>This study’s view: the age ends in apostasy and Tribulation, not a Christianized world (2 Thess 2:3; 2 Tim 3:1–5); Christ returns before the 1,000 years. See Appendix F for the assessment.</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11155680" cy="621792"/>
          </a:xfrm>
          <a:prstGeom prst="rect">
            <a:avLst/>
          </a:prstGeom>
          <a:noFill/>
          <a:ln/>
        </p:spPr>
        <p:txBody>
          <a:bodyPr wrap="square" lIns="0" tIns="0" rIns="0" bIns="0" rtlCol="0" anchor="ctr"/>
          <a:lstStyle/>
          <a:p>
            <a:pPr algn="l" indent="0" marL="0">
              <a:buNone/>
            </a:pPr>
            <a:r>
              <a:rPr lang="en-US" sz="3400" b="1" dirty="0">
                <a:solidFill>
                  <a:srgbClr val="1F3864"/>
                </a:solidFill>
              </a:rPr>
              <a:t>The Historic Premillennial View</a:t>
            </a:r>
            <a:endParaRPr lang="en-US" sz="3400" dirty="0"/>
          </a:p>
        </p:txBody>
      </p:sp>
      <p:sp>
        <p:nvSpPr>
          <p:cNvPr id="3" name="Text 1"/>
          <p:cNvSpPr/>
          <p:nvPr>
            <p:ph idx="102" type="body" hasCustomPrompt="1"/>
          </p:nvPr>
        </p:nvSpPr>
        <p:spPr>
          <a:xfrm>
            <a:off x="502920" y="914400"/>
            <a:ext cx="11155680" cy="347472"/>
          </a:xfrm>
          <a:prstGeom prst="rect">
            <a:avLst/>
          </a:prstGeom>
          <a:noFill/>
          <a:ln/>
        </p:spPr>
        <p:txBody>
          <a:bodyPr wrap="square" lIns="0" tIns="0" rIns="0" bIns="0" rtlCol="0" anchor="ctr"/>
          <a:lstStyle/>
          <a:p>
            <a:pPr indent="0" marL="0">
              <a:buNone/>
            </a:pPr>
            <a:r>
              <a:rPr lang="en-US" sz="1400" i="1" dirty="0">
                <a:solidFill>
                  <a:srgbClr val="6B7A8F"/>
                </a:solidFill>
              </a:rPr>
              <a:t>A literal future millennium — but the Church goes through the Tribulation and inherits Israel’s promises</a:t>
            </a:r>
            <a:endParaRPr lang="en-US" sz="1400" dirty="0"/>
          </a:p>
        </p:txBody>
      </p:sp>
      <p:sp>
        <p:nvSpPr>
          <p:cNvPr id="5" name="Text 2"/>
          <p:cNvSpPr txBox="1"/>
          <p:nvPr/>
        </p:nvSpPr>
        <p:spPr>
          <a:xfrm>
            <a:off x="548640" y="1920240"/>
            <a:ext cx="666598" cy="731520"/>
          </a:xfrm>
          <a:prstGeom prst="rect">
            <a:avLst/>
          </a:prstGeom>
          <a:solidFill>
            <a:srgbClr val="2E5496"/>
          </a:solidFill>
          <a:ln w="12700">
            <a:solidFill>
              <a:srgbClr val="FAF7EF"/>
            </a:solidFill>
          </a:ln>
        </p:spPr>
        <p:txBody>
          <a:bodyPr wrap="square" lIns="38100" tIns="38100" rIns="38100" bIns="38100" rtlCol="0" anchor="ctr"/>
          <a:lstStyle/>
          <a:p>
            <a:pPr algn="ctr" indent="0" marL="0">
              <a:buNone/>
            </a:pPr>
            <a:r>
              <a:rPr lang="en-US" sz="1200" b="1" dirty="0">
                <a:solidFill>
                  <a:schemeClr val="bg1"/>
                </a:solidFill>
              </a:rPr>
              <a:t>First</a:t>
            </a:r>
            <a:endParaRPr lang="en-US" sz="1200" dirty="0"/>
          </a:p>
          <a:p>
            <a:pPr algn="ctr" indent="0" marL="0">
              <a:buNone/>
            </a:pPr>
            <a:r>
              <a:rPr lang="en-US" sz="1200" b="1" dirty="0">
                <a:solidFill>
                  <a:schemeClr val="bg1"/>
                </a:solidFill>
              </a:rPr>
              <a:t>Advent</a:t>
            </a:r>
            <a:endParaRPr lang="en-US" sz="1200" dirty="0"/>
          </a:p>
        </p:txBody>
      </p:sp>
      <p:sp>
        <p:nvSpPr>
          <p:cNvPr id="6" name="Text 3"/>
          <p:cNvSpPr txBox="1"/>
          <p:nvPr/>
        </p:nvSpPr>
        <p:spPr>
          <a:xfrm>
            <a:off x="1215238" y="1920240"/>
            <a:ext cx="2999689" cy="731520"/>
          </a:xfrm>
          <a:prstGeom prst="rect">
            <a:avLst/>
          </a:prstGeom>
          <a:solidFill>
            <a:srgbClr val="375623"/>
          </a:solidFill>
          <a:ln w="12700">
            <a:solidFill>
              <a:srgbClr val="FAF7EF"/>
            </a:solidFill>
          </a:ln>
        </p:spPr>
        <p:txBody>
          <a:bodyPr wrap="square" lIns="38100" tIns="38100" rIns="38100" bIns="38100" rtlCol="0" anchor="ctr"/>
          <a:lstStyle/>
          <a:p>
            <a:pPr algn="ctr" indent="0" marL="0">
              <a:buNone/>
            </a:pPr>
            <a:r>
              <a:rPr lang="en-US" sz="1200" b="1" dirty="0">
                <a:solidFill>
                  <a:schemeClr val="bg1"/>
                </a:solidFill>
              </a:rPr>
              <a:t>Church Age</a:t>
            </a:r>
            <a:endParaRPr lang="en-US" sz="1200" dirty="0"/>
          </a:p>
        </p:txBody>
      </p:sp>
      <p:sp>
        <p:nvSpPr>
          <p:cNvPr id="7" name="Text 4"/>
          <p:cNvSpPr txBox="1"/>
          <p:nvPr/>
        </p:nvSpPr>
        <p:spPr>
          <a:xfrm>
            <a:off x="4214927" y="1920240"/>
            <a:ext cx="1333195" cy="731520"/>
          </a:xfrm>
          <a:prstGeom prst="rect">
            <a:avLst/>
          </a:prstGeom>
          <a:solidFill>
            <a:srgbClr val="8B2E2E"/>
          </a:solidFill>
          <a:ln w="12700">
            <a:solidFill>
              <a:srgbClr val="FAF7EF"/>
            </a:solidFill>
          </a:ln>
        </p:spPr>
        <p:txBody>
          <a:bodyPr wrap="square" lIns="38100" tIns="38100" rIns="38100" bIns="38100" rtlCol="0" anchor="ctr"/>
          <a:lstStyle/>
          <a:p>
            <a:pPr algn="ctr" indent="0" marL="0">
              <a:buNone/>
            </a:pPr>
            <a:r>
              <a:rPr lang="en-US" sz="1200" b="1" dirty="0">
                <a:solidFill>
                  <a:schemeClr val="bg1"/>
                </a:solidFill>
              </a:rPr>
              <a:t>Tribulation</a:t>
            </a:r>
            <a:endParaRPr lang="en-US" sz="1200" dirty="0"/>
          </a:p>
          <a:p>
            <a:pPr algn="ctr" indent="0" marL="0">
              <a:buNone/>
            </a:pPr>
            <a:r>
              <a:rPr lang="en-US" sz="1200" b="1" dirty="0">
                <a:solidFill>
                  <a:schemeClr val="bg1"/>
                </a:solidFill>
              </a:rPr>
              <a:t>Church present</a:t>
            </a:r>
            <a:endParaRPr lang="en-US" sz="1200" dirty="0"/>
          </a:p>
        </p:txBody>
      </p:sp>
      <p:sp>
        <p:nvSpPr>
          <p:cNvPr id="8" name="Text 5"/>
          <p:cNvSpPr txBox="1"/>
          <p:nvPr/>
        </p:nvSpPr>
        <p:spPr>
          <a:xfrm>
            <a:off x="5548122" y="1920240"/>
            <a:ext cx="4110685" cy="731520"/>
          </a:xfrm>
          <a:prstGeom prst="rect">
            <a:avLst/>
          </a:prstGeom>
          <a:solidFill>
            <a:srgbClr val="B8892B"/>
          </a:solidFill>
          <a:ln w="12700">
            <a:solidFill>
              <a:srgbClr val="FAF7EF"/>
            </a:solidFill>
          </a:ln>
        </p:spPr>
        <p:txBody>
          <a:bodyPr wrap="square" lIns="38100" tIns="38100" rIns="38100" bIns="38100" rtlCol="0" anchor="ctr"/>
          <a:lstStyle/>
          <a:p>
            <a:pPr algn="ctr" indent="0" marL="0">
              <a:buNone/>
            </a:pPr>
            <a:r>
              <a:rPr lang="en-US" sz="1200" b="1" dirty="0">
                <a:solidFill>
                  <a:schemeClr val="bg1"/>
                </a:solidFill>
              </a:rPr>
              <a:t>Millennium — 1,000 years</a:t>
            </a:r>
            <a:endParaRPr lang="en-US" sz="1200" dirty="0"/>
          </a:p>
          <a:p>
            <a:pPr algn="ctr" indent="0" marL="0">
              <a:buNone/>
            </a:pPr>
            <a:r>
              <a:rPr lang="en-US" sz="1200" b="1" dirty="0">
                <a:solidFill>
                  <a:schemeClr val="bg1"/>
                </a:solidFill>
              </a:rPr>
              <a:t>Christ reigns on earth</a:t>
            </a:r>
            <a:endParaRPr lang="en-US" sz="1200" dirty="0"/>
          </a:p>
        </p:txBody>
      </p:sp>
      <p:sp>
        <p:nvSpPr>
          <p:cNvPr id="9" name="Text 6"/>
          <p:cNvSpPr txBox="1"/>
          <p:nvPr/>
        </p:nvSpPr>
        <p:spPr>
          <a:xfrm>
            <a:off x="9658807" y="1920240"/>
            <a:ext cx="1999793" cy="731520"/>
          </a:xfrm>
          <a:prstGeom prst="rect">
            <a:avLst/>
          </a:prstGeom>
          <a:solidFill>
            <a:srgbClr val="7030A0"/>
          </a:solidFill>
          <a:ln w="12700">
            <a:solidFill>
              <a:srgbClr val="FAF7EF"/>
            </a:solidFill>
          </a:ln>
        </p:spPr>
        <p:txBody>
          <a:bodyPr wrap="square" lIns="38100" tIns="38100" rIns="38100" bIns="38100" rtlCol="0" anchor="ctr"/>
          <a:lstStyle/>
          <a:p>
            <a:pPr algn="ctr" indent="0" marL="0">
              <a:buNone/>
            </a:pPr>
            <a:r>
              <a:rPr lang="en-US" sz="1200" b="1" dirty="0">
                <a:solidFill>
                  <a:schemeClr val="bg1"/>
                </a:solidFill>
              </a:rPr>
              <a:t>Eternal State</a:t>
            </a:r>
            <a:endParaRPr lang="en-US" sz="1200" dirty="0"/>
          </a:p>
        </p:txBody>
      </p:sp>
      <p:sp>
        <p:nvSpPr>
          <p:cNvPr id="10" name="Shape 7"/>
          <p:cNvSpPr/>
          <p:nvPr/>
        </p:nvSpPr>
        <p:spPr>
          <a:xfrm>
            <a:off x="1096366" y="1783080"/>
            <a:ext cx="237744" cy="237744"/>
          </a:xfrm>
          <a:prstGeom prst="diamond">
            <a:avLst/>
          </a:prstGeom>
          <a:solidFill>
            <a:srgbClr val="1F3864"/>
          </a:solidFill>
          <a:ln w="12700">
            <a:solidFill>
              <a:srgbClr val="FAF7EF"/>
            </a:solidFill>
            <a:prstDash val="solid"/>
          </a:ln>
        </p:spPr>
      </p:sp>
      <p:sp>
        <p:nvSpPr>
          <p:cNvPr id="11" name="Text 8"/>
          <p:cNvSpPr txBox="1"/>
          <p:nvPr/>
        </p:nvSpPr>
        <p:spPr>
          <a:xfrm>
            <a:off x="-64922" y="1481328"/>
            <a:ext cx="2560320" cy="274320"/>
          </a:xfrm>
          <a:prstGeom prst="rect">
            <a:avLst/>
          </a:prstGeom>
          <a:noFill/>
          <a:ln/>
        </p:spPr>
        <p:txBody>
          <a:bodyPr wrap="square" lIns="0" tIns="0" rIns="0" bIns="0" rtlCol="0" anchor="b"/>
          <a:lstStyle/>
          <a:p>
            <a:pPr algn="ctr" indent="0" marL="0">
              <a:buNone/>
            </a:pPr>
            <a:r>
              <a:rPr lang="en-US" sz="1100" b="1" dirty="0">
                <a:solidFill>
                  <a:schemeClr val="tx2"/>
                </a:solidFill>
              </a:rPr>
              <a:t>Cross &amp; Resurrection</a:t>
            </a:r>
            <a:endParaRPr lang="en-US" sz="1100" dirty="0"/>
          </a:p>
        </p:txBody>
      </p:sp>
      <p:sp>
        <p:nvSpPr>
          <p:cNvPr id="12" name="Shape 9"/>
          <p:cNvSpPr/>
          <p:nvPr/>
        </p:nvSpPr>
        <p:spPr>
          <a:xfrm>
            <a:off x="5429250" y="1783080"/>
            <a:ext cx="237744" cy="237744"/>
          </a:xfrm>
          <a:prstGeom prst="diamond">
            <a:avLst/>
          </a:prstGeom>
          <a:solidFill>
            <a:srgbClr val="1F3864"/>
          </a:solidFill>
          <a:ln w="12700">
            <a:solidFill>
              <a:srgbClr val="FAF7EF"/>
            </a:solidFill>
            <a:prstDash val="solid"/>
          </a:ln>
        </p:spPr>
      </p:sp>
      <p:sp>
        <p:nvSpPr>
          <p:cNvPr id="13" name="Text 10"/>
          <p:cNvSpPr txBox="1"/>
          <p:nvPr/>
        </p:nvSpPr>
        <p:spPr>
          <a:xfrm>
            <a:off x="4267962" y="1481328"/>
            <a:ext cx="2560320" cy="274320"/>
          </a:xfrm>
          <a:prstGeom prst="rect">
            <a:avLst/>
          </a:prstGeom>
          <a:noFill/>
          <a:ln/>
        </p:spPr>
        <p:txBody>
          <a:bodyPr wrap="square" lIns="0" tIns="0" rIns="0" bIns="0" rtlCol="0" anchor="b"/>
          <a:lstStyle/>
          <a:p>
            <a:pPr algn="ctr" indent="0" marL="0">
              <a:buNone/>
            </a:pPr>
            <a:r>
              <a:rPr lang="en-US" sz="1100" b="1" dirty="0">
                <a:solidFill>
                  <a:schemeClr val="tx2"/>
                </a:solidFill>
              </a:rPr>
              <a:t>Second Coming + Rapture</a:t>
            </a:r>
            <a:endParaRPr lang="en-US" sz="1100" dirty="0"/>
          </a:p>
        </p:txBody>
      </p:sp>
      <p:sp>
        <p:nvSpPr>
          <p:cNvPr id="14" name="Shape 11"/>
          <p:cNvSpPr/>
          <p:nvPr/>
        </p:nvSpPr>
        <p:spPr>
          <a:xfrm>
            <a:off x="9539935" y="1783080"/>
            <a:ext cx="237744" cy="237744"/>
          </a:xfrm>
          <a:prstGeom prst="diamond">
            <a:avLst/>
          </a:prstGeom>
          <a:solidFill>
            <a:srgbClr val="1F3864"/>
          </a:solidFill>
          <a:ln w="12700">
            <a:solidFill>
              <a:srgbClr val="FAF7EF"/>
            </a:solidFill>
            <a:prstDash val="solid"/>
          </a:ln>
        </p:spPr>
      </p:sp>
      <p:sp>
        <p:nvSpPr>
          <p:cNvPr id="15" name="Text 12"/>
          <p:cNvSpPr txBox="1"/>
          <p:nvPr/>
        </p:nvSpPr>
        <p:spPr>
          <a:xfrm>
            <a:off x="8378647" y="1481328"/>
            <a:ext cx="2560320" cy="274320"/>
          </a:xfrm>
          <a:prstGeom prst="rect">
            <a:avLst/>
          </a:prstGeom>
          <a:noFill/>
          <a:ln/>
        </p:spPr>
        <p:txBody>
          <a:bodyPr wrap="square" lIns="0" tIns="0" rIns="0" bIns="0" rtlCol="0" anchor="b"/>
          <a:lstStyle/>
          <a:p>
            <a:pPr algn="ctr" indent="0" marL="0">
              <a:buNone/>
            </a:pPr>
            <a:r>
              <a:rPr lang="en-US" sz="1100" b="1" dirty="0">
                <a:solidFill>
                  <a:schemeClr val="tx2"/>
                </a:solidFill>
              </a:rPr>
              <a:t>Final rebellion</a:t>
            </a:r>
            <a:endParaRPr lang="en-US" sz="1100" dirty="0"/>
          </a:p>
        </p:txBody>
      </p:sp>
      <p:sp>
        <p:nvSpPr>
          <p:cNvPr id="16" name="Text 13"/>
          <p:cNvSpPr txBox="1"/>
          <p:nvPr/>
        </p:nvSpPr>
        <p:spPr>
          <a:xfrm>
            <a:off x="548640" y="2926080"/>
            <a:ext cx="5486400" cy="274320"/>
          </a:xfrm>
          <a:prstGeom prst="rect">
            <a:avLst/>
          </a:prstGeom>
          <a:noFill/>
          <a:ln/>
        </p:spPr>
        <p:txBody>
          <a:bodyPr wrap="square" lIns="0" tIns="0" rIns="0" bIns="0" rtlCol="0" anchor="t"/>
          <a:lstStyle/>
          <a:p>
            <a:pPr algn="l" indent="0" marL="0">
              <a:buNone/>
            </a:pPr>
            <a:r>
              <a:rPr lang="en-US" sz="1100" b="1" dirty="0">
                <a:solidFill>
                  <a:schemeClr val="accent6"/>
                </a:solidFill>
              </a:rPr>
              <a:t>RESURRECTIONS &amp; JUDGMENT IN THIS VIEW</a:t>
            </a:r>
            <a:endParaRPr lang="en-US" sz="1100" dirty="0"/>
          </a:p>
        </p:txBody>
      </p:sp>
      <p:sp>
        <p:nvSpPr>
          <p:cNvPr id="17" name="Shape 14"/>
          <p:cNvSpPr/>
          <p:nvPr/>
        </p:nvSpPr>
        <p:spPr>
          <a:xfrm>
            <a:off x="5548122" y="2651760"/>
            <a:ext cx="0" cy="658368"/>
          </a:xfrm>
          <a:prstGeom prst="line">
            <a:avLst/>
          </a:prstGeom>
          <a:noFill/>
          <a:ln w="15875">
            <a:solidFill>
              <a:srgbClr val="375623"/>
            </a:solidFill>
            <a:prstDash val="dash"/>
          </a:ln>
        </p:spPr>
      </p:sp>
      <p:sp>
        <p:nvSpPr>
          <p:cNvPr id="18" name="Text 15"/>
          <p:cNvSpPr txBox="1"/>
          <p:nvPr/>
        </p:nvSpPr>
        <p:spPr>
          <a:xfrm>
            <a:off x="4176522" y="3310128"/>
            <a:ext cx="2743200" cy="914400"/>
          </a:xfrm>
          <a:prstGeom prst="roundRect">
            <a:avLst>
              <a:gd name="adj" fmla="val 8000"/>
            </a:avLst>
          </a:prstGeom>
          <a:solidFill>
            <a:srgbClr val="FFFFFF"/>
          </a:solidFill>
          <a:ln w="15875">
            <a:solidFill>
              <a:srgbClr val="375623"/>
            </a:solidFill>
          </a:ln>
        </p:spPr>
        <p:txBody>
          <a:bodyPr wrap="square" lIns="38100" tIns="38100" rIns="38100" bIns="38100" rtlCol="0" anchor="ctr"/>
          <a:lstStyle/>
          <a:p>
            <a:pPr algn="ctr" indent="0" marL="0">
              <a:buNone/>
            </a:pPr>
            <a:r>
              <a:rPr lang="en-US" sz="1100" b="1" dirty="0">
                <a:solidFill>
                  <a:srgbClr val="375623"/>
                </a:solidFill>
              </a:rPr>
              <a:t>FIRST resurrection: believers</a:t>
            </a:r>
            <a:endParaRPr lang="en-US" sz="1100" dirty="0"/>
          </a:p>
          <a:p>
            <a:pPr algn="ctr" indent="0" marL="0">
              <a:buNone/>
            </a:pPr>
            <a:r>
              <a:rPr lang="en-US" sz="1100" b="1" dirty="0">
                <a:solidFill>
                  <a:srgbClr val="375623"/>
                </a:solidFill>
              </a:rPr>
              <a:t>raised at Christ’s return</a:t>
            </a:r>
            <a:endParaRPr lang="en-US" sz="1100" dirty="0"/>
          </a:p>
          <a:p>
            <a:pPr algn="ctr" indent="0" marL="0">
              <a:buNone/>
            </a:pPr>
            <a:r>
              <a:rPr lang="en-US" sz="1100" b="1" dirty="0">
                <a:solidFill>
                  <a:srgbClr val="375623"/>
                </a:solidFill>
              </a:rPr>
              <a:t>(Rev 20:4–5)</a:t>
            </a:r>
            <a:endParaRPr lang="en-US" sz="1100" dirty="0"/>
          </a:p>
        </p:txBody>
      </p:sp>
      <p:sp>
        <p:nvSpPr>
          <p:cNvPr id="19" name="Shape 16"/>
          <p:cNvSpPr/>
          <p:nvPr/>
        </p:nvSpPr>
        <p:spPr>
          <a:xfrm>
            <a:off x="9658807" y="2651760"/>
            <a:ext cx="0" cy="658368"/>
          </a:xfrm>
          <a:prstGeom prst="line">
            <a:avLst/>
          </a:prstGeom>
          <a:noFill/>
          <a:ln w="15875">
            <a:solidFill>
              <a:srgbClr val="8B2E2E"/>
            </a:solidFill>
            <a:prstDash val="dash"/>
          </a:ln>
        </p:spPr>
      </p:sp>
      <p:sp>
        <p:nvSpPr>
          <p:cNvPr id="20" name="Text 17"/>
          <p:cNvSpPr txBox="1"/>
          <p:nvPr/>
        </p:nvSpPr>
        <p:spPr>
          <a:xfrm>
            <a:off x="8287207" y="3310128"/>
            <a:ext cx="2743200" cy="914400"/>
          </a:xfrm>
          <a:prstGeom prst="roundRect">
            <a:avLst>
              <a:gd name="adj" fmla="val 8000"/>
            </a:avLst>
          </a:prstGeom>
          <a:solidFill>
            <a:srgbClr val="FFFFFF"/>
          </a:solidFill>
          <a:ln w="15875">
            <a:solidFill>
              <a:srgbClr val="8B2E2E"/>
            </a:solidFill>
          </a:ln>
        </p:spPr>
        <p:txBody>
          <a:bodyPr wrap="square" lIns="38100" tIns="38100" rIns="38100" bIns="38100" rtlCol="0" anchor="ctr"/>
          <a:lstStyle/>
          <a:p>
            <a:pPr algn="ctr" indent="0" marL="0">
              <a:buNone/>
            </a:pPr>
            <a:r>
              <a:rPr lang="en-US" sz="1100" b="1" dirty="0">
                <a:solidFill>
                  <a:srgbClr val="8B2E2E"/>
                </a:solidFill>
              </a:rPr>
              <a:t>SECOND resurrection: the</a:t>
            </a:r>
            <a:endParaRPr lang="en-US" sz="1100" dirty="0"/>
          </a:p>
          <a:p>
            <a:pPr algn="ctr" indent="0" marL="0">
              <a:buNone/>
            </a:pPr>
            <a:r>
              <a:rPr lang="en-US" sz="1100" b="1" dirty="0">
                <a:solidFill>
                  <a:srgbClr val="8B2E2E"/>
                </a:solidFill>
              </a:rPr>
              <a:t>unsaved — Great White Throne</a:t>
            </a:r>
            <a:endParaRPr lang="en-US" sz="1100" dirty="0"/>
          </a:p>
          <a:p>
            <a:pPr algn="ctr" indent="0" marL="0">
              <a:buNone/>
            </a:pPr>
            <a:r>
              <a:rPr lang="en-US" sz="1100" b="1" dirty="0">
                <a:solidFill>
                  <a:srgbClr val="8B2E2E"/>
                </a:solidFill>
              </a:rPr>
              <a:t>(Rev 20:11–15)</a:t>
            </a:r>
            <a:endParaRPr lang="en-US" sz="1100" dirty="0"/>
          </a:p>
        </p:txBody>
      </p:sp>
      <p:sp>
        <p:nvSpPr>
          <p:cNvPr id="21" name="Text 18"/>
          <p:cNvSpPr txBox="1"/>
          <p:nvPr/>
        </p:nvSpPr>
        <p:spPr>
          <a:xfrm>
            <a:off x="548640" y="4526280"/>
            <a:ext cx="11064240" cy="274320"/>
          </a:xfrm>
          <a:prstGeom prst="rect">
            <a:avLst/>
          </a:prstGeom>
          <a:noFill/>
          <a:ln/>
        </p:spPr>
        <p:txBody>
          <a:bodyPr wrap="square" lIns="0" tIns="0" rIns="0" bIns="0" rtlCol="0" anchor="t"/>
          <a:lstStyle/>
          <a:p>
            <a:pPr algn="l" indent="0" marL="0">
              <a:buNone/>
            </a:pPr>
            <a:r>
              <a:rPr lang="en-US" sz="1200" dirty="0">
                <a:solidFill>
                  <a:schemeClr val="tx1"/>
                </a:solidFill>
              </a:rPr>
              <a:t>Proponents: George Ladd, Craig Blomberg, Thomas Schreiner; many evangelical Baptists</a:t>
            </a:r>
            <a:endParaRPr lang="en-US" sz="1200" dirty="0"/>
          </a:p>
        </p:txBody>
      </p:sp>
      <p:sp>
        <p:nvSpPr>
          <p:cNvPr id="22" name="Text 19"/>
          <p:cNvSpPr txBox="1"/>
          <p:nvPr/>
        </p:nvSpPr>
        <p:spPr>
          <a:xfrm>
            <a:off x="548640" y="4983480"/>
            <a:ext cx="11109960" cy="777240"/>
          </a:xfrm>
          <a:prstGeom prst="roundRect">
            <a:avLst>
              <a:gd name="adj" fmla="val 9412"/>
            </a:avLst>
          </a:prstGeom>
          <a:solidFill>
            <a:srgbClr val="EEF1F6"/>
          </a:solidFill>
          <a:ln/>
        </p:spPr>
        <p:txBody>
          <a:bodyPr wrap="square" lIns="101600" tIns="101600" rIns="101600" bIns="101600" rtlCol="0" anchor="ctr"/>
          <a:lstStyle/>
          <a:p>
            <a:pPr algn="l" indent="0" marL="0">
              <a:buNone/>
            </a:pPr>
            <a:r>
              <a:rPr lang="en-US" sz="1200" dirty="0">
                <a:solidFill>
                  <a:schemeClr val="tx1"/>
                </a:solidFill>
              </a:rPr>
              <a:t>Shared with this study: a literal future millennium and two resurrections. Different: no pretribulational Rapture, no Bema interval before the return, and no sharp Israel–Church distinction (Sections III, IV).</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11155680" cy="621792"/>
          </a:xfrm>
          <a:prstGeom prst="rect">
            <a:avLst/>
          </a:prstGeom>
          <a:noFill/>
          <a:ln/>
        </p:spPr>
        <p:txBody>
          <a:bodyPr wrap="square" lIns="0" tIns="0" rIns="0" bIns="0" rtlCol="0" anchor="ctr"/>
          <a:lstStyle/>
          <a:p>
            <a:pPr algn="l" indent="0" marL="0">
              <a:buNone/>
            </a:pPr>
            <a:r>
              <a:rPr lang="en-US" sz="3400" b="1" dirty="0">
                <a:solidFill>
                  <a:srgbClr val="1F3864"/>
                </a:solidFill>
              </a:rPr>
              <a:t>The Kingdom Promised: By the Numbers</a:t>
            </a:r>
            <a:endParaRPr lang="en-US" sz="3400" dirty="0"/>
          </a:p>
        </p:txBody>
      </p:sp>
      <p:sp>
        <p:nvSpPr>
          <p:cNvPr id="3" name="Text 1"/>
          <p:cNvSpPr/>
          <p:nvPr>
            <p:ph idx="102" type="body" hasCustomPrompt="1"/>
          </p:nvPr>
        </p:nvSpPr>
        <p:spPr>
          <a:xfrm>
            <a:off x="502920" y="914400"/>
            <a:ext cx="11155680" cy="347472"/>
          </a:xfrm>
          <a:prstGeom prst="rect">
            <a:avLst/>
          </a:prstGeom>
          <a:noFill/>
          <a:ln/>
        </p:spPr>
        <p:txBody>
          <a:bodyPr wrap="square" lIns="0" tIns="0" rIns="0" bIns="0" rtlCol="0" anchor="ctr"/>
          <a:lstStyle/>
          <a:p>
            <a:pPr indent="0" marL="0">
              <a:buNone/>
            </a:pPr>
            <a:r>
              <a:rPr lang="en-US" sz="1400" i="1" dirty="0">
                <a:solidFill>
                  <a:srgbClr val="6B7A8F"/>
                </a:solidFill>
              </a:rPr>
              <a:t>How much of the Old Testament anticipates the Kingdom, and where it is concentrated</a:t>
            </a:r>
            <a:endParaRPr lang="en-US" sz="1400" dirty="0"/>
          </a:p>
        </p:txBody>
      </p:sp>
      <p:sp>
        <p:nvSpPr>
          <p:cNvPr id="5" name="Text 2"/>
          <p:cNvSpPr txBox="1"/>
          <p:nvPr/>
        </p:nvSpPr>
        <p:spPr>
          <a:xfrm>
            <a:off x="548640" y="1463040"/>
            <a:ext cx="2377440" cy="685800"/>
          </a:xfrm>
          <a:prstGeom prst="rect">
            <a:avLst/>
          </a:prstGeom>
          <a:noFill/>
          <a:ln/>
        </p:spPr>
        <p:txBody>
          <a:bodyPr wrap="square" lIns="0" tIns="0" rIns="0" bIns="0" rtlCol="0" anchor="ctr"/>
          <a:lstStyle/>
          <a:p>
            <a:pPr algn="l" indent="0" marL="0">
              <a:buNone/>
            </a:pPr>
            <a:r>
              <a:rPr lang="en-US" sz="4000" b="1" dirty="0">
                <a:solidFill>
                  <a:schemeClr val="tx2"/>
                </a:solidFill>
                <a:latin typeface="Cambria" pitchFamily="34" charset="0"/>
                <a:ea typeface="Cambria" pitchFamily="34" charset="-122"/>
                <a:cs typeface="Cambria" pitchFamily="34" charset="-120"/>
              </a:rPr>
              <a:t>1,845+</a:t>
            </a:r>
            <a:endParaRPr lang="en-US" sz="4000" dirty="0"/>
          </a:p>
        </p:txBody>
      </p:sp>
      <p:sp>
        <p:nvSpPr>
          <p:cNvPr id="6" name="Text 3"/>
          <p:cNvSpPr txBox="1"/>
          <p:nvPr/>
        </p:nvSpPr>
        <p:spPr>
          <a:xfrm>
            <a:off x="2926080" y="1572768"/>
            <a:ext cx="2651760" cy="548640"/>
          </a:xfrm>
          <a:prstGeom prst="rect">
            <a:avLst/>
          </a:prstGeom>
          <a:noFill/>
          <a:ln/>
        </p:spPr>
        <p:txBody>
          <a:bodyPr wrap="square" lIns="0" tIns="0" rIns="0" bIns="0" rtlCol="0" anchor="ctr"/>
          <a:lstStyle/>
          <a:p>
            <a:pPr algn="l" indent="0" marL="0">
              <a:buNone/>
            </a:pPr>
            <a:r>
              <a:rPr lang="en-US" sz="1100" dirty="0">
                <a:solidFill>
                  <a:schemeClr val="tx1"/>
                </a:solidFill>
              </a:rPr>
              <a:t>OT references to the Second Coming and Messianic era (Payne)</a:t>
            </a:r>
            <a:endParaRPr lang="en-US" sz="1100" dirty="0"/>
          </a:p>
        </p:txBody>
      </p:sp>
      <p:sp>
        <p:nvSpPr>
          <p:cNvPr id="7" name="Text 4"/>
          <p:cNvSpPr txBox="1"/>
          <p:nvPr/>
        </p:nvSpPr>
        <p:spPr>
          <a:xfrm>
            <a:off x="548640" y="2542032"/>
            <a:ext cx="2377440" cy="685800"/>
          </a:xfrm>
          <a:prstGeom prst="rect">
            <a:avLst/>
          </a:prstGeom>
          <a:noFill/>
          <a:ln/>
        </p:spPr>
        <p:txBody>
          <a:bodyPr wrap="square" lIns="0" tIns="0" rIns="0" bIns="0" rtlCol="0" anchor="ctr"/>
          <a:lstStyle/>
          <a:p>
            <a:pPr algn="l" indent="0" marL="0">
              <a:buNone/>
            </a:pPr>
            <a:r>
              <a:rPr lang="en-US" sz="4000" b="1" dirty="0">
                <a:solidFill>
                  <a:schemeClr val="accent3"/>
                </a:solidFill>
                <a:latin typeface="Cambria" pitchFamily="34" charset="0"/>
                <a:ea typeface="Cambria" pitchFamily="34" charset="-122"/>
                <a:cs typeface="Cambria" pitchFamily="34" charset="-120"/>
              </a:rPr>
              <a:t>≈ 6 : 1</a:t>
            </a:r>
            <a:endParaRPr lang="en-US" sz="4000" dirty="0"/>
          </a:p>
        </p:txBody>
      </p:sp>
      <p:sp>
        <p:nvSpPr>
          <p:cNvPr id="8" name="Text 5"/>
          <p:cNvSpPr txBox="1"/>
          <p:nvPr/>
        </p:nvSpPr>
        <p:spPr>
          <a:xfrm>
            <a:off x="2926080" y="2651760"/>
            <a:ext cx="2651760" cy="548640"/>
          </a:xfrm>
          <a:prstGeom prst="rect">
            <a:avLst/>
          </a:prstGeom>
          <a:noFill/>
          <a:ln/>
        </p:spPr>
        <p:txBody>
          <a:bodyPr wrap="square" lIns="0" tIns="0" rIns="0" bIns="0" rtlCol="0" anchor="ctr"/>
          <a:lstStyle/>
          <a:p>
            <a:pPr algn="l" indent="0" marL="0">
              <a:buNone/>
            </a:pPr>
            <a:r>
              <a:rPr lang="en-US" sz="1100" dirty="0">
                <a:solidFill>
                  <a:schemeClr val="tx1"/>
                </a:solidFill>
              </a:rPr>
              <a:t>Second-Coming to First-Coming OT references (G.1)</a:t>
            </a:r>
            <a:endParaRPr lang="en-US" sz="1100" dirty="0"/>
          </a:p>
        </p:txBody>
      </p:sp>
      <p:sp>
        <p:nvSpPr>
          <p:cNvPr id="9" name="Text 6"/>
          <p:cNvSpPr txBox="1"/>
          <p:nvPr/>
        </p:nvSpPr>
        <p:spPr>
          <a:xfrm>
            <a:off x="548640" y="3621024"/>
            <a:ext cx="2377440" cy="685800"/>
          </a:xfrm>
          <a:prstGeom prst="rect">
            <a:avLst/>
          </a:prstGeom>
          <a:noFill/>
          <a:ln/>
        </p:spPr>
        <p:txBody>
          <a:bodyPr wrap="square" lIns="0" tIns="0" rIns="0" bIns="0" rtlCol="0" anchor="ctr"/>
          <a:lstStyle/>
          <a:p>
            <a:pPr algn="l" indent="0" marL="0">
              <a:buNone/>
            </a:pPr>
            <a:r>
              <a:rPr lang="en-US" sz="4000" b="1" dirty="0">
                <a:solidFill>
                  <a:schemeClr val="tx2"/>
                </a:solidFill>
                <a:latin typeface="Cambria" pitchFamily="34" charset="0"/>
                <a:ea typeface="Cambria" pitchFamily="34" charset="-122"/>
                <a:cs typeface="Cambria" pitchFamily="34" charset="-120"/>
              </a:rPr>
              <a:t>318</a:t>
            </a:r>
            <a:endParaRPr lang="en-US" sz="4000" dirty="0"/>
          </a:p>
        </p:txBody>
      </p:sp>
      <p:sp>
        <p:nvSpPr>
          <p:cNvPr id="10" name="Text 7"/>
          <p:cNvSpPr txBox="1"/>
          <p:nvPr/>
        </p:nvSpPr>
        <p:spPr>
          <a:xfrm>
            <a:off x="2926080" y="3730752"/>
            <a:ext cx="2651760" cy="548640"/>
          </a:xfrm>
          <a:prstGeom prst="rect">
            <a:avLst/>
          </a:prstGeom>
          <a:noFill/>
          <a:ln/>
        </p:spPr>
        <p:txBody>
          <a:bodyPr wrap="square" lIns="0" tIns="0" rIns="0" bIns="0" rtlCol="0" anchor="ctr"/>
          <a:lstStyle/>
          <a:p>
            <a:pPr algn="l" indent="0" marL="0">
              <a:buNone/>
            </a:pPr>
            <a:r>
              <a:rPr lang="en-US" sz="1100" dirty="0">
                <a:solidFill>
                  <a:schemeClr val="tx1"/>
                </a:solidFill>
              </a:rPr>
              <a:t>NT references to the Second Coming</a:t>
            </a:r>
            <a:endParaRPr lang="en-US" sz="1100" dirty="0"/>
          </a:p>
        </p:txBody>
      </p:sp>
      <p:sp>
        <p:nvSpPr>
          <p:cNvPr id="11" name="Text 8"/>
          <p:cNvSpPr txBox="1"/>
          <p:nvPr/>
        </p:nvSpPr>
        <p:spPr>
          <a:xfrm>
            <a:off x="548640" y="4700016"/>
            <a:ext cx="2377440" cy="685800"/>
          </a:xfrm>
          <a:prstGeom prst="rect">
            <a:avLst/>
          </a:prstGeom>
          <a:noFill/>
          <a:ln/>
        </p:spPr>
        <p:txBody>
          <a:bodyPr wrap="square" lIns="0" tIns="0" rIns="0" bIns="0" rtlCol="0" anchor="ctr"/>
          <a:lstStyle/>
          <a:p>
            <a:pPr algn="l" indent="0" marL="0">
              <a:buNone/>
            </a:pPr>
            <a:r>
              <a:rPr lang="en-US" sz="4000" b="1" dirty="0">
                <a:solidFill>
                  <a:schemeClr val="tx2"/>
                </a:solidFill>
                <a:latin typeface="Cambria" pitchFamily="34" charset="0"/>
                <a:ea typeface="Cambria" pitchFamily="34" charset="-122"/>
                <a:cs typeface="Cambria" pitchFamily="34" charset="-120"/>
              </a:rPr>
              <a:t>9</a:t>
            </a:r>
            <a:endParaRPr lang="en-US" sz="4000" dirty="0"/>
          </a:p>
        </p:txBody>
      </p:sp>
      <p:sp>
        <p:nvSpPr>
          <p:cNvPr id="12" name="Text 9"/>
          <p:cNvSpPr txBox="1"/>
          <p:nvPr/>
        </p:nvSpPr>
        <p:spPr>
          <a:xfrm>
            <a:off x="2926080" y="4809744"/>
            <a:ext cx="2651760" cy="548640"/>
          </a:xfrm>
          <a:prstGeom prst="rect">
            <a:avLst/>
          </a:prstGeom>
          <a:noFill/>
          <a:ln/>
        </p:spPr>
        <p:txBody>
          <a:bodyPr wrap="square" lIns="0" tIns="0" rIns="0" bIns="0" rtlCol="0" anchor="ctr"/>
          <a:lstStyle/>
          <a:p>
            <a:pPr algn="l" indent="0" marL="0">
              <a:buNone/>
            </a:pPr>
            <a:r>
              <a:rPr lang="en-US" sz="1100" dirty="0">
                <a:solidFill>
                  <a:schemeClr val="tx1"/>
                </a:solidFill>
              </a:rPr>
              <a:t>chapters on the Millennial Temple alone (Ezek 40–48)</a:t>
            </a:r>
            <a:endParaRPr lang="en-US" sz="1100" dirty="0"/>
          </a:p>
        </p:txBody>
      </p:sp>
      <p:sp>
        <p:nvSpPr>
          <p:cNvPr id="13" name="Text 10"/>
          <p:cNvSpPr txBox="1"/>
          <p:nvPr/>
        </p:nvSpPr>
        <p:spPr>
          <a:xfrm>
            <a:off x="5943600" y="1325880"/>
            <a:ext cx="5715000" cy="274320"/>
          </a:xfrm>
          <a:prstGeom prst="rect">
            <a:avLst/>
          </a:prstGeom>
          <a:noFill/>
          <a:ln/>
        </p:spPr>
        <p:txBody>
          <a:bodyPr wrap="square" lIns="0" tIns="0" rIns="0" bIns="0" rtlCol="0" anchor="t"/>
          <a:lstStyle/>
          <a:p>
            <a:pPr algn="l" indent="0" marL="0">
              <a:buNone/>
            </a:pPr>
            <a:r>
              <a:rPr lang="en-US" sz="1200" b="1" dirty="0">
                <a:solidFill>
                  <a:schemeClr val="tx2"/>
                </a:solidFill>
              </a:rPr>
              <a:t>Kingdom-content density by book (G.3)</a:t>
            </a:r>
            <a:endParaRPr lang="en-US" sz="1200" dirty="0"/>
          </a:p>
        </p:txBody>
      </p:sp>
      <p:sp>
        <p:nvSpPr>
          <p:cNvPr id="14" name="Text 11"/>
          <p:cNvSpPr txBox="1"/>
          <p:nvPr/>
        </p:nvSpPr>
        <p:spPr>
          <a:xfrm>
            <a:off x="5943600" y="1691640"/>
            <a:ext cx="1143000" cy="288036"/>
          </a:xfrm>
          <a:prstGeom prst="rect">
            <a:avLst/>
          </a:prstGeom>
          <a:noFill/>
          <a:ln/>
        </p:spPr>
        <p:txBody>
          <a:bodyPr wrap="square" lIns="0" tIns="0" rIns="0" bIns="0" rtlCol="0" anchor="ctr"/>
          <a:lstStyle/>
          <a:p>
            <a:pPr algn="r" indent="0" marL="0">
              <a:buNone/>
            </a:pPr>
            <a:r>
              <a:rPr lang="en-US" sz="1000" dirty="0">
                <a:solidFill>
                  <a:schemeClr val="tx1"/>
                </a:solidFill>
              </a:rPr>
              <a:t>Genesis</a:t>
            </a:r>
            <a:endParaRPr lang="en-US" sz="1000" dirty="0"/>
          </a:p>
        </p:txBody>
      </p:sp>
      <p:sp>
        <p:nvSpPr>
          <p:cNvPr id="15" name="Shape 12"/>
          <p:cNvSpPr/>
          <p:nvPr/>
        </p:nvSpPr>
        <p:spPr>
          <a:xfrm>
            <a:off x="7178040" y="1737360"/>
            <a:ext cx="1508760" cy="196596"/>
          </a:xfrm>
          <a:prstGeom prst="rect">
            <a:avLst/>
          </a:prstGeom>
          <a:solidFill>
            <a:srgbClr val="DDC995"/>
          </a:solidFill>
          <a:ln w="6350">
            <a:solidFill>
              <a:srgbClr val="FAF7EF"/>
            </a:solidFill>
            <a:prstDash val="solid"/>
          </a:ln>
        </p:spPr>
      </p:sp>
      <p:sp>
        <p:nvSpPr>
          <p:cNvPr id="16" name="Text 13"/>
          <p:cNvSpPr txBox="1"/>
          <p:nvPr/>
        </p:nvSpPr>
        <p:spPr>
          <a:xfrm>
            <a:off x="8759952" y="1691640"/>
            <a:ext cx="1188720" cy="288036"/>
          </a:xfrm>
          <a:prstGeom prst="rect">
            <a:avLst/>
          </a:prstGeom>
          <a:noFill/>
          <a:ln/>
        </p:spPr>
        <p:txBody>
          <a:bodyPr wrap="square" lIns="0" tIns="0" rIns="0" bIns="0" rtlCol="0" anchor="ctr"/>
          <a:lstStyle/>
          <a:p>
            <a:pPr algn="l" indent="0" marL="0">
              <a:buNone/>
            </a:pPr>
            <a:r>
              <a:rPr lang="en-US" sz="1000" dirty="0">
                <a:solidFill>
                  <a:schemeClr val="accent6"/>
                </a:solidFill>
              </a:rPr>
              <a:t>Medium</a:t>
            </a:r>
            <a:endParaRPr lang="en-US" sz="1000" dirty="0"/>
          </a:p>
        </p:txBody>
      </p:sp>
      <p:sp>
        <p:nvSpPr>
          <p:cNvPr id="17" name="Text 14"/>
          <p:cNvSpPr txBox="1"/>
          <p:nvPr/>
        </p:nvSpPr>
        <p:spPr>
          <a:xfrm>
            <a:off x="5943600" y="1979676"/>
            <a:ext cx="1143000" cy="288036"/>
          </a:xfrm>
          <a:prstGeom prst="rect">
            <a:avLst/>
          </a:prstGeom>
          <a:noFill/>
          <a:ln/>
        </p:spPr>
        <p:txBody>
          <a:bodyPr wrap="square" lIns="0" tIns="0" rIns="0" bIns="0" rtlCol="0" anchor="ctr"/>
          <a:lstStyle/>
          <a:p>
            <a:pPr algn="r" indent="0" marL="0">
              <a:buNone/>
            </a:pPr>
            <a:r>
              <a:rPr lang="en-US" sz="1000" dirty="0">
                <a:solidFill>
                  <a:schemeClr val="tx1"/>
                </a:solidFill>
              </a:rPr>
              <a:t>Numbers</a:t>
            </a:r>
            <a:endParaRPr lang="en-US" sz="1000" dirty="0"/>
          </a:p>
        </p:txBody>
      </p:sp>
      <p:sp>
        <p:nvSpPr>
          <p:cNvPr id="18" name="Shape 15"/>
          <p:cNvSpPr/>
          <p:nvPr/>
        </p:nvSpPr>
        <p:spPr>
          <a:xfrm>
            <a:off x="7178040" y="2025396"/>
            <a:ext cx="754380" cy="196596"/>
          </a:xfrm>
          <a:prstGeom prst="rect">
            <a:avLst/>
          </a:prstGeom>
          <a:solidFill>
            <a:srgbClr val="DDC995"/>
          </a:solidFill>
          <a:ln w="6350">
            <a:solidFill>
              <a:srgbClr val="FAF7EF"/>
            </a:solidFill>
            <a:prstDash val="solid"/>
          </a:ln>
        </p:spPr>
      </p:sp>
      <p:sp>
        <p:nvSpPr>
          <p:cNvPr id="19" name="Text 16"/>
          <p:cNvSpPr txBox="1"/>
          <p:nvPr/>
        </p:nvSpPr>
        <p:spPr>
          <a:xfrm>
            <a:off x="8005572" y="1979676"/>
            <a:ext cx="1188720" cy="288036"/>
          </a:xfrm>
          <a:prstGeom prst="rect">
            <a:avLst/>
          </a:prstGeom>
          <a:noFill/>
          <a:ln/>
        </p:spPr>
        <p:txBody>
          <a:bodyPr wrap="square" lIns="0" tIns="0" rIns="0" bIns="0" rtlCol="0" anchor="ctr"/>
          <a:lstStyle/>
          <a:p>
            <a:pPr algn="l" indent="0" marL="0">
              <a:buNone/>
            </a:pPr>
            <a:r>
              <a:rPr lang="en-US" sz="1000" dirty="0">
                <a:solidFill>
                  <a:schemeClr val="accent6"/>
                </a:solidFill>
              </a:rPr>
              <a:t>Low</a:t>
            </a:r>
            <a:endParaRPr lang="en-US" sz="1000" dirty="0"/>
          </a:p>
        </p:txBody>
      </p:sp>
      <p:sp>
        <p:nvSpPr>
          <p:cNvPr id="20" name="Text 17"/>
          <p:cNvSpPr txBox="1"/>
          <p:nvPr/>
        </p:nvSpPr>
        <p:spPr>
          <a:xfrm>
            <a:off x="5943600" y="2267712"/>
            <a:ext cx="1143000" cy="288036"/>
          </a:xfrm>
          <a:prstGeom prst="rect">
            <a:avLst/>
          </a:prstGeom>
          <a:noFill/>
          <a:ln/>
        </p:spPr>
        <p:txBody>
          <a:bodyPr wrap="square" lIns="0" tIns="0" rIns="0" bIns="0" rtlCol="0" anchor="ctr"/>
          <a:lstStyle/>
          <a:p>
            <a:pPr algn="r" indent="0" marL="0">
              <a:buNone/>
            </a:pPr>
            <a:r>
              <a:rPr lang="en-US" sz="1000" dirty="0">
                <a:solidFill>
                  <a:schemeClr val="tx1"/>
                </a:solidFill>
              </a:rPr>
              <a:t>Deuteronomy</a:t>
            </a:r>
            <a:endParaRPr lang="en-US" sz="1000" dirty="0"/>
          </a:p>
        </p:txBody>
      </p:sp>
      <p:sp>
        <p:nvSpPr>
          <p:cNvPr id="21" name="Shape 18"/>
          <p:cNvSpPr/>
          <p:nvPr/>
        </p:nvSpPr>
        <p:spPr>
          <a:xfrm>
            <a:off x="7178040" y="2313432"/>
            <a:ext cx="1508760" cy="196596"/>
          </a:xfrm>
          <a:prstGeom prst="rect">
            <a:avLst/>
          </a:prstGeom>
          <a:solidFill>
            <a:srgbClr val="DDC995"/>
          </a:solidFill>
          <a:ln w="6350">
            <a:solidFill>
              <a:srgbClr val="FAF7EF"/>
            </a:solidFill>
            <a:prstDash val="solid"/>
          </a:ln>
        </p:spPr>
      </p:sp>
      <p:sp>
        <p:nvSpPr>
          <p:cNvPr id="22" name="Text 19"/>
          <p:cNvSpPr txBox="1"/>
          <p:nvPr/>
        </p:nvSpPr>
        <p:spPr>
          <a:xfrm>
            <a:off x="8759952" y="2267712"/>
            <a:ext cx="1188720" cy="288036"/>
          </a:xfrm>
          <a:prstGeom prst="rect">
            <a:avLst/>
          </a:prstGeom>
          <a:noFill/>
          <a:ln/>
        </p:spPr>
        <p:txBody>
          <a:bodyPr wrap="square" lIns="0" tIns="0" rIns="0" bIns="0" rtlCol="0" anchor="ctr"/>
          <a:lstStyle/>
          <a:p>
            <a:pPr algn="l" indent="0" marL="0">
              <a:buNone/>
            </a:pPr>
            <a:r>
              <a:rPr lang="en-US" sz="1000" dirty="0">
                <a:solidFill>
                  <a:schemeClr val="accent6"/>
                </a:solidFill>
              </a:rPr>
              <a:t>Medium</a:t>
            </a:r>
            <a:endParaRPr lang="en-US" sz="1000" dirty="0"/>
          </a:p>
        </p:txBody>
      </p:sp>
      <p:sp>
        <p:nvSpPr>
          <p:cNvPr id="23" name="Text 20"/>
          <p:cNvSpPr txBox="1"/>
          <p:nvPr/>
        </p:nvSpPr>
        <p:spPr>
          <a:xfrm>
            <a:off x="5943600" y="2555748"/>
            <a:ext cx="1143000" cy="288036"/>
          </a:xfrm>
          <a:prstGeom prst="rect">
            <a:avLst/>
          </a:prstGeom>
          <a:noFill/>
          <a:ln/>
        </p:spPr>
        <p:txBody>
          <a:bodyPr wrap="square" lIns="0" tIns="0" rIns="0" bIns="0" rtlCol="0" anchor="ctr"/>
          <a:lstStyle/>
          <a:p>
            <a:pPr algn="r" indent="0" marL="0">
              <a:buNone/>
            </a:pPr>
            <a:r>
              <a:rPr lang="en-US" sz="1000" dirty="0">
                <a:solidFill>
                  <a:schemeClr val="tx1"/>
                </a:solidFill>
              </a:rPr>
              <a:t>2 Samuel</a:t>
            </a:r>
            <a:endParaRPr lang="en-US" sz="1000" dirty="0"/>
          </a:p>
        </p:txBody>
      </p:sp>
      <p:sp>
        <p:nvSpPr>
          <p:cNvPr id="24" name="Shape 21"/>
          <p:cNvSpPr/>
          <p:nvPr/>
        </p:nvSpPr>
        <p:spPr>
          <a:xfrm>
            <a:off x="7178040" y="2601468"/>
            <a:ext cx="1131570" cy="196596"/>
          </a:xfrm>
          <a:prstGeom prst="rect">
            <a:avLst/>
          </a:prstGeom>
          <a:solidFill>
            <a:srgbClr val="DDC995"/>
          </a:solidFill>
          <a:ln w="6350">
            <a:solidFill>
              <a:srgbClr val="FAF7EF"/>
            </a:solidFill>
            <a:prstDash val="solid"/>
          </a:ln>
        </p:spPr>
      </p:sp>
      <p:sp>
        <p:nvSpPr>
          <p:cNvPr id="25" name="Text 22"/>
          <p:cNvSpPr txBox="1"/>
          <p:nvPr/>
        </p:nvSpPr>
        <p:spPr>
          <a:xfrm>
            <a:off x="8382762" y="2555748"/>
            <a:ext cx="1188720" cy="288036"/>
          </a:xfrm>
          <a:prstGeom prst="rect">
            <a:avLst/>
          </a:prstGeom>
          <a:noFill/>
          <a:ln/>
        </p:spPr>
        <p:txBody>
          <a:bodyPr wrap="square" lIns="0" tIns="0" rIns="0" bIns="0" rtlCol="0" anchor="ctr"/>
          <a:lstStyle/>
          <a:p>
            <a:pPr algn="l" indent="0" marL="0">
              <a:buNone/>
            </a:pPr>
            <a:r>
              <a:rPr lang="en-US" sz="1000" dirty="0">
                <a:solidFill>
                  <a:schemeClr val="accent6"/>
                </a:solidFill>
              </a:rPr>
              <a:t>Low–Med</a:t>
            </a:r>
            <a:endParaRPr lang="en-US" sz="1000" dirty="0"/>
          </a:p>
        </p:txBody>
      </p:sp>
      <p:sp>
        <p:nvSpPr>
          <p:cNvPr id="26" name="Text 23"/>
          <p:cNvSpPr txBox="1"/>
          <p:nvPr/>
        </p:nvSpPr>
        <p:spPr>
          <a:xfrm>
            <a:off x="5943600" y="2843784"/>
            <a:ext cx="1143000" cy="288036"/>
          </a:xfrm>
          <a:prstGeom prst="rect">
            <a:avLst/>
          </a:prstGeom>
          <a:noFill/>
          <a:ln/>
        </p:spPr>
        <p:txBody>
          <a:bodyPr wrap="square" lIns="0" tIns="0" rIns="0" bIns="0" rtlCol="0" anchor="ctr"/>
          <a:lstStyle/>
          <a:p>
            <a:pPr algn="r" indent="0" marL="0">
              <a:buNone/>
            </a:pPr>
            <a:r>
              <a:rPr lang="en-US" sz="1000" dirty="0">
                <a:solidFill>
                  <a:schemeClr val="tx1"/>
                </a:solidFill>
              </a:rPr>
              <a:t>Psalms</a:t>
            </a:r>
            <a:endParaRPr lang="en-US" sz="1000" dirty="0"/>
          </a:p>
        </p:txBody>
      </p:sp>
      <p:sp>
        <p:nvSpPr>
          <p:cNvPr id="27" name="Shape 24"/>
          <p:cNvSpPr/>
          <p:nvPr/>
        </p:nvSpPr>
        <p:spPr>
          <a:xfrm>
            <a:off x="7178040" y="2889504"/>
            <a:ext cx="3017520" cy="196596"/>
          </a:xfrm>
          <a:prstGeom prst="rect">
            <a:avLst/>
          </a:prstGeom>
          <a:solidFill>
            <a:srgbClr val="B8892B"/>
          </a:solidFill>
          <a:ln w="6350">
            <a:solidFill>
              <a:srgbClr val="FAF7EF"/>
            </a:solidFill>
            <a:prstDash val="solid"/>
          </a:ln>
        </p:spPr>
      </p:sp>
      <p:sp>
        <p:nvSpPr>
          <p:cNvPr id="28" name="Text 25"/>
          <p:cNvSpPr txBox="1"/>
          <p:nvPr/>
        </p:nvSpPr>
        <p:spPr>
          <a:xfrm>
            <a:off x="10268712" y="2843784"/>
            <a:ext cx="1188720" cy="288036"/>
          </a:xfrm>
          <a:prstGeom prst="rect">
            <a:avLst/>
          </a:prstGeom>
          <a:noFill/>
          <a:ln/>
        </p:spPr>
        <p:txBody>
          <a:bodyPr wrap="square" lIns="0" tIns="0" rIns="0" bIns="0" rtlCol="0" anchor="ctr"/>
          <a:lstStyle/>
          <a:p>
            <a:pPr algn="l" indent="0" marL="0">
              <a:buNone/>
            </a:pPr>
            <a:r>
              <a:rPr lang="en-US" sz="1000" dirty="0">
                <a:solidFill>
                  <a:schemeClr val="accent6"/>
                </a:solidFill>
              </a:rPr>
              <a:t>VERY HIGH</a:t>
            </a:r>
            <a:endParaRPr lang="en-US" sz="1000" dirty="0"/>
          </a:p>
        </p:txBody>
      </p:sp>
      <p:sp>
        <p:nvSpPr>
          <p:cNvPr id="29" name="Text 26"/>
          <p:cNvSpPr txBox="1"/>
          <p:nvPr/>
        </p:nvSpPr>
        <p:spPr>
          <a:xfrm>
            <a:off x="5943600" y="3131820"/>
            <a:ext cx="1143000" cy="288036"/>
          </a:xfrm>
          <a:prstGeom prst="rect">
            <a:avLst/>
          </a:prstGeom>
          <a:noFill/>
          <a:ln/>
        </p:spPr>
        <p:txBody>
          <a:bodyPr wrap="square" lIns="0" tIns="0" rIns="0" bIns="0" rtlCol="0" anchor="ctr"/>
          <a:lstStyle/>
          <a:p>
            <a:pPr algn="r" indent="0" marL="0">
              <a:buNone/>
            </a:pPr>
            <a:r>
              <a:rPr lang="en-US" sz="1000" dirty="0">
                <a:solidFill>
                  <a:schemeClr val="tx1"/>
                </a:solidFill>
              </a:rPr>
              <a:t>Isaiah</a:t>
            </a:r>
            <a:endParaRPr lang="en-US" sz="1000" dirty="0"/>
          </a:p>
        </p:txBody>
      </p:sp>
      <p:sp>
        <p:nvSpPr>
          <p:cNvPr id="30" name="Shape 27"/>
          <p:cNvSpPr/>
          <p:nvPr/>
        </p:nvSpPr>
        <p:spPr>
          <a:xfrm>
            <a:off x="7178040" y="3177540"/>
            <a:ext cx="3017520" cy="196596"/>
          </a:xfrm>
          <a:prstGeom prst="rect">
            <a:avLst/>
          </a:prstGeom>
          <a:solidFill>
            <a:srgbClr val="B8892B"/>
          </a:solidFill>
          <a:ln w="6350">
            <a:solidFill>
              <a:srgbClr val="FAF7EF"/>
            </a:solidFill>
            <a:prstDash val="solid"/>
          </a:ln>
        </p:spPr>
      </p:sp>
      <p:sp>
        <p:nvSpPr>
          <p:cNvPr id="31" name="Text 28"/>
          <p:cNvSpPr txBox="1"/>
          <p:nvPr/>
        </p:nvSpPr>
        <p:spPr>
          <a:xfrm>
            <a:off x="10268712" y="3131820"/>
            <a:ext cx="1188720" cy="288036"/>
          </a:xfrm>
          <a:prstGeom prst="rect">
            <a:avLst/>
          </a:prstGeom>
          <a:noFill/>
          <a:ln/>
        </p:spPr>
        <p:txBody>
          <a:bodyPr wrap="square" lIns="0" tIns="0" rIns="0" bIns="0" rtlCol="0" anchor="ctr"/>
          <a:lstStyle/>
          <a:p>
            <a:pPr algn="l" indent="0" marL="0">
              <a:buNone/>
            </a:pPr>
            <a:r>
              <a:rPr lang="en-US" sz="1000" dirty="0">
                <a:solidFill>
                  <a:schemeClr val="accent6"/>
                </a:solidFill>
              </a:rPr>
              <a:t>VERY HIGH</a:t>
            </a:r>
            <a:endParaRPr lang="en-US" sz="1000" dirty="0"/>
          </a:p>
        </p:txBody>
      </p:sp>
      <p:sp>
        <p:nvSpPr>
          <p:cNvPr id="32" name="Text 29"/>
          <p:cNvSpPr txBox="1"/>
          <p:nvPr/>
        </p:nvSpPr>
        <p:spPr>
          <a:xfrm>
            <a:off x="5943600" y="3419856"/>
            <a:ext cx="1143000" cy="288036"/>
          </a:xfrm>
          <a:prstGeom prst="rect">
            <a:avLst/>
          </a:prstGeom>
          <a:noFill/>
          <a:ln/>
        </p:spPr>
        <p:txBody>
          <a:bodyPr wrap="square" lIns="0" tIns="0" rIns="0" bIns="0" rtlCol="0" anchor="ctr"/>
          <a:lstStyle/>
          <a:p>
            <a:pPr algn="r" indent="0" marL="0">
              <a:buNone/>
            </a:pPr>
            <a:r>
              <a:rPr lang="en-US" sz="1000" dirty="0">
                <a:solidFill>
                  <a:schemeClr val="tx1"/>
                </a:solidFill>
              </a:rPr>
              <a:t>Jeremiah</a:t>
            </a:r>
            <a:endParaRPr lang="en-US" sz="1000" dirty="0"/>
          </a:p>
        </p:txBody>
      </p:sp>
      <p:sp>
        <p:nvSpPr>
          <p:cNvPr id="33" name="Shape 30"/>
          <p:cNvSpPr/>
          <p:nvPr/>
        </p:nvSpPr>
        <p:spPr>
          <a:xfrm>
            <a:off x="7178040" y="3465576"/>
            <a:ext cx="2263140" cy="196596"/>
          </a:xfrm>
          <a:prstGeom prst="rect">
            <a:avLst/>
          </a:prstGeom>
          <a:solidFill>
            <a:srgbClr val="C9A85A"/>
          </a:solidFill>
          <a:ln w="6350">
            <a:solidFill>
              <a:srgbClr val="FAF7EF"/>
            </a:solidFill>
            <a:prstDash val="solid"/>
          </a:ln>
        </p:spPr>
      </p:sp>
      <p:sp>
        <p:nvSpPr>
          <p:cNvPr id="34" name="Text 31"/>
          <p:cNvSpPr txBox="1"/>
          <p:nvPr/>
        </p:nvSpPr>
        <p:spPr>
          <a:xfrm>
            <a:off x="9514332" y="3419856"/>
            <a:ext cx="1188720" cy="288036"/>
          </a:xfrm>
          <a:prstGeom prst="rect">
            <a:avLst/>
          </a:prstGeom>
          <a:noFill/>
          <a:ln/>
        </p:spPr>
        <p:txBody>
          <a:bodyPr wrap="square" lIns="0" tIns="0" rIns="0" bIns="0" rtlCol="0" anchor="ctr"/>
          <a:lstStyle/>
          <a:p>
            <a:pPr algn="l" indent="0" marL="0">
              <a:buNone/>
            </a:pPr>
            <a:r>
              <a:rPr lang="en-US" sz="1000" dirty="0">
                <a:solidFill>
                  <a:schemeClr val="accent6"/>
                </a:solidFill>
              </a:rPr>
              <a:t>High</a:t>
            </a:r>
            <a:endParaRPr lang="en-US" sz="1000" dirty="0"/>
          </a:p>
        </p:txBody>
      </p:sp>
      <p:sp>
        <p:nvSpPr>
          <p:cNvPr id="35" name="Text 32"/>
          <p:cNvSpPr txBox="1"/>
          <p:nvPr/>
        </p:nvSpPr>
        <p:spPr>
          <a:xfrm>
            <a:off x="5943600" y="3707892"/>
            <a:ext cx="1143000" cy="288036"/>
          </a:xfrm>
          <a:prstGeom prst="rect">
            <a:avLst/>
          </a:prstGeom>
          <a:noFill/>
          <a:ln/>
        </p:spPr>
        <p:txBody>
          <a:bodyPr wrap="square" lIns="0" tIns="0" rIns="0" bIns="0" rtlCol="0" anchor="ctr"/>
          <a:lstStyle/>
          <a:p>
            <a:pPr algn="r" indent="0" marL="0">
              <a:buNone/>
            </a:pPr>
            <a:r>
              <a:rPr lang="en-US" sz="1000" dirty="0">
                <a:solidFill>
                  <a:schemeClr val="tx1"/>
                </a:solidFill>
              </a:rPr>
              <a:t>Ezekiel</a:t>
            </a:r>
            <a:endParaRPr lang="en-US" sz="1000" dirty="0"/>
          </a:p>
        </p:txBody>
      </p:sp>
      <p:sp>
        <p:nvSpPr>
          <p:cNvPr id="36" name="Shape 33"/>
          <p:cNvSpPr/>
          <p:nvPr/>
        </p:nvSpPr>
        <p:spPr>
          <a:xfrm>
            <a:off x="7178040" y="3753612"/>
            <a:ext cx="3017520" cy="196596"/>
          </a:xfrm>
          <a:prstGeom prst="rect">
            <a:avLst/>
          </a:prstGeom>
          <a:solidFill>
            <a:srgbClr val="B8892B"/>
          </a:solidFill>
          <a:ln w="6350">
            <a:solidFill>
              <a:srgbClr val="FAF7EF"/>
            </a:solidFill>
            <a:prstDash val="solid"/>
          </a:ln>
        </p:spPr>
      </p:sp>
      <p:sp>
        <p:nvSpPr>
          <p:cNvPr id="37" name="Text 34"/>
          <p:cNvSpPr txBox="1"/>
          <p:nvPr/>
        </p:nvSpPr>
        <p:spPr>
          <a:xfrm>
            <a:off x="10268712" y="3707892"/>
            <a:ext cx="1188720" cy="288036"/>
          </a:xfrm>
          <a:prstGeom prst="rect">
            <a:avLst/>
          </a:prstGeom>
          <a:noFill/>
          <a:ln/>
        </p:spPr>
        <p:txBody>
          <a:bodyPr wrap="square" lIns="0" tIns="0" rIns="0" bIns="0" rtlCol="0" anchor="ctr"/>
          <a:lstStyle/>
          <a:p>
            <a:pPr algn="l" indent="0" marL="0">
              <a:buNone/>
            </a:pPr>
            <a:r>
              <a:rPr lang="en-US" sz="1000" dirty="0">
                <a:solidFill>
                  <a:schemeClr val="accent6"/>
                </a:solidFill>
              </a:rPr>
              <a:t>VERY HIGH</a:t>
            </a:r>
            <a:endParaRPr lang="en-US" sz="1000" dirty="0"/>
          </a:p>
        </p:txBody>
      </p:sp>
      <p:sp>
        <p:nvSpPr>
          <p:cNvPr id="38" name="Text 35"/>
          <p:cNvSpPr txBox="1"/>
          <p:nvPr/>
        </p:nvSpPr>
        <p:spPr>
          <a:xfrm>
            <a:off x="5943600" y="3995928"/>
            <a:ext cx="1143000" cy="288036"/>
          </a:xfrm>
          <a:prstGeom prst="rect">
            <a:avLst/>
          </a:prstGeom>
          <a:noFill/>
          <a:ln/>
        </p:spPr>
        <p:txBody>
          <a:bodyPr wrap="square" lIns="0" tIns="0" rIns="0" bIns="0" rtlCol="0" anchor="ctr"/>
          <a:lstStyle/>
          <a:p>
            <a:pPr algn="r" indent="0" marL="0">
              <a:buNone/>
            </a:pPr>
            <a:r>
              <a:rPr lang="en-US" sz="1000" dirty="0">
                <a:solidFill>
                  <a:schemeClr val="tx1"/>
                </a:solidFill>
              </a:rPr>
              <a:t>Daniel</a:t>
            </a:r>
            <a:endParaRPr lang="en-US" sz="1000" dirty="0"/>
          </a:p>
        </p:txBody>
      </p:sp>
      <p:sp>
        <p:nvSpPr>
          <p:cNvPr id="39" name="Shape 36"/>
          <p:cNvSpPr/>
          <p:nvPr/>
        </p:nvSpPr>
        <p:spPr>
          <a:xfrm>
            <a:off x="7178040" y="4041648"/>
            <a:ext cx="2263140" cy="196596"/>
          </a:xfrm>
          <a:prstGeom prst="rect">
            <a:avLst/>
          </a:prstGeom>
          <a:solidFill>
            <a:srgbClr val="C9A85A"/>
          </a:solidFill>
          <a:ln w="6350">
            <a:solidFill>
              <a:srgbClr val="FAF7EF"/>
            </a:solidFill>
            <a:prstDash val="solid"/>
          </a:ln>
        </p:spPr>
      </p:sp>
      <p:sp>
        <p:nvSpPr>
          <p:cNvPr id="40" name="Text 37"/>
          <p:cNvSpPr txBox="1"/>
          <p:nvPr/>
        </p:nvSpPr>
        <p:spPr>
          <a:xfrm>
            <a:off x="9514332" y="3995928"/>
            <a:ext cx="1188720" cy="288036"/>
          </a:xfrm>
          <a:prstGeom prst="rect">
            <a:avLst/>
          </a:prstGeom>
          <a:noFill/>
          <a:ln/>
        </p:spPr>
        <p:txBody>
          <a:bodyPr wrap="square" lIns="0" tIns="0" rIns="0" bIns="0" rtlCol="0" anchor="ctr"/>
          <a:lstStyle/>
          <a:p>
            <a:pPr algn="l" indent="0" marL="0">
              <a:buNone/>
            </a:pPr>
            <a:r>
              <a:rPr lang="en-US" sz="1000" dirty="0">
                <a:solidFill>
                  <a:schemeClr val="accent6"/>
                </a:solidFill>
              </a:rPr>
              <a:t>High</a:t>
            </a:r>
            <a:endParaRPr lang="en-US" sz="1000" dirty="0"/>
          </a:p>
        </p:txBody>
      </p:sp>
      <p:sp>
        <p:nvSpPr>
          <p:cNvPr id="41" name="Text 38"/>
          <p:cNvSpPr txBox="1"/>
          <p:nvPr/>
        </p:nvSpPr>
        <p:spPr>
          <a:xfrm>
            <a:off x="5943600" y="4283964"/>
            <a:ext cx="1143000" cy="288036"/>
          </a:xfrm>
          <a:prstGeom prst="rect">
            <a:avLst/>
          </a:prstGeom>
          <a:noFill/>
          <a:ln/>
        </p:spPr>
        <p:txBody>
          <a:bodyPr wrap="square" lIns="0" tIns="0" rIns="0" bIns="0" rtlCol="0" anchor="ctr"/>
          <a:lstStyle/>
          <a:p>
            <a:pPr algn="r" indent="0" marL="0">
              <a:buNone/>
            </a:pPr>
            <a:r>
              <a:rPr lang="en-US" sz="1000" dirty="0">
                <a:solidFill>
                  <a:schemeClr val="tx1"/>
                </a:solidFill>
              </a:rPr>
              <a:t>Hosea</a:t>
            </a:r>
            <a:endParaRPr lang="en-US" sz="1000" dirty="0"/>
          </a:p>
        </p:txBody>
      </p:sp>
      <p:sp>
        <p:nvSpPr>
          <p:cNvPr id="42" name="Shape 39"/>
          <p:cNvSpPr/>
          <p:nvPr/>
        </p:nvSpPr>
        <p:spPr>
          <a:xfrm>
            <a:off x="7178040" y="4329684"/>
            <a:ext cx="1508760" cy="196596"/>
          </a:xfrm>
          <a:prstGeom prst="rect">
            <a:avLst/>
          </a:prstGeom>
          <a:solidFill>
            <a:srgbClr val="DDC995"/>
          </a:solidFill>
          <a:ln w="6350">
            <a:solidFill>
              <a:srgbClr val="FAF7EF"/>
            </a:solidFill>
            <a:prstDash val="solid"/>
          </a:ln>
        </p:spPr>
      </p:sp>
      <p:sp>
        <p:nvSpPr>
          <p:cNvPr id="43" name="Text 40"/>
          <p:cNvSpPr txBox="1"/>
          <p:nvPr/>
        </p:nvSpPr>
        <p:spPr>
          <a:xfrm>
            <a:off x="8759952" y="4283964"/>
            <a:ext cx="1188720" cy="288036"/>
          </a:xfrm>
          <a:prstGeom prst="rect">
            <a:avLst/>
          </a:prstGeom>
          <a:noFill/>
          <a:ln/>
        </p:spPr>
        <p:txBody>
          <a:bodyPr wrap="square" lIns="0" tIns="0" rIns="0" bIns="0" rtlCol="0" anchor="ctr"/>
          <a:lstStyle/>
          <a:p>
            <a:pPr algn="l" indent="0" marL="0">
              <a:buNone/>
            </a:pPr>
            <a:r>
              <a:rPr lang="en-US" sz="1000" dirty="0">
                <a:solidFill>
                  <a:schemeClr val="accent6"/>
                </a:solidFill>
              </a:rPr>
              <a:t>Medium</a:t>
            </a:r>
            <a:endParaRPr lang="en-US" sz="1000" dirty="0"/>
          </a:p>
        </p:txBody>
      </p:sp>
      <p:sp>
        <p:nvSpPr>
          <p:cNvPr id="44" name="Text 41"/>
          <p:cNvSpPr txBox="1"/>
          <p:nvPr/>
        </p:nvSpPr>
        <p:spPr>
          <a:xfrm>
            <a:off x="5943600" y="4572000"/>
            <a:ext cx="1143000" cy="288036"/>
          </a:xfrm>
          <a:prstGeom prst="rect">
            <a:avLst/>
          </a:prstGeom>
          <a:noFill/>
          <a:ln/>
        </p:spPr>
        <p:txBody>
          <a:bodyPr wrap="square" lIns="0" tIns="0" rIns="0" bIns="0" rtlCol="0" anchor="ctr"/>
          <a:lstStyle/>
          <a:p>
            <a:pPr algn="r" indent="0" marL="0">
              <a:buNone/>
            </a:pPr>
            <a:r>
              <a:rPr lang="en-US" sz="1000" dirty="0">
                <a:solidFill>
                  <a:schemeClr val="tx1"/>
                </a:solidFill>
              </a:rPr>
              <a:t>Joel</a:t>
            </a:r>
            <a:endParaRPr lang="en-US" sz="1000" dirty="0"/>
          </a:p>
        </p:txBody>
      </p:sp>
      <p:sp>
        <p:nvSpPr>
          <p:cNvPr id="45" name="Shape 42"/>
          <p:cNvSpPr/>
          <p:nvPr/>
        </p:nvSpPr>
        <p:spPr>
          <a:xfrm>
            <a:off x="7178040" y="4617720"/>
            <a:ext cx="1508760" cy="196596"/>
          </a:xfrm>
          <a:prstGeom prst="rect">
            <a:avLst/>
          </a:prstGeom>
          <a:solidFill>
            <a:srgbClr val="DDC995"/>
          </a:solidFill>
          <a:ln w="6350">
            <a:solidFill>
              <a:srgbClr val="FAF7EF"/>
            </a:solidFill>
            <a:prstDash val="solid"/>
          </a:ln>
        </p:spPr>
      </p:sp>
      <p:sp>
        <p:nvSpPr>
          <p:cNvPr id="46" name="Text 43"/>
          <p:cNvSpPr txBox="1"/>
          <p:nvPr/>
        </p:nvSpPr>
        <p:spPr>
          <a:xfrm>
            <a:off x="8759952" y="4572000"/>
            <a:ext cx="1188720" cy="288036"/>
          </a:xfrm>
          <a:prstGeom prst="rect">
            <a:avLst/>
          </a:prstGeom>
          <a:noFill/>
          <a:ln/>
        </p:spPr>
        <p:txBody>
          <a:bodyPr wrap="square" lIns="0" tIns="0" rIns="0" bIns="0" rtlCol="0" anchor="ctr"/>
          <a:lstStyle/>
          <a:p>
            <a:pPr algn="l" indent="0" marL="0">
              <a:buNone/>
            </a:pPr>
            <a:r>
              <a:rPr lang="en-US" sz="1000" dirty="0">
                <a:solidFill>
                  <a:schemeClr val="accent6"/>
                </a:solidFill>
              </a:rPr>
              <a:t>Medium</a:t>
            </a:r>
            <a:endParaRPr lang="en-US" sz="1000" dirty="0"/>
          </a:p>
        </p:txBody>
      </p:sp>
      <p:sp>
        <p:nvSpPr>
          <p:cNvPr id="47" name="Text 44"/>
          <p:cNvSpPr txBox="1"/>
          <p:nvPr/>
        </p:nvSpPr>
        <p:spPr>
          <a:xfrm>
            <a:off x="5943600" y="4860036"/>
            <a:ext cx="1143000" cy="288036"/>
          </a:xfrm>
          <a:prstGeom prst="rect">
            <a:avLst/>
          </a:prstGeom>
          <a:noFill/>
          <a:ln/>
        </p:spPr>
        <p:txBody>
          <a:bodyPr wrap="square" lIns="0" tIns="0" rIns="0" bIns="0" rtlCol="0" anchor="ctr"/>
          <a:lstStyle/>
          <a:p>
            <a:pPr algn="r" indent="0" marL="0">
              <a:buNone/>
            </a:pPr>
            <a:r>
              <a:rPr lang="en-US" sz="1000" dirty="0">
                <a:solidFill>
                  <a:schemeClr val="tx1"/>
                </a:solidFill>
              </a:rPr>
              <a:t>Amos</a:t>
            </a:r>
            <a:endParaRPr lang="en-US" sz="1000" dirty="0"/>
          </a:p>
        </p:txBody>
      </p:sp>
      <p:sp>
        <p:nvSpPr>
          <p:cNvPr id="48" name="Shape 45"/>
          <p:cNvSpPr/>
          <p:nvPr/>
        </p:nvSpPr>
        <p:spPr>
          <a:xfrm>
            <a:off x="7178040" y="4905756"/>
            <a:ext cx="1508760" cy="196596"/>
          </a:xfrm>
          <a:prstGeom prst="rect">
            <a:avLst/>
          </a:prstGeom>
          <a:solidFill>
            <a:srgbClr val="DDC995"/>
          </a:solidFill>
          <a:ln w="6350">
            <a:solidFill>
              <a:srgbClr val="FAF7EF"/>
            </a:solidFill>
            <a:prstDash val="solid"/>
          </a:ln>
        </p:spPr>
      </p:sp>
      <p:sp>
        <p:nvSpPr>
          <p:cNvPr id="49" name="Text 46"/>
          <p:cNvSpPr txBox="1"/>
          <p:nvPr/>
        </p:nvSpPr>
        <p:spPr>
          <a:xfrm>
            <a:off x="8759952" y="4860036"/>
            <a:ext cx="1188720" cy="288036"/>
          </a:xfrm>
          <a:prstGeom prst="rect">
            <a:avLst/>
          </a:prstGeom>
          <a:noFill/>
          <a:ln/>
        </p:spPr>
        <p:txBody>
          <a:bodyPr wrap="square" lIns="0" tIns="0" rIns="0" bIns="0" rtlCol="0" anchor="ctr"/>
          <a:lstStyle/>
          <a:p>
            <a:pPr algn="l" indent="0" marL="0">
              <a:buNone/>
            </a:pPr>
            <a:r>
              <a:rPr lang="en-US" sz="1000" dirty="0">
                <a:solidFill>
                  <a:schemeClr val="accent6"/>
                </a:solidFill>
              </a:rPr>
              <a:t>Medium</a:t>
            </a:r>
            <a:endParaRPr lang="en-US" sz="1000" dirty="0"/>
          </a:p>
        </p:txBody>
      </p:sp>
      <p:sp>
        <p:nvSpPr>
          <p:cNvPr id="50" name="Text 47"/>
          <p:cNvSpPr txBox="1"/>
          <p:nvPr/>
        </p:nvSpPr>
        <p:spPr>
          <a:xfrm>
            <a:off x="5943600" y="5148072"/>
            <a:ext cx="1143000" cy="288036"/>
          </a:xfrm>
          <a:prstGeom prst="rect">
            <a:avLst/>
          </a:prstGeom>
          <a:noFill/>
          <a:ln/>
        </p:spPr>
        <p:txBody>
          <a:bodyPr wrap="square" lIns="0" tIns="0" rIns="0" bIns="0" rtlCol="0" anchor="ctr"/>
          <a:lstStyle/>
          <a:p>
            <a:pPr algn="r" indent="0" marL="0">
              <a:buNone/>
            </a:pPr>
            <a:r>
              <a:rPr lang="en-US" sz="1000" dirty="0">
                <a:solidFill>
                  <a:schemeClr val="tx1"/>
                </a:solidFill>
              </a:rPr>
              <a:t>Micah</a:t>
            </a:r>
            <a:endParaRPr lang="en-US" sz="1000" dirty="0"/>
          </a:p>
        </p:txBody>
      </p:sp>
      <p:sp>
        <p:nvSpPr>
          <p:cNvPr id="51" name="Shape 48"/>
          <p:cNvSpPr/>
          <p:nvPr/>
        </p:nvSpPr>
        <p:spPr>
          <a:xfrm>
            <a:off x="7178040" y="5193792"/>
            <a:ext cx="2263140" cy="196596"/>
          </a:xfrm>
          <a:prstGeom prst="rect">
            <a:avLst/>
          </a:prstGeom>
          <a:solidFill>
            <a:srgbClr val="C9A85A"/>
          </a:solidFill>
          <a:ln w="6350">
            <a:solidFill>
              <a:srgbClr val="FAF7EF"/>
            </a:solidFill>
            <a:prstDash val="solid"/>
          </a:ln>
        </p:spPr>
      </p:sp>
      <p:sp>
        <p:nvSpPr>
          <p:cNvPr id="52" name="Text 49"/>
          <p:cNvSpPr txBox="1"/>
          <p:nvPr/>
        </p:nvSpPr>
        <p:spPr>
          <a:xfrm>
            <a:off x="9514332" y="5148072"/>
            <a:ext cx="1188720" cy="288036"/>
          </a:xfrm>
          <a:prstGeom prst="rect">
            <a:avLst/>
          </a:prstGeom>
          <a:noFill/>
          <a:ln/>
        </p:spPr>
        <p:txBody>
          <a:bodyPr wrap="square" lIns="0" tIns="0" rIns="0" bIns="0" rtlCol="0" anchor="ctr"/>
          <a:lstStyle/>
          <a:p>
            <a:pPr algn="l" indent="0" marL="0">
              <a:buNone/>
            </a:pPr>
            <a:r>
              <a:rPr lang="en-US" sz="1000" dirty="0">
                <a:solidFill>
                  <a:schemeClr val="accent6"/>
                </a:solidFill>
              </a:rPr>
              <a:t>High</a:t>
            </a:r>
            <a:endParaRPr lang="en-US" sz="1000" dirty="0"/>
          </a:p>
        </p:txBody>
      </p:sp>
      <p:sp>
        <p:nvSpPr>
          <p:cNvPr id="53" name="Text 50"/>
          <p:cNvSpPr txBox="1"/>
          <p:nvPr/>
        </p:nvSpPr>
        <p:spPr>
          <a:xfrm>
            <a:off x="5943600" y="5436108"/>
            <a:ext cx="1143000" cy="288036"/>
          </a:xfrm>
          <a:prstGeom prst="rect">
            <a:avLst/>
          </a:prstGeom>
          <a:noFill/>
          <a:ln/>
        </p:spPr>
        <p:txBody>
          <a:bodyPr wrap="square" lIns="0" tIns="0" rIns="0" bIns="0" rtlCol="0" anchor="ctr"/>
          <a:lstStyle/>
          <a:p>
            <a:pPr algn="r" indent="0" marL="0">
              <a:buNone/>
            </a:pPr>
            <a:r>
              <a:rPr lang="en-US" sz="1000" dirty="0">
                <a:solidFill>
                  <a:schemeClr val="tx1"/>
                </a:solidFill>
              </a:rPr>
              <a:t>Zechariah</a:t>
            </a:r>
            <a:endParaRPr lang="en-US" sz="1000" dirty="0"/>
          </a:p>
        </p:txBody>
      </p:sp>
      <p:sp>
        <p:nvSpPr>
          <p:cNvPr id="54" name="Shape 51"/>
          <p:cNvSpPr/>
          <p:nvPr/>
        </p:nvSpPr>
        <p:spPr>
          <a:xfrm>
            <a:off x="7178040" y="5481828"/>
            <a:ext cx="3017520" cy="196596"/>
          </a:xfrm>
          <a:prstGeom prst="rect">
            <a:avLst/>
          </a:prstGeom>
          <a:solidFill>
            <a:srgbClr val="B8892B"/>
          </a:solidFill>
          <a:ln w="6350">
            <a:solidFill>
              <a:srgbClr val="FAF7EF"/>
            </a:solidFill>
            <a:prstDash val="solid"/>
          </a:ln>
        </p:spPr>
      </p:sp>
      <p:sp>
        <p:nvSpPr>
          <p:cNvPr id="55" name="Text 52"/>
          <p:cNvSpPr txBox="1"/>
          <p:nvPr/>
        </p:nvSpPr>
        <p:spPr>
          <a:xfrm>
            <a:off x="10268712" y="5436108"/>
            <a:ext cx="1188720" cy="288036"/>
          </a:xfrm>
          <a:prstGeom prst="rect">
            <a:avLst/>
          </a:prstGeom>
          <a:noFill/>
          <a:ln/>
        </p:spPr>
        <p:txBody>
          <a:bodyPr wrap="square" lIns="0" tIns="0" rIns="0" bIns="0" rtlCol="0" anchor="ctr"/>
          <a:lstStyle/>
          <a:p>
            <a:pPr algn="l" indent="0" marL="0">
              <a:buNone/>
            </a:pPr>
            <a:r>
              <a:rPr lang="en-US" sz="1000" dirty="0">
                <a:solidFill>
                  <a:schemeClr val="accent6"/>
                </a:solidFill>
              </a:rPr>
              <a:t>VERY HIGH</a:t>
            </a:r>
            <a:endParaRPr lang="en-US" sz="1000" dirty="0"/>
          </a:p>
        </p:txBody>
      </p:sp>
      <p:sp>
        <p:nvSpPr>
          <p:cNvPr id="56" name="Text 53"/>
          <p:cNvSpPr txBox="1"/>
          <p:nvPr/>
        </p:nvSpPr>
        <p:spPr>
          <a:xfrm>
            <a:off x="5943600" y="5724144"/>
            <a:ext cx="1143000" cy="288036"/>
          </a:xfrm>
          <a:prstGeom prst="rect">
            <a:avLst/>
          </a:prstGeom>
          <a:noFill/>
          <a:ln/>
        </p:spPr>
        <p:txBody>
          <a:bodyPr wrap="square" lIns="0" tIns="0" rIns="0" bIns="0" rtlCol="0" anchor="ctr"/>
          <a:lstStyle/>
          <a:p>
            <a:pPr algn="r" indent="0" marL="0">
              <a:buNone/>
            </a:pPr>
            <a:r>
              <a:rPr lang="en-US" sz="1000" dirty="0">
                <a:solidFill>
                  <a:schemeClr val="tx1"/>
                </a:solidFill>
              </a:rPr>
              <a:t>Malachi</a:t>
            </a:r>
            <a:endParaRPr lang="en-US" sz="1000" dirty="0"/>
          </a:p>
        </p:txBody>
      </p:sp>
      <p:sp>
        <p:nvSpPr>
          <p:cNvPr id="57" name="Shape 54"/>
          <p:cNvSpPr/>
          <p:nvPr/>
        </p:nvSpPr>
        <p:spPr>
          <a:xfrm>
            <a:off x="7178040" y="5769864"/>
            <a:ext cx="754380" cy="196596"/>
          </a:xfrm>
          <a:prstGeom prst="rect">
            <a:avLst/>
          </a:prstGeom>
          <a:solidFill>
            <a:srgbClr val="DDC995"/>
          </a:solidFill>
          <a:ln w="6350">
            <a:solidFill>
              <a:srgbClr val="FAF7EF"/>
            </a:solidFill>
            <a:prstDash val="solid"/>
          </a:ln>
        </p:spPr>
      </p:sp>
      <p:sp>
        <p:nvSpPr>
          <p:cNvPr id="58" name="Text 55"/>
          <p:cNvSpPr txBox="1"/>
          <p:nvPr/>
        </p:nvSpPr>
        <p:spPr>
          <a:xfrm>
            <a:off x="8005572" y="5724144"/>
            <a:ext cx="1188720" cy="288036"/>
          </a:xfrm>
          <a:prstGeom prst="rect">
            <a:avLst/>
          </a:prstGeom>
          <a:noFill/>
          <a:ln/>
        </p:spPr>
        <p:txBody>
          <a:bodyPr wrap="square" lIns="0" tIns="0" rIns="0" bIns="0" rtlCol="0" anchor="ctr"/>
          <a:lstStyle/>
          <a:p>
            <a:pPr algn="l" indent="0" marL="0">
              <a:buNone/>
            </a:pPr>
            <a:r>
              <a:rPr lang="en-US" sz="1000" dirty="0">
                <a:solidFill>
                  <a:schemeClr val="accent6"/>
                </a:solidFill>
              </a:rPr>
              <a:t>Low</a:t>
            </a:r>
            <a:endParaRPr lang="en-US" sz="1000" dirty="0"/>
          </a:p>
        </p:txBody>
      </p:sp>
    </p:spTree>
  </p:cSld>
  <p:clrMapOvr>
    <a:masterClrMapping/>
  </p:clrMapOvr>
</p:sld>
</file>

<file path=ppt/theme/theme1.xml><?xml version="1.0" encoding="utf-8"?>
<a:theme xmlns:a="http://schemas.openxmlformats.org/drawingml/2006/main" name="Gospel Vault Prophecy">
  <a:themeElements>
    <a:clrScheme name="Gospel Vault Prophecy">
      <a:dk1>
        <a:srgbClr val="1F2A3D"/>
      </a:dk1>
      <a:lt1>
        <a:srgbClr val="FFFFFF"/>
      </a:lt1>
      <a:dk2>
        <a:srgbClr val="1F3864"/>
      </a:dk2>
      <a:lt2>
        <a:srgbClr val="FAF7EF"/>
      </a:lt2>
      <a:accent1>
        <a:srgbClr val="2E5496"/>
      </a:accent1>
      <a:accent2>
        <a:srgbClr val="375623"/>
      </a:accent2>
      <a:accent3>
        <a:srgbClr val="B8892B"/>
      </a:accent3>
      <a:accent4>
        <a:srgbClr val="8B2E2E"/>
      </a:accent4>
      <a:accent5>
        <a:srgbClr val="7030A0"/>
      </a:accent5>
      <a:accent6>
        <a:srgbClr val="6B7A8F"/>
      </a:accent6>
      <a:hlink>
        <a:srgbClr val="2E5496"/>
      </a:hlink>
      <a:folHlink>
        <a:srgbClr val="7030A0"/>
      </a:folHlink>
    </a:clrScheme>
    <a:fontScheme name="Gospel Vault Prophec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The Gospel Vault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God's Prophetical Program for the Ages — Visual Aids</dc:title>
  <dc:subject>Charts, timelines and maps for the study series</dc:subject>
  <dc:creator>The Gospel Vault</dc:creator>
  <cp:lastModifiedBy>The Gospel Vault</cp:lastModifiedBy>
  <cp:revision>1</cp:revision>
  <dcterms:created xsi:type="dcterms:W3CDTF">2026-10-26T19:41:38Z</dcterms:created>
  <dcterms:modified xsi:type="dcterms:W3CDTF">2026-10-26T19:41:38Z</dcterms:modified>
</cp:coreProperties>
</file>