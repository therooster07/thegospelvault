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b4afd2c-c9db-be99-90e2-2eeb19251413}">
          <p14:sldIdLst>
            <p14:sldId id="256"/>
          </p14:sldIdLst>
        </p14:section>
        <p14:section name="Overview" id="{89276dc6-ee41-f7cb-fd66-bb4e3cb2eeb7}">
          <p14:sldIdLst>
            <p14:sldId id="257"/>
            <p14:sldId id="258"/>
            <p14:sldId id="259"/>
          </p14:sldIdLst>
        </p14:section>
        <p14:section name="Study 1 · 1–2" id="{3d2a1526-8a5e-d73b-18f3-dee80bd3853e}">
          <p14:sldIdLst>
            <p14:sldId id="260"/>
            <p14:sldId id="261"/>
            <p14:sldId id="262"/>
            <p14:sldId id="263"/>
            <p14:sldId id="264"/>
          </p14:sldIdLst>
        </p14:section>
        <p14:section name="Study 2 · 3–4" id="{245eb89a-3683-67a3-aade-3e5d72e5765d}">
          <p14:sldIdLst>
            <p14:sldId id="265"/>
            <p14:sldId id="266"/>
            <p14:sldId id="267"/>
            <p14:sldId id="268"/>
            <p14:sldId id="269"/>
            <p14:sldId id="270"/>
          </p14:sldIdLst>
        </p14:section>
        <p14:section name="Study 3 · 5–11" id="{4cc4be1c-c6d9-b014-4ef7-af5f5d1297f5}">
          <p14:sldIdLst>
            <p14:sldId id="271"/>
            <p14:sldId id="272"/>
            <p14:sldId id="273"/>
            <p14:sldId id="274"/>
            <p14:sldId id="275"/>
            <p14:sldId id="276"/>
            <p14:sldId id="277"/>
          </p14:sldIdLst>
        </p14:section>
        <p14:section name="Study 4 · 12–16" id="{c96fe19c-94fa-1391-0347-99f11ca681f4}">
          <p14:sldIdLst>
            <p14:sldId id="278"/>
            <p14:sldId id="279"/>
            <p14:sldId id="280"/>
            <p14:sldId id="281"/>
            <p14:sldId id="282"/>
            <p14:sldId id="283"/>
            <p14:sldId id="284"/>
          </p14:sldIdLst>
        </p14:section>
        <p14:section name="Study 5 · 17–23" id="{f02438fe-ca27-02e2-f7d9-4104f5917a43}">
          <p14:sldIdLst>
            <p14:sldId id="285"/>
            <p14:sldId id="286"/>
            <p14:sldId id="287"/>
            <p14:sldId id="288"/>
            <p14:sldId id="289"/>
            <p14:sldId id="290"/>
          </p14:sldIdLst>
        </p14:section>
        <p14:section name="Study 6 · 24–25" id="{8e09f950-3d68-b0c2-12bf-aab5e07c6c7e}">
          <p14:sldIdLst>
            <p14:sldId id="291"/>
            <p14:sldId id="292"/>
            <p14:sldId id="293"/>
            <p14:sldId id="294"/>
            <p14:sldId id="295"/>
          </p14:sldIdLst>
        </p14:section>
        <p14:section name="Appendix · Jude and 2 Peter" id="{6d220efd-e04e-28fa-a9e8-9be0e8daa923}">
          <p14:sldIdLst>
            <p14:sldId id="296"/>
            <p14:sldId id="297"/>
          </p14:sldIdLst>
        </p14:section>
        <p14:section name="Closing" id="{6fc9c48c-e260-78fa-7c0f-e5bd4451c70b}">
          <p14:sldIdLst>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this deck was built: it combines (1) charts drawn from the six Jude studies and (2) charts from the original Jude chart deck that the studies do not contain — the triads table, the bookends, the "these" text-then-application pattern, and the Jude/2 Peter comparison. Where the two sources differed, the studies govern (for example, the six-study division of the letter, the two views of v.6, and the five portraits of vv.12–13). Each slide's notes name its source. Scripture wording follows the NASB (1995). Greek forms follow the studies' word tables (Blue Letter Bible).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row follows the six-study division of the letter (the studies split the long middle into vv.5–11 and vv.12–16). Color key: blue = what God does; green = what believers are called to do; grey = the intruders and their judgment. The bookends row is from the original chart deck; the studies make the same point about the keep frame (Study 1 §III.C; Study 6 §V) and the recurrence of mercy (Study 1 §IV.A) and "the faith" (Study 5 §III.A).
Source for this slide: blended — six-study division and closing quote from Studies 1 and 6; bookends from the original chart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3 observes that "Jude loves triads" (§I). This table gathers them across the letter. Note on vv.20–21: following Study 5 §III, the three participles (building, praying, waiting) surround one main command, "keep yourselves in the love of God" — so the triad here is the three participles, not the command. Note on vv.22–23: manuscripts differ between two and three groups; the NASB (and Study 5) follow three.
Source for this slide: original chart deck, adjusted to Study 5's reading of vv.20–21.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1 §III.C ("Kept for Jesus Christ"), which lists the five "keep" texts and calls tēreō "the key to the whole letter"; Study 4 §II.E (v.13, "reserved" is tēreō); Study 5 §III.C (v.21); Study 6 §III.A (v.24 uses phylassō, "to guard," the word for a sentry at his post — not tēreō). The same verb describes two utterly different destinies: believers kept for Jesus Christ (v.1), the rebellious kept for judgment (vv.6, 13) (Study 3 §II.B). Free Grace sources cited in the studies: Dillow, The Reign of the Servant Kings; Wilkin, Confident in Christ.
Source for this slide: Studies 1, 3, 4, 5, 6 (the original chart deck had the same chart; the studies' wording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1 proposition (abridged). The study's structure: I. Introduction — Fifty Words Before the Storm; II. The Writer (v.1a); III. The Readers — Three Things God Has Done (v.1b); IV. The Greeting (v.2); V. Conclusion — Identity Before Battle.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1 §II.A–C. Jude (Ioudas) is the half-brother of Jesus (Matt 13:55), "brother of James" — James of Jerusalem (Acts 15:13; Gal 1:19). He did not believe during Jesus' ministry (John 7:5; Mark 3:21); the resurrection changed that (1 Cor 15:7; Acts 1:14). This gives the letter tenderness: when Jude tells the church to have mercy on doubters (v.22), he writes as one who once doubted (Study 1 §II.B; Study 5 §IV.A). His humility contrasts with the intruders who "reject authority" (v.8) and flatter "for the sake of gaining an advantage" (v.16).
Source for this slide: Study 1 §II; Study 5 §IV.A.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1 §III.A–C and the Greek word study. Why open this way? The letter will describe people who look like believers and are not (vv.4, 12, 19). Genuine believers might read it and fear: Am I one of them? Jude answers that fear before it can form. Reformed agreement: calling originates entirely with God (Murray; Berkhof). Where the Reformed system treats calling as the first link in a chain that must produce persevering works as proof, the Free Grace reading "stops where the text stops" (Bing, Simply by Grace).
Source for this slide: Study 1 §III.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1 §IV and the Greek word study. Jude's greeting is unique: Paul writes "grace and peace"; Peter "grace and peace be multiplied." Jude chooses the three gifts believers need most when the church is under pressure. Application idea from the study: close the meeting by praying Jude 2 over each person by name.
Source for this slide: Study 1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1 §III.C and Study Question 4. Calvin's definition is closer to the Free Grace view of assurance than the later Westminster formulation (WCF 18.3), an internal Reformed fault line noted in RTR.
Source for this slide: Study 1 §III.C.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2 proposition (abridged). Structure: I. The Letter Jude Did Not Write; II. The Change of Plans (v.3a); III. The Charge (v.3b); IV. The Cause — Infiltrators in the Church (v.4); V. Contending with Grace in Hand. Study 2 calls vv.3–4 the thesis of the whole book: everything from v.5 to v.23 develops either the danger of v.4 or the response of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2 §I–II. Teaching line from the study: not every controversy deserves a letter, but when the gospel itself is being reshaped, silence is not kindness. "A shepherd who sees wolves among the sheep and keeps writing about the weather has not loved the flock." On "common salvation": the gift of eternal life is the same for every believer because it rests on the Giver, not the receiver (Bing, Simply by Grace).
Source for this slide: Study 2 §I–II.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2 §III and the Greek word study. Contending earnestly is not the same as being contentious: in v.9 Michael leaves rebuke to the Lord, and in vv.20–23 contending turns out to mean building, praying, keeping, and showing mercy. Point of agreement: Free Grace and Reformed teachers stand together on the sufficiency and finality of Scripture (WCF ch.1); disagreement concerns the interpretation of the deposit, not its authority.
Source for this slide: Study 2 §III.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2 §IV.A–E. Their presence in the fellowship did not make them saved, any more than Judas's presence among the Twelve made him a believer (John 6:64, 70). The denial may have been practical (Titus 1:16) as well as doctrinal (2 Pet 2:1).
Source for this slide: Study 2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2 §IV.B. Wilkin's free GES booklet Is Calvinism Biblical? (faithalone.org/ebooks) offers a fuller Free Grace response to the reprobation reading.
Source for this slide: Study 2 §IV.B.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2 §IV.D. The false teachers of Jude 4 were not believers who misunderstood discipleship; they were ungodly men, devoid of the Spirit, who used the language of grace to justify a life that denied the Lord. Closing line from the study: "We do not contend in order to secure our place. We contend because our place is secure."
Source for this slide: Study 2 §IV.D.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3 proposition (abridged). Jude does not tell his readers anything new — "I desire to remind you, though you know all things once for all" (v.5). Structure: three examples of judgment (vv.5–7); applied to the intruders (v.8); Michael in contrast (v.9); conclusion (v.10); a woe and three more examples (v.11).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3 §I. The phrase "once for all" in v.5 is the same hapax as v.3: they had received the whole deposit and knew the stories; what they needed was to see their own situation in them.
Source for this slide: Study 3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Blended: columns from the original chart deck (OT background, what they did, outcome) with the study's matching of each example to the intruders' marks (Study 3 §II.C: "unbelief (Israel), rebellion against God's order (the angels), and sexual immorality (Sodom). Those are exactly the marks of the intruders"). On v.6 the study presents two views equally — Genesis 6:1–4, or the original fall of angels — and the group need not settle it; the original deck had leaned toward Genesis 6 as the "common reading," so this slide follows the study.
Source for this slide: blended — Study 3 §II with the original chart deck's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3 §II.A. Textual note to share: two early manuscripts read "Jesus" instead of "the Lord" in v.5; if original, Jude is saying the pre-incarnate Son led Israel out of Egypt (cf. 1 Cor 10:4). Either way, the same Lord who saves also judges.
Source for this slide: Study 3 §II.A.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3 §III. A model for believers who contend: "We are not called to be spiritual brawlers, mocking our enemies or trading insults with the powers of darkness. We stand firm in the truth and say, with Michael, 'The Lord rebuke you.' The battle is His." Bitter irony of v.10: what they do not understand they mock; what they do understand — their appetites — they follow like animals, and those appetites ruin them (cf. 2 Pet 2:12).
Source for this slide: Study 3 §III (the source box matches the original deck's "quoting is not canonizing"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3 §IV. The only woe outside the Gospels and Revelation; the language of the prophets and of Jesus (Matt 23). "Taken together, the three names trace a downward path: Cain went his own way, Balaam rushed headlong for profit, Korah perished in rebellion. Walking, running, falling. Sin rarely stands still."
Source for this slide: Study 3 §IV (the original deck's three-portrait chart, filled with the study's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3 §V. "We have not been kept because we are better than the wilderness generation or wiser than Balaam. We have been kept because God saved us by grace through faith and holds us in His hand (John 10:28–29). That is reason not for pride, but for grateful, humble obedience."
Source for this slide: Study 3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4 proposition (abridged). Opening illustration: bank tellers learn to spot counterfeits mainly by handling the real thing. Structure: five images from nature (vv.12–13); Enoch's prophecy (vv.14–15); a plain portrait (v.16). On "apostasy": these are not believers who lost salvation, but unbelievers who infiltrated the church and abandoned the faith they once professed (v.19).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original chart deck, which notes (with Bauckham and Ellis) that vv.5–19 alternate between a text or example and an application introduced by "these." The studies use the same pointer: Study 4 §I calls "These are" (vv.12, 16, 19) an artist tapping the canvas; Study 5 §I lists "these" at vv.8, 10, 12, 14, 16, 19. Updated from the original deck to include v.14, where Enoch prophesied "of these men" — per Study 5.
Source for this slide: original chart deck, updated with Studies 4 and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4 §II. Jude takes his images from every realm of creation — "as though all creation is called to testify against these men." Spilades most likely means "reefs" (NASB margin: "stains"; cf. 2 Pet 2:13). "Doubly dead": Study 4 gives two views — (1) fruitless and then uprooted, or (2) spiritually dead now and destined for the "second death" (Rev 20:14). Wandering stars: planētai, from which we get "planet"; teachers are meant to be guiding lights (Dan 12:3).
Source for this slide: Study 4 §II. This replaces the original deck's four-region chart, which grouped the images by region and gave only one view of "doubly dead".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4 §V and the bank-teller illustration in §I: the best protection against counterfeits is close familiarity with the real thing. The portraits are not meant to turn believers into anxious self-inspectors; the letter begins and ends with God's keeping. Scripture references for each counterpart are added for the leader's convenience.
Source for this slide: Study 4 §I,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4 §II.C.
Source for this slide: Study 4 §II.C.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4 §III. Sources cited in the study for the eschatology: Pentecost, Things to Come; Fruchtenbaum, The Footsteps of the Messiah. "Convict" (elenxai) means to expose and prove guilty — every deed and every harsh word will be brought into the light.
Source for this slide: Study 4 §III.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4 §IV. "It is a strange combination, but a familiar one: arrogant toward God and His authority, fawning toward people who can benefit them."
Source for this slide: Study 4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5 proposition (abridged). Illustration: a doctor gives a diagnosis and a prescription. Jude has given the diagnosis (vv.4–16); now the prescription. Three movements: remember (vv.17–19), keep yourselves (vv.20–21), reach out (vv.22–23). This is Jude's practical answer to v.3: what it means to contend for the faith.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5 §I–III. The emphatic "you" (hymeis) sets believers in deliberate contrast with "these." Every believer receives the Spirit at the moment of faith (Rom 8:9; Eph 1:13–14). Study 5 §II.B: "here Free Grace and Reformed interpreters agree. Both see the intruders as unregenerate." The pairing of rows is a teaching arrangement of the study's contrasts, not a claim that Jude matches them one for one.
Source for this slide: Study 5 §I–III.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5 §I–V. "None of it is driven by fear for our own security. Jude has already told us we are kept. We build, pray, keep, and rescue not to secure our standing, but because our standing is secure."
Source for this slide: Study 5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5 §III. "There is one main command — 'keep yourselves in the love of God' — surrounded by three participles that describe how it is done: building, praying, and waiting." On "to eternal life": eternal life is a present possession (John 5:24; 1 John 5:13) with a future fullness — resurrection, the Lord's presence, the kingdom (Study 5 §III.D). In the series' dispensational framework, the mercy awaited points to the Lord's return for His church (1 Thess 4:13–18).
Source for this slide: Study 5 §III.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5 §III.C, including the child-in-a-loving-home illustration: "The parent still loves the child; the child is still in the family. But the child is not keeping himself in the love of his parents in the sense of enjoying and responding to it." The reading fits the frame: kept (v.1) and able to keep (v.24).
Source for this slide: Study 5 §III.C.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5 §IV. On the second group, Study 5 gives two readings that both fit Jude's argument; either way, "Jude is not teaching that believers can lose eternal life. He is calling the church to urgent, rescuing love." James 5:20 is understood by Free Grace interpreters as rescue from physical death and the ruin of sin (Hodges, The Epistle of James). "Our groups should be safe places for honest questions, because doubt met with mercy often becomes faith."
Source for this slide: Study 5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Study 6 proposition (abridged). The letter that opened with a battle cry does not end with a battle but with a doxology — a structural choice that is itself a theological statement. Verse 24 tells us what God is able to do for us; verse 25 tells us what belongs to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6 §II–III and the word study. Caution from the study: v.24 does not promise that believers will never sin (1 John 1:8; James 3:2 uses the same root, ptaiō); it praises God's ability — a power fully sufficient to guard His people from being carried off by error, which believers draw on as they build, pray, and keep themselves (vv.20–21). Picture: "not a reluctant judge admitting defendants on a technicality" but a bridegroom presenting his bride.
Source for this slide: Study 6 §II–III.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6 §III.C: "The contrast is total — and it is entirely God's doing." Free Grace source cited: Hodges, Grace in Eclipse.
Source for this slide: Study 6 §III.C.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6 §IV. "To the only God our Savior" — in a world crowded with gods and teachers claiming special access, there is only one; the NT often calls the Father "Savior." "Through Jesus Christ our Lord" — the very lordship the intruders denied (v.4); the letter ends by confessing what they rejected. Textual note: the Majority Text (Hodges–Farstad; KJV/NKJV) reads "to God our Savior, who alone is wise" and lacks "through Jesus Christ our Lord" and "before all time"; the NASB follows the older manuscripts. "Amen" — the congregation's word of agreement.
Source for this slide: Study 6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6 §III.A. Closing question from the study: "Where is my confidence placed? If it rests on my faithfulness, my strength, my record, it will be shaken every time I stumble. If it rests on Him who is able, it cannot be shaken, because He cannot fail."
Source for this slide: Study 6 §III.A,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original chart deck (the studies cite several of these parallels individually: 2 Pet 2:1 in Study 2 §IV.E; 2:4 in Study 3 §II.B; 2:12 in Study 3 §III.C; 2:15 in Study 3 §IV.B; 2:13 in Study 4 §II.A; 3:3 in Study 5 §II.A). Most scholars think 2 Peter drew on Jude; some argue the reverse or a common source. Leaders need not settle the question.
Source for this slide: original chart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original chart deck. Jude's examples are all judgment, while Peter pairs judgment with deliverance to stress that "the Lord knows how to rescue the godly" (2:9). Jude ends with an outward call and a doxology centered on God's keeping — tying back to the keep frame.
Source for this slide: original chart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Study 6 §V: "The letter that opened with 'kept for Jesus Christ' ends with 'Him who is able to keep you.' Everything in between is held inside that frame." A fitting close for the last session: read vv.24–25 aloud together and let the group answer "Amen."
Source for this slide: Study 6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474720"/>
            <a:ext cx="10698480" cy="20116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lstStyle>
            <a:lvl1pPr algn="l" indent="0" marL="0">
              <a:buNone/>
              <a:defRPr lang="en-US" sz="1400" i="1" dirty="0">
                <a:solidFill>
                  <a:schemeClr val="accent4"/>
                </a:solidFill>
              </a:defRPr>
            </a:lvl1pPr>
          </a:lstStyle>
          <a:p>
            <a:pPr algn="l" indent="0" marL="0">
              <a:buNone/>
            </a:pPr>
            <a:endParaRPr lang="en-US" sz="1400" dirty="0"/>
          </a:p>
        </p:txBody>
      </p:sp>
      <p:sp>
        <p:nvSpPr>
          <p:cNvPr id="4" name="Text 0"/>
          <p:cNvSpPr/>
          <p:nvPr/>
        </p:nvSpPr>
        <p:spPr>
          <a:xfrm>
            <a:off x="548640" y="6400800"/>
            <a:ext cx="9144000" cy="274320"/>
          </a:xfrm>
          <a:prstGeom prst="rect">
            <a:avLst/>
          </a:prstGeom>
          <a:noFill/>
          <a:ln/>
        </p:spPr>
        <p:txBody>
          <a:bodyPr wrap="square" rtlCol="0" anchor="ctr"/>
          <a:lstStyle/>
          <a:p>
            <a:pPr indent="0" marL="0">
              <a:buNone/>
            </a:pPr>
            <a:r>
              <a:rPr lang="en-US" sz="1000" dirty="0">
                <a:solidFill>
                  <a:schemeClr val="accent4"/>
                </a:solidFill>
              </a:rPr>
              <a:t>Contend for the Faith · Blended chart deck · The Gospel Vault · NASB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554480"/>
          </a:xfrm>
          <a:prstGeom prst="rect">
            <a:avLst/>
          </a:prstGeom>
          <a:noFill/>
          <a:ln/>
        </p:spPr>
        <p:txBody>
          <a:bodyPr wrap="square" rtlCol="0" anchor="b"/>
          <a:lstStyle/>
          <a:p>
            <a:pPr algn="l" indent="0" marL="0">
              <a:buNone/>
            </a:pPr>
            <a:r>
              <a:rPr lang="en-US" sz="4000" b="1" dirty="0">
                <a:solidFill>
                  <a:schemeClr val="bg1"/>
                </a:solidFill>
              </a:rPr>
              <a:t>Contend for the Faith</a:t>
            </a:r>
            <a:endParaRPr lang="en-US" sz="4000" dirty="0"/>
          </a:p>
        </p:txBody>
      </p:sp>
      <p:sp>
        <p:nvSpPr>
          <p:cNvPr id="3" name="Text 0"/>
          <p:cNvSpPr/>
          <p:nvPr>
            <p:ph idx="101" type="body" hasCustomPrompt="1"/>
          </p:nvPr>
        </p:nvSpPr>
        <p:spPr>
          <a:xfrm>
            <a:off x="731520" y="3474720"/>
            <a:ext cx="10698480" cy="2011680"/>
          </a:xfrm>
          <a:prstGeom prst="rect">
            <a:avLst/>
          </a:prstGeom>
          <a:noFill/>
          <a:ln/>
        </p:spPr>
        <p:txBody>
          <a:bodyPr wrap="square" rtlCol="0" anchor="t"/>
          <a:lstStyle/>
          <a:p>
            <a:pPr algn="l" indent="0" marL="0">
              <a:buNone/>
            </a:pPr>
            <a:r>
              <a:rPr lang="en-US" sz="2000" dirty="0">
                <a:solidFill>
                  <a:schemeClr val="bg2"/>
                </a:solidFill>
              </a:rPr>
              <a:t>Blended chart deck for the Epistle of Jude</a:t>
            </a:r>
            <a:endParaRPr lang="en-US" sz="2000" dirty="0"/>
          </a:p>
          <a:p>
            <a:pPr algn="l" indent="0" marL="0">
              <a:buNone/>
            </a:pPr>
            <a:r>
              <a:rPr lang="en-US" sz="1600" dirty="0">
                <a:solidFill>
                  <a:schemeClr val="bg2"/>
                </a:solidFill>
              </a:rPr>
              <a:t>Leader resource · the six studies plus the original chart deck · NASB</a:t>
            </a:r>
            <a:endParaRPr lang="en-US" sz="2000" dirty="0"/>
          </a:p>
        </p:txBody>
      </p:sp>
      <p:sp>
        <p:nvSpPr>
          <p:cNvPr id="4" name="Text 2"/>
          <p:cNvSpPr txBox="1"/>
          <p:nvPr/>
        </p:nvSpPr>
        <p:spPr>
          <a:xfrm>
            <a:off x="731520" y="6035040"/>
            <a:ext cx="5486400" cy="365760"/>
          </a:xfrm>
          <a:prstGeom prst="rect">
            <a:avLst/>
          </a:prstGeom>
          <a:noFill/>
          <a:ln/>
        </p:spPr>
        <p:txBody>
          <a:bodyPr wrap="square" lIns="0" tIns="0" rIns="0" bIns="0" rtlCol="0" anchor="t"/>
          <a:lstStyle/>
          <a:p>
            <a:pPr indent="0" marL="0">
              <a:buNone/>
            </a:pPr>
            <a:r>
              <a:rPr lang="en-US" sz="1400" b="1" dirty="0">
                <a:solidFill>
                  <a:schemeClr val="accent5"/>
                </a:solidFill>
              </a:rPr>
              <a:t>The Gospel Vault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Jude at a glance</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Six studies, and the bookends that frame them</a:t>
            </a:r>
            <a:endParaRPr lang="en-US" sz="1400" dirty="0"/>
          </a:p>
        </p:txBody>
      </p:sp>
      <p:sp>
        <p:nvSpPr>
          <p:cNvPr id="4" name="Shape 2"/>
          <p:cNvSpPr/>
          <p:nvPr/>
        </p:nvSpPr>
        <p:spPr>
          <a:xfrm>
            <a:off x="548640" y="1463040"/>
            <a:ext cx="1636776" cy="1600200"/>
          </a:xfrm>
          <a:prstGeom prst="rect">
            <a:avLst/>
          </a:prstGeom>
          <a:solidFill>
            <a:schemeClr val="accent1"/>
          </a:solidFill>
          <a:ln w="9525">
            <a:solidFill>
              <a:schemeClr val="accent1"/>
            </a:solidFill>
            <a:prstDash val="solid"/>
          </a:ln>
        </p:spPr>
      </p:sp>
      <p:sp>
        <p:nvSpPr>
          <p:cNvPr id="5" name="Text 3"/>
          <p:cNvSpPr txBox="1"/>
          <p:nvPr/>
        </p:nvSpPr>
        <p:spPr>
          <a:xfrm>
            <a:off x="640080" y="1508760"/>
            <a:ext cx="1453896" cy="1508760"/>
          </a:xfrm>
          <a:prstGeom prst="rect">
            <a:avLst/>
          </a:prstGeom>
          <a:noFill/>
          <a:ln/>
        </p:spPr>
        <p:txBody>
          <a:bodyPr wrap="square" lIns="0" tIns="0" rIns="0" bIns="0" rtlCol="0" anchor="ctr"/>
          <a:lstStyle/>
          <a:p>
            <a:pPr indent="0" marL="0">
              <a:buNone/>
            </a:pPr>
            <a:r>
              <a:rPr lang="en-US" sz="1200" dirty="0">
                <a:solidFill>
                  <a:schemeClr val="bg1"/>
                </a:solidFill>
              </a:rPr>
              <a:t>Study 1 · vv.1–2</a:t>
            </a:r>
            <a:endParaRPr lang="en-US" sz="1400" dirty="0"/>
          </a:p>
          <a:p>
            <a:pPr indent="0" marL="0">
              <a:buNone/>
            </a:pPr>
            <a:r>
              <a:rPr lang="en-US" sz="1500" b="1" dirty="0">
                <a:solidFill>
                  <a:schemeClr val="bg1"/>
                </a:solidFill>
              </a:rPr>
              <a:t>Standing in the Storm</a:t>
            </a:r>
            <a:endParaRPr lang="en-US" sz="1400" dirty="0"/>
          </a:p>
          <a:p>
            <a:pPr indent="0" marL="0">
              <a:buNone/>
            </a:pPr>
            <a:r>
              <a:rPr lang="en-US" sz="1200" dirty="0">
                <a:solidFill>
                  <a:schemeClr val="bg1"/>
                </a:solidFill>
              </a:rPr>
              <a:t>Identity before battle: called, loved, kept</a:t>
            </a:r>
            <a:endParaRPr lang="en-US" sz="1400" dirty="0"/>
          </a:p>
        </p:txBody>
      </p:sp>
      <p:sp>
        <p:nvSpPr>
          <p:cNvPr id="6" name="Shape 4"/>
          <p:cNvSpPr/>
          <p:nvPr/>
        </p:nvSpPr>
        <p:spPr>
          <a:xfrm>
            <a:off x="2240280" y="1463040"/>
            <a:ext cx="1728216" cy="1600200"/>
          </a:xfrm>
          <a:prstGeom prst="rect">
            <a:avLst/>
          </a:prstGeom>
          <a:solidFill>
            <a:schemeClr val="accent2"/>
          </a:solidFill>
          <a:ln w="9525">
            <a:solidFill>
              <a:schemeClr val="accent2"/>
            </a:solidFill>
            <a:prstDash val="solid"/>
          </a:ln>
        </p:spPr>
      </p:sp>
      <p:sp>
        <p:nvSpPr>
          <p:cNvPr id="7" name="Text 5"/>
          <p:cNvSpPr txBox="1"/>
          <p:nvPr/>
        </p:nvSpPr>
        <p:spPr>
          <a:xfrm>
            <a:off x="2331720" y="1508760"/>
            <a:ext cx="1545336" cy="1508760"/>
          </a:xfrm>
          <a:prstGeom prst="rect">
            <a:avLst/>
          </a:prstGeom>
          <a:noFill/>
          <a:ln/>
        </p:spPr>
        <p:txBody>
          <a:bodyPr wrap="square" lIns="0" tIns="0" rIns="0" bIns="0" rtlCol="0" anchor="ctr"/>
          <a:lstStyle/>
          <a:p>
            <a:pPr indent="0" marL="0">
              <a:buNone/>
            </a:pPr>
            <a:r>
              <a:rPr lang="en-US" sz="1200" dirty="0">
                <a:solidFill>
                  <a:schemeClr val="bg1"/>
                </a:solidFill>
              </a:rPr>
              <a:t>Study 2 · vv.3–4</a:t>
            </a:r>
            <a:endParaRPr lang="en-US" sz="1400" dirty="0"/>
          </a:p>
          <a:p>
            <a:pPr indent="0" marL="0">
              <a:buNone/>
            </a:pPr>
            <a:r>
              <a:rPr lang="en-US" sz="1500" b="1" dirty="0">
                <a:solidFill>
                  <a:schemeClr val="bg1"/>
                </a:solidFill>
              </a:rPr>
              <a:t>The Battle Cry</a:t>
            </a:r>
            <a:endParaRPr lang="en-US" sz="1400" dirty="0"/>
          </a:p>
          <a:p>
            <a:pPr indent="0" marL="0">
              <a:buNone/>
            </a:pPr>
            <a:r>
              <a:rPr lang="en-US" sz="1200" dirty="0">
                <a:solidFill>
                  <a:schemeClr val="bg1"/>
                </a:solidFill>
              </a:rPr>
              <a:t>Contend for the once-for-all faith</a:t>
            </a:r>
            <a:endParaRPr lang="en-US" sz="1400" dirty="0"/>
          </a:p>
        </p:txBody>
      </p:sp>
      <p:sp>
        <p:nvSpPr>
          <p:cNvPr id="8" name="Shape 6"/>
          <p:cNvSpPr/>
          <p:nvPr/>
        </p:nvSpPr>
        <p:spPr>
          <a:xfrm>
            <a:off x="4023360" y="1463040"/>
            <a:ext cx="2002536" cy="1600200"/>
          </a:xfrm>
          <a:prstGeom prst="rect">
            <a:avLst/>
          </a:prstGeom>
          <a:solidFill>
            <a:schemeClr val="accent4"/>
          </a:solidFill>
          <a:ln w="9525">
            <a:solidFill>
              <a:schemeClr val="accent4"/>
            </a:solidFill>
            <a:prstDash val="solid"/>
          </a:ln>
        </p:spPr>
      </p:sp>
      <p:sp>
        <p:nvSpPr>
          <p:cNvPr id="9" name="Text 7"/>
          <p:cNvSpPr txBox="1"/>
          <p:nvPr/>
        </p:nvSpPr>
        <p:spPr>
          <a:xfrm>
            <a:off x="4114800" y="1508760"/>
            <a:ext cx="1819656" cy="1508760"/>
          </a:xfrm>
          <a:prstGeom prst="rect">
            <a:avLst/>
          </a:prstGeom>
          <a:noFill/>
          <a:ln/>
        </p:spPr>
        <p:txBody>
          <a:bodyPr wrap="square" lIns="0" tIns="0" rIns="0" bIns="0" rtlCol="0" anchor="ctr"/>
          <a:lstStyle/>
          <a:p>
            <a:pPr indent="0" marL="0">
              <a:buNone/>
            </a:pPr>
            <a:r>
              <a:rPr lang="en-US" sz="1200" dirty="0">
                <a:solidFill>
                  <a:schemeClr val="bg1"/>
                </a:solidFill>
              </a:rPr>
              <a:t>Study 3 · vv.5–11</a:t>
            </a:r>
            <a:endParaRPr lang="en-US" sz="1400" dirty="0"/>
          </a:p>
          <a:p>
            <a:pPr indent="0" marL="0">
              <a:buNone/>
            </a:pPr>
            <a:r>
              <a:rPr lang="en-US" sz="1500" b="1" dirty="0">
                <a:solidFill>
                  <a:schemeClr val="bg1"/>
                </a:solidFill>
              </a:rPr>
              <a:t>Three Warnings from History</a:t>
            </a:r>
            <a:endParaRPr lang="en-US" sz="1400" dirty="0"/>
          </a:p>
          <a:p>
            <a:pPr indent="0" marL="0">
              <a:buNone/>
            </a:pPr>
            <a:r>
              <a:rPr lang="en-US" sz="1200" dirty="0">
                <a:solidFill>
                  <a:schemeClr val="bg1"/>
                </a:solidFill>
              </a:rPr>
              <a:t>God judges contempt for His grace</a:t>
            </a:r>
            <a:endParaRPr lang="en-US" sz="1400" dirty="0"/>
          </a:p>
        </p:txBody>
      </p:sp>
      <p:sp>
        <p:nvSpPr>
          <p:cNvPr id="10" name="Shape 8"/>
          <p:cNvSpPr/>
          <p:nvPr/>
        </p:nvSpPr>
        <p:spPr>
          <a:xfrm>
            <a:off x="6080760" y="1463040"/>
            <a:ext cx="2002536" cy="1600200"/>
          </a:xfrm>
          <a:prstGeom prst="rect">
            <a:avLst/>
          </a:prstGeom>
          <a:solidFill>
            <a:schemeClr val="accent4"/>
          </a:solidFill>
          <a:ln w="9525">
            <a:solidFill>
              <a:schemeClr val="accent4"/>
            </a:solidFill>
            <a:prstDash val="solid"/>
          </a:ln>
        </p:spPr>
      </p:sp>
      <p:sp>
        <p:nvSpPr>
          <p:cNvPr id="11" name="Text 9"/>
          <p:cNvSpPr txBox="1"/>
          <p:nvPr/>
        </p:nvSpPr>
        <p:spPr>
          <a:xfrm>
            <a:off x="6172200" y="1508760"/>
            <a:ext cx="1819656" cy="1508760"/>
          </a:xfrm>
          <a:prstGeom prst="rect">
            <a:avLst/>
          </a:prstGeom>
          <a:noFill/>
          <a:ln/>
        </p:spPr>
        <p:txBody>
          <a:bodyPr wrap="square" lIns="0" tIns="0" rIns="0" bIns="0" rtlCol="0" anchor="ctr"/>
          <a:lstStyle/>
          <a:p>
            <a:pPr indent="0" marL="0">
              <a:buNone/>
            </a:pPr>
            <a:r>
              <a:rPr lang="en-US" sz="1200" dirty="0">
                <a:solidFill>
                  <a:schemeClr val="bg1"/>
                </a:solidFill>
              </a:rPr>
              <a:t>Study 4 · vv.12–16</a:t>
            </a:r>
            <a:endParaRPr lang="en-US" sz="1400" dirty="0"/>
          </a:p>
          <a:p>
            <a:pPr indent="0" marL="0">
              <a:buNone/>
            </a:pPr>
            <a:r>
              <a:rPr lang="en-US" sz="1500" b="1" dirty="0">
                <a:solidFill>
                  <a:schemeClr val="bg1"/>
                </a:solidFill>
              </a:rPr>
              <a:t>Portraits of Apostasy</a:t>
            </a:r>
            <a:endParaRPr lang="en-US" sz="1400" dirty="0"/>
          </a:p>
          <a:p>
            <a:pPr indent="0" marL="0">
              <a:buNone/>
            </a:pPr>
            <a:r>
              <a:rPr lang="en-US" sz="1200" dirty="0">
                <a:solidFill>
                  <a:schemeClr val="bg1"/>
                </a:solidFill>
              </a:rPr>
              <a:t>Recognize the counterfeit</a:t>
            </a:r>
            <a:endParaRPr lang="en-US" sz="1400" dirty="0"/>
          </a:p>
        </p:txBody>
      </p:sp>
      <p:sp>
        <p:nvSpPr>
          <p:cNvPr id="12" name="Shape 10"/>
          <p:cNvSpPr/>
          <p:nvPr/>
        </p:nvSpPr>
        <p:spPr>
          <a:xfrm>
            <a:off x="8138160" y="1463040"/>
            <a:ext cx="1773936" cy="1600200"/>
          </a:xfrm>
          <a:prstGeom prst="rect">
            <a:avLst/>
          </a:prstGeom>
          <a:solidFill>
            <a:schemeClr val="accent2"/>
          </a:solidFill>
          <a:ln w="9525">
            <a:solidFill>
              <a:schemeClr val="accent2"/>
            </a:solidFill>
            <a:prstDash val="solid"/>
          </a:ln>
        </p:spPr>
      </p:sp>
      <p:sp>
        <p:nvSpPr>
          <p:cNvPr id="13" name="Text 11"/>
          <p:cNvSpPr txBox="1"/>
          <p:nvPr/>
        </p:nvSpPr>
        <p:spPr>
          <a:xfrm>
            <a:off x="8229600" y="1508760"/>
            <a:ext cx="1591056" cy="1508760"/>
          </a:xfrm>
          <a:prstGeom prst="rect">
            <a:avLst/>
          </a:prstGeom>
          <a:noFill/>
          <a:ln/>
        </p:spPr>
        <p:txBody>
          <a:bodyPr wrap="square" lIns="0" tIns="0" rIns="0" bIns="0" rtlCol="0" anchor="ctr"/>
          <a:lstStyle/>
          <a:p>
            <a:pPr indent="0" marL="0">
              <a:buNone/>
            </a:pPr>
            <a:r>
              <a:rPr lang="en-US" sz="1200" dirty="0">
                <a:solidFill>
                  <a:schemeClr val="bg1"/>
                </a:solidFill>
              </a:rPr>
              <a:t>Study 5 · vv.17–23</a:t>
            </a:r>
            <a:endParaRPr lang="en-US" sz="1400" dirty="0"/>
          </a:p>
          <a:p>
            <a:pPr indent="0" marL="0">
              <a:buNone/>
            </a:pPr>
            <a:r>
              <a:rPr lang="en-US" sz="1500" b="1" dirty="0">
                <a:solidFill>
                  <a:schemeClr val="bg1"/>
                </a:solidFill>
              </a:rPr>
              <a:t>The Believer's Response</a:t>
            </a:r>
            <a:endParaRPr lang="en-US" sz="1400" dirty="0"/>
          </a:p>
          <a:p>
            <a:pPr indent="0" marL="0">
              <a:buNone/>
            </a:pPr>
            <a:r>
              <a:rPr lang="en-US" sz="1200" dirty="0">
                <a:solidFill>
                  <a:schemeClr val="bg1"/>
                </a:solidFill>
              </a:rPr>
              <a:t>Build, pray, keep, rescue</a:t>
            </a:r>
            <a:endParaRPr lang="en-US" sz="1400" dirty="0"/>
          </a:p>
        </p:txBody>
      </p:sp>
      <p:sp>
        <p:nvSpPr>
          <p:cNvPr id="14" name="Shape 12"/>
          <p:cNvSpPr/>
          <p:nvPr/>
        </p:nvSpPr>
        <p:spPr>
          <a:xfrm>
            <a:off x="9966960" y="1463040"/>
            <a:ext cx="1591056" cy="1600200"/>
          </a:xfrm>
          <a:prstGeom prst="rect">
            <a:avLst/>
          </a:prstGeom>
          <a:solidFill>
            <a:schemeClr val="accent1"/>
          </a:solidFill>
          <a:ln w="9525">
            <a:solidFill>
              <a:schemeClr val="accent1"/>
            </a:solidFill>
            <a:prstDash val="solid"/>
          </a:ln>
        </p:spPr>
      </p:sp>
      <p:sp>
        <p:nvSpPr>
          <p:cNvPr id="15" name="Text 13"/>
          <p:cNvSpPr txBox="1"/>
          <p:nvPr/>
        </p:nvSpPr>
        <p:spPr>
          <a:xfrm>
            <a:off x="10058400" y="1508760"/>
            <a:ext cx="1408176" cy="1508760"/>
          </a:xfrm>
          <a:prstGeom prst="rect">
            <a:avLst/>
          </a:prstGeom>
          <a:noFill/>
          <a:ln/>
        </p:spPr>
        <p:txBody>
          <a:bodyPr wrap="square" lIns="0" tIns="0" rIns="0" bIns="0" rtlCol="0" anchor="ctr"/>
          <a:lstStyle/>
          <a:p>
            <a:pPr indent="0" marL="0">
              <a:buNone/>
            </a:pPr>
            <a:r>
              <a:rPr lang="en-US" sz="1200" dirty="0">
                <a:solidFill>
                  <a:schemeClr val="bg1"/>
                </a:solidFill>
              </a:rPr>
              <a:t>Study 6 · vv.24–25</a:t>
            </a:r>
            <a:endParaRPr lang="en-US" sz="1400" dirty="0"/>
          </a:p>
          <a:p>
            <a:pPr indent="0" marL="0">
              <a:buNone/>
            </a:pPr>
            <a:r>
              <a:rPr lang="en-US" sz="1500" b="1" dirty="0">
                <a:solidFill>
                  <a:schemeClr val="bg1"/>
                </a:solidFill>
              </a:rPr>
              <a:t>The Doxology of Confidence</a:t>
            </a:r>
            <a:endParaRPr lang="en-US" sz="1400" dirty="0"/>
          </a:p>
          <a:p>
            <a:pPr indent="0" marL="0">
              <a:buNone/>
            </a:pPr>
            <a:r>
              <a:rPr lang="en-US" sz="1200" dirty="0">
                <a:solidFill>
                  <a:schemeClr val="bg1"/>
                </a:solidFill>
              </a:rPr>
              <a:t>He is able</a:t>
            </a:r>
            <a:endParaRPr lang="en-US" sz="1400" dirty="0"/>
          </a:p>
        </p:txBody>
      </p:sp>
      <p:sp>
        <p:nvSpPr>
          <p:cNvPr id="16" name="Text 14"/>
          <p:cNvSpPr txBox="1"/>
          <p:nvPr/>
        </p:nvSpPr>
        <p:spPr>
          <a:xfrm>
            <a:off x="548640" y="3291840"/>
            <a:ext cx="11064240" cy="365760"/>
          </a:xfrm>
          <a:prstGeom prst="rect">
            <a:avLst/>
          </a:prstGeom>
          <a:noFill/>
          <a:ln/>
        </p:spPr>
        <p:txBody>
          <a:bodyPr wrap="square" lIns="0" tIns="0" rIns="0" bIns="0" rtlCol="0" anchor="t"/>
          <a:lstStyle/>
          <a:p>
            <a:pPr indent="0" marL="0">
              <a:buNone/>
            </a:pPr>
            <a:r>
              <a:rPr lang="en-US" sz="1800" b="1" dirty="0">
                <a:solidFill>
                  <a:schemeClr val="tx2"/>
                </a:solidFill>
              </a:rPr>
              <a:t>Bookends — what Jude opens with, he closes with</a:t>
            </a:r>
            <a:endParaRPr lang="en-US" sz="1800" dirty="0"/>
          </a:p>
        </p:txBody>
      </p:sp>
      <p:sp>
        <p:nvSpPr>
          <p:cNvPr id="17" name="Shape 15"/>
          <p:cNvSpPr/>
          <p:nvPr/>
        </p:nvSpPr>
        <p:spPr>
          <a:xfrm>
            <a:off x="548640" y="3794760"/>
            <a:ext cx="3566160" cy="1691640"/>
          </a:xfrm>
          <a:prstGeom prst="roundRect">
            <a:avLst>
              <a:gd name="adj" fmla="val 4324"/>
            </a:avLst>
          </a:prstGeom>
          <a:solidFill>
            <a:schemeClr val="bg2"/>
          </a:solidFill>
          <a:ln w="9525">
            <a:solidFill>
              <a:srgbClr val="D5DCEA"/>
            </a:solidFill>
            <a:prstDash val="solid"/>
          </a:ln>
        </p:spPr>
      </p:sp>
      <p:sp>
        <p:nvSpPr>
          <p:cNvPr id="18" name="Text 16"/>
          <p:cNvSpPr txBox="1"/>
          <p:nvPr/>
        </p:nvSpPr>
        <p:spPr>
          <a:xfrm>
            <a:off x="685800" y="3840480"/>
            <a:ext cx="3291840" cy="1600200"/>
          </a:xfrm>
          <a:prstGeom prst="rect">
            <a:avLst/>
          </a:prstGeom>
          <a:noFill/>
          <a:ln/>
        </p:spPr>
        <p:txBody>
          <a:bodyPr wrap="square" lIns="0" tIns="0" rIns="0" bIns="0" rtlCol="0" anchor="ctr"/>
          <a:lstStyle/>
          <a:p>
            <a:pPr indent="0" marL="0">
              <a:buNone/>
            </a:pPr>
            <a:r>
              <a:rPr lang="en-US" sz="1600" b="1" dirty="0">
                <a:solidFill>
                  <a:schemeClr val="accent1"/>
                </a:solidFill>
              </a:rPr>
              <a:t>Kept</a:t>
            </a:r>
            <a:endParaRPr lang="en-US" sz="1400" dirty="0"/>
          </a:p>
          <a:p>
            <a:pPr indent="0" marL="0">
              <a:buNone/>
            </a:pPr>
            <a:r>
              <a:rPr lang="en-US" sz="1400" dirty="0">
                <a:solidFill>
                  <a:schemeClr val="tx1"/>
                </a:solidFill>
              </a:rPr>
              <a:t>v.1 — kept for Jesus Christ</a:t>
            </a:r>
            <a:endParaRPr lang="en-US" sz="1400" dirty="0"/>
          </a:p>
          <a:p>
            <a:pPr indent="0" marL="0">
              <a:buNone/>
            </a:pPr>
            <a:r>
              <a:rPr lang="en-US" sz="1400" dirty="0">
                <a:solidFill>
                  <a:schemeClr val="accent4"/>
                </a:solidFill>
              </a:rPr>
              <a:t>↕</a:t>
            </a:r>
            <a:endParaRPr lang="en-US" sz="1400" dirty="0"/>
          </a:p>
          <a:p>
            <a:pPr indent="0" marL="0">
              <a:buNone/>
            </a:pPr>
            <a:r>
              <a:rPr lang="en-US" sz="1400" dirty="0">
                <a:solidFill>
                  <a:schemeClr val="tx1"/>
                </a:solidFill>
              </a:rPr>
              <a:t>v.24 — able to keep you</a:t>
            </a:r>
            <a:endParaRPr lang="en-US" sz="1400" dirty="0"/>
          </a:p>
        </p:txBody>
      </p:sp>
      <p:sp>
        <p:nvSpPr>
          <p:cNvPr id="19" name="Shape 17"/>
          <p:cNvSpPr/>
          <p:nvPr/>
        </p:nvSpPr>
        <p:spPr>
          <a:xfrm>
            <a:off x="4297680" y="3794760"/>
            <a:ext cx="3566160" cy="1691640"/>
          </a:xfrm>
          <a:prstGeom prst="roundRect">
            <a:avLst>
              <a:gd name="adj" fmla="val 4324"/>
            </a:avLst>
          </a:prstGeom>
          <a:solidFill>
            <a:schemeClr val="bg2"/>
          </a:solidFill>
          <a:ln w="9525">
            <a:solidFill>
              <a:srgbClr val="D5DCEA"/>
            </a:solidFill>
            <a:prstDash val="solid"/>
          </a:ln>
        </p:spPr>
      </p:sp>
      <p:sp>
        <p:nvSpPr>
          <p:cNvPr id="20" name="Text 18"/>
          <p:cNvSpPr txBox="1"/>
          <p:nvPr/>
        </p:nvSpPr>
        <p:spPr>
          <a:xfrm>
            <a:off x="4434840" y="3840480"/>
            <a:ext cx="3291840" cy="1600200"/>
          </a:xfrm>
          <a:prstGeom prst="rect">
            <a:avLst/>
          </a:prstGeom>
          <a:noFill/>
          <a:ln/>
        </p:spPr>
        <p:txBody>
          <a:bodyPr wrap="square" lIns="0" tIns="0" rIns="0" bIns="0" rtlCol="0" anchor="ctr"/>
          <a:lstStyle/>
          <a:p>
            <a:pPr indent="0" marL="0">
              <a:buNone/>
            </a:pPr>
            <a:r>
              <a:rPr lang="en-US" sz="1600" b="1" dirty="0">
                <a:solidFill>
                  <a:schemeClr val="accent1"/>
                </a:solidFill>
              </a:rPr>
              <a:t>The faith</a:t>
            </a:r>
            <a:endParaRPr lang="en-US" sz="1400" dirty="0"/>
          </a:p>
          <a:p>
            <a:pPr indent="0" marL="0">
              <a:buNone/>
            </a:pPr>
            <a:r>
              <a:rPr lang="en-US" sz="1400" dirty="0">
                <a:solidFill>
                  <a:schemeClr val="tx1"/>
                </a:solidFill>
              </a:rPr>
              <a:t>v.3 — contend for the faith</a:t>
            </a:r>
            <a:endParaRPr lang="en-US" sz="1400" dirty="0"/>
          </a:p>
          <a:p>
            <a:pPr indent="0" marL="0">
              <a:buNone/>
            </a:pPr>
            <a:r>
              <a:rPr lang="en-US" sz="1400" dirty="0">
                <a:solidFill>
                  <a:schemeClr val="accent4"/>
                </a:solidFill>
              </a:rPr>
              <a:t>↕</a:t>
            </a:r>
            <a:endParaRPr lang="en-US" sz="1400" dirty="0"/>
          </a:p>
          <a:p>
            <a:pPr indent="0" marL="0">
              <a:buNone/>
            </a:pPr>
            <a:r>
              <a:rPr lang="en-US" sz="1400" dirty="0">
                <a:solidFill>
                  <a:schemeClr val="tx1"/>
                </a:solidFill>
              </a:rPr>
              <a:t>v.20 — build up on your most holy faith</a:t>
            </a:r>
            <a:endParaRPr lang="en-US" sz="1400" dirty="0"/>
          </a:p>
        </p:txBody>
      </p:sp>
      <p:sp>
        <p:nvSpPr>
          <p:cNvPr id="21" name="Shape 19"/>
          <p:cNvSpPr/>
          <p:nvPr/>
        </p:nvSpPr>
        <p:spPr>
          <a:xfrm>
            <a:off x="8046720" y="3794760"/>
            <a:ext cx="3566160" cy="1691640"/>
          </a:xfrm>
          <a:prstGeom prst="roundRect">
            <a:avLst>
              <a:gd name="adj" fmla="val 4324"/>
            </a:avLst>
          </a:prstGeom>
          <a:solidFill>
            <a:schemeClr val="bg2"/>
          </a:solidFill>
          <a:ln w="9525">
            <a:solidFill>
              <a:srgbClr val="D5DCEA"/>
            </a:solidFill>
            <a:prstDash val="solid"/>
          </a:ln>
        </p:spPr>
      </p:sp>
      <p:sp>
        <p:nvSpPr>
          <p:cNvPr id="22" name="Text 20"/>
          <p:cNvSpPr txBox="1"/>
          <p:nvPr/>
        </p:nvSpPr>
        <p:spPr>
          <a:xfrm>
            <a:off x="8183880" y="3840480"/>
            <a:ext cx="3291840" cy="1600200"/>
          </a:xfrm>
          <a:prstGeom prst="rect">
            <a:avLst/>
          </a:prstGeom>
          <a:noFill/>
          <a:ln/>
        </p:spPr>
        <p:txBody>
          <a:bodyPr wrap="square" lIns="0" tIns="0" rIns="0" bIns="0" rtlCol="0" anchor="ctr"/>
          <a:lstStyle/>
          <a:p>
            <a:pPr indent="0" marL="0">
              <a:buNone/>
            </a:pPr>
            <a:r>
              <a:rPr lang="en-US" sz="1600" b="1" dirty="0">
                <a:solidFill>
                  <a:schemeClr val="accent1"/>
                </a:solidFill>
              </a:rPr>
              <a:t>Mercy</a:t>
            </a:r>
            <a:endParaRPr lang="en-US" sz="1400" dirty="0"/>
          </a:p>
          <a:p>
            <a:pPr indent="0" marL="0">
              <a:buNone/>
            </a:pPr>
            <a:r>
              <a:rPr lang="en-US" sz="1400" dirty="0">
                <a:solidFill>
                  <a:schemeClr val="tx1"/>
                </a:solidFill>
              </a:rPr>
              <a:t>v.2 — mercy be multiplied</a:t>
            </a:r>
            <a:endParaRPr lang="en-US" sz="1400" dirty="0"/>
          </a:p>
          <a:p>
            <a:pPr indent="0" marL="0">
              <a:buNone/>
            </a:pPr>
            <a:r>
              <a:rPr lang="en-US" sz="1400" dirty="0">
                <a:solidFill>
                  <a:schemeClr val="accent4"/>
                </a:solidFill>
              </a:rPr>
              <a:t>↕</a:t>
            </a:r>
            <a:endParaRPr lang="en-US" sz="1400" dirty="0"/>
          </a:p>
          <a:p>
            <a:pPr indent="0" marL="0">
              <a:buNone/>
            </a:pPr>
            <a:r>
              <a:rPr lang="en-US" sz="1400" dirty="0">
                <a:solidFill>
                  <a:schemeClr val="tx1"/>
                </a:solidFill>
              </a:rPr>
              <a:t>vv.21–23 — wait for mercy; show mercy</a:t>
            </a:r>
            <a:endParaRPr lang="en-US" sz="1400" dirty="0"/>
          </a:p>
        </p:txBody>
      </p:sp>
      <p:sp>
        <p:nvSpPr>
          <p:cNvPr id="23" name="Shape 21"/>
          <p:cNvSpPr/>
          <p:nvPr/>
        </p:nvSpPr>
        <p:spPr>
          <a:xfrm>
            <a:off x="548640" y="5623560"/>
            <a:ext cx="11064240" cy="594360"/>
          </a:xfrm>
          <a:prstGeom prst="roundRect">
            <a:avLst>
              <a:gd name="adj" fmla="val 12308"/>
            </a:avLst>
          </a:prstGeom>
          <a:solidFill>
            <a:schemeClr val="tx2"/>
          </a:solidFill>
          <a:ln w="9525">
            <a:solidFill>
              <a:schemeClr val="tx2"/>
            </a:solidFill>
            <a:prstDash val="solid"/>
          </a:ln>
        </p:spPr>
      </p:sp>
      <p:sp>
        <p:nvSpPr>
          <p:cNvPr id="24" name="Text 22"/>
          <p:cNvSpPr txBox="1"/>
          <p:nvPr/>
        </p:nvSpPr>
        <p:spPr>
          <a:xfrm>
            <a:off x="777240" y="5623560"/>
            <a:ext cx="10607040" cy="594360"/>
          </a:xfrm>
          <a:prstGeom prst="rect">
            <a:avLst/>
          </a:prstGeom>
          <a:noFill/>
          <a:ln/>
        </p:spPr>
        <p:txBody>
          <a:bodyPr wrap="square" lIns="0" tIns="0" rIns="0" bIns="0" rtlCol="0" anchor="ctr"/>
          <a:lstStyle/>
          <a:p>
            <a:pPr indent="0" marL="0">
              <a:buNone/>
            </a:pPr>
            <a:r>
              <a:rPr lang="en-US" sz="1500" dirty="0">
                <a:solidFill>
                  <a:schemeClr val="bg1"/>
                </a:solidFill>
              </a:rPr>
              <a:t>"The letter that opens with 'kept for Jesus Christ' will end with 'to Him who is able to keep you.' Everything in between is held inside that frame." — Study 1</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Jude thinks in threes</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Triads across the letter</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280160"/>
                <a:gridCol w="3108960"/>
                <a:gridCol w="3246120"/>
                <a:gridCol w="3429000"/>
              </a:tblGrid>
              <a:tr h="457200">
                <a:tc>
                  <a:txBody>
                    <a:bodyPr/>
                    <a:lstStyle/>
                    <a:p>
                      <a:pPr indent="0" marL="0">
                        <a:buNone/>
                      </a:pPr>
                      <a:r>
                        <a:rPr lang="en-US" sz="1400" b="1" dirty="0">
                          <a:solidFill>
                            <a:schemeClr val="bg1"/>
                          </a:solidFill>
                          <a:latin typeface="Arial" pitchFamily="34" charset="0"/>
                          <a:ea typeface="Arial" pitchFamily="34" charset="-122"/>
                          <a:cs typeface="Arial" pitchFamily="34" charset="-120"/>
                        </a:rPr>
                        <a:t>Ref</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One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Two</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Three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v.1</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called</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beloved in God the Father</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kept for Jesus Christ</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v.2</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mercy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peace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love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vv.5–7</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Israel in the wilderness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angels who left their abode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Sodom and Gomorrah</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v.8</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defile the flesh</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reject authority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revile angelic majesties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v.11</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way of Cain</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error of Balaam</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rebellion of Korah</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v.19</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cause divisions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worldly-minded</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devoid of the Spirit</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vv.20–21</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building yourselves up</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praying in the Holy Spirit</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waiting for mercy (around "keep yourselves")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vv.22–23</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have mercy on some who doubt</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save others from the fire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on some have mercy with fear</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accent3"/>
                          </a:solidFill>
                          <a:latin typeface="Arial" pitchFamily="34" charset="0"/>
                          <a:ea typeface="Arial" pitchFamily="34" charset="-122"/>
                          <a:cs typeface="Arial" pitchFamily="34" charset="-120"/>
                        </a:rPr>
                        <a:t>v.25</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before all time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now</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forever</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The "keep" frame</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The letter's frame word, traced through Jude</a:t>
            </a:r>
            <a:endParaRPr lang="en-US" sz="1400" dirty="0"/>
          </a:p>
        </p:txBody>
      </p:sp>
      <p:sp>
        <p:nvSpPr>
          <p:cNvPr id="4" name="Shape 2"/>
          <p:cNvSpPr/>
          <p:nvPr/>
        </p:nvSpPr>
        <p:spPr>
          <a:xfrm>
            <a:off x="548640" y="1417320"/>
            <a:ext cx="914400" cy="694944"/>
          </a:xfrm>
          <a:prstGeom prst="roundRect">
            <a:avLst>
              <a:gd name="adj" fmla="val 10526"/>
            </a:avLst>
          </a:prstGeom>
          <a:solidFill>
            <a:schemeClr val="accent1"/>
          </a:solidFill>
          <a:ln w="9525">
            <a:solidFill>
              <a:schemeClr val="accent1"/>
            </a:solidFill>
            <a:prstDash val="solid"/>
          </a:ln>
        </p:spPr>
      </p:sp>
      <p:sp>
        <p:nvSpPr>
          <p:cNvPr id="5" name="Text 3"/>
          <p:cNvSpPr txBox="1"/>
          <p:nvPr/>
        </p:nvSpPr>
        <p:spPr>
          <a:xfrm>
            <a:off x="548640" y="1417320"/>
            <a:ext cx="914400" cy="694944"/>
          </a:xfrm>
          <a:prstGeom prst="rect">
            <a:avLst/>
          </a:prstGeom>
          <a:noFill/>
          <a:ln/>
        </p:spPr>
        <p:txBody>
          <a:bodyPr wrap="square" lIns="0" tIns="0" rIns="0" bIns="0" rtlCol="0" anchor="ctr"/>
          <a:lstStyle/>
          <a:p>
            <a:pPr algn="ctr" indent="0" marL="0">
              <a:buNone/>
            </a:pPr>
            <a:r>
              <a:rPr lang="en-US" sz="1800" b="1" dirty="0">
                <a:solidFill>
                  <a:schemeClr val="bg1"/>
                </a:solidFill>
              </a:rPr>
              <a:t>v.1</a:t>
            </a:r>
            <a:endParaRPr lang="en-US" sz="1800" dirty="0"/>
          </a:p>
        </p:txBody>
      </p:sp>
      <p:sp>
        <p:nvSpPr>
          <p:cNvPr id="6" name="Shape 4"/>
          <p:cNvSpPr/>
          <p:nvPr/>
        </p:nvSpPr>
        <p:spPr>
          <a:xfrm>
            <a:off x="1600200" y="1417320"/>
            <a:ext cx="10012680" cy="694944"/>
          </a:xfrm>
          <a:prstGeom prst="rect">
            <a:avLst/>
          </a:prstGeom>
          <a:solidFill>
            <a:schemeClr val="bg2"/>
          </a:solidFill>
          <a:ln w="9525">
            <a:solidFill>
              <a:srgbClr val="D5DCEA"/>
            </a:solidFill>
            <a:prstDash val="solid"/>
          </a:ln>
        </p:spPr>
      </p:sp>
      <p:sp>
        <p:nvSpPr>
          <p:cNvPr id="7" name="Text 5"/>
          <p:cNvSpPr txBox="1"/>
          <p:nvPr/>
        </p:nvSpPr>
        <p:spPr>
          <a:xfrm>
            <a:off x="1737360" y="1417320"/>
            <a:ext cx="5120640" cy="694944"/>
          </a:xfrm>
          <a:prstGeom prst="rect">
            <a:avLst/>
          </a:prstGeom>
          <a:noFill/>
          <a:ln/>
        </p:spPr>
        <p:txBody>
          <a:bodyPr wrap="square" lIns="0" tIns="0" rIns="0" bIns="0" rtlCol="0" anchor="ctr"/>
          <a:lstStyle/>
          <a:p>
            <a:pPr indent="0" marL="0">
              <a:buNone/>
            </a:pPr>
            <a:r>
              <a:rPr lang="en-US" sz="1400" i="1" dirty="0">
                <a:solidFill>
                  <a:schemeClr val="tx1"/>
                </a:solidFill>
              </a:rPr>
              <a:t>"…called, beloved in God the Father, and kept for Jesus Christ"</a:t>
            </a:r>
            <a:endParaRPr lang="en-US" sz="1400" dirty="0"/>
          </a:p>
        </p:txBody>
      </p:sp>
      <p:sp>
        <p:nvSpPr>
          <p:cNvPr id="8" name="Text 6"/>
          <p:cNvSpPr txBox="1"/>
          <p:nvPr/>
        </p:nvSpPr>
        <p:spPr>
          <a:xfrm>
            <a:off x="6995160" y="1417320"/>
            <a:ext cx="4526280" cy="694944"/>
          </a:xfrm>
          <a:prstGeom prst="rect">
            <a:avLst/>
          </a:prstGeom>
          <a:noFill/>
          <a:ln/>
        </p:spPr>
        <p:txBody>
          <a:bodyPr wrap="square" lIns="0" tIns="0" rIns="0" bIns="0" rtlCol="0" anchor="ctr"/>
          <a:lstStyle/>
          <a:p>
            <a:pPr indent="0" marL="0">
              <a:buNone/>
            </a:pPr>
            <a:r>
              <a:rPr lang="en-US" sz="1600" b="1" dirty="0">
                <a:solidFill>
                  <a:schemeClr val="accent3"/>
                </a:solidFill>
              </a:rPr>
              <a:t>τετηρημένοις</a:t>
            </a:r>
            <a:endParaRPr lang="en-US" sz="1400" dirty="0"/>
          </a:p>
          <a:p>
            <a:pPr indent="0" marL="0">
              <a:buNone/>
            </a:pPr>
            <a:r>
              <a:rPr lang="en-US" sz="1200" dirty="0">
                <a:solidFill>
                  <a:schemeClr val="tx1"/>
                </a:solidFill>
              </a:rPr>
              <a:t>tēreō · perf. pass. ptc. — kept, and remaining kept</a:t>
            </a:r>
            <a:endParaRPr lang="en-US" sz="1400" dirty="0"/>
          </a:p>
        </p:txBody>
      </p:sp>
      <p:sp>
        <p:nvSpPr>
          <p:cNvPr id="9" name="Shape 7"/>
          <p:cNvSpPr/>
          <p:nvPr/>
        </p:nvSpPr>
        <p:spPr>
          <a:xfrm>
            <a:off x="548640" y="2240280"/>
            <a:ext cx="914400" cy="694944"/>
          </a:xfrm>
          <a:prstGeom prst="roundRect">
            <a:avLst>
              <a:gd name="adj" fmla="val 10526"/>
            </a:avLst>
          </a:prstGeom>
          <a:solidFill>
            <a:schemeClr val="accent4"/>
          </a:solidFill>
          <a:ln w="9525">
            <a:solidFill>
              <a:schemeClr val="accent4"/>
            </a:solidFill>
            <a:prstDash val="solid"/>
          </a:ln>
        </p:spPr>
      </p:sp>
      <p:sp>
        <p:nvSpPr>
          <p:cNvPr id="10" name="Text 8"/>
          <p:cNvSpPr txBox="1"/>
          <p:nvPr/>
        </p:nvSpPr>
        <p:spPr>
          <a:xfrm>
            <a:off x="548640" y="2240280"/>
            <a:ext cx="914400" cy="694944"/>
          </a:xfrm>
          <a:prstGeom prst="rect">
            <a:avLst/>
          </a:prstGeom>
          <a:noFill/>
          <a:ln/>
        </p:spPr>
        <p:txBody>
          <a:bodyPr wrap="square" lIns="0" tIns="0" rIns="0" bIns="0" rtlCol="0" anchor="ctr"/>
          <a:lstStyle/>
          <a:p>
            <a:pPr algn="ctr" indent="0" marL="0">
              <a:buNone/>
            </a:pPr>
            <a:r>
              <a:rPr lang="en-US" sz="1800" b="1" dirty="0">
                <a:solidFill>
                  <a:schemeClr val="bg1"/>
                </a:solidFill>
              </a:rPr>
              <a:t>v.6</a:t>
            </a:r>
            <a:endParaRPr lang="en-US" sz="1800" dirty="0"/>
          </a:p>
        </p:txBody>
      </p:sp>
      <p:sp>
        <p:nvSpPr>
          <p:cNvPr id="11" name="Shape 9"/>
          <p:cNvSpPr/>
          <p:nvPr/>
        </p:nvSpPr>
        <p:spPr>
          <a:xfrm>
            <a:off x="1600200" y="2240280"/>
            <a:ext cx="10012680" cy="694944"/>
          </a:xfrm>
          <a:prstGeom prst="rect">
            <a:avLst/>
          </a:prstGeom>
          <a:solidFill>
            <a:schemeClr val="bg1"/>
          </a:solidFill>
          <a:ln w="9525">
            <a:solidFill>
              <a:srgbClr val="D5DCEA"/>
            </a:solidFill>
            <a:prstDash val="solid"/>
          </a:ln>
        </p:spPr>
      </p:sp>
      <p:sp>
        <p:nvSpPr>
          <p:cNvPr id="12" name="Text 10"/>
          <p:cNvSpPr txBox="1"/>
          <p:nvPr/>
        </p:nvSpPr>
        <p:spPr>
          <a:xfrm>
            <a:off x="1737360" y="2240280"/>
            <a:ext cx="5120640" cy="694944"/>
          </a:xfrm>
          <a:prstGeom prst="rect">
            <a:avLst/>
          </a:prstGeom>
          <a:noFill/>
          <a:ln/>
        </p:spPr>
        <p:txBody>
          <a:bodyPr wrap="square" lIns="0" tIns="0" rIns="0" bIns="0" rtlCol="0" anchor="ctr"/>
          <a:lstStyle/>
          <a:p>
            <a:pPr indent="0" marL="0">
              <a:buNone/>
            </a:pPr>
            <a:r>
              <a:rPr lang="en-US" sz="1400" i="1" dirty="0">
                <a:solidFill>
                  <a:schemeClr val="tx1"/>
                </a:solidFill>
              </a:rPr>
              <a:t>"angels who did not keep their own domain… He has kept in eternal bonds"</a:t>
            </a:r>
            <a:endParaRPr lang="en-US" sz="1400" dirty="0"/>
          </a:p>
        </p:txBody>
      </p:sp>
      <p:sp>
        <p:nvSpPr>
          <p:cNvPr id="13" name="Text 11"/>
          <p:cNvSpPr txBox="1"/>
          <p:nvPr/>
        </p:nvSpPr>
        <p:spPr>
          <a:xfrm>
            <a:off x="6995160" y="2240280"/>
            <a:ext cx="4526280" cy="694944"/>
          </a:xfrm>
          <a:prstGeom prst="rect">
            <a:avLst/>
          </a:prstGeom>
          <a:noFill/>
          <a:ln/>
        </p:spPr>
        <p:txBody>
          <a:bodyPr wrap="square" lIns="0" tIns="0" rIns="0" bIns="0" rtlCol="0" anchor="ctr"/>
          <a:lstStyle/>
          <a:p>
            <a:pPr indent="0" marL="0">
              <a:buNone/>
            </a:pPr>
            <a:r>
              <a:rPr lang="en-US" sz="1600" b="1" dirty="0">
                <a:solidFill>
                  <a:schemeClr val="accent3"/>
                </a:solidFill>
              </a:rPr>
              <a:t>τηρήσαντας · τετήρηκεν</a:t>
            </a:r>
            <a:endParaRPr lang="en-US" sz="1400" dirty="0"/>
          </a:p>
          <a:p>
            <a:pPr indent="0" marL="0">
              <a:buNone/>
            </a:pPr>
            <a:r>
              <a:rPr lang="en-US" sz="1200" dirty="0">
                <a:solidFill>
                  <a:schemeClr val="tx1"/>
                </a:solidFill>
              </a:rPr>
              <a:t>Those who would not keep their place are kept in a place they did not choose</a:t>
            </a:r>
            <a:endParaRPr lang="en-US" sz="1400" dirty="0"/>
          </a:p>
        </p:txBody>
      </p:sp>
      <p:sp>
        <p:nvSpPr>
          <p:cNvPr id="14" name="Shape 12"/>
          <p:cNvSpPr/>
          <p:nvPr/>
        </p:nvSpPr>
        <p:spPr>
          <a:xfrm>
            <a:off x="548640" y="3063240"/>
            <a:ext cx="914400" cy="694944"/>
          </a:xfrm>
          <a:prstGeom prst="roundRect">
            <a:avLst>
              <a:gd name="adj" fmla="val 10526"/>
            </a:avLst>
          </a:prstGeom>
          <a:solidFill>
            <a:schemeClr val="accent4"/>
          </a:solidFill>
          <a:ln w="9525">
            <a:solidFill>
              <a:schemeClr val="accent4"/>
            </a:solidFill>
            <a:prstDash val="solid"/>
          </a:ln>
        </p:spPr>
      </p:sp>
      <p:sp>
        <p:nvSpPr>
          <p:cNvPr id="15" name="Text 13"/>
          <p:cNvSpPr txBox="1"/>
          <p:nvPr/>
        </p:nvSpPr>
        <p:spPr>
          <a:xfrm>
            <a:off x="548640" y="3063240"/>
            <a:ext cx="914400" cy="694944"/>
          </a:xfrm>
          <a:prstGeom prst="rect">
            <a:avLst/>
          </a:prstGeom>
          <a:noFill/>
          <a:ln/>
        </p:spPr>
        <p:txBody>
          <a:bodyPr wrap="square" lIns="0" tIns="0" rIns="0" bIns="0" rtlCol="0" anchor="ctr"/>
          <a:lstStyle/>
          <a:p>
            <a:pPr algn="ctr" indent="0" marL="0">
              <a:buNone/>
            </a:pPr>
            <a:r>
              <a:rPr lang="en-US" sz="1800" b="1" dirty="0">
                <a:solidFill>
                  <a:schemeClr val="bg1"/>
                </a:solidFill>
              </a:rPr>
              <a:t>v.13</a:t>
            </a:r>
            <a:endParaRPr lang="en-US" sz="1800" dirty="0"/>
          </a:p>
        </p:txBody>
      </p:sp>
      <p:sp>
        <p:nvSpPr>
          <p:cNvPr id="16" name="Shape 14"/>
          <p:cNvSpPr/>
          <p:nvPr/>
        </p:nvSpPr>
        <p:spPr>
          <a:xfrm>
            <a:off x="1600200" y="3063240"/>
            <a:ext cx="10012680" cy="694944"/>
          </a:xfrm>
          <a:prstGeom prst="rect">
            <a:avLst/>
          </a:prstGeom>
          <a:solidFill>
            <a:schemeClr val="bg2"/>
          </a:solidFill>
          <a:ln w="9525">
            <a:solidFill>
              <a:srgbClr val="D5DCEA"/>
            </a:solidFill>
            <a:prstDash val="solid"/>
          </a:ln>
        </p:spPr>
      </p:sp>
      <p:sp>
        <p:nvSpPr>
          <p:cNvPr id="17" name="Text 15"/>
          <p:cNvSpPr txBox="1"/>
          <p:nvPr/>
        </p:nvSpPr>
        <p:spPr>
          <a:xfrm>
            <a:off x="1737360" y="3063240"/>
            <a:ext cx="5120640" cy="694944"/>
          </a:xfrm>
          <a:prstGeom prst="rect">
            <a:avLst/>
          </a:prstGeom>
          <a:noFill/>
          <a:ln/>
        </p:spPr>
        <p:txBody>
          <a:bodyPr wrap="square" lIns="0" tIns="0" rIns="0" bIns="0" rtlCol="0" anchor="ctr"/>
          <a:lstStyle/>
          <a:p>
            <a:pPr indent="0" marL="0">
              <a:buNone/>
            </a:pPr>
            <a:r>
              <a:rPr lang="en-US" sz="1400" i="1" dirty="0">
                <a:solidFill>
                  <a:schemeClr val="tx1"/>
                </a:solidFill>
              </a:rPr>
              <a:t>"for whom the black darkness has been reserved forever"</a:t>
            </a:r>
            <a:endParaRPr lang="en-US" sz="1400" dirty="0"/>
          </a:p>
        </p:txBody>
      </p:sp>
      <p:sp>
        <p:nvSpPr>
          <p:cNvPr id="18" name="Text 16"/>
          <p:cNvSpPr txBox="1"/>
          <p:nvPr/>
        </p:nvSpPr>
        <p:spPr>
          <a:xfrm>
            <a:off x="6995160" y="3063240"/>
            <a:ext cx="4526280" cy="694944"/>
          </a:xfrm>
          <a:prstGeom prst="rect">
            <a:avLst/>
          </a:prstGeom>
          <a:noFill/>
          <a:ln/>
        </p:spPr>
        <p:txBody>
          <a:bodyPr wrap="square" lIns="0" tIns="0" rIns="0" bIns="0" rtlCol="0" anchor="ctr"/>
          <a:lstStyle/>
          <a:p>
            <a:pPr indent="0" marL="0">
              <a:buNone/>
            </a:pPr>
            <a:r>
              <a:rPr lang="en-US" sz="1600" b="1" dirty="0">
                <a:solidFill>
                  <a:schemeClr val="accent3"/>
                </a:solidFill>
              </a:rPr>
              <a:t>τετήρηται</a:t>
            </a:r>
            <a:endParaRPr lang="en-US" sz="1400" dirty="0"/>
          </a:p>
          <a:p>
            <a:pPr indent="0" marL="0">
              <a:buNone/>
            </a:pPr>
            <a:r>
              <a:rPr lang="en-US" sz="1200" dirty="0">
                <a:solidFill>
                  <a:schemeClr val="tx1"/>
                </a:solidFill>
              </a:rPr>
              <a:t>"Reserved" is tēreō — darkness kept for them</a:t>
            </a:r>
            <a:endParaRPr lang="en-US" sz="1400" dirty="0"/>
          </a:p>
        </p:txBody>
      </p:sp>
      <p:sp>
        <p:nvSpPr>
          <p:cNvPr id="19" name="Shape 17"/>
          <p:cNvSpPr/>
          <p:nvPr/>
        </p:nvSpPr>
        <p:spPr>
          <a:xfrm>
            <a:off x="548640" y="3886200"/>
            <a:ext cx="914400" cy="694944"/>
          </a:xfrm>
          <a:prstGeom prst="roundRect">
            <a:avLst>
              <a:gd name="adj" fmla="val 10526"/>
            </a:avLst>
          </a:prstGeom>
          <a:solidFill>
            <a:schemeClr val="accent2"/>
          </a:solidFill>
          <a:ln w="9525">
            <a:solidFill>
              <a:schemeClr val="accent2"/>
            </a:solidFill>
            <a:prstDash val="solid"/>
          </a:ln>
        </p:spPr>
      </p:sp>
      <p:sp>
        <p:nvSpPr>
          <p:cNvPr id="20" name="Text 18"/>
          <p:cNvSpPr txBox="1"/>
          <p:nvPr/>
        </p:nvSpPr>
        <p:spPr>
          <a:xfrm>
            <a:off x="548640" y="3886200"/>
            <a:ext cx="914400" cy="694944"/>
          </a:xfrm>
          <a:prstGeom prst="rect">
            <a:avLst/>
          </a:prstGeom>
          <a:noFill/>
          <a:ln/>
        </p:spPr>
        <p:txBody>
          <a:bodyPr wrap="square" lIns="0" tIns="0" rIns="0" bIns="0" rtlCol="0" anchor="ctr"/>
          <a:lstStyle/>
          <a:p>
            <a:pPr algn="ctr" indent="0" marL="0">
              <a:buNone/>
            </a:pPr>
            <a:r>
              <a:rPr lang="en-US" sz="1800" b="1" dirty="0">
                <a:solidFill>
                  <a:schemeClr val="bg1"/>
                </a:solidFill>
              </a:rPr>
              <a:t>v.21</a:t>
            </a:r>
            <a:endParaRPr lang="en-US" sz="1800" dirty="0"/>
          </a:p>
        </p:txBody>
      </p:sp>
      <p:sp>
        <p:nvSpPr>
          <p:cNvPr id="21" name="Shape 19"/>
          <p:cNvSpPr/>
          <p:nvPr/>
        </p:nvSpPr>
        <p:spPr>
          <a:xfrm>
            <a:off x="1600200" y="3886200"/>
            <a:ext cx="10012680" cy="694944"/>
          </a:xfrm>
          <a:prstGeom prst="rect">
            <a:avLst/>
          </a:prstGeom>
          <a:solidFill>
            <a:schemeClr val="bg1"/>
          </a:solidFill>
          <a:ln w="9525">
            <a:solidFill>
              <a:srgbClr val="D5DCEA"/>
            </a:solidFill>
            <a:prstDash val="solid"/>
          </a:ln>
        </p:spPr>
      </p:sp>
      <p:sp>
        <p:nvSpPr>
          <p:cNvPr id="22" name="Text 20"/>
          <p:cNvSpPr txBox="1"/>
          <p:nvPr/>
        </p:nvSpPr>
        <p:spPr>
          <a:xfrm>
            <a:off x="1737360" y="3886200"/>
            <a:ext cx="5120640" cy="694944"/>
          </a:xfrm>
          <a:prstGeom prst="rect">
            <a:avLst/>
          </a:prstGeom>
          <a:noFill/>
          <a:ln/>
        </p:spPr>
        <p:txBody>
          <a:bodyPr wrap="square" lIns="0" tIns="0" rIns="0" bIns="0" rtlCol="0" anchor="ctr"/>
          <a:lstStyle/>
          <a:p>
            <a:pPr indent="0" marL="0">
              <a:buNone/>
            </a:pPr>
            <a:r>
              <a:rPr lang="en-US" sz="1400" i="1" dirty="0">
                <a:solidFill>
                  <a:schemeClr val="tx1"/>
                </a:solidFill>
              </a:rPr>
              <a:t>"keep yourselves in the love of God"</a:t>
            </a:r>
            <a:endParaRPr lang="en-US" sz="1400" dirty="0"/>
          </a:p>
        </p:txBody>
      </p:sp>
      <p:sp>
        <p:nvSpPr>
          <p:cNvPr id="23" name="Text 21"/>
          <p:cNvSpPr txBox="1"/>
          <p:nvPr/>
        </p:nvSpPr>
        <p:spPr>
          <a:xfrm>
            <a:off x="6995160" y="3886200"/>
            <a:ext cx="4526280" cy="694944"/>
          </a:xfrm>
          <a:prstGeom prst="rect">
            <a:avLst/>
          </a:prstGeom>
          <a:noFill/>
          <a:ln/>
        </p:spPr>
        <p:txBody>
          <a:bodyPr wrap="square" lIns="0" tIns="0" rIns="0" bIns="0" rtlCol="0" anchor="ctr"/>
          <a:lstStyle/>
          <a:p>
            <a:pPr indent="0" marL="0">
              <a:buNone/>
            </a:pPr>
            <a:r>
              <a:rPr lang="en-US" sz="1600" b="1" dirty="0">
                <a:solidFill>
                  <a:schemeClr val="accent3"/>
                </a:solidFill>
              </a:rPr>
              <a:t>τηρήσατε</a:t>
            </a:r>
            <a:endParaRPr lang="en-US" sz="1400" dirty="0"/>
          </a:p>
          <a:p>
            <a:pPr indent="0" marL="0">
              <a:buNone/>
            </a:pPr>
            <a:r>
              <a:rPr lang="en-US" sz="1200" dirty="0">
                <a:solidFill>
                  <a:schemeClr val="tx1"/>
                </a:solidFill>
              </a:rPr>
              <a:t>aor. act. impv. — stay in the enjoyment of a love already given</a:t>
            </a:r>
            <a:endParaRPr lang="en-US" sz="1400" dirty="0"/>
          </a:p>
        </p:txBody>
      </p:sp>
      <p:sp>
        <p:nvSpPr>
          <p:cNvPr id="24" name="Shape 22"/>
          <p:cNvSpPr/>
          <p:nvPr/>
        </p:nvSpPr>
        <p:spPr>
          <a:xfrm>
            <a:off x="548640" y="4709160"/>
            <a:ext cx="914400" cy="694944"/>
          </a:xfrm>
          <a:prstGeom prst="roundRect">
            <a:avLst>
              <a:gd name="adj" fmla="val 10526"/>
            </a:avLst>
          </a:prstGeom>
          <a:solidFill>
            <a:schemeClr val="accent1"/>
          </a:solidFill>
          <a:ln w="9525">
            <a:solidFill>
              <a:schemeClr val="accent1"/>
            </a:solidFill>
            <a:prstDash val="solid"/>
          </a:ln>
        </p:spPr>
      </p:sp>
      <p:sp>
        <p:nvSpPr>
          <p:cNvPr id="25" name="Text 23"/>
          <p:cNvSpPr txBox="1"/>
          <p:nvPr/>
        </p:nvSpPr>
        <p:spPr>
          <a:xfrm>
            <a:off x="548640" y="4709160"/>
            <a:ext cx="914400" cy="694944"/>
          </a:xfrm>
          <a:prstGeom prst="rect">
            <a:avLst/>
          </a:prstGeom>
          <a:noFill/>
          <a:ln/>
        </p:spPr>
        <p:txBody>
          <a:bodyPr wrap="square" lIns="0" tIns="0" rIns="0" bIns="0" rtlCol="0" anchor="ctr"/>
          <a:lstStyle/>
          <a:p>
            <a:pPr algn="ctr" indent="0" marL="0">
              <a:buNone/>
            </a:pPr>
            <a:r>
              <a:rPr lang="en-US" sz="1800" b="1" dirty="0">
                <a:solidFill>
                  <a:schemeClr val="bg1"/>
                </a:solidFill>
              </a:rPr>
              <a:t>v.24</a:t>
            </a:r>
            <a:endParaRPr lang="en-US" sz="1800" dirty="0"/>
          </a:p>
        </p:txBody>
      </p:sp>
      <p:sp>
        <p:nvSpPr>
          <p:cNvPr id="26" name="Shape 24"/>
          <p:cNvSpPr/>
          <p:nvPr/>
        </p:nvSpPr>
        <p:spPr>
          <a:xfrm>
            <a:off x="1600200" y="4709160"/>
            <a:ext cx="10012680" cy="694944"/>
          </a:xfrm>
          <a:prstGeom prst="rect">
            <a:avLst/>
          </a:prstGeom>
          <a:solidFill>
            <a:schemeClr val="bg2"/>
          </a:solidFill>
          <a:ln w="9525">
            <a:solidFill>
              <a:srgbClr val="D5DCEA"/>
            </a:solidFill>
            <a:prstDash val="solid"/>
          </a:ln>
        </p:spPr>
      </p:sp>
      <p:sp>
        <p:nvSpPr>
          <p:cNvPr id="27" name="Text 25"/>
          <p:cNvSpPr txBox="1"/>
          <p:nvPr/>
        </p:nvSpPr>
        <p:spPr>
          <a:xfrm>
            <a:off x="1737360" y="4709160"/>
            <a:ext cx="5120640" cy="694944"/>
          </a:xfrm>
          <a:prstGeom prst="rect">
            <a:avLst/>
          </a:prstGeom>
          <a:noFill/>
          <a:ln/>
        </p:spPr>
        <p:txBody>
          <a:bodyPr wrap="square" lIns="0" tIns="0" rIns="0" bIns="0" rtlCol="0" anchor="ctr"/>
          <a:lstStyle/>
          <a:p>
            <a:pPr indent="0" marL="0">
              <a:buNone/>
            </a:pPr>
            <a:r>
              <a:rPr lang="en-US" sz="1400" i="1" dirty="0">
                <a:solidFill>
                  <a:schemeClr val="tx1"/>
                </a:solidFill>
              </a:rPr>
              <a:t>"Him who is able to keep you from stumbling"</a:t>
            </a:r>
            <a:endParaRPr lang="en-US" sz="1400" dirty="0"/>
          </a:p>
        </p:txBody>
      </p:sp>
      <p:sp>
        <p:nvSpPr>
          <p:cNvPr id="28" name="Text 26"/>
          <p:cNvSpPr txBox="1"/>
          <p:nvPr/>
        </p:nvSpPr>
        <p:spPr>
          <a:xfrm>
            <a:off x="6995160" y="4709160"/>
            <a:ext cx="4526280" cy="694944"/>
          </a:xfrm>
          <a:prstGeom prst="rect">
            <a:avLst/>
          </a:prstGeom>
          <a:noFill/>
          <a:ln/>
        </p:spPr>
        <p:txBody>
          <a:bodyPr wrap="square" lIns="0" tIns="0" rIns="0" bIns="0" rtlCol="0" anchor="ctr"/>
          <a:lstStyle/>
          <a:p>
            <a:pPr indent="0" marL="0">
              <a:buNone/>
            </a:pPr>
            <a:r>
              <a:rPr lang="en-US" sz="1600" b="1" dirty="0">
                <a:solidFill>
                  <a:schemeClr val="accent3"/>
                </a:solidFill>
              </a:rPr>
              <a:t>φυλάξαι</a:t>
            </a:r>
            <a:endParaRPr lang="en-US" sz="1400" dirty="0"/>
          </a:p>
          <a:p>
            <a:pPr indent="0" marL="0">
              <a:buNone/>
            </a:pPr>
            <a:r>
              <a:rPr lang="en-US" sz="1200" dirty="0">
                <a:solidFill>
                  <a:schemeClr val="tx1"/>
                </a:solidFill>
              </a:rPr>
              <a:t>phylassō — to guard, a sentry's word (not tēreō)</a:t>
            </a:r>
            <a:endParaRPr lang="en-US" sz="1400" dirty="0"/>
          </a:p>
        </p:txBody>
      </p:sp>
      <p:sp>
        <p:nvSpPr>
          <p:cNvPr id="29" name="Shape 27"/>
          <p:cNvSpPr/>
          <p:nvPr/>
        </p:nvSpPr>
        <p:spPr>
          <a:xfrm>
            <a:off x="548640" y="5623560"/>
            <a:ext cx="11064240" cy="658368"/>
          </a:xfrm>
          <a:prstGeom prst="roundRect">
            <a:avLst>
              <a:gd name="adj" fmla="val 11111"/>
            </a:avLst>
          </a:prstGeom>
          <a:solidFill>
            <a:schemeClr val="tx2"/>
          </a:solidFill>
          <a:ln w="9525">
            <a:solidFill>
              <a:schemeClr val="tx2"/>
            </a:solidFill>
            <a:prstDash val="solid"/>
          </a:ln>
        </p:spPr>
      </p:sp>
      <p:sp>
        <p:nvSpPr>
          <p:cNvPr id="30" name="Text 28"/>
          <p:cNvSpPr txBox="1"/>
          <p:nvPr/>
        </p:nvSpPr>
        <p:spPr>
          <a:xfrm>
            <a:off x="777240" y="5623560"/>
            <a:ext cx="10607040" cy="658368"/>
          </a:xfrm>
          <a:prstGeom prst="rect">
            <a:avLst/>
          </a:prstGeom>
          <a:noFill/>
          <a:ln/>
        </p:spPr>
        <p:txBody>
          <a:bodyPr wrap="square" lIns="0" tIns="0" rIns="0" bIns="0" rtlCol="0" anchor="ctr"/>
          <a:lstStyle/>
          <a:p>
            <a:pPr indent="0" marL="0">
              <a:buNone/>
            </a:pPr>
            <a:r>
              <a:rPr lang="en-US" sz="1500" dirty="0">
                <a:solidFill>
                  <a:schemeClr val="bg1"/>
                </a:solidFill>
              </a:rPr>
              <a:t>The commands sit inside the frame, not outside it. The believer's responsibility to live in God's love is never the foundation of his security; God's keeping is.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1188720"/>
            <a:ext cx="10058400" cy="457200"/>
          </a:xfrm>
          <a:prstGeom prst="rect">
            <a:avLst/>
          </a:prstGeom>
          <a:noFill/>
          <a:ln/>
        </p:spPr>
        <p:txBody>
          <a:bodyPr wrap="square" lIns="0" tIns="0" rIns="0" bIns="0" rtlCol="0" anchor="t"/>
          <a:lstStyle/>
          <a:p>
            <a:pPr indent="0" marL="0">
              <a:buNone/>
            </a:pPr>
            <a:r>
              <a:rPr lang="en-US" sz="1800" b="1" dirty="0">
                <a:solidFill>
                  <a:schemeClr val="accent5"/>
                </a:solidFill>
              </a:rPr>
              <a:t>Study 1 of 6 · Jude 1–2</a:t>
            </a:r>
            <a:endParaRPr lang="en-US" sz="1800" dirty="0"/>
          </a:p>
        </p:txBody>
      </p:sp>
      <p:sp>
        <p:nvSpPr>
          <p:cNvPr id="3" name="Text 0"/>
          <p:cNvSpPr/>
          <p:nvPr>
            <p:ph idx="100" type="title" hasCustomPrompt="1"/>
          </p:nvPr>
        </p:nvSpPr>
        <p:spPr>
          <a:xfrm>
            <a:off x="731520" y="1737360"/>
            <a:ext cx="10698480" cy="1554480"/>
          </a:xfrm>
          <a:prstGeom prst="rect">
            <a:avLst/>
          </a:prstGeom>
          <a:noFill/>
          <a:ln/>
        </p:spPr>
        <p:txBody>
          <a:bodyPr wrap="square" rtlCol="0" anchor="b"/>
          <a:lstStyle/>
          <a:p>
            <a:pPr algn="l" indent="0" marL="0">
              <a:buNone/>
            </a:pPr>
            <a:r>
              <a:rPr lang="en-US" sz="4000" b="1" dirty="0">
                <a:solidFill>
                  <a:schemeClr val="bg1"/>
                </a:solidFill>
              </a:rPr>
              <a:t>Standing in the Storm: Grace, Mercy, and Peace</a:t>
            </a:r>
            <a:endParaRPr lang="en-US" sz="4000" dirty="0"/>
          </a:p>
        </p:txBody>
      </p:sp>
      <p:sp>
        <p:nvSpPr>
          <p:cNvPr id="4" name="Text 0"/>
          <p:cNvSpPr/>
          <p:nvPr>
            <p:ph idx="101" type="body" hasCustomPrompt="1"/>
          </p:nvPr>
        </p:nvSpPr>
        <p:spPr>
          <a:xfrm>
            <a:off x="731520" y="3474720"/>
            <a:ext cx="10698480" cy="2011680"/>
          </a:xfrm>
          <a:prstGeom prst="rect">
            <a:avLst/>
          </a:prstGeom>
          <a:noFill/>
          <a:ln/>
        </p:spPr>
        <p:txBody>
          <a:bodyPr wrap="square" rtlCol="0" anchor="t"/>
          <a:lstStyle/>
          <a:p>
            <a:pPr algn="l" indent="0" marL="0">
              <a:buNone/>
            </a:pPr>
            <a:r>
              <a:rPr lang="en-US" sz="2000" dirty="0">
                <a:solidFill>
                  <a:schemeClr val="bg2"/>
                </a:solidFill>
              </a:rPr>
              <a:t>Before believers are called to contend for the faith, they are reminded of who they are: called, loved, and kept by God.</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Jude: from unbelief to bond-servant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The writer behind the letter (v.1a)</a:t>
            </a:r>
            <a:endParaRPr lang="en-US" sz="1400" dirty="0"/>
          </a:p>
        </p:txBody>
      </p:sp>
      <p:sp>
        <p:nvSpPr>
          <p:cNvPr id="4" name="Shape 2"/>
          <p:cNvSpPr/>
          <p:nvPr/>
        </p:nvSpPr>
        <p:spPr>
          <a:xfrm>
            <a:off x="548640" y="1508760"/>
            <a:ext cx="1737360" cy="685800"/>
          </a:xfrm>
          <a:prstGeom prst="roundRect">
            <a:avLst>
              <a:gd name="adj" fmla="val 10667"/>
            </a:avLst>
          </a:prstGeom>
          <a:solidFill>
            <a:schemeClr val="accent4"/>
          </a:solidFill>
          <a:ln w="9525">
            <a:solidFill>
              <a:schemeClr val="accent4"/>
            </a:solidFill>
            <a:prstDash val="solid"/>
          </a:ln>
        </p:spPr>
      </p:sp>
      <p:sp>
        <p:nvSpPr>
          <p:cNvPr id="5" name="Text 3"/>
          <p:cNvSpPr txBox="1"/>
          <p:nvPr/>
        </p:nvSpPr>
        <p:spPr>
          <a:xfrm>
            <a:off x="621792" y="1508760"/>
            <a:ext cx="1591056" cy="685800"/>
          </a:xfrm>
          <a:prstGeom prst="rect">
            <a:avLst/>
          </a:prstGeom>
          <a:noFill/>
          <a:ln/>
        </p:spPr>
        <p:txBody>
          <a:bodyPr wrap="square" lIns="0" tIns="0" rIns="0" bIns="0" rtlCol="0" anchor="ctr"/>
          <a:lstStyle/>
          <a:p>
            <a:pPr algn="ctr" indent="0" marL="0">
              <a:buNone/>
            </a:pPr>
            <a:r>
              <a:rPr lang="en-US" sz="1400" b="1" dirty="0">
                <a:solidFill>
                  <a:schemeClr val="bg1"/>
                </a:solidFill>
              </a:rPr>
              <a:t>Grew up with Jesus</a:t>
            </a:r>
            <a:endParaRPr lang="en-US" sz="1400" dirty="0"/>
          </a:p>
        </p:txBody>
      </p:sp>
      <p:sp>
        <p:nvSpPr>
          <p:cNvPr id="6" name="Text 4"/>
          <p:cNvSpPr txBox="1"/>
          <p:nvPr/>
        </p:nvSpPr>
        <p:spPr>
          <a:xfrm>
            <a:off x="2267712" y="1600200"/>
            <a:ext cx="182880" cy="457200"/>
          </a:xfrm>
          <a:prstGeom prst="rect">
            <a:avLst/>
          </a:prstGeom>
          <a:noFill/>
          <a:ln/>
        </p:spPr>
        <p:txBody>
          <a:bodyPr wrap="square" lIns="0" tIns="0" rIns="0" bIns="0" rtlCol="0" anchor="t"/>
          <a:lstStyle/>
          <a:p>
            <a:pPr algn="ctr" indent="0" marL="0">
              <a:buNone/>
            </a:pPr>
            <a:r>
              <a:rPr lang="en-US" sz="1600" dirty="0">
                <a:solidFill>
                  <a:schemeClr val="accent4"/>
                </a:solidFill>
              </a:rPr>
              <a:t>→</a:t>
            </a:r>
            <a:endParaRPr lang="en-US" sz="1600" dirty="0"/>
          </a:p>
        </p:txBody>
      </p:sp>
      <p:sp>
        <p:nvSpPr>
          <p:cNvPr id="7" name="Shape 5"/>
          <p:cNvSpPr/>
          <p:nvPr/>
        </p:nvSpPr>
        <p:spPr>
          <a:xfrm>
            <a:off x="548640" y="2331720"/>
            <a:ext cx="1737360" cy="2057400"/>
          </a:xfrm>
          <a:prstGeom prst="roundRect">
            <a:avLst>
              <a:gd name="adj" fmla="val 4211"/>
            </a:avLst>
          </a:prstGeom>
          <a:solidFill>
            <a:schemeClr val="bg2"/>
          </a:solidFill>
          <a:ln w="9525">
            <a:solidFill>
              <a:srgbClr val="D5DCEA"/>
            </a:solidFill>
            <a:prstDash val="solid"/>
          </a:ln>
        </p:spPr>
      </p:sp>
      <p:sp>
        <p:nvSpPr>
          <p:cNvPr id="8" name="Text 6"/>
          <p:cNvSpPr txBox="1"/>
          <p:nvPr/>
        </p:nvSpPr>
        <p:spPr>
          <a:xfrm>
            <a:off x="658368" y="2423160"/>
            <a:ext cx="1517904" cy="1874520"/>
          </a:xfrm>
          <a:prstGeom prst="rect">
            <a:avLst/>
          </a:prstGeom>
          <a:noFill/>
          <a:ln/>
        </p:spPr>
        <p:txBody>
          <a:bodyPr wrap="square" lIns="0" tIns="0" rIns="0" bIns="0" rtlCol="0" anchor="t"/>
          <a:lstStyle/>
          <a:p>
            <a:pPr indent="0" marL="0">
              <a:buNone/>
            </a:pPr>
            <a:r>
              <a:rPr lang="en-US" sz="1300" i="1" dirty="0">
                <a:solidFill>
                  <a:schemeClr val="tx1"/>
                </a:solidFill>
              </a:rPr>
              <a:t>"His brothers, James and Joseph and Simon and Judas"</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3"/>
                </a:solidFill>
              </a:rPr>
              <a:t>Matt 13:55</a:t>
            </a:r>
            <a:endParaRPr lang="en-US" sz="1300" dirty="0"/>
          </a:p>
        </p:txBody>
      </p:sp>
      <p:sp>
        <p:nvSpPr>
          <p:cNvPr id="9" name="Shape 7"/>
          <p:cNvSpPr/>
          <p:nvPr/>
        </p:nvSpPr>
        <p:spPr>
          <a:xfrm>
            <a:off x="2423160" y="1508760"/>
            <a:ext cx="1737360" cy="685800"/>
          </a:xfrm>
          <a:prstGeom prst="roundRect">
            <a:avLst>
              <a:gd name="adj" fmla="val 10667"/>
            </a:avLst>
          </a:prstGeom>
          <a:solidFill>
            <a:schemeClr val="accent4"/>
          </a:solidFill>
          <a:ln w="9525">
            <a:solidFill>
              <a:schemeClr val="accent4"/>
            </a:solidFill>
            <a:prstDash val="solid"/>
          </a:ln>
        </p:spPr>
      </p:sp>
      <p:sp>
        <p:nvSpPr>
          <p:cNvPr id="10" name="Text 8"/>
          <p:cNvSpPr txBox="1"/>
          <p:nvPr/>
        </p:nvSpPr>
        <p:spPr>
          <a:xfrm>
            <a:off x="2496312" y="1508760"/>
            <a:ext cx="1591056" cy="685800"/>
          </a:xfrm>
          <a:prstGeom prst="rect">
            <a:avLst/>
          </a:prstGeom>
          <a:noFill/>
          <a:ln/>
        </p:spPr>
        <p:txBody>
          <a:bodyPr wrap="square" lIns="0" tIns="0" rIns="0" bIns="0" rtlCol="0" anchor="ctr"/>
          <a:lstStyle/>
          <a:p>
            <a:pPr algn="ctr" indent="0" marL="0">
              <a:buNone/>
            </a:pPr>
            <a:r>
              <a:rPr lang="en-US" sz="1400" b="1" dirty="0">
                <a:solidFill>
                  <a:schemeClr val="bg1"/>
                </a:solidFill>
              </a:rPr>
              <a:t>Did not believe</a:t>
            </a:r>
            <a:endParaRPr lang="en-US" sz="1400" dirty="0"/>
          </a:p>
        </p:txBody>
      </p:sp>
      <p:sp>
        <p:nvSpPr>
          <p:cNvPr id="11" name="Text 9"/>
          <p:cNvSpPr txBox="1"/>
          <p:nvPr/>
        </p:nvSpPr>
        <p:spPr>
          <a:xfrm>
            <a:off x="4142232" y="1600200"/>
            <a:ext cx="182880" cy="457200"/>
          </a:xfrm>
          <a:prstGeom prst="rect">
            <a:avLst/>
          </a:prstGeom>
          <a:noFill/>
          <a:ln/>
        </p:spPr>
        <p:txBody>
          <a:bodyPr wrap="square" lIns="0" tIns="0" rIns="0" bIns="0" rtlCol="0" anchor="t"/>
          <a:lstStyle/>
          <a:p>
            <a:pPr algn="ctr" indent="0" marL="0">
              <a:buNone/>
            </a:pPr>
            <a:r>
              <a:rPr lang="en-US" sz="1600" dirty="0">
                <a:solidFill>
                  <a:schemeClr val="accent4"/>
                </a:solidFill>
              </a:rPr>
              <a:t>→</a:t>
            </a:r>
            <a:endParaRPr lang="en-US" sz="1600" dirty="0"/>
          </a:p>
        </p:txBody>
      </p:sp>
      <p:sp>
        <p:nvSpPr>
          <p:cNvPr id="12" name="Shape 10"/>
          <p:cNvSpPr/>
          <p:nvPr/>
        </p:nvSpPr>
        <p:spPr>
          <a:xfrm>
            <a:off x="2423160" y="2331720"/>
            <a:ext cx="1737360" cy="2057400"/>
          </a:xfrm>
          <a:prstGeom prst="roundRect">
            <a:avLst>
              <a:gd name="adj" fmla="val 4211"/>
            </a:avLst>
          </a:prstGeom>
          <a:solidFill>
            <a:schemeClr val="bg2"/>
          </a:solidFill>
          <a:ln w="9525">
            <a:solidFill>
              <a:srgbClr val="D5DCEA"/>
            </a:solidFill>
            <a:prstDash val="solid"/>
          </a:ln>
        </p:spPr>
      </p:sp>
      <p:sp>
        <p:nvSpPr>
          <p:cNvPr id="13" name="Text 11"/>
          <p:cNvSpPr txBox="1"/>
          <p:nvPr/>
        </p:nvSpPr>
        <p:spPr>
          <a:xfrm>
            <a:off x="2532888" y="2423160"/>
            <a:ext cx="1517904" cy="1874520"/>
          </a:xfrm>
          <a:prstGeom prst="rect">
            <a:avLst/>
          </a:prstGeom>
          <a:noFill/>
          <a:ln/>
        </p:spPr>
        <p:txBody>
          <a:bodyPr wrap="square" lIns="0" tIns="0" rIns="0" bIns="0" rtlCol="0" anchor="t"/>
          <a:lstStyle/>
          <a:p>
            <a:pPr indent="0" marL="0">
              <a:buNone/>
            </a:pPr>
            <a:r>
              <a:rPr lang="en-US" sz="1300" i="1" dirty="0">
                <a:solidFill>
                  <a:schemeClr val="tx1"/>
                </a:solidFill>
              </a:rPr>
              <a:t>"Not even His brothers were believing in Him"</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3"/>
                </a:solidFill>
              </a:rPr>
              <a:t>John 7:5; Mark 3:21</a:t>
            </a:r>
            <a:endParaRPr lang="en-US" sz="1300" dirty="0"/>
          </a:p>
        </p:txBody>
      </p:sp>
      <p:sp>
        <p:nvSpPr>
          <p:cNvPr id="14" name="Shape 12"/>
          <p:cNvSpPr/>
          <p:nvPr/>
        </p:nvSpPr>
        <p:spPr>
          <a:xfrm>
            <a:off x="4297680" y="1508760"/>
            <a:ext cx="1737360" cy="685800"/>
          </a:xfrm>
          <a:prstGeom prst="roundRect">
            <a:avLst>
              <a:gd name="adj" fmla="val 10667"/>
            </a:avLst>
          </a:prstGeom>
          <a:solidFill>
            <a:schemeClr val="accent5"/>
          </a:solidFill>
          <a:ln w="9525">
            <a:solidFill>
              <a:schemeClr val="accent5"/>
            </a:solidFill>
            <a:prstDash val="solid"/>
          </a:ln>
        </p:spPr>
      </p:sp>
      <p:sp>
        <p:nvSpPr>
          <p:cNvPr id="15" name="Text 13"/>
          <p:cNvSpPr txBox="1"/>
          <p:nvPr/>
        </p:nvSpPr>
        <p:spPr>
          <a:xfrm>
            <a:off x="4370832" y="1508760"/>
            <a:ext cx="1591056" cy="685800"/>
          </a:xfrm>
          <a:prstGeom prst="rect">
            <a:avLst/>
          </a:prstGeom>
          <a:noFill/>
          <a:ln/>
        </p:spPr>
        <p:txBody>
          <a:bodyPr wrap="square" lIns="0" tIns="0" rIns="0" bIns="0" rtlCol="0" anchor="ctr"/>
          <a:lstStyle/>
          <a:p>
            <a:pPr algn="ctr" indent="0" marL="0">
              <a:buNone/>
            </a:pPr>
            <a:r>
              <a:rPr lang="en-US" sz="1400" b="1" dirty="0">
                <a:solidFill>
                  <a:schemeClr val="bg1"/>
                </a:solidFill>
              </a:rPr>
              <a:t>Met the risen Lord</a:t>
            </a:r>
            <a:endParaRPr lang="en-US" sz="1400" dirty="0"/>
          </a:p>
        </p:txBody>
      </p:sp>
      <p:sp>
        <p:nvSpPr>
          <p:cNvPr id="16" name="Text 14"/>
          <p:cNvSpPr txBox="1"/>
          <p:nvPr/>
        </p:nvSpPr>
        <p:spPr>
          <a:xfrm>
            <a:off x="6016752" y="1600200"/>
            <a:ext cx="182880" cy="457200"/>
          </a:xfrm>
          <a:prstGeom prst="rect">
            <a:avLst/>
          </a:prstGeom>
          <a:noFill/>
          <a:ln/>
        </p:spPr>
        <p:txBody>
          <a:bodyPr wrap="square" lIns="0" tIns="0" rIns="0" bIns="0" rtlCol="0" anchor="t"/>
          <a:lstStyle/>
          <a:p>
            <a:pPr algn="ctr" indent="0" marL="0">
              <a:buNone/>
            </a:pPr>
            <a:r>
              <a:rPr lang="en-US" sz="1600" dirty="0">
                <a:solidFill>
                  <a:schemeClr val="accent4"/>
                </a:solidFill>
              </a:rPr>
              <a:t>→</a:t>
            </a:r>
            <a:endParaRPr lang="en-US" sz="1600" dirty="0"/>
          </a:p>
        </p:txBody>
      </p:sp>
      <p:sp>
        <p:nvSpPr>
          <p:cNvPr id="17" name="Shape 15"/>
          <p:cNvSpPr/>
          <p:nvPr/>
        </p:nvSpPr>
        <p:spPr>
          <a:xfrm>
            <a:off x="4297680" y="2331720"/>
            <a:ext cx="1737360" cy="2057400"/>
          </a:xfrm>
          <a:prstGeom prst="roundRect">
            <a:avLst>
              <a:gd name="adj" fmla="val 4211"/>
            </a:avLst>
          </a:prstGeom>
          <a:solidFill>
            <a:schemeClr val="bg2"/>
          </a:solidFill>
          <a:ln w="9525">
            <a:solidFill>
              <a:srgbClr val="D5DCEA"/>
            </a:solidFill>
            <a:prstDash val="solid"/>
          </a:ln>
        </p:spPr>
      </p:sp>
      <p:sp>
        <p:nvSpPr>
          <p:cNvPr id="18" name="Text 16"/>
          <p:cNvSpPr txBox="1"/>
          <p:nvPr/>
        </p:nvSpPr>
        <p:spPr>
          <a:xfrm>
            <a:off x="4407408" y="2423160"/>
            <a:ext cx="1517904" cy="1874520"/>
          </a:xfrm>
          <a:prstGeom prst="rect">
            <a:avLst/>
          </a:prstGeom>
          <a:noFill/>
          <a:ln/>
        </p:spPr>
        <p:txBody>
          <a:bodyPr wrap="square" lIns="0" tIns="0" rIns="0" bIns="0" rtlCol="0" anchor="t"/>
          <a:lstStyle/>
          <a:p>
            <a:pPr indent="0" marL="0">
              <a:buNone/>
            </a:pPr>
            <a:r>
              <a:rPr lang="en-US" sz="1300" i="1" dirty="0">
                <a:solidFill>
                  <a:schemeClr val="tx1"/>
                </a:solidFill>
              </a:rPr>
              <a:t>The risen Christ "appeared to James"</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3"/>
                </a:solidFill>
              </a:rPr>
              <a:t>1 Cor 15:7</a:t>
            </a:r>
            <a:endParaRPr lang="en-US" sz="1300" dirty="0"/>
          </a:p>
        </p:txBody>
      </p:sp>
      <p:sp>
        <p:nvSpPr>
          <p:cNvPr id="19" name="Shape 17"/>
          <p:cNvSpPr/>
          <p:nvPr/>
        </p:nvSpPr>
        <p:spPr>
          <a:xfrm>
            <a:off x="6172200" y="1508760"/>
            <a:ext cx="1737360" cy="685800"/>
          </a:xfrm>
          <a:prstGeom prst="roundRect">
            <a:avLst>
              <a:gd name="adj" fmla="val 10667"/>
            </a:avLst>
          </a:prstGeom>
          <a:solidFill>
            <a:schemeClr val="accent1"/>
          </a:solidFill>
          <a:ln w="9525">
            <a:solidFill>
              <a:schemeClr val="accent1"/>
            </a:solidFill>
            <a:prstDash val="solid"/>
          </a:ln>
        </p:spPr>
      </p:sp>
      <p:sp>
        <p:nvSpPr>
          <p:cNvPr id="20" name="Text 18"/>
          <p:cNvSpPr txBox="1"/>
          <p:nvPr/>
        </p:nvSpPr>
        <p:spPr>
          <a:xfrm>
            <a:off x="6245352" y="1508760"/>
            <a:ext cx="1591056" cy="685800"/>
          </a:xfrm>
          <a:prstGeom prst="rect">
            <a:avLst/>
          </a:prstGeom>
          <a:noFill/>
          <a:ln/>
        </p:spPr>
        <p:txBody>
          <a:bodyPr wrap="square" lIns="0" tIns="0" rIns="0" bIns="0" rtlCol="0" anchor="ctr"/>
          <a:lstStyle/>
          <a:p>
            <a:pPr algn="ctr" indent="0" marL="0">
              <a:buNone/>
            </a:pPr>
            <a:r>
              <a:rPr lang="en-US" sz="1400" b="1" dirty="0">
                <a:solidFill>
                  <a:schemeClr val="bg1"/>
                </a:solidFill>
              </a:rPr>
              <a:t>Among the believers</a:t>
            </a:r>
            <a:endParaRPr lang="en-US" sz="1400" dirty="0"/>
          </a:p>
        </p:txBody>
      </p:sp>
      <p:sp>
        <p:nvSpPr>
          <p:cNvPr id="21" name="Text 19"/>
          <p:cNvSpPr txBox="1"/>
          <p:nvPr/>
        </p:nvSpPr>
        <p:spPr>
          <a:xfrm>
            <a:off x="7891272" y="1600200"/>
            <a:ext cx="182880" cy="457200"/>
          </a:xfrm>
          <a:prstGeom prst="rect">
            <a:avLst/>
          </a:prstGeom>
          <a:noFill/>
          <a:ln/>
        </p:spPr>
        <p:txBody>
          <a:bodyPr wrap="square" lIns="0" tIns="0" rIns="0" bIns="0" rtlCol="0" anchor="t"/>
          <a:lstStyle/>
          <a:p>
            <a:pPr algn="ctr" indent="0" marL="0">
              <a:buNone/>
            </a:pPr>
            <a:r>
              <a:rPr lang="en-US" sz="1600" dirty="0">
                <a:solidFill>
                  <a:schemeClr val="accent4"/>
                </a:solidFill>
              </a:rPr>
              <a:t>→</a:t>
            </a:r>
            <a:endParaRPr lang="en-US" sz="1600" dirty="0"/>
          </a:p>
        </p:txBody>
      </p:sp>
      <p:sp>
        <p:nvSpPr>
          <p:cNvPr id="22" name="Shape 20"/>
          <p:cNvSpPr/>
          <p:nvPr/>
        </p:nvSpPr>
        <p:spPr>
          <a:xfrm>
            <a:off x="6172200" y="2331720"/>
            <a:ext cx="1737360" cy="2057400"/>
          </a:xfrm>
          <a:prstGeom prst="roundRect">
            <a:avLst>
              <a:gd name="adj" fmla="val 4211"/>
            </a:avLst>
          </a:prstGeom>
          <a:solidFill>
            <a:schemeClr val="bg2"/>
          </a:solidFill>
          <a:ln w="9525">
            <a:solidFill>
              <a:srgbClr val="D5DCEA"/>
            </a:solidFill>
            <a:prstDash val="solid"/>
          </a:ln>
        </p:spPr>
      </p:sp>
      <p:sp>
        <p:nvSpPr>
          <p:cNvPr id="23" name="Text 21"/>
          <p:cNvSpPr txBox="1"/>
          <p:nvPr/>
        </p:nvSpPr>
        <p:spPr>
          <a:xfrm>
            <a:off x="6281928" y="2423160"/>
            <a:ext cx="1517904" cy="1874520"/>
          </a:xfrm>
          <a:prstGeom prst="rect">
            <a:avLst/>
          </a:prstGeom>
          <a:noFill/>
          <a:ln/>
        </p:spPr>
        <p:txBody>
          <a:bodyPr wrap="square" lIns="0" tIns="0" rIns="0" bIns="0" rtlCol="0" anchor="t"/>
          <a:lstStyle/>
          <a:p>
            <a:pPr indent="0" marL="0">
              <a:buNone/>
            </a:pPr>
            <a:r>
              <a:rPr lang="en-US" sz="1300" i="1" dirty="0">
                <a:solidFill>
                  <a:schemeClr val="tx1"/>
                </a:solidFill>
              </a:rPr>
              <a:t>Mary and "His brothers" praying in the upper room</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3"/>
                </a:solidFill>
              </a:rPr>
              <a:t>Acts 1:14</a:t>
            </a:r>
            <a:endParaRPr lang="en-US" sz="1300" dirty="0"/>
          </a:p>
        </p:txBody>
      </p:sp>
      <p:sp>
        <p:nvSpPr>
          <p:cNvPr id="24" name="Shape 22"/>
          <p:cNvSpPr/>
          <p:nvPr/>
        </p:nvSpPr>
        <p:spPr>
          <a:xfrm>
            <a:off x="8046720" y="1508760"/>
            <a:ext cx="1737360" cy="685800"/>
          </a:xfrm>
          <a:prstGeom prst="roundRect">
            <a:avLst>
              <a:gd name="adj" fmla="val 10667"/>
            </a:avLst>
          </a:prstGeom>
          <a:solidFill>
            <a:schemeClr val="accent1"/>
          </a:solidFill>
          <a:ln w="9525">
            <a:solidFill>
              <a:schemeClr val="accent1"/>
            </a:solidFill>
            <a:prstDash val="solid"/>
          </a:ln>
        </p:spPr>
      </p:sp>
      <p:sp>
        <p:nvSpPr>
          <p:cNvPr id="25" name="Text 23"/>
          <p:cNvSpPr txBox="1"/>
          <p:nvPr/>
        </p:nvSpPr>
        <p:spPr>
          <a:xfrm>
            <a:off x="8119872" y="1508760"/>
            <a:ext cx="1591056" cy="685800"/>
          </a:xfrm>
          <a:prstGeom prst="rect">
            <a:avLst/>
          </a:prstGeom>
          <a:noFill/>
          <a:ln/>
        </p:spPr>
        <p:txBody>
          <a:bodyPr wrap="square" lIns="0" tIns="0" rIns="0" bIns="0" rtlCol="0" anchor="ctr"/>
          <a:lstStyle/>
          <a:p>
            <a:pPr algn="ctr" indent="0" marL="0">
              <a:buNone/>
            </a:pPr>
            <a:r>
              <a:rPr lang="en-US" sz="1400" b="1" dirty="0">
                <a:solidFill>
                  <a:schemeClr val="bg1"/>
                </a:solidFill>
              </a:rPr>
              <a:t>A bond-servant</a:t>
            </a:r>
            <a:endParaRPr lang="en-US" sz="1400" dirty="0"/>
          </a:p>
        </p:txBody>
      </p:sp>
      <p:sp>
        <p:nvSpPr>
          <p:cNvPr id="26" name="Text 24"/>
          <p:cNvSpPr txBox="1"/>
          <p:nvPr/>
        </p:nvSpPr>
        <p:spPr>
          <a:xfrm>
            <a:off x="9765792" y="1600200"/>
            <a:ext cx="182880" cy="457200"/>
          </a:xfrm>
          <a:prstGeom prst="rect">
            <a:avLst/>
          </a:prstGeom>
          <a:noFill/>
          <a:ln/>
        </p:spPr>
        <p:txBody>
          <a:bodyPr wrap="square" lIns="0" tIns="0" rIns="0" bIns="0" rtlCol="0" anchor="t"/>
          <a:lstStyle/>
          <a:p>
            <a:pPr algn="ctr" indent="0" marL="0">
              <a:buNone/>
            </a:pPr>
            <a:r>
              <a:rPr lang="en-US" sz="1600" dirty="0">
                <a:solidFill>
                  <a:schemeClr val="accent4"/>
                </a:solidFill>
              </a:rPr>
              <a:t>→</a:t>
            </a:r>
            <a:endParaRPr lang="en-US" sz="1600" dirty="0"/>
          </a:p>
        </p:txBody>
      </p:sp>
      <p:sp>
        <p:nvSpPr>
          <p:cNvPr id="27" name="Shape 25"/>
          <p:cNvSpPr/>
          <p:nvPr/>
        </p:nvSpPr>
        <p:spPr>
          <a:xfrm>
            <a:off x="8046720" y="2331720"/>
            <a:ext cx="1737360" cy="2057400"/>
          </a:xfrm>
          <a:prstGeom prst="roundRect">
            <a:avLst>
              <a:gd name="adj" fmla="val 4211"/>
            </a:avLst>
          </a:prstGeom>
          <a:solidFill>
            <a:schemeClr val="bg2"/>
          </a:solidFill>
          <a:ln w="9525">
            <a:solidFill>
              <a:srgbClr val="D5DCEA"/>
            </a:solidFill>
            <a:prstDash val="solid"/>
          </a:ln>
        </p:spPr>
      </p:sp>
      <p:sp>
        <p:nvSpPr>
          <p:cNvPr id="28" name="Text 26"/>
          <p:cNvSpPr txBox="1"/>
          <p:nvPr/>
        </p:nvSpPr>
        <p:spPr>
          <a:xfrm>
            <a:off x="8156448" y="2423160"/>
            <a:ext cx="1517904" cy="1874520"/>
          </a:xfrm>
          <a:prstGeom prst="rect">
            <a:avLst/>
          </a:prstGeom>
          <a:noFill/>
          <a:ln/>
        </p:spPr>
        <p:txBody>
          <a:bodyPr wrap="square" lIns="0" tIns="0" rIns="0" bIns="0" rtlCol="0" anchor="t"/>
          <a:lstStyle/>
          <a:p>
            <a:pPr indent="0" marL="0">
              <a:buNone/>
            </a:pPr>
            <a:r>
              <a:rPr lang="en-US" sz="1300" i="1" dirty="0">
                <a:solidFill>
                  <a:schemeClr val="tx1"/>
                </a:solidFill>
              </a:rPr>
              <a:t>"Jude, a bond-servant of Jesus Christ" — doulos</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3"/>
                </a:solidFill>
              </a:rPr>
              <a:t>Jude 1</a:t>
            </a:r>
            <a:endParaRPr lang="en-US" sz="1300" dirty="0"/>
          </a:p>
        </p:txBody>
      </p:sp>
      <p:sp>
        <p:nvSpPr>
          <p:cNvPr id="29" name="Shape 27"/>
          <p:cNvSpPr/>
          <p:nvPr/>
        </p:nvSpPr>
        <p:spPr>
          <a:xfrm>
            <a:off x="9921240" y="1508760"/>
            <a:ext cx="1737360" cy="685800"/>
          </a:xfrm>
          <a:prstGeom prst="roundRect">
            <a:avLst>
              <a:gd name="adj" fmla="val 10667"/>
            </a:avLst>
          </a:prstGeom>
          <a:solidFill>
            <a:schemeClr val="accent1"/>
          </a:solidFill>
          <a:ln w="9525">
            <a:solidFill>
              <a:schemeClr val="accent1"/>
            </a:solidFill>
            <a:prstDash val="solid"/>
          </a:ln>
        </p:spPr>
      </p:sp>
      <p:sp>
        <p:nvSpPr>
          <p:cNvPr id="30" name="Text 28"/>
          <p:cNvSpPr txBox="1"/>
          <p:nvPr/>
        </p:nvSpPr>
        <p:spPr>
          <a:xfrm>
            <a:off x="9994392" y="1508760"/>
            <a:ext cx="1591056" cy="685800"/>
          </a:xfrm>
          <a:prstGeom prst="rect">
            <a:avLst/>
          </a:prstGeom>
          <a:noFill/>
          <a:ln/>
        </p:spPr>
        <p:txBody>
          <a:bodyPr wrap="square" lIns="0" tIns="0" rIns="0" bIns="0" rtlCol="0" anchor="ctr"/>
          <a:lstStyle/>
          <a:p>
            <a:pPr algn="ctr" indent="0" marL="0">
              <a:buNone/>
            </a:pPr>
            <a:r>
              <a:rPr lang="en-US" sz="1400" b="1" dirty="0">
                <a:solidFill>
                  <a:schemeClr val="bg1"/>
                </a:solidFill>
              </a:rPr>
              <a:t>Mercy for doubters</a:t>
            </a:r>
            <a:endParaRPr lang="en-US" sz="1400" dirty="0"/>
          </a:p>
        </p:txBody>
      </p:sp>
      <p:sp>
        <p:nvSpPr>
          <p:cNvPr id="31" name="Shape 29"/>
          <p:cNvSpPr/>
          <p:nvPr/>
        </p:nvSpPr>
        <p:spPr>
          <a:xfrm>
            <a:off x="9921240" y="2331720"/>
            <a:ext cx="1737360" cy="2057400"/>
          </a:xfrm>
          <a:prstGeom prst="roundRect">
            <a:avLst>
              <a:gd name="adj" fmla="val 4211"/>
            </a:avLst>
          </a:prstGeom>
          <a:solidFill>
            <a:schemeClr val="bg2"/>
          </a:solidFill>
          <a:ln w="9525">
            <a:solidFill>
              <a:srgbClr val="D5DCEA"/>
            </a:solidFill>
            <a:prstDash val="solid"/>
          </a:ln>
        </p:spPr>
      </p:sp>
      <p:sp>
        <p:nvSpPr>
          <p:cNvPr id="32" name="Text 30"/>
          <p:cNvSpPr txBox="1"/>
          <p:nvPr/>
        </p:nvSpPr>
        <p:spPr>
          <a:xfrm>
            <a:off x="10030968" y="2423160"/>
            <a:ext cx="1517904" cy="1874520"/>
          </a:xfrm>
          <a:prstGeom prst="rect">
            <a:avLst/>
          </a:prstGeom>
          <a:noFill/>
          <a:ln/>
        </p:spPr>
        <p:txBody>
          <a:bodyPr wrap="square" lIns="0" tIns="0" rIns="0" bIns="0" rtlCol="0" anchor="t"/>
          <a:lstStyle/>
          <a:p>
            <a:pPr indent="0" marL="0">
              <a:buNone/>
            </a:pPr>
            <a:r>
              <a:rPr lang="en-US" sz="1300" i="1" dirty="0">
                <a:solidFill>
                  <a:schemeClr val="tx1"/>
                </a:solidFill>
              </a:rPr>
              <a:t>"Have mercy on some, who are doubting"</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accent3"/>
                </a:solidFill>
              </a:rPr>
              <a:t>Jude 22</a:t>
            </a:r>
            <a:endParaRPr lang="en-US" sz="1300" dirty="0"/>
          </a:p>
        </p:txBody>
      </p:sp>
      <p:sp>
        <p:nvSpPr>
          <p:cNvPr id="33" name="Shape 31"/>
          <p:cNvSpPr/>
          <p:nvPr/>
        </p:nvSpPr>
        <p:spPr>
          <a:xfrm>
            <a:off x="548640" y="4663440"/>
            <a:ext cx="11064240" cy="868680"/>
          </a:xfrm>
          <a:prstGeom prst="roundRect">
            <a:avLst>
              <a:gd name="adj" fmla="val 8421"/>
            </a:avLst>
          </a:prstGeom>
          <a:solidFill>
            <a:schemeClr val="tx2"/>
          </a:solidFill>
          <a:ln w="9525">
            <a:solidFill>
              <a:schemeClr val="tx2"/>
            </a:solidFill>
            <a:prstDash val="solid"/>
          </a:ln>
        </p:spPr>
      </p:sp>
      <p:sp>
        <p:nvSpPr>
          <p:cNvPr id="34" name="Text 32"/>
          <p:cNvSpPr txBox="1"/>
          <p:nvPr/>
        </p:nvSpPr>
        <p:spPr>
          <a:xfrm>
            <a:off x="777240" y="4663440"/>
            <a:ext cx="10607040" cy="868680"/>
          </a:xfrm>
          <a:prstGeom prst="rect">
            <a:avLst/>
          </a:prstGeom>
          <a:noFill/>
          <a:ln/>
        </p:spPr>
        <p:txBody>
          <a:bodyPr wrap="square" lIns="0" tIns="0" rIns="0" bIns="0" rtlCol="0" anchor="ctr"/>
          <a:lstStyle/>
          <a:p>
            <a:pPr indent="0" marL="0">
              <a:buNone/>
            </a:pPr>
            <a:r>
              <a:rPr lang="en-US" sz="1500" dirty="0">
                <a:solidFill>
                  <a:schemeClr val="bg1"/>
                </a:solidFill>
              </a:rPr>
              <a:t>He could have written "brother of the Lord." He wrote "bond-servant of Jesus Christ" — and later calls Jesus "our only Master" (despotēs, v.4). He bows before he speaks.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Called · beloved · kept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Three things God has done (v.1b)</a:t>
            </a:r>
            <a:endParaRPr lang="en-US" sz="1400" dirty="0"/>
          </a:p>
        </p:txBody>
      </p:sp>
      <p:sp>
        <p:nvSpPr>
          <p:cNvPr id="4" name="Shape 2"/>
          <p:cNvSpPr/>
          <p:nvPr/>
        </p:nvSpPr>
        <p:spPr>
          <a:xfrm>
            <a:off x="548640" y="1417320"/>
            <a:ext cx="3566160" cy="1143000"/>
          </a:xfrm>
          <a:prstGeom prst="rect">
            <a:avLst/>
          </a:prstGeom>
          <a:solidFill>
            <a:schemeClr val="accent1"/>
          </a:solidFill>
          <a:ln w="9525">
            <a:solidFill>
              <a:schemeClr val="accent1"/>
            </a:solidFill>
            <a:prstDash val="solid"/>
          </a:ln>
        </p:spPr>
      </p:sp>
      <p:sp>
        <p:nvSpPr>
          <p:cNvPr id="5" name="Text 3"/>
          <p:cNvSpPr txBox="1"/>
          <p:nvPr/>
        </p:nvSpPr>
        <p:spPr>
          <a:xfrm>
            <a:off x="713232" y="1417320"/>
            <a:ext cx="3291840" cy="1143000"/>
          </a:xfrm>
          <a:prstGeom prst="rect">
            <a:avLst/>
          </a:prstGeom>
          <a:noFill/>
          <a:ln/>
        </p:spPr>
        <p:txBody>
          <a:bodyPr wrap="square" lIns="0" tIns="0" rIns="0" bIns="0" rtlCol="0" anchor="ctr"/>
          <a:lstStyle/>
          <a:p>
            <a:pPr indent="0" marL="0">
              <a:buNone/>
            </a:pPr>
            <a:r>
              <a:rPr lang="en-US" sz="1700" b="1" dirty="0">
                <a:solidFill>
                  <a:schemeClr val="bg1"/>
                </a:solidFill>
              </a:rPr>
              <a:t>Called</a:t>
            </a:r>
            <a:endParaRPr lang="en-US" sz="1400" dirty="0"/>
          </a:p>
          <a:p>
            <a:pPr indent="0" marL="0">
              <a:buNone/>
            </a:pPr>
            <a:r>
              <a:rPr lang="en-US" sz="1500" dirty="0">
                <a:solidFill>
                  <a:schemeClr val="bg1"/>
                </a:solidFill>
              </a:rPr>
              <a:t>κλητοῖς  </a:t>
            </a:r>
            <a:pPr indent="0" marL="0">
              <a:buNone/>
            </a:pPr>
            <a:r>
              <a:rPr lang="en-US" sz="1100" dirty="0">
                <a:solidFill>
                  <a:schemeClr val="bg1"/>
                </a:solidFill>
              </a:rPr>
              <a:t>klētos · adj. (substantival)</a:t>
            </a:r>
            <a:endParaRPr lang="en-US" sz="1400" dirty="0"/>
          </a:p>
        </p:txBody>
      </p:sp>
      <p:sp>
        <p:nvSpPr>
          <p:cNvPr id="6" name="Shape 4"/>
          <p:cNvSpPr/>
          <p:nvPr/>
        </p:nvSpPr>
        <p:spPr>
          <a:xfrm>
            <a:off x="548640" y="2560320"/>
            <a:ext cx="3566160" cy="1828800"/>
          </a:xfrm>
          <a:prstGeom prst="rect">
            <a:avLst/>
          </a:prstGeom>
          <a:solidFill>
            <a:schemeClr val="bg2"/>
          </a:solidFill>
          <a:ln w="9525">
            <a:solidFill>
              <a:srgbClr val="D5DCEA"/>
            </a:solidFill>
            <a:prstDash val="solid"/>
          </a:ln>
        </p:spPr>
      </p:sp>
      <p:sp>
        <p:nvSpPr>
          <p:cNvPr id="7" name="Text 5"/>
          <p:cNvSpPr txBox="1"/>
          <p:nvPr/>
        </p:nvSpPr>
        <p:spPr>
          <a:xfrm>
            <a:off x="713232" y="2697480"/>
            <a:ext cx="32918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Placed last for emphasis — but first in experience</a:t>
            </a:r>
            <a:endParaRPr lang="en-US" sz="1400" dirty="0"/>
          </a:p>
          <a:p>
            <a:pPr marL="342900" indent="-342900">
              <a:spcAft>
                <a:spcPts val="600"/>
              </a:spcAft>
              <a:buSzPct val="100000"/>
              <a:buChar char="•"/>
            </a:pPr>
            <a:r>
              <a:rPr lang="en-US" sz="1400" dirty="0">
                <a:solidFill>
                  <a:schemeClr val="tx1"/>
                </a:solidFill>
              </a:rPr>
              <a:t>God took the initiative; His call, answered by faith, is a settled fact (Rom 1:6–7)</a:t>
            </a:r>
            <a:endParaRPr lang="en-US" sz="1400" dirty="0"/>
          </a:p>
        </p:txBody>
      </p:sp>
      <p:sp>
        <p:nvSpPr>
          <p:cNvPr id="8" name="Shape 6"/>
          <p:cNvSpPr/>
          <p:nvPr/>
        </p:nvSpPr>
        <p:spPr>
          <a:xfrm>
            <a:off x="4297680" y="1417320"/>
            <a:ext cx="3566160" cy="1143000"/>
          </a:xfrm>
          <a:prstGeom prst="rect">
            <a:avLst/>
          </a:prstGeom>
          <a:solidFill>
            <a:schemeClr val="accent1"/>
          </a:solidFill>
          <a:ln w="9525">
            <a:solidFill>
              <a:schemeClr val="accent1"/>
            </a:solidFill>
            <a:prstDash val="solid"/>
          </a:ln>
        </p:spPr>
      </p:sp>
      <p:sp>
        <p:nvSpPr>
          <p:cNvPr id="9" name="Text 7"/>
          <p:cNvSpPr txBox="1"/>
          <p:nvPr/>
        </p:nvSpPr>
        <p:spPr>
          <a:xfrm>
            <a:off x="4462272" y="1417320"/>
            <a:ext cx="3291840" cy="1143000"/>
          </a:xfrm>
          <a:prstGeom prst="rect">
            <a:avLst/>
          </a:prstGeom>
          <a:noFill/>
          <a:ln/>
        </p:spPr>
        <p:txBody>
          <a:bodyPr wrap="square" lIns="0" tIns="0" rIns="0" bIns="0" rtlCol="0" anchor="ctr"/>
          <a:lstStyle/>
          <a:p>
            <a:pPr indent="0" marL="0">
              <a:buNone/>
            </a:pPr>
            <a:r>
              <a:rPr lang="en-US" sz="1700" b="1" dirty="0">
                <a:solidFill>
                  <a:schemeClr val="bg1"/>
                </a:solidFill>
              </a:rPr>
              <a:t>Beloved in God the Father</a:t>
            </a:r>
            <a:endParaRPr lang="en-US" sz="1400" dirty="0"/>
          </a:p>
          <a:p>
            <a:pPr indent="0" marL="0">
              <a:buNone/>
            </a:pPr>
            <a:r>
              <a:rPr lang="en-US" sz="1500" dirty="0">
                <a:solidFill>
                  <a:schemeClr val="bg1"/>
                </a:solidFill>
              </a:rPr>
              <a:t>ἠγαπημένοις  </a:t>
            </a:r>
            <a:pPr indent="0" marL="0">
              <a:buNone/>
            </a:pPr>
            <a:r>
              <a:rPr lang="en-US" sz="1100" dirty="0">
                <a:solidFill>
                  <a:schemeClr val="bg1"/>
                </a:solidFill>
              </a:rPr>
              <a:t>agapaō · perf. pass. ptc.</a:t>
            </a:r>
            <a:endParaRPr lang="en-US" sz="1400" dirty="0"/>
          </a:p>
        </p:txBody>
      </p:sp>
      <p:sp>
        <p:nvSpPr>
          <p:cNvPr id="10" name="Shape 8"/>
          <p:cNvSpPr/>
          <p:nvPr/>
        </p:nvSpPr>
        <p:spPr>
          <a:xfrm>
            <a:off x="4297680" y="2560320"/>
            <a:ext cx="3566160" cy="1828800"/>
          </a:xfrm>
          <a:prstGeom prst="rect">
            <a:avLst/>
          </a:prstGeom>
          <a:solidFill>
            <a:schemeClr val="bg2"/>
          </a:solidFill>
          <a:ln w="9525">
            <a:solidFill>
              <a:srgbClr val="D5DCEA"/>
            </a:solidFill>
            <a:prstDash val="solid"/>
          </a:ln>
        </p:spPr>
      </p:sp>
      <p:sp>
        <p:nvSpPr>
          <p:cNvPr id="11" name="Text 9"/>
          <p:cNvSpPr txBox="1"/>
          <p:nvPr/>
        </p:nvSpPr>
        <p:spPr>
          <a:xfrm>
            <a:off x="4462272" y="2697480"/>
            <a:ext cx="32918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Loved in the past and still loved — not a love on probation</a:t>
            </a:r>
            <a:endParaRPr lang="en-US" sz="1400" dirty="0"/>
          </a:p>
          <a:p>
            <a:pPr marL="342900" indent="-342900">
              <a:spcAft>
                <a:spcPts val="600"/>
              </a:spcAft>
              <a:buSzPct val="100000"/>
              <a:buChar char="•"/>
            </a:pPr>
            <a:r>
              <a:rPr lang="en-US" sz="1400" dirty="0">
                <a:solidFill>
                  <a:schemeClr val="tx1"/>
                </a:solidFill>
              </a:rPr>
              <a:t>They live inside it; v.21 tells them to stay there</a:t>
            </a:r>
            <a:endParaRPr lang="en-US" sz="1400" dirty="0"/>
          </a:p>
          <a:p>
            <a:pPr marL="342900" indent="-342900">
              <a:spcAft>
                <a:spcPts val="600"/>
              </a:spcAft>
              <a:buSzPct val="100000"/>
              <a:buChar char="•"/>
            </a:pPr>
            <a:r>
              <a:rPr lang="en-US" sz="1400" dirty="0">
                <a:solidFill>
                  <a:schemeClr val="tx1"/>
                </a:solidFill>
              </a:rPr>
              <a:t>Majority Text: "sanctified" — also perf. pass., same force</a:t>
            </a:r>
            <a:endParaRPr lang="en-US" sz="1400" dirty="0"/>
          </a:p>
        </p:txBody>
      </p:sp>
      <p:sp>
        <p:nvSpPr>
          <p:cNvPr id="12" name="Shape 10"/>
          <p:cNvSpPr/>
          <p:nvPr/>
        </p:nvSpPr>
        <p:spPr>
          <a:xfrm>
            <a:off x="8046720" y="1417320"/>
            <a:ext cx="3566160" cy="1143000"/>
          </a:xfrm>
          <a:prstGeom prst="rect">
            <a:avLst/>
          </a:prstGeom>
          <a:solidFill>
            <a:schemeClr val="accent1"/>
          </a:solidFill>
          <a:ln w="9525">
            <a:solidFill>
              <a:schemeClr val="accent1"/>
            </a:solidFill>
            <a:prstDash val="solid"/>
          </a:ln>
        </p:spPr>
      </p:sp>
      <p:sp>
        <p:nvSpPr>
          <p:cNvPr id="13" name="Text 11"/>
          <p:cNvSpPr txBox="1"/>
          <p:nvPr/>
        </p:nvSpPr>
        <p:spPr>
          <a:xfrm>
            <a:off x="8211312" y="1417320"/>
            <a:ext cx="3291840" cy="1143000"/>
          </a:xfrm>
          <a:prstGeom prst="rect">
            <a:avLst/>
          </a:prstGeom>
          <a:noFill/>
          <a:ln/>
        </p:spPr>
        <p:txBody>
          <a:bodyPr wrap="square" lIns="0" tIns="0" rIns="0" bIns="0" rtlCol="0" anchor="ctr"/>
          <a:lstStyle/>
          <a:p>
            <a:pPr indent="0" marL="0">
              <a:buNone/>
            </a:pPr>
            <a:r>
              <a:rPr lang="en-US" sz="1700" b="1" dirty="0">
                <a:solidFill>
                  <a:schemeClr val="bg1"/>
                </a:solidFill>
              </a:rPr>
              <a:t>Kept for Jesus Christ</a:t>
            </a:r>
            <a:endParaRPr lang="en-US" sz="1400" dirty="0"/>
          </a:p>
          <a:p>
            <a:pPr indent="0" marL="0">
              <a:buNone/>
            </a:pPr>
            <a:r>
              <a:rPr lang="en-US" sz="1500" dirty="0">
                <a:solidFill>
                  <a:schemeClr val="bg1"/>
                </a:solidFill>
              </a:rPr>
              <a:t>τετηρημένοις  </a:t>
            </a:r>
            <a:pPr indent="0" marL="0">
              <a:buNone/>
            </a:pPr>
            <a:r>
              <a:rPr lang="en-US" sz="1100" dirty="0">
                <a:solidFill>
                  <a:schemeClr val="bg1"/>
                </a:solidFill>
              </a:rPr>
              <a:t>tēreō · perf. pass. ptc.</a:t>
            </a:r>
            <a:endParaRPr lang="en-US" sz="1400" dirty="0"/>
          </a:p>
        </p:txBody>
      </p:sp>
      <p:sp>
        <p:nvSpPr>
          <p:cNvPr id="14" name="Shape 12"/>
          <p:cNvSpPr/>
          <p:nvPr/>
        </p:nvSpPr>
        <p:spPr>
          <a:xfrm>
            <a:off x="8046720" y="2560320"/>
            <a:ext cx="3566160" cy="1828800"/>
          </a:xfrm>
          <a:prstGeom prst="rect">
            <a:avLst/>
          </a:prstGeom>
          <a:solidFill>
            <a:schemeClr val="bg2"/>
          </a:solidFill>
          <a:ln w="9525">
            <a:solidFill>
              <a:srgbClr val="D5DCEA"/>
            </a:solidFill>
            <a:prstDash val="solid"/>
          </a:ln>
        </p:spPr>
      </p:sp>
      <p:sp>
        <p:nvSpPr>
          <p:cNvPr id="15" name="Text 13"/>
          <p:cNvSpPr txBox="1"/>
          <p:nvPr/>
        </p:nvSpPr>
        <p:spPr>
          <a:xfrm>
            <a:off x="8211312" y="2697480"/>
            <a:ext cx="32918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Kept, and remaining kept — God is the keeper</a:t>
            </a:r>
            <a:endParaRPr lang="en-US" sz="1400" dirty="0"/>
          </a:p>
          <a:p>
            <a:pPr marL="342900" indent="-342900">
              <a:spcAft>
                <a:spcPts val="600"/>
              </a:spcAft>
              <a:buSzPct val="100000"/>
              <a:buChar char="•"/>
            </a:pPr>
            <a:r>
              <a:rPr lang="en-US" sz="1400" dirty="0">
                <a:solidFill>
                  <a:schemeClr val="tx1"/>
                </a:solidFill>
              </a:rPr>
              <a:t>The letter's frame word (vv.1, 6, 13, 21; cf. v.24)</a:t>
            </a:r>
            <a:endParaRPr lang="en-US" sz="1400" dirty="0"/>
          </a:p>
        </p:txBody>
      </p:sp>
      <p:sp>
        <p:nvSpPr>
          <p:cNvPr id="16" name="Shape 14"/>
          <p:cNvSpPr/>
          <p:nvPr/>
        </p:nvSpPr>
        <p:spPr>
          <a:xfrm>
            <a:off x="548640" y="4617720"/>
            <a:ext cx="11064240" cy="731520"/>
          </a:xfrm>
          <a:prstGeom prst="roundRect">
            <a:avLst>
              <a:gd name="adj" fmla="val 10000"/>
            </a:avLst>
          </a:prstGeom>
          <a:solidFill>
            <a:schemeClr val="tx2"/>
          </a:solidFill>
          <a:ln w="9525">
            <a:solidFill>
              <a:schemeClr val="tx2"/>
            </a:solidFill>
            <a:prstDash val="solid"/>
          </a:ln>
        </p:spPr>
      </p:sp>
      <p:sp>
        <p:nvSpPr>
          <p:cNvPr id="17" name="Text 15"/>
          <p:cNvSpPr txBox="1"/>
          <p:nvPr/>
        </p:nvSpPr>
        <p:spPr>
          <a:xfrm>
            <a:off x="777240" y="4617720"/>
            <a:ext cx="10607040" cy="731520"/>
          </a:xfrm>
          <a:prstGeom prst="rect">
            <a:avLst/>
          </a:prstGeom>
          <a:noFill/>
          <a:ln/>
        </p:spPr>
        <p:txBody>
          <a:bodyPr wrap="square" lIns="0" tIns="0" rIns="0" bIns="0" rtlCol="0" anchor="ctr"/>
          <a:lstStyle/>
          <a:p>
            <a:pPr indent="0" marL="0">
              <a:buNone/>
            </a:pPr>
            <a:r>
              <a:rPr lang="en-US" sz="1500" dirty="0">
                <a:solidFill>
                  <a:schemeClr val="bg1"/>
                </a:solidFill>
              </a:rPr>
              <a:t>All three hang on a single article — three views of the same people. Every word describes what God has done; none describes the readers' performance.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Mercy, peace, and love — multiplied</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The greeting (v.2) and where each word returns</a:t>
            </a:r>
            <a:endParaRPr lang="en-US" sz="1400" dirty="0"/>
          </a:p>
        </p:txBody>
      </p:sp>
      <p:sp>
        <p:nvSpPr>
          <p:cNvPr id="4" name="Shape 2"/>
          <p:cNvSpPr/>
          <p:nvPr/>
        </p:nvSpPr>
        <p:spPr>
          <a:xfrm>
            <a:off x="548640" y="1417320"/>
            <a:ext cx="3566160" cy="2468880"/>
          </a:xfrm>
          <a:prstGeom prst="roundRect">
            <a:avLst>
              <a:gd name="adj" fmla="val 2963"/>
            </a:avLst>
          </a:prstGeom>
          <a:solidFill>
            <a:schemeClr val="bg2"/>
          </a:solidFill>
          <a:ln w="9525">
            <a:solidFill>
              <a:srgbClr val="D5DCEA"/>
            </a:solidFill>
            <a:prstDash val="solid"/>
          </a:ln>
        </p:spPr>
      </p:sp>
      <p:sp>
        <p:nvSpPr>
          <p:cNvPr id="5" name="Text 3"/>
          <p:cNvSpPr txBox="1"/>
          <p:nvPr/>
        </p:nvSpPr>
        <p:spPr>
          <a:xfrm>
            <a:off x="749808" y="1554480"/>
            <a:ext cx="3163824" cy="2240280"/>
          </a:xfrm>
          <a:prstGeom prst="rect">
            <a:avLst/>
          </a:prstGeom>
          <a:noFill/>
          <a:ln/>
        </p:spPr>
        <p:txBody>
          <a:bodyPr wrap="square" lIns="0" tIns="0" rIns="0" bIns="0" rtlCol="0" anchor="t"/>
          <a:lstStyle/>
          <a:p>
            <a:pPr indent="0" marL="0">
              <a:buNone/>
            </a:pPr>
            <a:r>
              <a:rPr lang="en-US" sz="2200" b="1" dirty="0">
                <a:solidFill>
                  <a:schemeClr val="tx2"/>
                </a:solidFill>
              </a:rPr>
              <a:t>Mercy</a:t>
            </a:r>
            <a:endParaRPr lang="en-US" sz="1400" dirty="0"/>
          </a:p>
          <a:p>
            <a:pPr indent="0" marL="0">
              <a:buNone/>
            </a:pPr>
            <a:r>
              <a:rPr lang="en-US" sz="1500" b="1" dirty="0">
                <a:solidFill>
                  <a:schemeClr val="accent3"/>
                </a:solidFill>
              </a:rPr>
              <a:t>ἔλεος · eleos</a:t>
            </a:r>
            <a:endParaRPr lang="en-US" sz="1400" dirty="0"/>
          </a:p>
          <a:p>
            <a:pPr indent="0" marL="0">
              <a:buNone/>
            </a:pPr>
            <a:r>
              <a:rPr lang="en-US" sz="1300" i="1" dirty="0">
                <a:solidFill>
                  <a:schemeClr val="accent4"/>
                </a:solidFill>
              </a:rPr>
              <a:t>LXX: chesed — steadfast covenant love</a:t>
            </a:r>
            <a:endParaRPr lang="en-US" sz="1400" dirty="0"/>
          </a:p>
          <a:p>
            <a:pPr indent="0" marL="0">
              <a:buNone/>
            </a:pPr>
            <a:r>
              <a:rPr lang="en-US" sz="800" dirty="0">
                <a:solidFill>
                  <a:schemeClr val="tx1"/>
                </a:solidFill>
              </a:rPr>
              <a:t> </a:t>
            </a:r>
            <a:endParaRPr lang="en-US" sz="1400" dirty="0"/>
          </a:p>
          <a:p>
            <a:pPr indent="0" marL="0">
              <a:buNone/>
            </a:pPr>
            <a:r>
              <a:rPr lang="en-US" sz="1400" dirty="0">
                <a:solidFill>
                  <a:schemeClr val="tx1"/>
                </a:solidFill>
              </a:rPr>
              <a:t>Returns in vv.21–23: mercy awaited from Christ becomes mercy extended to the doubting</a:t>
            </a:r>
            <a:endParaRPr lang="en-US" sz="1400" dirty="0"/>
          </a:p>
        </p:txBody>
      </p:sp>
      <p:sp>
        <p:nvSpPr>
          <p:cNvPr id="6" name="Shape 4"/>
          <p:cNvSpPr/>
          <p:nvPr/>
        </p:nvSpPr>
        <p:spPr>
          <a:xfrm>
            <a:off x="4297680" y="1417320"/>
            <a:ext cx="3566160" cy="2468880"/>
          </a:xfrm>
          <a:prstGeom prst="roundRect">
            <a:avLst>
              <a:gd name="adj" fmla="val 2963"/>
            </a:avLst>
          </a:prstGeom>
          <a:solidFill>
            <a:schemeClr val="bg2"/>
          </a:solidFill>
          <a:ln w="9525">
            <a:solidFill>
              <a:srgbClr val="D5DCEA"/>
            </a:solidFill>
            <a:prstDash val="solid"/>
          </a:ln>
        </p:spPr>
      </p:sp>
      <p:sp>
        <p:nvSpPr>
          <p:cNvPr id="7" name="Text 5"/>
          <p:cNvSpPr txBox="1"/>
          <p:nvPr/>
        </p:nvSpPr>
        <p:spPr>
          <a:xfrm>
            <a:off x="4498848" y="1554480"/>
            <a:ext cx="3163824" cy="2240280"/>
          </a:xfrm>
          <a:prstGeom prst="rect">
            <a:avLst/>
          </a:prstGeom>
          <a:noFill/>
          <a:ln/>
        </p:spPr>
        <p:txBody>
          <a:bodyPr wrap="square" lIns="0" tIns="0" rIns="0" bIns="0" rtlCol="0" anchor="t"/>
          <a:lstStyle/>
          <a:p>
            <a:pPr indent="0" marL="0">
              <a:buNone/>
            </a:pPr>
            <a:r>
              <a:rPr lang="en-US" sz="2200" b="1" dirty="0">
                <a:solidFill>
                  <a:schemeClr val="tx2"/>
                </a:solidFill>
              </a:rPr>
              <a:t>Peace</a:t>
            </a:r>
            <a:endParaRPr lang="en-US" sz="1400" dirty="0"/>
          </a:p>
          <a:p>
            <a:pPr indent="0" marL="0">
              <a:buNone/>
            </a:pPr>
            <a:r>
              <a:rPr lang="en-US" sz="1500" b="1" dirty="0">
                <a:solidFill>
                  <a:schemeClr val="accent3"/>
                </a:solidFill>
              </a:rPr>
              <a:t>εἰρήνη · eirēnē</a:t>
            </a:r>
            <a:endParaRPr lang="en-US" sz="1400" dirty="0"/>
          </a:p>
          <a:p>
            <a:pPr indent="0" marL="0">
              <a:buNone/>
            </a:pPr>
            <a:r>
              <a:rPr lang="en-US" sz="1300" i="1" dirty="0">
                <a:solidFill>
                  <a:schemeClr val="accent4"/>
                </a:solidFill>
              </a:rPr>
              <a:t>LXX: shalom — wholeness under God</a:t>
            </a:r>
            <a:endParaRPr lang="en-US" sz="1400" dirty="0"/>
          </a:p>
          <a:p>
            <a:pPr indent="0" marL="0">
              <a:buNone/>
            </a:pPr>
            <a:r>
              <a:rPr lang="en-US" sz="800" dirty="0">
                <a:solidFill>
                  <a:schemeClr val="tx1"/>
                </a:solidFill>
              </a:rPr>
              <a:t> </a:t>
            </a:r>
            <a:endParaRPr lang="en-US" sz="1400" dirty="0"/>
          </a:p>
          <a:p>
            <a:pPr indent="0" marL="0">
              <a:buNone/>
            </a:pPr>
            <a:r>
              <a:rPr lang="en-US" sz="1400" dirty="0">
                <a:solidFill>
                  <a:schemeClr val="tx1"/>
                </a:solidFill>
              </a:rPr>
              <a:t>Peace in the storm, not from it — the intruders are still there in v.4</a:t>
            </a:r>
            <a:endParaRPr lang="en-US" sz="1400" dirty="0"/>
          </a:p>
        </p:txBody>
      </p:sp>
      <p:sp>
        <p:nvSpPr>
          <p:cNvPr id="8" name="Shape 6"/>
          <p:cNvSpPr/>
          <p:nvPr/>
        </p:nvSpPr>
        <p:spPr>
          <a:xfrm>
            <a:off x="8046720" y="1417320"/>
            <a:ext cx="3566160" cy="2468880"/>
          </a:xfrm>
          <a:prstGeom prst="roundRect">
            <a:avLst>
              <a:gd name="adj" fmla="val 2963"/>
            </a:avLst>
          </a:prstGeom>
          <a:solidFill>
            <a:schemeClr val="bg2"/>
          </a:solidFill>
          <a:ln w="9525">
            <a:solidFill>
              <a:srgbClr val="D5DCEA"/>
            </a:solidFill>
            <a:prstDash val="solid"/>
          </a:ln>
        </p:spPr>
      </p:sp>
      <p:sp>
        <p:nvSpPr>
          <p:cNvPr id="9" name="Text 7"/>
          <p:cNvSpPr txBox="1"/>
          <p:nvPr/>
        </p:nvSpPr>
        <p:spPr>
          <a:xfrm>
            <a:off x="8247888" y="1554480"/>
            <a:ext cx="3163824" cy="2240280"/>
          </a:xfrm>
          <a:prstGeom prst="rect">
            <a:avLst/>
          </a:prstGeom>
          <a:noFill/>
          <a:ln/>
        </p:spPr>
        <p:txBody>
          <a:bodyPr wrap="square" lIns="0" tIns="0" rIns="0" bIns="0" rtlCol="0" anchor="t"/>
          <a:lstStyle/>
          <a:p>
            <a:pPr indent="0" marL="0">
              <a:buNone/>
            </a:pPr>
            <a:r>
              <a:rPr lang="en-US" sz="2200" b="1" dirty="0">
                <a:solidFill>
                  <a:schemeClr val="tx2"/>
                </a:solidFill>
              </a:rPr>
              <a:t>Love</a:t>
            </a:r>
            <a:endParaRPr lang="en-US" sz="1400" dirty="0"/>
          </a:p>
          <a:p>
            <a:pPr indent="0" marL="0">
              <a:buNone/>
            </a:pPr>
            <a:r>
              <a:rPr lang="en-US" sz="1500" b="1" dirty="0">
                <a:solidFill>
                  <a:schemeClr val="accent3"/>
                </a:solidFill>
              </a:rPr>
              <a:t>ἀγάπη · agapē</a:t>
            </a:r>
            <a:endParaRPr lang="en-US" sz="1400" dirty="0"/>
          </a:p>
          <a:p>
            <a:pPr indent="0" marL="0">
              <a:buNone/>
            </a:pPr>
            <a:r>
              <a:rPr lang="en-US" sz="1300" i="1" dirty="0">
                <a:solidFill>
                  <a:schemeClr val="accent4"/>
                </a:solidFill>
              </a:rPr>
              <a:t>Echoes "beloved" (v.1)</a:t>
            </a:r>
            <a:endParaRPr lang="en-US" sz="1400" dirty="0"/>
          </a:p>
          <a:p>
            <a:pPr indent="0" marL="0">
              <a:buNone/>
            </a:pPr>
            <a:r>
              <a:rPr lang="en-US" sz="800" dirty="0">
                <a:solidFill>
                  <a:schemeClr val="tx1"/>
                </a:solidFill>
              </a:rPr>
              <a:t> </a:t>
            </a:r>
            <a:endParaRPr lang="en-US" sz="1400" dirty="0"/>
          </a:p>
          <a:p>
            <a:pPr indent="0" marL="0">
              <a:buNone/>
            </a:pPr>
            <a:r>
              <a:rPr lang="en-US" sz="1400" dirty="0">
                <a:solidFill>
                  <a:schemeClr val="tx1"/>
                </a:solidFill>
              </a:rPr>
              <a:t>Returns in the "love feasts" (v.12) and "keep yourselves in the love of God" (v.21)</a:t>
            </a:r>
            <a:endParaRPr lang="en-US" sz="1400" dirty="0"/>
          </a:p>
        </p:txBody>
      </p:sp>
      <p:sp>
        <p:nvSpPr>
          <p:cNvPr id="10" name="Shape 8"/>
          <p:cNvSpPr/>
          <p:nvPr/>
        </p:nvSpPr>
        <p:spPr>
          <a:xfrm>
            <a:off x="548640" y="4114800"/>
            <a:ext cx="11064240" cy="777240"/>
          </a:xfrm>
          <a:prstGeom prst="roundRect">
            <a:avLst>
              <a:gd name="adj" fmla="val 9412"/>
            </a:avLst>
          </a:prstGeom>
          <a:solidFill>
            <a:schemeClr val="tx2"/>
          </a:solidFill>
          <a:ln w="9525">
            <a:solidFill>
              <a:schemeClr val="tx2"/>
            </a:solidFill>
            <a:prstDash val="solid"/>
          </a:ln>
        </p:spPr>
      </p:sp>
      <p:sp>
        <p:nvSpPr>
          <p:cNvPr id="11" name="Text 9"/>
          <p:cNvSpPr txBox="1"/>
          <p:nvPr/>
        </p:nvSpPr>
        <p:spPr>
          <a:xfrm>
            <a:off x="777240" y="4114800"/>
            <a:ext cx="10607040" cy="777240"/>
          </a:xfrm>
          <a:prstGeom prst="rect">
            <a:avLst/>
          </a:prstGeom>
          <a:noFill/>
          <a:ln/>
        </p:spPr>
        <p:txBody>
          <a:bodyPr wrap="square" lIns="0" tIns="0" rIns="0" bIns="0" rtlCol="0" anchor="ctr"/>
          <a:lstStyle/>
          <a:p>
            <a:pPr indent="0" marL="0">
              <a:buNone/>
            </a:pPr>
            <a:r>
              <a:rPr lang="en-US" sz="1500" dirty="0">
                <a:solidFill>
                  <a:schemeClr val="bg1"/>
                </a:solidFill>
              </a:rPr>
              <a:t>"Be multiplied" — plēthyntheiē, aorist passive optative: a prayer for abundance, not rationing. God's supply grows as the pressure grows.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Assurance: where does it rest?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Reformed and Free Grace readings of "kept for Jesus Christ" (v.1)</a:t>
            </a:r>
            <a:endParaRPr lang="en-US" sz="1400" dirty="0"/>
          </a:p>
        </p:txBody>
      </p:sp>
      <p:sp>
        <p:nvSpPr>
          <p:cNvPr id="4" name="Shape 2"/>
          <p:cNvSpPr/>
          <p:nvPr/>
        </p:nvSpPr>
        <p:spPr>
          <a:xfrm>
            <a:off x="548640" y="1371600"/>
            <a:ext cx="11064240" cy="566928"/>
          </a:xfrm>
          <a:prstGeom prst="roundRect">
            <a:avLst>
              <a:gd name="adj" fmla="val 12903"/>
            </a:avLst>
          </a:prstGeom>
          <a:solidFill>
            <a:schemeClr val="accent6"/>
          </a:solidFill>
          <a:ln w="9525">
            <a:solidFill>
              <a:srgbClr val="C9D8C0"/>
            </a:solidFill>
            <a:prstDash val="solid"/>
          </a:ln>
        </p:spPr>
      </p:sp>
      <p:sp>
        <p:nvSpPr>
          <p:cNvPr id="5" name="Text 3"/>
          <p:cNvSpPr txBox="1"/>
          <p:nvPr/>
        </p:nvSpPr>
        <p:spPr>
          <a:xfrm>
            <a:off x="731520" y="1371600"/>
            <a:ext cx="10698480" cy="566928"/>
          </a:xfrm>
          <a:prstGeom prst="rect">
            <a:avLst/>
          </a:prstGeom>
          <a:noFill/>
          <a:ln/>
        </p:spPr>
        <p:txBody>
          <a:bodyPr wrap="square" lIns="0" tIns="0" rIns="0" bIns="0" rtlCol="0" anchor="ctr"/>
          <a:lstStyle/>
          <a:p>
            <a:pPr indent="0" marL="0">
              <a:buNone/>
            </a:pPr>
            <a:r>
              <a:rPr lang="en-US" sz="1400" b="1" dirty="0">
                <a:solidFill>
                  <a:schemeClr val="accent2"/>
                </a:solidFill>
              </a:rPr>
              <a:t>Agreement  </a:t>
            </a:r>
            <a:pPr indent="0" marL="0">
              <a:buNone/>
            </a:pPr>
            <a:r>
              <a:rPr lang="en-US" sz="1400" dirty="0">
                <a:solidFill>
                  <a:schemeClr val="tx1"/>
                </a:solidFill>
              </a:rPr>
              <a:t>God preserves His people (Canons of Dort, Fifth Head; Murray, Redemption Accomplished and Applied).</a:t>
            </a:r>
            <a:endParaRPr lang="en-US" sz="1400" dirty="0"/>
          </a:p>
        </p:txBody>
      </p:sp>
      <p:sp>
        <p:nvSpPr>
          <p:cNvPr id="6" name="Shape 4"/>
          <p:cNvSpPr/>
          <p:nvPr/>
        </p:nvSpPr>
        <p:spPr>
          <a:xfrm>
            <a:off x="548640" y="2084832"/>
            <a:ext cx="5440680" cy="457200"/>
          </a:xfrm>
          <a:prstGeom prst="rect">
            <a:avLst/>
          </a:prstGeom>
          <a:solidFill>
            <a:schemeClr val="accent4"/>
          </a:solidFill>
          <a:ln w="9525">
            <a:solidFill>
              <a:schemeClr val="accent4"/>
            </a:solidFill>
            <a:prstDash val="solid"/>
          </a:ln>
        </p:spPr>
      </p:sp>
      <p:sp>
        <p:nvSpPr>
          <p:cNvPr id="7" name="Text 5"/>
          <p:cNvSpPr txBox="1"/>
          <p:nvPr/>
        </p:nvSpPr>
        <p:spPr>
          <a:xfrm>
            <a:off x="731520" y="2084832"/>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Reformed (counterpoint)</a:t>
            </a:r>
            <a:endParaRPr lang="en-US" sz="1500" dirty="0"/>
          </a:p>
        </p:txBody>
      </p:sp>
      <p:sp>
        <p:nvSpPr>
          <p:cNvPr id="8" name="Shape 6"/>
          <p:cNvSpPr/>
          <p:nvPr/>
        </p:nvSpPr>
        <p:spPr>
          <a:xfrm>
            <a:off x="548640" y="2542032"/>
            <a:ext cx="5440680" cy="1801368"/>
          </a:xfrm>
          <a:prstGeom prst="rect">
            <a:avLst/>
          </a:prstGeom>
          <a:solidFill>
            <a:schemeClr val="bg2"/>
          </a:solidFill>
          <a:ln w="9525">
            <a:solidFill>
              <a:srgbClr val="D5DCEA"/>
            </a:solidFill>
            <a:prstDash val="solid"/>
          </a:ln>
        </p:spPr>
      </p:sp>
      <p:sp>
        <p:nvSpPr>
          <p:cNvPr id="9" name="Text 7"/>
          <p:cNvSpPr txBox="1"/>
          <p:nvPr/>
        </p:nvSpPr>
        <p:spPr>
          <a:xfrm>
            <a:off x="731520" y="265176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God's preserving work necessarily produces the believer's perseverance in faith and holiness to the end</a:t>
            </a:r>
            <a:endParaRPr lang="en-US" sz="1400" dirty="0"/>
          </a:p>
          <a:p>
            <a:pPr marL="342900" indent="-342900">
              <a:spcAft>
                <a:spcPts val="600"/>
              </a:spcAft>
              <a:buSzPct val="100000"/>
              <a:buChar char="•"/>
            </a:pPr>
            <a:r>
              <a:rPr lang="en-US" sz="1400" dirty="0">
                <a:solidFill>
                  <a:schemeClr val="tx1"/>
                </a:solidFill>
              </a:rPr>
              <a:t>Assurance comes, at least in part, from examining that perseverance (WCF 18.3; Schreiner and Caneday, The Race Set Before Us)</a:t>
            </a:r>
            <a:endParaRPr lang="en-US" sz="1400" dirty="0"/>
          </a:p>
        </p:txBody>
      </p:sp>
      <p:sp>
        <p:nvSpPr>
          <p:cNvPr id="10" name="Shape 8"/>
          <p:cNvSpPr/>
          <p:nvPr/>
        </p:nvSpPr>
        <p:spPr>
          <a:xfrm>
            <a:off x="6172200" y="2084832"/>
            <a:ext cx="5440680" cy="457200"/>
          </a:xfrm>
          <a:prstGeom prst="rect">
            <a:avLst/>
          </a:prstGeom>
          <a:solidFill>
            <a:schemeClr val="accent1"/>
          </a:solidFill>
          <a:ln w="9525">
            <a:solidFill>
              <a:schemeClr val="accent1"/>
            </a:solidFill>
            <a:prstDash val="solid"/>
          </a:ln>
        </p:spPr>
      </p:sp>
      <p:sp>
        <p:nvSpPr>
          <p:cNvPr id="11" name="Text 9"/>
          <p:cNvSpPr txBox="1"/>
          <p:nvPr/>
        </p:nvSpPr>
        <p:spPr>
          <a:xfrm>
            <a:off x="6355080" y="2084832"/>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Free Grace (series view)</a:t>
            </a:r>
            <a:endParaRPr lang="en-US" sz="1500" dirty="0"/>
          </a:p>
        </p:txBody>
      </p:sp>
      <p:sp>
        <p:nvSpPr>
          <p:cNvPr id="12" name="Shape 10"/>
          <p:cNvSpPr/>
          <p:nvPr/>
        </p:nvSpPr>
        <p:spPr>
          <a:xfrm>
            <a:off x="6172200" y="2542032"/>
            <a:ext cx="5440680" cy="1801368"/>
          </a:xfrm>
          <a:prstGeom prst="rect">
            <a:avLst/>
          </a:prstGeom>
          <a:solidFill>
            <a:schemeClr val="bg2"/>
          </a:solidFill>
          <a:ln w="9525">
            <a:solidFill>
              <a:srgbClr val="D5DCEA"/>
            </a:solidFill>
            <a:prstDash val="solid"/>
          </a:ln>
        </p:spPr>
      </p:sp>
      <p:sp>
        <p:nvSpPr>
          <p:cNvPr id="13" name="Text 11"/>
          <p:cNvSpPr txBox="1"/>
          <p:nvPr/>
        </p:nvSpPr>
        <p:spPr>
          <a:xfrm>
            <a:off x="6355080" y="265176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God's keeping is itself the guarantee — it does not depend on the believer's grip</a:t>
            </a:r>
            <a:endParaRPr lang="en-US" sz="1400" dirty="0"/>
          </a:p>
          <a:p>
            <a:pPr marL="342900" indent="-342900">
              <a:spcAft>
                <a:spcPts val="600"/>
              </a:spcAft>
              <a:buSzPct val="100000"/>
              <a:buChar char="•"/>
            </a:pPr>
            <a:r>
              <a:rPr lang="en-US" sz="1400" dirty="0">
                <a:solidFill>
                  <a:schemeClr val="tx1"/>
                </a:solidFill>
              </a:rPr>
              <a:t>Assurance comes from looking at the promise and the One who keeps, not inward at our record (Dillow; Wilkin, Confident in Christ)</a:t>
            </a:r>
            <a:endParaRPr lang="en-US" sz="1400" dirty="0"/>
          </a:p>
          <a:p>
            <a:pPr marL="342900" indent="-342900">
              <a:spcAft>
                <a:spcPts val="600"/>
              </a:spcAft>
              <a:buSzPct val="100000"/>
              <a:buChar char="•"/>
            </a:pPr>
            <a:r>
              <a:rPr lang="en-US" sz="1400" dirty="0">
                <a:solidFill>
                  <a:schemeClr val="tx1"/>
                </a:solidFill>
              </a:rPr>
              <a:t>Calvin: faith is "a firm and certain knowledge of God's benevolence" (Inst. 3.2.7)</a:t>
            </a:r>
            <a:endParaRPr lang="en-US" sz="1400" dirty="0"/>
          </a:p>
        </p:txBody>
      </p:sp>
      <p:sp>
        <p:nvSpPr>
          <p:cNvPr id="14" name="Shape 12"/>
          <p:cNvSpPr/>
          <p:nvPr/>
        </p:nvSpPr>
        <p:spPr>
          <a:xfrm>
            <a:off x="548640" y="4526280"/>
            <a:ext cx="11064240" cy="868680"/>
          </a:xfrm>
          <a:prstGeom prst="roundRect">
            <a:avLst>
              <a:gd name="adj" fmla="val 8421"/>
            </a:avLst>
          </a:prstGeom>
          <a:solidFill>
            <a:schemeClr val="tx2"/>
          </a:solidFill>
          <a:ln w="9525">
            <a:solidFill>
              <a:schemeClr val="tx2"/>
            </a:solidFill>
            <a:prstDash val="solid"/>
          </a:ln>
        </p:spPr>
      </p:sp>
      <p:sp>
        <p:nvSpPr>
          <p:cNvPr id="15" name="Text 13"/>
          <p:cNvSpPr txBox="1"/>
          <p:nvPr/>
        </p:nvSpPr>
        <p:spPr>
          <a:xfrm>
            <a:off x="777240" y="4526280"/>
            <a:ext cx="10607040" cy="868680"/>
          </a:xfrm>
          <a:prstGeom prst="rect">
            <a:avLst/>
          </a:prstGeom>
          <a:noFill/>
          <a:ln/>
        </p:spPr>
        <p:txBody>
          <a:bodyPr wrap="square" lIns="0" tIns="0" rIns="0" bIns="0" rtlCol="0" anchor="ctr"/>
          <a:lstStyle/>
          <a:p>
            <a:pPr indent="0" marL="0">
              <a:buNone/>
            </a:pPr>
            <a:r>
              <a:rPr lang="en-US" sz="1500" dirty="0">
                <a:solidFill>
                  <a:schemeClr val="bg1"/>
                </a:solidFill>
              </a:rPr>
              <a:t>The warnings of this letter are real — but they are not designed to make kept people wonder whether they are kept. (Study 1 §III.C)</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1188720"/>
            <a:ext cx="10058400" cy="457200"/>
          </a:xfrm>
          <a:prstGeom prst="rect">
            <a:avLst/>
          </a:prstGeom>
          <a:noFill/>
          <a:ln/>
        </p:spPr>
        <p:txBody>
          <a:bodyPr wrap="square" lIns="0" tIns="0" rIns="0" bIns="0" rtlCol="0" anchor="t"/>
          <a:lstStyle/>
          <a:p>
            <a:pPr indent="0" marL="0">
              <a:buNone/>
            </a:pPr>
            <a:r>
              <a:rPr lang="en-US" sz="1800" b="1" dirty="0">
                <a:solidFill>
                  <a:schemeClr val="accent5"/>
                </a:solidFill>
              </a:rPr>
              <a:t>Study 2 of 6 · Jude 3–4</a:t>
            </a:r>
            <a:endParaRPr lang="en-US" sz="1800" dirty="0"/>
          </a:p>
        </p:txBody>
      </p:sp>
      <p:sp>
        <p:nvSpPr>
          <p:cNvPr id="3" name="Text 0"/>
          <p:cNvSpPr/>
          <p:nvPr>
            <p:ph idx="100" type="title" hasCustomPrompt="1"/>
          </p:nvPr>
        </p:nvSpPr>
        <p:spPr>
          <a:xfrm>
            <a:off x="731520" y="1737360"/>
            <a:ext cx="10698480" cy="1554480"/>
          </a:xfrm>
          <a:prstGeom prst="rect">
            <a:avLst/>
          </a:prstGeom>
          <a:noFill/>
          <a:ln/>
        </p:spPr>
        <p:txBody>
          <a:bodyPr wrap="square" rtlCol="0" anchor="b"/>
          <a:lstStyle/>
          <a:p>
            <a:pPr algn="l" indent="0" marL="0">
              <a:buNone/>
            </a:pPr>
            <a:r>
              <a:rPr lang="en-US" sz="4000" b="1" dirty="0">
                <a:solidFill>
                  <a:schemeClr val="bg1"/>
                </a:solidFill>
              </a:rPr>
              <a:t>The Battle Cry: Contend Earnestly for the Faith</a:t>
            </a:r>
            <a:endParaRPr lang="en-US" sz="4000" dirty="0"/>
          </a:p>
        </p:txBody>
      </p:sp>
      <p:sp>
        <p:nvSpPr>
          <p:cNvPr id="4" name="Text 0"/>
          <p:cNvSpPr/>
          <p:nvPr>
            <p:ph idx="101" type="body" hasCustomPrompt="1"/>
          </p:nvPr>
        </p:nvSpPr>
        <p:spPr>
          <a:xfrm>
            <a:off x="731520" y="3474720"/>
            <a:ext cx="10698480" cy="2011680"/>
          </a:xfrm>
          <a:prstGeom prst="rect">
            <a:avLst/>
          </a:prstGeom>
          <a:noFill/>
          <a:ln/>
        </p:spPr>
        <p:txBody>
          <a:bodyPr wrap="square" rtlCol="0" anchor="t"/>
          <a:lstStyle/>
          <a:p>
            <a:pPr algn="l" indent="0" marL="0">
              <a:buNone/>
            </a:pPr>
            <a:r>
              <a:rPr lang="en-US" sz="2000" dirty="0">
                <a:solidFill>
                  <a:schemeClr val="bg2"/>
                </a:solidFill>
              </a:rPr>
              <a:t>Because false teachers have turned God's grace into a license for sin, believers are called to contend earnestly — and graciously — for the once-for-all faith.</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The letter Jude did not write</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The change of plans (v.3)</a:t>
            </a:r>
            <a:endParaRPr lang="en-US" sz="1400" dirty="0"/>
          </a:p>
        </p:txBody>
      </p:sp>
      <p:sp>
        <p:nvSpPr>
          <p:cNvPr id="4" name="Shape 2"/>
          <p:cNvSpPr/>
          <p:nvPr/>
        </p:nvSpPr>
        <p:spPr>
          <a:xfrm>
            <a:off x="548640" y="1417320"/>
            <a:ext cx="5440680" cy="1005840"/>
          </a:xfrm>
          <a:prstGeom prst="rect">
            <a:avLst/>
          </a:prstGeom>
          <a:solidFill>
            <a:schemeClr val="accent2"/>
          </a:solidFill>
          <a:ln w="9525">
            <a:solidFill>
              <a:schemeClr val="accent2"/>
            </a:solidFill>
            <a:prstDash val="solid"/>
          </a:ln>
        </p:spPr>
      </p:sp>
      <p:sp>
        <p:nvSpPr>
          <p:cNvPr id="5" name="Text 3"/>
          <p:cNvSpPr txBox="1"/>
          <p:nvPr/>
        </p:nvSpPr>
        <p:spPr>
          <a:xfrm>
            <a:off x="749808" y="1417320"/>
            <a:ext cx="5029200" cy="1005840"/>
          </a:xfrm>
          <a:prstGeom prst="rect">
            <a:avLst/>
          </a:prstGeom>
          <a:noFill/>
          <a:ln/>
        </p:spPr>
        <p:txBody>
          <a:bodyPr wrap="square" lIns="0" tIns="0" rIns="0" bIns="0" rtlCol="0" anchor="ctr"/>
          <a:lstStyle/>
          <a:p>
            <a:pPr indent="0" marL="0">
              <a:buNone/>
            </a:pPr>
            <a:r>
              <a:rPr lang="en-US" sz="1800" b="1" dirty="0">
                <a:solidFill>
                  <a:schemeClr val="bg1"/>
                </a:solidFill>
              </a:rPr>
              <a:t>The letter he planned</a:t>
            </a:r>
            <a:endParaRPr lang="en-US" sz="1400" dirty="0"/>
          </a:p>
          <a:p>
            <a:pPr indent="0" marL="0">
              <a:buNone/>
            </a:pPr>
            <a:r>
              <a:rPr lang="en-US" sz="1500" i="1" dirty="0">
                <a:solidFill>
                  <a:schemeClr val="bg1"/>
                </a:solidFill>
              </a:rPr>
              <a:t>"our common salvation"</a:t>
            </a:r>
            <a:endParaRPr lang="en-US" sz="1400" dirty="0"/>
          </a:p>
        </p:txBody>
      </p:sp>
      <p:sp>
        <p:nvSpPr>
          <p:cNvPr id="6" name="Shape 4"/>
          <p:cNvSpPr/>
          <p:nvPr/>
        </p:nvSpPr>
        <p:spPr>
          <a:xfrm>
            <a:off x="548640" y="2423160"/>
            <a:ext cx="5440680" cy="1737360"/>
          </a:xfrm>
          <a:prstGeom prst="rect">
            <a:avLst/>
          </a:prstGeom>
          <a:solidFill>
            <a:schemeClr val="bg2"/>
          </a:solidFill>
          <a:ln w="9525">
            <a:solidFill>
              <a:srgbClr val="D5DCEA"/>
            </a:solidFill>
            <a:prstDash val="solid"/>
          </a:ln>
        </p:spPr>
      </p:sp>
      <p:sp>
        <p:nvSpPr>
          <p:cNvPr id="7" name="Text 5"/>
          <p:cNvSpPr txBox="1"/>
          <p:nvPr/>
        </p:nvSpPr>
        <p:spPr>
          <a:xfrm>
            <a:off x="749808" y="2560320"/>
            <a:ext cx="502920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koinos — shared, held in common (cf. "common faith," Titus 1:4)</a:t>
            </a:r>
            <a:endParaRPr lang="en-US" sz="1400" dirty="0"/>
          </a:p>
          <a:p>
            <a:pPr marL="342900" indent="-342900">
              <a:spcAft>
                <a:spcPts val="600"/>
              </a:spcAft>
              <a:buSzPct val="100000"/>
              <a:buChar char="•"/>
            </a:pPr>
            <a:r>
              <a:rPr lang="en-US" sz="1400" dirty="0">
                <a:solidFill>
                  <a:schemeClr val="tx1"/>
                </a:solidFill>
              </a:rPr>
              <a:t>One salvation, held equally by every believer — not graded by performance</a:t>
            </a:r>
            <a:endParaRPr lang="en-US" sz="1400" dirty="0"/>
          </a:p>
          <a:p>
            <a:pPr marL="342900" indent="-342900">
              <a:spcAft>
                <a:spcPts val="600"/>
              </a:spcAft>
              <a:buSzPct val="100000"/>
              <a:buChar char="•"/>
            </a:pPr>
            <a:r>
              <a:rPr lang="en-US" sz="1400" dirty="0">
                <a:solidFill>
                  <a:schemeClr val="tx1"/>
                </a:solidFill>
              </a:rPr>
              <a:t>A celebration</a:t>
            </a:r>
            <a:endParaRPr lang="en-US" sz="1400" dirty="0"/>
          </a:p>
        </p:txBody>
      </p:sp>
      <p:sp>
        <p:nvSpPr>
          <p:cNvPr id="8" name="Shape 6"/>
          <p:cNvSpPr/>
          <p:nvPr/>
        </p:nvSpPr>
        <p:spPr>
          <a:xfrm>
            <a:off x="6172200" y="1417320"/>
            <a:ext cx="5440680" cy="1005840"/>
          </a:xfrm>
          <a:prstGeom prst="rect">
            <a:avLst/>
          </a:prstGeom>
          <a:solidFill>
            <a:schemeClr val="accent1"/>
          </a:solidFill>
          <a:ln w="9525">
            <a:solidFill>
              <a:schemeClr val="accent1"/>
            </a:solidFill>
            <a:prstDash val="solid"/>
          </a:ln>
        </p:spPr>
      </p:sp>
      <p:sp>
        <p:nvSpPr>
          <p:cNvPr id="9" name="Text 7"/>
          <p:cNvSpPr txBox="1"/>
          <p:nvPr/>
        </p:nvSpPr>
        <p:spPr>
          <a:xfrm>
            <a:off x="6373368" y="1417320"/>
            <a:ext cx="5029200" cy="1005840"/>
          </a:xfrm>
          <a:prstGeom prst="rect">
            <a:avLst/>
          </a:prstGeom>
          <a:noFill/>
          <a:ln/>
        </p:spPr>
        <p:txBody>
          <a:bodyPr wrap="square" lIns="0" tIns="0" rIns="0" bIns="0" rtlCol="0" anchor="ctr"/>
          <a:lstStyle/>
          <a:p>
            <a:pPr indent="0" marL="0">
              <a:buNone/>
            </a:pPr>
            <a:r>
              <a:rPr lang="en-US" sz="1800" b="1" dirty="0">
                <a:solidFill>
                  <a:schemeClr val="bg1"/>
                </a:solidFill>
              </a:rPr>
              <a:t>The letter he wrote</a:t>
            </a:r>
            <a:endParaRPr lang="en-US" sz="1400" dirty="0"/>
          </a:p>
          <a:p>
            <a:pPr indent="0" marL="0">
              <a:buNone/>
            </a:pPr>
            <a:r>
              <a:rPr lang="en-US" sz="1500" i="1" dirty="0">
                <a:solidFill>
                  <a:schemeClr val="bg1"/>
                </a:solidFill>
              </a:rPr>
              <a:t>"contend earnestly for the faith"</a:t>
            </a:r>
            <a:endParaRPr lang="en-US" sz="1400" dirty="0"/>
          </a:p>
        </p:txBody>
      </p:sp>
      <p:sp>
        <p:nvSpPr>
          <p:cNvPr id="10" name="Shape 8"/>
          <p:cNvSpPr/>
          <p:nvPr/>
        </p:nvSpPr>
        <p:spPr>
          <a:xfrm>
            <a:off x="6172200" y="2423160"/>
            <a:ext cx="5440680" cy="1737360"/>
          </a:xfrm>
          <a:prstGeom prst="rect">
            <a:avLst/>
          </a:prstGeom>
          <a:solidFill>
            <a:schemeClr val="bg2"/>
          </a:solidFill>
          <a:ln w="9525">
            <a:solidFill>
              <a:srgbClr val="D5DCEA"/>
            </a:solidFill>
            <a:prstDash val="solid"/>
          </a:ln>
        </p:spPr>
      </p:sp>
      <p:sp>
        <p:nvSpPr>
          <p:cNvPr id="11" name="Text 9"/>
          <p:cNvSpPr txBox="1"/>
          <p:nvPr/>
        </p:nvSpPr>
        <p:spPr>
          <a:xfrm>
            <a:off x="6373368" y="2560320"/>
            <a:ext cx="502920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 felt the necessity" — anankēn eschon, the language of compulsion (cf. 1 Cor 9:16)</a:t>
            </a:r>
            <a:endParaRPr lang="en-US" sz="1400" dirty="0"/>
          </a:p>
          <a:p>
            <a:pPr marL="342900" indent="-342900">
              <a:spcAft>
                <a:spcPts val="600"/>
              </a:spcAft>
              <a:buSzPct val="100000"/>
              <a:buChar char="•"/>
            </a:pPr>
            <a:r>
              <a:rPr lang="en-US" sz="1400" dirty="0">
                <a:solidFill>
                  <a:schemeClr val="tx1"/>
                </a:solidFill>
              </a:rPr>
              <a:t>Love for the church left him no choice</a:t>
            </a:r>
            <a:endParaRPr lang="en-US" sz="1400" dirty="0"/>
          </a:p>
          <a:p>
            <a:pPr marL="342900" indent="-342900">
              <a:spcAft>
                <a:spcPts val="600"/>
              </a:spcAft>
              <a:buSzPct val="100000"/>
              <a:buChar char="•"/>
            </a:pPr>
            <a:r>
              <a:rPr lang="en-US" sz="1400" dirty="0">
                <a:solidFill>
                  <a:schemeClr val="tx1"/>
                </a:solidFill>
              </a:rPr>
              <a:t>A summons</a:t>
            </a:r>
            <a:endParaRPr lang="en-US" sz="1400" dirty="0"/>
          </a:p>
        </p:txBody>
      </p:sp>
      <p:sp>
        <p:nvSpPr>
          <p:cNvPr id="12" name="Text 10"/>
          <p:cNvSpPr txBox="1"/>
          <p:nvPr/>
        </p:nvSpPr>
        <p:spPr>
          <a:xfrm>
            <a:off x="5852160" y="1645920"/>
            <a:ext cx="457200" cy="548640"/>
          </a:xfrm>
          <a:prstGeom prst="rect">
            <a:avLst/>
          </a:prstGeom>
          <a:noFill/>
          <a:ln/>
        </p:spPr>
        <p:txBody>
          <a:bodyPr wrap="square" lIns="0" tIns="0" rIns="0" bIns="0" rtlCol="0" anchor="t"/>
          <a:lstStyle/>
          <a:p>
            <a:pPr algn="ctr" indent="0" marL="0">
              <a:buNone/>
            </a:pPr>
            <a:r>
              <a:rPr lang="en-US" sz="2600" dirty="0">
                <a:solidFill>
                  <a:schemeClr val="accent4"/>
                </a:solidFill>
              </a:rPr>
              <a:t>→</a:t>
            </a:r>
            <a:endParaRPr lang="en-US" sz="2600" dirty="0"/>
          </a:p>
        </p:txBody>
      </p:sp>
      <p:sp>
        <p:nvSpPr>
          <p:cNvPr id="13" name="Shape 11"/>
          <p:cNvSpPr/>
          <p:nvPr/>
        </p:nvSpPr>
        <p:spPr>
          <a:xfrm>
            <a:off x="548640" y="4389120"/>
            <a:ext cx="11064240" cy="777240"/>
          </a:xfrm>
          <a:prstGeom prst="roundRect">
            <a:avLst>
              <a:gd name="adj" fmla="val 9412"/>
            </a:avLst>
          </a:prstGeom>
          <a:solidFill>
            <a:schemeClr val="tx2"/>
          </a:solidFill>
          <a:ln w="9525">
            <a:solidFill>
              <a:schemeClr val="tx2"/>
            </a:solidFill>
            <a:prstDash val="solid"/>
          </a:ln>
        </p:spPr>
      </p:sp>
      <p:sp>
        <p:nvSpPr>
          <p:cNvPr id="14" name="Text 12"/>
          <p:cNvSpPr txBox="1"/>
          <p:nvPr/>
        </p:nvSpPr>
        <p:spPr>
          <a:xfrm>
            <a:off x="777240" y="4389120"/>
            <a:ext cx="10607040" cy="777240"/>
          </a:xfrm>
          <a:prstGeom prst="rect">
            <a:avLst/>
          </a:prstGeom>
          <a:noFill/>
          <a:ln/>
        </p:spPr>
        <p:txBody>
          <a:bodyPr wrap="square" lIns="0" tIns="0" rIns="0" bIns="0" rtlCol="0" anchor="ctr"/>
          <a:lstStyle/>
          <a:p>
            <a:pPr indent="0" marL="0">
              <a:buNone/>
            </a:pPr>
            <a:r>
              <a:rPr lang="en-US" sz="1500" dirty="0">
                <a:solidFill>
                  <a:schemeClr val="bg1"/>
                </a:solidFill>
              </a:rPr>
              <a:t>v.3 gives the charge; v.4 gives the reason. Everything from v.5 to v.23 develops either the danger of v.4 or the response of v.3.</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The charge, phrase by phrase</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v.3b · "contend earnestly for the faith which was once for all handed down to the saints"</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011680"/>
                <a:gridCol w="2834640"/>
                <a:gridCol w="6217920"/>
              </a:tblGrid>
              <a:tr h="457200">
                <a:tc>
                  <a:txBody>
                    <a:bodyPr/>
                    <a:lstStyle/>
                    <a:p>
                      <a:pPr indent="0" marL="0">
                        <a:buNone/>
                      </a:pPr>
                      <a:r>
                        <a:rPr lang="en-US" sz="1400" b="1" dirty="0">
                          <a:solidFill>
                            <a:schemeClr val="bg1"/>
                          </a:solidFill>
                          <a:latin typeface="Arial" pitchFamily="34" charset="0"/>
                          <a:ea typeface="Arial" pitchFamily="34" charset="-122"/>
                          <a:cs typeface="Arial" pitchFamily="34" charset="-120"/>
                        </a:rPr>
                        <a:t>Phrase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Greek</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What it means</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868680">
                <a:tc>
                  <a:txBody>
                    <a:bodyPr/>
                    <a:lstStyle/>
                    <a:p>
                      <a:pPr indent="0" marL="0">
                        <a:buNone/>
                      </a:pPr>
                      <a:r>
                        <a:rPr lang="en-US" sz="1400" b="1" dirty="0">
                          <a:solidFill>
                            <a:schemeClr val="accent1"/>
                          </a:solidFill>
                          <a:latin typeface="Arial" pitchFamily="34" charset="0"/>
                          <a:ea typeface="Arial" pitchFamily="34" charset="-122"/>
                          <a:cs typeface="Arial" pitchFamily="34" charset="-120"/>
                        </a:rPr>
                        <a:t>contend earnestly</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epagōnizesthai · pres. inf. (NT hapax)</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From agōn, an athletic contest — an ongoing, strenuous struggle; in the manner of vv.9 and 20–23, not quarrelsomeness (2 Tim 2:24–25)</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777240">
                <a:tc>
                  <a:txBody>
                    <a:bodyPr/>
                    <a:lstStyle/>
                    <a:p>
                      <a:pPr indent="0" marL="0">
                        <a:buNone/>
                      </a:pPr>
                      <a:r>
                        <a:rPr lang="en-US" sz="1400" b="1" dirty="0">
                          <a:solidFill>
                            <a:schemeClr val="accent1"/>
                          </a:solidFill>
                          <a:latin typeface="Arial" pitchFamily="34" charset="0"/>
                          <a:ea typeface="Arial" pitchFamily="34" charset="-122"/>
                          <a:cs typeface="Arial" pitchFamily="34" charset="-120"/>
                        </a:rPr>
                        <a:t>the faith</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tē pistei · with the article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The content believed — the gospel and apostolic teaching. The struggle is for the message, not for the believer's standing</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685800">
                <a:tc>
                  <a:txBody>
                    <a:bodyPr/>
                    <a:lstStyle/>
                    <a:p>
                      <a:pPr indent="0" marL="0">
                        <a:buNone/>
                      </a:pPr>
                      <a:r>
                        <a:rPr lang="en-US" sz="1400" b="1" dirty="0">
                          <a:solidFill>
                            <a:schemeClr val="accent1"/>
                          </a:solidFill>
                          <a:latin typeface="Arial" pitchFamily="34" charset="0"/>
                          <a:ea typeface="Arial" pitchFamily="34" charset="-122"/>
                          <a:cs typeface="Arial" pitchFamily="34" charset="-120"/>
                        </a:rPr>
                        <a:t>once for all</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hapax</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Decisive and unrepeatable (cf. Heb 9:26) — delivered complete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777240">
                <a:tc>
                  <a:txBody>
                    <a:bodyPr/>
                    <a:lstStyle/>
                    <a:p>
                      <a:pPr indent="0" marL="0">
                        <a:buNone/>
                      </a:pPr>
                      <a:r>
                        <a:rPr lang="en-US" sz="1400" b="1" dirty="0">
                          <a:solidFill>
                            <a:schemeClr val="accent1"/>
                          </a:solidFill>
                          <a:latin typeface="Arial" pitchFamily="34" charset="0"/>
                          <a:ea typeface="Arial" pitchFamily="34" charset="-122"/>
                          <a:cs typeface="Arial" pitchFamily="34" charset="-120"/>
                        </a:rPr>
                        <a:t>handed down</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paradotheisē · aor. pass. ptc.</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Technical term for authoritative tradition (1 Cor 15:3) — no later, "more enlightened" version</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accent1"/>
                          </a:solidFill>
                          <a:latin typeface="Arial" pitchFamily="34" charset="0"/>
                          <a:ea typeface="Arial" pitchFamily="34" charset="-122"/>
                          <a:cs typeface="Arial" pitchFamily="34" charset="-120"/>
                        </a:rPr>
                        <a:t>to the saints</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tois hagiois</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Entrusted to every believer, not a professional class</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Five marks of the intruders</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v.4 · the reason for the charge</a:t>
            </a:r>
            <a:endParaRPr lang="en-US" sz="1400" dirty="0"/>
          </a:p>
        </p:txBody>
      </p:sp>
      <p:sp>
        <p:nvSpPr>
          <p:cNvPr id="4" name="Shape 2"/>
          <p:cNvSpPr/>
          <p:nvPr/>
        </p:nvSpPr>
        <p:spPr>
          <a:xfrm>
            <a:off x="548640" y="1417320"/>
            <a:ext cx="548640" cy="694944"/>
          </a:xfrm>
          <a:prstGeom prst="roundRect">
            <a:avLst>
              <a:gd name="adj" fmla="val 13333"/>
            </a:avLst>
          </a:prstGeom>
          <a:solidFill>
            <a:schemeClr val="accent4"/>
          </a:solidFill>
          <a:ln w="9525">
            <a:solidFill>
              <a:schemeClr val="accent4"/>
            </a:solidFill>
            <a:prstDash val="solid"/>
          </a:ln>
        </p:spPr>
      </p:sp>
      <p:sp>
        <p:nvSpPr>
          <p:cNvPr id="5" name="Text 3"/>
          <p:cNvSpPr txBox="1"/>
          <p:nvPr/>
        </p:nvSpPr>
        <p:spPr>
          <a:xfrm>
            <a:off x="548640" y="1417320"/>
            <a:ext cx="548640" cy="694944"/>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Shape 4"/>
          <p:cNvSpPr/>
          <p:nvPr/>
        </p:nvSpPr>
        <p:spPr>
          <a:xfrm>
            <a:off x="1234440" y="1417320"/>
            <a:ext cx="10378440" cy="694944"/>
          </a:xfrm>
          <a:prstGeom prst="rect">
            <a:avLst/>
          </a:prstGeom>
          <a:solidFill>
            <a:schemeClr val="bg2"/>
          </a:solidFill>
          <a:ln w="9525">
            <a:solidFill>
              <a:srgbClr val="D5DCEA"/>
            </a:solidFill>
            <a:prstDash val="solid"/>
          </a:ln>
        </p:spPr>
      </p:sp>
      <p:sp>
        <p:nvSpPr>
          <p:cNvPr id="7" name="Text 5"/>
          <p:cNvSpPr txBox="1"/>
          <p:nvPr/>
        </p:nvSpPr>
        <p:spPr>
          <a:xfrm>
            <a:off x="1371600" y="1417320"/>
            <a:ext cx="3657600" cy="694944"/>
          </a:xfrm>
          <a:prstGeom prst="rect">
            <a:avLst/>
          </a:prstGeom>
          <a:noFill/>
          <a:ln/>
        </p:spPr>
        <p:txBody>
          <a:bodyPr wrap="square" lIns="0" tIns="0" rIns="0" bIns="0" rtlCol="0" anchor="ctr"/>
          <a:lstStyle/>
          <a:p>
            <a:pPr indent="0" marL="0">
              <a:buNone/>
            </a:pPr>
            <a:r>
              <a:rPr lang="en-US" sz="1400" b="1" dirty="0">
                <a:solidFill>
                  <a:schemeClr val="tx2"/>
                </a:solidFill>
              </a:rPr>
              <a:t>Crept in unnoticed</a:t>
            </a:r>
            <a:endParaRPr lang="en-US" sz="1400" dirty="0"/>
          </a:p>
        </p:txBody>
      </p:sp>
      <p:sp>
        <p:nvSpPr>
          <p:cNvPr id="8" name="Text 6"/>
          <p:cNvSpPr txBox="1"/>
          <p:nvPr/>
        </p:nvSpPr>
        <p:spPr>
          <a:xfrm>
            <a:off x="5120640" y="1417320"/>
            <a:ext cx="1920240" cy="694944"/>
          </a:xfrm>
          <a:prstGeom prst="rect">
            <a:avLst/>
          </a:prstGeom>
          <a:noFill/>
          <a:ln/>
        </p:spPr>
        <p:txBody>
          <a:bodyPr wrap="square" lIns="0" tIns="0" rIns="0" bIns="0" rtlCol="0" anchor="ctr"/>
          <a:lstStyle/>
          <a:p>
            <a:pPr indent="0" marL="0">
              <a:buNone/>
            </a:pPr>
            <a:r>
              <a:rPr lang="en-US" sz="1300" b="1" dirty="0">
                <a:solidFill>
                  <a:schemeClr val="accent3"/>
                </a:solidFill>
              </a:rPr>
              <a:t>pareisedysan</a:t>
            </a:r>
            <a:endParaRPr lang="en-US" sz="1300" dirty="0"/>
          </a:p>
        </p:txBody>
      </p:sp>
      <p:sp>
        <p:nvSpPr>
          <p:cNvPr id="9" name="Text 7"/>
          <p:cNvSpPr txBox="1"/>
          <p:nvPr/>
        </p:nvSpPr>
        <p:spPr>
          <a:xfrm>
            <a:off x="7132320" y="1417320"/>
            <a:ext cx="4389120" cy="694944"/>
          </a:xfrm>
          <a:prstGeom prst="rect">
            <a:avLst/>
          </a:prstGeom>
          <a:noFill/>
          <a:ln/>
        </p:spPr>
        <p:txBody>
          <a:bodyPr wrap="square" lIns="0" tIns="0" rIns="0" bIns="0" rtlCol="0" anchor="ctr"/>
          <a:lstStyle/>
          <a:p>
            <a:pPr indent="0" marL="0">
              <a:buNone/>
            </a:pPr>
            <a:r>
              <a:rPr lang="en-US" sz="1300" dirty="0">
                <a:solidFill>
                  <a:schemeClr val="tx1"/>
                </a:solidFill>
              </a:rPr>
              <a:t>Slipped in by a side door — the danger came from within, quietly (cf. Gal 2:4)</a:t>
            </a:r>
            <a:endParaRPr lang="en-US" sz="1300" dirty="0"/>
          </a:p>
        </p:txBody>
      </p:sp>
      <p:sp>
        <p:nvSpPr>
          <p:cNvPr id="10" name="Shape 8"/>
          <p:cNvSpPr/>
          <p:nvPr/>
        </p:nvSpPr>
        <p:spPr>
          <a:xfrm>
            <a:off x="548640" y="2240280"/>
            <a:ext cx="548640" cy="694944"/>
          </a:xfrm>
          <a:prstGeom prst="roundRect">
            <a:avLst>
              <a:gd name="adj" fmla="val 13333"/>
            </a:avLst>
          </a:prstGeom>
          <a:solidFill>
            <a:schemeClr val="accent4"/>
          </a:solidFill>
          <a:ln w="9525">
            <a:solidFill>
              <a:schemeClr val="accent4"/>
            </a:solidFill>
            <a:prstDash val="solid"/>
          </a:ln>
        </p:spPr>
      </p:sp>
      <p:sp>
        <p:nvSpPr>
          <p:cNvPr id="11" name="Text 9"/>
          <p:cNvSpPr txBox="1"/>
          <p:nvPr/>
        </p:nvSpPr>
        <p:spPr>
          <a:xfrm>
            <a:off x="548640" y="2240280"/>
            <a:ext cx="548640" cy="694944"/>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Shape 10"/>
          <p:cNvSpPr/>
          <p:nvPr/>
        </p:nvSpPr>
        <p:spPr>
          <a:xfrm>
            <a:off x="1234440" y="2240280"/>
            <a:ext cx="10378440" cy="694944"/>
          </a:xfrm>
          <a:prstGeom prst="rect">
            <a:avLst/>
          </a:prstGeom>
          <a:solidFill>
            <a:schemeClr val="bg1"/>
          </a:solidFill>
          <a:ln w="9525">
            <a:solidFill>
              <a:srgbClr val="D5DCEA"/>
            </a:solidFill>
            <a:prstDash val="solid"/>
          </a:ln>
        </p:spPr>
      </p:sp>
      <p:sp>
        <p:nvSpPr>
          <p:cNvPr id="13" name="Text 11"/>
          <p:cNvSpPr txBox="1"/>
          <p:nvPr/>
        </p:nvSpPr>
        <p:spPr>
          <a:xfrm>
            <a:off x="1371600" y="2240280"/>
            <a:ext cx="3657600" cy="694944"/>
          </a:xfrm>
          <a:prstGeom prst="rect">
            <a:avLst/>
          </a:prstGeom>
          <a:noFill/>
          <a:ln/>
        </p:spPr>
        <p:txBody>
          <a:bodyPr wrap="square" lIns="0" tIns="0" rIns="0" bIns="0" rtlCol="0" anchor="ctr"/>
          <a:lstStyle/>
          <a:p>
            <a:pPr indent="0" marL="0">
              <a:buNone/>
            </a:pPr>
            <a:r>
              <a:rPr lang="en-US" sz="1400" b="1" dirty="0">
                <a:solidFill>
                  <a:schemeClr val="tx2"/>
                </a:solidFill>
              </a:rPr>
              <a:t>Long beforehand marked out for this condemnation</a:t>
            </a:r>
            <a:endParaRPr lang="en-US" sz="1400" dirty="0"/>
          </a:p>
        </p:txBody>
      </p:sp>
      <p:sp>
        <p:nvSpPr>
          <p:cNvPr id="14" name="Text 12"/>
          <p:cNvSpPr txBox="1"/>
          <p:nvPr/>
        </p:nvSpPr>
        <p:spPr>
          <a:xfrm>
            <a:off x="5120640" y="2240280"/>
            <a:ext cx="1920240" cy="694944"/>
          </a:xfrm>
          <a:prstGeom prst="rect">
            <a:avLst/>
          </a:prstGeom>
          <a:noFill/>
          <a:ln/>
        </p:spPr>
        <p:txBody>
          <a:bodyPr wrap="square" lIns="0" tIns="0" rIns="0" bIns="0" rtlCol="0" anchor="ctr"/>
          <a:lstStyle/>
          <a:p>
            <a:pPr indent="0" marL="0">
              <a:buNone/>
            </a:pPr>
            <a:r>
              <a:rPr lang="en-US" sz="1300" b="1" dirty="0">
                <a:solidFill>
                  <a:schemeClr val="accent3"/>
                </a:solidFill>
              </a:rPr>
              <a:t>progegrammenoi</a:t>
            </a:r>
            <a:endParaRPr lang="en-US" sz="1300" dirty="0"/>
          </a:p>
        </p:txBody>
      </p:sp>
      <p:sp>
        <p:nvSpPr>
          <p:cNvPr id="15" name="Text 13"/>
          <p:cNvSpPr txBox="1"/>
          <p:nvPr/>
        </p:nvSpPr>
        <p:spPr>
          <a:xfrm>
            <a:off x="7132320" y="2240280"/>
            <a:ext cx="4389120" cy="694944"/>
          </a:xfrm>
          <a:prstGeom prst="rect">
            <a:avLst/>
          </a:prstGeom>
          <a:noFill/>
          <a:ln/>
        </p:spPr>
        <p:txBody>
          <a:bodyPr wrap="square" lIns="0" tIns="0" rIns="0" bIns="0" rtlCol="0" anchor="ctr"/>
          <a:lstStyle/>
          <a:p>
            <a:pPr indent="0" marL="0">
              <a:buNone/>
            </a:pPr>
            <a:r>
              <a:rPr lang="en-US" sz="1300" dirty="0">
                <a:solidFill>
                  <a:schemeClr val="tx1"/>
                </a:solidFill>
              </a:rPr>
              <a:t>"Written beforehand" — their condemnation already on the page in vv.5–16</a:t>
            </a:r>
            <a:endParaRPr lang="en-US" sz="1300" dirty="0"/>
          </a:p>
        </p:txBody>
      </p:sp>
      <p:sp>
        <p:nvSpPr>
          <p:cNvPr id="16" name="Shape 14"/>
          <p:cNvSpPr/>
          <p:nvPr/>
        </p:nvSpPr>
        <p:spPr>
          <a:xfrm>
            <a:off x="548640" y="3063240"/>
            <a:ext cx="548640" cy="694944"/>
          </a:xfrm>
          <a:prstGeom prst="roundRect">
            <a:avLst>
              <a:gd name="adj" fmla="val 13333"/>
            </a:avLst>
          </a:prstGeom>
          <a:solidFill>
            <a:schemeClr val="accent4"/>
          </a:solidFill>
          <a:ln w="9525">
            <a:solidFill>
              <a:schemeClr val="accent4"/>
            </a:solidFill>
            <a:prstDash val="solid"/>
          </a:ln>
        </p:spPr>
      </p:sp>
      <p:sp>
        <p:nvSpPr>
          <p:cNvPr id="17" name="Text 15"/>
          <p:cNvSpPr txBox="1"/>
          <p:nvPr/>
        </p:nvSpPr>
        <p:spPr>
          <a:xfrm>
            <a:off x="548640" y="3063240"/>
            <a:ext cx="548640" cy="694944"/>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Shape 16"/>
          <p:cNvSpPr/>
          <p:nvPr/>
        </p:nvSpPr>
        <p:spPr>
          <a:xfrm>
            <a:off x="1234440" y="3063240"/>
            <a:ext cx="10378440" cy="694944"/>
          </a:xfrm>
          <a:prstGeom prst="rect">
            <a:avLst/>
          </a:prstGeom>
          <a:solidFill>
            <a:schemeClr val="bg2"/>
          </a:solidFill>
          <a:ln w="9525">
            <a:solidFill>
              <a:srgbClr val="D5DCEA"/>
            </a:solidFill>
            <a:prstDash val="solid"/>
          </a:ln>
        </p:spPr>
      </p:sp>
      <p:sp>
        <p:nvSpPr>
          <p:cNvPr id="19" name="Text 17"/>
          <p:cNvSpPr txBox="1"/>
          <p:nvPr/>
        </p:nvSpPr>
        <p:spPr>
          <a:xfrm>
            <a:off x="1371600" y="3063240"/>
            <a:ext cx="3657600" cy="694944"/>
          </a:xfrm>
          <a:prstGeom prst="rect">
            <a:avLst/>
          </a:prstGeom>
          <a:noFill/>
          <a:ln/>
        </p:spPr>
        <p:txBody>
          <a:bodyPr wrap="square" lIns="0" tIns="0" rIns="0" bIns="0" rtlCol="0" anchor="ctr"/>
          <a:lstStyle/>
          <a:p>
            <a:pPr indent="0" marL="0">
              <a:buNone/>
            </a:pPr>
            <a:r>
              <a:rPr lang="en-US" sz="1400" b="1" dirty="0">
                <a:solidFill>
                  <a:schemeClr val="tx2"/>
                </a:solidFill>
              </a:rPr>
              <a:t>Ungodly persons</a:t>
            </a:r>
            <a:endParaRPr lang="en-US" sz="1400" dirty="0"/>
          </a:p>
        </p:txBody>
      </p:sp>
      <p:sp>
        <p:nvSpPr>
          <p:cNvPr id="20" name="Text 18"/>
          <p:cNvSpPr txBox="1"/>
          <p:nvPr/>
        </p:nvSpPr>
        <p:spPr>
          <a:xfrm>
            <a:off x="5120640" y="3063240"/>
            <a:ext cx="1920240" cy="694944"/>
          </a:xfrm>
          <a:prstGeom prst="rect">
            <a:avLst/>
          </a:prstGeom>
          <a:noFill/>
          <a:ln/>
        </p:spPr>
        <p:txBody>
          <a:bodyPr wrap="square" lIns="0" tIns="0" rIns="0" bIns="0" rtlCol="0" anchor="ctr"/>
          <a:lstStyle/>
          <a:p>
            <a:pPr indent="0" marL="0">
              <a:buNone/>
            </a:pPr>
            <a:r>
              <a:rPr lang="en-US" sz="1300" b="1" dirty="0">
                <a:solidFill>
                  <a:schemeClr val="accent3"/>
                </a:solidFill>
              </a:rPr>
              <a:t>asebeis</a:t>
            </a:r>
            <a:endParaRPr lang="en-US" sz="1300" dirty="0"/>
          </a:p>
        </p:txBody>
      </p:sp>
      <p:sp>
        <p:nvSpPr>
          <p:cNvPr id="21" name="Text 19"/>
          <p:cNvSpPr txBox="1"/>
          <p:nvPr/>
        </p:nvSpPr>
        <p:spPr>
          <a:xfrm>
            <a:off x="7132320" y="3063240"/>
            <a:ext cx="4389120" cy="694944"/>
          </a:xfrm>
          <a:prstGeom prst="rect">
            <a:avLst/>
          </a:prstGeom>
          <a:noFill/>
          <a:ln/>
        </p:spPr>
        <p:txBody>
          <a:bodyPr wrap="square" lIns="0" tIns="0" rIns="0" bIns="0" rtlCol="0" anchor="ctr"/>
          <a:lstStyle/>
          <a:p>
            <a:pPr indent="0" marL="0">
              <a:buNone/>
            </a:pPr>
            <a:r>
              <a:rPr lang="en-US" sz="1300" dirty="0">
                <a:solidFill>
                  <a:schemeClr val="tx1"/>
                </a:solidFill>
              </a:rPr>
              <a:t>Jude's signature word (vv.4, 15, 18) — a settled orientation, not struggling believers</a:t>
            </a:r>
            <a:endParaRPr lang="en-US" sz="1300" dirty="0"/>
          </a:p>
        </p:txBody>
      </p:sp>
      <p:sp>
        <p:nvSpPr>
          <p:cNvPr id="22" name="Shape 20"/>
          <p:cNvSpPr/>
          <p:nvPr/>
        </p:nvSpPr>
        <p:spPr>
          <a:xfrm>
            <a:off x="548640" y="3886200"/>
            <a:ext cx="548640" cy="694944"/>
          </a:xfrm>
          <a:prstGeom prst="roundRect">
            <a:avLst>
              <a:gd name="adj" fmla="val 13333"/>
            </a:avLst>
          </a:prstGeom>
          <a:solidFill>
            <a:schemeClr val="accent4"/>
          </a:solidFill>
          <a:ln w="9525">
            <a:solidFill>
              <a:schemeClr val="accent4"/>
            </a:solidFill>
            <a:prstDash val="solid"/>
          </a:ln>
        </p:spPr>
      </p:sp>
      <p:sp>
        <p:nvSpPr>
          <p:cNvPr id="23" name="Text 21"/>
          <p:cNvSpPr txBox="1"/>
          <p:nvPr/>
        </p:nvSpPr>
        <p:spPr>
          <a:xfrm>
            <a:off x="548640" y="3886200"/>
            <a:ext cx="548640" cy="694944"/>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4" name="Shape 22"/>
          <p:cNvSpPr/>
          <p:nvPr/>
        </p:nvSpPr>
        <p:spPr>
          <a:xfrm>
            <a:off x="1234440" y="3886200"/>
            <a:ext cx="10378440" cy="694944"/>
          </a:xfrm>
          <a:prstGeom prst="rect">
            <a:avLst/>
          </a:prstGeom>
          <a:solidFill>
            <a:schemeClr val="bg1"/>
          </a:solidFill>
          <a:ln w="9525">
            <a:solidFill>
              <a:srgbClr val="D5DCEA"/>
            </a:solidFill>
            <a:prstDash val="solid"/>
          </a:ln>
        </p:spPr>
      </p:sp>
      <p:sp>
        <p:nvSpPr>
          <p:cNvPr id="25" name="Text 23"/>
          <p:cNvSpPr txBox="1"/>
          <p:nvPr/>
        </p:nvSpPr>
        <p:spPr>
          <a:xfrm>
            <a:off x="1371600" y="3886200"/>
            <a:ext cx="3657600" cy="694944"/>
          </a:xfrm>
          <a:prstGeom prst="rect">
            <a:avLst/>
          </a:prstGeom>
          <a:noFill/>
          <a:ln/>
        </p:spPr>
        <p:txBody>
          <a:bodyPr wrap="square" lIns="0" tIns="0" rIns="0" bIns="0" rtlCol="0" anchor="ctr"/>
          <a:lstStyle/>
          <a:p>
            <a:pPr indent="0" marL="0">
              <a:buNone/>
            </a:pPr>
            <a:r>
              <a:rPr lang="en-US" sz="1400" b="1" dirty="0">
                <a:solidFill>
                  <a:schemeClr val="tx2"/>
                </a:solidFill>
              </a:rPr>
              <a:t>Turn the grace of our God into licentiousness</a:t>
            </a:r>
            <a:endParaRPr lang="en-US" sz="1400" dirty="0"/>
          </a:p>
        </p:txBody>
      </p:sp>
      <p:sp>
        <p:nvSpPr>
          <p:cNvPr id="26" name="Text 24"/>
          <p:cNvSpPr txBox="1"/>
          <p:nvPr/>
        </p:nvSpPr>
        <p:spPr>
          <a:xfrm>
            <a:off x="5120640" y="3886200"/>
            <a:ext cx="1920240" cy="694944"/>
          </a:xfrm>
          <a:prstGeom prst="rect">
            <a:avLst/>
          </a:prstGeom>
          <a:noFill/>
          <a:ln/>
        </p:spPr>
        <p:txBody>
          <a:bodyPr wrap="square" lIns="0" tIns="0" rIns="0" bIns="0" rtlCol="0" anchor="ctr"/>
          <a:lstStyle/>
          <a:p>
            <a:pPr indent="0" marL="0">
              <a:buNone/>
            </a:pPr>
            <a:r>
              <a:rPr lang="en-US" sz="1300" b="1" dirty="0">
                <a:solidFill>
                  <a:schemeClr val="accent3"/>
                </a:solidFill>
              </a:rPr>
              <a:t>aselgeia</a:t>
            </a:r>
            <a:endParaRPr lang="en-US" sz="1300" dirty="0"/>
          </a:p>
        </p:txBody>
      </p:sp>
      <p:sp>
        <p:nvSpPr>
          <p:cNvPr id="27" name="Text 25"/>
          <p:cNvSpPr txBox="1"/>
          <p:nvPr/>
        </p:nvSpPr>
        <p:spPr>
          <a:xfrm>
            <a:off x="7132320" y="3886200"/>
            <a:ext cx="4389120" cy="694944"/>
          </a:xfrm>
          <a:prstGeom prst="rect">
            <a:avLst/>
          </a:prstGeom>
          <a:noFill/>
          <a:ln/>
        </p:spPr>
        <p:txBody>
          <a:bodyPr wrap="square" lIns="0" tIns="0" rIns="0" bIns="0" rtlCol="0" anchor="ctr"/>
          <a:lstStyle/>
          <a:p>
            <a:pPr indent="0" marL="0">
              <a:buNone/>
            </a:pPr>
            <a:r>
              <a:rPr lang="en-US" sz="1300" dirty="0">
                <a:solidFill>
                  <a:schemeClr val="tx1"/>
                </a:solidFill>
              </a:rPr>
              <a:t>Unrestrained sensuality — grace twisted into a license to sin</a:t>
            </a:r>
            <a:endParaRPr lang="en-US" sz="1300" dirty="0"/>
          </a:p>
        </p:txBody>
      </p:sp>
      <p:sp>
        <p:nvSpPr>
          <p:cNvPr id="28" name="Shape 26"/>
          <p:cNvSpPr/>
          <p:nvPr/>
        </p:nvSpPr>
        <p:spPr>
          <a:xfrm>
            <a:off x="548640" y="4709160"/>
            <a:ext cx="548640" cy="694944"/>
          </a:xfrm>
          <a:prstGeom prst="roundRect">
            <a:avLst>
              <a:gd name="adj" fmla="val 13333"/>
            </a:avLst>
          </a:prstGeom>
          <a:solidFill>
            <a:schemeClr val="accent4"/>
          </a:solidFill>
          <a:ln w="9525">
            <a:solidFill>
              <a:schemeClr val="accent4"/>
            </a:solidFill>
            <a:prstDash val="solid"/>
          </a:ln>
        </p:spPr>
      </p:sp>
      <p:sp>
        <p:nvSpPr>
          <p:cNvPr id="29" name="Text 27"/>
          <p:cNvSpPr txBox="1"/>
          <p:nvPr/>
        </p:nvSpPr>
        <p:spPr>
          <a:xfrm>
            <a:off x="548640" y="4709160"/>
            <a:ext cx="548640" cy="694944"/>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0" name="Shape 28"/>
          <p:cNvSpPr/>
          <p:nvPr/>
        </p:nvSpPr>
        <p:spPr>
          <a:xfrm>
            <a:off x="1234440" y="4709160"/>
            <a:ext cx="10378440" cy="694944"/>
          </a:xfrm>
          <a:prstGeom prst="rect">
            <a:avLst/>
          </a:prstGeom>
          <a:solidFill>
            <a:schemeClr val="bg2"/>
          </a:solidFill>
          <a:ln w="9525">
            <a:solidFill>
              <a:srgbClr val="D5DCEA"/>
            </a:solidFill>
            <a:prstDash val="solid"/>
          </a:ln>
        </p:spPr>
      </p:sp>
      <p:sp>
        <p:nvSpPr>
          <p:cNvPr id="31" name="Text 29"/>
          <p:cNvSpPr txBox="1"/>
          <p:nvPr/>
        </p:nvSpPr>
        <p:spPr>
          <a:xfrm>
            <a:off x="1371600" y="4709160"/>
            <a:ext cx="3657600" cy="694944"/>
          </a:xfrm>
          <a:prstGeom prst="rect">
            <a:avLst/>
          </a:prstGeom>
          <a:noFill/>
          <a:ln/>
        </p:spPr>
        <p:txBody>
          <a:bodyPr wrap="square" lIns="0" tIns="0" rIns="0" bIns="0" rtlCol="0" anchor="ctr"/>
          <a:lstStyle/>
          <a:p>
            <a:pPr indent="0" marL="0">
              <a:buNone/>
            </a:pPr>
            <a:r>
              <a:rPr lang="en-US" sz="1400" b="1" dirty="0">
                <a:solidFill>
                  <a:schemeClr val="tx2"/>
                </a:solidFill>
              </a:rPr>
              <a:t>Deny our only Master and Lord, Jesus Christ</a:t>
            </a:r>
            <a:endParaRPr lang="en-US" sz="1400" dirty="0"/>
          </a:p>
        </p:txBody>
      </p:sp>
      <p:sp>
        <p:nvSpPr>
          <p:cNvPr id="32" name="Text 30"/>
          <p:cNvSpPr txBox="1"/>
          <p:nvPr/>
        </p:nvSpPr>
        <p:spPr>
          <a:xfrm>
            <a:off x="5120640" y="4709160"/>
            <a:ext cx="1920240" cy="694944"/>
          </a:xfrm>
          <a:prstGeom prst="rect">
            <a:avLst/>
          </a:prstGeom>
          <a:noFill/>
          <a:ln/>
        </p:spPr>
        <p:txBody>
          <a:bodyPr wrap="square" lIns="0" tIns="0" rIns="0" bIns="0" rtlCol="0" anchor="ctr"/>
          <a:lstStyle/>
          <a:p>
            <a:pPr indent="0" marL="0">
              <a:buNone/>
            </a:pPr>
            <a:r>
              <a:rPr lang="en-US" sz="1300" b="1" dirty="0">
                <a:solidFill>
                  <a:schemeClr val="accent3"/>
                </a:solidFill>
              </a:rPr>
              <a:t>arnoumenoi · despotēn</a:t>
            </a:r>
            <a:endParaRPr lang="en-US" sz="1300" dirty="0"/>
          </a:p>
        </p:txBody>
      </p:sp>
      <p:sp>
        <p:nvSpPr>
          <p:cNvPr id="33" name="Text 31"/>
          <p:cNvSpPr txBox="1"/>
          <p:nvPr/>
        </p:nvSpPr>
        <p:spPr>
          <a:xfrm>
            <a:off x="7132320" y="4709160"/>
            <a:ext cx="4389120" cy="694944"/>
          </a:xfrm>
          <a:prstGeom prst="rect">
            <a:avLst/>
          </a:prstGeom>
          <a:noFill/>
          <a:ln/>
        </p:spPr>
        <p:txBody>
          <a:bodyPr wrap="square" lIns="0" tIns="0" rIns="0" bIns="0" rtlCol="0" anchor="ctr"/>
          <a:lstStyle/>
          <a:p>
            <a:pPr indent="0" marL="0">
              <a:buNone/>
            </a:pPr>
            <a:r>
              <a:rPr lang="en-US" sz="1300" dirty="0">
                <a:solidFill>
                  <a:schemeClr val="tx1"/>
                </a:solidFill>
              </a:rPr>
              <a:t>An ongoing pattern; the despotēs Jude serves as doulos (v.1), they reject</a:t>
            </a:r>
            <a:endParaRPr lang="en-US" sz="1300" dirty="0"/>
          </a:p>
        </p:txBody>
      </p:sp>
      <p:sp>
        <p:nvSpPr>
          <p:cNvPr id="34" name="Shape 32"/>
          <p:cNvSpPr/>
          <p:nvPr/>
        </p:nvSpPr>
        <p:spPr>
          <a:xfrm>
            <a:off x="548640" y="5623560"/>
            <a:ext cx="11064240" cy="658368"/>
          </a:xfrm>
          <a:prstGeom prst="roundRect">
            <a:avLst>
              <a:gd name="adj" fmla="val 11111"/>
            </a:avLst>
          </a:prstGeom>
          <a:solidFill>
            <a:schemeClr val="tx2"/>
          </a:solidFill>
          <a:ln w="9525">
            <a:solidFill>
              <a:schemeClr val="tx2"/>
            </a:solidFill>
            <a:prstDash val="solid"/>
          </a:ln>
        </p:spPr>
      </p:sp>
      <p:sp>
        <p:nvSpPr>
          <p:cNvPr id="35" name="Text 33"/>
          <p:cNvSpPr txBox="1"/>
          <p:nvPr/>
        </p:nvSpPr>
        <p:spPr>
          <a:xfrm>
            <a:off x="777240" y="5623560"/>
            <a:ext cx="10607040" cy="658368"/>
          </a:xfrm>
          <a:prstGeom prst="rect">
            <a:avLst/>
          </a:prstGeom>
          <a:noFill/>
          <a:ln/>
        </p:spPr>
        <p:txBody>
          <a:bodyPr wrap="square" lIns="0" tIns="0" rIns="0" bIns="0" rtlCol="0" anchor="ctr"/>
          <a:lstStyle/>
          <a:p>
            <a:pPr indent="0" marL="0">
              <a:buNone/>
            </a:pPr>
            <a:r>
              <a:rPr lang="en-US" sz="1500" dirty="0">
                <a:solidFill>
                  <a:schemeClr val="bg1"/>
                </a:solidFill>
              </a:rPr>
              <a:t>"They claimed the benefits of grace while refusing the Lord of grace." Jude does not call them believers: they are "devoid of the Spirit" (v.19).</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"Long beforehand marked out"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Two readings of v.4</a:t>
            </a:r>
            <a:endParaRPr lang="en-US" sz="1400" dirty="0"/>
          </a:p>
        </p:txBody>
      </p:sp>
      <p:sp>
        <p:nvSpPr>
          <p:cNvPr id="4" name="Shape 2"/>
          <p:cNvSpPr/>
          <p:nvPr/>
        </p:nvSpPr>
        <p:spPr>
          <a:xfrm>
            <a:off x="548640" y="1371600"/>
            <a:ext cx="5440680" cy="457200"/>
          </a:xfrm>
          <a:prstGeom prst="rect">
            <a:avLst/>
          </a:prstGeom>
          <a:solidFill>
            <a:schemeClr val="accent4"/>
          </a:solidFill>
          <a:ln w="9525">
            <a:solidFill>
              <a:schemeClr val="accent4"/>
            </a:solidFill>
            <a:prstDash val="solid"/>
          </a:ln>
        </p:spPr>
      </p:sp>
      <p:sp>
        <p:nvSpPr>
          <p:cNvPr id="5" name="Text 3"/>
          <p:cNvSpPr txBox="1"/>
          <p:nvPr/>
        </p:nvSpPr>
        <p:spPr>
          <a:xfrm>
            <a:off x="731520" y="1371600"/>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Reformed (counterpoint)</a:t>
            </a:r>
            <a:endParaRPr lang="en-US" sz="1500" dirty="0"/>
          </a:p>
        </p:txBody>
      </p:sp>
      <p:sp>
        <p:nvSpPr>
          <p:cNvPr id="6" name="Shape 4"/>
          <p:cNvSpPr/>
          <p:nvPr/>
        </p:nvSpPr>
        <p:spPr>
          <a:xfrm>
            <a:off x="548640" y="1828800"/>
            <a:ext cx="5440680" cy="2514600"/>
          </a:xfrm>
          <a:prstGeom prst="rect">
            <a:avLst/>
          </a:prstGeom>
          <a:solidFill>
            <a:schemeClr val="bg2"/>
          </a:solidFill>
          <a:ln w="9525">
            <a:solidFill>
              <a:srgbClr val="D5DCEA"/>
            </a:solidFill>
            <a:prstDash val="solid"/>
          </a:ln>
        </p:spPr>
      </p:sp>
      <p:sp>
        <p:nvSpPr>
          <p:cNvPr id="7" name="Text 5"/>
          <p:cNvSpPr txBox="1"/>
          <p:nvPr/>
        </p:nvSpPr>
        <p:spPr>
          <a:xfrm>
            <a:off x="731520" y="1938528"/>
            <a:ext cx="5120640" cy="2313432"/>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 statement of eternal decree: these individuals were foreordained to condemnation (cf. 1 Pet 2:8)</a:t>
            </a:r>
            <a:endParaRPr lang="en-US" sz="1400" dirty="0"/>
          </a:p>
          <a:p>
            <a:pPr marL="342900" indent="-342900">
              <a:spcAft>
                <a:spcPts val="600"/>
              </a:spcAft>
              <a:buSzPct val="100000"/>
              <a:buChar char="•"/>
            </a:pPr>
            <a:r>
              <a:rPr lang="en-US" sz="1400" dirty="0">
                <a:solidFill>
                  <a:schemeClr val="tx1"/>
                </a:solidFill>
              </a:rPr>
              <a:t>Draws on the classical doctrine of reprobation (Calvin; Westminster Confession ch.3)</a:t>
            </a:r>
            <a:endParaRPr lang="en-US" sz="1400" dirty="0"/>
          </a:p>
        </p:txBody>
      </p:sp>
      <p:sp>
        <p:nvSpPr>
          <p:cNvPr id="8" name="Shape 6"/>
          <p:cNvSpPr/>
          <p:nvPr/>
        </p:nvSpPr>
        <p:spPr>
          <a:xfrm>
            <a:off x="6172200" y="1371600"/>
            <a:ext cx="5440680" cy="457200"/>
          </a:xfrm>
          <a:prstGeom prst="rect">
            <a:avLst/>
          </a:prstGeom>
          <a:solidFill>
            <a:schemeClr val="accent1"/>
          </a:solidFill>
          <a:ln w="9525">
            <a:solidFill>
              <a:schemeClr val="accent1"/>
            </a:solidFill>
            <a:prstDash val="solid"/>
          </a:ln>
        </p:spPr>
      </p:sp>
      <p:sp>
        <p:nvSpPr>
          <p:cNvPr id="9" name="Text 7"/>
          <p:cNvSpPr txBox="1"/>
          <p:nvPr/>
        </p:nvSpPr>
        <p:spPr>
          <a:xfrm>
            <a:off x="6355080" y="1371600"/>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Free Grace / DTS (series view)</a:t>
            </a:r>
            <a:endParaRPr lang="en-US" sz="1500" dirty="0"/>
          </a:p>
        </p:txBody>
      </p:sp>
      <p:sp>
        <p:nvSpPr>
          <p:cNvPr id="10" name="Shape 8"/>
          <p:cNvSpPr/>
          <p:nvPr/>
        </p:nvSpPr>
        <p:spPr>
          <a:xfrm>
            <a:off x="6172200" y="1828800"/>
            <a:ext cx="5440680" cy="2514600"/>
          </a:xfrm>
          <a:prstGeom prst="rect">
            <a:avLst/>
          </a:prstGeom>
          <a:solidFill>
            <a:schemeClr val="bg2"/>
          </a:solidFill>
          <a:ln w="9525">
            <a:solidFill>
              <a:srgbClr val="D5DCEA"/>
            </a:solidFill>
            <a:prstDash val="solid"/>
          </a:ln>
        </p:spPr>
      </p:sp>
      <p:sp>
        <p:nvSpPr>
          <p:cNvPr id="11" name="Text 9"/>
          <p:cNvSpPr txBox="1"/>
          <p:nvPr/>
        </p:nvSpPr>
        <p:spPr>
          <a:xfrm>
            <a:off x="6355080" y="1938528"/>
            <a:ext cx="5120640" cy="2313432"/>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progegrammenoi = "written beforehand" (cf. Rom 15:4)</a:t>
            </a:r>
            <a:endParaRPr lang="en-US" sz="1400" dirty="0"/>
          </a:p>
          <a:p>
            <a:pPr marL="342900" indent="-342900">
              <a:spcAft>
                <a:spcPts val="600"/>
              </a:spcAft>
              <a:buSzPct val="100000"/>
              <a:buChar char="•"/>
            </a:pPr>
            <a:r>
              <a:rPr lang="en-US" sz="1400" dirty="0">
                <a:solidFill>
                  <a:schemeClr val="tx1"/>
                </a:solidFill>
              </a:rPr>
              <a:t>Jude immediately says "I desire to remind you" (v.5) and cites written examples and Enoch's prophecy (vv.5–16)</a:t>
            </a:r>
            <a:endParaRPr lang="en-US" sz="1400" dirty="0"/>
          </a:p>
          <a:p>
            <a:pPr marL="342900" indent="-342900">
              <a:spcAft>
                <a:spcPts val="600"/>
              </a:spcAft>
              <a:buSzPct val="100000"/>
              <a:buChar char="•"/>
            </a:pPr>
            <a:r>
              <a:rPr lang="en-US" sz="1400" dirty="0">
                <a:solidFill>
                  <a:schemeClr val="tx1"/>
                </a:solidFill>
              </a:rPr>
              <a:t>Their condemnation was already on the page (Constable; Bible Knowledge Commentary; Wilkin, Is Calvinism Biblical?)</a:t>
            </a:r>
            <a:endParaRPr lang="en-US" sz="1400" dirty="0"/>
          </a:p>
        </p:txBody>
      </p:sp>
      <p:sp>
        <p:nvSpPr>
          <p:cNvPr id="12" name="Shape 10"/>
          <p:cNvSpPr/>
          <p:nvPr/>
        </p:nvSpPr>
        <p:spPr>
          <a:xfrm>
            <a:off x="548640" y="4526280"/>
            <a:ext cx="11064240" cy="868680"/>
          </a:xfrm>
          <a:prstGeom prst="roundRect">
            <a:avLst>
              <a:gd name="adj" fmla="val 8421"/>
            </a:avLst>
          </a:prstGeom>
          <a:solidFill>
            <a:schemeClr val="tx2"/>
          </a:solidFill>
          <a:ln w="9525">
            <a:solidFill>
              <a:schemeClr val="tx2"/>
            </a:solidFill>
            <a:prstDash val="solid"/>
          </a:ln>
        </p:spPr>
      </p:sp>
      <p:sp>
        <p:nvSpPr>
          <p:cNvPr id="13" name="Text 11"/>
          <p:cNvSpPr txBox="1"/>
          <p:nvPr/>
        </p:nvSpPr>
        <p:spPr>
          <a:xfrm>
            <a:off x="777240" y="4526280"/>
            <a:ext cx="10607040" cy="868680"/>
          </a:xfrm>
          <a:prstGeom prst="rect">
            <a:avLst/>
          </a:prstGeom>
          <a:noFill/>
          <a:ln/>
        </p:spPr>
        <p:txBody>
          <a:bodyPr wrap="square" lIns="0" tIns="0" rIns="0" bIns="0" rtlCol="0" anchor="ctr"/>
          <a:lstStyle/>
          <a:p>
            <a:pPr indent="0" marL="0">
              <a:buNone/>
            </a:pPr>
            <a:r>
              <a:rPr lang="en-US" sz="1500" dirty="0">
                <a:solidFill>
                  <a:schemeClr val="bg1"/>
                </a:solidFill>
              </a:rPr>
              <a:t>The focus stays where Jude puts it: on the certainty of God's judgment against those who corrupt His grace — not on a decree hidden in eternity.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Grace, not license</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The charge critics bring against Free Grace — and the answer (v.4)</a:t>
            </a:r>
            <a:endParaRPr lang="en-US" sz="1400" dirty="0"/>
          </a:p>
        </p:txBody>
      </p:sp>
      <p:sp>
        <p:nvSpPr>
          <p:cNvPr id="4" name="Shape 2"/>
          <p:cNvSpPr/>
          <p:nvPr/>
        </p:nvSpPr>
        <p:spPr>
          <a:xfrm>
            <a:off x="548640" y="1371600"/>
            <a:ext cx="11064240" cy="566928"/>
          </a:xfrm>
          <a:prstGeom prst="roundRect">
            <a:avLst>
              <a:gd name="adj" fmla="val 12903"/>
            </a:avLst>
          </a:prstGeom>
          <a:solidFill>
            <a:schemeClr val="accent6"/>
          </a:solidFill>
          <a:ln w="9525">
            <a:solidFill>
              <a:srgbClr val="C9D8C0"/>
            </a:solidFill>
            <a:prstDash val="solid"/>
          </a:ln>
        </p:spPr>
      </p:sp>
      <p:sp>
        <p:nvSpPr>
          <p:cNvPr id="5" name="Text 3"/>
          <p:cNvSpPr txBox="1"/>
          <p:nvPr/>
        </p:nvSpPr>
        <p:spPr>
          <a:xfrm>
            <a:off x="731520" y="1371600"/>
            <a:ext cx="10698480" cy="566928"/>
          </a:xfrm>
          <a:prstGeom prst="rect">
            <a:avLst/>
          </a:prstGeom>
          <a:noFill/>
          <a:ln/>
        </p:spPr>
        <p:txBody>
          <a:bodyPr wrap="square" lIns="0" tIns="0" rIns="0" bIns="0" rtlCol="0" anchor="ctr"/>
          <a:lstStyle/>
          <a:p>
            <a:pPr indent="0" marL="0">
              <a:buNone/>
            </a:pPr>
            <a:r>
              <a:rPr lang="en-US" sz="1400" b="1" dirty="0">
                <a:solidFill>
                  <a:schemeClr val="accent2"/>
                </a:solidFill>
              </a:rPr>
              <a:t>Agreement  </a:t>
            </a:r>
            <a:pPr indent="0" marL="0">
              <a:buNone/>
            </a:pPr>
            <a:r>
              <a:rPr lang="en-US" sz="1400" dirty="0">
                <a:solidFill>
                  <a:schemeClr val="tx1"/>
                </a:solidFill>
              </a:rPr>
              <a:t>Grace is never a license for sin — "Are we to continue in sin so that grace may increase? May it never be!" (Rom 6:1–2)</a:t>
            </a:r>
            <a:endParaRPr lang="en-US" sz="1400" dirty="0"/>
          </a:p>
        </p:txBody>
      </p:sp>
      <p:sp>
        <p:nvSpPr>
          <p:cNvPr id="6" name="Shape 4"/>
          <p:cNvSpPr/>
          <p:nvPr/>
        </p:nvSpPr>
        <p:spPr>
          <a:xfrm>
            <a:off x="548640" y="2084832"/>
            <a:ext cx="5440680" cy="457200"/>
          </a:xfrm>
          <a:prstGeom prst="rect">
            <a:avLst/>
          </a:prstGeom>
          <a:solidFill>
            <a:schemeClr val="accent4"/>
          </a:solidFill>
          <a:ln w="9525">
            <a:solidFill>
              <a:schemeClr val="accent4"/>
            </a:solidFill>
            <a:prstDash val="solid"/>
          </a:ln>
        </p:spPr>
      </p:sp>
      <p:sp>
        <p:nvSpPr>
          <p:cNvPr id="7" name="Text 5"/>
          <p:cNvSpPr txBox="1"/>
          <p:nvPr/>
        </p:nvSpPr>
        <p:spPr>
          <a:xfrm>
            <a:off x="731520" y="2084832"/>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Lordship Salvation (counterpoint)</a:t>
            </a:r>
            <a:endParaRPr lang="en-US" sz="1500" dirty="0"/>
          </a:p>
        </p:txBody>
      </p:sp>
      <p:sp>
        <p:nvSpPr>
          <p:cNvPr id="8" name="Shape 6"/>
          <p:cNvSpPr/>
          <p:nvPr/>
        </p:nvSpPr>
        <p:spPr>
          <a:xfrm>
            <a:off x="548640" y="2542032"/>
            <a:ext cx="5440680" cy="1801368"/>
          </a:xfrm>
          <a:prstGeom prst="rect">
            <a:avLst/>
          </a:prstGeom>
          <a:solidFill>
            <a:schemeClr val="bg2"/>
          </a:solidFill>
          <a:ln w="9525">
            <a:solidFill>
              <a:srgbClr val="D5DCEA"/>
            </a:solidFill>
            <a:prstDash val="solid"/>
          </a:ln>
        </p:spPr>
      </p:sp>
      <p:sp>
        <p:nvSpPr>
          <p:cNvPr id="9" name="Text 7"/>
          <p:cNvSpPr txBox="1"/>
          <p:nvPr/>
        </p:nvSpPr>
        <p:spPr>
          <a:xfrm>
            <a:off x="731520" y="265176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Free Grace teaching leads to the very error Jude condemns (MacArthur, The Gospel According to Jesus)</a:t>
            </a:r>
            <a:endParaRPr lang="en-US" sz="1400" dirty="0"/>
          </a:p>
          <a:p>
            <a:pPr marL="342900" indent="-342900">
              <a:spcAft>
                <a:spcPts val="600"/>
              </a:spcAft>
              <a:buSzPct val="100000"/>
              <a:buChar char="•"/>
            </a:pPr>
            <a:r>
              <a:rPr lang="en-US" sz="1400" dirty="0">
                <a:solidFill>
                  <a:schemeClr val="tx1"/>
                </a:solidFill>
              </a:rPr>
              <a:t>Sproul: receiving Jesus as Savior but not as Lord is "antinomianism with a vengeance"</a:t>
            </a:r>
            <a:endParaRPr lang="en-US" sz="1400" dirty="0"/>
          </a:p>
          <a:p>
            <a:pPr marL="342900" indent="-342900">
              <a:spcAft>
                <a:spcPts val="600"/>
              </a:spcAft>
              <a:buSzPct val="100000"/>
              <a:buChar char="•"/>
            </a:pPr>
            <a:r>
              <a:rPr lang="en-US" sz="1400" dirty="0">
                <a:solidFill>
                  <a:schemeClr val="tx1"/>
                </a:solidFill>
              </a:rPr>
              <a:t>Remedy: saving faith necessarily includes submission and persevering obedience</a:t>
            </a:r>
            <a:endParaRPr lang="en-US" sz="1400" dirty="0"/>
          </a:p>
        </p:txBody>
      </p:sp>
      <p:sp>
        <p:nvSpPr>
          <p:cNvPr id="10" name="Shape 8"/>
          <p:cNvSpPr/>
          <p:nvPr/>
        </p:nvSpPr>
        <p:spPr>
          <a:xfrm>
            <a:off x="6172200" y="2084832"/>
            <a:ext cx="5440680" cy="457200"/>
          </a:xfrm>
          <a:prstGeom prst="rect">
            <a:avLst/>
          </a:prstGeom>
          <a:solidFill>
            <a:schemeClr val="accent1"/>
          </a:solidFill>
          <a:ln w="9525">
            <a:solidFill>
              <a:schemeClr val="accent1"/>
            </a:solidFill>
            <a:prstDash val="solid"/>
          </a:ln>
        </p:spPr>
      </p:sp>
      <p:sp>
        <p:nvSpPr>
          <p:cNvPr id="11" name="Text 9"/>
          <p:cNvSpPr txBox="1"/>
          <p:nvPr/>
        </p:nvSpPr>
        <p:spPr>
          <a:xfrm>
            <a:off x="6355080" y="2084832"/>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Free Grace (series view)</a:t>
            </a:r>
            <a:endParaRPr lang="en-US" sz="1500" dirty="0"/>
          </a:p>
        </p:txBody>
      </p:sp>
      <p:sp>
        <p:nvSpPr>
          <p:cNvPr id="12" name="Shape 10"/>
          <p:cNvSpPr/>
          <p:nvPr/>
        </p:nvSpPr>
        <p:spPr>
          <a:xfrm>
            <a:off x="6172200" y="2542032"/>
            <a:ext cx="5440680" cy="1801368"/>
          </a:xfrm>
          <a:prstGeom prst="rect">
            <a:avLst/>
          </a:prstGeom>
          <a:solidFill>
            <a:schemeClr val="bg2"/>
          </a:solidFill>
          <a:ln w="9525">
            <a:solidFill>
              <a:srgbClr val="D5DCEA"/>
            </a:solidFill>
            <a:prstDash val="solid"/>
          </a:ln>
        </p:spPr>
      </p:sp>
      <p:sp>
        <p:nvSpPr>
          <p:cNvPr id="13" name="Text 11"/>
          <p:cNvSpPr txBox="1"/>
          <p:nvPr/>
        </p:nvSpPr>
        <p:spPr>
          <a:xfrm>
            <a:off x="6355080" y="265176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Keep the gospel offer free, as Jesus gave it (John 4:10; Rev 22:17)</a:t>
            </a:r>
            <a:endParaRPr lang="en-US" sz="1400" dirty="0"/>
          </a:p>
          <a:p>
            <a:pPr marL="342900" indent="-342900">
              <a:spcAft>
                <a:spcPts val="600"/>
              </a:spcAft>
              <a:buSzPct val="100000"/>
              <a:buChar char="•"/>
            </a:pPr>
            <a:r>
              <a:rPr lang="en-US" sz="1400" dirty="0">
                <a:solidFill>
                  <a:schemeClr val="tx1"/>
                </a:solidFill>
              </a:rPr>
              <a:t>Press discipleship, holiness, and reward on those who believe — the Judgment Seat (2 Cor 5:10; 1 Cor 3:12–15) and discipline (Heb 12)</a:t>
            </a:r>
            <a:endParaRPr lang="en-US" sz="1400" dirty="0"/>
          </a:p>
          <a:p>
            <a:pPr marL="342900" indent="-342900">
              <a:spcAft>
                <a:spcPts val="600"/>
              </a:spcAft>
              <a:buSzPct val="100000"/>
              <a:buChar char="•"/>
            </a:pPr>
            <a:r>
              <a:rPr lang="en-US" sz="1400" dirty="0">
                <a:solidFill>
                  <a:schemeClr val="tx1"/>
                </a:solidFill>
              </a:rPr>
              <a:t>Grace as freedom, not license (Swindoll; Hodges, Absolutely Free!, Grace in Eclipse)</a:t>
            </a:r>
            <a:endParaRPr lang="en-US" sz="1400" dirty="0"/>
          </a:p>
        </p:txBody>
      </p:sp>
      <p:sp>
        <p:nvSpPr>
          <p:cNvPr id="14" name="Shape 12"/>
          <p:cNvSpPr/>
          <p:nvPr/>
        </p:nvSpPr>
        <p:spPr>
          <a:xfrm>
            <a:off x="548640" y="4526280"/>
            <a:ext cx="11064240" cy="868680"/>
          </a:xfrm>
          <a:prstGeom prst="roundRect">
            <a:avLst>
              <a:gd name="adj" fmla="val 8421"/>
            </a:avLst>
          </a:prstGeom>
          <a:solidFill>
            <a:schemeClr val="tx2"/>
          </a:solidFill>
          <a:ln w="9525">
            <a:solidFill>
              <a:schemeClr val="tx2"/>
            </a:solidFill>
            <a:prstDash val="solid"/>
          </a:ln>
        </p:spPr>
      </p:sp>
      <p:sp>
        <p:nvSpPr>
          <p:cNvPr id="15" name="Text 13"/>
          <p:cNvSpPr txBox="1"/>
          <p:nvPr/>
        </p:nvSpPr>
        <p:spPr>
          <a:xfrm>
            <a:off x="777240" y="4526280"/>
            <a:ext cx="10607040" cy="868680"/>
          </a:xfrm>
          <a:prstGeom prst="rect">
            <a:avLst/>
          </a:prstGeom>
          <a:noFill/>
          <a:ln/>
        </p:spPr>
        <p:txBody>
          <a:bodyPr wrap="square" lIns="0" tIns="0" rIns="0" bIns="0" rtlCol="0" anchor="ctr"/>
          <a:lstStyle/>
          <a:p>
            <a:pPr indent="0" marL="0">
              <a:buNone/>
            </a:pPr>
            <a:r>
              <a:rPr lang="en-US" sz="1500" dirty="0">
                <a:solidFill>
                  <a:schemeClr val="bg1"/>
                </a:solidFill>
              </a:rPr>
              <a:t>The cure for counterfeit grace is not less grace — it is grace rightly understood, the grace that instructs us to deny ungodliness (Titus 2:11–12).</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1188720"/>
            <a:ext cx="10058400" cy="457200"/>
          </a:xfrm>
          <a:prstGeom prst="rect">
            <a:avLst/>
          </a:prstGeom>
          <a:noFill/>
          <a:ln/>
        </p:spPr>
        <p:txBody>
          <a:bodyPr wrap="square" lIns="0" tIns="0" rIns="0" bIns="0" rtlCol="0" anchor="t"/>
          <a:lstStyle/>
          <a:p>
            <a:pPr indent="0" marL="0">
              <a:buNone/>
            </a:pPr>
            <a:r>
              <a:rPr lang="en-US" sz="1800" b="1" dirty="0">
                <a:solidFill>
                  <a:schemeClr val="accent5"/>
                </a:solidFill>
              </a:rPr>
              <a:t>Study 3 of 6 · Jude 5–11</a:t>
            </a:r>
            <a:endParaRPr lang="en-US" sz="1800" dirty="0"/>
          </a:p>
        </p:txBody>
      </p:sp>
      <p:sp>
        <p:nvSpPr>
          <p:cNvPr id="3" name="Text 0"/>
          <p:cNvSpPr/>
          <p:nvPr>
            <p:ph idx="100" type="title" hasCustomPrompt="1"/>
          </p:nvPr>
        </p:nvSpPr>
        <p:spPr>
          <a:xfrm>
            <a:off x="731520" y="1737360"/>
            <a:ext cx="10698480" cy="1554480"/>
          </a:xfrm>
          <a:prstGeom prst="rect">
            <a:avLst/>
          </a:prstGeom>
          <a:noFill/>
          <a:ln/>
        </p:spPr>
        <p:txBody>
          <a:bodyPr wrap="square" rtlCol="0" anchor="b"/>
          <a:lstStyle/>
          <a:p>
            <a:pPr algn="l" indent="0" marL="0">
              <a:buNone/>
            </a:pPr>
            <a:r>
              <a:rPr lang="en-US" sz="4000" b="1" dirty="0">
                <a:solidFill>
                  <a:schemeClr val="bg1"/>
                </a:solidFill>
              </a:rPr>
              <a:t>Three Warnings from History: When Grace Is Misused</a:t>
            </a:r>
            <a:endParaRPr lang="en-US" sz="4000" dirty="0"/>
          </a:p>
        </p:txBody>
      </p:sp>
      <p:sp>
        <p:nvSpPr>
          <p:cNvPr id="4" name="Text 0"/>
          <p:cNvSpPr/>
          <p:nvPr>
            <p:ph idx="101" type="body" hasCustomPrompt="1"/>
          </p:nvPr>
        </p:nvSpPr>
        <p:spPr>
          <a:xfrm>
            <a:off x="731520" y="3474720"/>
            <a:ext cx="10698480" cy="2011680"/>
          </a:xfrm>
          <a:prstGeom prst="rect">
            <a:avLst/>
          </a:prstGeom>
          <a:noFill/>
          <a:ln/>
        </p:spPr>
        <p:txBody>
          <a:bodyPr wrap="square" rtlCol="0" anchor="t"/>
          <a:lstStyle/>
          <a:p>
            <a:pPr algn="l" indent="0" marL="0">
              <a:buNone/>
            </a:pPr>
            <a:r>
              <a:rPr lang="en-US" sz="2000" dirty="0">
                <a:solidFill>
                  <a:schemeClr val="bg2"/>
                </a:solidFill>
              </a:rPr>
              <a:t>History shows that God faithfully judges those who despise His grace and authority; believers learn, like Michael, to leave judgment to the Lord.</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How vv.5–11 are built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Example, application, contrast, conclusion, woe</a:t>
            </a:r>
            <a:endParaRPr lang="en-US" sz="1400" dirty="0"/>
          </a:p>
        </p:txBody>
      </p:sp>
      <p:sp>
        <p:nvSpPr>
          <p:cNvPr id="4" name="Shape 2"/>
          <p:cNvSpPr/>
          <p:nvPr/>
        </p:nvSpPr>
        <p:spPr>
          <a:xfrm>
            <a:off x="548640" y="1737360"/>
            <a:ext cx="2011680" cy="2377440"/>
          </a:xfrm>
          <a:prstGeom prst="roundRect">
            <a:avLst>
              <a:gd name="adj" fmla="val 3636"/>
            </a:avLst>
          </a:prstGeom>
          <a:solidFill>
            <a:schemeClr val="accent4"/>
          </a:solidFill>
          <a:ln w="9525">
            <a:solidFill>
              <a:schemeClr val="accent4"/>
            </a:solidFill>
            <a:prstDash val="solid"/>
          </a:ln>
        </p:spPr>
      </p:sp>
      <p:sp>
        <p:nvSpPr>
          <p:cNvPr id="5" name="Text 3"/>
          <p:cNvSpPr txBox="1"/>
          <p:nvPr/>
        </p:nvSpPr>
        <p:spPr>
          <a:xfrm>
            <a:off x="685800" y="1783080"/>
            <a:ext cx="1737360" cy="2286000"/>
          </a:xfrm>
          <a:prstGeom prst="rect">
            <a:avLst/>
          </a:prstGeom>
          <a:noFill/>
          <a:ln/>
        </p:spPr>
        <p:txBody>
          <a:bodyPr wrap="square" lIns="0" tIns="0" rIns="0" bIns="0" rtlCol="0" anchor="ctr"/>
          <a:lstStyle/>
          <a:p>
            <a:pPr indent="0" marL="0">
              <a:buNone/>
            </a:pPr>
            <a:r>
              <a:rPr lang="en-US" sz="1400" dirty="0">
                <a:solidFill>
                  <a:schemeClr val="bg1"/>
                </a:solidFill>
              </a:rPr>
              <a:t>vv.5–7</a:t>
            </a:r>
            <a:endParaRPr lang="en-US" sz="1400" dirty="0"/>
          </a:p>
          <a:p>
            <a:pPr indent="0" marL="0">
              <a:buNone/>
            </a:pPr>
            <a:r>
              <a:rPr lang="en-US" sz="1800" b="1" dirty="0">
                <a:solidFill>
                  <a:schemeClr val="bg1"/>
                </a:solidFill>
              </a:rPr>
              <a:t>Three examples</a:t>
            </a:r>
            <a:endParaRPr lang="en-US" sz="1400" dirty="0"/>
          </a:p>
          <a:p>
            <a:pPr indent="0" marL="0">
              <a:buNone/>
            </a:pPr>
            <a:r>
              <a:rPr lang="en-US" sz="600" dirty="0">
                <a:solidFill>
                  <a:schemeClr val="bg1"/>
                </a:solidFill>
              </a:rPr>
              <a:t> </a:t>
            </a:r>
            <a:endParaRPr lang="en-US" sz="1400" dirty="0"/>
          </a:p>
          <a:p>
            <a:pPr indent="0" marL="0">
              <a:buNone/>
            </a:pPr>
            <a:r>
              <a:rPr lang="en-US" sz="1400" i="1" dirty="0">
                <a:solidFill>
                  <a:schemeClr val="bg1"/>
                </a:solidFill>
              </a:rPr>
              <a:t>Israel, angels, Sodom</a:t>
            </a:r>
            <a:endParaRPr lang="en-US" sz="1400" dirty="0"/>
          </a:p>
        </p:txBody>
      </p:sp>
      <p:sp>
        <p:nvSpPr>
          <p:cNvPr id="6" name="Text 4"/>
          <p:cNvSpPr txBox="1"/>
          <p:nvPr/>
        </p:nvSpPr>
        <p:spPr>
          <a:xfrm>
            <a:off x="2560320" y="2651760"/>
            <a:ext cx="246888" cy="548640"/>
          </a:xfrm>
          <a:prstGeom prst="rect">
            <a:avLst/>
          </a:prstGeom>
          <a:noFill/>
          <a:ln/>
        </p:spPr>
        <p:txBody>
          <a:bodyPr wrap="square" lIns="0" tIns="0" rIns="0" bIns="0" rtlCol="0" anchor="t"/>
          <a:lstStyle/>
          <a:p>
            <a:pPr algn="ctr" indent="0" marL="0">
              <a:buNone/>
            </a:pPr>
            <a:r>
              <a:rPr lang="en-US" sz="2000" dirty="0">
                <a:solidFill>
                  <a:schemeClr val="accent4"/>
                </a:solidFill>
              </a:rPr>
              <a:t>→</a:t>
            </a:r>
            <a:endParaRPr lang="en-US" sz="2000" dirty="0"/>
          </a:p>
        </p:txBody>
      </p:sp>
      <p:sp>
        <p:nvSpPr>
          <p:cNvPr id="7" name="Shape 5"/>
          <p:cNvSpPr/>
          <p:nvPr/>
        </p:nvSpPr>
        <p:spPr>
          <a:xfrm>
            <a:off x="2807208" y="1737360"/>
            <a:ext cx="2011680" cy="2377440"/>
          </a:xfrm>
          <a:prstGeom prst="roundRect">
            <a:avLst>
              <a:gd name="adj" fmla="val 3636"/>
            </a:avLst>
          </a:prstGeom>
          <a:solidFill>
            <a:schemeClr val="accent4"/>
          </a:solidFill>
          <a:ln w="9525">
            <a:solidFill>
              <a:schemeClr val="accent4"/>
            </a:solidFill>
            <a:prstDash val="solid"/>
          </a:ln>
        </p:spPr>
      </p:sp>
      <p:sp>
        <p:nvSpPr>
          <p:cNvPr id="8" name="Text 6"/>
          <p:cNvSpPr txBox="1"/>
          <p:nvPr/>
        </p:nvSpPr>
        <p:spPr>
          <a:xfrm>
            <a:off x="2944368" y="1783080"/>
            <a:ext cx="1737360" cy="2286000"/>
          </a:xfrm>
          <a:prstGeom prst="rect">
            <a:avLst/>
          </a:prstGeom>
          <a:noFill/>
          <a:ln/>
        </p:spPr>
        <p:txBody>
          <a:bodyPr wrap="square" lIns="0" tIns="0" rIns="0" bIns="0" rtlCol="0" anchor="ctr"/>
          <a:lstStyle/>
          <a:p>
            <a:pPr indent="0" marL="0">
              <a:buNone/>
            </a:pPr>
            <a:r>
              <a:rPr lang="en-US" sz="1400" dirty="0">
                <a:solidFill>
                  <a:schemeClr val="bg1"/>
                </a:solidFill>
              </a:rPr>
              <a:t>v.8</a:t>
            </a:r>
            <a:endParaRPr lang="en-US" sz="1400" dirty="0"/>
          </a:p>
          <a:p>
            <a:pPr indent="0" marL="0">
              <a:buNone/>
            </a:pPr>
            <a:r>
              <a:rPr lang="en-US" sz="1800" b="1" dirty="0">
                <a:solidFill>
                  <a:schemeClr val="bg1"/>
                </a:solidFill>
              </a:rPr>
              <a:t>Applied to "these"</a:t>
            </a:r>
            <a:endParaRPr lang="en-US" sz="1400" dirty="0"/>
          </a:p>
          <a:p>
            <a:pPr indent="0" marL="0">
              <a:buNone/>
            </a:pPr>
            <a:r>
              <a:rPr lang="en-US" sz="600" dirty="0">
                <a:solidFill>
                  <a:schemeClr val="bg1"/>
                </a:solidFill>
              </a:rPr>
              <a:t> </a:t>
            </a:r>
            <a:endParaRPr lang="en-US" sz="1400" dirty="0"/>
          </a:p>
          <a:p>
            <a:pPr indent="0" marL="0">
              <a:buNone/>
            </a:pPr>
            <a:r>
              <a:rPr lang="en-US" sz="1400" i="1" dirty="0">
                <a:solidFill>
                  <a:schemeClr val="bg1"/>
                </a:solidFill>
              </a:rPr>
              <a:t>defile, reject, revile</a:t>
            </a:r>
            <a:endParaRPr lang="en-US" sz="1400" dirty="0"/>
          </a:p>
        </p:txBody>
      </p:sp>
      <p:sp>
        <p:nvSpPr>
          <p:cNvPr id="9" name="Text 7"/>
          <p:cNvSpPr txBox="1"/>
          <p:nvPr/>
        </p:nvSpPr>
        <p:spPr>
          <a:xfrm>
            <a:off x="4818888" y="2651760"/>
            <a:ext cx="246888" cy="548640"/>
          </a:xfrm>
          <a:prstGeom prst="rect">
            <a:avLst/>
          </a:prstGeom>
          <a:noFill/>
          <a:ln/>
        </p:spPr>
        <p:txBody>
          <a:bodyPr wrap="square" lIns="0" tIns="0" rIns="0" bIns="0" rtlCol="0" anchor="t"/>
          <a:lstStyle/>
          <a:p>
            <a:pPr algn="ctr" indent="0" marL="0">
              <a:buNone/>
            </a:pPr>
            <a:r>
              <a:rPr lang="en-US" sz="2000" dirty="0">
                <a:solidFill>
                  <a:schemeClr val="accent4"/>
                </a:solidFill>
              </a:rPr>
              <a:t>→</a:t>
            </a:r>
            <a:endParaRPr lang="en-US" sz="2000" dirty="0"/>
          </a:p>
        </p:txBody>
      </p:sp>
      <p:sp>
        <p:nvSpPr>
          <p:cNvPr id="10" name="Shape 8"/>
          <p:cNvSpPr/>
          <p:nvPr/>
        </p:nvSpPr>
        <p:spPr>
          <a:xfrm>
            <a:off x="5065776" y="1737360"/>
            <a:ext cx="2011680" cy="2377440"/>
          </a:xfrm>
          <a:prstGeom prst="roundRect">
            <a:avLst>
              <a:gd name="adj" fmla="val 3636"/>
            </a:avLst>
          </a:prstGeom>
          <a:solidFill>
            <a:schemeClr val="accent1"/>
          </a:solidFill>
          <a:ln w="9525">
            <a:solidFill>
              <a:schemeClr val="accent1"/>
            </a:solidFill>
            <a:prstDash val="solid"/>
          </a:ln>
        </p:spPr>
      </p:sp>
      <p:sp>
        <p:nvSpPr>
          <p:cNvPr id="11" name="Text 9"/>
          <p:cNvSpPr txBox="1"/>
          <p:nvPr/>
        </p:nvSpPr>
        <p:spPr>
          <a:xfrm>
            <a:off x="5202936" y="1783080"/>
            <a:ext cx="1737360" cy="2286000"/>
          </a:xfrm>
          <a:prstGeom prst="rect">
            <a:avLst/>
          </a:prstGeom>
          <a:noFill/>
          <a:ln/>
        </p:spPr>
        <p:txBody>
          <a:bodyPr wrap="square" lIns="0" tIns="0" rIns="0" bIns="0" rtlCol="0" anchor="ctr"/>
          <a:lstStyle/>
          <a:p>
            <a:pPr indent="0" marL="0">
              <a:buNone/>
            </a:pPr>
            <a:r>
              <a:rPr lang="en-US" sz="1400" dirty="0">
                <a:solidFill>
                  <a:schemeClr val="bg1"/>
                </a:solidFill>
              </a:rPr>
              <a:t>v.9</a:t>
            </a:r>
            <a:endParaRPr lang="en-US" sz="1400" dirty="0"/>
          </a:p>
          <a:p>
            <a:pPr indent="0" marL="0">
              <a:buNone/>
            </a:pPr>
            <a:r>
              <a:rPr lang="en-US" sz="1800" b="1" dirty="0">
                <a:solidFill>
                  <a:schemeClr val="bg1"/>
                </a:solidFill>
              </a:rPr>
              <a:t>Michael in contrast</a:t>
            </a:r>
            <a:endParaRPr lang="en-US" sz="1400" dirty="0"/>
          </a:p>
          <a:p>
            <a:pPr indent="0" marL="0">
              <a:buNone/>
            </a:pPr>
            <a:r>
              <a:rPr lang="en-US" sz="600" dirty="0">
                <a:solidFill>
                  <a:schemeClr val="bg1"/>
                </a:solidFill>
              </a:rPr>
              <a:t> </a:t>
            </a:r>
            <a:endParaRPr lang="en-US" sz="1400" dirty="0"/>
          </a:p>
          <a:p>
            <a:pPr indent="0" marL="0">
              <a:buNone/>
            </a:pPr>
            <a:r>
              <a:rPr lang="en-US" sz="1400" i="1" dirty="0">
                <a:solidFill>
                  <a:schemeClr val="bg1"/>
                </a:solidFill>
              </a:rPr>
              <a:t>"The Lord rebuke you!"</a:t>
            </a:r>
            <a:endParaRPr lang="en-US" sz="1400" dirty="0"/>
          </a:p>
        </p:txBody>
      </p:sp>
      <p:sp>
        <p:nvSpPr>
          <p:cNvPr id="12" name="Text 10"/>
          <p:cNvSpPr txBox="1"/>
          <p:nvPr/>
        </p:nvSpPr>
        <p:spPr>
          <a:xfrm>
            <a:off x="7077456" y="2651760"/>
            <a:ext cx="246888" cy="548640"/>
          </a:xfrm>
          <a:prstGeom prst="rect">
            <a:avLst/>
          </a:prstGeom>
          <a:noFill/>
          <a:ln/>
        </p:spPr>
        <p:txBody>
          <a:bodyPr wrap="square" lIns="0" tIns="0" rIns="0" bIns="0" rtlCol="0" anchor="t"/>
          <a:lstStyle/>
          <a:p>
            <a:pPr algn="ctr" indent="0" marL="0">
              <a:buNone/>
            </a:pPr>
            <a:r>
              <a:rPr lang="en-US" sz="2000" dirty="0">
                <a:solidFill>
                  <a:schemeClr val="accent4"/>
                </a:solidFill>
              </a:rPr>
              <a:t>→</a:t>
            </a:r>
            <a:endParaRPr lang="en-US" sz="2000" dirty="0"/>
          </a:p>
        </p:txBody>
      </p:sp>
      <p:sp>
        <p:nvSpPr>
          <p:cNvPr id="13" name="Shape 11"/>
          <p:cNvSpPr/>
          <p:nvPr/>
        </p:nvSpPr>
        <p:spPr>
          <a:xfrm>
            <a:off x="7324344" y="1737360"/>
            <a:ext cx="2011680" cy="2377440"/>
          </a:xfrm>
          <a:prstGeom prst="roundRect">
            <a:avLst>
              <a:gd name="adj" fmla="val 3636"/>
            </a:avLst>
          </a:prstGeom>
          <a:solidFill>
            <a:schemeClr val="accent4"/>
          </a:solidFill>
          <a:ln w="9525">
            <a:solidFill>
              <a:schemeClr val="accent4"/>
            </a:solidFill>
            <a:prstDash val="solid"/>
          </a:ln>
        </p:spPr>
      </p:sp>
      <p:sp>
        <p:nvSpPr>
          <p:cNvPr id="14" name="Text 12"/>
          <p:cNvSpPr txBox="1"/>
          <p:nvPr/>
        </p:nvSpPr>
        <p:spPr>
          <a:xfrm>
            <a:off x="7461504" y="1783080"/>
            <a:ext cx="1737360" cy="2286000"/>
          </a:xfrm>
          <a:prstGeom prst="rect">
            <a:avLst/>
          </a:prstGeom>
          <a:noFill/>
          <a:ln/>
        </p:spPr>
        <p:txBody>
          <a:bodyPr wrap="square" lIns="0" tIns="0" rIns="0" bIns="0" rtlCol="0" anchor="ctr"/>
          <a:lstStyle/>
          <a:p>
            <a:pPr indent="0" marL="0">
              <a:buNone/>
            </a:pPr>
            <a:r>
              <a:rPr lang="en-US" sz="1400" dirty="0">
                <a:solidFill>
                  <a:schemeClr val="bg1"/>
                </a:solidFill>
              </a:rPr>
              <a:t>v.10</a:t>
            </a:r>
            <a:endParaRPr lang="en-US" sz="1400" dirty="0"/>
          </a:p>
          <a:p>
            <a:pPr indent="0" marL="0">
              <a:buNone/>
            </a:pPr>
            <a:r>
              <a:rPr lang="en-US" sz="1800" b="1" dirty="0">
                <a:solidFill>
                  <a:schemeClr val="bg1"/>
                </a:solidFill>
              </a:rPr>
              <a:t>The conclusion</a:t>
            </a:r>
            <a:endParaRPr lang="en-US" sz="1400" dirty="0"/>
          </a:p>
          <a:p>
            <a:pPr indent="0" marL="0">
              <a:buNone/>
            </a:pPr>
            <a:r>
              <a:rPr lang="en-US" sz="600" dirty="0">
                <a:solidFill>
                  <a:schemeClr val="bg1"/>
                </a:solidFill>
              </a:rPr>
              <a:t> </a:t>
            </a:r>
            <a:endParaRPr lang="en-US" sz="1400" dirty="0"/>
          </a:p>
          <a:p>
            <a:pPr indent="0" marL="0">
              <a:buNone/>
            </a:pPr>
            <a:r>
              <a:rPr lang="en-US" sz="1400" i="1" dirty="0">
                <a:solidFill>
                  <a:schemeClr val="bg1"/>
                </a:solidFill>
              </a:rPr>
              <a:t>destroyed by instinct</a:t>
            </a:r>
            <a:endParaRPr lang="en-US" sz="1400" dirty="0"/>
          </a:p>
        </p:txBody>
      </p:sp>
      <p:sp>
        <p:nvSpPr>
          <p:cNvPr id="15" name="Text 13"/>
          <p:cNvSpPr txBox="1"/>
          <p:nvPr/>
        </p:nvSpPr>
        <p:spPr>
          <a:xfrm>
            <a:off x="9336024" y="2651760"/>
            <a:ext cx="246888" cy="548640"/>
          </a:xfrm>
          <a:prstGeom prst="rect">
            <a:avLst/>
          </a:prstGeom>
          <a:noFill/>
          <a:ln/>
        </p:spPr>
        <p:txBody>
          <a:bodyPr wrap="square" lIns="0" tIns="0" rIns="0" bIns="0" rtlCol="0" anchor="t"/>
          <a:lstStyle/>
          <a:p>
            <a:pPr algn="ctr" indent="0" marL="0">
              <a:buNone/>
            </a:pPr>
            <a:r>
              <a:rPr lang="en-US" sz="2000" dirty="0">
                <a:solidFill>
                  <a:schemeClr val="accent4"/>
                </a:solidFill>
              </a:rPr>
              <a:t>→</a:t>
            </a:r>
            <a:endParaRPr lang="en-US" sz="2000" dirty="0"/>
          </a:p>
        </p:txBody>
      </p:sp>
      <p:sp>
        <p:nvSpPr>
          <p:cNvPr id="16" name="Shape 14"/>
          <p:cNvSpPr/>
          <p:nvPr/>
        </p:nvSpPr>
        <p:spPr>
          <a:xfrm>
            <a:off x="9582912" y="1737360"/>
            <a:ext cx="2011680" cy="2377440"/>
          </a:xfrm>
          <a:prstGeom prst="roundRect">
            <a:avLst>
              <a:gd name="adj" fmla="val 3636"/>
            </a:avLst>
          </a:prstGeom>
          <a:solidFill>
            <a:schemeClr val="accent4"/>
          </a:solidFill>
          <a:ln w="9525">
            <a:solidFill>
              <a:schemeClr val="accent4"/>
            </a:solidFill>
            <a:prstDash val="solid"/>
          </a:ln>
        </p:spPr>
      </p:sp>
      <p:sp>
        <p:nvSpPr>
          <p:cNvPr id="17" name="Text 15"/>
          <p:cNvSpPr txBox="1"/>
          <p:nvPr/>
        </p:nvSpPr>
        <p:spPr>
          <a:xfrm>
            <a:off x="9720072" y="1783080"/>
            <a:ext cx="1737360" cy="2286000"/>
          </a:xfrm>
          <a:prstGeom prst="rect">
            <a:avLst/>
          </a:prstGeom>
          <a:noFill/>
          <a:ln/>
        </p:spPr>
        <p:txBody>
          <a:bodyPr wrap="square" lIns="0" tIns="0" rIns="0" bIns="0" rtlCol="0" anchor="ctr"/>
          <a:lstStyle/>
          <a:p>
            <a:pPr indent="0" marL="0">
              <a:buNone/>
            </a:pPr>
            <a:r>
              <a:rPr lang="en-US" sz="1400" dirty="0">
                <a:solidFill>
                  <a:schemeClr val="bg1"/>
                </a:solidFill>
              </a:rPr>
              <a:t>v.11</a:t>
            </a:r>
            <a:endParaRPr lang="en-US" sz="1400" dirty="0"/>
          </a:p>
          <a:p>
            <a:pPr indent="0" marL="0">
              <a:buNone/>
            </a:pPr>
            <a:r>
              <a:rPr lang="en-US" sz="1800" b="1" dirty="0">
                <a:solidFill>
                  <a:schemeClr val="bg1"/>
                </a:solidFill>
              </a:rPr>
              <a:t>Woe and three men</a:t>
            </a:r>
            <a:endParaRPr lang="en-US" sz="1400" dirty="0"/>
          </a:p>
          <a:p>
            <a:pPr indent="0" marL="0">
              <a:buNone/>
            </a:pPr>
            <a:r>
              <a:rPr lang="en-US" sz="600" dirty="0">
                <a:solidFill>
                  <a:schemeClr val="bg1"/>
                </a:solidFill>
              </a:rPr>
              <a:t> </a:t>
            </a:r>
            <a:endParaRPr lang="en-US" sz="1400" dirty="0"/>
          </a:p>
          <a:p>
            <a:pPr indent="0" marL="0">
              <a:buNone/>
            </a:pPr>
            <a:r>
              <a:rPr lang="en-US" sz="1400" i="1" dirty="0">
                <a:solidFill>
                  <a:schemeClr val="bg1"/>
                </a:solidFill>
              </a:rPr>
              <a:t>Cain, Balaam, Korah</a:t>
            </a:r>
            <a:endParaRPr lang="en-US" sz="1400" dirty="0"/>
          </a:p>
        </p:txBody>
      </p:sp>
      <p:sp>
        <p:nvSpPr>
          <p:cNvPr id="18" name="Shape 16"/>
          <p:cNvSpPr/>
          <p:nvPr/>
        </p:nvSpPr>
        <p:spPr>
          <a:xfrm>
            <a:off x="548640" y="4526280"/>
            <a:ext cx="11064240" cy="777240"/>
          </a:xfrm>
          <a:prstGeom prst="roundRect">
            <a:avLst>
              <a:gd name="adj" fmla="val 9412"/>
            </a:avLst>
          </a:prstGeom>
          <a:solidFill>
            <a:schemeClr val="tx2"/>
          </a:solidFill>
          <a:ln w="9525">
            <a:solidFill>
              <a:schemeClr val="tx2"/>
            </a:solidFill>
            <a:prstDash val="solid"/>
          </a:ln>
        </p:spPr>
      </p:sp>
      <p:sp>
        <p:nvSpPr>
          <p:cNvPr id="19" name="Text 17"/>
          <p:cNvSpPr txBox="1"/>
          <p:nvPr/>
        </p:nvSpPr>
        <p:spPr>
          <a:xfrm>
            <a:off x="777240" y="4526280"/>
            <a:ext cx="10607040" cy="777240"/>
          </a:xfrm>
          <a:prstGeom prst="rect">
            <a:avLst/>
          </a:prstGeom>
          <a:noFill/>
          <a:ln/>
        </p:spPr>
        <p:txBody>
          <a:bodyPr wrap="square" lIns="0" tIns="0" rIns="0" bIns="0" rtlCol="0" anchor="ctr"/>
          <a:lstStyle/>
          <a:p>
            <a:pPr indent="0" marL="0">
              <a:buNone/>
            </a:pPr>
            <a:r>
              <a:rPr lang="en-US" sz="1500" dirty="0">
                <a:solidFill>
                  <a:schemeClr val="bg1"/>
                </a:solidFill>
              </a:rPr>
              <a:t>Two triads — three collective examples (vv.5–7) and three individuals (v.11) — with the archangel standing between them as the model believers follow.</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Three examples of judgment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vv.5–7 · each matched to the intruders of v.4</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737360"/>
                <a:gridCol w="2286000"/>
                <a:gridCol w="2560320"/>
                <a:gridCol w="2286000"/>
                <a:gridCol w="2194560"/>
              </a:tblGrid>
              <a:tr h="457200">
                <a:tc>
                  <a:txBody>
                    <a:bodyPr/>
                    <a:lstStyle/>
                    <a:p>
                      <a:pPr indent="0" marL="0">
                        <a:buNone/>
                      </a:pPr>
                      <a:r>
                        <a:rPr lang="en-US" sz="1400" b="1" dirty="0">
                          <a:solidFill>
                            <a:schemeClr val="bg1"/>
                          </a:solidFill>
                          <a:latin typeface="Arial" pitchFamily="34" charset="0"/>
                          <a:ea typeface="Arial" pitchFamily="34" charset="-122"/>
                          <a:cs typeface="Arial" pitchFamily="34" charset="-120"/>
                        </a:rPr>
                        <a:t>Example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Old Testament</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What they did</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Outcome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The intruders' mark</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1005840">
                <a:tc>
                  <a:txBody>
                    <a:bodyPr/>
                    <a:lstStyle/>
                    <a:p>
                      <a:pPr indent="0" marL="0">
                        <a:buNone/>
                      </a:pPr>
                      <a:r>
                        <a:rPr lang="en-US" sz="1300" b="1" dirty="0">
                          <a:solidFill>
                            <a:schemeClr val="tx2"/>
                          </a:solidFill>
                          <a:latin typeface="Arial" pitchFamily="34" charset="0"/>
                          <a:ea typeface="Arial" pitchFamily="34" charset="-122"/>
                          <a:cs typeface="Arial" pitchFamily="34" charset="-120"/>
                        </a:rPr>
                        <a:t>Israel (v.5)</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Num 14:29–35; cf. 1 Cor 10; Heb 3–4</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Saved out of Egypt, then did not believe God at Kadesh</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That generation died in the wilderness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Deny the Master (v.4)</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1005840">
                <a:tc>
                  <a:txBody>
                    <a:bodyPr/>
                    <a:lstStyle/>
                    <a:p>
                      <a:pPr indent="0" marL="0">
                        <a:buNone/>
                      </a:pPr>
                      <a:r>
                        <a:rPr lang="en-US" sz="1300" b="1" dirty="0">
                          <a:solidFill>
                            <a:schemeClr val="tx2"/>
                          </a:solidFill>
                          <a:latin typeface="Arial" pitchFamily="34" charset="0"/>
                          <a:ea typeface="Arial" pitchFamily="34" charset="-122"/>
                          <a:cs typeface="Arial" pitchFamily="34" charset="-120"/>
                        </a:rPr>
                        <a:t>Angels (v.6)</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Gen 6:1–4, or the original fall; 2 Pet 2:4</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Did not keep their own domain; abandoned their proper abode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Kept in eternal bonds for the great day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Reject authority (v.8)</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1005840">
                <a:tc>
                  <a:txBody>
                    <a:bodyPr/>
                    <a:lstStyle/>
                    <a:p>
                      <a:pPr indent="0" marL="0">
                        <a:buNone/>
                      </a:pPr>
                      <a:r>
                        <a:rPr lang="en-US" sz="1300" b="1" dirty="0">
                          <a:solidFill>
                            <a:schemeClr val="tx2"/>
                          </a:solidFill>
                          <a:latin typeface="Arial" pitchFamily="34" charset="0"/>
                          <a:ea typeface="Arial" pitchFamily="34" charset="-122"/>
                          <a:cs typeface="Arial" pitchFamily="34" charset="-120"/>
                        </a:rPr>
                        <a:t>Sodom and Gomorrah (v.7)</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Gen 19</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Gross immorality; went after strange flesh</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Exhibited as an example of eternal fire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Grace into sensuality (v.4); defile the flesh (v.8)</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bl>
          </a:graphicData>
        </a:graphic>
      </p:graphicFrame>
      <p:sp>
        <p:nvSpPr>
          <p:cNvPr id="5" name="Shape 2"/>
          <p:cNvSpPr/>
          <p:nvPr/>
        </p:nvSpPr>
        <p:spPr>
          <a:xfrm>
            <a:off x="548640" y="5120640"/>
            <a:ext cx="11064240" cy="731520"/>
          </a:xfrm>
          <a:prstGeom prst="roundRect">
            <a:avLst>
              <a:gd name="adj" fmla="val 10000"/>
            </a:avLst>
          </a:prstGeom>
          <a:solidFill>
            <a:schemeClr val="tx2"/>
          </a:solidFill>
          <a:ln w="9525">
            <a:solidFill>
              <a:schemeClr val="tx2"/>
            </a:solidFill>
            <a:prstDash val="solid"/>
          </a:ln>
        </p:spPr>
      </p:sp>
      <p:sp>
        <p:nvSpPr>
          <p:cNvPr id="6" name="Text 3"/>
          <p:cNvSpPr txBox="1"/>
          <p:nvPr/>
        </p:nvSpPr>
        <p:spPr>
          <a:xfrm>
            <a:off x="777240" y="5120640"/>
            <a:ext cx="10607040" cy="731520"/>
          </a:xfrm>
          <a:prstGeom prst="rect">
            <a:avLst/>
          </a:prstGeom>
          <a:noFill/>
          <a:ln/>
        </p:spPr>
        <p:txBody>
          <a:bodyPr wrap="square" lIns="0" tIns="0" rIns="0" bIns="0" rtlCol="0" anchor="ctr"/>
          <a:lstStyle/>
          <a:p>
            <a:pPr indent="0" marL="0">
              <a:buNone/>
            </a:pPr>
            <a:r>
              <a:rPr lang="en-US" sz="1500" dirty="0">
                <a:solidFill>
                  <a:schemeClr val="bg1"/>
                </a:solidFill>
              </a:rPr>
              <a:t>Unbelief, rebellion, immorality — exactly the marks of the intruders. Privilege did not exempt any of them from judgment.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Israel in the wilderness (v.5)</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Does this verse threaten believers with the loss of eternal life?</a:t>
            </a:r>
            <a:endParaRPr lang="en-US" sz="1400" dirty="0"/>
          </a:p>
        </p:txBody>
      </p:sp>
      <p:sp>
        <p:nvSpPr>
          <p:cNvPr id="4" name="Shape 2"/>
          <p:cNvSpPr/>
          <p:nvPr/>
        </p:nvSpPr>
        <p:spPr>
          <a:xfrm>
            <a:off x="548640" y="1371600"/>
            <a:ext cx="5440680" cy="457200"/>
          </a:xfrm>
          <a:prstGeom prst="rect">
            <a:avLst/>
          </a:prstGeom>
          <a:solidFill>
            <a:schemeClr val="accent4"/>
          </a:solidFill>
          <a:ln w="9525">
            <a:solidFill>
              <a:schemeClr val="accent4"/>
            </a:solidFill>
            <a:prstDash val="solid"/>
          </a:ln>
        </p:spPr>
      </p:sp>
      <p:sp>
        <p:nvSpPr>
          <p:cNvPr id="5" name="Text 3"/>
          <p:cNvSpPr txBox="1"/>
          <p:nvPr/>
        </p:nvSpPr>
        <p:spPr>
          <a:xfrm>
            <a:off x="731520" y="1371600"/>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Reformed (counterpoint)</a:t>
            </a:r>
            <a:endParaRPr lang="en-US" sz="1500" dirty="0"/>
          </a:p>
        </p:txBody>
      </p:sp>
      <p:sp>
        <p:nvSpPr>
          <p:cNvPr id="6" name="Shape 4"/>
          <p:cNvSpPr/>
          <p:nvPr/>
        </p:nvSpPr>
        <p:spPr>
          <a:xfrm>
            <a:off x="548640" y="1828800"/>
            <a:ext cx="5440680" cy="2514600"/>
          </a:xfrm>
          <a:prstGeom prst="rect">
            <a:avLst/>
          </a:prstGeom>
          <a:solidFill>
            <a:schemeClr val="bg2"/>
          </a:solidFill>
          <a:ln w="9525">
            <a:solidFill>
              <a:srgbClr val="D5DCEA"/>
            </a:solidFill>
            <a:prstDash val="solid"/>
          </a:ln>
        </p:spPr>
      </p:sp>
      <p:sp>
        <p:nvSpPr>
          <p:cNvPr id="7" name="Text 5"/>
          <p:cNvSpPr txBox="1"/>
          <p:nvPr/>
        </p:nvSpPr>
        <p:spPr>
          <a:xfrm>
            <a:off x="731520" y="1938528"/>
            <a:ext cx="5120640" cy="231343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 central text for the view that people who once appeared saved can finally perish if they do not persevere</a:t>
            </a:r>
            <a:endParaRPr lang="en-US" sz="1400" dirty="0"/>
          </a:p>
          <a:p>
            <a:pPr marL="342900" indent="-342900">
              <a:spcAft>
                <a:spcPts val="600"/>
              </a:spcAft>
              <a:buSzPct val="100000"/>
              <a:buChar char="•"/>
            </a:pPr>
            <a:r>
              <a:rPr lang="en-US" sz="1300" dirty="0">
                <a:solidFill>
                  <a:schemeClr val="tx1"/>
                </a:solidFill>
              </a:rPr>
              <a:t>NT warnings threaten eternal destruction and are the means God uses to keep the elect persevering (Schreiner and Caneday, The Race Set Before Us)</a:t>
            </a:r>
            <a:endParaRPr lang="en-US" sz="1400" dirty="0"/>
          </a:p>
        </p:txBody>
      </p:sp>
      <p:sp>
        <p:nvSpPr>
          <p:cNvPr id="8" name="Shape 6"/>
          <p:cNvSpPr/>
          <p:nvPr/>
        </p:nvSpPr>
        <p:spPr>
          <a:xfrm>
            <a:off x="6172200" y="1371600"/>
            <a:ext cx="5440680" cy="457200"/>
          </a:xfrm>
          <a:prstGeom prst="rect">
            <a:avLst/>
          </a:prstGeom>
          <a:solidFill>
            <a:schemeClr val="accent1"/>
          </a:solidFill>
          <a:ln w="9525">
            <a:solidFill>
              <a:schemeClr val="accent1"/>
            </a:solidFill>
            <a:prstDash val="solid"/>
          </a:ln>
        </p:spPr>
      </p:sp>
      <p:sp>
        <p:nvSpPr>
          <p:cNvPr id="9" name="Text 7"/>
          <p:cNvSpPr txBox="1"/>
          <p:nvPr/>
        </p:nvSpPr>
        <p:spPr>
          <a:xfrm>
            <a:off x="6355080" y="1371600"/>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Free Grace (series view)</a:t>
            </a:r>
            <a:endParaRPr lang="en-US" sz="1500" dirty="0"/>
          </a:p>
        </p:txBody>
      </p:sp>
      <p:sp>
        <p:nvSpPr>
          <p:cNvPr id="10" name="Shape 8"/>
          <p:cNvSpPr/>
          <p:nvPr/>
        </p:nvSpPr>
        <p:spPr>
          <a:xfrm>
            <a:off x="6172200" y="1828800"/>
            <a:ext cx="5440680" cy="2514600"/>
          </a:xfrm>
          <a:prstGeom prst="rect">
            <a:avLst/>
          </a:prstGeom>
          <a:solidFill>
            <a:schemeClr val="bg2"/>
          </a:solidFill>
          <a:ln w="9525">
            <a:solidFill>
              <a:srgbClr val="D5DCEA"/>
            </a:solidFill>
            <a:prstDash val="solid"/>
          </a:ln>
        </p:spPr>
      </p:sp>
      <p:sp>
        <p:nvSpPr>
          <p:cNvPr id="11" name="Text 9"/>
          <p:cNvSpPr txBox="1"/>
          <p:nvPr/>
        </p:nvSpPr>
        <p:spPr>
          <a:xfrm>
            <a:off x="6355080" y="1938528"/>
            <a:ext cx="5120640" cy="231343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The wilderness judgment was physical death — they did not enter the land</a:t>
            </a:r>
            <a:endParaRPr lang="en-US" sz="1400" dirty="0"/>
          </a:p>
          <a:p>
            <a:pPr marL="342900" indent="-342900">
              <a:spcAft>
                <a:spcPts val="600"/>
              </a:spcAft>
              <a:buSzPct val="100000"/>
              <a:buChar char="•"/>
            </a:pPr>
            <a:r>
              <a:rPr lang="en-US" sz="1300" dirty="0">
                <a:solidFill>
                  <a:schemeClr val="tx1"/>
                </a:solidFill>
              </a:rPr>
              <a:t>Moses, Aaron, and Miriam also died outside the land, and no one doubts they were believers</a:t>
            </a:r>
            <a:endParaRPr lang="en-US" sz="1400" dirty="0"/>
          </a:p>
          <a:p>
            <a:pPr marL="342900" indent="-342900">
              <a:spcAft>
                <a:spcPts val="600"/>
              </a:spcAft>
              <a:buSzPct val="100000"/>
              <a:buChar char="•"/>
            </a:pPr>
            <a:r>
              <a:rPr lang="en-US" sz="1300" dirty="0">
                <a:solidFill>
                  <a:schemeClr val="tx1"/>
                </a:solidFill>
              </a:rPr>
              <a:t>Paul (1 Cor 10:1–11) and Hebrews (3–4) use this history to warn believers of discipline and lost reward (Dillow; Hodges, BKC "Hebrews")</a:t>
            </a:r>
            <a:endParaRPr lang="en-US" sz="1400" dirty="0"/>
          </a:p>
          <a:p>
            <a:pPr marL="342900" indent="-342900">
              <a:spcAft>
                <a:spcPts val="600"/>
              </a:spcAft>
              <a:buSzPct val="100000"/>
              <a:buChar char="•"/>
            </a:pPr>
            <a:r>
              <a:rPr lang="en-US" sz="1300" dirty="0">
                <a:solidFill>
                  <a:schemeClr val="tx1"/>
                </a:solidFill>
              </a:rPr>
              <a:t>Jude applies it to intruders "devoid of the Spirit" (v.19)</a:t>
            </a:r>
            <a:endParaRPr lang="en-US" sz="1400" dirty="0"/>
          </a:p>
        </p:txBody>
      </p:sp>
      <p:sp>
        <p:nvSpPr>
          <p:cNvPr id="12" name="Shape 10"/>
          <p:cNvSpPr/>
          <p:nvPr/>
        </p:nvSpPr>
        <p:spPr>
          <a:xfrm>
            <a:off x="548640" y="4526280"/>
            <a:ext cx="11064240" cy="868680"/>
          </a:xfrm>
          <a:prstGeom prst="roundRect">
            <a:avLst>
              <a:gd name="adj" fmla="val 8421"/>
            </a:avLst>
          </a:prstGeom>
          <a:solidFill>
            <a:schemeClr val="tx2"/>
          </a:solidFill>
          <a:ln w="9525">
            <a:solidFill>
              <a:schemeClr val="tx2"/>
            </a:solidFill>
            <a:prstDash val="solid"/>
          </a:ln>
        </p:spPr>
      </p:sp>
      <p:sp>
        <p:nvSpPr>
          <p:cNvPr id="13" name="Text 11"/>
          <p:cNvSpPr txBox="1"/>
          <p:nvPr/>
        </p:nvSpPr>
        <p:spPr>
          <a:xfrm>
            <a:off x="777240" y="4526280"/>
            <a:ext cx="10607040" cy="868680"/>
          </a:xfrm>
          <a:prstGeom prst="rect">
            <a:avLst/>
          </a:prstGeom>
          <a:noFill/>
          <a:ln/>
        </p:spPr>
        <p:txBody>
          <a:bodyPr wrap="square" lIns="0" tIns="0" rIns="0" bIns="0" rtlCol="0" anchor="ctr"/>
          <a:lstStyle/>
          <a:p>
            <a:pPr indent="0" marL="0">
              <a:buNone/>
            </a:pPr>
            <a:r>
              <a:rPr lang="en-US" sz="1500" dirty="0">
                <a:solidFill>
                  <a:schemeClr val="bg1"/>
                </a:solidFill>
              </a:rPr>
              <a:t>The lesson: proximity to God's people protects no one. God judges unbelief, and He is not fooled.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Michael and the intruders</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vv.8–10 · two ways of speaking about the spiritual realm</a:t>
            </a:r>
            <a:endParaRPr lang="en-US" sz="1400" dirty="0"/>
          </a:p>
        </p:txBody>
      </p:sp>
      <p:sp>
        <p:nvSpPr>
          <p:cNvPr id="4" name="Shape 2"/>
          <p:cNvSpPr/>
          <p:nvPr/>
        </p:nvSpPr>
        <p:spPr>
          <a:xfrm>
            <a:off x="548640" y="1417320"/>
            <a:ext cx="5440680" cy="502920"/>
          </a:xfrm>
          <a:prstGeom prst="rect">
            <a:avLst/>
          </a:prstGeom>
          <a:solidFill>
            <a:schemeClr val="accent1"/>
          </a:solidFill>
          <a:ln w="9525">
            <a:solidFill>
              <a:schemeClr val="accent1"/>
            </a:solidFill>
            <a:prstDash val="solid"/>
          </a:ln>
        </p:spPr>
      </p:sp>
      <p:sp>
        <p:nvSpPr>
          <p:cNvPr id="5" name="Text 3"/>
          <p:cNvSpPr txBox="1"/>
          <p:nvPr/>
        </p:nvSpPr>
        <p:spPr>
          <a:xfrm>
            <a:off x="731520" y="1417320"/>
            <a:ext cx="5120640" cy="502920"/>
          </a:xfrm>
          <a:prstGeom prst="rect">
            <a:avLst/>
          </a:prstGeom>
          <a:noFill/>
          <a:ln/>
        </p:spPr>
        <p:txBody>
          <a:bodyPr wrap="square" lIns="0" tIns="0" rIns="0" bIns="0" rtlCol="0" anchor="ctr"/>
          <a:lstStyle/>
          <a:p>
            <a:pPr indent="0" marL="0">
              <a:buNone/>
            </a:pPr>
            <a:r>
              <a:rPr lang="en-US" sz="1600" b="1" dirty="0">
                <a:solidFill>
                  <a:schemeClr val="bg1"/>
                </a:solidFill>
              </a:rPr>
              <a:t>Michael the archangel (v.9)</a:t>
            </a:r>
            <a:endParaRPr lang="en-US" sz="1600" dirty="0"/>
          </a:p>
        </p:txBody>
      </p:sp>
      <p:sp>
        <p:nvSpPr>
          <p:cNvPr id="6" name="Shape 4"/>
          <p:cNvSpPr/>
          <p:nvPr/>
        </p:nvSpPr>
        <p:spPr>
          <a:xfrm>
            <a:off x="548640" y="1920240"/>
            <a:ext cx="5440680" cy="2331720"/>
          </a:xfrm>
          <a:prstGeom prst="rect">
            <a:avLst/>
          </a:prstGeom>
          <a:solidFill>
            <a:schemeClr val="bg2"/>
          </a:solidFill>
          <a:ln w="9525">
            <a:solidFill>
              <a:srgbClr val="D5DCEA"/>
            </a:solidFill>
            <a:prstDash val="solid"/>
          </a:ln>
        </p:spPr>
      </p:sp>
      <p:sp>
        <p:nvSpPr>
          <p:cNvPr id="7" name="Text 5"/>
          <p:cNvSpPr txBox="1"/>
          <p:nvPr/>
        </p:nvSpPr>
        <p:spPr>
          <a:xfrm>
            <a:off x="731520" y="2029968"/>
            <a:ext cx="512064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In a dispute with the devil himself over the body of Moses</a:t>
            </a:r>
            <a:endParaRPr lang="en-US" sz="1400" dirty="0"/>
          </a:p>
          <a:p>
            <a:pPr marL="342900" indent="-342900">
              <a:spcAft>
                <a:spcPts val="600"/>
              </a:spcAft>
              <a:buSzPct val="100000"/>
              <a:buChar char="•"/>
            </a:pPr>
            <a:r>
              <a:rPr lang="en-US" sz="1400" dirty="0">
                <a:solidFill>
                  <a:schemeClr val="tx1"/>
                </a:solidFill>
              </a:rPr>
              <a:t>"Did not dare pronounce against him a railing judgment"</a:t>
            </a:r>
            <a:endParaRPr lang="en-US" sz="1400" dirty="0"/>
          </a:p>
          <a:p>
            <a:pPr marL="342900" indent="-342900">
              <a:spcAft>
                <a:spcPts val="600"/>
              </a:spcAft>
              <a:buSzPct val="100000"/>
              <a:buChar char="•"/>
            </a:pPr>
            <a:r>
              <a:rPr lang="en-US" sz="1400" dirty="0">
                <a:solidFill>
                  <a:schemeClr val="tx1"/>
                </a:solidFill>
              </a:rPr>
              <a:t>Said, "The Lord rebuke you!" — the words of Zech 3:2</a:t>
            </a:r>
            <a:endParaRPr lang="en-US" sz="1400" dirty="0"/>
          </a:p>
          <a:p>
            <a:pPr marL="342900" indent="-342900">
              <a:spcAft>
                <a:spcPts val="600"/>
              </a:spcAft>
              <a:buSzPct val="100000"/>
              <a:buChar char="•"/>
            </a:pPr>
            <a:r>
              <a:rPr lang="en-US" sz="1400" dirty="0">
                <a:solidFill>
                  <a:schemeClr val="tx1"/>
                </a:solidFill>
              </a:rPr>
              <a:t>He knew his place and referred judgment to God</a:t>
            </a:r>
            <a:endParaRPr lang="en-US" sz="1400" dirty="0"/>
          </a:p>
        </p:txBody>
      </p:sp>
      <p:sp>
        <p:nvSpPr>
          <p:cNvPr id="8" name="Shape 6"/>
          <p:cNvSpPr/>
          <p:nvPr/>
        </p:nvSpPr>
        <p:spPr>
          <a:xfrm>
            <a:off x="6172200" y="1417320"/>
            <a:ext cx="5440680" cy="502920"/>
          </a:xfrm>
          <a:prstGeom prst="rect">
            <a:avLst/>
          </a:prstGeom>
          <a:solidFill>
            <a:schemeClr val="accent4"/>
          </a:solidFill>
          <a:ln w="9525">
            <a:solidFill>
              <a:schemeClr val="accent4"/>
            </a:solidFill>
            <a:prstDash val="solid"/>
          </a:ln>
        </p:spPr>
      </p:sp>
      <p:sp>
        <p:nvSpPr>
          <p:cNvPr id="9" name="Text 7"/>
          <p:cNvSpPr txBox="1"/>
          <p:nvPr/>
        </p:nvSpPr>
        <p:spPr>
          <a:xfrm>
            <a:off x="6355080" y="1417320"/>
            <a:ext cx="5120640" cy="502920"/>
          </a:xfrm>
          <a:prstGeom prst="rect">
            <a:avLst/>
          </a:prstGeom>
          <a:noFill/>
          <a:ln/>
        </p:spPr>
        <p:txBody>
          <a:bodyPr wrap="square" lIns="0" tIns="0" rIns="0" bIns="0" rtlCol="0" anchor="ctr"/>
          <a:lstStyle/>
          <a:p>
            <a:pPr indent="0" marL="0">
              <a:buNone/>
            </a:pPr>
            <a:r>
              <a:rPr lang="en-US" sz="1600" b="1" dirty="0">
                <a:solidFill>
                  <a:schemeClr val="bg1"/>
                </a:solidFill>
              </a:rPr>
              <a:t>The intruders (vv.8, 10)</a:t>
            </a:r>
            <a:endParaRPr lang="en-US" sz="1600" dirty="0"/>
          </a:p>
        </p:txBody>
      </p:sp>
      <p:sp>
        <p:nvSpPr>
          <p:cNvPr id="10" name="Shape 8"/>
          <p:cNvSpPr/>
          <p:nvPr/>
        </p:nvSpPr>
        <p:spPr>
          <a:xfrm>
            <a:off x="6172200" y="1920240"/>
            <a:ext cx="5440680" cy="2331720"/>
          </a:xfrm>
          <a:prstGeom prst="rect">
            <a:avLst/>
          </a:prstGeom>
          <a:solidFill>
            <a:schemeClr val="bg2"/>
          </a:solidFill>
          <a:ln w="9525">
            <a:solidFill>
              <a:srgbClr val="D5DCEA"/>
            </a:solidFill>
            <a:prstDash val="solid"/>
          </a:ln>
        </p:spPr>
      </p:sp>
      <p:sp>
        <p:nvSpPr>
          <p:cNvPr id="11" name="Text 9"/>
          <p:cNvSpPr txBox="1"/>
          <p:nvPr/>
        </p:nvSpPr>
        <p:spPr>
          <a:xfrm>
            <a:off x="6355080" y="2029968"/>
            <a:ext cx="512064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"Dreamers" — claiming visions that freed them from moral boundaries (cf. Deut 13:1–5)</a:t>
            </a:r>
            <a:endParaRPr lang="en-US" sz="1400" dirty="0"/>
          </a:p>
          <a:p>
            <a:pPr marL="342900" indent="-342900">
              <a:spcAft>
                <a:spcPts val="600"/>
              </a:spcAft>
              <a:buSzPct val="100000"/>
              <a:buChar char="•"/>
            </a:pPr>
            <a:r>
              <a:rPr lang="en-US" sz="1400" dirty="0">
                <a:solidFill>
                  <a:schemeClr val="tx1"/>
                </a:solidFill>
              </a:rPr>
              <a:t>Revile angelic majesties</a:t>
            </a:r>
            <a:endParaRPr lang="en-US" sz="1400" dirty="0"/>
          </a:p>
          <a:p>
            <a:pPr marL="342900" indent="-342900">
              <a:spcAft>
                <a:spcPts val="600"/>
              </a:spcAft>
              <a:buSzPct val="100000"/>
              <a:buChar char="•"/>
            </a:pPr>
            <a:r>
              <a:rPr lang="en-US" sz="1400" dirty="0">
                <a:solidFill>
                  <a:schemeClr val="tx1"/>
                </a:solidFill>
              </a:rPr>
              <a:t>Revile what they do not understand</a:t>
            </a:r>
            <a:endParaRPr lang="en-US" sz="1400" dirty="0"/>
          </a:p>
          <a:p>
            <a:pPr marL="342900" indent="-342900">
              <a:spcAft>
                <a:spcPts val="600"/>
              </a:spcAft>
              <a:buSzPct val="100000"/>
              <a:buChar char="•"/>
            </a:pPr>
            <a:r>
              <a:rPr lang="en-US" sz="1400" dirty="0">
                <a:solidFill>
                  <a:schemeClr val="tx1"/>
                </a:solidFill>
              </a:rPr>
              <a:t>Follow instinct like unreasoning animals — and are destroyed by it</a:t>
            </a:r>
            <a:endParaRPr lang="en-US" sz="1400" dirty="0"/>
          </a:p>
        </p:txBody>
      </p:sp>
      <p:sp>
        <p:nvSpPr>
          <p:cNvPr id="12" name="Shape 10"/>
          <p:cNvSpPr/>
          <p:nvPr/>
        </p:nvSpPr>
        <p:spPr>
          <a:xfrm>
            <a:off x="548640" y="4434840"/>
            <a:ext cx="11064240" cy="1600200"/>
          </a:xfrm>
          <a:prstGeom prst="roundRect">
            <a:avLst>
              <a:gd name="adj" fmla="val 4571"/>
            </a:avLst>
          </a:prstGeom>
          <a:solidFill>
            <a:schemeClr val="tx2"/>
          </a:solidFill>
          <a:ln w="9525">
            <a:solidFill>
              <a:schemeClr val="tx2"/>
            </a:solidFill>
            <a:prstDash val="solid"/>
          </a:ln>
        </p:spPr>
      </p:sp>
      <p:sp>
        <p:nvSpPr>
          <p:cNvPr id="13" name="Text 11"/>
          <p:cNvSpPr txBox="1"/>
          <p:nvPr/>
        </p:nvSpPr>
        <p:spPr>
          <a:xfrm>
            <a:off x="777240" y="4480560"/>
            <a:ext cx="10607040" cy="1508760"/>
          </a:xfrm>
          <a:prstGeom prst="rect">
            <a:avLst/>
          </a:prstGeom>
          <a:noFill/>
          <a:ln/>
        </p:spPr>
        <p:txBody>
          <a:bodyPr wrap="square" lIns="0" tIns="0" rIns="0" bIns="0" rtlCol="0" anchor="ctr"/>
          <a:lstStyle/>
          <a:p>
            <a:pPr indent="0" marL="0">
              <a:buNone/>
            </a:pPr>
            <a:r>
              <a:rPr lang="en-US" sz="1600" b="1" dirty="0">
                <a:solidFill>
                  <a:schemeClr val="accent5"/>
                </a:solidFill>
              </a:rPr>
              <a:t>Where does the story come from?</a:t>
            </a:r>
            <a:endParaRPr lang="en-US" sz="1400" dirty="0"/>
          </a:p>
          <a:p>
            <a:pPr indent="0" marL="0">
              <a:buNone/>
            </a:pPr>
            <a:r>
              <a:rPr lang="en-US" sz="1400" dirty="0">
                <a:solidFill>
                  <a:schemeClr val="bg1"/>
                </a:solidFill>
              </a:rPr>
              <a:t>Not in the Old Testament (Deut 34:6). Clement of Alexandria and Origen placed it in the Assumption (Testament) of Moses, whose ending is lost. Quoting a source is not endorsing all of it — Paul quotes pagan poets (Acts 17:28; Titus 1:12). What Jude affirms, Scripture affirms.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Woe to them: Cain, Balaam, Korah</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v.11 · walking → running → falling</a:t>
            </a:r>
            <a:endParaRPr lang="en-US" sz="1400" dirty="0"/>
          </a:p>
        </p:txBody>
      </p:sp>
      <p:sp>
        <p:nvSpPr>
          <p:cNvPr id="4" name="Shape 2"/>
          <p:cNvSpPr/>
          <p:nvPr/>
        </p:nvSpPr>
        <p:spPr>
          <a:xfrm>
            <a:off x="548640" y="1417320"/>
            <a:ext cx="3566160" cy="3977640"/>
          </a:xfrm>
          <a:prstGeom prst="rect">
            <a:avLst/>
          </a:prstGeom>
          <a:solidFill>
            <a:schemeClr val="bg1"/>
          </a:solidFill>
          <a:ln w="9525">
            <a:solidFill>
              <a:srgbClr val="C9CFDD"/>
            </a:solidFill>
            <a:prstDash val="solid"/>
          </a:ln>
        </p:spPr>
      </p:sp>
      <p:sp>
        <p:nvSpPr>
          <p:cNvPr id="5" name="Shape 3"/>
          <p:cNvSpPr/>
          <p:nvPr/>
        </p:nvSpPr>
        <p:spPr>
          <a:xfrm>
            <a:off x="548640" y="1417320"/>
            <a:ext cx="3566160" cy="1051560"/>
          </a:xfrm>
          <a:prstGeom prst="rect">
            <a:avLst/>
          </a:prstGeom>
          <a:solidFill>
            <a:schemeClr val="accent4"/>
          </a:solidFill>
          <a:ln w="9525">
            <a:solidFill>
              <a:schemeClr val="accent4"/>
            </a:solidFill>
            <a:prstDash val="solid"/>
          </a:ln>
        </p:spPr>
      </p:sp>
      <p:sp>
        <p:nvSpPr>
          <p:cNvPr id="6" name="Text 4"/>
          <p:cNvSpPr txBox="1"/>
          <p:nvPr/>
        </p:nvSpPr>
        <p:spPr>
          <a:xfrm>
            <a:off x="731520" y="1417320"/>
            <a:ext cx="3200400" cy="1051560"/>
          </a:xfrm>
          <a:prstGeom prst="rect">
            <a:avLst/>
          </a:prstGeom>
          <a:noFill/>
          <a:ln/>
        </p:spPr>
        <p:txBody>
          <a:bodyPr wrap="square" lIns="0" tIns="0" rIns="0" bIns="0" rtlCol="0" anchor="ctr"/>
          <a:lstStyle/>
          <a:p>
            <a:pPr indent="0" marL="0">
              <a:buNone/>
            </a:pPr>
            <a:r>
              <a:rPr lang="en-US" sz="2400" b="1" dirty="0">
                <a:solidFill>
                  <a:schemeClr val="bg1"/>
                </a:solidFill>
              </a:rPr>
              <a:t>Cain</a:t>
            </a:r>
            <a:endParaRPr lang="en-US" sz="1400" dirty="0"/>
          </a:p>
          <a:p>
            <a:pPr indent="0" marL="0">
              <a:buNone/>
            </a:pPr>
            <a:r>
              <a:rPr lang="en-US" sz="1300" i="1" dirty="0">
                <a:solidFill>
                  <a:schemeClr val="bg1"/>
                </a:solidFill>
              </a:rPr>
              <a:t>"gone the way of"</a:t>
            </a:r>
            <a:endParaRPr lang="en-US" sz="1400" dirty="0"/>
          </a:p>
        </p:txBody>
      </p:sp>
      <p:sp>
        <p:nvSpPr>
          <p:cNvPr id="7" name="Text 5"/>
          <p:cNvSpPr txBox="1"/>
          <p:nvPr/>
        </p:nvSpPr>
        <p:spPr>
          <a:xfrm>
            <a:off x="731520" y="2606040"/>
            <a:ext cx="3200400" cy="2697480"/>
          </a:xfrm>
          <a:prstGeom prst="rect">
            <a:avLst/>
          </a:prstGeom>
          <a:noFill/>
          <a:ln/>
        </p:spPr>
        <p:txBody>
          <a:bodyPr wrap="square" lIns="0" tIns="0" rIns="0" bIns="0" rtlCol="0" anchor="t"/>
          <a:lstStyle/>
          <a:p>
            <a:pPr indent="0" marL="0">
              <a:buNone/>
            </a:pPr>
            <a:r>
              <a:rPr lang="en-US" sz="1300" b="1" dirty="0">
                <a:solidFill>
                  <a:schemeClr val="accent1"/>
                </a:solidFill>
              </a:rPr>
              <a:t>Old Testament</a:t>
            </a:r>
            <a:endParaRPr lang="en-US" sz="1300" dirty="0"/>
          </a:p>
          <a:p>
            <a:pPr indent="0" marL="0">
              <a:buNone/>
            </a:pPr>
            <a:r>
              <a:rPr lang="en-US" sz="1300" dirty="0">
                <a:solidFill>
                  <a:schemeClr val="tx1"/>
                </a:solidFill>
              </a:rPr>
              <a:t>Gen 4 · Heb 11:4 · 1 John 3:12</a:t>
            </a:r>
            <a:endParaRPr lang="en-US" sz="1300" dirty="0"/>
          </a:p>
          <a:p>
            <a:pPr indent="0" marL="0">
              <a:buNone/>
            </a:pPr>
            <a:r>
              <a:rPr lang="en-US" sz="700" dirty="0">
                <a:solidFill>
                  <a:schemeClr val="tx1"/>
                </a:solidFill>
              </a:rPr>
              <a:t> </a:t>
            </a:r>
            <a:endParaRPr lang="en-US" sz="1300" dirty="0"/>
          </a:p>
          <a:p>
            <a:pPr indent="0" marL="0">
              <a:buNone/>
            </a:pPr>
            <a:r>
              <a:rPr lang="en-US" sz="1300" b="1" dirty="0">
                <a:solidFill>
                  <a:schemeClr val="accent1"/>
                </a:solidFill>
              </a:rPr>
              <a:t>The sin</a:t>
            </a:r>
            <a:endParaRPr lang="en-US" sz="1300" dirty="0"/>
          </a:p>
          <a:p>
            <a:pPr indent="0" marL="0">
              <a:buNone/>
            </a:pPr>
            <a:r>
              <a:rPr lang="en-US" sz="1300" dirty="0">
                <a:solidFill>
                  <a:schemeClr val="tx1"/>
                </a:solidFill>
              </a:rPr>
              <a:t>Came to God on his own terms, without faith; resentment, then violence</a:t>
            </a:r>
            <a:endParaRPr lang="en-US" sz="1300" dirty="0"/>
          </a:p>
          <a:p>
            <a:pPr indent="0" marL="0">
              <a:buNone/>
            </a:pPr>
            <a:r>
              <a:rPr lang="en-US" sz="700" dirty="0">
                <a:solidFill>
                  <a:schemeClr val="tx1"/>
                </a:solidFill>
              </a:rPr>
              <a:t> </a:t>
            </a:r>
            <a:endParaRPr lang="en-US" sz="1300" dirty="0"/>
          </a:p>
          <a:p>
            <a:pPr indent="0" marL="0">
              <a:buNone/>
            </a:pPr>
            <a:r>
              <a:rPr lang="en-US" sz="1300" b="1" dirty="0">
                <a:solidFill>
                  <a:schemeClr val="accent1"/>
                </a:solidFill>
              </a:rPr>
              <a:t>The pattern</a:t>
            </a:r>
            <a:endParaRPr lang="en-US" sz="1300" dirty="0"/>
          </a:p>
          <a:p>
            <a:pPr indent="0" marL="0">
              <a:buNone/>
            </a:pPr>
            <a:r>
              <a:rPr lang="en-US" sz="1300" dirty="0">
                <a:solidFill>
                  <a:schemeClr val="tx1"/>
                </a:solidFill>
              </a:rPr>
              <a:t>Religion without faith, hostile to those who walk by faith</a:t>
            </a:r>
            <a:endParaRPr lang="en-US" sz="1300" dirty="0"/>
          </a:p>
        </p:txBody>
      </p:sp>
      <p:sp>
        <p:nvSpPr>
          <p:cNvPr id="8" name="Shape 6"/>
          <p:cNvSpPr/>
          <p:nvPr/>
        </p:nvSpPr>
        <p:spPr>
          <a:xfrm>
            <a:off x="4297680" y="1417320"/>
            <a:ext cx="3566160" cy="3977640"/>
          </a:xfrm>
          <a:prstGeom prst="rect">
            <a:avLst/>
          </a:prstGeom>
          <a:solidFill>
            <a:schemeClr val="bg1"/>
          </a:solidFill>
          <a:ln w="9525">
            <a:solidFill>
              <a:srgbClr val="C9CFDD"/>
            </a:solidFill>
            <a:prstDash val="solid"/>
          </a:ln>
        </p:spPr>
      </p:sp>
      <p:sp>
        <p:nvSpPr>
          <p:cNvPr id="9" name="Shape 7"/>
          <p:cNvSpPr/>
          <p:nvPr/>
        </p:nvSpPr>
        <p:spPr>
          <a:xfrm>
            <a:off x="4297680" y="1417320"/>
            <a:ext cx="3566160" cy="1051560"/>
          </a:xfrm>
          <a:prstGeom prst="rect">
            <a:avLst/>
          </a:prstGeom>
          <a:solidFill>
            <a:schemeClr val="accent4"/>
          </a:solidFill>
          <a:ln w="9525">
            <a:solidFill>
              <a:schemeClr val="accent4"/>
            </a:solidFill>
            <a:prstDash val="solid"/>
          </a:ln>
        </p:spPr>
      </p:sp>
      <p:sp>
        <p:nvSpPr>
          <p:cNvPr id="10" name="Text 8"/>
          <p:cNvSpPr txBox="1"/>
          <p:nvPr/>
        </p:nvSpPr>
        <p:spPr>
          <a:xfrm>
            <a:off x="4480560" y="1417320"/>
            <a:ext cx="3200400" cy="1051560"/>
          </a:xfrm>
          <a:prstGeom prst="rect">
            <a:avLst/>
          </a:prstGeom>
          <a:noFill/>
          <a:ln/>
        </p:spPr>
        <p:txBody>
          <a:bodyPr wrap="square" lIns="0" tIns="0" rIns="0" bIns="0" rtlCol="0" anchor="ctr"/>
          <a:lstStyle/>
          <a:p>
            <a:pPr indent="0" marL="0">
              <a:buNone/>
            </a:pPr>
            <a:r>
              <a:rPr lang="en-US" sz="2400" b="1" dirty="0">
                <a:solidFill>
                  <a:schemeClr val="bg1"/>
                </a:solidFill>
              </a:rPr>
              <a:t>Balaam</a:t>
            </a:r>
            <a:endParaRPr lang="en-US" sz="1400" dirty="0"/>
          </a:p>
          <a:p>
            <a:pPr indent="0" marL="0">
              <a:buNone/>
            </a:pPr>
            <a:r>
              <a:rPr lang="en-US" sz="1300" i="1" dirty="0">
                <a:solidFill>
                  <a:schemeClr val="bg1"/>
                </a:solidFill>
              </a:rPr>
              <a:t>"for pay… rushed headlong into the error of"</a:t>
            </a:r>
            <a:endParaRPr lang="en-US" sz="1400" dirty="0"/>
          </a:p>
        </p:txBody>
      </p:sp>
      <p:sp>
        <p:nvSpPr>
          <p:cNvPr id="11" name="Text 9"/>
          <p:cNvSpPr txBox="1"/>
          <p:nvPr/>
        </p:nvSpPr>
        <p:spPr>
          <a:xfrm>
            <a:off x="4480560" y="2606040"/>
            <a:ext cx="3200400" cy="2697480"/>
          </a:xfrm>
          <a:prstGeom prst="rect">
            <a:avLst/>
          </a:prstGeom>
          <a:noFill/>
          <a:ln/>
        </p:spPr>
        <p:txBody>
          <a:bodyPr wrap="square" lIns="0" tIns="0" rIns="0" bIns="0" rtlCol="0" anchor="t"/>
          <a:lstStyle/>
          <a:p>
            <a:pPr indent="0" marL="0">
              <a:buNone/>
            </a:pPr>
            <a:r>
              <a:rPr lang="en-US" sz="1300" b="1" dirty="0">
                <a:solidFill>
                  <a:schemeClr val="accent1"/>
                </a:solidFill>
              </a:rPr>
              <a:t>Old Testament</a:t>
            </a:r>
            <a:endParaRPr lang="en-US" sz="1300" dirty="0"/>
          </a:p>
          <a:p>
            <a:pPr indent="0" marL="0">
              <a:buNone/>
            </a:pPr>
            <a:r>
              <a:rPr lang="en-US" sz="1300" dirty="0">
                <a:solidFill>
                  <a:schemeClr val="tx1"/>
                </a:solidFill>
              </a:rPr>
              <a:t>Num 22–25; 31:16 · 2 Pet 2:15 · Rev 2:14</a:t>
            </a:r>
            <a:endParaRPr lang="en-US" sz="1300" dirty="0"/>
          </a:p>
          <a:p>
            <a:pPr indent="0" marL="0">
              <a:buNone/>
            </a:pPr>
            <a:r>
              <a:rPr lang="en-US" sz="700" dirty="0">
                <a:solidFill>
                  <a:schemeClr val="tx1"/>
                </a:solidFill>
              </a:rPr>
              <a:t> </a:t>
            </a:r>
            <a:endParaRPr lang="en-US" sz="1300" dirty="0"/>
          </a:p>
          <a:p>
            <a:pPr indent="0" marL="0">
              <a:buNone/>
            </a:pPr>
            <a:r>
              <a:rPr lang="en-US" sz="1300" b="1" dirty="0">
                <a:solidFill>
                  <a:schemeClr val="accent1"/>
                </a:solidFill>
              </a:rPr>
              <a:t>The sin</a:t>
            </a:r>
            <a:endParaRPr lang="en-US" sz="1300" dirty="0"/>
          </a:p>
          <a:p>
            <a:pPr indent="0" marL="0">
              <a:buNone/>
            </a:pPr>
            <a:r>
              <a:rPr lang="en-US" sz="1300" dirty="0">
                <a:solidFill>
                  <a:schemeClr val="tx1"/>
                </a:solidFill>
              </a:rPr>
              <a:t>Prophet for hire; advised Balak to lead Israel into immorality and idolatry</a:t>
            </a:r>
            <a:endParaRPr lang="en-US" sz="1300" dirty="0"/>
          </a:p>
          <a:p>
            <a:pPr indent="0" marL="0">
              <a:buNone/>
            </a:pPr>
            <a:r>
              <a:rPr lang="en-US" sz="700" dirty="0">
                <a:solidFill>
                  <a:schemeClr val="tx1"/>
                </a:solidFill>
              </a:rPr>
              <a:t> </a:t>
            </a:r>
            <a:endParaRPr lang="en-US" sz="1300" dirty="0"/>
          </a:p>
          <a:p>
            <a:pPr indent="0" marL="0">
              <a:buNone/>
            </a:pPr>
            <a:r>
              <a:rPr lang="en-US" sz="1300" b="1" dirty="0">
                <a:solidFill>
                  <a:schemeClr val="accent1"/>
                </a:solidFill>
              </a:rPr>
              <a:t>The pattern</a:t>
            </a:r>
            <a:endParaRPr lang="en-US" sz="1300" dirty="0"/>
          </a:p>
          <a:p>
            <a:pPr indent="0" marL="0">
              <a:buNone/>
            </a:pPr>
            <a:r>
              <a:rPr lang="en-US" sz="1300" dirty="0">
                <a:solidFill>
                  <a:schemeClr val="tx1"/>
                </a:solidFill>
              </a:rPr>
              <a:t>Profitable teaching that leads God's people into sin</a:t>
            </a:r>
            <a:endParaRPr lang="en-US" sz="1300" dirty="0"/>
          </a:p>
        </p:txBody>
      </p:sp>
      <p:sp>
        <p:nvSpPr>
          <p:cNvPr id="12" name="Shape 10"/>
          <p:cNvSpPr/>
          <p:nvPr/>
        </p:nvSpPr>
        <p:spPr>
          <a:xfrm>
            <a:off x="8046720" y="1417320"/>
            <a:ext cx="3566160" cy="3977640"/>
          </a:xfrm>
          <a:prstGeom prst="rect">
            <a:avLst/>
          </a:prstGeom>
          <a:solidFill>
            <a:schemeClr val="bg1"/>
          </a:solidFill>
          <a:ln w="9525">
            <a:solidFill>
              <a:srgbClr val="C9CFDD"/>
            </a:solidFill>
            <a:prstDash val="solid"/>
          </a:ln>
        </p:spPr>
      </p:sp>
      <p:sp>
        <p:nvSpPr>
          <p:cNvPr id="13" name="Shape 11"/>
          <p:cNvSpPr/>
          <p:nvPr/>
        </p:nvSpPr>
        <p:spPr>
          <a:xfrm>
            <a:off x="8046720" y="1417320"/>
            <a:ext cx="3566160" cy="1051560"/>
          </a:xfrm>
          <a:prstGeom prst="rect">
            <a:avLst/>
          </a:prstGeom>
          <a:solidFill>
            <a:schemeClr val="accent4"/>
          </a:solidFill>
          <a:ln w="9525">
            <a:solidFill>
              <a:schemeClr val="accent4"/>
            </a:solidFill>
            <a:prstDash val="solid"/>
          </a:ln>
        </p:spPr>
      </p:sp>
      <p:sp>
        <p:nvSpPr>
          <p:cNvPr id="14" name="Text 12"/>
          <p:cNvSpPr txBox="1"/>
          <p:nvPr/>
        </p:nvSpPr>
        <p:spPr>
          <a:xfrm>
            <a:off x="8229600" y="1417320"/>
            <a:ext cx="3200400" cy="1051560"/>
          </a:xfrm>
          <a:prstGeom prst="rect">
            <a:avLst/>
          </a:prstGeom>
          <a:noFill/>
          <a:ln/>
        </p:spPr>
        <p:txBody>
          <a:bodyPr wrap="square" lIns="0" tIns="0" rIns="0" bIns="0" rtlCol="0" anchor="ctr"/>
          <a:lstStyle/>
          <a:p>
            <a:pPr indent="0" marL="0">
              <a:buNone/>
            </a:pPr>
            <a:r>
              <a:rPr lang="en-US" sz="2400" b="1" dirty="0">
                <a:solidFill>
                  <a:schemeClr val="bg1"/>
                </a:solidFill>
              </a:rPr>
              <a:t>Korah</a:t>
            </a:r>
            <a:endParaRPr lang="en-US" sz="1400" dirty="0"/>
          </a:p>
          <a:p>
            <a:pPr indent="0" marL="0">
              <a:buNone/>
            </a:pPr>
            <a:r>
              <a:rPr lang="en-US" sz="1300" i="1" dirty="0">
                <a:solidFill>
                  <a:schemeClr val="bg1"/>
                </a:solidFill>
              </a:rPr>
              <a:t>"perished in the rebellion of"</a:t>
            </a:r>
            <a:endParaRPr lang="en-US" sz="1400" dirty="0"/>
          </a:p>
        </p:txBody>
      </p:sp>
      <p:sp>
        <p:nvSpPr>
          <p:cNvPr id="15" name="Text 13"/>
          <p:cNvSpPr txBox="1"/>
          <p:nvPr/>
        </p:nvSpPr>
        <p:spPr>
          <a:xfrm>
            <a:off x="8229600" y="2606040"/>
            <a:ext cx="3200400" cy="2697480"/>
          </a:xfrm>
          <a:prstGeom prst="rect">
            <a:avLst/>
          </a:prstGeom>
          <a:noFill/>
          <a:ln/>
        </p:spPr>
        <p:txBody>
          <a:bodyPr wrap="square" lIns="0" tIns="0" rIns="0" bIns="0" rtlCol="0" anchor="t"/>
          <a:lstStyle/>
          <a:p>
            <a:pPr indent="0" marL="0">
              <a:buNone/>
            </a:pPr>
            <a:r>
              <a:rPr lang="en-US" sz="1300" b="1" dirty="0">
                <a:solidFill>
                  <a:schemeClr val="accent1"/>
                </a:solidFill>
              </a:rPr>
              <a:t>Old Testament</a:t>
            </a:r>
            <a:endParaRPr lang="en-US" sz="1300" dirty="0"/>
          </a:p>
          <a:p>
            <a:pPr indent="0" marL="0">
              <a:buNone/>
            </a:pPr>
            <a:r>
              <a:rPr lang="en-US" sz="1300" dirty="0">
                <a:solidFill>
                  <a:schemeClr val="tx1"/>
                </a:solidFill>
              </a:rPr>
              <a:t>Num 16:3, 31–35</a:t>
            </a:r>
            <a:endParaRPr lang="en-US" sz="1300" dirty="0"/>
          </a:p>
          <a:p>
            <a:pPr indent="0" marL="0">
              <a:buNone/>
            </a:pPr>
            <a:r>
              <a:rPr lang="en-US" sz="700" dirty="0">
                <a:solidFill>
                  <a:schemeClr val="tx1"/>
                </a:solidFill>
              </a:rPr>
              <a:t> </a:t>
            </a:r>
            <a:endParaRPr lang="en-US" sz="1300" dirty="0"/>
          </a:p>
          <a:p>
            <a:pPr indent="0" marL="0">
              <a:buNone/>
            </a:pPr>
            <a:r>
              <a:rPr lang="en-US" sz="1300" b="1" dirty="0">
                <a:solidFill>
                  <a:schemeClr val="accent1"/>
                </a:solidFill>
              </a:rPr>
              <a:t>The sin</a:t>
            </a:r>
            <a:endParaRPr lang="en-US" sz="1300" dirty="0"/>
          </a:p>
          <a:p>
            <a:pPr indent="0" marL="0">
              <a:buNone/>
            </a:pPr>
            <a:r>
              <a:rPr lang="en-US" sz="1300" dirty="0">
                <a:solidFill>
                  <a:schemeClr val="tx1"/>
                </a:solidFill>
              </a:rPr>
              <a:t>A Levite who claimed "all the congregation are holy" while seeking the priesthood</a:t>
            </a:r>
            <a:endParaRPr lang="en-US" sz="1300" dirty="0"/>
          </a:p>
          <a:p>
            <a:pPr indent="0" marL="0">
              <a:buNone/>
            </a:pPr>
            <a:r>
              <a:rPr lang="en-US" sz="700" dirty="0">
                <a:solidFill>
                  <a:schemeClr val="tx1"/>
                </a:solidFill>
              </a:rPr>
              <a:t> </a:t>
            </a:r>
            <a:endParaRPr lang="en-US" sz="1300" dirty="0"/>
          </a:p>
          <a:p>
            <a:pPr indent="0" marL="0">
              <a:buNone/>
            </a:pPr>
            <a:r>
              <a:rPr lang="en-US" sz="1300" b="1" dirty="0">
                <a:solidFill>
                  <a:schemeClr val="accent1"/>
                </a:solidFill>
              </a:rPr>
              <a:t>The pattern</a:t>
            </a:r>
            <a:endParaRPr lang="en-US" sz="1300" dirty="0"/>
          </a:p>
          <a:p>
            <a:pPr indent="0" marL="0">
              <a:buNone/>
            </a:pPr>
            <a:r>
              <a:rPr lang="en-US" sz="1300" dirty="0">
                <a:solidFill>
                  <a:schemeClr val="tx1"/>
                </a:solidFill>
              </a:rPr>
              <a:t>Rejecting God-given authority (v.8) — an end as sure as his</a:t>
            </a:r>
            <a:endParaRPr lang="en-US" sz="1300" dirty="0"/>
          </a:p>
        </p:txBody>
      </p:sp>
      <p:sp>
        <p:nvSpPr>
          <p:cNvPr id="16" name="Shape 14"/>
          <p:cNvSpPr/>
          <p:nvPr/>
        </p:nvSpPr>
        <p:spPr>
          <a:xfrm>
            <a:off x="548640" y="5577840"/>
            <a:ext cx="11064240" cy="685800"/>
          </a:xfrm>
          <a:prstGeom prst="roundRect">
            <a:avLst>
              <a:gd name="adj" fmla="val 10667"/>
            </a:avLst>
          </a:prstGeom>
          <a:solidFill>
            <a:schemeClr val="tx2"/>
          </a:solidFill>
          <a:ln w="9525">
            <a:solidFill>
              <a:schemeClr val="tx2"/>
            </a:solidFill>
            <a:prstDash val="solid"/>
          </a:ln>
        </p:spPr>
      </p:sp>
      <p:sp>
        <p:nvSpPr>
          <p:cNvPr id="17" name="Text 15"/>
          <p:cNvSpPr txBox="1"/>
          <p:nvPr/>
        </p:nvSpPr>
        <p:spPr>
          <a:xfrm>
            <a:off x="777240" y="5577840"/>
            <a:ext cx="10607040" cy="685800"/>
          </a:xfrm>
          <a:prstGeom prst="rect">
            <a:avLst/>
          </a:prstGeom>
          <a:noFill/>
          <a:ln/>
        </p:spPr>
        <p:txBody>
          <a:bodyPr wrap="square" lIns="0" tIns="0" rIns="0" bIns="0" rtlCol="0" anchor="ctr"/>
          <a:lstStyle/>
          <a:p>
            <a:pPr indent="0" marL="0">
              <a:buNone/>
            </a:pPr>
            <a:r>
              <a:rPr lang="en-US" sz="1500" dirty="0">
                <a:solidFill>
                  <a:schemeClr val="bg1"/>
                </a:solidFill>
              </a:rPr>
              <a:t>"Woe" — a prophet's lament over certain judgment, not a curse spoken in anger. "Perished" is aorist: as certain as if it had already happened.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Privilege did not protect them</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Six examples, one message (vv.5–11)</a:t>
            </a:r>
            <a:endParaRPr lang="en-US" sz="1400" dirty="0"/>
          </a:p>
        </p:txBody>
      </p:sp>
      <p:sp>
        <p:nvSpPr>
          <p:cNvPr id="4" name="Shape 2"/>
          <p:cNvSpPr/>
          <p:nvPr/>
        </p:nvSpPr>
        <p:spPr>
          <a:xfrm>
            <a:off x="548640" y="1463040"/>
            <a:ext cx="3566160" cy="1234440"/>
          </a:xfrm>
          <a:prstGeom prst="roundRect">
            <a:avLst>
              <a:gd name="adj" fmla="val 5926"/>
            </a:avLst>
          </a:prstGeom>
          <a:solidFill>
            <a:schemeClr val="bg2"/>
          </a:solidFill>
          <a:ln w="9525">
            <a:solidFill>
              <a:srgbClr val="D5DCEA"/>
            </a:solidFill>
            <a:prstDash val="solid"/>
          </a:ln>
        </p:spPr>
      </p:sp>
      <p:sp>
        <p:nvSpPr>
          <p:cNvPr id="5" name="Text 3"/>
          <p:cNvSpPr txBox="1"/>
          <p:nvPr/>
        </p:nvSpPr>
        <p:spPr>
          <a:xfrm>
            <a:off x="777240" y="1463040"/>
            <a:ext cx="3108960" cy="1234440"/>
          </a:xfrm>
          <a:prstGeom prst="rect">
            <a:avLst/>
          </a:prstGeom>
          <a:noFill/>
          <a:ln/>
        </p:spPr>
        <p:txBody>
          <a:bodyPr wrap="square" lIns="0" tIns="0" rIns="0" bIns="0" rtlCol="0" anchor="ctr"/>
          <a:lstStyle/>
          <a:p>
            <a:pPr indent="0" marL="0">
              <a:buNone/>
            </a:pPr>
            <a:r>
              <a:rPr lang="en-US" sz="1800" b="1" dirty="0">
                <a:solidFill>
                  <a:schemeClr val="tx2"/>
                </a:solidFill>
              </a:rPr>
              <a:t>Israel</a:t>
            </a:r>
            <a:endParaRPr lang="en-US" sz="1400" dirty="0"/>
          </a:p>
          <a:p>
            <a:pPr indent="0" marL="0">
              <a:buNone/>
            </a:pPr>
            <a:r>
              <a:rPr lang="en-US" sz="1500" dirty="0">
                <a:solidFill>
                  <a:schemeClr val="tx1"/>
                </a:solidFill>
              </a:rPr>
              <a:t>had been rescued from Egypt</a:t>
            </a:r>
            <a:endParaRPr lang="en-US" sz="1400" dirty="0"/>
          </a:p>
        </p:txBody>
      </p:sp>
      <p:sp>
        <p:nvSpPr>
          <p:cNvPr id="6" name="Shape 4"/>
          <p:cNvSpPr/>
          <p:nvPr/>
        </p:nvSpPr>
        <p:spPr>
          <a:xfrm>
            <a:off x="4297680" y="1463040"/>
            <a:ext cx="3566160" cy="1234440"/>
          </a:xfrm>
          <a:prstGeom prst="roundRect">
            <a:avLst>
              <a:gd name="adj" fmla="val 5926"/>
            </a:avLst>
          </a:prstGeom>
          <a:solidFill>
            <a:schemeClr val="bg2"/>
          </a:solidFill>
          <a:ln w="9525">
            <a:solidFill>
              <a:srgbClr val="D5DCEA"/>
            </a:solidFill>
            <a:prstDash val="solid"/>
          </a:ln>
        </p:spPr>
      </p:sp>
      <p:sp>
        <p:nvSpPr>
          <p:cNvPr id="7" name="Text 5"/>
          <p:cNvSpPr txBox="1"/>
          <p:nvPr/>
        </p:nvSpPr>
        <p:spPr>
          <a:xfrm>
            <a:off x="4526280" y="1463040"/>
            <a:ext cx="3108960" cy="1234440"/>
          </a:xfrm>
          <a:prstGeom prst="rect">
            <a:avLst/>
          </a:prstGeom>
          <a:noFill/>
          <a:ln/>
        </p:spPr>
        <p:txBody>
          <a:bodyPr wrap="square" lIns="0" tIns="0" rIns="0" bIns="0" rtlCol="0" anchor="ctr"/>
          <a:lstStyle/>
          <a:p>
            <a:pPr indent="0" marL="0">
              <a:buNone/>
            </a:pPr>
            <a:r>
              <a:rPr lang="en-US" sz="1800" b="1" dirty="0">
                <a:solidFill>
                  <a:schemeClr val="tx2"/>
                </a:solidFill>
              </a:rPr>
              <a:t>The angels</a:t>
            </a:r>
            <a:endParaRPr lang="en-US" sz="1400" dirty="0"/>
          </a:p>
          <a:p>
            <a:pPr indent="0" marL="0">
              <a:buNone/>
            </a:pPr>
            <a:r>
              <a:rPr lang="en-US" sz="1500" dirty="0">
                <a:solidFill>
                  <a:schemeClr val="tx1"/>
                </a:solidFill>
              </a:rPr>
              <a:t>had been exalted</a:t>
            </a:r>
            <a:endParaRPr lang="en-US" sz="1400" dirty="0"/>
          </a:p>
        </p:txBody>
      </p:sp>
      <p:sp>
        <p:nvSpPr>
          <p:cNvPr id="8" name="Shape 6"/>
          <p:cNvSpPr/>
          <p:nvPr/>
        </p:nvSpPr>
        <p:spPr>
          <a:xfrm>
            <a:off x="8046720" y="1463040"/>
            <a:ext cx="3566160" cy="1234440"/>
          </a:xfrm>
          <a:prstGeom prst="roundRect">
            <a:avLst>
              <a:gd name="adj" fmla="val 5926"/>
            </a:avLst>
          </a:prstGeom>
          <a:solidFill>
            <a:schemeClr val="bg2"/>
          </a:solidFill>
          <a:ln w="9525">
            <a:solidFill>
              <a:srgbClr val="D5DCEA"/>
            </a:solidFill>
            <a:prstDash val="solid"/>
          </a:ln>
        </p:spPr>
      </p:sp>
      <p:sp>
        <p:nvSpPr>
          <p:cNvPr id="9" name="Text 7"/>
          <p:cNvSpPr txBox="1"/>
          <p:nvPr/>
        </p:nvSpPr>
        <p:spPr>
          <a:xfrm>
            <a:off x="8275320" y="1463040"/>
            <a:ext cx="3108960" cy="1234440"/>
          </a:xfrm>
          <a:prstGeom prst="rect">
            <a:avLst/>
          </a:prstGeom>
          <a:noFill/>
          <a:ln/>
        </p:spPr>
        <p:txBody>
          <a:bodyPr wrap="square" lIns="0" tIns="0" rIns="0" bIns="0" rtlCol="0" anchor="ctr"/>
          <a:lstStyle/>
          <a:p>
            <a:pPr indent="0" marL="0">
              <a:buNone/>
            </a:pPr>
            <a:r>
              <a:rPr lang="en-US" sz="1800" b="1" dirty="0">
                <a:solidFill>
                  <a:schemeClr val="tx2"/>
                </a:solidFill>
              </a:rPr>
              <a:t>Sodom</a:t>
            </a:r>
            <a:endParaRPr lang="en-US" sz="1400" dirty="0"/>
          </a:p>
          <a:p>
            <a:pPr indent="0" marL="0">
              <a:buNone/>
            </a:pPr>
            <a:r>
              <a:rPr lang="en-US" sz="1500" dirty="0">
                <a:solidFill>
                  <a:schemeClr val="tx1"/>
                </a:solidFill>
              </a:rPr>
              <a:t>had been warned by Lot</a:t>
            </a:r>
            <a:endParaRPr lang="en-US" sz="1400" dirty="0"/>
          </a:p>
        </p:txBody>
      </p:sp>
      <p:sp>
        <p:nvSpPr>
          <p:cNvPr id="10" name="Shape 8"/>
          <p:cNvSpPr/>
          <p:nvPr/>
        </p:nvSpPr>
        <p:spPr>
          <a:xfrm>
            <a:off x="548640" y="2880360"/>
            <a:ext cx="3566160" cy="1234440"/>
          </a:xfrm>
          <a:prstGeom prst="roundRect">
            <a:avLst>
              <a:gd name="adj" fmla="val 5926"/>
            </a:avLst>
          </a:prstGeom>
          <a:solidFill>
            <a:schemeClr val="bg2"/>
          </a:solidFill>
          <a:ln w="9525">
            <a:solidFill>
              <a:srgbClr val="D5DCEA"/>
            </a:solidFill>
            <a:prstDash val="solid"/>
          </a:ln>
        </p:spPr>
      </p:sp>
      <p:sp>
        <p:nvSpPr>
          <p:cNvPr id="11" name="Text 9"/>
          <p:cNvSpPr txBox="1"/>
          <p:nvPr/>
        </p:nvSpPr>
        <p:spPr>
          <a:xfrm>
            <a:off x="777240" y="2880360"/>
            <a:ext cx="3108960" cy="1234440"/>
          </a:xfrm>
          <a:prstGeom prst="rect">
            <a:avLst/>
          </a:prstGeom>
          <a:noFill/>
          <a:ln/>
        </p:spPr>
        <p:txBody>
          <a:bodyPr wrap="square" lIns="0" tIns="0" rIns="0" bIns="0" rtlCol="0" anchor="ctr"/>
          <a:lstStyle/>
          <a:p>
            <a:pPr indent="0" marL="0">
              <a:buNone/>
            </a:pPr>
            <a:r>
              <a:rPr lang="en-US" sz="1800" b="1" dirty="0">
                <a:solidFill>
                  <a:schemeClr val="tx2"/>
                </a:solidFill>
              </a:rPr>
              <a:t>Cain</a:t>
            </a:r>
            <a:endParaRPr lang="en-US" sz="1400" dirty="0"/>
          </a:p>
          <a:p>
            <a:pPr indent="0" marL="0">
              <a:buNone/>
            </a:pPr>
            <a:r>
              <a:rPr lang="en-US" sz="1500" dirty="0">
                <a:solidFill>
                  <a:schemeClr val="tx1"/>
                </a:solidFill>
              </a:rPr>
              <a:t>had been spoken to by God</a:t>
            </a:r>
            <a:endParaRPr lang="en-US" sz="1400" dirty="0"/>
          </a:p>
        </p:txBody>
      </p:sp>
      <p:sp>
        <p:nvSpPr>
          <p:cNvPr id="12" name="Shape 10"/>
          <p:cNvSpPr/>
          <p:nvPr/>
        </p:nvSpPr>
        <p:spPr>
          <a:xfrm>
            <a:off x="4297680" y="2880360"/>
            <a:ext cx="3566160" cy="1234440"/>
          </a:xfrm>
          <a:prstGeom prst="roundRect">
            <a:avLst>
              <a:gd name="adj" fmla="val 5926"/>
            </a:avLst>
          </a:prstGeom>
          <a:solidFill>
            <a:schemeClr val="bg2"/>
          </a:solidFill>
          <a:ln w="9525">
            <a:solidFill>
              <a:srgbClr val="D5DCEA"/>
            </a:solidFill>
            <a:prstDash val="solid"/>
          </a:ln>
        </p:spPr>
      </p:sp>
      <p:sp>
        <p:nvSpPr>
          <p:cNvPr id="13" name="Text 11"/>
          <p:cNvSpPr txBox="1"/>
          <p:nvPr/>
        </p:nvSpPr>
        <p:spPr>
          <a:xfrm>
            <a:off x="4526280" y="2880360"/>
            <a:ext cx="3108960" cy="1234440"/>
          </a:xfrm>
          <a:prstGeom prst="rect">
            <a:avLst/>
          </a:prstGeom>
          <a:noFill/>
          <a:ln/>
        </p:spPr>
        <p:txBody>
          <a:bodyPr wrap="square" lIns="0" tIns="0" rIns="0" bIns="0" rtlCol="0" anchor="ctr"/>
          <a:lstStyle/>
          <a:p>
            <a:pPr indent="0" marL="0">
              <a:buNone/>
            </a:pPr>
            <a:r>
              <a:rPr lang="en-US" sz="1800" b="1" dirty="0">
                <a:solidFill>
                  <a:schemeClr val="tx2"/>
                </a:solidFill>
              </a:rPr>
              <a:t>Balaam</a:t>
            </a:r>
            <a:endParaRPr lang="en-US" sz="1400" dirty="0"/>
          </a:p>
          <a:p>
            <a:pPr indent="0" marL="0">
              <a:buNone/>
            </a:pPr>
            <a:r>
              <a:rPr lang="en-US" sz="1500" dirty="0">
                <a:solidFill>
                  <a:schemeClr val="tx1"/>
                </a:solidFill>
              </a:rPr>
              <a:t>had received true prophecy</a:t>
            </a:r>
            <a:endParaRPr lang="en-US" sz="1400" dirty="0"/>
          </a:p>
        </p:txBody>
      </p:sp>
      <p:sp>
        <p:nvSpPr>
          <p:cNvPr id="14" name="Shape 12"/>
          <p:cNvSpPr/>
          <p:nvPr/>
        </p:nvSpPr>
        <p:spPr>
          <a:xfrm>
            <a:off x="8046720" y="2880360"/>
            <a:ext cx="3566160" cy="1234440"/>
          </a:xfrm>
          <a:prstGeom prst="roundRect">
            <a:avLst>
              <a:gd name="adj" fmla="val 5926"/>
            </a:avLst>
          </a:prstGeom>
          <a:solidFill>
            <a:schemeClr val="bg2"/>
          </a:solidFill>
          <a:ln w="9525">
            <a:solidFill>
              <a:srgbClr val="D5DCEA"/>
            </a:solidFill>
            <a:prstDash val="solid"/>
          </a:ln>
        </p:spPr>
      </p:sp>
      <p:sp>
        <p:nvSpPr>
          <p:cNvPr id="15" name="Text 13"/>
          <p:cNvSpPr txBox="1"/>
          <p:nvPr/>
        </p:nvSpPr>
        <p:spPr>
          <a:xfrm>
            <a:off x="8275320" y="2880360"/>
            <a:ext cx="3108960" cy="1234440"/>
          </a:xfrm>
          <a:prstGeom prst="rect">
            <a:avLst/>
          </a:prstGeom>
          <a:noFill/>
          <a:ln/>
        </p:spPr>
        <p:txBody>
          <a:bodyPr wrap="square" lIns="0" tIns="0" rIns="0" bIns="0" rtlCol="0" anchor="ctr"/>
          <a:lstStyle/>
          <a:p>
            <a:pPr indent="0" marL="0">
              <a:buNone/>
            </a:pPr>
            <a:r>
              <a:rPr lang="en-US" sz="1800" b="1" dirty="0">
                <a:solidFill>
                  <a:schemeClr val="tx2"/>
                </a:solidFill>
              </a:rPr>
              <a:t>Korah</a:t>
            </a:r>
            <a:endParaRPr lang="en-US" sz="1400" dirty="0"/>
          </a:p>
          <a:p>
            <a:pPr indent="0" marL="0">
              <a:buNone/>
            </a:pPr>
            <a:r>
              <a:rPr lang="en-US" sz="1500" dirty="0">
                <a:solidFill>
                  <a:schemeClr val="tx1"/>
                </a:solidFill>
              </a:rPr>
              <a:t>served at the tabernacle</a:t>
            </a:r>
            <a:endParaRPr lang="en-US" sz="1400" dirty="0"/>
          </a:p>
        </p:txBody>
      </p:sp>
      <p:sp>
        <p:nvSpPr>
          <p:cNvPr id="16" name="Shape 14"/>
          <p:cNvSpPr/>
          <p:nvPr/>
        </p:nvSpPr>
        <p:spPr>
          <a:xfrm>
            <a:off x="548640" y="4480560"/>
            <a:ext cx="11064240" cy="1005840"/>
          </a:xfrm>
          <a:prstGeom prst="roundRect">
            <a:avLst>
              <a:gd name="adj" fmla="val 7273"/>
            </a:avLst>
          </a:prstGeom>
          <a:solidFill>
            <a:schemeClr val="tx2"/>
          </a:solidFill>
          <a:ln w="9525">
            <a:solidFill>
              <a:schemeClr val="tx2"/>
            </a:solidFill>
            <a:prstDash val="solid"/>
          </a:ln>
        </p:spPr>
      </p:sp>
      <p:sp>
        <p:nvSpPr>
          <p:cNvPr id="17" name="Text 15"/>
          <p:cNvSpPr txBox="1"/>
          <p:nvPr/>
        </p:nvSpPr>
        <p:spPr>
          <a:xfrm>
            <a:off x="777240" y="4480560"/>
            <a:ext cx="10607040" cy="1005840"/>
          </a:xfrm>
          <a:prstGeom prst="rect">
            <a:avLst/>
          </a:prstGeom>
          <a:noFill/>
          <a:ln/>
        </p:spPr>
        <p:txBody>
          <a:bodyPr wrap="square" lIns="0" tIns="0" rIns="0" bIns="0" rtlCol="0" anchor="ctr"/>
          <a:lstStyle/>
          <a:p>
            <a:pPr indent="0" marL="0">
              <a:buNone/>
            </a:pPr>
            <a:r>
              <a:rPr lang="en-US" sz="1500" dirty="0">
                <a:solidFill>
                  <a:schemeClr val="bg1"/>
                </a:solidFill>
              </a:rPr>
              <a:t>God does not overlook contempt for His grace and His authority. For believers, this is not a threat to eternal life (vv.1, 24) but a call to sobriety — God disciplines His children (Heb 12:6), and all will give account (2 Cor 5:10).</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31520" y="1188720"/>
            <a:ext cx="10058400" cy="457200"/>
          </a:xfrm>
          <a:prstGeom prst="rect">
            <a:avLst/>
          </a:prstGeom>
          <a:noFill/>
          <a:ln/>
        </p:spPr>
        <p:txBody>
          <a:bodyPr wrap="square" lIns="0" tIns="0" rIns="0" bIns="0" rtlCol="0" anchor="t"/>
          <a:lstStyle/>
          <a:p>
            <a:pPr indent="0" marL="0">
              <a:buNone/>
            </a:pPr>
            <a:r>
              <a:rPr lang="en-US" sz="1800" b="1" dirty="0">
                <a:solidFill>
                  <a:schemeClr val="accent5"/>
                </a:solidFill>
              </a:rPr>
              <a:t>Study 4 of 6 · Jude 12–16</a:t>
            </a:r>
            <a:endParaRPr lang="en-US" sz="1800" dirty="0"/>
          </a:p>
        </p:txBody>
      </p:sp>
      <p:sp>
        <p:nvSpPr>
          <p:cNvPr id="3" name="Text 0"/>
          <p:cNvSpPr/>
          <p:nvPr>
            <p:ph idx="100" type="title" hasCustomPrompt="1"/>
          </p:nvPr>
        </p:nvSpPr>
        <p:spPr>
          <a:xfrm>
            <a:off x="731520" y="1737360"/>
            <a:ext cx="10698480" cy="1554480"/>
          </a:xfrm>
          <a:prstGeom prst="rect">
            <a:avLst/>
          </a:prstGeom>
          <a:noFill/>
          <a:ln/>
        </p:spPr>
        <p:txBody>
          <a:bodyPr wrap="square" rtlCol="0" anchor="b"/>
          <a:lstStyle/>
          <a:p>
            <a:pPr algn="l" indent="0" marL="0">
              <a:buNone/>
            </a:pPr>
            <a:r>
              <a:rPr lang="en-US" sz="4000" b="1" dirty="0">
                <a:solidFill>
                  <a:schemeClr val="bg1"/>
                </a:solidFill>
              </a:rPr>
              <a:t>Portraits of Apostasy: What False Teachers Look Like</a:t>
            </a:r>
            <a:endParaRPr lang="en-US" sz="4000" dirty="0"/>
          </a:p>
        </p:txBody>
      </p:sp>
      <p:sp>
        <p:nvSpPr>
          <p:cNvPr id="4" name="Text 0"/>
          <p:cNvSpPr/>
          <p:nvPr>
            <p:ph idx="101" type="body" hasCustomPrompt="1"/>
          </p:nvPr>
        </p:nvSpPr>
        <p:spPr>
          <a:xfrm>
            <a:off x="731520" y="3474720"/>
            <a:ext cx="10698480" cy="2011680"/>
          </a:xfrm>
          <a:prstGeom prst="rect">
            <a:avLst/>
          </a:prstGeom>
          <a:noFill/>
          <a:ln/>
        </p:spPr>
        <p:txBody>
          <a:bodyPr wrap="square" rtlCol="0" anchor="t"/>
          <a:lstStyle/>
          <a:p>
            <a:pPr algn="l" indent="0" marL="0">
              <a:buNone/>
            </a:pPr>
            <a:r>
              <a:rPr lang="en-US" sz="2000" dirty="0">
                <a:solidFill>
                  <a:schemeClr val="bg2"/>
                </a:solidFill>
              </a:rPr>
              <a:t>Jude exposes the false teachers through portraits from nature and the prophecy of Enoch, so that believers can recognize empty, self-serving religion and rest in the Lord's judgment.</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"These" — text, then application</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Jude cites a text or example, then points: "these" (οὗτοι)</a:t>
            </a:r>
            <a:endParaRPr lang="en-US" sz="1400" dirty="0"/>
          </a:p>
        </p:txBody>
      </p:sp>
      <p:sp>
        <p:nvSpPr>
          <p:cNvPr id="4" name="Shape 2"/>
          <p:cNvSpPr/>
          <p:nvPr/>
        </p:nvSpPr>
        <p:spPr>
          <a:xfrm>
            <a:off x="548640" y="1463040"/>
            <a:ext cx="2103120" cy="1645920"/>
          </a:xfrm>
          <a:prstGeom prst="roundRect">
            <a:avLst>
              <a:gd name="adj" fmla="val 4444"/>
            </a:avLst>
          </a:prstGeom>
          <a:solidFill>
            <a:schemeClr val="bg2"/>
          </a:solidFill>
          <a:ln w="9525">
            <a:solidFill>
              <a:srgbClr val="C9CFDD"/>
            </a:solidFill>
            <a:prstDash val="solid"/>
          </a:ln>
        </p:spPr>
      </p:sp>
      <p:sp>
        <p:nvSpPr>
          <p:cNvPr id="5" name="Text 3"/>
          <p:cNvSpPr txBox="1"/>
          <p:nvPr/>
        </p:nvSpPr>
        <p:spPr>
          <a:xfrm>
            <a:off x="658368" y="1508760"/>
            <a:ext cx="1883664" cy="1554480"/>
          </a:xfrm>
          <a:prstGeom prst="rect">
            <a:avLst/>
          </a:prstGeom>
          <a:noFill/>
          <a:ln/>
        </p:spPr>
        <p:txBody>
          <a:bodyPr wrap="square" lIns="0" tIns="0" rIns="0" bIns="0" rtlCol="0" anchor="ctr"/>
          <a:lstStyle/>
          <a:p>
            <a:pPr indent="0" marL="0">
              <a:buNone/>
            </a:pPr>
            <a:r>
              <a:rPr lang="en-US" sz="1400" b="1" dirty="0">
                <a:solidFill>
                  <a:schemeClr val="accent1"/>
                </a:solidFill>
              </a:rPr>
              <a:t>Text · vv.5–7</a:t>
            </a:r>
            <a:endParaRPr lang="en-US" sz="1400" dirty="0"/>
          </a:p>
          <a:p>
            <a:pPr indent="0" marL="0">
              <a:buNone/>
            </a:pPr>
            <a:r>
              <a:rPr lang="en-US" sz="1400" dirty="0">
                <a:solidFill>
                  <a:schemeClr val="tx1"/>
                </a:solidFill>
              </a:rPr>
              <a:t>Israel, angels, Sodom</a:t>
            </a:r>
            <a:endParaRPr lang="en-US" sz="1400" dirty="0"/>
          </a:p>
        </p:txBody>
      </p:sp>
      <p:sp>
        <p:nvSpPr>
          <p:cNvPr id="6" name="Text 4"/>
          <p:cNvSpPr txBox="1"/>
          <p:nvPr/>
        </p:nvSpPr>
        <p:spPr>
          <a:xfrm>
            <a:off x="548640" y="3154680"/>
            <a:ext cx="2103120" cy="457200"/>
          </a:xfrm>
          <a:prstGeom prst="rect">
            <a:avLst/>
          </a:prstGeom>
          <a:noFill/>
          <a:ln/>
        </p:spPr>
        <p:txBody>
          <a:bodyPr wrap="square" lIns="0" tIns="0" rIns="0" bIns="0" rtlCol="0" anchor="ctr"/>
          <a:lstStyle/>
          <a:p>
            <a:pPr algn="ctr" indent="0" marL="0">
              <a:buNone/>
            </a:pPr>
            <a:r>
              <a:rPr lang="en-US" sz="2400" dirty="0">
                <a:solidFill>
                  <a:schemeClr val="accent4"/>
                </a:solidFill>
              </a:rPr>
              <a:t>↓</a:t>
            </a:r>
            <a:endParaRPr lang="en-US" sz="2400" dirty="0"/>
          </a:p>
        </p:txBody>
      </p:sp>
      <p:sp>
        <p:nvSpPr>
          <p:cNvPr id="7" name="Shape 5"/>
          <p:cNvSpPr/>
          <p:nvPr/>
        </p:nvSpPr>
        <p:spPr>
          <a:xfrm>
            <a:off x="548640" y="3657600"/>
            <a:ext cx="2103120" cy="1920240"/>
          </a:xfrm>
          <a:prstGeom prst="roundRect">
            <a:avLst>
              <a:gd name="adj" fmla="val 3810"/>
            </a:avLst>
          </a:prstGeom>
          <a:solidFill>
            <a:schemeClr val="accent4"/>
          </a:solidFill>
          <a:ln w="9525">
            <a:solidFill>
              <a:schemeClr val="accent4"/>
            </a:solidFill>
            <a:prstDash val="solid"/>
          </a:ln>
        </p:spPr>
      </p:sp>
      <p:sp>
        <p:nvSpPr>
          <p:cNvPr id="8" name="Text 6"/>
          <p:cNvSpPr txBox="1"/>
          <p:nvPr/>
        </p:nvSpPr>
        <p:spPr>
          <a:xfrm>
            <a:off x="658368" y="3703320"/>
            <a:ext cx="1883664" cy="1828800"/>
          </a:xfrm>
          <a:prstGeom prst="rect">
            <a:avLst/>
          </a:prstGeom>
          <a:noFill/>
          <a:ln/>
        </p:spPr>
        <p:txBody>
          <a:bodyPr wrap="square" lIns="0" tIns="0" rIns="0" bIns="0" rtlCol="0" anchor="ctr"/>
          <a:lstStyle/>
          <a:p>
            <a:pPr indent="0" marL="0">
              <a:buNone/>
            </a:pPr>
            <a:r>
              <a:rPr lang="en-US" sz="1400" b="1" dirty="0">
                <a:solidFill>
                  <a:schemeClr val="bg1"/>
                </a:solidFill>
              </a:rPr>
              <a:t>"These" · v.8</a:t>
            </a:r>
            <a:endParaRPr lang="en-US" sz="1400" dirty="0"/>
          </a:p>
          <a:p>
            <a:pPr indent="0" marL="0">
              <a:buNone/>
            </a:pPr>
            <a:r>
              <a:rPr lang="en-US" sz="1400" dirty="0">
                <a:solidFill>
                  <a:schemeClr val="bg1"/>
                </a:solidFill>
              </a:rPr>
              <a:t>defile the flesh, reject authority, revile majesties</a:t>
            </a:r>
            <a:endParaRPr lang="en-US" sz="1400" dirty="0"/>
          </a:p>
        </p:txBody>
      </p:sp>
      <p:sp>
        <p:nvSpPr>
          <p:cNvPr id="9" name="Shape 7"/>
          <p:cNvSpPr/>
          <p:nvPr/>
        </p:nvSpPr>
        <p:spPr>
          <a:xfrm>
            <a:off x="2788920" y="1463040"/>
            <a:ext cx="2103120" cy="1645920"/>
          </a:xfrm>
          <a:prstGeom prst="roundRect">
            <a:avLst>
              <a:gd name="adj" fmla="val 4444"/>
            </a:avLst>
          </a:prstGeom>
          <a:solidFill>
            <a:schemeClr val="bg2"/>
          </a:solidFill>
          <a:ln w="9525">
            <a:solidFill>
              <a:srgbClr val="C9CFDD"/>
            </a:solidFill>
            <a:prstDash val="solid"/>
          </a:ln>
        </p:spPr>
      </p:sp>
      <p:sp>
        <p:nvSpPr>
          <p:cNvPr id="10" name="Text 8"/>
          <p:cNvSpPr txBox="1"/>
          <p:nvPr/>
        </p:nvSpPr>
        <p:spPr>
          <a:xfrm>
            <a:off x="2898648" y="1508760"/>
            <a:ext cx="1883664" cy="1554480"/>
          </a:xfrm>
          <a:prstGeom prst="rect">
            <a:avLst/>
          </a:prstGeom>
          <a:noFill/>
          <a:ln/>
        </p:spPr>
        <p:txBody>
          <a:bodyPr wrap="square" lIns="0" tIns="0" rIns="0" bIns="0" rtlCol="0" anchor="ctr"/>
          <a:lstStyle/>
          <a:p>
            <a:pPr indent="0" marL="0">
              <a:buNone/>
            </a:pPr>
            <a:r>
              <a:rPr lang="en-US" sz="1400" b="1" dirty="0">
                <a:solidFill>
                  <a:schemeClr val="accent1"/>
                </a:solidFill>
              </a:rPr>
              <a:t>Text · v.9</a:t>
            </a:r>
            <a:endParaRPr lang="en-US" sz="1400" dirty="0"/>
          </a:p>
          <a:p>
            <a:pPr indent="0" marL="0">
              <a:buNone/>
            </a:pPr>
            <a:r>
              <a:rPr lang="en-US" sz="1400" dirty="0">
                <a:solidFill>
                  <a:schemeClr val="tx1"/>
                </a:solidFill>
              </a:rPr>
              <a:t>Michael and the body of Moses</a:t>
            </a:r>
            <a:endParaRPr lang="en-US" sz="1400" dirty="0"/>
          </a:p>
        </p:txBody>
      </p:sp>
      <p:sp>
        <p:nvSpPr>
          <p:cNvPr id="11" name="Text 9"/>
          <p:cNvSpPr txBox="1"/>
          <p:nvPr/>
        </p:nvSpPr>
        <p:spPr>
          <a:xfrm>
            <a:off x="2788920" y="3154680"/>
            <a:ext cx="2103120" cy="457200"/>
          </a:xfrm>
          <a:prstGeom prst="rect">
            <a:avLst/>
          </a:prstGeom>
          <a:noFill/>
          <a:ln/>
        </p:spPr>
        <p:txBody>
          <a:bodyPr wrap="square" lIns="0" tIns="0" rIns="0" bIns="0" rtlCol="0" anchor="ctr"/>
          <a:lstStyle/>
          <a:p>
            <a:pPr algn="ctr" indent="0" marL="0">
              <a:buNone/>
            </a:pPr>
            <a:r>
              <a:rPr lang="en-US" sz="2400" dirty="0">
                <a:solidFill>
                  <a:schemeClr val="accent4"/>
                </a:solidFill>
              </a:rPr>
              <a:t>↓</a:t>
            </a:r>
            <a:endParaRPr lang="en-US" sz="2400" dirty="0"/>
          </a:p>
        </p:txBody>
      </p:sp>
      <p:sp>
        <p:nvSpPr>
          <p:cNvPr id="12" name="Shape 10"/>
          <p:cNvSpPr/>
          <p:nvPr/>
        </p:nvSpPr>
        <p:spPr>
          <a:xfrm>
            <a:off x="2788920" y="3657600"/>
            <a:ext cx="2103120" cy="1920240"/>
          </a:xfrm>
          <a:prstGeom prst="roundRect">
            <a:avLst>
              <a:gd name="adj" fmla="val 3810"/>
            </a:avLst>
          </a:prstGeom>
          <a:solidFill>
            <a:schemeClr val="accent4"/>
          </a:solidFill>
          <a:ln w="9525">
            <a:solidFill>
              <a:schemeClr val="accent4"/>
            </a:solidFill>
            <a:prstDash val="solid"/>
          </a:ln>
        </p:spPr>
      </p:sp>
      <p:sp>
        <p:nvSpPr>
          <p:cNvPr id="13" name="Text 11"/>
          <p:cNvSpPr txBox="1"/>
          <p:nvPr/>
        </p:nvSpPr>
        <p:spPr>
          <a:xfrm>
            <a:off x="2898648" y="3703320"/>
            <a:ext cx="1883664" cy="1828800"/>
          </a:xfrm>
          <a:prstGeom prst="rect">
            <a:avLst/>
          </a:prstGeom>
          <a:noFill/>
          <a:ln/>
        </p:spPr>
        <p:txBody>
          <a:bodyPr wrap="square" lIns="0" tIns="0" rIns="0" bIns="0" rtlCol="0" anchor="ctr"/>
          <a:lstStyle/>
          <a:p>
            <a:pPr indent="0" marL="0">
              <a:buNone/>
            </a:pPr>
            <a:r>
              <a:rPr lang="en-US" sz="1400" b="1" dirty="0">
                <a:solidFill>
                  <a:schemeClr val="bg1"/>
                </a:solidFill>
              </a:rPr>
              <a:t>"These" · v.10</a:t>
            </a:r>
            <a:endParaRPr lang="en-US" sz="1400" dirty="0"/>
          </a:p>
          <a:p>
            <a:pPr indent="0" marL="0">
              <a:buNone/>
            </a:pPr>
            <a:r>
              <a:rPr lang="en-US" sz="1400" dirty="0">
                <a:solidFill>
                  <a:schemeClr val="bg1"/>
                </a:solidFill>
              </a:rPr>
              <a:t>revile what they do not understand</a:t>
            </a:r>
            <a:endParaRPr lang="en-US" sz="1400" dirty="0"/>
          </a:p>
        </p:txBody>
      </p:sp>
      <p:sp>
        <p:nvSpPr>
          <p:cNvPr id="14" name="Shape 12"/>
          <p:cNvSpPr/>
          <p:nvPr/>
        </p:nvSpPr>
        <p:spPr>
          <a:xfrm>
            <a:off x="5029200" y="1463040"/>
            <a:ext cx="2103120" cy="1645920"/>
          </a:xfrm>
          <a:prstGeom prst="roundRect">
            <a:avLst>
              <a:gd name="adj" fmla="val 4444"/>
            </a:avLst>
          </a:prstGeom>
          <a:solidFill>
            <a:schemeClr val="bg2"/>
          </a:solidFill>
          <a:ln w="9525">
            <a:solidFill>
              <a:srgbClr val="C9CFDD"/>
            </a:solidFill>
            <a:prstDash val="solid"/>
          </a:ln>
        </p:spPr>
      </p:sp>
      <p:sp>
        <p:nvSpPr>
          <p:cNvPr id="15" name="Text 13"/>
          <p:cNvSpPr txBox="1"/>
          <p:nvPr/>
        </p:nvSpPr>
        <p:spPr>
          <a:xfrm>
            <a:off x="5138928" y="1508760"/>
            <a:ext cx="1883664" cy="1554480"/>
          </a:xfrm>
          <a:prstGeom prst="rect">
            <a:avLst/>
          </a:prstGeom>
          <a:noFill/>
          <a:ln/>
        </p:spPr>
        <p:txBody>
          <a:bodyPr wrap="square" lIns="0" tIns="0" rIns="0" bIns="0" rtlCol="0" anchor="ctr"/>
          <a:lstStyle/>
          <a:p>
            <a:pPr indent="0" marL="0">
              <a:buNone/>
            </a:pPr>
            <a:r>
              <a:rPr lang="en-US" sz="1400" b="1" dirty="0">
                <a:solidFill>
                  <a:schemeClr val="accent1"/>
                </a:solidFill>
              </a:rPr>
              <a:t>Text · v.11</a:t>
            </a:r>
            <a:endParaRPr lang="en-US" sz="1400" dirty="0"/>
          </a:p>
          <a:p>
            <a:pPr indent="0" marL="0">
              <a:buNone/>
            </a:pPr>
            <a:r>
              <a:rPr lang="en-US" sz="1400" dirty="0">
                <a:solidFill>
                  <a:schemeClr val="tx1"/>
                </a:solidFill>
              </a:rPr>
              <a:t>Cain, Balaam, Korah</a:t>
            </a:r>
            <a:endParaRPr lang="en-US" sz="1400" dirty="0"/>
          </a:p>
        </p:txBody>
      </p:sp>
      <p:sp>
        <p:nvSpPr>
          <p:cNvPr id="16" name="Text 14"/>
          <p:cNvSpPr txBox="1"/>
          <p:nvPr/>
        </p:nvSpPr>
        <p:spPr>
          <a:xfrm>
            <a:off x="5029200" y="3154680"/>
            <a:ext cx="2103120" cy="457200"/>
          </a:xfrm>
          <a:prstGeom prst="rect">
            <a:avLst/>
          </a:prstGeom>
          <a:noFill/>
          <a:ln/>
        </p:spPr>
        <p:txBody>
          <a:bodyPr wrap="square" lIns="0" tIns="0" rIns="0" bIns="0" rtlCol="0" anchor="ctr"/>
          <a:lstStyle/>
          <a:p>
            <a:pPr algn="ctr" indent="0" marL="0">
              <a:buNone/>
            </a:pPr>
            <a:r>
              <a:rPr lang="en-US" sz="2400" dirty="0">
                <a:solidFill>
                  <a:schemeClr val="accent4"/>
                </a:solidFill>
              </a:rPr>
              <a:t>↓</a:t>
            </a:r>
            <a:endParaRPr lang="en-US" sz="2400" dirty="0"/>
          </a:p>
        </p:txBody>
      </p:sp>
      <p:sp>
        <p:nvSpPr>
          <p:cNvPr id="17" name="Shape 15"/>
          <p:cNvSpPr/>
          <p:nvPr/>
        </p:nvSpPr>
        <p:spPr>
          <a:xfrm>
            <a:off x="5029200" y="3657600"/>
            <a:ext cx="2103120" cy="1920240"/>
          </a:xfrm>
          <a:prstGeom prst="roundRect">
            <a:avLst>
              <a:gd name="adj" fmla="val 3810"/>
            </a:avLst>
          </a:prstGeom>
          <a:solidFill>
            <a:schemeClr val="accent4"/>
          </a:solidFill>
          <a:ln w="9525">
            <a:solidFill>
              <a:schemeClr val="accent4"/>
            </a:solidFill>
            <a:prstDash val="solid"/>
          </a:ln>
        </p:spPr>
      </p:sp>
      <p:sp>
        <p:nvSpPr>
          <p:cNvPr id="18" name="Text 16"/>
          <p:cNvSpPr txBox="1"/>
          <p:nvPr/>
        </p:nvSpPr>
        <p:spPr>
          <a:xfrm>
            <a:off x="5138928" y="3703320"/>
            <a:ext cx="1883664" cy="1828800"/>
          </a:xfrm>
          <a:prstGeom prst="rect">
            <a:avLst/>
          </a:prstGeom>
          <a:noFill/>
          <a:ln/>
        </p:spPr>
        <p:txBody>
          <a:bodyPr wrap="square" lIns="0" tIns="0" rIns="0" bIns="0" rtlCol="0" anchor="ctr"/>
          <a:lstStyle/>
          <a:p>
            <a:pPr indent="0" marL="0">
              <a:buNone/>
            </a:pPr>
            <a:r>
              <a:rPr lang="en-US" sz="1400" b="1" dirty="0">
                <a:solidFill>
                  <a:schemeClr val="bg1"/>
                </a:solidFill>
              </a:rPr>
              <a:t>"These" · vv.12–13</a:t>
            </a:r>
            <a:endParaRPr lang="en-US" sz="1400" dirty="0"/>
          </a:p>
          <a:p>
            <a:pPr indent="0" marL="0">
              <a:buNone/>
            </a:pPr>
            <a:r>
              <a:rPr lang="en-US" sz="1400" dirty="0">
                <a:solidFill>
                  <a:schemeClr val="bg1"/>
                </a:solidFill>
              </a:rPr>
              <a:t>hidden reefs at your love feasts</a:t>
            </a:r>
            <a:endParaRPr lang="en-US" sz="1400" dirty="0"/>
          </a:p>
        </p:txBody>
      </p:sp>
      <p:sp>
        <p:nvSpPr>
          <p:cNvPr id="19" name="Shape 17"/>
          <p:cNvSpPr/>
          <p:nvPr/>
        </p:nvSpPr>
        <p:spPr>
          <a:xfrm>
            <a:off x="7269480" y="1463040"/>
            <a:ext cx="2103120" cy="1645920"/>
          </a:xfrm>
          <a:prstGeom prst="roundRect">
            <a:avLst>
              <a:gd name="adj" fmla="val 4444"/>
            </a:avLst>
          </a:prstGeom>
          <a:solidFill>
            <a:schemeClr val="bg2"/>
          </a:solidFill>
          <a:ln w="9525">
            <a:solidFill>
              <a:srgbClr val="C9CFDD"/>
            </a:solidFill>
            <a:prstDash val="solid"/>
          </a:ln>
        </p:spPr>
      </p:sp>
      <p:sp>
        <p:nvSpPr>
          <p:cNvPr id="20" name="Text 18"/>
          <p:cNvSpPr txBox="1"/>
          <p:nvPr/>
        </p:nvSpPr>
        <p:spPr>
          <a:xfrm>
            <a:off x="7379208" y="1508760"/>
            <a:ext cx="1883664" cy="1554480"/>
          </a:xfrm>
          <a:prstGeom prst="rect">
            <a:avLst/>
          </a:prstGeom>
          <a:noFill/>
          <a:ln/>
        </p:spPr>
        <p:txBody>
          <a:bodyPr wrap="square" lIns="0" tIns="0" rIns="0" bIns="0" rtlCol="0" anchor="ctr"/>
          <a:lstStyle/>
          <a:p>
            <a:pPr indent="0" marL="0">
              <a:buNone/>
            </a:pPr>
            <a:r>
              <a:rPr lang="en-US" sz="1400" b="1" dirty="0">
                <a:solidFill>
                  <a:schemeClr val="accent1"/>
                </a:solidFill>
              </a:rPr>
              <a:t>Text · vv.14–15</a:t>
            </a:r>
            <a:endParaRPr lang="en-US" sz="1400" dirty="0"/>
          </a:p>
          <a:p>
            <a:pPr indent="0" marL="0">
              <a:buNone/>
            </a:pPr>
            <a:r>
              <a:rPr lang="en-US" sz="1400" dirty="0">
                <a:solidFill>
                  <a:schemeClr val="tx1"/>
                </a:solidFill>
              </a:rPr>
              <a:t>Enoch prophesied "of these" (v.14)</a:t>
            </a:r>
            <a:endParaRPr lang="en-US" sz="1400" dirty="0"/>
          </a:p>
        </p:txBody>
      </p:sp>
      <p:sp>
        <p:nvSpPr>
          <p:cNvPr id="21" name="Text 19"/>
          <p:cNvSpPr txBox="1"/>
          <p:nvPr/>
        </p:nvSpPr>
        <p:spPr>
          <a:xfrm>
            <a:off x="7269480" y="3154680"/>
            <a:ext cx="2103120" cy="457200"/>
          </a:xfrm>
          <a:prstGeom prst="rect">
            <a:avLst/>
          </a:prstGeom>
          <a:noFill/>
          <a:ln/>
        </p:spPr>
        <p:txBody>
          <a:bodyPr wrap="square" lIns="0" tIns="0" rIns="0" bIns="0" rtlCol="0" anchor="ctr"/>
          <a:lstStyle/>
          <a:p>
            <a:pPr algn="ctr" indent="0" marL="0">
              <a:buNone/>
            </a:pPr>
            <a:r>
              <a:rPr lang="en-US" sz="2400" dirty="0">
                <a:solidFill>
                  <a:schemeClr val="accent4"/>
                </a:solidFill>
              </a:rPr>
              <a:t>↓</a:t>
            </a:r>
            <a:endParaRPr lang="en-US" sz="2400" dirty="0"/>
          </a:p>
        </p:txBody>
      </p:sp>
      <p:sp>
        <p:nvSpPr>
          <p:cNvPr id="22" name="Shape 20"/>
          <p:cNvSpPr/>
          <p:nvPr/>
        </p:nvSpPr>
        <p:spPr>
          <a:xfrm>
            <a:off x="7269480" y="3657600"/>
            <a:ext cx="2103120" cy="1920240"/>
          </a:xfrm>
          <a:prstGeom prst="roundRect">
            <a:avLst>
              <a:gd name="adj" fmla="val 3810"/>
            </a:avLst>
          </a:prstGeom>
          <a:solidFill>
            <a:schemeClr val="accent4"/>
          </a:solidFill>
          <a:ln w="9525">
            <a:solidFill>
              <a:schemeClr val="accent4"/>
            </a:solidFill>
            <a:prstDash val="solid"/>
          </a:ln>
        </p:spPr>
      </p:sp>
      <p:sp>
        <p:nvSpPr>
          <p:cNvPr id="23" name="Text 21"/>
          <p:cNvSpPr txBox="1"/>
          <p:nvPr/>
        </p:nvSpPr>
        <p:spPr>
          <a:xfrm>
            <a:off x="7379208" y="3703320"/>
            <a:ext cx="1883664" cy="1828800"/>
          </a:xfrm>
          <a:prstGeom prst="rect">
            <a:avLst/>
          </a:prstGeom>
          <a:noFill/>
          <a:ln/>
        </p:spPr>
        <p:txBody>
          <a:bodyPr wrap="square" lIns="0" tIns="0" rIns="0" bIns="0" rtlCol="0" anchor="ctr"/>
          <a:lstStyle/>
          <a:p>
            <a:pPr indent="0" marL="0">
              <a:buNone/>
            </a:pPr>
            <a:r>
              <a:rPr lang="en-US" sz="1400" b="1" dirty="0">
                <a:solidFill>
                  <a:schemeClr val="bg1"/>
                </a:solidFill>
              </a:rPr>
              <a:t>"These" · v.16</a:t>
            </a:r>
            <a:endParaRPr lang="en-US" sz="1400" dirty="0"/>
          </a:p>
          <a:p>
            <a:pPr indent="0" marL="0">
              <a:buNone/>
            </a:pPr>
            <a:r>
              <a:rPr lang="en-US" sz="1400" dirty="0">
                <a:solidFill>
                  <a:schemeClr val="bg1"/>
                </a:solidFill>
              </a:rPr>
              <a:t>grumblers, fault-finders, flatterers</a:t>
            </a:r>
            <a:endParaRPr lang="en-US" sz="1400" dirty="0"/>
          </a:p>
        </p:txBody>
      </p:sp>
      <p:sp>
        <p:nvSpPr>
          <p:cNvPr id="24" name="Shape 22"/>
          <p:cNvSpPr/>
          <p:nvPr/>
        </p:nvSpPr>
        <p:spPr>
          <a:xfrm>
            <a:off x="9509760" y="1463040"/>
            <a:ext cx="2103120" cy="1645920"/>
          </a:xfrm>
          <a:prstGeom prst="roundRect">
            <a:avLst>
              <a:gd name="adj" fmla="val 4444"/>
            </a:avLst>
          </a:prstGeom>
          <a:solidFill>
            <a:schemeClr val="bg2"/>
          </a:solidFill>
          <a:ln w="9525">
            <a:solidFill>
              <a:srgbClr val="C9CFDD"/>
            </a:solidFill>
            <a:prstDash val="solid"/>
          </a:ln>
        </p:spPr>
      </p:sp>
      <p:sp>
        <p:nvSpPr>
          <p:cNvPr id="25" name="Text 23"/>
          <p:cNvSpPr txBox="1"/>
          <p:nvPr/>
        </p:nvSpPr>
        <p:spPr>
          <a:xfrm>
            <a:off x="9619488" y="1508760"/>
            <a:ext cx="1883664" cy="1554480"/>
          </a:xfrm>
          <a:prstGeom prst="rect">
            <a:avLst/>
          </a:prstGeom>
          <a:noFill/>
          <a:ln/>
        </p:spPr>
        <p:txBody>
          <a:bodyPr wrap="square" lIns="0" tIns="0" rIns="0" bIns="0" rtlCol="0" anchor="ctr"/>
          <a:lstStyle/>
          <a:p>
            <a:pPr indent="0" marL="0">
              <a:buNone/>
            </a:pPr>
            <a:r>
              <a:rPr lang="en-US" sz="1400" b="1" dirty="0">
                <a:solidFill>
                  <a:schemeClr val="accent1"/>
                </a:solidFill>
              </a:rPr>
              <a:t>Text · vv.17–18</a:t>
            </a:r>
            <a:endParaRPr lang="en-US" sz="1400" dirty="0"/>
          </a:p>
          <a:p>
            <a:pPr indent="0" marL="0">
              <a:buNone/>
            </a:pPr>
            <a:r>
              <a:rPr lang="en-US" sz="1400" dirty="0">
                <a:solidFill>
                  <a:schemeClr val="tx1"/>
                </a:solidFill>
              </a:rPr>
              <a:t>The apostles' warning</a:t>
            </a:r>
            <a:endParaRPr lang="en-US" sz="1400" dirty="0"/>
          </a:p>
        </p:txBody>
      </p:sp>
      <p:sp>
        <p:nvSpPr>
          <p:cNvPr id="26" name="Text 24"/>
          <p:cNvSpPr txBox="1"/>
          <p:nvPr/>
        </p:nvSpPr>
        <p:spPr>
          <a:xfrm>
            <a:off x="9509760" y="3154680"/>
            <a:ext cx="2103120" cy="457200"/>
          </a:xfrm>
          <a:prstGeom prst="rect">
            <a:avLst/>
          </a:prstGeom>
          <a:noFill/>
          <a:ln/>
        </p:spPr>
        <p:txBody>
          <a:bodyPr wrap="square" lIns="0" tIns="0" rIns="0" bIns="0" rtlCol="0" anchor="ctr"/>
          <a:lstStyle/>
          <a:p>
            <a:pPr algn="ctr" indent="0" marL="0">
              <a:buNone/>
            </a:pPr>
            <a:r>
              <a:rPr lang="en-US" sz="2400" dirty="0">
                <a:solidFill>
                  <a:schemeClr val="accent4"/>
                </a:solidFill>
              </a:rPr>
              <a:t>↓</a:t>
            </a:r>
            <a:endParaRPr lang="en-US" sz="2400" dirty="0"/>
          </a:p>
        </p:txBody>
      </p:sp>
      <p:sp>
        <p:nvSpPr>
          <p:cNvPr id="27" name="Shape 25"/>
          <p:cNvSpPr/>
          <p:nvPr/>
        </p:nvSpPr>
        <p:spPr>
          <a:xfrm>
            <a:off x="9509760" y="3657600"/>
            <a:ext cx="2103120" cy="1920240"/>
          </a:xfrm>
          <a:prstGeom prst="roundRect">
            <a:avLst>
              <a:gd name="adj" fmla="val 3810"/>
            </a:avLst>
          </a:prstGeom>
          <a:solidFill>
            <a:schemeClr val="accent4"/>
          </a:solidFill>
          <a:ln w="9525">
            <a:solidFill>
              <a:schemeClr val="accent4"/>
            </a:solidFill>
            <a:prstDash val="solid"/>
          </a:ln>
        </p:spPr>
      </p:sp>
      <p:sp>
        <p:nvSpPr>
          <p:cNvPr id="28" name="Text 26"/>
          <p:cNvSpPr txBox="1"/>
          <p:nvPr/>
        </p:nvSpPr>
        <p:spPr>
          <a:xfrm>
            <a:off x="9619488" y="3703320"/>
            <a:ext cx="1883664" cy="1828800"/>
          </a:xfrm>
          <a:prstGeom prst="rect">
            <a:avLst/>
          </a:prstGeom>
          <a:noFill/>
          <a:ln/>
        </p:spPr>
        <p:txBody>
          <a:bodyPr wrap="square" lIns="0" tIns="0" rIns="0" bIns="0" rtlCol="0" anchor="ctr"/>
          <a:lstStyle/>
          <a:p>
            <a:pPr indent="0" marL="0">
              <a:buNone/>
            </a:pPr>
            <a:r>
              <a:rPr lang="en-US" sz="1400" b="1" dirty="0">
                <a:solidFill>
                  <a:schemeClr val="bg1"/>
                </a:solidFill>
              </a:rPr>
              <a:t>"These" · v.19</a:t>
            </a:r>
            <a:endParaRPr lang="en-US" sz="1400" dirty="0"/>
          </a:p>
          <a:p>
            <a:pPr indent="0" marL="0">
              <a:buNone/>
            </a:pPr>
            <a:r>
              <a:rPr lang="en-US" sz="1400" dirty="0">
                <a:solidFill>
                  <a:schemeClr val="bg1"/>
                </a:solidFill>
              </a:rPr>
              <a:t>divisive, worldly-minded, devoid of the Spirit</a:t>
            </a:r>
            <a:endParaRPr lang="en-US" sz="1400" dirty="0"/>
          </a:p>
        </p:txBody>
      </p:sp>
      <p:sp>
        <p:nvSpPr>
          <p:cNvPr id="29" name="Shape 27"/>
          <p:cNvSpPr/>
          <p:nvPr/>
        </p:nvSpPr>
        <p:spPr>
          <a:xfrm>
            <a:off x="548640" y="5669280"/>
            <a:ext cx="11064240" cy="566928"/>
          </a:xfrm>
          <a:prstGeom prst="roundRect">
            <a:avLst>
              <a:gd name="adj" fmla="val 12903"/>
            </a:avLst>
          </a:prstGeom>
          <a:solidFill>
            <a:schemeClr val="tx2"/>
          </a:solidFill>
          <a:ln w="9525">
            <a:solidFill>
              <a:schemeClr val="tx2"/>
            </a:solidFill>
            <a:prstDash val="solid"/>
          </a:ln>
        </p:spPr>
      </p:sp>
      <p:sp>
        <p:nvSpPr>
          <p:cNvPr id="30" name="Text 28"/>
          <p:cNvSpPr txBox="1"/>
          <p:nvPr/>
        </p:nvSpPr>
        <p:spPr>
          <a:xfrm>
            <a:off x="777240" y="5669280"/>
            <a:ext cx="10607040" cy="566928"/>
          </a:xfrm>
          <a:prstGeom prst="rect">
            <a:avLst/>
          </a:prstGeom>
          <a:noFill/>
          <a:ln/>
        </p:spPr>
        <p:txBody>
          <a:bodyPr wrap="square" lIns="0" tIns="0" rIns="0" bIns="0" rtlCol="0" anchor="ctr"/>
          <a:lstStyle/>
          <a:p>
            <a:pPr indent="0" marL="0">
              <a:buNone/>
            </a:pPr>
            <a:r>
              <a:rPr lang="en-US" sz="1500" dirty="0">
                <a:solidFill>
                  <a:schemeClr val="bg1"/>
                </a:solidFill>
              </a:rPr>
              <a:t>Like an artist tapping the canvas — "look closely, this is what they are." Jude reasons from Scripture to identify the danger.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Five portraits from creation</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vv.12–13 · sea, sky, earth, sea, heavens — promise without substance</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931920"/>
                <a:gridCol w="1097280"/>
                <a:gridCol w="2560320"/>
                <a:gridCol w="3474720"/>
              </a:tblGrid>
              <a:tr h="457200">
                <a:tc>
                  <a:txBody>
                    <a:bodyPr/>
                    <a:lstStyle/>
                    <a:p>
                      <a:pPr indent="0" marL="0">
                        <a:buNone/>
                      </a:pPr>
                      <a:r>
                        <a:rPr lang="en-US" sz="1400" b="1" dirty="0">
                          <a:solidFill>
                            <a:schemeClr val="bg1"/>
                          </a:solidFill>
                          <a:latin typeface="Arial" pitchFamily="34" charset="0"/>
                          <a:ea typeface="Arial" pitchFamily="34" charset="-122"/>
                          <a:cs typeface="Arial" pitchFamily="34" charset="-120"/>
                        </a:rPr>
                        <a:t>Portrait</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Realm</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Scripture echo</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What it exposes</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841248">
                <a:tc>
                  <a:txBody>
                    <a:bodyPr/>
                    <a:lstStyle/>
                    <a:p>
                      <a:pPr indent="0" marL="0">
                        <a:buNone/>
                      </a:pPr>
                      <a:r>
                        <a:rPr lang="en-US" sz="1300" i="1" dirty="0">
                          <a:solidFill>
                            <a:schemeClr val="tx1"/>
                          </a:solidFill>
                          <a:latin typeface="Arial" pitchFamily="34" charset="0"/>
                          <a:ea typeface="Arial" pitchFamily="34" charset="-122"/>
                          <a:cs typeface="Arial" pitchFamily="34" charset="-120"/>
                        </a:rPr>
                        <a:t>Hidden reefs in your love feasts (spilades) — "caring for themselves"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Sea</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Ezek 34 — shepherds who fed themselves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Calm surface, wreck beneath; feasting "without fear"</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777240">
                <a:tc>
                  <a:txBody>
                    <a:bodyPr/>
                    <a:lstStyle/>
                    <a:p>
                      <a:pPr indent="0" marL="0">
                        <a:buNone/>
                      </a:pPr>
                      <a:r>
                        <a:rPr lang="en-US" sz="1300" i="1" dirty="0">
                          <a:solidFill>
                            <a:schemeClr val="tx1"/>
                          </a:solidFill>
                          <a:latin typeface="Arial" pitchFamily="34" charset="0"/>
                          <a:ea typeface="Arial" pitchFamily="34" charset="-122"/>
                          <a:cs typeface="Arial" pitchFamily="34" charset="-120"/>
                        </a:rPr>
                        <a:t>Clouds without water, carried along by winds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Sky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Prov 25:14</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Promised refreshment, delivered none; no stability (Eph 4:14)</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777240">
                <a:tc>
                  <a:txBody>
                    <a:bodyPr/>
                    <a:lstStyle/>
                    <a:p>
                      <a:pPr indent="0" marL="0">
                        <a:buNone/>
                      </a:pPr>
                      <a:r>
                        <a:rPr lang="en-US" sz="1300" i="1" dirty="0">
                          <a:solidFill>
                            <a:schemeClr val="tx1"/>
                          </a:solidFill>
                          <a:latin typeface="Arial" pitchFamily="34" charset="0"/>
                          <a:ea typeface="Arial" pitchFamily="34" charset="-122"/>
                          <a:cs typeface="Arial" pitchFamily="34" charset="-120"/>
                        </a:rPr>
                        <a:t>Autumn trees without fruit, doubly dead, uprooted</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Earth</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Matt 7:16–20</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Harvest time and nothing on the branches — dead wood</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777240">
                <a:tc>
                  <a:txBody>
                    <a:bodyPr/>
                    <a:lstStyle/>
                    <a:p>
                      <a:pPr indent="0" marL="0">
                        <a:buNone/>
                      </a:pPr>
                      <a:r>
                        <a:rPr lang="en-US" sz="1300" i="1" dirty="0">
                          <a:solidFill>
                            <a:schemeClr val="tx1"/>
                          </a:solidFill>
                          <a:latin typeface="Arial" pitchFamily="34" charset="0"/>
                          <a:ea typeface="Arial" pitchFamily="34" charset="-122"/>
                          <a:cs typeface="Arial" pitchFamily="34" charset="-120"/>
                        </a:rPr>
                        <a:t>Wild waves of the sea, casting up their own shame like foam</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Sea</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Isa 57:20</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Restless and noisy, producing only shame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841248">
                <a:tc>
                  <a:txBody>
                    <a:bodyPr/>
                    <a:lstStyle/>
                    <a:p>
                      <a:pPr indent="0" marL="0">
                        <a:buNone/>
                      </a:pPr>
                      <a:r>
                        <a:rPr lang="en-US" sz="1300" i="1" dirty="0">
                          <a:solidFill>
                            <a:schemeClr val="tx1"/>
                          </a:solidFill>
                          <a:latin typeface="Arial" pitchFamily="34" charset="0"/>
                          <a:ea typeface="Arial" pitchFamily="34" charset="-122"/>
                          <a:cs typeface="Arial" pitchFamily="34" charset="-120"/>
                        </a:rPr>
                        <a:t>Wandering stars, for whom the black darkness has been reserved forever</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Heavens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Dan 12:3; 1 Enoch</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Guides who lead people off course; darkness kept (tēreō) for them</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The counterfeit and the real</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Study 4's conclusion: drink deeply from the real thing</a:t>
            </a:r>
            <a:endParaRPr lang="en-US" sz="1400" dirty="0"/>
          </a:p>
        </p:txBody>
      </p:sp>
      <p:sp>
        <p:nvSpPr>
          <p:cNvPr id="4" name="Shape 2"/>
          <p:cNvSpPr/>
          <p:nvPr/>
        </p:nvSpPr>
        <p:spPr>
          <a:xfrm>
            <a:off x="548640" y="1508760"/>
            <a:ext cx="4206240" cy="1097280"/>
          </a:xfrm>
          <a:prstGeom prst="roundRect">
            <a:avLst>
              <a:gd name="adj" fmla="val 6667"/>
            </a:avLst>
          </a:prstGeom>
          <a:solidFill>
            <a:schemeClr val="accent4"/>
          </a:solidFill>
          <a:ln w="9525">
            <a:solidFill>
              <a:schemeClr val="accent4"/>
            </a:solidFill>
            <a:prstDash val="solid"/>
          </a:ln>
        </p:spPr>
      </p:sp>
      <p:sp>
        <p:nvSpPr>
          <p:cNvPr id="5" name="Text 3"/>
          <p:cNvSpPr txBox="1"/>
          <p:nvPr/>
        </p:nvSpPr>
        <p:spPr>
          <a:xfrm>
            <a:off x="731520" y="1508760"/>
            <a:ext cx="3840480" cy="1097280"/>
          </a:xfrm>
          <a:prstGeom prst="rect">
            <a:avLst/>
          </a:prstGeom>
          <a:noFill/>
          <a:ln/>
        </p:spPr>
        <p:txBody>
          <a:bodyPr wrap="square" lIns="0" tIns="0" rIns="0" bIns="0" rtlCol="0" anchor="ctr"/>
          <a:lstStyle/>
          <a:p>
            <a:pPr indent="0" marL="0">
              <a:buNone/>
            </a:pPr>
            <a:r>
              <a:rPr lang="en-US" sz="1700" b="1" dirty="0">
                <a:solidFill>
                  <a:schemeClr val="bg1"/>
                </a:solidFill>
              </a:rPr>
              <a:t>Clouds without water</a:t>
            </a:r>
            <a:endParaRPr lang="en-US" sz="1700" dirty="0"/>
          </a:p>
        </p:txBody>
      </p:sp>
      <p:sp>
        <p:nvSpPr>
          <p:cNvPr id="6" name="Text 4"/>
          <p:cNvSpPr txBox="1"/>
          <p:nvPr/>
        </p:nvSpPr>
        <p:spPr>
          <a:xfrm>
            <a:off x="4800600" y="1508760"/>
            <a:ext cx="640080" cy="1097280"/>
          </a:xfrm>
          <a:prstGeom prst="rect">
            <a:avLst/>
          </a:prstGeom>
          <a:noFill/>
          <a:ln/>
        </p:spPr>
        <p:txBody>
          <a:bodyPr wrap="square" lIns="0" tIns="0" rIns="0" bIns="0" rtlCol="0" anchor="ctr"/>
          <a:lstStyle/>
          <a:p>
            <a:pPr algn="ctr" indent="0" marL="0">
              <a:buNone/>
            </a:pPr>
            <a:r>
              <a:rPr lang="en-US" sz="2600" dirty="0">
                <a:solidFill>
                  <a:schemeClr val="accent4"/>
                </a:solidFill>
              </a:rPr>
              <a:t>→</a:t>
            </a:r>
            <a:endParaRPr lang="en-US" sz="2600" dirty="0"/>
          </a:p>
        </p:txBody>
      </p:sp>
      <p:sp>
        <p:nvSpPr>
          <p:cNvPr id="7" name="Shape 5"/>
          <p:cNvSpPr/>
          <p:nvPr/>
        </p:nvSpPr>
        <p:spPr>
          <a:xfrm>
            <a:off x="5486400" y="1508760"/>
            <a:ext cx="6126480" cy="1097280"/>
          </a:xfrm>
          <a:prstGeom prst="roundRect">
            <a:avLst>
              <a:gd name="adj" fmla="val 6667"/>
            </a:avLst>
          </a:prstGeom>
          <a:solidFill>
            <a:schemeClr val="accent1"/>
          </a:solidFill>
          <a:ln w="9525">
            <a:solidFill>
              <a:schemeClr val="accent1"/>
            </a:solidFill>
            <a:prstDash val="solid"/>
          </a:ln>
        </p:spPr>
      </p:sp>
      <p:sp>
        <p:nvSpPr>
          <p:cNvPr id="8" name="Text 6"/>
          <p:cNvSpPr txBox="1"/>
          <p:nvPr/>
        </p:nvSpPr>
        <p:spPr>
          <a:xfrm>
            <a:off x="5669280" y="1508760"/>
            <a:ext cx="5760720" cy="1097280"/>
          </a:xfrm>
          <a:prstGeom prst="rect">
            <a:avLst/>
          </a:prstGeom>
          <a:noFill/>
          <a:ln/>
        </p:spPr>
        <p:txBody>
          <a:bodyPr wrap="square" lIns="0" tIns="0" rIns="0" bIns="0" rtlCol="0" anchor="ctr"/>
          <a:lstStyle/>
          <a:p>
            <a:pPr indent="0" marL="0">
              <a:buNone/>
            </a:pPr>
            <a:r>
              <a:rPr lang="en-US" sz="1600" b="1" dirty="0">
                <a:solidFill>
                  <a:schemeClr val="bg1"/>
                </a:solidFill>
              </a:rPr>
              <a:t>Christ, the living water</a:t>
            </a:r>
            <a:endParaRPr lang="en-US" sz="1400" dirty="0"/>
          </a:p>
          <a:p>
            <a:pPr indent="0" marL="0">
              <a:buNone/>
            </a:pPr>
            <a:r>
              <a:rPr lang="en-US" sz="1300" dirty="0">
                <a:solidFill>
                  <a:schemeClr val="bg1"/>
                </a:solidFill>
              </a:rPr>
              <a:t>John 4:10; 7:37–38</a:t>
            </a:r>
            <a:endParaRPr lang="en-US" sz="1400" dirty="0"/>
          </a:p>
        </p:txBody>
      </p:sp>
      <p:sp>
        <p:nvSpPr>
          <p:cNvPr id="9" name="Shape 7"/>
          <p:cNvSpPr/>
          <p:nvPr/>
        </p:nvSpPr>
        <p:spPr>
          <a:xfrm>
            <a:off x="548640" y="2788920"/>
            <a:ext cx="4206240" cy="1097280"/>
          </a:xfrm>
          <a:prstGeom prst="roundRect">
            <a:avLst>
              <a:gd name="adj" fmla="val 6667"/>
            </a:avLst>
          </a:prstGeom>
          <a:solidFill>
            <a:schemeClr val="accent4"/>
          </a:solidFill>
          <a:ln w="9525">
            <a:solidFill>
              <a:schemeClr val="accent4"/>
            </a:solidFill>
            <a:prstDash val="solid"/>
          </a:ln>
        </p:spPr>
      </p:sp>
      <p:sp>
        <p:nvSpPr>
          <p:cNvPr id="10" name="Text 8"/>
          <p:cNvSpPr txBox="1"/>
          <p:nvPr/>
        </p:nvSpPr>
        <p:spPr>
          <a:xfrm>
            <a:off x="731520" y="2788920"/>
            <a:ext cx="3840480" cy="1097280"/>
          </a:xfrm>
          <a:prstGeom prst="rect">
            <a:avLst/>
          </a:prstGeom>
          <a:noFill/>
          <a:ln/>
        </p:spPr>
        <p:txBody>
          <a:bodyPr wrap="square" lIns="0" tIns="0" rIns="0" bIns="0" rtlCol="0" anchor="ctr"/>
          <a:lstStyle/>
          <a:p>
            <a:pPr indent="0" marL="0">
              <a:buNone/>
            </a:pPr>
            <a:r>
              <a:rPr lang="en-US" sz="1700" b="1" dirty="0">
                <a:solidFill>
                  <a:schemeClr val="bg1"/>
                </a:solidFill>
              </a:rPr>
              <a:t>Autumn trees without fruit</a:t>
            </a:r>
            <a:endParaRPr lang="en-US" sz="1700" dirty="0"/>
          </a:p>
        </p:txBody>
      </p:sp>
      <p:sp>
        <p:nvSpPr>
          <p:cNvPr id="11" name="Text 9"/>
          <p:cNvSpPr txBox="1"/>
          <p:nvPr/>
        </p:nvSpPr>
        <p:spPr>
          <a:xfrm>
            <a:off x="4800600" y="2788920"/>
            <a:ext cx="640080" cy="1097280"/>
          </a:xfrm>
          <a:prstGeom prst="rect">
            <a:avLst/>
          </a:prstGeom>
          <a:noFill/>
          <a:ln/>
        </p:spPr>
        <p:txBody>
          <a:bodyPr wrap="square" lIns="0" tIns="0" rIns="0" bIns="0" rtlCol="0" anchor="ctr"/>
          <a:lstStyle/>
          <a:p>
            <a:pPr algn="ctr" indent="0" marL="0">
              <a:buNone/>
            </a:pPr>
            <a:r>
              <a:rPr lang="en-US" sz="2600" dirty="0">
                <a:solidFill>
                  <a:schemeClr val="accent4"/>
                </a:solidFill>
              </a:rPr>
              <a:t>→</a:t>
            </a:r>
            <a:endParaRPr lang="en-US" sz="2600" dirty="0"/>
          </a:p>
        </p:txBody>
      </p:sp>
      <p:sp>
        <p:nvSpPr>
          <p:cNvPr id="12" name="Shape 10"/>
          <p:cNvSpPr/>
          <p:nvPr/>
        </p:nvSpPr>
        <p:spPr>
          <a:xfrm>
            <a:off x="5486400" y="2788920"/>
            <a:ext cx="6126480" cy="1097280"/>
          </a:xfrm>
          <a:prstGeom prst="roundRect">
            <a:avLst>
              <a:gd name="adj" fmla="val 6667"/>
            </a:avLst>
          </a:prstGeom>
          <a:solidFill>
            <a:schemeClr val="accent1"/>
          </a:solidFill>
          <a:ln w="9525">
            <a:solidFill>
              <a:schemeClr val="accent1"/>
            </a:solidFill>
            <a:prstDash val="solid"/>
          </a:ln>
        </p:spPr>
      </p:sp>
      <p:sp>
        <p:nvSpPr>
          <p:cNvPr id="13" name="Text 11"/>
          <p:cNvSpPr txBox="1"/>
          <p:nvPr/>
        </p:nvSpPr>
        <p:spPr>
          <a:xfrm>
            <a:off x="5669280" y="2788920"/>
            <a:ext cx="5760720" cy="1097280"/>
          </a:xfrm>
          <a:prstGeom prst="rect">
            <a:avLst/>
          </a:prstGeom>
          <a:noFill/>
          <a:ln/>
        </p:spPr>
        <p:txBody>
          <a:bodyPr wrap="square" lIns="0" tIns="0" rIns="0" bIns="0" rtlCol="0" anchor="ctr"/>
          <a:lstStyle/>
          <a:p>
            <a:pPr indent="0" marL="0">
              <a:buNone/>
            </a:pPr>
            <a:r>
              <a:rPr lang="en-US" sz="1600" b="1" dirty="0">
                <a:solidFill>
                  <a:schemeClr val="bg1"/>
                </a:solidFill>
              </a:rPr>
              <a:t>Christ, the true Vine — whose life bears fruit in those who abide</a:t>
            </a:r>
            <a:endParaRPr lang="en-US" sz="1400" dirty="0"/>
          </a:p>
          <a:p>
            <a:pPr indent="0" marL="0">
              <a:buNone/>
            </a:pPr>
            <a:r>
              <a:rPr lang="en-US" sz="1300" dirty="0">
                <a:solidFill>
                  <a:schemeClr val="bg1"/>
                </a:solidFill>
              </a:rPr>
              <a:t>John 15:1–5</a:t>
            </a:r>
            <a:endParaRPr lang="en-US" sz="1400" dirty="0"/>
          </a:p>
        </p:txBody>
      </p:sp>
      <p:sp>
        <p:nvSpPr>
          <p:cNvPr id="14" name="Shape 12"/>
          <p:cNvSpPr/>
          <p:nvPr/>
        </p:nvSpPr>
        <p:spPr>
          <a:xfrm>
            <a:off x="548640" y="4069080"/>
            <a:ext cx="4206240" cy="1097280"/>
          </a:xfrm>
          <a:prstGeom prst="roundRect">
            <a:avLst>
              <a:gd name="adj" fmla="val 6667"/>
            </a:avLst>
          </a:prstGeom>
          <a:solidFill>
            <a:schemeClr val="accent4"/>
          </a:solidFill>
          <a:ln w="9525">
            <a:solidFill>
              <a:schemeClr val="accent4"/>
            </a:solidFill>
            <a:prstDash val="solid"/>
          </a:ln>
        </p:spPr>
      </p:sp>
      <p:sp>
        <p:nvSpPr>
          <p:cNvPr id="15" name="Text 13"/>
          <p:cNvSpPr txBox="1"/>
          <p:nvPr/>
        </p:nvSpPr>
        <p:spPr>
          <a:xfrm>
            <a:off x="731520" y="4069080"/>
            <a:ext cx="3840480" cy="1097280"/>
          </a:xfrm>
          <a:prstGeom prst="rect">
            <a:avLst/>
          </a:prstGeom>
          <a:noFill/>
          <a:ln/>
        </p:spPr>
        <p:txBody>
          <a:bodyPr wrap="square" lIns="0" tIns="0" rIns="0" bIns="0" rtlCol="0" anchor="ctr"/>
          <a:lstStyle/>
          <a:p>
            <a:pPr indent="0" marL="0">
              <a:buNone/>
            </a:pPr>
            <a:r>
              <a:rPr lang="en-US" sz="1700" b="1" dirty="0">
                <a:solidFill>
                  <a:schemeClr val="bg1"/>
                </a:solidFill>
              </a:rPr>
              <a:t>Wandering stars</a:t>
            </a:r>
            <a:endParaRPr lang="en-US" sz="1700" dirty="0"/>
          </a:p>
        </p:txBody>
      </p:sp>
      <p:sp>
        <p:nvSpPr>
          <p:cNvPr id="16" name="Text 14"/>
          <p:cNvSpPr txBox="1"/>
          <p:nvPr/>
        </p:nvSpPr>
        <p:spPr>
          <a:xfrm>
            <a:off x="4800600" y="4069080"/>
            <a:ext cx="640080" cy="1097280"/>
          </a:xfrm>
          <a:prstGeom prst="rect">
            <a:avLst/>
          </a:prstGeom>
          <a:noFill/>
          <a:ln/>
        </p:spPr>
        <p:txBody>
          <a:bodyPr wrap="square" lIns="0" tIns="0" rIns="0" bIns="0" rtlCol="0" anchor="ctr"/>
          <a:lstStyle/>
          <a:p>
            <a:pPr algn="ctr" indent="0" marL="0">
              <a:buNone/>
            </a:pPr>
            <a:r>
              <a:rPr lang="en-US" sz="2600" dirty="0">
                <a:solidFill>
                  <a:schemeClr val="accent4"/>
                </a:solidFill>
              </a:rPr>
              <a:t>→</a:t>
            </a:r>
            <a:endParaRPr lang="en-US" sz="2600" dirty="0"/>
          </a:p>
        </p:txBody>
      </p:sp>
      <p:sp>
        <p:nvSpPr>
          <p:cNvPr id="17" name="Shape 15"/>
          <p:cNvSpPr/>
          <p:nvPr/>
        </p:nvSpPr>
        <p:spPr>
          <a:xfrm>
            <a:off x="5486400" y="4069080"/>
            <a:ext cx="6126480" cy="1097280"/>
          </a:xfrm>
          <a:prstGeom prst="roundRect">
            <a:avLst>
              <a:gd name="adj" fmla="val 6667"/>
            </a:avLst>
          </a:prstGeom>
          <a:solidFill>
            <a:schemeClr val="accent1"/>
          </a:solidFill>
          <a:ln w="9525">
            <a:solidFill>
              <a:schemeClr val="accent1"/>
            </a:solidFill>
            <a:prstDash val="solid"/>
          </a:ln>
        </p:spPr>
      </p:sp>
      <p:sp>
        <p:nvSpPr>
          <p:cNvPr id="18" name="Text 16"/>
          <p:cNvSpPr txBox="1"/>
          <p:nvPr/>
        </p:nvSpPr>
        <p:spPr>
          <a:xfrm>
            <a:off x="5669280" y="4069080"/>
            <a:ext cx="5760720" cy="1097280"/>
          </a:xfrm>
          <a:prstGeom prst="rect">
            <a:avLst/>
          </a:prstGeom>
          <a:noFill/>
          <a:ln/>
        </p:spPr>
        <p:txBody>
          <a:bodyPr wrap="square" lIns="0" tIns="0" rIns="0" bIns="0" rtlCol="0" anchor="ctr"/>
          <a:lstStyle/>
          <a:p>
            <a:pPr indent="0" marL="0">
              <a:buNone/>
            </a:pPr>
            <a:r>
              <a:rPr lang="en-US" sz="1600" b="1" dirty="0">
                <a:solidFill>
                  <a:schemeClr val="bg1"/>
                </a:solidFill>
              </a:rPr>
              <a:t>Christ, the Bright Morning Star by which we steer</a:t>
            </a:r>
            <a:endParaRPr lang="en-US" sz="1400" dirty="0"/>
          </a:p>
          <a:p>
            <a:pPr indent="0" marL="0">
              <a:buNone/>
            </a:pPr>
            <a:r>
              <a:rPr lang="en-US" sz="1300" dirty="0">
                <a:solidFill>
                  <a:schemeClr val="bg1"/>
                </a:solidFill>
              </a:rPr>
              <a:t>Rev 22:16</a:t>
            </a:r>
            <a:endParaRPr lang="en-US" sz="1400" dirty="0"/>
          </a:p>
        </p:txBody>
      </p:sp>
      <p:sp>
        <p:nvSpPr>
          <p:cNvPr id="19" name="Shape 17"/>
          <p:cNvSpPr/>
          <p:nvPr/>
        </p:nvSpPr>
        <p:spPr>
          <a:xfrm>
            <a:off x="548640" y="5486400"/>
            <a:ext cx="11064240" cy="594360"/>
          </a:xfrm>
          <a:prstGeom prst="roundRect">
            <a:avLst>
              <a:gd name="adj" fmla="val 12308"/>
            </a:avLst>
          </a:prstGeom>
          <a:solidFill>
            <a:schemeClr val="tx2"/>
          </a:solidFill>
          <a:ln w="9525">
            <a:solidFill>
              <a:schemeClr val="tx2"/>
            </a:solidFill>
            <a:prstDash val="solid"/>
          </a:ln>
        </p:spPr>
      </p:sp>
      <p:sp>
        <p:nvSpPr>
          <p:cNvPr id="20" name="Text 18"/>
          <p:cNvSpPr txBox="1"/>
          <p:nvPr/>
        </p:nvSpPr>
        <p:spPr>
          <a:xfrm>
            <a:off x="777240" y="5486400"/>
            <a:ext cx="10607040" cy="594360"/>
          </a:xfrm>
          <a:prstGeom prst="rect">
            <a:avLst/>
          </a:prstGeom>
          <a:noFill/>
          <a:ln/>
        </p:spPr>
        <p:txBody>
          <a:bodyPr wrap="square" lIns="0" tIns="0" rIns="0" bIns="0" rtlCol="0" anchor="ctr"/>
          <a:lstStyle/>
          <a:p>
            <a:pPr indent="0" marL="0">
              <a:buNone/>
            </a:pPr>
            <a:r>
              <a:rPr lang="en-US" sz="1500" dirty="0">
                <a:solidFill>
                  <a:schemeClr val="bg1"/>
                </a:solidFill>
              </a:rPr>
              <a:t>"False teachers wander; we are kept."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The fruit test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Who is Jude's portrait meant to examine? (v.12)</a:t>
            </a:r>
            <a:endParaRPr lang="en-US" sz="1400" dirty="0"/>
          </a:p>
        </p:txBody>
      </p:sp>
      <p:sp>
        <p:nvSpPr>
          <p:cNvPr id="4" name="Shape 2"/>
          <p:cNvSpPr/>
          <p:nvPr/>
        </p:nvSpPr>
        <p:spPr>
          <a:xfrm>
            <a:off x="548640" y="1371600"/>
            <a:ext cx="11064240" cy="566928"/>
          </a:xfrm>
          <a:prstGeom prst="roundRect">
            <a:avLst>
              <a:gd name="adj" fmla="val 12903"/>
            </a:avLst>
          </a:prstGeom>
          <a:solidFill>
            <a:schemeClr val="accent6"/>
          </a:solidFill>
          <a:ln w="9525">
            <a:solidFill>
              <a:srgbClr val="C9D8C0"/>
            </a:solidFill>
            <a:prstDash val="solid"/>
          </a:ln>
        </p:spPr>
      </p:sp>
      <p:sp>
        <p:nvSpPr>
          <p:cNvPr id="5" name="Text 3"/>
          <p:cNvSpPr txBox="1"/>
          <p:nvPr/>
        </p:nvSpPr>
        <p:spPr>
          <a:xfrm>
            <a:off x="731520" y="1371600"/>
            <a:ext cx="10698480" cy="566928"/>
          </a:xfrm>
          <a:prstGeom prst="rect">
            <a:avLst/>
          </a:prstGeom>
          <a:noFill/>
          <a:ln/>
        </p:spPr>
        <p:txBody>
          <a:bodyPr wrap="square" lIns="0" tIns="0" rIns="0" bIns="0" rtlCol="0" anchor="ctr"/>
          <a:lstStyle/>
          <a:p>
            <a:pPr indent="0" marL="0">
              <a:buNone/>
            </a:pPr>
            <a:r>
              <a:rPr lang="en-US" sz="1400" b="1" dirty="0">
                <a:solidFill>
                  <a:schemeClr val="accent2"/>
                </a:solidFill>
              </a:rPr>
              <a:t>Agreement  </a:t>
            </a:r>
            <a:pPr indent="0" marL="0">
              <a:buNone/>
            </a:pPr>
            <a:r>
              <a:rPr lang="en-US" sz="1400" dirty="0">
                <a:solidFill>
                  <a:schemeClr val="tx1"/>
                </a:solidFill>
              </a:rPr>
              <a:t>The men Jude describes are unsaved — Jude says so: "devoid of the Spirit" (v.19).</a:t>
            </a:r>
            <a:endParaRPr lang="en-US" sz="1400" dirty="0"/>
          </a:p>
        </p:txBody>
      </p:sp>
      <p:sp>
        <p:nvSpPr>
          <p:cNvPr id="6" name="Shape 4"/>
          <p:cNvSpPr/>
          <p:nvPr/>
        </p:nvSpPr>
        <p:spPr>
          <a:xfrm>
            <a:off x="548640" y="2084832"/>
            <a:ext cx="5440680" cy="457200"/>
          </a:xfrm>
          <a:prstGeom prst="rect">
            <a:avLst/>
          </a:prstGeom>
          <a:solidFill>
            <a:schemeClr val="accent4"/>
          </a:solidFill>
          <a:ln w="9525">
            <a:solidFill>
              <a:schemeClr val="accent4"/>
            </a:solidFill>
            <a:prstDash val="solid"/>
          </a:ln>
        </p:spPr>
      </p:sp>
      <p:sp>
        <p:nvSpPr>
          <p:cNvPr id="7" name="Text 5"/>
          <p:cNvSpPr txBox="1"/>
          <p:nvPr/>
        </p:nvSpPr>
        <p:spPr>
          <a:xfrm>
            <a:off x="731520" y="2084832"/>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Lordship (counterpoint)</a:t>
            </a:r>
            <a:endParaRPr lang="en-US" sz="1500" dirty="0"/>
          </a:p>
        </p:txBody>
      </p:sp>
      <p:sp>
        <p:nvSpPr>
          <p:cNvPr id="8" name="Shape 6"/>
          <p:cNvSpPr/>
          <p:nvPr/>
        </p:nvSpPr>
        <p:spPr>
          <a:xfrm>
            <a:off x="548640" y="2542032"/>
            <a:ext cx="5440680" cy="1801368"/>
          </a:xfrm>
          <a:prstGeom prst="rect">
            <a:avLst/>
          </a:prstGeom>
          <a:solidFill>
            <a:schemeClr val="bg2"/>
          </a:solidFill>
          <a:ln w="9525">
            <a:solidFill>
              <a:srgbClr val="D5DCEA"/>
            </a:solidFill>
            <a:prstDash val="solid"/>
          </a:ln>
        </p:spPr>
      </p:sp>
      <p:sp>
        <p:nvSpPr>
          <p:cNvPr id="9" name="Text 7"/>
          <p:cNvSpPr txBox="1"/>
          <p:nvPr/>
        </p:nvSpPr>
        <p:spPr>
          <a:xfrm>
            <a:off x="731520" y="265176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Fruitless trees are a general test of genuine salvation</a:t>
            </a:r>
            <a:endParaRPr lang="en-US" sz="1400" dirty="0"/>
          </a:p>
          <a:p>
            <a:pPr marL="342900" indent="-342900">
              <a:spcAft>
                <a:spcPts val="600"/>
              </a:spcAft>
              <a:buSzPct val="100000"/>
              <a:buChar char="•"/>
            </a:pPr>
            <a:r>
              <a:rPr lang="en-US" sz="1300" dirty="0">
                <a:solidFill>
                  <a:schemeClr val="tx1"/>
                </a:solidFill>
              </a:rPr>
              <a:t>"You will know them by their fruits" (Matt 7:16) — the absence of fruit proves the absence of life (MacArthur, The Gospel According to Jesus)</a:t>
            </a:r>
            <a:endParaRPr lang="en-US" sz="1400" dirty="0"/>
          </a:p>
        </p:txBody>
      </p:sp>
      <p:sp>
        <p:nvSpPr>
          <p:cNvPr id="10" name="Shape 8"/>
          <p:cNvSpPr/>
          <p:nvPr/>
        </p:nvSpPr>
        <p:spPr>
          <a:xfrm>
            <a:off x="6172200" y="2084832"/>
            <a:ext cx="5440680" cy="457200"/>
          </a:xfrm>
          <a:prstGeom prst="rect">
            <a:avLst/>
          </a:prstGeom>
          <a:solidFill>
            <a:schemeClr val="accent1"/>
          </a:solidFill>
          <a:ln w="9525">
            <a:solidFill>
              <a:schemeClr val="accent1"/>
            </a:solidFill>
            <a:prstDash val="solid"/>
          </a:ln>
        </p:spPr>
      </p:sp>
      <p:sp>
        <p:nvSpPr>
          <p:cNvPr id="11" name="Text 9"/>
          <p:cNvSpPr txBox="1"/>
          <p:nvPr/>
        </p:nvSpPr>
        <p:spPr>
          <a:xfrm>
            <a:off x="6355080" y="2084832"/>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Free Grace (series view)</a:t>
            </a:r>
            <a:endParaRPr lang="en-US" sz="1500" dirty="0"/>
          </a:p>
        </p:txBody>
      </p:sp>
      <p:sp>
        <p:nvSpPr>
          <p:cNvPr id="12" name="Shape 10"/>
          <p:cNvSpPr/>
          <p:nvPr/>
        </p:nvSpPr>
        <p:spPr>
          <a:xfrm>
            <a:off x="6172200" y="2542032"/>
            <a:ext cx="5440680" cy="1801368"/>
          </a:xfrm>
          <a:prstGeom prst="rect">
            <a:avLst/>
          </a:prstGeom>
          <a:solidFill>
            <a:schemeClr val="bg2"/>
          </a:solidFill>
          <a:ln w="9525">
            <a:solidFill>
              <a:srgbClr val="D5DCEA"/>
            </a:solidFill>
            <a:prstDash val="solid"/>
          </a:ln>
        </p:spPr>
      </p:sp>
      <p:sp>
        <p:nvSpPr>
          <p:cNvPr id="13" name="Text 11"/>
          <p:cNvSpPr txBox="1"/>
          <p:nvPr/>
        </p:nvSpPr>
        <p:spPr>
          <a:xfrm>
            <a:off x="6355080" y="265176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In Matt 7:15–20 and Jude the test is applied to false teachers — including their teaching and its effects (Hodges; Wilkin)</a:t>
            </a:r>
            <a:endParaRPr lang="en-US" sz="1400" dirty="0"/>
          </a:p>
          <a:p>
            <a:pPr marL="342900" indent="-342900">
              <a:spcAft>
                <a:spcPts val="600"/>
              </a:spcAft>
              <a:buSzPct val="100000"/>
              <a:buChar char="•"/>
            </a:pPr>
            <a:r>
              <a:rPr lang="en-US" sz="1300" dirty="0">
                <a:solidFill>
                  <a:schemeClr val="tx1"/>
                </a:solidFill>
              </a:rPr>
              <a:t>Jude never tells readers to inspect their own fruit; he tells them they are kept (v.1)</a:t>
            </a:r>
            <a:endParaRPr lang="en-US" sz="1400" dirty="0"/>
          </a:p>
          <a:p>
            <a:pPr marL="342900" indent="-342900">
              <a:spcAft>
                <a:spcPts val="600"/>
              </a:spcAft>
              <a:buSzPct val="100000"/>
              <a:buChar char="•"/>
            </a:pPr>
            <a:r>
              <a:rPr lang="en-US" sz="1300" dirty="0">
                <a:solidFill>
                  <a:schemeClr val="tx1"/>
                </a:solidFill>
              </a:rPr>
              <a:t>Believers can be carnal for a time (1 Cor 3:1–3; John 15:2; 2 Pet 1:8–9) — the remedy is abiding, confession, and growth</a:t>
            </a:r>
            <a:endParaRPr lang="en-US" sz="1400" dirty="0"/>
          </a:p>
        </p:txBody>
      </p:sp>
      <p:sp>
        <p:nvSpPr>
          <p:cNvPr id="14" name="Shape 12"/>
          <p:cNvSpPr/>
          <p:nvPr/>
        </p:nvSpPr>
        <p:spPr>
          <a:xfrm>
            <a:off x="548640" y="4526280"/>
            <a:ext cx="11064240" cy="868680"/>
          </a:xfrm>
          <a:prstGeom prst="roundRect">
            <a:avLst>
              <a:gd name="adj" fmla="val 8421"/>
            </a:avLst>
          </a:prstGeom>
          <a:solidFill>
            <a:schemeClr val="tx2"/>
          </a:solidFill>
          <a:ln w="9525">
            <a:solidFill>
              <a:schemeClr val="tx2"/>
            </a:solidFill>
            <a:prstDash val="solid"/>
          </a:ln>
        </p:spPr>
      </p:sp>
      <p:sp>
        <p:nvSpPr>
          <p:cNvPr id="15" name="Text 13"/>
          <p:cNvSpPr txBox="1"/>
          <p:nvPr/>
        </p:nvSpPr>
        <p:spPr>
          <a:xfrm>
            <a:off x="777240" y="4526280"/>
            <a:ext cx="10607040" cy="868680"/>
          </a:xfrm>
          <a:prstGeom prst="rect">
            <a:avLst/>
          </a:prstGeom>
          <a:noFill/>
          <a:ln/>
        </p:spPr>
        <p:txBody>
          <a:bodyPr wrap="square" lIns="0" tIns="0" rIns="0" bIns="0" rtlCol="0" anchor="ctr"/>
          <a:lstStyle/>
          <a:p>
            <a:pPr indent="0" marL="0">
              <a:buNone/>
            </a:pPr>
            <a:r>
              <a:rPr lang="en-US" sz="1500" dirty="0">
                <a:solidFill>
                  <a:schemeClr val="bg1"/>
                </a:solidFill>
              </a:rPr>
              <a:t>Use Jude's portraits to recognize false teachers; rest your own assurance on God's promise.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Enoch's prophecy</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vv.14–15 · the seventh from Adam</a:t>
            </a:r>
            <a:endParaRPr lang="en-US" sz="1400" dirty="0"/>
          </a:p>
        </p:txBody>
      </p:sp>
      <p:sp>
        <p:nvSpPr>
          <p:cNvPr id="4" name="Shape 2"/>
          <p:cNvSpPr/>
          <p:nvPr/>
        </p:nvSpPr>
        <p:spPr>
          <a:xfrm>
            <a:off x="548640" y="1417320"/>
            <a:ext cx="5440680" cy="502920"/>
          </a:xfrm>
          <a:prstGeom prst="rect">
            <a:avLst/>
          </a:prstGeom>
          <a:solidFill>
            <a:schemeClr val="accent1"/>
          </a:solidFill>
          <a:ln w="9525">
            <a:solidFill>
              <a:schemeClr val="accent1"/>
            </a:solidFill>
            <a:prstDash val="solid"/>
          </a:ln>
        </p:spPr>
      </p:sp>
      <p:sp>
        <p:nvSpPr>
          <p:cNvPr id="5" name="Text 3"/>
          <p:cNvSpPr txBox="1"/>
          <p:nvPr/>
        </p:nvSpPr>
        <p:spPr>
          <a:xfrm>
            <a:off x="731520" y="1417320"/>
            <a:ext cx="5120640" cy="502920"/>
          </a:xfrm>
          <a:prstGeom prst="rect">
            <a:avLst/>
          </a:prstGeom>
          <a:noFill/>
          <a:ln/>
        </p:spPr>
        <p:txBody>
          <a:bodyPr wrap="square" lIns="0" tIns="0" rIns="0" bIns="0" rtlCol="0" anchor="ctr"/>
          <a:lstStyle/>
          <a:p>
            <a:pPr indent="0" marL="0">
              <a:buNone/>
            </a:pPr>
            <a:r>
              <a:rPr lang="en-US" sz="1600" b="1" dirty="0">
                <a:solidFill>
                  <a:schemeClr val="bg1"/>
                </a:solidFill>
              </a:rPr>
              <a:t>Two "sevenths" from Adam</a:t>
            </a:r>
            <a:endParaRPr lang="en-US" sz="1600" dirty="0"/>
          </a:p>
        </p:txBody>
      </p:sp>
      <p:sp>
        <p:nvSpPr>
          <p:cNvPr id="6" name="Shape 4"/>
          <p:cNvSpPr/>
          <p:nvPr/>
        </p:nvSpPr>
        <p:spPr>
          <a:xfrm>
            <a:off x="548640" y="1920240"/>
            <a:ext cx="5440680" cy="1143000"/>
          </a:xfrm>
          <a:prstGeom prst="rect">
            <a:avLst/>
          </a:prstGeom>
          <a:solidFill>
            <a:schemeClr val="bg2"/>
          </a:solidFill>
          <a:ln w="9525">
            <a:solidFill>
              <a:srgbClr val="D5DCEA"/>
            </a:solidFill>
            <a:prstDash val="solid"/>
          </a:ln>
        </p:spPr>
      </p:sp>
      <p:sp>
        <p:nvSpPr>
          <p:cNvPr id="7" name="Text 5"/>
          <p:cNvSpPr txBox="1"/>
          <p:nvPr/>
        </p:nvSpPr>
        <p:spPr>
          <a:xfrm>
            <a:off x="731520" y="1965960"/>
            <a:ext cx="5120640" cy="1051560"/>
          </a:xfrm>
          <a:prstGeom prst="rect">
            <a:avLst/>
          </a:prstGeom>
          <a:noFill/>
          <a:ln/>
        </p:spPr>
        <p:txBody>
          <a:bodyPr wrap="square" lIns="0" tIns="0" rIns="0" bIns="0" rtlCol="0" anchor="ctr"/>
          <a:lstStyle/>
          <a:p>
            <a:pPr indent="0" marL="0">
              <a:buNone/>
            </a:pPr>
            <a:r>
              <a:rPr lang="en-US" sz="1400" b="1" dirty="0">
                <a:solidFill>
                  <a:schemeClr val="tx2"/>
                </a:solidFill>
              </a:rPr>
              <a:t>Line of Seth · 7th: Enoch</a:t>
            </a:r>
            <a:endParaRPr lang="en-US" sz="1400" dirty="0"/>
          </a:p>
          <a:p>
            <a:pPr indent="0" marL="0">
              <a:buNone/>
            </a:pPr>
            <a:r>
              <a:rPr lang="en-US" sz="1300" dirty="0">
                <a:solidFill>
                  <a:schemeClr val="tx1"/>
                </a:solidFill>
              </a:rPr>
              <a:t>"Walked with God; and he was not, for God took him" (Gen 5:24; Heb 11:5)</a:t>
            </a:r>
            <a:endParaRPr lang="en-US" sz="1400" dirty="0"/>
          </a:p>
        </p:txBody>
      </p:sp>
      <p:sp>
        <p:nvSpPr>
          <p:cNvPr id="8" name="Shape 6"/>
          <p:cNvSpPr/>
          <p:nvPr/>
        </p:nvSpPr>
        <p:spPr>
          <a:xfrm>
            <a:off x="548640" y="3063240"/>
            <a:ext cx="5440680" cy="1143000"/>
          </a:xfrm>
          <a:prstGeom prst="rect">
            <a:avLst/>
          </a:prstGeom>
          <a:solidFill>
            <a:srgbClr val="EDEBE7"/>
          </a:solidFill>
          <a:ln w="9525">
            <a:solidFill>
              <a:srgbClr val="D5DCEA"/>
            </a:solidFill>
            <a:prstDash val="solid"/>
          </a:ln>
        </p:spPr>
      </p:sp>
      <p:sp>
        <p:nvSpPr>
          <p:cNvPr id="9" name="Text 7"/>
          <p:cNvSpPr txBox="1"/>
          <p:nvPr/>
        </p:nvSpPr>
        <p:spPr>
          <a:xfrm>
            <a:off x="731520" y="3108960"/>
            <a:ext cx="5120640" cy="1051560"/>
          </a:xfrm>
          <a:prstGeom prst="rect">
            <a:avLst/>
          </a:prstGeom>
          <a:noFill/>
          <a:ln/>
        </p:spPr>
        <p:txBody>
          <a:bodyPr wrap="square" lIns="0" tIns="0" rIns="0" bIns="0" rtlCol="0" anchor="ctr"/>
          <a:lstStyle/>
          <a:p>
            <a:pPr indent="0" marL="0">
              <a:buNone/>
            </a:pPr>
            <a:r>
              <a:rPr lang="en-US" sz="1400" b="1" dirty="0">
                <a:solidFill>
                  <a:schemeClr val="tx2"/>
                </a:solidFill>
              </a:rPr>
              <a:t>Line of Cain · 7th: Lamech</a:t>
            </a:r>
            <a:endParaRPr lang="en-US" sz="1400" dirty="0"/>
          </a:p>
          <a:p>
            <a:pPr indent="0" marL="0">
              <a:buNone/>
            </a:pPr>
            <a:r>
              <a:rPr lang="en-US" sz="1300" dirty="0">
                <a:solidFill>
                  <a:schemeClr val="tx1"/>
                </a:solidFill>
              </a:rPr>
              <a:t>Boasted of violence (Gen 4:19–24)</a:t>
            </a:r>
            <a:endParaRPr lang="en-US" sz="1400" dirty="0"/>
          </a:p>
        </p:txBody>
      </p:sp>
      <p:sp>
        <p:nvSpPr>
          <p:cNvPr id="10" name="Shape 8"/>
          <p:cNvSpPr/>
          <p:nvPr/>
        </p:nvSpPr>
        <p:spPr>
          <a:xfrm>
            <a:off x="6172200" y="1417320"/>
            <a:ext cx="5440680" cy="502920"/>
          </a:xfrm>
          <a:prstGeom prst="rect">
            <a:avLst/>
          </a:prstGeom>
          <a:solidFill>
            <a:schemeClr val="accent4"/>
          </a:solidFill>
          <a:ln w="9525">
            <a:solidFill>
              <a:schemeClr val="accent4"/>
            </a:solidFill>
            <a:prstDash val="solid"/>
          </a:ln>
        </p:spPr>
      </p:sp>
      <p:sp>
        <p:nvSpPr>
          <p:cNvPr id="11" name="Text 9"/>
          <p:cNvSpPr txBox="1"/>
          <p:nvPr/>
        </p:nvSpPr>
        <p:spPr>
          <a:xfrm>
            <a:off x="6355080" y="1417320"/>
            <a:ext cx="5120640" cy="502920"/>
          </a:xfrm>
          <a:prstGeom prst="rect">
            <a:avLst/>
          </a:prstGeom>
          <a:noFill/>
          <a:ln/>
        </p:spPr>
        <p:txBody>
          <a:bodyPr wrap="square" lIns="0" tIns="0" rIns="0" bIns="0" rtlCol="0" anchor="ctr"/>
          <a:lstStyle/>
          <a:p>
            <a:pPr indent="0" marL="0">
              <a:buNone/>
            </a:pPr>
            <a:r>
              <a:rPr lang="en-US" sz="1600" b="1" dirty="0">
                <a:solidFill>
                  <a:schemeClr val="bg1"/>
                </a:solidFill>
              </a:rPr>
              <a:t>"Ungodly" four times in v.15</a:t>
            </a:r>
            <a:endParaRPr lang="en-US" sz="1600" dirty="0"/>
          </a:p>
        </p:txBody>
      </p:sp>
      <p:sp>
        <p:nvSpPr>
          <p:cNvPr id="12" name="Shape 10"/>
          <p:cNvSpPr/>
          <p:nvPr/>
        </p:nvSpPr>
        <p:spPr>
          <a:xfrm>
            <a:off x="6172200" y="1920240"/>
            <a:ext cx="5440680" cy="2286000"/>
          </a:xfrm>
          <a:prstGeom prst="rect">
            <a:avLst/>
          </a:prstGeom>
          <a:solidFill>
            <a:schemeClr val="bg2"/>
          </a:solidFill>
          <a:ln w="9525">
            <a:solidFill>
              <a:srgbClr val="D5DCEA"/>
            </a:solidFill>
            <a:prstDash val="solid"/>
          </a:ln>
        </p:spPr>
      </p:sp>
      <p:sp>
        <p:nvSpPr>
          <p:cNvPr id="13" name="Text 11"/>
          <p:cNvSpPr txBox="1"/>
          <p:nvPr/>
        </p:nvSpPr>
        <p:spPr>
          <a:xfrm>
            <a:off x="6355080" y="2011680"/>
            <a:ext cx="5120640" cy="2103120"/>
          </a:xfrm>
          <a:prstGeom prst="rect">
            <a:avLst/>
          </a:prstGeom>
          <a:noFill/>
          <a:ln/>
        </p:spPr>
        <p:txBody>
          <a:bodyPr wrap="square" lIns="0" tIns="0" rIns="0" bIns="0" rtlCol="0" anchor="t"/>
          <a:lstStyle/>
          <a:p>
            <a:pPr indent="0" marL="0">
              <a:buNone/>
            </a:pPr>
            <a:r>
              <a:rPr lang="en-US" sz="1500" b="1" dirty="0">
                <a:solidFill>
                  <a:schemeClr val="accent3"/>
                </a:solidFill>
              </a:rPr>
              <a:t>asebeis · asebeias · ēsebēsan · asebeis</a:t>
            </a:r>
            <a:endParaRPr lang="en-US" sz="1400" dirty="0"/>
          </a:p>
          <a:p>
            <a:pPr indent="0" marL="0">
              <a:buNone/>
            </a:pPr>
            <a:r>
              <a:rPr lang="en-US" sz="600" dirty="0">
                <a:solidFill>
                  <a:schemeClr val="tx1"/>
                </a:solidFill>
              </a:rPr>
              <a:t> </a:t>
            </a:r>
            <a:endParaRPr lang="en-US" sz="1400" dirty="0"/>
          </a:p>
          <a:p>
            <a:pPr indent="0" marL="0">
              <a:buNone/>
            </a:pPr>
            <a:r>
              <a:rPr lang="en-US" sz="1300" i="1" dirty="0">
                <a:solidFill>
                  <a:schemeClr val="tx1"/>
                </a:solidFill>
              </a:rPr>
              <a:t>"to convict all the ungodly of all their ungodly deeds which they have done in an ungodly way, and of all the harsh things which ungodly sinners have spoken against Him"</a:t>
            </a:r>
            <a:endParaRPr lang="en-US" sz="1400" dirty="0"/>
          </a:p>
        </p:txBody>
      </p:sp>
      <p:sp>
        <p:nvSpPr>
          <p:cNvPr id="14" name="Shape 12"/>
          <p:cNvSpPr/>
          <p:nvPr/>
        </p:nvSpPr>
        <p:spPr>
          <a:xfrm>
            <a:off x="548640" y="4389120"/>
            <a:ext cx="11064240" cy="1645920"/>
          </a:xfrm>
          <a:prstGeom prst="roundRect">
            <a:avLst>
              <a:gd name="adj" fmla="val 4444"/>
            </a:avLst>
          </a:prstGeom>
          <a:solidFill>
            <a:schemeClr val="tx2"/>
          </a:solidFill>
          <a:ln w="9525">
            <a:solidFill>
              <a:schemeClr val="tx2"/>
            </a:solidFill>
            <a:prstDash val="solid"/>
          </a:ln>
        </p:spPr>
      </p:sp>
      <p:sp>
        <p:nvSpPr>
          <p:cNvPr id="15" name="Text 13"/>
          <p:cNvSpPr txBox="1"/>
          <p:nvPr/>
        </p:nvSpPr>
        <p:spPr>
          <a:xfrm>
            <a:off x="777240" y="4480560"/>
            <a:ext cx="10607040" cy="15087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chemeClr val="bg1"/>
                </a:solidFill>
              </a:rPr>
              <a:t>"The Lord came" — a prophetic past: the future event is so certain it is described as done</a:t>
            </a:r>
            <a:endParaRPr lang="en-US" sz="1400" dirty="0"/>
          </a:p>
          <a:p>
            <a:pPr marL="342900" indent="-342900">
              <a:spcAft>
                <a:spcPts val="600"/>
              </a:spcAft>
              <a:buSzPct val="100000"/>
              <a:buChar char="•"/>
            </a:pPr>
            <a:r>
              <a:rPr lang="en-US" sz="1300" dirty="0">
                <a:solidFill>
                  <a:schemeClr val="bg1"/>
                </a:solidFill>
              </a:rPr>
              <a:t>"His holy ones" — angels and the saints who return with Christ (Deut 33:2; Zech 14:5; Rev 19:14); in this series' premillennial framework, His return at the end of the Tribulation</a:t>
            </a:r>
            <a:endParaRPr lang="en-US" sz="1400" dirty="0"/>
          </a:p>
          <a:p>
            <a:pPr marL="342900" indent="-342900">
              <a:spcAft>
                <a:spcPts val="600"/>
              </a:spcAft>
              <a:buSzPct val="100000"/>
              <a:buChar char="•"/>
            </a:pPr>
            <a:r>
              <a:rPr lang="en-US" sz="1300" dirty="0">
                <a:solidFill>
                  <a:schemeClr val="bg1"/>
                </a:solidFill>
              </a:rPr>
              <a:t>The words closely match 1 Enoch 1:9. Jude affirms this prophecy is true; that does not make 1 Enoch Scripture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The plain portrait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v.16 · each trait echoes something earlier in the letter</a:t>
            </a:r>
            <a:endParaRPr lang="en-US" sz="1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560320"/>
                <a:gridCol w="2011680"/>
                <a:gridCol w="3291840"/>
                <a:gridCol w="3200400"/>
              </a:tblGrid>
              <a:tr h="411480">
                <a:tc>
                  <a:txBody>
                    <a:bodyPr/>
                    <a:lstStyle/>
                    <a:p>
                      <a:pPr indent="0" marL="0">
                        <a:buNone/>
                      </a:pPr>
                      <a:r>
                        <a:rPr lang="en-US" sz="1400" b="1" dirty="0">
                          <a:solidFill>
                            <a:schemeClr val="bg1"/>
                          </a:solidFill>
                          <a:latin typeface="Arial" pitchFamily="34" charset="0"/>
                          <a:ea typeface="Arial" pitchFamily="34" charset="-122"/>
                          <a:cs typeface="Arial" pitchFamily="34" charset="-120"/>
                        </a:rPr>
                        <a:t>Trait</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Greek</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Meaning</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Echo in Jude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658368">
                <a:tc>
                  <a:txBody>
                    <a:bodyPr/>
                    <a:lstStyle/>
                    <a:p>
                      <a:pPr indent="0" marL="0">
                        <a:buNone/>
                      </a:pPr>
                      <a:r>
                        <a:rPr lang="en-US" sz="1300" b="1" dirty="0">
                          <a:solidFill>
                            <a:schemeClr val="tx2"/>
                          </a:solidFill>
                          <a:latin typeface="Arial" pitchFamily="34" charset="0"/>
                          <a:ea typeface="Arial" pitchFamily="34" charset="-122"/>
                          <a:cs typeface="Arial" pitchFamily="34" charset="-120"/>
                        </a:rPr>
                        <a:t>Grumblers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gongystai</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low, complaining murmur</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Israel in the wilderness (v.5; Num 14:27)</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658368">
                <a:tc>
                  <a:txBody>
                    <a:bodyPr/>
                    <a:lstStyle/>
                    <a:p>
                      <a:pPr indent="0" marL="0">
                        <a:buNone/>
                      </a:pPr>
                      <a:r>
                        <a:rPr lang="en-US" sz="1300" b="1" dirty="0">
                          <a:solidFill>
                            <a:schemeClr val="tx2"/>
                          </a:solidFill>
                          <a:latin typeface="Arial" pitchFamily="34" charset="0"/>
                          <a:ea typeface="Arial" pitchFamily="34" charset="-122"/>
                          <a:cs typeface="Arial" pitchFamily="34" charset="-120"/>
                        </a:rPr>
                        <a:t>Finding fault</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mempsimoiroi</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"Blaming one's lot" — never content with God's gifts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same wilderness generation</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658368">
                <a:tc>
                  <a:txBody>
                    <a:bodyPr/>
                    <a:lstStyle/>
                    <a:p>
                      <a:pPr indent="0" marL="0">
                        <a:buNone/>
                      </a:pPr>
                      <a:r>
                        <a:rPr lang="en-US" sz="1300" b="1" dirty="0">
                          <a:solidFill>
                            <a:schemeClr val="tx2"/>
                          </a:solidFill>
                          <a:latin typeface="Arial" pitchFamily="34" charset="0"/>
                          <a:ea typeface="Arial" pitchFamily="34" charset="-122"/>
                          <a:cs typeface="Arial" pitchFamily="34" charset="-120"/>
                        </a:rPr>
                        <a:t>Following after their own lusts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Desire as their compass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Licentiousness (v.4); instinct (v.10)</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658368">
                <a:tc>
                  <a:txBody>
                    <a:bodyPr/>
                    <a:lstStyle/>
                    <a:p>
                      <a:pPr indent="0" marL="0">
                        <a:buNone/>
                      </a:pPr>
                      <a:r>
                        <a:rPr lang="en-US" sz="1300" b="1" dirty="0">
                          <a:solidFill>
                            <a:schemeClr val="tx2"/>
                          </a:solidFill>
                          <a:latin typeface="Arial" pitchFamily="34" charset="0"/>
                          <a:ea typeface="Arial" pitchFamily="34" charset="-122"/>
                          <a:cs typeface="Arial" pitchFamily="34" charset="-120"/>
                        </a:rPr>
                        <a:t>Speak arrogantly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"swelling words"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Arrogant toward God and His authority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Revile majesties (v.8)</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658368">
                <a:tc>
                  <a:txBody>
                    <a:bodyPr/>
                    <a:lstStyle/>
                    <a:p>
                      <a:pPr indent="0" marL="0">
                        <a:buNone/>
                      </a:pPr>
                      <a:r>
                        <a:rPr lang="en-US" sz="1300" b="1" dirty="0">
                          <a:solidFill>
                            <a:schemeClr val="tx2"/>
                          </a:solidFill>
                          <a:latin typeface="Arial" pitchFamily="34" charset="0"/>
                          <a:ea typeface="Arial" pitchFamily="34" charset="-122"/>
                          <a:cs typeface="Arial" pitchFamily="34" charset="-120"/>
                        </a:rPr>
                        <a:t>Flattering people for advantage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thaumazontes prosōpa</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"Admiring faces" — favoritism (cf. James 2:1–9)</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Balaam's profit motive (v.11)</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bl>
          </a:graphicData>
        </a:graphic>
      </p:graphicFrame>
      <p:sp>
        <p:nvSpPr>
          <p:cNvPr id="5" name="Shape 2"/>
          <p:cNvSpPr/>
          <p:nvPr/>
        </p:nvSpPr>
        <p:spPr>
          <a:xfrm>
            <a:off x="548640" y="5577840"/>
            <a:ext cx="11064240" cy="658368"/>
          </a:xfrm>
          <a:prstGeom prst="roundRect">
            <a:avLst>
              <a:gd name="adj" fmla="val 11111"/>
            </a:avLst>
          </a:prstGeom>
          <a:solidFill>
            <a:schemeClr val="tx2"/>
          </a:solidFill>
          <a:ln w="9525">
            <a:solidFill>
              <a:schemeClr val="tx2"/>
            </a:solidFill>
            <a:prstDash val="solid"/>
          </a:ln>
        </p:spPr>
      </p:sp>
      <p:sp>
        <p:nvSpPr>
          <p:cNvPr id="6" name="Text 3"/>
          <p:cNvSpPr txBox="1"/>
          <p:nvPr/>
        </p:nvSpPr>
        <p:spPr>
          <a:xfrm>
            <a:off x="777240" y="5577840"/>
            <a:ext cx="10607040" cy="658368"/>
          </a:xfrm>
          <a:prstGeom prst="rect">
            <a:avLst/>
          </a:prstGeom>
          <a:noFill/>
          <a:ln/>
        </p:spPr>
        <p:txBody>
          <a:bodyPr wrap="square" lIns="0" tIns="0" rIns="0" bIns="0" rtlCol="0" anchor="ctr"/>
          <a:lstStyle/>
          <a:p>
            <a:pPr indent="0" marL="0">
              <a:buNone/>
            </a:pPr>
            <a:r>
              <a:rPr lang="en-US" sz="1500" dirty="0">
                <a:solidFill>
                  <a:schemeClr val="bg1"/>
                </a:solidFill>
              </a:rPr>
              <a:t>Real shepherds speak the truth in love to everyone alike (Eph 4:15). False shepherds tell people what they want to hear, and choose their audience by what they can get from it.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731520" y="1188720"/>
            <a:ext cx="10058400" cy="457200"/>
          </a:xfrm>
          <a:prstGeom prst="rect">
            <a:avLst/>
          </a:prstGeom>
          <a:noFill/>
          <a:ln/>
        </p:spPr>
        <p:txBody>
          <a:bodyPr wrap="square" lIns="0" tIns="0" rIns="0" bIns="0" rtlCol="0" anchor="t"/>
          <a:lstStyle/>
          <a:p>
            <a:pPr indent="0" marL="0">
              <a:buNone/>
            </a:pPr>
            <a:r>
              <a:rPr lang="en-US" sz="1800" b="1" dirty="0">
                <a:solidFill>
                  <a:schemeClr val="accent5"/>
                </a:solidFill>
              </a:rPr>
              <a:t>Study 5 of 6 · Jude 17–23</a:t>
            </a:r>
            <a:endParaRPr lang="en-US" sz="1800" dirty="0"/>
          </a:p>
        </p:txBody>
      </p:sp>
      <p:sp>
        <p:nvSpPr>
          <p:cNvPr id="3" name="Text 0"/>
          <p:cNvSpPr/>
          <p:nvPr>
            <p:ph idx="100" type="title" hasCustomPrompt="1"/>
          </p:nvPr>
        </p:nvSpPr>
        <p:spPr>
          <a:xfrm>
            <a:off x="731520" y="1737360"/>
            <a:ext cx="10698480" cy="1554480"/>
          </a:xfrm>
          <a:prstGeom prst="rect">
            <a:avLst/>
          </a:prstGeom>
          <a:noFill/>
          <a:ln/>
        </p:spPr>
        <p:txBody>
          <a:bodyPr wrap="square" rtlCol="0" anchor="b"/>
          <a:lstStyle/>
          <a:p>
            <a:pPr algn="l" indent="0" marL="0">
              <a:buNone/>
            </a:pPr>
            <a:r>
              <a:rPr lang="en-US" sz="4000" b="1" dirty="0">
                <a:solidFill>
                  <a:schemeClr val="bg1"/>
                </a:solidFill>
              </a:rPr>
              <a:t>The Believer's Response: Build, Pray, Keep, Rescue</a:t>
            </a:r>
            <a:endParaRPr lang="en-US" sz="4000" dirty="0"/>
          </a:p>
        </p:txBody>
      </p:sp>
      <p:sp>
        <p:nvSpPr>
          <p:cNvPr id="4" name="Text 0"/>
          <p:cNvSpPr/>
          <p:nvPr>
            <p:ph idx="101" type="body" hasCustomPrompt="1"/>
          </p:nvPr>
        </p:nvSpPr>
        <p:spPr>
          <a:xfrm>
            <a:off x="731520" y="3474720"/>
            <a:ext cx="10698480" cy="2011680"/>
          </a:xfrm>
          <a:prstGeom prst="rect">
            <a:avLst/>
          </a:prstGeom>
          <a:noFill/>
          <a:ln/>
        </p:spPr>
        <p:txBody>
          <a:bodyPr wrap="square" rtlCol="0" anchor="t"/>
          <a:lstStyle/>
          <a:p>
            <a:pPr algn="l" indent="0" marL="0">
              <a:buNone/>
            </a:pPr>
            <a:r>
              <a:rPr lang="en-US" sz="2000" dirty="0">
                <a:solidFill>
                  <a:schemeClr val="bg2"/>
                </a:solidFill>
              </a:rPr>
              <a:t>Believers are called to remember the apostles' warnings, to keep themselves in the enjoyment of God's love, and to reach out in discerning mercy.</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"These" and "But you, beloved"</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vv.17–21 · two kinds of people</a:t>
            </a:r>
            <a:endParaRPr lang="en-US" sz="1400" dirty="0"/>
          </a:p>
        </p:txBody>
      </p:sp>
      <p:sp>
        <p:nvSpPr>
          <p:cNvPr id="4" name="Shape 2"/>
          <p:cNvSpPr/>
          <p:nvPr/>
        </p:nvSpPr>
        <p:spPr>
          <a:xfrm>
            <a:off x="548640" y="1417320"/>
            <a:ext cx="5440680" cy="502920"/>
          </a:xfrm>
          <a:prstGeom prst="rect">
            <a:avLst/>
          </a:prstGeom>
          <a:solidFill>
            <a:schemeClr val="accent4"/>
          </a:solidFill>
          <a:ln w="9525">
            <a:solidFill>
              <a:schemeClr val="accent4"/>
            </a:solidFill>
            <a:prstDash val="solid"/>
          </a:ln>
        </p:spPr>
      </p:sp>
      <p:sp>
        <p:nvSpPr>
          <p:cNvPr id="5" name="Text 3"/>
          <p:cNvSpPr txBox="1"/>
          <p:nvPr/>
        </p:nvSpPr>
        <p:spPr>
          <a:xfrm>
            <a:off x="731520" y="1417320"/>
            <a:ext cx="5120640" cy="502920"/>
          </a:xfrm>
          <a:prstGeom prst="rect">
            <a:avLst/>
          </a:prstGeom>
          <a:noFill/>
          <a:ln/>
        </p:spPr>
        <p:txBody>
          <a:bodyPr wrap="square" lIns="0" tIns="0" rIns="0" bIns="0" rtlCol="0" anchor="ctr"/>
          <a:lstStyle/>
          <a:p>
            <a:pPr indent="0" marL="0">
              <a:buNone/>
            </a:pPr>
            <a:r>
              <a:rPr lang="en-US" sz="1500" b="1" dirty="0">
                <a:solidFill>
                  <a:schemeClr val="bg1"/>
                </a:solidFill>
              </a:rPr>
              <a:t>"These" · vv.8, 10, 12, 14, 16, 19</a:t>
            </a:r>
            <a:endParaRPr lang="en-US" sz="1500" dirty="0"/>
          </a:p>
        </p:txBody>
      </p:sp>
      <p:sp>
        <p:nvSpPr>
          <p:cNvPr id="6" name="Shape 4"/>
          <p:cNvSpPr/>
          <p:nvPr/>
        </p:nvSpPr>
        <p:spPr>
          <a:xfrm>
            <a:off x="6172200" y="1417320"/>
            <a:ext cx="5440680" cy="502920"/>
          </a:xfrm>
          <a:prstGeom prst="rect">
            <a:avLst/>
          </a:prstGeom>
          <a:solidFill>
            <a:schemeClr val="accent2"/>
          </a:solidFill>
          <a:ln w="9525">
            <a:solidFill>
              <a:schemeClr val="accent2"/>
            </a:solidFill>
            <a:prstDash val="solid"/>
          </a:ln>
        </p:spPr>
      </p:sp>
      <p:sp>
        <p:nvSpPr>
          <p:cNvPr id="7" name="Text 5"/>
          <p:cNvSpPr txBox="1"/>
          <p:nvPr/>
        </p:nvSpPr>
        <p:spPr>
          <a:xfrm>
            <a:off x="6355080" y="1417320"/>
            <a:ext cx="5120640" cy="502920"/>
          </a:xfrm>
          <a:prstGeom prst="rect">
            <a:avLst/>
          </a:prstGeom>
          <a:noFill/>
          <a:ln/>
        </p:spPr>
        <p:txBody>
          <a:bodyPr wrap="square" lIns="0" tIns="0" rIns="0" bIns="0" rtlCol="0" anchor="ctr"/>
          <a:lstStyle/>
          <a:p>
            <a:pPr indent="0" marL="0">
              <a:buNone/>
            </a:pPr>
            <a:r>
              <a:rPr lang="en-US" sz="1500" b="1" dirty="0">
                <a:solidFill>
                  <a:schemeClr val="bg1"/>
                </a:solidFill>
              </a:rPr>
              <a:t>"But you, beloved" · vv.17, 20</a:t>
            </a:r>
            <a:endParaRPr lang="en-US" sz="1500" dirty="0"/>
          </a:p>
        </p:txBody>
      </p:sp>
      <p:sp>
        <p:nvSpPr>
          <p:cNvPr id="8" name="Shape 6"/>
          <p:cNvSpPr/>
          <p:nvPr/>
        </p:nvSpPr>
        <p:spPr>
          <a:xfrm>
            <a:off x="548640" y="1993392"/>
            <a:ext cx="5440680" cy="640080"/>
          </a:xfrm>
          <a:prstGeom prst="rect">
            <a:avLst/>
          </a:prstGeom>
          <a:solidFill>
            <a:schemeClr val="bg2"/>
          </a:solidFill>
          <a:ln w="9525">
            <a:solidFill>
              <a:srgbClr val="D5DCEA"/>
            </a:solidFill>
            <a:prstDash val="solid"/>
          </a:ln>
        </p:spPr>
      </p:sp>
      <p:sp>
        <p:nvSpPr>
          <p:cNvPr id="9" name="Text 7"/>
          <p:cNvSpPr txBox="1"/>
          <p:nvPr/>
        </p:nvSpPr>
        <p:spPr>
          <a:xfrm>
            <a:off x="731520" y="1993392"/>
            <a:ext cx="5120640" cy="640080"/>
          </a:xfrm>
          <a:prstGeom prst="rect">
            <a:avLst/>
          </a:prstGeom>
          <a:noFill/>
          <a:ln/>
        </p:spPr>
        <p:txBody>
          <a:bodyPr wrap="square" lIns="0" tIns="0" rIns="0" bIns="0" rtlCol="0" anchor="ctr"/>
          <a:lstStyle/>
          <a:p>
            <a:pPr indent="0" marL="0">
              <a:buNone/>
            </a:pPr>
            <a:r>
              <a:rPr lang="en-US" sz="1300" dirty="0">
                <a:solidFill>
                  <a:schemeClr val="tx1"/>
                </a:solidFill>
              </a:rPr>
              <a:t>Cause divisions (apodiorizontes) — the spiritual elite</a:t>
            </a:r>
            <a:endParaRPr lang="en-US" sz="1300" dirty="0"/>
          </a:p>
        </p:txBody>
      </p:sp>
      <p:sp>
        <p:nvSpPr>
          <p:cNvPr id="10" name="Shape 8"/>
          <p:cNvSpPr/>
          <p:nvPr/>
        </p:nvSpPr>
        <p:spPr>
          <a:xfrm>
            <a:off x="6172200" y="1993392"/>
            <a:ext cx="5440680" cy="640080"/>
          </a:xfrm>
          <a:prstGeom prst="rect">
            <a:avLst/>
          </a:prstGeom>
          <a:solidFill>
            <a:schemeClr val="accent6"/>
          </a:solidFill>
          <a:ln w="9525">
            <a:solidFill>
              <a:srgbClr val="D5DCEA"/>
            </a:solidFill>
            <a:prstDash val="solid"/>
          </a:ln>
        </p:spPr>
      </p:sp>
      <p:sp>
        <p:nvSpPr>
          <p:cNvPr id="11" name="Text 9"/>
          <p:cNvSpPr txBox="1"/>
          <p:nvPr/>
        </p:nvSpPr>
        <p:spPr>
          <a:xfrm>
            <a:off x="6355080" y="1993392"/>
            <a:ext cx="5120640" cy="640080"/>
          </a:xfrm>
          <a:prstGeom prst="rect">
            <a:avLst/>
          </a:prstGeom>
          <a:noFill/>
          <a:ln/>
        </p:spPr>
        <p:txBody>
          <a:bodyPr wrap="square" lIns="0" tIns="0" rIns="0" bIns="0" rtlCol="0" anchor="ctr"/>
          <a:lstStyle/>
          <a:p>
            <a:pPr indent="0" marL="0">
              <a:buNone/>
            </a:pPr>
            <a:r>
              <a:rPr lang="en-US" sz="1300" dirty="0">
                <a:solidFill>
                  <a:schemeClr val="tx1"/>
                </a:solidFill>
              </a:rPr>
              <a:t>Build yourselves up — together (the "yourselves" is plural)</a:t>
            </a:r>
            <a:endParaRPr lang="en-US" sz="1300" dirty="0"/>
          </a:p>
        </p:txBody>
      </p:sp>
      <p:sp>
        <p:nvSpPr>
          <p:cNvPr id="12" name="Shape 10"/>
          <p:cNvSpPr/>
          <p:nvPr/>
        </p:nvSpPr>
        <p:spPr>
          <a:xfrm>
            <a:off x="548640" y="2706624"/>
            <a:ext cx="5440680" cy="640080"/>
          </a:xfrm>
          <a:prstGeom prst="rect">
            <a:avLst/>
          </a:prstGeom>
          <a:solidFill>
            <a:schemeClr val="bg1"/>
          </a:solidFill>
          <a:ln w="9525">
            <a:solidFill>
              <a:srgbClr val="D5DCEA"/>
            </a:solidFill>
            <a:prstDash val="solid"/>
          </a:ln>
        </p:spPr>
      </p:sp>
      <p:sp>
        <p:nvSpPr>
          <p:cNvPr id="13" name="Text 11"/>
          <p:cNvSpPr txBox="1"/>
          <p:nvPr/>
        </p:nvSpPr>
        <p:spPr>
          <a:xfrm>
            <a:off x="731520" y="2706624"/>
            <a:ext cx="5120640" cy="640080"/>
          </a:xfrm>
          <a:prstGeom prst="rect">
            <a:avLst/>
          </a:prstGeom>
          <a:noFill/>
          <a:ln/>
        </p:spPr>
        <p:txBody>
          <a:bodyPr wrap="square" lIns="0" tIns="0" rIns="0" bIns="0" rtlCol="0" anchor="ctr"/>
          <a:lstStyle/>
          <a:p>
            <a:pPr indent="0" marL="0">
              <a:buNone/>
            </a:pPr>
            <a:r>
              <a:rPr lang="en-US" sz="1300" dirty="0">
                <a:solidFill>
                  <a:schemeClr val="tx1"/>
                </a:solidFill>
              </a:rPr>
              <a:t>Worldly-minded (psychikoi) — merely natural</a:t>
            </a:r>
            <a:endParaRPr lang="en-US" sz="1300" dirty="0"/>
          </a:p>
        </p:txBody>
      </p:sp>
      <p:sp>
        <p:nvSpPr>
          <p:cNvPr id="14" name="Shape 12"/>
          <p:cNvSpPr/>
          <p:nvPr/>
        </p:nvSpPr>
        <p:spPr>
          <a:xfrm>
            <a:off x="6172200" y="2706624"/>
            <a:ext cx="5440680" cy="640080"/>
          </a:xfrm>
          <a:prstGeom prst="rect">
            <a:avLst/>
          </a:prstGeom>
          <a:solidFill>
            <a:schemeClr val="bg1"/>
          </a:solidFill>
          <a:ln w="9525">
            <a:solidFill>
              <a:srgbClr val="D5DCEA"/>
            </a:solidFill>
            <a:prstDash val="solid"/>
          </a:ln>
        </p:spPr>
      </p:sp>
      <p:sp>
        <p:nvSpPr>
          <p:cNvPr id="15" name="Text 13"/>
          <p:cNvSpPr txBox="1"/>
          <p:nvPr/>
        </p:nvSpPr>
        <p:spPr>
          <a:xfrm>
            <a:off x="6355080" y="2706624"/>
            <a:ext cx="5120640" cy="640080"/>
          </a:xfrm>
          <a:prstGeom prst="rect">
            <a:avLst/>
          </a:prstGeom>
          <a:noFill/>
          <a:ln/>
        </p:spPr>
        <p:txBody>
          <a:bodyPr wrap="square" lIns="0" tIns="0" rIns="0" bIns="0" rtlCol="0" anchor="ctr"/>
          <a:lstStyle/>
          <a:p>
            <a:pPr indent="0" marL="0">
              <a:buNone/>
            </a:pPr>
            <a:r>
              <a:rPr lang="en-US" sz="1300" dirty="0">
                <a:solidFill>
                  <a:schemeClr val="tx1"/>
                </a:solidFill>
              </a:rPr>
              <a:t>On your most holy faith — the faith of v.3</a:t>
            </a:r>
            <a:endParaRPr lang="en-US" sz="1300" dirty="0"/>
          </a:p>
        </p:txBody>
      </p:sp>
      <p:sp>
        <p:nvSpPr>
          <p:cNvPr id="16" name="Shape 14"/>
          <p:cNvSpPr/>
          <p:nvPr/>
        </p:nvSpPr>
        <p:spPr>
          <a:xfrm>
            <a:off x="548640" y="3419856"/>
            <a:ext cx="5440680" cy="640080"/>
          </a:xfrm>
          <a:prstGeom prst="rect">
            <a:avLst/>
          </a:prstGeom>
          <a:solidFill>
            <a:schemeClr val="bg2"/>
          </a:solidFill>
          <a:ln w="9525">
            <a:solidFill>
              <a:srgbClr val="D5DCEA"/>
            </a:solidFill>
            <a:prstDash val="solid"/>
          </a:ln>
        </p:spPr>
      </p:sp>
      <p:sp>
        <p:nvSpPr>
          <p:cNvPr id="17" name="Text 15"/>
          <p:cNvSpPr txBox="1"/>
          <p:nvPr/>
        </p:nvSpPr>
        <p:spPr>
          <a:xfrm>
            <a:off x="731520" y="3419856"/>
            <a:ext cx="5120640" cy="640080"/>
          </a:xfrm>
          <a:prstGeom prst="rect">
            <a:avLst/>
          </a:prstGeom>
          <a:noFill/>
          <a:ln/>
        </p:spPr>
        <p:txBody>
          <a:bodyPr wrap="square" lIns="0" tIns="0" rIns="0" bIns="0" rtlCol="0" anchor="ctr"/>
          <a:lstStyle/>
          <a:p>
            <a:pPr indent="0" marL="0">
              <a:buNone/>
            </a:pPr>
            <a:r>
              <a:rPr lang="en-US" sz="1300" dirty="0">
                <a:solidFill>
                  <a:schemeClr val="tx1"/>
                </a:solidFill>
              </a:rPr>
              <a:t>Devoid of the Spirit (pneuma mē echontes)</a:t>
            </a:r>
            <a:endParaRPr lang="en-US" sz="1300" dirty="0"/>
          </a:p>
        </p:txBody>
      </p:sp>
      <p:sp>
        <p:nvSpPr>
          <p:cNvPr id="18" name="Shape 16"/>
          <p:cNvSpPr/>
          <p:nvPr/>
        </p:nvSpPr>
        <p:spPr>
          <a:xfrm>
            <a:off x="6172200" y="3419856"/>
            <a:ext cx="5440680" cy="640080"/>
          </a:xfrm>
          <a:prstGeom prst="rect">
            <a:avLst/>
          </a:prstGeom>
          <a:solidFill>
            <a:schemeClr val="accent6"/>
          </a:solidFill>
          <a:ln w="9525">
            <a:solidFill>
              <a:srgbClr val="D5DCEA"/>
            </a:solidFill>
            <a:prstDash val="solid"/>
          </a:ln>
        </p:spPr>
      </p:sp>
      <p:sp>
        <p:nvSpPr>
          <p:cNvPr id="19" name="Text 17"/>
          <p:cNvSpPr txBox="1"/>
          <p:nvPr/>
        </p:nvSpPr>
        <p:spPr>
          <a:xfrm>
            <a:off x="6355080" y="3419856"/>
            <a:ext cx="5120640" cy="640080"/>
          </a:xfrm>
          <a:prstGeom prst="rect">
            <a:avLst/>
          </a:prstGeom>
          <a:noFill/>
          <a:ln/>
        </p:spPr>
        <p:txBody>
          <a:bodyPr wrap="square" lIns="0" tIns="0" rIns="0" bIns="0" rtlCol="0" anchor="ctr"/>
          <a:lstStyle/>
          <a:p>
            <a:pPr indent="0" marL="0">
              <a:buNone/>
            </a:pPr>
            <a:r>
              <a:rPr lang="en-US" sz="1300" dirty="0">
                <a:solidFill>
                  <a:schemeClr val="tx1"/>
                </a:solidFill>
              </a:rPr>
              <a:t>Praying in the Holy Spirit</a:t>
            </a:r>
            <a:endParaRPr lang="en-US" sz="1300" dirty="0"/>
          </a:p>
        </p:txBody>
      </p:sp>
      <p:sp>
        <p:nvSpPr>
          <p:cNvPr id="20" name="Shape 18"/>
          <p:cNvSpPr/>
          <p:nvPr/>
        </p:nvSpPr>
        <p:spPr>
          <a:xfrm>
            <a:off x="548640" y="4133088"/>
            <a:ext cx="5440680" cy="640080"/>
          </a:xfrm>
          <a:prstGeom prst="rect">
            <a:avLst/>
          </a:prstGeom>
          <a:solidFill>
            <a:schemeClr val="bg1"/>
          </a:solidFill>
          <a:ln w="9525">
            <a:solidFill>
              <a:srgbClr val="D5DCEA"/>
            </a:solidFill>
            <a:prstDash val="solid"/>
          </a:ln>
        </p:spPr>
      </p:sp>
      <p:sp>
        <p:nvSpPr>
          <p:cNvPr id="21" name="Text 19"/>
          <p:cNvSpPr txBox="1"/>
          <p:nvPr/>
        </p:nvSpPr>
        <p:spPr>
          <a:xfrm>
            <a:off x="731520" y="4133088"/>
            <a:ext cx="5120640" cy="640080"/>
          </a:xfrm>
          <a:prstGeom prst="rect">
            <a:avLst/>
          </a:prstGeom>
          <a:noFill/>
          <a:ln/>
        </p:spPr>
        <p:txBody>
          <a:bodyPr wrap="square" lIns="0" tIns="0" rIns="0" bIns="0" rtlCol="0" anchor="ctr"/>
          <a:lstStyle/>
          <a:p>
            <a:pPr indent="0" marL="0">
              <a:buNone/>
            </a:pPr>
            <a:r>
              <a:rPr lang="en-US" sz="1300" dirty="0">
                <a:solidFill>
                  <a:schemeClr val="tx1"/>
                </a:solidFill>
              </a:rPr>
              <a:t>Following after their own ungodly lusts (v.18)</a:t>
            </a:r>
            <a:endParaRPr lang="en-US" sz="1300" dirty="0"/>
          </a:p>
        </p:txBody>
      </p:sp>
      <p:sp>
        <p:nvSpPr>
          <p:cNvPr id="22" name="Shape 20"/>
          <p:cNvSpPr/>
          <p:nvPr/>
        </p:nvSpPr>
        <p:spPr>
          <a:xfrm>
            <a:off x="6172200" y="4133088"/>
            <a:ext cx="5440680" cy="640080"/>
          </a:xfrm>
          <a:prstGeom prst="rect">
            <a:avLst/>
          </a:prstGeom>
          <a:solidFill>
            <a:schemeClr val="bg1"/>
          </a:solidFill>
          <a:ln w="9525">
            <a:solidFill>
              <a:srgbClr val="D5DCEA"/>
            </a:solidFill>
            <a:prstDash val="solid"/>
          </a:ln>
        </p:spPr>
      </p:sp>
      <p:sp>
        <p:nvSpPr>
          <p:cNvPr id="23" name="Text 21"/>
          <p:cNvSpPr txBox="1"/>
          <p:nvPr/>
        </p:nvSpPr>
        <p:spPr>
          <a:xfrm>
            <a:off x="6355080" y="4133088"/>
            <a:ext cx="5120640" cy="640080"/>
          </a:xfrm>
          <a:prstGeom prst="rect">
            <a:avLst/>
          </a:prstGeom>
          <a:noFill/>
          <a:ln/>
        </p:spPr>
        <p:txBody>
          <a:bodyPr wrap="square" lIns="0" tIns="0" rIns="0" bIns="0" rtlCol="0" anchor="ctr"/>
          <a:lstStyle/>
          <a:p>
            <a:pPr indent="0" marL="0">
              <a:buNone/>
            </a:pPr>
            <a:r>
              <a:rPr lang="en-US" sz="1300" dirty="0">
                <a:solidFill>
                  <a:schemeClr val="tx1"/>
                </a:solidFill>
              </a:rPr>
              <a:t>Keep yourselves in the love of God</a:t>
            </a:r>
            <a:endParaRPr lang="en-US" sz="1300" dirty="0"/>
          </a:p>
        </p:txBody>
      </p:sp>
      <p:sp>
        <p:nvSpPr>
          <p:cNvPr id="24" name="Shape 22"/>
          <p:cNvSpPr/>
          <p:nvPr/>
        </p:nvSpPr>
        <p:spPr>
          <a:xfrm>
            <a:off x="548640" y="4846320"/>
            <a:ext cx="5440680" cy="640080"/>
          </a:xfrm>
          <a:prstGeom prst="rect">
            <a:avLst/>
          </a:prstGeom>
          <a:solidFill>
            <a:schemeClr val="bg2"/>
          </a:solidFill>
          <a:ln w="9525">
            <a:solidFill>
              <a:srgbClr val="D5DCEA"/>
            </a:solidFill>
            <a:prstDash val="solid"/>
          </a:ln>
        </p:spPr>
      </p:sp>
      <p:sp>
        <p:nvSpPr>
          <p:cNvPr id="25" name="Text 23"/>
          <p:cNvSpPr txBox="1"/>
          <p:nvPr/>
        </p:nvSpPr>
        <p:spPr>
          <a:xfrm>
            <a:off x="731520" y="4846320"/>
            <a:ext cx="5120640" cy="640080"/>
          </a:xfrm>
          <a:prstGeom prst="rect">
            <a:avLst/>
          </a:prstGeom>
          <a:noFill/>
          <a:ln/>
        </p:spPr>
        <p:txBody>
          <a:bodyPr wrap="square" lIns="0" tIns="0" rIns="0" bIns="0" rtlCol="0" anchor="ctr"/>
          <a:lstStyle/>
          <a:p>
            <a:pPr indent="0" marL="0">
              <a:buNone/>
            </a:pPr>
            <a:r>
              <a:rPr lang="en-US" sz="1300" dirty="0">
                <a:solidFill>
                  <a:schemeClr val="tx1"/>
                </a:solidFill>
              </a:rPr>
              <a:t>Mockers in the last time (v.18)</a:t>
            </a:r>
            <a:endParaRPr lang="en-US" sz="1300" dirty="0"/>
          </a:p>
        </p:txBody>
      </p:sp>
      <p:sp>
        <p:nvSpPr>
          <p:cNvPr id="26" name="Shape 24"/>
          <p:cNvSpPr/>
          <p:nvPr/>
        </p:nvSpPr>
        <p:spPr>
          <a:xfrm>
            <a:off x="6172200" y="4846320"/>
            <a:ext cx="5440680" cy="640080"/>
          </a:xfrm>
          <a:prstGeom prst="rect">
            <a:avLst/>
          </a:prstGeom>
          <a:solidFill>
            <a:schemeClr val="accent6"/>
          </a:solidFill>
          <a:ln w="9525">
            <a:solidFill>
              <a:srgbClr val="D5DCEA"/>
            </a:solidFill>
            <a:prstDash val="solid"/>
          </a:ln>
        </p:spPr>
      </p:sp>
      <p:sp>
        <p:nvSpPr>
          <p:cNvPr id="27" name="Text 25"/>
          <p:cNvSpPr txBox="1"/>
          <p:nvPr/>
        </p:nvSpPr>
        <p:spPr>
          <a:xfrm>
            <a:off x="6355080" y="4846320"/>
            <a:ext cx="5120640" cy="640080"/>
          </a:xfrm>
          <a:prstGeom prst="rect">
            <a:avLst/>
          </a:prstGeom>
          <a:noFill/>
          <a:ln/>
        </p:spPr>
        <p:txBody>
          <a:bodyPr wrap="square" lIns="0" tIns="0" rIns="0" bIns="0" rtlCol="0" anchor="ctr"/>
          <a:lstStyle/>
          <a:p>
            <a:pPr indent="0" marL="0">
              <a:buNone/>
            </a:pPr>
            <a:r>
              <a:rPr lang="en-US" sz="1300" dirty="0">
                <a:solidFill>
                  <a:schemeClr val="tx1"/>
                </a:solidFill>
              </a:rPr>
              <a:t>Waiting anxiously for the mercy of our Lord Jesus Christ</a:t>
            </a:r>
            <a:endParaRPr lang="en-US" sz="1300" dirty="0"/>
          </a:p>
        </p:txBody>
      </p:sp>
      <p:sp>
        <p:nvSpPr>
          <p:cNvPr id="28" name="Shape 26"/>
          <p:cNvSpPr/>
          <p:nvPr/>
        </p:nvSpPr>
        <p:spPr>
          <a:xfrm>
            <a:off x="548640" y="5623560"/>
            <a:ext cx="11064240" cy="658368"/>
          </a:xfrm>
          <a:prstGeom prst="roundRect">
            <a:avLst>
              <a:gd name="adj" fmla="val 11111"/>
            </a:avLst>
          </a:prstGeom>
          <a:solidFill>
            <a:schemeClr val="tx2"/>
          </a:solidFill>
          <a:ln w="9525">
            <a:solidFill>
              <a:schemeClr val="tx2"/>
            </a:solidFill>
            <a:prstDash val="solid"/>
          </a:ln>
        </p:spPr>
      </p:sp>
      <p:sp>
        <p:nvSpPr>
          <p:cNvPr id="29" name="Text 27"/>
          <p:cNvSpPr txBox="1"/>
          <p:nvPr/>
        </p:nvSpPr>
        <p:spPr>
          <a:xfrm>
            <a:off x="777240" y="5623560"/>
            <a:ext cx="10607040" cy="658368"/>
          </a:xfrm>
          <a:prstGeom prst="rect">
            <a:avLst/>
          </a:prstGeom>
          <a:noFill/>
          <a:ln/>
        </p:spPr>
        <p:txBody>
          <a:bodyPr wrap="square" lIns="0" tIns="0" rIns="0" bIns="0" rtlCol="0" anchor="ctr"/>
          <a:lstStyle/>
          <a:p>
            <a:pPr indent="0" marL="0">
              <a:buNone/>
            </a:pPr>
            <a:r>
              <a:rPr lang="en-US" sz="1500" dirty="0">
                <a:solidFill>
                  <a:schemeClr val="bg1"/>
                </a:solidFill>
              </a:rPr>
              <a:t>"Devoid of the Spirit" is the key to the whole letter: the warnings are aimed at people who never possessed eternal life — not at believers who lost it.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Remember · keep · reach out</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Jude's prescription — and his answer to "contend for the faith" (v.3)</a:t>
            </a:r>
            <a:endParaRPr lang="en-US" sz="1400" dirty="0"/>
          </a:p>
        </p:txBody>
      </p:sp>
      <p:sp>
        <p:nvSpPr>
          <p:cNvPr id="4" name="Shape 2"/>
          <p:cNvSpPr/>
          <p:nvPr/>
        </p:nvSpPr>
        <p:spPr>
          <a:xfrm>
            <a:off x="548640" y="1417320"/>
            <a:ext cx="3566160" cy="868680"/>
          </a:xfrm>
          <a:prstGeom prst="rect">
            <a:avLst/>
          </a:prstGeom>
          <a:solidFill>
            <a:schemeClr val="accent1"/>
          </a:solidFill>
          <a:ln w="9525">
            <a:solidFill>
              <a:schemeClr val="accent1"/>
            </a:solidFill>
            <a:prstDash val="solid"/>
          </a:ln>
        </p:spPr>
      </p:sp>
      <p:sp>
        <p:nvSpPr>
          <p:cNvPr id="5" name="Text 3"/>
          <p:cNvSpPr txBox="1"/>
          <p:nvPr/>
        </p:nvSpPr>
        <p:spPr>
          <a:xfrm>
            <a:off x="731520" y="1417320"/>
            <a:ext cx="3200400" cy="868680"/>
          </a:xfrm>
          <a:prstGeom prst="rect">
            <a:avLst/>
          </a:prstGeom>
          <a:noFill/>
          <a:ln/>
        </p:spPr>
        <p:txBody>
          <a:bodyPr wrap="square" lIns="0" tIns="0" rIns="0" bIns="0" rtlCol="0" anchor="ctr"/>
          <a:lstStyle/>
          <a:p>
            <a:pPr indent="0" marL="0">
              <a:buNone/>
            </a:pPr>
            <a:r>
              <a:rPr lang="en-US" sz="1900" b="1" dirty="0">
                <a:solidFill>
                  <a:schemeClr val="bg1"/>
                </a:solidFill>
              </a:rPr>
              <a:t>Remember</a:t>
            </a:r>
            <a:endParaRPr lang="en-US" sz="1400" dirty="0"/>
          </a:p>
          <a:p>
            <a:pPr indent="0" marL="0">
              <a:buNone/>
            </a:pPr>
            <a:r>
              <a:rPr lang="en-US" sz="1300" dirty="0">
                <a:solidFill>
                  <a:schemeClr val="bg1"/>
                </a:solidFill>
              </a:rPr>
              <a:t>vv.17–19</a:t>
            </a:r>
            <a:endParaRPr lang="en-US" sz="1400" dirty="0"/>
          </a:p>
        </p:txBody>
      </p:sp>
      <p:sp>
        <p:nvSpPr>
          <p:cNvPr id="6" name="Shape 4"/>
          <p:cNvSpPr/>
          <p:nvPr/>
        </p:nvSpPr>
        <p:spPr>
          <a:xfrm>
            <a:off x="548640" y="2286000"/>
            <a:ext cx="3566160" cy="2331720"/>
          </a:xfrm>
          <a:prstGeom prst="rect">
            <a:avLst/>
          </a:prstGeom>
          <a:solidFill>
            <a:schemeClr val="bg2"/>
          </a:solidFill>
          <a:ln w="9525">
            <a:solidFill>
              <a:srgbClr val="D5DCEA"/>
            </a:solidFill>
            <a:prstDash val="solid"/>
          </a:ln>
        </p:spPr>
      </p:sp>
      <p:sp>
        <p:nvSpPr>
          <p:cNvPr id="7" name="Text 5"/>
          <p:cNvSpPr txBox="1"/>
          <p:nvPr/>
        </p:nvSpPr>
        <p:spPr>
          <a:xfrm>
            <a:off x="731520" y="2395728"/>
            <a:ext cx="320040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"Remember" — aorist imperative</a:t>
            </a:r>
            <a:endParaRPr lang="en-US" sz="1400" dirty="0"/>
          </a:p>
          <a:p>
            <a:pPr marL="342900" indent="-342900">
              <a:spcAft>
                <a:spcPts val="600"/>
              </a:spcAft>
              <a:buSzPct val="100000"/>
              <a:buChar char="•"/>
            </a:pPr>
            <a:r>
              <a:rPr lang="en-US" sz="1400" dirty="0">
                <a:solidFill>
                  <a:schemeClr val="tx1"/>
                </a:solidFill>
              </a:rPr>
              <a:t>The apostles saw this coming (Acts 20:29; 1 Tim 4:1; 2 Tim 3:1; 2 Pet 3:3)</a:t>
            </a:r>
            <a:endParaRPr lang="en-US" sz="1400" dirty="0"/>
          </a:p>
          <a:p>
            <a:pPr marL="342900" indent="-342900">
              <a:spcAft>
                <a:spcPts val="600"/>
              </a:spcAft>
              <a:buSzPct val="100000"/>
              <a:buChar char="•"/>
            </a:pPr>
            <a:r>
              <a:rPr lang="en-US" sz="1400" dirty="0">
                <a:solidFill>
                  <a:schemeClr val="tx1"/>
                </a:solidFill>
              </a:rPr>
              <a:t>False teachers are a sign the apostles' words are being fulfilled — not that the gospel is failing</a:t>
            </a:r>
            <a:endParaRPr lang="en-US" sz="1400" dirty="0"/>
          </a:p>
        </p:txBody>
      </p:sp>
      <p:sp>
        <p:nvSpPr>
          <p:cNvPr id="8" name="Shape 6"/>
          <p:cNvSpPr/>
          <p:nvPr/>
        </p:nvSpPr>
        <p:spPr>
          <a:xfrm>
            <a:off x="4297680" y="1417320"/>
            <a:ext cx="3566160" cy="868680"/>
          </a:xfrm>
          <a:prstGeom prst="rect">
            <a:avLst/>
          </a:prstGeom>
          <a:solidFill>
            <a:schemeClr val="accent2"/>
          </a:solidFill>
          <a:ln w="9525">
            <a:solidFill>
              <a:schemeClr val="accent2"/>
            </a:solidFill>
            <a:prstDash val="solid"/>
          </a:ln>
        </p:spPr>
      </p:sp>
      <p:sp>
        <p:nvSpPr>
          <p:cNvPr id="9" name="Text 7"/>
          <p:cNvSpPr txBox="1"/>
          <p:nvPr/>
        </p:nvSpPr>
        <p:spPr>
          <a:xfrm>
            <a:off x="4480560" y="1417320"/>
            <a:ext cx="3200400" cy="868680"/>
          </a:xfrm>
          <a:prstGeom prst="rect">
            <a:avLst/>
          </a:prstGeom>
          <a:noFill/>
          <a:ln/>
        </p:spPr>
        <p:txBody>
          <a:bodyPr wrap="square" lIns="0" tIns="0" rIns="0" bIns="0" rtlCol="0" anchor="ctr"/>
          <a:lstStyle/>
          <a:p>
            <a:pPr indent="0" marL="0">
              <a:buNone/>
            </a:pPr>
            <a:r>
              <a:rPr lang="en-US" sz="1900" b="1" dirty="0">
                <a:solidFill>
                  <a:schemeClr val="bg1"/>
                </a:solidFill>
              </a:rPr>
              <a:t>Keep yourselves</a:t>
            </a:r>
            <a:endParaRPr lang="en-US" sz="1400" dirty="0"/>
          </a:p>
          <a:p>
            <a:pPr indent="0" marL="0">
              <a:buNone/>
            </a:pPr>
            <a:r>
              <a:rPr lang="en-US" sz="1300" dirty="0">
                <a:solidFill>
                  <a:schemeClr val="bg1"/>
                </a:solidFill>
              </a:rPr>
              <a:t>vv.20–21</a:t>
            </a:r>
            <a:endParaRPr lang="en-US" sz="1400" dirty="0"/>
          </a:p>
        </p:txBody>
      </p:sp>
      <p:sp>
        <p:nvSpPr>
          <p:cNvPr id="10" name="Shape 8"/>
          <p:cNvSpPr/>
          <p:nvPr/>
        </p:nvSpPr>
        <p:spPr>
          <a:xfrm>
            <a:off x="4297680" y="2286000"/>
            <a:ext cx="3566160" cy="2331720"/>
          </a:xfrm>
          <a:prstGeom prst="rect">
            <a:avLst/>
          </a:prstGeom>
          <a:solidFill>
            <a:schemeClr val="bg2"/>
          </a:solidFill>
          <a:ln w="9525">
            <a:solidFill>
              <a:srgbClr val="D5DCEA"/>
            </a:solidFill>
            <a:prstDash val="solid"/>
          </a:ln>
        </p:spPr>
      </p:sp>
      <p:sp>
        <p:nvSpPr>
          <p:cNvPr id="11" name="Text 9"/>
          <p:cNvSpPr txBox="1"/>
          <p:nvPr/>
        </p:nvSpPr>
        <p:spPr>
          <a:xfrm>
            <a:off x="4480560" y="2395728"/>
            <a:ext cx="320040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Building on your most holy faith</a:t>
            </a:r>
            <a:endParaRPr lang="en-US" sz="1400" dirty="0"/>
          </a:p>
          <a:p>
            <a:pPr marL="342900" indent="-342900">
              <a:spcAft>
                <a:spcPts val="600"/>
              </a:spcAft>
              <a:buSzPct val="100000"/>
              <a:buChar char="•"/>
            </a:pPr>
            <a:r>
              <a:rPr lang="en-US" sz="1400" dirty="0">
                <a:solidFill>
                  <a:schemeClr val="tx1"/>
                </a:solidFill>
              </a:rPr>
              <a:t>Praying in the Holy Spirit</a:t>
            </a:r>
            <a:endParaRPr lang="en-US" sz="1400" dirty="0"/>
          </a:p>
          <a:p>
            <a:pPr marL="342900" indent="-342900">
              <a:spcAft>
                <a:spcPts val="600"/>
              </a:spcAft>
              <a:buSzPct val="100000"/>
              <a:buChar char="•"/>
            </a:pPr>
            <a:r>
              <a:rPr lang="en-US" sz="1400" dirty="0">
                <a:solidFill>
                  <a:schemeClr val="tx1"/>
                </a:solidFill>
              </a:rPr>
              <a:t>Keeping yourselves in the love of God</a:t>
            </a:r>
            <a:endParaRPr lang="en-US" sz="1400" dirty="0"/>
          </a:p>
          <a:p>
            <a:pPr marL="342900" indent="-342900">
              <a:spcAft>
                <a:spcPts val="600"/>
              </a:spcAft>
              <a:buSzPct val="100000"/>
              <a:buChar char="•"/>
            </a:pPr>
            <a:r>
              <a:rPr lang="en-US" sz="1400" dirty="0">
                <a:solidFill>
                  <a:schemeClr val="tx1"/>
                </a:solidFill>
              </a:rPr>
              <a:t>Waiting for the mercy of our Lord Jesus Christ</a:t>
            </a:r>
            <a:endParaRPr lang="en-US" sz="1400" dirty="0"/>
          </a:p>
        </p:txBody>
      </p:sp>
      <p:sp>
        <p:nvSpPr>
          <p:cNvPr id="12" name="Shape 10"/>
          <p:cNvSpPr/>
          <p:nvPr/>
        </p:nvSpPr>
        <p:spPr>
          <a:xfrm>
            <a:off x="8046720" y="1417320"/>
            <a:ext cx="3566160" cy="868680"/>
          </a:xfrm>
          <a:prstGeom prst="rect">
            <a:avLst/>
          </a:prstGeom>
          <a:solidFill>
            <a:schemeClr val="accent2"/>
          </a:solidFill>
          <a:ln w="9525">
            <a:solidFill>
              <a:schemeClr val="accent2"/>
            </a:solidFill>
            <a:prstDash val="solid"/>
          </a:ln>
        </p:spPr>
      </p:sp>
      <p:sp>
        <p:nvSpPr>
          <p:cNvPr id="13" name="Text 11"/>
          <p:cNvSpPr txBox="1"/>
          <p:nvPr/>
        </p:nvSpPr>
        <p:spPr>
          <a:xfrm>
            <a:off x="8229600" y="1417320"/>
            <a:ext cx="3200400" cy="868680"/>
          </a:xfrm>
          <a:prstGeom prst="rect">
            <a:avLst/>
          </a:prstGeom>
          <a:noFill/>
          <a:ln/>
        </p:spPr>
        <p:txBody>
          <a:bodyPr wrap="square" lIns="0" tIns="0" rIns="0" bIns="0" rtlCol="0" anchor="ctr"/>
          <a:lstStyle/>
          <a:p>
            <a:pPr indent="0" marL="0">
              <a:buNone/>
            </a:pPr>
            <a:r>
              <a:rPr lang="en-US" sz="1900" b="1" dirty="0">
                <a:solidFill>
                  <a:schemeClr val="bg1"/>
                </a:solidFill>
              </a:rPr>
              <a:t>Reach out</a:t>
            </a:r>
            <a:endParaRPr lang="en-US" sz="1400" dirty="0"/>
          </a:p>
          <a:p>
            <a:pPr indent="0" marL="0">
              <a:buNone/>
            </a:pPr>
            <a:r>
              <a:rPr lang="en-US" sz="1300" dirty="0">
                <a:solidFill>
                  <a:schemeClr val="bg1"/>
                </a:solidFill>
              </a:rPr>
              <a:t>vv.22–23</a:t>
            </a:r>
            <a:endParaRPr lang="en-US" sz="1400" dirty="0"/>
          </a:p>
        </p:txBody>
      </p:sp>
      <p:sp>
        <p:nvSpPr>
          <p:cNvPr id="14" name="Shape 12"/>
          <p:cNvSpPr/>
          <p:nvPr/>
        </p:nvSpPr>
        <p:spPr>
          <a:xfrm>
            <a:off x="8046720" y="2286000"/>
            <a:ext cx="3566160" cy="2331720"/>
          </a:xfrm>
          <a:prstGeom prst="rect">
            <a:avLst/>
          </a:prstGeom>
          <a:solidFill>
            <a:schemeClr val="bg2"/>
          </a:solidFill>
          <a:ln w="9525">
            <a:solidFill>
              <a:srgbClr val="D5DCEA"/>
            </a:solidFill>
            <a:prstDash val="solid"/>
          </a:ln>
        </p:spPr>
      </p:sp>
      <p:sp>
        <p:nvSpPr>
          <p:cNvPr id="15" name="Text 13"/>
          <p:cNvSpPr txBox="1"/>
          <p:nvPr/>
        </p:nvSpPr>
        <p:spPr>
          <a:xfrm>
            <a:off x="8229600" y="2395728"/>
            <a:ext cx="320040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Mercy to the doubting</a:t>
            </a:r>
            <a:endParaRPr lang="en-US" sz="1400" dirty="0"/>
          </a:p>
          <a:p>
            <a:pPr marL="342900" indent="-342900">
              <a:spcAft>
                <a:spcPts val="600"/>
              </a:spcAft>
              <a:buSzPct val="100000"/>
              <a:buChar char="•"/>
            </a:pPr>
            <a:r>
              <a:rPr lang="en-US" sz="1400" dirty="0">
                <a:solidFill>
                  <a:schemeClr val="tx1"/>
                </a:solidFill>
              </a:rPr>
              <a:t>Snatching others from the fire</a:t>
            </a:r>
            <a:endParaRPr lang="en-US" sz="1400" dirty="0"/>
          </a:p>
          <a:p>
            <a:pPr marL="342900" indent="-342900">
              <a:spcAft>
                <a:spcPts val="600"/>
              </a:spcAft>
              <a:buSzPct val="100000"/>
              <a:buChar char="•"/>
            </a:pPr>
            <a:r>
              <a:rPr lang="en-US" sz="1400" dirty="0">
                <a:solidFill>
                  <a:schemeClr val="tx1"/>
                </a:solidFill>
              </a:rPr>
              <a:t>Mercy with fear to the entangled</a:t>
            </a:r>
            <a:endParaRPr lang="en-US" sz="1400" dirty="0"/>
          </a:p>
        </p:txBody>
      </p:sp>
      <p:sp>
        <p:nvSpPr>
          <p:cNvPr id="16" name="Shape 14"/>
          <p:cNvSpPr/>
          <p:nvPr/>
        </p:nvSpPr>
        <p:spPr>
          <a:xfrm>
            <a:off x="548640" y="4800600"/>
            <a:ext cx="11064240" cy="731520"/>
          </a:xfrm>
          <a:prstGeom prst="roundRect">
            <a:avLst>
              <a:gd name="adj" fmla="val 10000"/>
            </a:avLst>
          </a:prstGeom>
          <a:solidFill>
            <a:schemeClr val="tx2"/>
          </a:solidFill>
          <a:ln w="9525">
            <a:solidFill>
              <a:schemeClr val="tx2"/>
            </a:solidFill>
            <a:prstDash val="solid"/>
          </a:ln>
        </p:spPr>
      </p:sp>
      <p:sp>
        <p:nvSpPr>
          <p:cNvPr id="17" name="Text 15"/>
          <p:cNvSpPr txBox="1"/>
          <p:nvPr/>
        </p:nvSpPr>
        <p:spPr>
          <a:xfrm>
            <a:off x="777240" y="4800600"/>
            <a:ext cx="10607040" cy="731520"/>
          </a:xfrm>
          <a:prstGeom prst="rect">
            <a:avLst/>
          </a:prstGeom>
          <a:noFill/>
          <a:ln/>
        </p:spPr>
        <p:txBody>
          <a:bodyPr wrap="square" lIns="0" tIns="0" rIns="0" bIns="0" rtlCol="0" anchor="ctr"/>
          <a:lstStyle/>
          <a:p>
            <a:pPr indent="0" marL="0">
              <a:buNone/>
            </a:pPr>
            <a:r>
              <a:rPr lang="en-US" sz="1500" dirty="0">
                <a:solidFill>
                  <a:schemeClr val="bg1"/>
                </a:solidFill>
              </a:rPr>
              <a:t>Contending is not primarily debating or denouncing. It is remembering, building, praying, keeping, looking for Christ — and rescuing.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One command, three participles</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vv.20–21 · with a Trinitarian shape</a:t>
            </a:r>
            <a:endParaRPr lang="en-US" sz="1400" dirty="0"/>
          </a:p>
        </p:txBody>
      </p:sp>
      <p:sp>
        <p:nvSpPr>
          <p:cNvPr id="4" name="Shape 2"/>
          <p:cNvSpPr/>
          <p:nvPr/>
        </p:nvSpPr>
        <p:spPr>
          <a:xfrm>
            <a:off x="3794760" y="2743200"/>
            <a:ext cx="4572000" cy="1325880"/>
          </a:xfrm>
          <a:prstGeom prst="roundRect">
            <a:avLst>
              <a:gd name="adj" fmla="val 5517"/>
            </a:avLst>
          </a:prstGeom>
          <a:solidFill>
            <a:schemeClr val="accent2"/>
          </a:solidFill>
          <a:ln w="9525">
            <a:solidFill>
              <a:schemeClr val="accent2"/>
            </a:solidFill>
            <a:prstDash val="solid"/>
          </a:ln>
        </p:spPr>
      </p:sp>
      <p:sp>
        <p:nvSpPr>
          <p:cNvPr id="5" name="Text 3"/>
          <p:cNvSpPr txBox="1"/>
          <p:nvPr/>
        </p:nvSpPr>
        <p:spPr>
          <a:xfrm>
            <a:off x="3931920" y="2743200"/>
            <a:ext cx="4297680" cy="1325880"/>
          </a:xfrm>
          <a:prstGeom prst="rect">
            <a:avLst/>
          </a:prstGeom>
          <a:noFill/>
          <a:ln/>
        </p:spPr>
        <p:txBody>
          <a:bodyPr wrap="square" lIns="0" tIns="0" rIns="0" bIns="0" rtlCol="0" anchor="ctr"/>
          <a:lstStyle/>
          <a:p>
            <a:pPr algn="ctr" indent="0" marL="0">
              <a:buNone/>
            </a:pPr>
            <a:r>
              <a:rPr lang="en-US" sz="1900" b="1" dirty="0">
                <a:solidFill>
                  <a:schemeClr val="bg1"/>
                </a:solidFill>
              </a:rPr>
              <a:t>Keep yourselves in the love of God</a:t>
            </a:r>
            <a:endParaRPr lang="en-US" sz="1400" dirty="0"/>
          </a:p>
          <a:p>
            <a:pPr algn="ctr" indent="0" marL="0">
              <a:buNone/>
            </a:pPr>
            <a:r>
              <a:rPr lang="en-US" sz="1300" dirty="0">
                <a:solidFill>
                  <a:schemeClr val="bg1"/>
                </a:solidFill>
              </a:rPr>
              <a:t>tērēsate · aor. act. impv. — the main command</a:t>
            </a:r>
            <a:endParaRPr lang="en-US" sz="1400" dirty="0"/>
          </a:p>
        </p:txBody>
      </p:sp>
      <p:sp>
        <p:nvSpPr>
          <p:cNvPr id="6" name="Shape 4"/>
          <p:cNvSpPr/>
          <p:nvPr/>
        </p:nvSpPr>
        <p:spPr>
          <a:xfrm>
            <a:off x="548640" y="1417320"/>
            <a:ext cx="3108960" cy="1600200"/>
          </a:xfrm>
          <a:prstGeom prst="roundRect">
            <a:avLst>
              <a:gd name="adj" fmla="val 4571"/>
            </a:avLst>
          </a:prstGeom>
          <a:solidFill>
            <a:schemeClr val="accent6"/>
          </a:solidFill>
          <a:ln w="9525">
            <a:solidFill>
              <a:srgbClr val="D5DCEA"/>
            </a:solidFill>
            <a:prstDash val="solid"/>
          </a:ln>
        </p:spPr>
      </p:sp>
      <p:sp>
        <p:nvSpPr>
          <p:cNvPr id="7" name="Text 5"/>
          <p:cNvSpPr txBox="1"/>
          <p:nvPr/>
        </p:nvSpPr>
        <p:spPr>
          <a:xfrm>
            <a:off x="685800" y="1490472"/>
            <a:ext cx="2834640" cy="1463040"/>
          </a:xfrm>
          <a:prstGeom prst="rect">
            <a:avLst/>
          </a:prstGeom>
          <a:noFill/>
          <a:ln/>
        </p:spPr>
        <p:txBody>
          <a:bodyPr wrap="square" lIns="0" tIns="0" rIns="0" bIns="0" rtlCol="0" anchor="ctr"/>
          <a:lstStyle/>
          <a:p>
            <a:pPr indent="0" marL="0">
              <a:buNone/>
            </a:pPr>
            <a:r>
              <a:rPr lang="en-US" sz="1500" b="1" dirty="0">
                <a:solidFill>
                  <a:schemeClr val="tx2"/>
                </a:solidFill>
              </a:rPr>
              <a:t>Building yourselves up</a:t>
            </a:r>
            <a:endParaRPr lang="en-US" sz="1400" dirty="0"/>
          </a:p>
          <a:p>
            <a:pPr indent="0" marL="0">
              <a:buNone/>
            </a:pPr>
            <a:r>
              <a:rPr lang="en-US" sz="1200" b="1" dirty="0">
                <a:solidFill>
                  <a:schemeClr val="accent3"/>
                </a:solidFill>
              </a:rPr>
              <a:t>epoikodomountes</a:t>
            </a:r>
            <a:endParaRPr lang="en-US" sz="1400" dirty="0"/>
          </a:p>
          <a:p>
            <a:pPr indent="0" marL="0">
              <a:buNone/>
            </a:pPr>
            <a:r>
              <a:rPr lang="en-US" sz="1200" dirty="0">
                <a:solidFill>
                  <a:schemeClr val="tx1"/>
                </a:solidFill>
              </a:rPr>
              <a:t>On your most holy faith — the faith of v.3. False teachers erode; believers build, together.</a:t>
            </a:r>
            <a:endParaRPr lang="en-US" sz="1400" dirty="0"/>
          </a:p>
        </p:txBody>
      </p:sp>
      <p:sp>
        <p:nvSpPr>
          <p:cNvPr id="8" name="Shape 6"/>
          <p:cNvSpPr/>
          <p:nvPr/>
        </p:nvSpPr>
        <p:spPr>
          <a:xfrm>
            <a:off x="548640" y="4343400"/>
            <a:ext cx="3108960" cy="1600200"/>
          </a:xfrm>
          <a:prstGeom prst="roundRect">
            <a:avLst>
              <a:gd name="adj" fmla="val 4571"/>
            </a:avLst>
          </a:prstGeom>
          <a:solidFill>
            <a:schemeClr val="accent6"/>
          </a:solidFill>
          <a:ln w="9525">
            <a:solidFill>
              <a:srgbClr val="D5DCEA"/>
            </a:solidFill>
            <a:prstDash val="solid"/>
          </a:ln>
        </p:spPr>
      </p:sp>
      <p:sp>
        <p:nvSpPr>
          <p:cNvPr id="9" name="Text 7"/>
          <p:cNvSpPr txBox="1"/>
          <p:nvPr/>
        </p:nvSpPr>
        <p:spPr>
          <a:xfrm>
            <a:off x="685800" y="4416552"/>
            <a:ext cx="2834640" cy="1463040"/>
          </a:xfrm>
          <a:prstGeom prst="rect">
            <a:avLst/>
          </a:prstGeom>
          <a:noFill/>
          <a:ln/>
        </p:spPr>
        <p:txBody>
          <a:bodyPr wrap="square" lIns="0" tIns="0" rIns="0" bIns="0" rtlCol="0" anchor="ctr"/>
          <a:lstStyle/>
          <a:p>
            <a:pPr indent="0" marL="0">
              <a:buNone/>
            </a:pPr>
            <a:r>
              <a:rPr lang="en-US" sz="1500" b="1" dirty="0">
                <a:solidFill>
                  <a:schemeClr val="tx2"/>
                </a:solidFill>
              </a:rPr>
              <a:t>Praying in the Holy Spirit</a:t>
            </a:r>
            <a:endParaRPr lang="en-US" sz="1400" dirty="0"/>
          </a:p>
          <a:p>
            <a:pPr indent="0" marL="0">
              <a:buNone/>
            </a:pPr>
            <a:r>
              <a:rPr lang="en-US" sz="1200" dirty="0">
                <a:solidFill>
                  <a:schemeClr val="tx1"/>
                </a:solidFill>
              </a:rPr>
              <a:t>Prompted, guided, empowered by the Spirit every believer has (Rom 8:26–27; Eph 6:18).</a:t>
            </a:r>
            <a:endParaRPr lang="en-US" sz="1400" dirty="0"/>
          </a:p>
          <a:p>
            <a:pPr indent="0" marL="0">
              <a:buNone/>
            </a:pPr>
            <a:r>
              <a:rPr lang="en-US" sz="1200" b="1" dirty="0">
                <a:solidFill>
                  <a:schemeClr val="accent1"/>
                </a:solidFill>
              </a:rPr>
              <a:t>The Spirit</a:t>
            </a:r>
            <a:endParaRPr lang="en-US" sz="1400" dirty="0"/>
          </a:p>
        </p:txBody>
      </p:sp>
      <p:sp>
        <p:nvSpPr>
          <p:cNvPr id="10" name="Shape 8"/>
          <p:cNvSpPr/>
          <p:nvPr/>
        </p:nvSpPr>
        <p:spPr>
          <a:xfrm>
            <a:off x="8503920" y="1417320"/>
            <a:ext cx="3108960" cy="1600200"/>
          </a:xfrm>
          <a:prstGeom prst="roundRect">
            <a:avLst>
              <a:gd name="adj" fmla="val 4571"/>
            </a:avLst>
          </a:prstGeom>
          <a:solidFill>
            <a:schemeClr val="bg2"/>
          </a:solidFill>
          <a:ln w="9525">
            <a:solidFill>
              <a:srgbClr val="D5DCEA"/>
            </a:solidFill>
            <a:prstDash val="solid"/>
          </a:ln>
        </p:spPr>
      </p:sp>
      <p:sp>
        <p:nvSpPr>
          <p:cNvPr id="11" name="Text 9"/>
          <p:cNvSpPr txBox="1"/>
          <p:nvPr/>
        </p:nvSpPr>
        <p:spPr>
          <a:xfrm>
            <a:off x="8641080" y="1490472"/>
            <a:ext cx="2834640" cy="1463040"/>
          </a:xfrm>
          <a:prstGeom prst="rect">
            <a:avLst/>
          </a:prstGeom>
          <a:noFill/>
          <a:ln/>
        </p:spPr>
        <p:txBody>
          <a:bodyPr wrap="square" lIns="0" tIns="0" rIns="0" bIns="0" rtlCol="0" anchor="ctr"/>
          <a:lstStyle/>
          <a:p>
            <a:pPr indent="0" marL="0">
              <a:buNone/>
            </a:pPr>
            <a:r>
              <a:rPr lang="en-US" sz="1500" b="1" dirty="0">
                <a:solidFill>
                  <a:schemeClr val="tx2"/>
                </a:solidFill>
              </a:rPr>
              <a:t>The love of God</a:t>
            </a:r>
            <a:endParaRPr lang="en-US" sz="1400" dirty="0"/>
          </a:p>
          <a:p>
            <a:pPr indent="0" marL="0">
              <a:buNone/>
            </a:pPr>
            <a:r>
              <a:rPr lang="en-US" sz="1200" dirty="0">
                <a:solidFill>
                  <a:schemeClr val="tx1"/>
                </a:solidFill>
              </a:rPr>
              <a:t>God's love for believers — the love in which they are "beloved" (v.1).</a:t>
            </a:r>
            <a:endParaRPr lang="en-US" sz="1400" dirty="0"/>
          </a:p>
          <a:p>
            <a:pPr indent="0" marL="0">
              <a:buNone/>
            </a:pPr>
            <a:r>
              <a:rPr lang="en-US" sz="1200" b="1" dirty="0">
                <a:solidFill>
                  <a:schemeClr val="accent1"/>
                </a:solidFill>
              </a:rPr>
              <a:t>The Father</a:t>
            </a:r>
            <a:endParaRPr lang="en-US" sz="1400" dirty="0"/>
          </a:p>
        </p:txBody>
      </p:sp>
      <p:sp>
        <p:nvSpPr>
          <p:cNvPr id="12" name="Shape 10"/>
          <p:cNvSpPr/>
          <p:nvPr/>
        </p:nvSpPr>
        <p:spPr>
          <a:xfrm>
            <a:off x="8503920" y="4343400"/>
            <a:ext cx="3108960" cy="1600200"/>
          </a:xfrm>
          <a:prstGeom prst="roundRect">
            <a:avLst>
              <a:gd name="adj" fmla="val 4571"/>
            </a:avLst>
          </a:prstGeom>
          <a:solidFill>
            <a:schemeClr val="accent6"/>
          </a:solidFill>
          <a:ln w="9525">
            <a:solidFill>
              <a:srgbClr val="D5DCEA"/>
            </a:solidFill>
            <a:prstDash val="solid"/>
          </a:ln>
        </p:spPr>
      </p:sp>
      <p:sp>
        <p:nvSpPr>
          <p:cNvPr id="13" name="Text 11"/>
          <p:cNvSpPr txBox="1"/>
          <p:nvPr/>
        </p:nvSpPr>
        <p:spPr>
          <a:xfrm>
            <a:off x="8641080" y="4416552"/>
            <a:ext cx="2834640" cy="1463040"/>
          </a:xfrm>
          <a:prstGeom prst="rect">
            <a:avLst/>
          </a:prstGeom>
          <a:noFill/>
          <a:ln/>
        </p:spPr>
        <p:txBody>
          <a:bodyPr wrap="square" lIns="0" tIns="0" rIns="0" bIns="0" rtlCol="0" anchor="ctr"/>
          <a:lstStyle/>
          <a:p>
            <a:pPr indent="0" marL="0">
              <a:buNone/>
            </a:pPr>
            <a:r>
              <a:rPr lang="en-US" sz="1500" b="1" dirty="0">
                <a:solidFill>
                  <a:schemeClr val="tx2"/>
                </a:solidFill>
              </a:rPr>
              <a:t>Waiting anxiously for mercy</a:t>
            </a:r>
            <a:endParaRPr lang="en-US" sz="1400" dirty="0"/>
          </a:p>
          <a:p>
            <a:pPr indent="0" marL="0">
              <a:buNone/>
            </a:pPr>
            <a:r>
              <a:rPr lang="en-US" sz="1200" b="1" dirty="0">
                <a:solidFill>
                  <a:schemeClr val="accent3"/>
                </a:solidFill>
              </a:rPr>
              <a:t>prosdechomenoi</a:t>
            </a:r>
            <a:endParaRPr lang="en-US" sz="1400" dirty="0"/>
          </a:p>
          <a:p>
            <a:pPr indent="0" marL="0">
              <a:buNone/>
            </a:pPr>
            <a:r>
              <a:rPr lang="en-US" sz="1200" dirty="0">
                <a:solidFill>
                  <a:schemeClr val="tx1"/>
                </a:solidFill>
              </a:rPr>
              <a:t>Eager expectation of the mercy of our Lord Jesus Christ to eternal life (Titus 2:13).</a:t>
            </a:r>
            <a:endParaRPr lang="en-US" sz="1400" dirty="0"/>
          </a:p>
          <a:p>
            <a:pPr indent="0" marL="0">
              <a:buNone/>
            </a:pPr>
            <a:r>
              <a:rPr lang="en-US" sz="1200" b="1" dirty="0">
                <a:solidFill>
                  <a:schemeClr val="accent1"/>
                </a:solidFill>
              </a:rPr>
              <a:t>The Son</a:t>
            </a:r>
            <a:endParaRPr lang="en-US" sz="1400" dirty="0"/>
          </a:p>
        </p:txBody>
      </p:sp>
      <p:sp>
        <p:nvSpPr>
          <p:cNvPr id="14" name="Shape 12"/>
          <p:cNvSpPr/>
          <p:nvPr/>
        </p:nvSpPr>
        <p:spPr>
          <a:xfrm>
            <a:off x="3657600" y="2194560"/>
            <a:ext cx="137160" cy="640080"/>
          </a:xfrm>
          <a:prstGeom prst="line">
            <a:avLst/>
          </a:prstGeom>
          <a:noFill/>
          <a:ln w="12700">
            <a:solidFill>
              <a:schemeClr val="accent4"/>
            </a:solidFill>
            <a:prstDash val="solid"/>
          </a:ln>
        </p:spPr>
      </p:sp>
      <p:sp>
        <p:nvSpPr>
          <p:cNvPr id="15" name="Shape 13"/>
          <p:cNvSpPr/>
          <p:nvPr/>
        </p:nvSpPr>
        <p:spPr>
          <a:xfrm flipH="1">
            <a:off x="3657600" y="3977640"/>
            <a:ext cx="137160" cy="1143000"/>
          </a:xfrm>
          <a:prstGeom prst="line">
            <a:avLst/>
          </a:prstGeom>
          <a:noFill/>
          <a:ln w="12700">
            <a:solidFill>
              <a:schemeClr val="accent4"/>
            </a:solidFill>
            <a:prstDash val="solid"/>
          </a:ln>
        </p:spPr>
      </p:sp>
      <p:sp>
        <p:nvSpPr>
          <p:cNvPr id="16" name="Shape 14"/>
          <p:cNvSpPr/>
          <p:nvPr/>
        </p:nvSpPr>
        <p:spPr>
          <a:xfrm flipH="1">
            <a:off x="8366760" y="2194560"/>
            <a:ext cx="137160" cy="640080"/>
          </a:xfrm>
          <a:prstGeom prst="line">
            <a:avLst/>
          </a:prstGeom>
          <a:noFill/>
          <a:ln w="12700">
            <a:solidFill>
              <a:schemeClr val="accent4"/>
            </a:solidFill>
            <a:prstDash val="solid"/>
          </a:ln>
        </p:spPr>
      </p:sp>
      <p:sp>
        <p:nvSpPr>
          <p:cNvPr id="17" name="Shape 15"/>
          <p:cNvSpPr/>
          <p:nvPr/>
        </p:nvSpPr>
        <p:spPr>
          <a:xfrm>
            <a:off x="8366760" y="3977640"/>
            <a:ext cx="137160" cy="1143000"/>
          </a:xfrm>
          <a:prstGeom prst="line">
            <a:avLst/>
          </a:prstGeom>
          <a:noFill/>
          <a:ln w="12700">
            <a:solidFill>
              <a:schemeClr val="accent4"/>
            </a:solidFill>
            <a:prstDash val="solid"/>
          </a:ln>
        </p:spPr>
      </p:sp>
      <p:sp>
        <p:nvSpPr>
          <p:cNvPr id="18" name="Text 16"/>
          <p:cNvSpPr txBox="1"/>
          <p:nvPr/>
        </p:nvSpPr>
        <p:spPr>
          <a:xfrm>
            <a:off x="3657600" y="1463040"/>
            <a:ext cx="4846320" cy="1005840"/>
          </a:xfrm>
          <a:prstGeom prst="rect">
            <a:avLst/>
          </a:prstGeom>
          <a:noFill/>
          <a:ln/>
        </p:spPr>
        <p:txBody>
          <a:bodyPr wrap="square" lIns="0" tIns="0" rIns="0" bIns="0" rtlCol="0" anchor="ctr"/>
          <a:lstStyle/>
          <a:p>
            <a:pPr algn="ctr" indent="0" marL="0">
              <a:buNone/>
            </a:pPr>
            <a:r>
              <a:rPr lang="en-US" sz="1300" i="1" dirty="0">
                <a:solidFill>
                  <a:schemeClr val="accent4"/>
                </a:solidFill>
              </a:rPr>
              <a:t>Spirit · Father · Son — "praying in the Holy Spirit… the love of God… the mercy of our Lord Jesus Christ"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"Keep yourselves in the love of God"</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Two readings of v.21</a:t>
            </a:r>
            <a:endParaRPr lang="en-US" sz="1400" dirty="0"/>
          </a:p>
        </p:txBody>
      </p:sp>
      <p:sp>
        <p:nvSpPr>
          <p:cNvPr id="4" name="Shape 2"/>
          <p:cNvSpPr/>
          <p:nvPr/>
        </p:nvSpPr>
        <p:spPr>
          <a:xfrm>
            <a:off x="548640" y="1371600"/>
            <a:ext cx="5440680" cy="457200"/>
          </a:xfrm>
          <a:prstGeom prst="rect">
            <a:avLst/>
          </a:prstGeom>
          <a:solidFill>
            <a:schemeClr val="accent4"/>
          </a:solidFill>
          <a:ln w="9525">
            <a:solidFill>
              <a:schemeClr val="accent4"/>
            </a:solidFill>
            <a:prstDash val="solid"/>
          </a:ln>
        </p:spPr>
      </p:sp>
      <p:sp>
        <p:nvSpPr>
          <p:cNvPr id="5" name="Text 3"/>
          <p:cNvSpPr txBox="1"/>
          <p:nvPr/>
        </p:nvSpPr>
        <p:spPr>
          <a:xfrm>
            <a:off x="731520" y="1371600"/>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Reformed (counterpoint)</a:t>
            </a:r>
            <a:endParaRPr lang="en-US" sz="1500" dirty="0"/>
          </a:p>
        </p:txBody>
      </p:sp>
      <p:sp>
        <p:nvSpPr>
          <p:cNvPr id="6" name="Shape 4"/>
          <p:cNvSpPr/>
          <p:nvPr/>
        </p:nvSpPr>
        <p:spPr>
          <a:xfrm>
            <a:off x="548640" y="1828800"/>
            <a:ext cx="5440680" cy="2514600"/>
          </a:xfrm>
          <a:prstGeom prst="rect">
            <a:avLst/>
          </a:prstGeom>
          <a:solidFill>
            <a:schemeClr val="bg2"/>
          </a:solidFill>
          <a:ln w="9525">
            <a:solidFill>
              <a:srgbClr val="D5DCEA"/>
            </a:solidFill>
            <a:prstDash val="solid"/>
          </a:ln>
        </p:spPr>
      </p:sp>
      <p:sp>
        <p:nvSpPr>
          <p:cNvPr id="7" name="Text 5"/>
          <p:cNvSpPr txBox="1"/>
          <p:nvPr/>
        </p:nvSpPr>
        <p:spPr>
          <a:xfrm>
            <a:off x="731520" y="1938528"/>
            <a:ext cx="5120640" cy="2313432"/>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Commands like this are conditions believers must meet to obtain eternal life at the end</a:t>
            </a:r>
            <a:endParaRPr lang="en-US" sz="1400" dirty="0"/>
          </a:p>
          <a:p>
            <a:pPr marL="342900" indent="-342900">
              <a:spcAft>
                <a:spcPts val="600"/>
              </a:spcAft>
              <a:buSzPct val="100000"/>
              <a:buChar char="•"/>
            </a:pPr>
            <a:r>
              <a:rPr lang="en-US" sz="1400" dirty="0">
                <a:solidFill>
                  <a:schemeClr val="tx1"/>
                </a:solidFill>
              </a:rPr>
              <a:t>God ensures the elect will meet them — keeping oneself in God's love is, in part, keeping oneself saved (Schreiner and Caneday, The Race Set Before Us)</a:t>
            </a:r>
            <a:endParaRPr lang="en-US" sz="1400" dirty="0"/>
          </a:p>
        </p:txBody>
      </p:sp>
      <p:sp>
        <p:nvSpPr>
          <p:cNvPr id="8" name="Shape 6"/>
          <p:cNvSpPr/>
          <p:nvPr/>
        </p:nvSpPr>
        <p:spPr>
          <a:xfrm>
            <a:off x="6172200" y="1371600"/>
            <a:ext cx="5440680" cy="457200"/>
          </a:xfrm>
          <a:prstGeom prst="rect">
            <a:avLst/>
          </a:prstGeom>
          <a:solidFill>
            <a:schemeClr val="accent1"/>
          </a:solidFill>
          <a:ln w="9525">
            <a:solidFill>
              <a:schemeClr val="accent1"/>
            </a:solidFill>
            <a:prstDash val="solid"/>
          </a:ln>
        </p:spPr>
      </p:sp>
      <p:sp>
        <p:nvSpPr>
          <p:cNvPr id="9" name="Text 7"/>
          <p:cNvSpPr txBox="1"/>
          <p:nvPr/>
        </p:nvSpPr>
        <p:spPr>
          <a:xfrm>
            <a:off x="6355080" y="1371600"/>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Free Grace (series view)</a:t>
            </a:r>
            <a:endParaRPr lang="en-US" sz="1500" dirty="0"/>
          </a:p>
        </p:txBody>
      </p:sp>
      <p:sp>
        <p:nvSpPr>
          <p:cNvPr id="10" name="Shape 8"/>
          <p:cNvSpPr/>
          <p:nvPr/>
        </p:nvSpPr>
        <p:spPr>
          <a:xfrm>
            <a:off x="6172200" y="1828800"/>
            <a:ext cx="5440680" cy="2514600"/>
          </a:xfrm>
          <a:prstGeom prst="rect">
            <a:avLst/>
          </a:prstGeom>
          <a:solidFill>
            <a:schemeClr val="bg2"/>
          </a:solidFill>
          <a:ln w="9525">
            <a:solidFill>
              <a:srgbClr val="D5DCEA"/>
            </a:solidFill>
            <a:prstDash val="solid"/>
          </a:ln>
        </p:spPr>
      </p:sp>
      <p:sp>
        <p:nvSpPr>
          <p:cNvPr id="11" name="Text 9"/>
          <p:cNvSpPr txBox="1"/>
          <p:nvPr/>
        </p:nvSpPr>
        <p:spPr>
          <a:xfrm>
            <a:off x="6355080" y="1938528"/>
            <a:ext cx="5120640" cy="2313432"/>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"The love of God" is God's love for believers (v.1) — they are already in it</a:t>
            </a:r>
            <a:endParaRPr lang="en-US" sz="1400" dirty="0"/>
          </a:p>
          <a:p>
            <a:pPr marL="342900" indent="-342900">
              <a:spcAft>
                <a:spcPts val="600"/>
              </a:spcAft>
              <a:buSzPct val="100000"/>
              <a:buChar char="•"/>
            </a:pPr>
            <a:r>
              <a:rPr lang="en-US" sz="1400" dirty="0">
                <a:solidFill>
                  <a:schemeClr val="tx1"/>
                </a:solidFill>
              </a:rPr>
              <a:t>The command is to remain in the conscious enjoyment of it: "abide in My love" (John 15:9–10)</a:t>
            </a:r>
            <a:endParaRPr lang="en-US" sz="1400" dirty="0"/>
          </a:p>
          <a:p>
            <a:pPr marL="342900" indent="-342900">
              <a:spcAft>
                <a:spcPts val="600"/>
              </a:spcAft>
              <a:buSzPct val="100000"/>
              <a:buChar char="•"/>
            </a:pPr>
            <a:r>
              <a:rPr lang="en-US" sz="1400" dirty="0">
                <a:solidFill>
                  <a:schemeClr val="tx1"/>
                </a:solidFill>
              </a:rPr>
              <a:t>Like a child in a loving home: membership settled by birth, but able to wander from the warmth (Hodges; Dillow)</a:t>
            </a:r>
            <a:endParaRPr lang="en-US" sz="1400" dirty="0"/>
          </a:p>
        </p:txBody>
      </p:sp>
      <p:sp>
        <p:nvSpPr>
          <p:cNvPr id="12" name="Shape 10"/>
          <p:cNvSpPr/>
          <p:nvPr/>
        </p:nvSpPr>
        <p:spPr>
          <a:xfrm>
            <a:off x="548640" y="4526280"/>
            <a:ext cx="11064240" cy="868680"/>
          </a:xfrm>
          <a:prstGeom prst="roundRect">
            <a:avLst>
              <a:gd name="adj" fmla="val 8421"/>
            </a:avLst>
          </a:prstGeom>
          <a:solidFill>
            <a:schemeClr val="tx2"/>
          </a:solidFill>
          <a:ln w="9525">
            <a:solidFill>
              <a:schemeClr val="tx2"/>
            </a:solidFill>
            <a:prstDash val="solid"/>
          </a:ln>
        </p:spPr>
      </p:sp>
      <p:sp>
        <p:nvSpPr>
          <p:cNvPr id="13" name="Text 11"/>
          <p:cNvSpPr txBox="1"/>
          <p:nvPr/>
        </p:nvSpPr>
        <p:spPr>
          <a:xfrm>
            <a:off x="777240" y="4526280"/>
            <a:ext cx="10607040" cy="868680"/>
          </a:xfrm>
          <a:prstGeom prst="rect">
            <a:avLst/>
          </a:prstGeom>
          <a:noFill/>
          <a:ln/>
        </p:spPr>
        <p:txBody>
          <a:bodyPr wrap="square" lIns="0" tIns="0" rIns="0" bIns="0" rtlCol="0" anchor="ctr"/>
          <a:lstStyle/>
          <a:p>
            <a:pPr indent="0" marL="0">
              <a:buNone/>
            </a:pPr>
            <a:r>
              <a:rPr lang="en-US" sz="1500" dirty="0">
                <a:solidFill>
                  <a:schemeClr val="bg1"/>
                </a:solidFill>
              </a:rPr>
              <a:t>Believers do not keep themselves in God's love to stay saved; they keep themselves in it because they are saved and want to live in the joy of it.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Three kinds of mercy</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vv.22–23 · contending reaches outward</a:t>
            </a:r>
            <a:endParaRPr lang="en-US" sz="1400" dirty="0"/>
          </a:p>
        </p:txBody>
      </p:sp>
      <p:sp>
        <p:nvSpPr>
          <p:cNvPr id="4" name="Shape 2"/>
          <p:cNvSpPr/>
          <p:nvPr/>
        </p:nvSpPr>
        <p:spPr>
          <a:xfrm>
            <a:off x="548640" y="1417320"/>
            <a:ext cx="3566160" cy="1051560"/>
          </a:xfrm>
          <a:prstGeom prst="rect">
            <a:avLst/>
          </a:prstGeom>
          <a:solidFill>
            <a:schemeClr val="accent2"/>
          </a:solidFill>
          <a:ln w="9525">
            <a:solidFill>
              <a:schemeClr val="accent2"/>
            </a:solidFill>
            <a:prstDash val="solid"/>
          </a:ln>
        </p:spPr>
      </p:sp>
      <p:sp>
        <p:nvSpPr>
          <p:cNvPr id="5" name="Text 3"/>
          <p:cNvSpPr txBox="1"/>
          <p:nvPr/>
        </p:nvSpPr>
        <p:spPr>
          <a:xfrm>
            <a:off x="731520" y="1417320"/>
            <a:ext cx="3200400" cy="1051560"/>
          </a:xfrm>
          <a:prstGeom prst="rect">
            <a:avLst/>
          </a:prstGeom>
          <a:noFill/>
          <a:ln/>
        </p:spPr>
        <p:txBody>
          <a:bodyPr wrap="square" lIns="0" tIns="0" rIns="0" bIns="0" rtlCol="0" anchor="ctr"/>
          <a:lstStyle/>
          <a:p>
            <a:pPr indent="0" marL="0">
              <a:buNone/>
            </a:pPr>
            <a:r>
              <a:rPr lang="en-US" sz="1600" b="1" dirty="0">
                <a:solidFill>
                  <a:schemeClr val="bg1"/>
                </a:solidFill>
              </a:rPr>
              <a:t>Have mercy on the doubting</a:t>
            </a:r>
            <a:endParaRPr lang="en-US" sz="1400" dirty="0"/>
          </a:p>
          <a:p>
            <a:pPr indent="0" marL="0">
              <a:buNone/>
            </a:pPr>
            <a:r>
              <a:rPr lang="en-US" sz="1300" dirty="0">
                <a:solidFill>
                  <a:schemeClr val="bg1"/>
                </a:solidFill>
              </a:rPr>
              <a:t>diakrinomenous</a:t>
            </a:r>
            <a:endParaRPr lang="en-US" sz="1400" dirty="0"/>
          </a:p>
        </p:txBody>
      </p:sp>
      <p:sp>
        <p:nvSpPr>
          <p:cNvPr id="6" name="Shape 4"/>
          <p:cNvSpPr/>
          <p:nvPr/>
        </p:nvSpPr>
        <p:spPr>
          <a:xfrm>
            <a:off x="548640" y="2468880"/>
            <a:ext cx="3566160" cy="2103120"/>
          </a:xfrm>
          <a:prstGeom prst="rect">
            <a:avLst/>
          </a:prstGeom>
          <a:solidFill>
            <a:schemeClr val="bg2"/>
          </a:solidFill>
          <a:ln w="9525">
            <a:solidFill>
              <a:srgbClr val="D5DCEA"/>
            </a:solidFill>
            <a:prstDash val="solid"/>
          </a:ln>
        </p:spPr>
      </p:sp>
      <p:sp>
        <p:nvSpPr>
          <p:cNvPr id="7" name="Text 5"/>
          <p:cNvSpPr txBox="1"/>
          <p:nvPr/>
        </p:nvSpPr>
        <p:spPr>
          <a:xfrm>
            <a:off x="731520" y="2578608"/>
            <a:ext cx="320040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Wavering, torn between two positions (cf. James 1:6)</a:t>
            </a:r>
            <a:endParaRPr lang="en-US" sz="1400" dirty="0"/>
          </a:p>
          <a:p>
            <a:pPr marL="342900" indent="-342900">
              <a:spcAft>
                <a:spcPts val="600"/>
              </a:spcAft>
              <a:buSzPct val="100000"/>
              <a:buChar char="•"/>
            </a:pPr>
            <a:r>
              <a:rPr lang="en-US" sz="1300" dirty="0">
                <a:solidFill>
                  <a:schemeClr val="tx1"/>
                </a:solidFill>
              </a:rPr>
              <a:t>Not dismissed or shamed — shown patience and help</a:t>
            </a:r>
            <a:endParaRPr lang="en-US" sz="1400" dirty="0"/>
          </a:p>
          <a:p>
            <a:pPr marL="342900" indent="-342900">
              <a:spcAft>
                <a:spcPts val="600"/>
              </a:spcAft>
              <a:buSzPct val="100000"/>
              <a:buChar char="•"/>
            </a:pPr>
            <a:r>
              <a:rPr lang="en-US" sz="1300" dirty="0">
                <a:solidFill>
                  <a:schemeClr val="tx1"/>
                </a:solidFill>
              </a:rPr>
              <a:t>Jude once doubted his own brother (John 7:5)</a:t>
            </a:r>
            <a:endParaRPr lang="en-US" sz="1400" dirty="0"/>
          </a:p>
        </p:txBody>
      </p:sp>
      <p:sp>
        <p:nvSpPr>
          <p:cNvPr id="8" name="Shape 6"/>
          <p:cNvSpPr/>
          <p:nvPr/>
        </p:nvSpPr>
        <p:spPr>
          <a:xfrm>
            <a:off x="4297680" y="1417320"/>
            <a:ext cx="3566160" cy="1051560"/>
          </a:xfrm>
          <a:prstGeom prst="rect">
            <a:avLst/>
          </a:prstGeom>
          <a:solidFill>
            <a:schemeClr val="accent2"/>
          </a:solidFill>
          <a:ln w="9525">
            <a:solidFill>
              <a:schemeClr val="accent2"/>
            </a:solidFill>
            <a:prstDash val="solid"/>
          </a:ln>
        </p:spPr>
      </p:sp>
      <p:sp>
        <p:nvSpPr>
          <p:cNvPr id="9" name="Text 7"/>
          <p:cNvSpPr txBox="1"/>
          <p:nvPr/>
        </p:nvSpPr>
        <p:spPr>
          <a:xfrm>
            <a:off x="4480560" y="1417320"/>
            <a:ext cx="3200400" cy="1051560"/>
          </a:xfrm>
          <a:prstGeom prst="rect">
            <a:avLst/>
          </a:prstGeom>
          <a:noFill/>
          <a:ln/>
        </p:spPr>
        <p:txBody>
          <a:bodyPr wrap="square" lIns="0" tIns="0" rIns="0" bIns="0" rtlCol="0" anchor="ctr"/>
          <a:lstStyle/>
          <a:p>
            <a:pPr indent="0" marL="0">
              <a:buNone/>
            </a:pPr>
            <a:r>
              <a:rPr lang="en-US" sz="1600" b="1" dirty="0">
                <a:solidFill>
                  <a:schemeClr val="bg1"/>
                </a:solidFill>
              </a:rPr>
              <a:t>Save others, snatching them from the fire</a:t>
            </a:r>
            <a:endParaRPr lang="en-US" sz="1400" dirty="0"/>
          </a:p>
          <a:p>
            <a:pPr indent="0" marL="0">
              <a:buNone/>
            </a:pPr>
            <a:r>
              <a:rPr lang="en-US" sz="1300" dirty="0">
                <a:solidFill>
                  <a:schemeClr val="bg1"/>
                </a:solidFill>
              </a:rPr>
              <a:t>harpazontes</a:t>
            </a:r>
            <a:endParaRPr lang="en-US" sz="1400" dirty="0"/>
          </a:p>
        </p:txBody>
      </p:sp>
      <p:sp>
        <p:nvSpPr>
          <p:cNvPr id="10" name="Shape 8"/>
          <p:cNvSpPr/>
          <p:nvPr/>
        </p:nvSpPr>
        <p:spPr>
          <a:xfrm>
            <a:off x="4297680" y="2468880"/>
            <a:ext cx="3566160" cy="2103120"/>
          </a:xfrm>
          <a:prstGeom prst="rect">
            <a:avLst/>
          </a:prstGeom>
          <a:solidFill>
            <a:schemeClr val="bg2"/>
          </a:solidFill>
          <a:ln w="9525">
            <a:solidFill>
              <a:srgbClr val="D5DCEA"/>
            </a:solidFill>
            <a:prstDash val="solid"/>
          </a:ln>
        </p:spPr>
      </p:sp>
      <p:sp>
        <p:nvSpPr>
          <p:cNvPr id="11" name="Text 9"/>
          <p:cNvSpPr txBox="1"/>
          <p:nvPr/>
        </p:nvSpPr>
        <p:spPr>
          <a:xfrm>
            <a:off x="4480560" y="2578608"/>
            <a:ext cx="320040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 brand plucked from the fire" (Amos 4:11; Zech 3:2)</a:t>
            </a:r>
            <a:endParaRPr lang="en-US" sz="1400" dirty="0"/>
          </a:p>
          <a:p>
            <a:pPr marL="342900" indent="-342900">
              <a:spcAft>
                <a:spcPts val="600"/>
              </a:spcAft>
              <a:buSzPct val="100000"/>
              <a:buChar char="•"/>
            </a:pPr>
            <a:r>
              <a:rPr lang="en-US" sz="1300" dirty="0">
                <a:solidFill>
                  <a:schemeClr val="tx1"/>
                </a:solidFill>
              </a:rPr>
              <a:t>Unbelievers near "eternal fire" (v.7) — bring them the gospel</a:t>
            </a:r>
            <a:endParaRPr lang="en-US" sz="1400" dirty="0"/>
          </a:p>
          <a:p>
            <a:pPr marL="342900" indent="-342900">
              <a:spcAft>
                <a:spcPts val="600"/>
              </a:spcAft>
              <a:buSzPct val="100000"/>
              <a:buChar char="•"/>
            </a:pPr>
            <a:r>
              <a:rPr lang="en-US" sz="1300" dirty="0">
                <a:solidFill>
                  <a:schemeClr val="tx1"/>
                </a:solidFill>
              </a:rPr>
              <a:t>Or deceived believers headed for sin's ruin (cf. James 5:20)</a:t>
            </a:r>
            <a:endParaRPr lang="en-US" sz="1400" dirty="0"/>
          </a:p>
        </p:txBody>
      </p:sp>
      <p:sp>
        <p:nvSpPr>
          <p:cNvPr id="12" name="Shape 10"/>
          <p:cNvSpPr/>
          <p:nvPr/>
        </p:nvSpPr>
        <p:spPr>
          <a:xfrm>
            <a:off x="8046720" y="1417320"/>
            <a:ext cx="3566160" cy="1051560"/>
          </a:xfrm>
          <a:prstGeom prst="rect">
            <a:avLst/>
          </a:prstGeom>
          <a:solidFill>
            <a:schemeClr val="accent2"/>
          </a:solidFill>
          <a:ln w="9525">
            <a:solidFill>
              <a:schemeClr val="accent2"/>
            </a:solidFill>
            <a:prstDash val="solid"/>
          </a:ln>
        </p:spPr>
      </p:sp>
      <p:sp>
        <p:nvSpPr>
          <p:cNvPr id="13" name="Text 11"/>
          <p:cNvSpPr txBox="1"/>
          <p:nvPr/>
        </p:nvSpPr>
        <p:spPr>
          <a:xfrm>
            <a:off x="8229600" y="1417320"/>
            <a:ext cx="3200400" cy="1051560"/>
          </a:xfrm>
          <a:prstGeom prst="rect">
            <a:avLst/>
          </a:prstGeom>
          <a:noFill/>
          <a:ln/>
        </p:spPr>
        <p:txBody>
          <a:bodyPr wrap="square" lIns="0" tIns="0" rIns="0" bIns="0" rtlCol="0" anchor="ctr"/>
          <a:lstStyle/>
          <a:p>
            <a:pPr indent="0" marL="0">
              <a:buNone/>
            </a:pPr>
            <a:r>
              <a:rPr lang="en-US" sz="1600" b="1" dirty="0">
                <a:solidFill>
                  <a:schemeClr val="bg1"/>
                </a:solidFill>
              </a:rPr>
              <a:t>Have mercy with fear</a:t>
            </a:r>
            <a:endParaRPr lang="en-US" sz="1400" dirty="0"/>
          </a:p>
          <a:p>
            <a:pPr indent="0" marL="0">
              <a:buNone/>
            </a:pPr>
            <a:r>
              <a:rPr lang="en-US" sz="1300" dirty="0">
                <a:solidFill>
                  <a:schemeClr val="bg1"/>
                </a:solidFill>
              </a:rPr>
              <a:t>espilōmenon</a:t>
            </a:r>
            <a:endParaRPr lang="en-US" sz="1400" dirty="0"/>
          </a:p>
        </p:txBody>
      </p:sp>
      <p:sp>
        <p:nvSpPr>
          <p:cNvPr id="14" name="Shape 12"/>
          <p:cNvSpPr/>
          <p:nvPr/>
        </p:nvSpPr>
        <p:spPr>
          <a:xfrm>
            <a:off x="8046720" y="2468880"/>
            <a:ext cx="3566160" cy="2103120"/>
          </a:xfrm>
          <a:prstGeom prst="rect">
            <a:avLst/>
          </a:prstGeom>
          <a:solidFill>
            <a:schemeClr val="bg2"/>
          </a:solidFill>
          <a:ln w="9525">
            <a:solidFill>
              <a:srgbClr val="D5DCEA"/>
            </a:solidFill>
            <a:prstDash val="solid"/>
          </a:ln>
        </p:spPr>
      </p:sp>
      <p:sp>
        <p:nvSpPr>
          <p:cNvPr id="15" name="Text 13"/>
          <p:cNvSpPr txBox="1"/>
          <p:nvPr/>
        </p:nvSpPr>
        <p:spPr>
          <a:xfrm>
            <a:off x="8229600" y="2578608"/>
            <a:ext cx="320040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Those deeply entangled in the intruders' immorality</a:t>
            </a:r>
            <a:endParaRPr lang="en-US" sz="1400" dirty="0"/>
          </a:p>
          <a:p>
            <a:pPr marL="342900" indent="-342900">
              <a:spcAft>
                <a:spcPts val="600"/>
              </a:spcAft>
              <a:buSzPct val="100000"/>
              <a:buChar char="•"/>
            </a:pPr>
            <a:r>
              <a:rPr lang="en-US" sz="1300" dirty="0">
                <a:solidFill>
                  <a:schemeClr val="tx1"/>
                </a:solidFill>
              </a:rPr>
              <a:t>"Hating even the garment polluted by the flesh" (cf. Zech 3:3–4)</a:t>
            </a:r>
            <a:endParaRPr lang="en-US" sz="1400" dirty="0"/>
          </a:p>
          <a:p>
            <a:pPr marL="342900" indent="-342900">
              <a:spcAft>
                <a:spcPts val="600"/>
              </a:spcAft>
              <a:buSzPct val="100000"/>
              <a:buChar char="•"/>
            </a:pPr>
            <a:r>
              <a:rPr lang="en-US" sz="1300" dirty="0">
                <a:solidFill>
                  <a:schemeClr val="tx1"/>
                </a:solidFill>
              </a:rPr>
              <a:t>Love the sinner, refuse the contamination (Gal 6:1)</a:t>
            </a:r>
            <a:endParaRPr lang="en-US" sz="1400" dirty="0"/>
          </a:p>
        </p:txBody>
      </p:sp>
      <p:sp>
        <p:nvSpPr>
          <p:cNvPr id="16" name="Shape 14"/>
          <p:cNvSpPr/>
          <p:nvPr/>
        </p:nvSpPr>
        <p:spPr>
          <a:xfrm>
            <a:off x="548640" y="4754880"/>
            <a:ext cx="11064240" cy="777240"/>
          </a:xfrm>
          <a:prstGeom prst="roundRect">
            <a:avLst>
              <a:gd name="adj" fmla="val 9412"/>
            </a:avLst>
          </a:prstGeom>
          <a:solidFill>
            <a:schemeClr val="tx2"/>
          </a:solidFill>
          <a:ln w="9525">
            <a:solidFill>
              <a:schemeClr val="tx2"/>
            </a:solidFill>
            <a:prstDash val="solid"/>
          </a:ln>
        </p:spPr>
      </p:sp>
      <p:sp>
        <p:nvSpPr>
          <p:cNvPr id="17" name="Text 15"/>
          <p:cNvSpPr txBox="1"/>
          <p:nvPr/>
        </p:nvSpPr>
        <p:spPr>
          <a:xfrm>
            <a:off x="777240" y="4754880"/>
            <a:ext cx="10607040" cy="777240"/>
          </a:xfrm>
          <a:prstGeom prst="rect">
            <a:avLst/>
          </a:prstGeom>
          <a:noFill/>
          <a:ln/>
        </p:spPr>
        <p:txBody>
          <a:bodyPr wrap="square" lIns="0" tIns="0" rIns="0" bIns="0" rtlCol="0" anchor="ctr"/>
          <a:lstStyle/>
          <a:p>
            <a:pPr indent="0" marL="0">
              <a:buNone/>
            </a:pPr>
            <a:r>
              <a:rPr lang="en-US" sz="1500" dirty="0">
                <a:solidFill>
                  <a:schemeClr val="bg1"/>
                </a:solidFill>
              </a:rPr>
              <a:t>Mercy does not mean naïveté: we reach into the mud to rescue someone without wallowing in it ourselves. (Manuscripts differ between two and three groups; the NASB follows three.)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731520" y="1188720"/>
            <a:ext cx="10058400" cy="457200"/>
          </a:xfrm>
          <a:prstGeom prst="rect">
            <a:avLst/>
          </a:prstGeom>
          <a:noFill/>
          <a:ln/>
        </p:spPr>
        <p:txBody>
          <a:bodyPr wrap="square" lIns="0" tIns="0" rIns="0" bIns="0" rtlCol="0" anchor="t"/>
          <a:lstStyle/>
          <a:p>
            <a:pPr indent="0" marL="0">
              <a:buNone/>
            </a:pPr>
            <a:r>
              <a:rPr lang="en-US" sz="1800" b="1" dirty="0">
                <a:solidFill>
                  <a:schemeClr val="accent5"/>
                </a:solidFill>
              </a:rPr>
              <a:t>Study 6 of 6 · Jude 24–25</a:t>
            </a:r>
            <a:endParaRPr lang="en-US" sz="1800" dirty="0"/>
          </a:p>
        </p:txBody>
      </p:sp>
      <p:sp>
        <p:nvSpPr>
          <p:cNvPr id="3" name="Text 0"/>
          <p:cNvSpPr/>
          <p:nvPr>
            <p:ph idx="100" type="title" hasCustomPrompt="1"/>
          </p:nvPr>
        </p:nvSpPr>
        <p:spPr>
          <a:xfrm>
            <a:off x="731520" y="1737360"/>
            <a:ext cx="10698480" cy="1554480"/>
          </a:xfrm>
          <a:prstGeom prst="rect">
            <a:avLst/>
          </a:prstGeom>
          <a:noFill/>
          <a:ln/>
        </p:spPr>
        <p:txBody>
          <a:bodyPr wrap="square" rtlCol="0" anchor="b"/>
          <a:lstStyle/>
          <a:p>
            <a:pPr algn="l" indent="0" marL="0">
              <a:buNone/>
            </a:pPr>
            <a:r>
              <a:rPr lang="en-US" sz="4000" b="1" dirty="0">
                <a:solidFill>
                  <a:schemeClr val="bg1"/>
                </a:solidFill>
              </a:rPr>
              <a:t>The Doxology of Confidence: He Is Able</a:t>
            </a:r>
            <a:endParaRPr lang="en-US" sz="4000" dirty="0"/>
          </a:p>
        </p:txBody>
      </p:sp>
      <p:sp>
        <p:nvSpPr>
          <p:cNvPr id="4" name="Text 0"/>
          <p:cNvSpPr/>
          <p:nvPr>
            <p:ph idx="101" type="body" hasCustomPrompt="1"/>
          </p:nvPr>
        </p:nvSpPr>
        <p:spPr>
          <a:xfrm>
            <a:off x="731520" y="3474720"/>
            <a:ext cx="10698480" cy="2011680"/>
          </a:xfrm>
          <a:prstGeom prst="rect">
            <a:avLst/>
          </a:prstGeom>
          <a:noFill/>
          <a:ln/>
        </p:spPr>
        <p:txBody>
          <a:bodyPr wrap="square" rtlCol="0" anchor="t"/>
          <a:lstStyle/>
          <a:p>
            <a:pPr algn="l" indent="0" marL="0">
              <a:buNone/>
            </a:pPr>
            <a:r>
              <a:rPr lang="en-US" sz="2000" dirty="0">
                <a:solidFill>
                  <a:schemeClr val="bg2"/>
                </a:solidFill>
              </a:rPr>
              <a:t>The letter that called believers to contend ends by lifting their eyes to God, who is able to guard them and present them blameless with great joy.</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Him who is able</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v.24 · what God is able to do</a:t>
            </a:r>
            <a:endParaRPr lang="en-US" sz="1400" dirty="0"/>
          </a:p>
        </p:txBody>
      </p:sp>
      <p:sp>
        <p:nvSpPr>
          <p:cNvPr id="4" name="Shape 2"/>
          <p:cNvSpPr/>
          <p:nvPr/>
        </p:nvSpPr>
        <p:spPr>
          <a:xfrm>
            <a:off x="548640" y="1371600"/>
            <a:ext cx="3749040" cy="585216"/>
          </a:xfrm>
          <a:prstGeom prst="roundRect">
            <a:avLst>
              <a:gd name="adj" fmla="val 12500"/>
            </a:avLst>
          </a:prstGeom>
          <a:solidFill>
            <a:schemeClr val="accent1"/>
          </a:solidFill>
          <a:ln w="9525">
            <a:solidFill>
              <a:schemeClr val="accent1"/>
            </a:solidFill>
            <a:prstDash val="solid"/>
          </a:ln>
        </p:spPr>
      </p:sp>
      <p:sp>
        <p:nvSpPr>
          <p:cNvPr id="5" name="Text 3"/>
          <p:cNvSpPr txBox="1"/>
          <p:nvPr/>
        </p:nvSpPr>
        <p:spPr>
          <a:xfrm>
            <a:off x="685800" y="1371600"/>
            <a:ext cx="3520440" cy="585216"/>
          </a:xfrm>
          <a:prstGeom prst="rect">
            <a:avLst/>
          </a:prstGeom>
          <a:noFill/>
          <a:ln/>
        </p:spPr>
        <p:txBody>
          <a:bodyPr wrap="square" lIns="0" tIns="0" rIns="0" bIns="0" rtlCol="0" anchor="ctr"/>
          <a:lstStyle/>
          <a:p>
            <a:pPr indent="0" marL="0">
              <a:buNone/>
            </a:pPr>
            <a:r>
              <a:rPr lang="en-US" sz="1500" b="1" dirty="0">
                <a:solidFill>
                  <a:schemeClr val="bg1"/>
                </a:solidFill>
              </a:rPr>
              <a:t>Him who is able</a:t>
            </a:r>
            <a:endParaRPr lang="en-US" sz="1500" dirty="0"/>
          </a:p>
        </p:txBody>
      </p:sp>
      <p:sp>
        <p:nvSpPr>
          <p:cNvPr id="6" name="Text 4"/>
          <p:cNvSpPr txBox="1"/>
          <p:nvPr/>
        </p:nvSpPr>
        <p:spPr>
          <a:xfrm>
            <a:off x="4526280" y="1371600"/>
            <a:ext cx="2011680" cy="585216"/>
          </a:xfrm>
          <a:prstGeom prst="rect">
            <a:avLst/>
          </a:prstGeom>
          <a:noFill/>
          <a:ln/>
        </p:spPr>
        <p:txBody>
          <a:bodyPr wrap="square" lIns="0" tIns="0" rIns="0" bIns="0" rtlCol="0" anchor="ctr"/>
          <a:lstStyle/>
          <a:p>
            <a:pPr indent="0" marL="0">
              <a:buNone/>
            </a:pPr>
            <a:r>
              <a:rPr lang="en-US" sz="1300" b="1" dirty="0">
                <a:solidFill>
                  <a:schemeClr val="accent3"/>
                </a:solidFill>
              </a:rPr>
              <a:t>tō dynamenō</a:t>
            </a:r>
            <a:endParaRPr lang="en-US" sz="1300" dirty="0"/>
          </a:p>
        </p:txBody>
      </p:sp>
      <p:sp>
        <p:nvSpPr>
          <p:cNvPr id="7" name="Text 5"/>
          <p:cNvSpPr txBox="1"/>
          <p:nvPr/>
        </p:nvSpPr>
        <p:spPr>
          <a:xfrm>
            <a:off x="6583680" y="1371600"/>
            <a:ext cx="5029200" cy="585216"/>
          </a:xfrm>
          <a:prstGeom prst="rect">
            <a:avLst/>
          </a:prstGeom>
          <a:noFill/>
          <a:ln/>
        </p:spPr>
        <p:txBody>
          <a:bodyPr wrap="square" lIns="0" tIns="0" rIns="0" bIns="0" rtlCol="0" anchor="ctr"/>
          <a:lstStyle/>
          <a:p>
            <a:pPr indent="0" marL="0">
              <a:buNone/>
            </a:pPr>
            <a:r>
              <a:rPr lang="en-US" sz="1300" dirty="0">
                <a:solidFill>
                  <a:schemeClr val="tx1"/>
                </a:solidFill>
              </a:rPr>
              <a:t>He leads with God's ability (Rom 16:25; Eph 3:20; Heb 7:25; 2 Tim 1:12)</a:t>
            </a:r>
            <a:endParaRPr lang="en-US" sz="1300" dirty="0"/>
          </a:p>
        </p:txBody>
      </p:sp>
      <p:sp>
        <p:nvSpPr>
          <p:cNvPr id="8" name="Shape 6"/>
          <p:cNvSpPr/>
          <p:nvPr/>
        </p:nvSpPr>
        <p:spPr>
          <a:xfrm>
            <a:off x="822960" y="2057400"/>
            <a:ext cx="3749040" cy="585216"/>
          </a:xfrm>
          <a:prstGeom prst="roundRect">
            <a:avLst>
              <a:gd name="adj" fmla="val 12500"/>
            </a:avLst>
          </a:prstGeom>
          <a:solidFill>
            <a:schemeClr val="accent1"/>
          </a:solidFill>
          <a:ln w="9525">
            <a:solidFill>
              <a:schemeClr val="accent1"/>
            </a:solidFill>
            <a:prstDash val="solid"/>
          </a:ln>
        </p:spPr>
      </p:sp>
      <p:sp>
        <p:nvSpPr>
          <p:cNvPr id="9" name="Text 7"/>
          <p:cNvSpPr txBox="1"/>
          <p:nvPr/>
        </p:nvSpPr>
        <p:spPr>
          <a:xfrm>
            <a:off x="960120" y="2057400"/>
            <a:ext cx="3520440" cy="585216"/>
          </a:xfrm>
          <a:prstGeom prst="rect">
            <a:avLst/>
          </a:prstGeom>
          <a:noFill/>
          <a:ln/>
        </p:spPr>
        <p:txBody>
          <a:bodyPr wrap="square" lIns="0" tIns="0" rIns="0" bIns="0" rtlCol="0" anchor="ctr"/>
          <a:lstStyle/>
          <a:p>
            <a:pPr indent="0" marL="0">
              <a:buNone/>
            </a:pPr>
            <a:r>
              <a:rPr lang="en-US" sz="1500" b="1" dirty="0">
                <a:solidFill>
                  <a:schemeClr val="bg1"/>
                </a:solidFill>
              </a:rPr>
              <a:t>to keep you from stumbling</a:t>
            </a:r>
            <a:endParaRPr lang="en-US" sz="1500" dirty="0"/>
          </a:p>
        </p:txBody>
      </p:sp>
      <p:sp>
        <p:nvSpPr>
          <p:cNvPr id="10" name="Text 8"/>
          <p:cNvSpPr txBox="1"/>
          <p:nvPr/>
        </p:nvSpPr>
        <p:spPr>
          <a:xfrm>
            <a:off x="4800600" y="2057400"/>
            <a:ext cx="2011680" cy="585216"/>
          </a:xfrm>
          <a:prstGeom prst="rect">
            <a:avLst/>
          </a:prstGeom>
          <a:noFill/>
          <a:ln/>
        </p:spPr>
        <p:txBody>
          <a:bodyPr wrap="square" lIns="0" tIns="0" rIns="0" bIns="0" rtlCol="0" anchor="ctr"/>
          <a:lstStyle/>
          <a:p>
            <a:pPr indent="0" marL="0">
              <a:buNone/>
            </a:pPr>
            <a:r>
              <a:rPr lang="en-US" sz="1300" b="1" dirty="0">
                <a:solidFill>
                  <a:schemeClr val="accent3"/>
                </a:solidFill>
              </a:rPr>
              <a:t>phylassō · aptaistous</a:t>
            </a:r>
            <a:endParaRPr lang="en-US" sz="1300" dirty="0"/>
          </a:p>
        </p:txBody>
      </p:sp>
      <p:sp>
        <p:nvSpPr>
          <p:cNvPr id="11" name="Text 9"/>
          <p:cNvSpPr txBox="1"/>
          <p:nvPr/>
        </p:nvSpPr>
        <p:spPr>
          <a:xfrm>
            <a:off x="6858000" y="2057400"/>
            <a:ext cx="4754880" cy="585216"/>
          </a:xfrm>
          <a:prstGeom prst="rect">
            <a:avLst/>
          </a:prstGeom>
          <a:noFill/>
          <a:ln/>
        </p:spPr>
        <p:txBody>
          <a:bodyPr wrap="square" lIns="0" tIns="0" rIns="0" bIns="0" rtlCol="0" anchor="ctr"/>
          <a:lstStyle/>
          <a:p>
            <a:pPr indent="0" marL="0">
              <a:buNone/>
            </a:pPr>
            <a:r>
              <a:rPr lang="en-US" sz="1300" dirty="0">
                <a:solidFill>
                  <a:schemeClr val="tx1"/>
                </a:solidFill>
              </a:rPr>
              <a:t>A sentry's word; "unstumbling" — sure-footed on a rocky path</a:t>
            </a:r>
            <a:endParaRPr lang="en-US" sz="1300" dirty="0"/>
          </a:p>
        </p:txBody>
      </p:sp>
      <p:sp>
        <p:nvSpPr>
          <p:cNvPr id="12" name="Shape 10"/>
          <p:cNvSpPr/>
          <p:nvPr/>
        </p:nvSpPr>
        <p:spPr>
          <a:xfrm>
            <a:off x="1097280" y="2743200"/>
            <a:ext cx="3749040" cy="585216"/>
          </a:xfrm>
          <a:prstGeom prst="roundRect">
            <a:avLst>
              <a:gd name="adj" fmla="val 12500"/>
            </a:avLst>
          </a:prstGeom>
          <a:solidFill>
            <a:schemeClr val="accent1"/>
          </a:solidFill>
          <a:ln w="9525">
            <a:solidFill>
              <a:schemeClr val="accent1"/>
            </a:solidFill>
            <a:prstDash val="solid"/>
          </a:ln>
        </p:spPr>
      </p:sp>
      <p:sp>
        <p:nvSpPr>
          <p:cNvPr id="13" name="Text 11"/>
          <p:cNvSpPr txBox="1"/>
          <p:nvPr/>
        </p:nvSpPr>
        <p:spPr>
          <a:xfrm>
            <a:off x="1234440" y="2743200"/>
            <a:ext cx="3520440" cy="585216"/>
          </a:xfrm>
          <a:prstGeom prst="rect">
            <a:avLst/>
          </a:prstGeom>
          <a:noFill/>
          <a:ln/>
        </p:spPr>
        <p:txBody>
          <a:bodyPr wrap="square" lIns="0" tIns="0" rIns="0" bIns="0" rtlCol="0" anchor="ctr"/>
          <a:lstStyle/>
          <a:p>
            <a:pPr indent="0" marL="0">
              <a:buNone/>
            </a:pPr>
            <a:r>
              <a:rPr lang="en-US" sz="1500" b="1" dirty="0">
                <a:solidFill>
                  <a:schemeClr val="bg1"/>
                </a:solidFill>
              </a:rPr>
              <a:t>and to make you stand</a:t>
            </a:r>
            <a:endParaRPr lang="en-US" sz="1500" dirty="0"/>
          </a:p>
        </p:txBody>
      </p:sp>
      <p:sp>
        <p:nvSpPr>
          <p:cNvPr id="14" name="Text 12"/>
          <p:cNvSpPr txBox="1"/>
          <p:nvPr/>
        </p:nvSpPr>
        <p:spPr>
          <a:xfrm>
            <a:off x="5074920" y="2743200"/>
            <a:ext cx="2011680" cy="585216"/>
          </a:xfrm>
          <a:prstGeom prst="rect">
            <a:avLst/>
          </a:prstGeom>
          <a:noFill/>
          <a:ln/>
        </p:spPr>
        <p:txBody>
          <a:bodyPr wrap="square" lIns="0" tIns="0" rIns="0" bIns="0" rtlCol="0" anchor="ctr"/>
          <a:lstStyle/>
          <a:p>
            <a:pPr indent="0" marL="0">
              <a:buNone/>
            </a:pPr>
            <a:r>
              <a:rPr lang="en-US" sz="1300" b="1" dirty="0">
                <a:solidFill>
                  <a:schemeClr val="accent3"/>
                </a:solidFill>
              </a:rPr>
              <a:t>stēsai</a:t>
            </a:r>
            <a:endParaRPr lang="en-US" sz="1300" dirty="0"/>
          </a:p>
        </p:txBody>
      </p:sp>
      <p:sp>
        <p:nvSpPr>
          <p:cNvPr id="15" name="Text 13"/>
          <p:cNvSpPr txBox="1"/>
          <p:nvPr/>
        </p:nvSpPr>
        <p:spPr>
          <a:xfrm>
            <a:off x="7132320" y="2743200"/>
            <a:ext cx="4480560" cy="585216"/>
          </a:xfrm>
          <a:prstGeom prst="rect">
            <a:avLst/>
          </a:prstGeom>
          <a:noFill/>
          <a:ln/>
        </p:spPr>
        <p:txBody>
          <a:bodyPr wrap="square" lIns="0" tIns="0" rIns="0" bIns="0" rtlCol="0" anchor="ctr"/>
          <a:lstStyle/>
          <a:p>
            <a:pPr indent="0" marL="0">
              <a:buNone/>
            </a:pPr>
            <a:r>
              <a:rPr lang="en-US" sz="1300" dirty="0">
                <a:solidFill>
                  <a:schemeClr val="tx1"/>
                </a:solidFill>
              </a:rPr>
              <a:t>Not admitted by a side door — set in place</a:t>
            </a:r>
            <a:endParaRPr lang="en-US" sz="1300" dirty="0"/>
          </a:p>
        </p:txBody>
      </p:sp>
      <p:sp>
        <p:nvSpPr>
          <p:cNvPr id="16" name="Shape 14"/>
          <p:cNvSpPr/>
          <p:nvPr/>
        </p:nvSpPr>
        <p:spPr>
          <a:xfrm>
            <a:off x="1371600" y="3429000"/>
            <a:ext cx="3749040" cy="585216"/>
          </a:xfrm>
          <a:prstGeom prst="roundRect">
            <a:avLst>
              <a:gd name="adj" fmla="val 12500"/>
            </a:avLst>
          </a:prstGeom>
          <a:solidFill>
            <a:schemeClr val="accent1"/>
          </a:solidFill>
          <a:ln w="9525">
            <a:solidFill>
              <a:schemeClr val="accent1"/>
            </a:solidFill>
            <a:prstDash val="solid"/>
          </a:ln>
        </p:spPr>
      </p:sp>
      <p:sp>
        <p:nvSpPr>
          <p:cNvPr id="17" name="Text 15"/>
          <p:cNvSpPr txBox="1"/>
          <p:nvPr/>
        </p:nvSpPr>
        <p:spPr>
          <a:xfrm>
            <a:off x="1508760" y="3429000"/>
            <a:ext cx="3520440" cy="585216"/>
          </a:xfrm>
          <a:prstGeom prst="rect">
            <a:avLst/>
          </a:prstGeom>
          <a:noFill/>
          <a:ln/>
        </p:spPr>
        <p:txBody>
          <a:bodyPr wrap="square" lIns="0" tIns="0" rIns="0" bIns="0" rtlCol="0" anchor="ctr"/>
          <a:lstStyle/>
          <a:p>
            <a:pPr indent="0" marL="0">
              <a:buNone/>
            </a:pPr>
            <a:r>
              <a:rPr lang="en-US" sz="1500" b="1" dirty="0">
                <a:solidFill>
                  <a:schemeClr val="bg1"/>
                </a:solidFill>
              </a:rPr>
              <a:t>in the presence of His glory</a:t>
            </a:r>
            <a:endParaRPr lang="en-US" sz="1500" dirty="0"/>
          </a:p>
        </p:txBody>
      </p:sp>
      <p:sp>
        <p:nvSpPr>
          <p:cNvPr id="18" name="Text 16"/>
          <p:cNvSpPr txBox="1"/>
          <p:nvPr/>
        </p:nvSpPr>
        <p:spPr>
          <a:xfrm>
            <a:off x="5349240" y="3429000"/>
            <a:ext cx="2011680" cy="585216"/>
          </a:xfrm>
          <a:prstGeom prst="rect">
            <a:avLst/>
          </a:prstGeom>
          <a:noFill/>
          <a:ln/>
        </p:spPr>
        <p:txBody>
          <a:bodyPr wrap="square" lIns="0" tIns="0" rIns="0" bIns="0" rtlCol="0" anchor="ctr"/>
          <a:lstStyle/>
          <a:p>
            <a:pPr indent="0" marL="0">
              <a:buNone/>
            </a:pPr>
            <a:r>
              <a:rPr lang="en-US" sz="1300" b="1" dirty="0">
                <a:solidFill>
                  <a:schemeClr val="accent3"/>
                </a:solidFill>
              </a:rPr>
              <a:t>katenōpion</a:t>
            </a:r>
            <a:endParaRPr lang="en-US" sz="1300" dirty="0"/>
          </a:p>
        </p:txBody>
      </p:sp>
      <p:sp>
        <p:nvSpPr>
          <p:cNvPr id="19" name="Text 17"/>
          <p:cNvSpPr txBox="1"/>
          <p:nvPr/>
        </p:nvSpPr>
        <p:spPr>
          <a:xfrm>
            <a:off x="7406640" y="3429000"/>
            <a:ext cx="4206240" cy="585216"/>
          </a:xfrm>
          <a:prstGeom prst="rect">
            <a:avLst/>
          </a:prstGeom>
          <a:noFill/>
          <a:ln/>
        </p:spPr>
        <p:txBody>
          <a:bodyPr wrap="square" lIns="0" tIns="0" rIns="0" bIns="0" rtlCol="0" anchor="ctr"/>
          <a:lstStyle/>
          <a:p>
            <a:pPr indent="0" marL="0">
              <a:buNone/>
            </a:pPr>
            <a:r>
              <a:rPr lang="en-US" sz="1300" dirty="0">
                <a:solidFill>
                  <a:schemeClr val="tx1"/>
                </a:solidFill>
              </a:rPr>
              <a:t>Face to face before the radiant majesty of God (cf. Isa 6:5)</a:t>
            </a:r>
            <a:endParaRPr lang="en-US" sz="1300" dirty="0"/>
          </a:p>
        </p:txBody>
      </p:sp>
      <p:sp>
        <p:nvSpPr>
          <p:cNvPr id="20" name="Shape 18"/>
          <p:cNvSpPr/>
          <p:nvPr/>
        </p:nvSpPr>
        <p:spPr>
          <a:xfrm>
            <a:off x="1645920" y="4114800"/>
            <a:ext cx="3749040" cy="585216"/>
          </a:xfrm>
          <a:prstGeom prst="roundRect">
            <a:avLst>
              <a:gd name="adj" fmla="val 12500"/>
            </a:avLst>
          </a:prstGeom>
          <a:solidFill>
            <a:schemeClr val="accent1"/>
          </a:solidFill>
          <a:ln w="9525">
            <a:solidFill>
              <a:schemeClr val="accent1"/>
            </a:solidFill>
            <a:prstDash val="solid"/>
          </a:ln>
        </p:spPr>
      </p:sp>
      <p:sp>
        <p:nvSpPr>
          <p:cNvPr id="21" name="Text 19"/>
          <p:cNvSpPr txBox="1"/>
          <p:nvPr/>
        </p:nvSpPr>
        <p:spPr>
          <a:xfrm>
            <a:off x="1783080" y="4114800"/>
            <a:ext cx="3520440" cy="585216"/>
          </a:xfrm>
          <a:prstGeom prst="rect">
            <a:avLst/>
          </a:prstGeom>
          <a:noFill/>
          <a:ln/>
        </p:spPr>
        <p:txBody>
          <a:bodyPr wrap="square" lIns="0" tIns="0" rIns="0" bIns="0" rtlCol="0" anchor="ctr"/>
          <a:lstStyle/>
          <a:p>
            <a:pPr indent="0" marL="0">
              <a:buNone/>
            </a:pPr>
            <a:r>
              <a:rPr lang="en-US" sz="1500" b="1" dirty="0">
                <a:solidFill>
                  <a:schemeClr val="bg1"/>
                </a:solidFill>
              </a:rPr>
              <a:t>blameless</a:t>
            </a:r>
            <a:endParaRPr lang="en-US" sz="1500" dirty="0"/>
          </a:p>
        </p:txBody>
      </p:sp>
      <p:sp>
        <p:nvSpPr>
          <p:cNvPr id="22" name="Text 20"/>
          <p:cNvSpPr txBox="1"/>
          <p:nvPr/>
        </p:nvSpPr>
        <p:spPr>
          <a:xfrm>
            <a:off x="5623560" y="4114800"/>
            <a:ext cx="2011680" cy="585216"/>
          </a:xfrm>
          <a:prstGeom prst="rect">
            <a:avLst/>
          </a:prstGeom>
          <a:noFill/>
          <a:ln/>
        </p:spPr>
        <p:txBody>
          <a:bodyPr wrap="square" lIns="0" tIns="0" rIns="0" bIns="0" rtlCol="0" anchor="ctr"/>
          <a:lstStyle/>
          <a:p>
            <a:pPr indent="0" marL="0">
              <a:buNone/>
            </a:pPr>
            <a:r>
              <a:rPr lang="en-US" sz="1300" b="1" dirty="0">
                <a:solidFill>
                  <a:schemeClr val="accent3"/>
                </a:solidFill>
              </a:rPr>
              <a:t>amōmous</a:t>
            </a:r>
            <a:endParaRPr lang="en-US" sz="1300" dirty="0"/>
          </a:p>
        </p:txBody>
      </p:sp>
      <p:sp>
        <p:nvSpPr>
          <p:cNvPr id="23" name="Text 21"/>
          <p:cNvSpPr txBox="1"/>
          <p:nvPr/>
        </p:nvSpPr>
        <p:spPr>
          <a:xfrm>
            <a:off x="7680960" y="4114800"/>
            <a:ext cx="3931920" cy="585216"/>
          </a:xfrm>
          <a:prstGeom prst="rect">
            <a:avLst/>
          </a:prstGeom>
          <a:noFill/>
          <a:ln/>
        </p:spPr>
        <p:txBody>
          <a:bodyPr wrap="square" lIns="0" tIns="0" rIns="0" bIns="0" rtlCol="0" anchor="ctr"/>
          <a:lstStyle/>
          <a:p>
            <a:pPr indent="0" marL="0">
              <a:buNone/>
            </a:pPr>
            <a:r>
              <a:rPr lang="en-US" sz="1300" dirty="0">
                <a:solidFill>
                  <a:schemeClr val="tx1"/>
                </a:solidFill>
              </a:rPr>
              <a:t>A sacrificial word — without defect (Heb 9:14; 1 Pet 1:19; Col 1:22)</a:t>
            </a:r>
            <a:endParaRPr lang="en-US" sz="1300" dirty="0"/>
          </a:p>
        </p:txBody>
      </p:sp>
      <p:sp>
        <p:nvSpPr>
          <p:cNvPr id="24" name="Shape 22"/>
          <p:cNvSpPr/>
          <p:nvPr/>
        </p:nvSpPr>
        <p:spPr>
          <a:xfrm>
            <a:off x="1920240" y="4800600"/>
            <a:ext cx="3749040" cy="585216"/>
          </a:xfrm>
          <a:prstGeom prst="roundRect">
            <a:avLst>
              <a:gd name="adj" fmla="val 12500"/>
            </a:avLst>
          </a:prstGeom>
          <a:solidFill>
            <a:schemeClr val="accent1"/>
          </a:solidFill>
          <a:ln w="9525">
            <a:solidFill>
              <a:schemeClr val="accent1"/>
            </a:solidFill>
            <a:prstDash val="solid"/>
          </a:ln>
        </p:spPr>
      </p:sp>
      <p:sp>
        <p:nvSpPr>
          <p:cNvPr id="25" name="Text 23"/>
          <p:cNvSpPr txBox="1"/>
          <p:nvPr/>
        </p:nvSpPr>
        <p:spPr>
          <a:xfrm>
            <a:off x="2057400" y="4800600"/>
            <a:ext cx="3520440" cy="585216"/>
          </a:xfrm>
          <a:prstGeom prst="rect">
            <a:avLst/>
          </a:prstGeom>
          <a:noFill/>
          <a:ln/>
        </p:spPr>
        <p:txBody>
          <a:bodyPr wrap="square" lIns="0" tIns="0" rIns="0" bIns="0" rtlCol="0" anchor="ctr"/>
          <a:lstStyle/>
          <a:p>
            <a:pPr indent="0" marL="0">
              <a:buNone/>
            </a:pPr>
            <a:r>
              <a:rPr lang="en-US" sz="1500" b="1" dirty="0">
                <a:solidFill>
                  <a:schemeClr val="bg1"/>
                </a:solidFill>
              </a:rPr>
              <a:t>with great joy</a:t>
            </a:r>
            <a:endParaRPr lang="en-US" sz="1500" dirty="0"/>
          </a:p>
        </p:txBody>
      </p:sp>
      <p:sp>
        <p:nvSpPr>
          <p:cNvPr id="26" name="Text 24"/>
          <p:cNvSpPr txBox="1"/>
          <p:nvPr/>
        </p:nvSpPr>
        <p:spPr>
          <a:xfrm>
            <a:off x="5897880" y="4800600"/>
            <a:ext cx="2011680" cy="585216"/>
          </a:xfrm>
          <a:prstGeom prst="rect">
            <a:avLst/>
          </a:prstGeom>
          <a:noFill/>
          <a:ln/>
        </p:spPr>
        <p:txBody>
          <a:bodyPr wrap="square" lIns="0" tIns="0" rIns="0" bIns="0" rtlCol="0" anchor="ctr"/>
          <a:lstStyle/>
          <a:p>
            <a:pPr indent="0" marL="0">
              <a:buNone/>
            </a:pPr>
            <a:r>
              <a:rPr lang="en-US" sz="1300" b="1" dirty="0">
                <a:solidFill>
                  <a:schemeClr val="accent3"/>
                </a:solidFill>
              </a:rPr>
              <a:t>en agalliasei</a:t>
            </a:r>
            <a:endParaRPr lang="en-US" sz="1300" dirty="0"/>
          </a:p>
        </p:txBody>
      </p:sp>
      <p:sp>
        <p:nvSpPr>
          <p:cNvPr id="27" name="Text 25"/>
          <p:cNvSpPr txBox="1"/>
          <p:nvPr/>
        </p:nvSpPr>
        <p:spPr>
          <a:xfrm>
            <a:off x="7955280" y="4800600"/>
            <a:ext cx="3657600" cy="585216"/>
          </a:xfrm>
          <a:prstGeom prst="rect">
            <a:avLst/>
          </a:prstGeom>
          <a:noFill/>
          <a:ln/>
        </p:spPr>
        <p:txBody>
          <a:bodyPr wrap="square" lIns="0" tIns="0" rIns="0" bIns="0" rtlCol="0" anchor="ctr"/>
          <a:lstStyle/>
          <a:p>
            <a:pPr indent="0" marL="0">
              <a:buNone/>
            </a:pPr>
            <a:r>
              <a:rPr lang="en-US" sz="1300" dirty="0">
                <a:solidFill>
                  <a:schemeClr val="tx1"/>
                </a:solidFill>
              </a:rPr>
              <a:t>Exultant gladness — ours and His (Heb 12:2; Zeph 3:17)</a:t>
            </a:r>
            <a:endParaRPr lang="en-US" sz="1300" dirty="0"/>
          </a:p>
        </p:txBody>
      </p:sp>
      <p:sp>
        <p:nvSpPr>
          <p:cNvPr id="28" name="Shape 26"/>
          <p:cNvSpPr/>
          <p:nvPr/>
        </p:nvSpPr>
        <p:spPr>
          <a:xfrm>
            <a:off x="548640" y="5623560"/>
            <a:ext cx="11064240" cy="640080"/>
          </a:xfrm>
          <a:prstGeom prst="roundRect">
            <a:avLst>
              <a:gd name="adj" fmla="val 11429"/>
            </a:avLst>
          </a:prstGeom>
          <a:solidFill>
            <a:schemeClr val="tx2"/>
          </a:solidFill>
          <a:ln w="9525">
            <a:solidFill>
              <a:schemeClr val="tx2"/>
            </a:solidFill>
            <a:prstDash val="solid"/>
          </a:ln>
        </p:spPr>
      </p:sp>
      <p:sp>
        <p:nvSpPr>
          <p:cNvPr id="29" name="Text 27"/>
          <p:cNvSpPr txBox="1"/>
          <p:nvPr/>
        </p:nvSpPr>
        <p:spPr>
          <a:xfrm>
            <a:off x="777240" y="5623560"/>
            <a:ext cx="10607040" cy="640080"/>
          </a:xfrm>
          <a:prstGeom prst="rect">
            <a:avLst/>
          </a:prstGeom>
          <a:noFill/>
          <a:ln/>
        </p:spPr>
        <p:txBody>
          <a:bodyPr wrap="square" lIns="0" tIns="0" rIns="0" bIns="0" rtlCol="0" anchor="ctr"/>
          <a:lstStyle/>
          <a:p>
            <a:pPr indent="0" marL="0">
              <a:buNone/>
            </a:pPr>
            <a:r>
              <a:rPr lang="en-US" sz="1500" dirty="0">
                <a:solidFill>
                  <a:schemeClr val="bg1"/>
                </a:solidFill>
              </a:rPr>
              <a:t>After twenty-three verses of warnings, Jude's answer to "Will I be led astray?" is not "Try harder." It is "God is able to guard you."</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Stained or blameless</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The contrast Jude draws with one word family</a:t>
            </a:r>
            <a:endParaRPr lang="en-US" sz="1400" dirty="0"/>
          </a:p>
        </p:txBody>
      </p:sp>
      <p:sp>
        <p:nvSpPr>
          <p:cNvPr id="4" name="Shape 2"/>
          <p:cNvSpPr/>
          <p:nvPr/>
        </p:nvSpPr>
        <p:spPr>
          <a:xfrm>
            <a:off x="548640" y="1417320"/>
            <a:ext cx="5440680" cy="548640"/>
          </a:xfrm>
          <a:prstGeom prst="rect">
            <a:avLst/>
          </a:prstGeom>
          <a:solidFill>
            <a:schemeClr val="accent4"/>
          </a:solidFill>
          <a:ln w="9525">
            <a:solidFill>
              <a:schemeClr val="accent4"/>
            </a:solidFill>
            <a:prstDash val="solid"/>
          </a:ln>
        </p:spPr>
      </p:sp>
      <p:sp>
        <p:nvSpPr>
          <p:cNvPr id="5" name="Text 3"/>
          <p:cNvSpPr txBox="1"/>
          <p:nvPr/>
        </p:nvSpPr>
        <p:spPr>
          <a:xfrm>
            <a:off x="731520" y="1417320"/>
            <a:ext cx="5120640" cy="548640"/>
          </a:xfrm>
          <a:prstGeom prst="rect">
            <a:avLst/>
          </a:prstGeom>
          <a:noFill/>
          <a:ln/>
        </p:spPr>
        <p:txBody>
          <a:bodyPr wrap="square" lIns="0" tIns="0" rIns="0" bIns="0" rtlCol="0" anchor="ctr"/>
          <a:lstStyle/>
          <a:p>
            <a:pPr indent="0" marL="0">
              <a:buNone/>
            </a:pPr>
            <a:r>
              <a:rPr lang="en-US" sz="1800" b="1" dirty="0">
                <a:solidFill>
                  <a:schemeClr val="bg1"/>
                </a:solidFill>
              </a:rPr>
              <a:t>The intruders</a:t>
            </a:r>
            <a:endParaRPr lang="en-US" sz="1800" dirty="0"/>
          </a:p>
        </p:txBody>
      </p:sp>
      <p:sp>
        <p:nvSpPr>
          <p:cNvPr id="6" name="Shape 4"/>
          <p:cNvSpPr/>
          <p:nvPr/>
        </p:nvSpPr>
        <p:spPr>
          <a:xfrm>
            <a:off x="548640" y="1965960"/>
            <a:ext cx="5440680" cy="1143000"/>
          </a:xfrm>
          <a:prstGeom prst="rect">
            <a:avLst/>
          </a:prstGeom>
          <a:solidFill>
            <a:schemeClr val="bg2"/>
          </a:solidFill>
          <a:ln w="9525">
            <a:solidFill>
              <a:srgbClr val="D5DCEA"/>
            </a:solidFill>
            <a:prstDash val="solid"/>
          </a:ln>
        </p:spPr>
      </p:sp>
      <p:sp>
        <p:nvSpPr>
          <p:cNvPr id="7" name="Text 5"/>
          <p:cNvSpPr txBox="1"/>
          <p:nvPr/>
        </p:nvSpPr>
        <p:spPr>
          <a:xfrm>
            <a:off x="731520" y="1965960"/>
            <a:ext cx="5120640" cy="1143000"/>
          </a:xfrm>
          <a:prstGeom prst="rect">
            <a:avLst/>
          </a:prstGeom>
          <a:noFill/>
          <a:ln/>
        </p:spPr>
        <p:txBody>
          <a:bodyPr wrap="square" lIns="0" tIns="0" rIns="0" bIns="0" rtlCol="0" anchor="ctr"/>
          <a:lstStyle/>
          <a:p>
            <a:pPr indent="0" marL="0">
              <a:buNone/>
            </a:pPr>
            <a:r>
              <a:rPr lang="en-US" sz="1400" b="1" dirty="0">
                <a:solidFill>
                  <a:schemeClr val="accent3"/>
                </a:solidFill>
              </a:rPr>
              <a:t>v.12  </a:t>
            </a:r>
            <a:pPr indent="0" marL="0">
              <a:buNone/>
            </a:pPr>
            <a:r>
              <a:rPr lang="en-US" sz="1400" dirty="0">
                <a:solidFill>
                  <a:schemeClr val="tx1"/>
                </a:solidFill>
              </a:rPr>
              <a:t>"hidden reefs" — spilades (or "stains")</a:t>
            </a:r>
            <a:endParaRPr lang="en-US" sz="1400" dirty="0"/>
          </a:p>
        </p:txBody>
      </p:sp>
      <p:sp>
        <p:nvSpPr>
          <p:cNvPr id="8" name="Shape 6"/>
          <p:cNvSpPr/>
          <p:nvPr/>
        </p:nvSpPr>
        <p:spPr>
          <a:xfrm>
            <a:off x="548640" y="3108960"/>
            <a:ext cx="5440680" cy="1143000"/>
          </a:xfrm>
          <a:prstGeom prst="rect">
            <a:avLst/>
          </a:prstGeom>
          <a:solidFill>
            <a:schemeClr val="bg1"/>
          </a:solidFill>
          <a:ln w="9525">
            <a:solidFill>
              <a:srgbClr val="D5DCEA"/>
            </a:solidFill>
            <a:prstDash val="solid"/>
          </a:ln>
        </p:spPr>
      </p:sp>
      <p:sp>
        <p:nvSpPr>
          <p:cNvPr id="9" name="Text 7"/>
          <p:cNvSpPr txBox="1"/>
          <p:nvPr/>
        </p:nvSpPr>
        <p:spPr>
          <a:xfrm>
            <a:off x="731520" y="3108960"/>
            <a:ext cx="5120640" cy="1143000"/>
          </a:xfrm>
          <a:prstGeom prst="rect">
            <a:avLst/>
          </a:prstGeom>
          <a:noFill/>
          <a:ln/>
        </p:spPr>
        <p:txBody>
          <a:bodyPr wrap="square" lIns="0" tIns="0" rIns="0" bIns="0" rtlCol="0" anchor="ctr"/>
          <a:lstStyle/>
          <a:p>
            <a:pPr indent="0" marL="0">
              <a:buNone/>
            </a:pPr>
            <a:r>
              <a:rPr lang="en-US" sz="1400" b="1" dirty="0">
                <a:solidFill>
                  <a:schemeClr val="accent3"/>
                </a:solidFill>
              </a:rPr>
              <a:t>v.23  </a:t>
            </a:r>
            <a:pPr indent="0" marL="0">
              <a:buNone/>
            </a:pPr>
            <a:r>
              <a:rPr lang="en-US" sz="1400" dirty="0">
                <a:solidFill>
                  <a:schemeClr val="tx1"/>
                </a:solidFill>
              </a:rPr>
              <a:t>"the garment polluted" — espilōmenon, stained and remaining stained</a:t>
            </a:r>
            <a:endParaRPr lang="en-US" sz="1400" dirty="0"/>
          </a:p>
        </p:txBody>
      </p:sp>
      <p:sp>
        <p:nvSpPr>
          <p:cNvPr id="10" name="Shape 8"/>
          <p:cNvSpPr/>
          <p:nvPr/>
        </p:nvSpPr>
        <p:spPr>
          <a:xfrm>
            <a:off x="6172200" y="1417320"/>
            <a:ext cx="5440680" cy="548640"/>
          </a:xfrm>
          <a:prstGeom prst="rect">
            <a:avLst/>
          </a:prstGeom>
          <a:solidFill>
            <a:schemeClr val="accent1"/>
          </a:solidFill>
          <a:ln w="9525">
            <a:solidFill>
              <a:schemeClr val="accent1"/>
            </a:solidFill>
            <a:prstDash val="solid"/>
          </a:ln>
        </p:spPr>
      </p:sp>
      <p:sp>
        <p:nvSpPr>
          <p:cNvPr id="11" name="Text 9"/>
          <p:cNvSpPr txBox="1"/>
          <p:nvPr/>
        </p:nvSpPr>
        <p:spPr>
          <a:xfrm>
            <a:off x="6355080" y="1417320"/>
            <a:ext cx="5120640" cy="548640"/>
          </a:xfrm>
          <a:prstGeom prst="rect">
            <a:avLst/>
          </a:prstGeom>
          <a:noFill/>
          <a:ln/>
        </p:spPr>
        <p:txBody>
          <a:bodyPr wrap="square" lIns="0" tIns="0" rIns="0" bIns="0" rtlCol="0" anchor="ctr"/>
          <a:lstStyle/>
          <a:p>
            <a:pPr indent="0" marL="0">
              <a:buNone/>
            </a:pPr>
            <a:r>
              <a:rPr lang="en-US" sz="1800" b="1" dirty="0">
                <a:solidFill>
                  <a:schemeClr val="bg1"/>
                </a:solidFill>
              </a:rPr>
              <a:t>The believers</a:t>
            </a:r>
            <a:endParaRPr lang="en-US" sz="1800" dirty="0"/>
          </a:p>
        </p:txBody>
      </p:sp>
      <p:sp>
        <p:nvSpPr>
          <p:cNvPr id="12" name="Shape 10"/>
          <p:cNvSpPr/>
          <p:nvPr/>
        </p:nvSpPr>
        <p:spPr>
          <a:xfrm>
            <a:off x="6172200" y="1965960"/>
            <a:ext cx="5440680" cy="1143000"/>
          </a:xfrm>
          <a:prstGeom prst="rect">
            <a:avLst/>
          </a:prstGeom>
          <a:solidFill>
            <a:schemeClr val="bg2"/>
          </a:solidFill>
          <a:ln w="9525">
            <a:solidFill>
              <a:srgbClr val="D5DCEA"/>
            </a:solidFill>
            <a:prstDash val="solid"/>
          </a:ln>
        </p:spPr>
      </p:sp>
      <p:sp>
        <p:nvSpPr>
          <p:cNvPr id="13" name="Text 11"/>
          <p:cNvSpPr txBox="1"/>
          <p:nvPr/>
        </p:nvSpPr>
        <p:spPr>
          <a:xfrm>
            <a:off x="6355080" y="1965960"/>
            <a:ext cx="5120640" cy="1143000"/>
          </a:xfrm>
          <a:prstGeom prst="rect">
            <a:avLst/>
          </a:prstGeom>
          <a:noFill/>
          <a:ln/>
        </p:spPr>
        <p:txBody>
          <a:bodyPr wrap="square" lIns="0" tIns="0" rIns="0" bIns="0" rtlCol="0" anchor="ctr"/>
          <a:lstStyle/>
          <a:p>
            <a:pPr indent="0" marL="0">
              <a:buNone/>
            </a:pPr>
            <a:r>
              <a:rPr lang="en-US" sz="1400" b="1" dirty="0">
                <a:solidFill>
                  <a:schemeClr val="accent3"/>
                </a:solidFill>
              </a:rPr>
              <a:t>v.24  </a:t>
            </a:r>
            <a:pPr indent="0" marL="0">
              <a:buNone/>
            </a:pPr>
            <a:r>
              <a:rPr lang="en-US" sz="1400" dirty="0">
                <a:solidFill>
                  <a:schemeClr val="tx1"/>
                </a:solidFill>
              </a:rPr>
              <a:t>"blameless" — amōmous, without blemish</a:t>
            </a:r>
            <a:endParaRPr lang="en-US" sz="1400" dirty="0"/>
          </a:p>
        </p:txBody>
      </p:sp>
      <p:sp>
        <p:nvSpPr>
          <p:cNvPr id="14" name="Shape 12"/>
          <p:cNvSpPr/>
          <p:nvPr/>
        </p:nvSpPr>
        <p:spPr>
          <a:xfrm>
            <a:off x="6172200" y="3108960"/>
            <a:ext cx="5440680" cy="1143000"/>
          </a:xfrm>
          <a:prstGeom prst="rect">
            <a:avLst/>
          </a:prstGeom>
          <a:solidFill>
            <a:schemeClr val="bg1"/>
          </a:solidFill>
          <a:ln w="9525">
            <a:solidFill>
              <a:srgbClr val="D5DCEA"/>
            </a:solidFill>
            <a:prstDash val="solid"/>
          </a:ln>
        </p:spPr>
      </p:sp>
      <p:sp>
        <p:nvSpPr>
          <p:cNvPr id="15" name="Text 13"/>
          <p:cNvSpPr txBox="1"/>
          <p:nvPr/>
        </p:nvSpPr>
        <p:spPr>
          <a:xfrm>
            <a:off x="6355080" y="3108960"/>
            <a:ext cx="5120640" cy="1143000"/>
          </a:xfrm>
          <a:prstGeom prst="rect">
            <a:avLst/>
          </a:prstGeom>
          <a:noFill/>
          <a:ln/>
        </p:spPr>
        <p:txBody>
          <a:bodyPr wrap="square" lIns="0" tIns="0" rIns="0" bIns="0" rtlCol="0" anchor="ctr"/>
          <a:lstStyle/>
          <a:p>
            <a:pPr indent="0" marL="0">
              <a:buNone/>
            </a:pPr>
            <a:r>
              <a:rPr lang="en-US" sz="1400" b="1" dirty="0">
                <a:solidFill>
                  <a:schemeClr val="accent3"/>
                </a:solidFill>
              </a:rPr>
              <a:t>How?  </a:t>
            </a:r>
            <a:pPr indent="0" marL="0">
              <a:buNone/>
            </a:pPr>
            <a:r>
              <a:rPr lang="en-US" sz="1400" dirty="0">
                <a:solidFill>
                  <a:schemeClr val="tx1"/>
                </a:solidFill>
              </a:rPr>
              <a:t>Christ's righteousness, credited the moment one believes (Rom 4:5; 2 Cor 5:21; Col 1:22)</a:t>
            </a:r>
            <a:endParaRPr lang="en-US" sz="1400" dirty="0"/>
          </a:p>
        </p:txBody>
      </p:sp>
      <p:sp>
        <p:nvSpPr>
          <p:cNvPr id="16" name="Shape 14"/>
          <p:cNvSpPr/>
          <p:nvPr/>
        </p:nvSpPr>
        <p:spPr>
          <a:xfrm>
            <a:off x="548640" y="4480560"/>
            <a:ext cx="11064240" cy="1051560"/>
          </a:xfrm>
          <a:prstGeom prst="roundRect">
            <a:avLst>
              <a:gd name="adj" fmla="val 6957"/>
            </a:avLst>
          </a:prstGeom>
          <a:solidFill>
            <a:schemeClr val="tx2"/>
          </a:solidFill>
          <a:ln w="9525">
            <a:solidFill>
              <a:schemeClr val="tx2"/>
            </a:solidFill>
            <a:prstDash val="solid"/>
          </a:ln>
        </p:spPr>
      </p:sp>
      <p:sp>
        <p:nvSpPr>
          <p:cNvPr id="17" name="Text 15"/>
          <p:cNvSpPr txBox="1"/>
          <p:nvPr/>
        </p:nvSpPr>
        <p:spPr>
          <a:xfrm>
            <a:off x="777240" y="4480560"/>
            <a:ext cx="10607040" cy="1051560"/>
          </a:xfrm>
          <a:prstGeom prst="rect">
            <a:avLst/>
          </a:prstGeom>
          <a:noFill/>
          <a:ln/>
        </p:spPr>
        <p:txBody>
          <a:bodyPr wrap="square" lIns="0" tIns="0" rIns="0" bIns="0" rtlCol="0" anchor="ctr"/>
          <a:lstStyle/>
          <a:p>
            <a:pPr indent="0" marL="0">
              <a:buNone/>
            </a:pPr>
            <a:r>
              <a:rPr lang="en-US" sz="1500" dirty="0">
                <a:solidFill>
                  <a:schemeClr val="bg1"/>
                </a:solidFill>
              </a:rPr>
              <a:t>Believers will appear at the Judgment Seat of Christ, where works are evaluated and rewards given or lost (2 Cor 5:10; 1 Cor 3:12–15). That evaluation concerns reward, not acceptance. Every believer will stand blameless in Christ.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What belongs to God</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v.25 · four ascriptions answer the intruders' challenge</a:t>
            </a:r>
            <a:endParaRPr lang="en-US" sz="14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737360"/>
                <a:gridCol w="1828800"/>
                <a:gridCol w="4023360"/>
                <a:gridCol w="3474720"/>
              </a:tblGrid>
              <a:tr h="457200">
                <a:tc>
                  <a:txBody>
                    <a:bodyPr/>
                    <a:lstStyle/>
                    <a:p>
                      <a:pPr indent="0" marL="0">
                        <a:buNone/>
                      </a:pPr>
                      <a:r>
                        <a:rPr lang="en-US" sz="1400" b="1" dirty="0">
                          <a:solidFill>
                            <a:schemeClr val="bg1"/>
                          </a:solidFill>
                          <a:latin typeface="Arial" pitchFamily="34" charset="0"/>
                          <a:ea typeface="Arial" pitchFamily="34" charset="-122"/>
                          <a:cs typeface="Arial" pitchFamily="34" charset="-120"/>
                        </a:rPr>
                        <a:t>Ascription</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Greek</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Meaning</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What the intruders challenged</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731520">
                <a:tc>
                  <a:txBody>
                    <a:bodyPr/>
                    <a:lstStyle/>
                    <a:p>
                      <a:pPr indent="0" marL="0">
                        <a:buNone/>
                      </a:pPr>
                      <a:r>
                        <a:rPr lang="en-US" sz="1300" b="1" dirty="0">
                          <a:solidFill>
                            <a:schemeClr val="tx2"/>
                          </a:solidFill>
                          <a:latin typeface="Arial" pitchFamily="34" charset="0"/>
                          <a:ea typeface="Arial" pitchFamily="34" charset="-122"/>
                          <a:cs typeface="Arial" pitchFamily="34" charset="-120"/>
                        </a:rPr>
                        <a:t>Glory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doxa</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 radiance of His character, the weight of His worth</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731520">
                <a:tc>
                  <a:txBody>
                    <a:bodyPr/>
                    <a:lstStyle/>
                    <a:p>
                      <a:pPr indent="0" marL="0">
                        <a:buNone/>
                      </a:pPr>
                      <a:r>
                        <a:rPr lang="en-US" sz="1300" b="1" dirty="0">
                          <a:solidFill>
                            <a:schemeClr val="tx2"/>
                          </a:solidFill>
                          <a:latin typeface="Arial" pitchFamily="34" charset="0"/>
                          <a:ea typeface="Arial" pitchFamily="34" charset="-122"/>
                          <a:cs typeface="Arial" pitchFamily="34" charset="-120"/>
                        </a:rPr>
                        <a:t>Majesty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megalōsynē</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Transcendent greatness — "the Majesty on high" (Heb 1:3; 8:1)</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731520">
                <a:tc>
                  <a:txBody>
                    <a:bodyPr/>
                    <a:lstStyle/>
                    <a:p>
                      <a:pPr indent="0" marL="0">
                        <a:buNone/>
                      </a:pPr>
                      <a:r>
                        <a:rPr lang="en-US" sz="1300" b="1" dirty="0">
                          <a:solidFill>
                            <a:schemeClr val="tx2"/>
                          </a:solidFill>
                          <a:latin typeface="Arial" pitchFamily="34" charset="0"/>
                          <a:ea typeface="Arial" pitchFamily="34" charset="-122"/>
                          <a:cs typeface="Arial" pitchFamily="34" charset="-120"/>
                        </a:rPr>
                        <a:t>Dominion</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kratos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Sovereign might, the power that prevails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They acted as if they could live outside God's rule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731520">
                <a:tc>
                  <a:txBody>
                    <a:bodyPr/>
                    <a:lstStyle/>
                    <a:p>
                      <a:pPr indent="0" marL="0">
                        <a:buNone/>
                      </a:pPr>
                      <a:r>
                        <a:rPr lang="en-US" sz="1300" b="1" dirty="0">
                          <a:solidFill>
                            <a:schemeClr val="tx2"/>
                          </a:solidFill>
                          <a:latin typeface="Arial" pitchFamily="34" charset="0"/>
                          <a:ea typeface="Arial" pitchFamily="34" charset="-122"/>
                          <a:cs typeface="Arial" pitchFamily="34" charset="-120"/>
                        </a:rPr>
                        <a:t>Authority</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exousia</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His rightful claim to rule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They "reject authority" (v.8) and deny "our only Master" (v.4)</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bl>
          </a:graphicData>
        </a:graphic>
      </p:graphicFrame>
      <p:sp>
        <p:nvSpPr>
          <p:cNvPr id="5" name="Shape 2"/>
          <p:cNvSpPr/>
          <p:nvPr/>
        </p:nvSpPr>
        <p:spPr>
          <a:xfrm>
            <a:off x="548640" y="4983480"/>
            <a:ext cx="3566160" cy="685800"/>
          </a:xfrm>
          <a:prstGeom prst="roundRect">
            <a:avLst>
              <a:gd name="adj" fmla="val 10667"/>
            </a:avLst>
          </a:prstGeom>
          <a:solidFill>
            <a:schemeClr val="accent1"/>
          </a:solidFill>
          <a:ln w="9525">
            <a:solidFill>
              <a:schemeClr val="accent1"/>
            </a:solidFill>
            <a:prstDash val="solid"/>
          </a:ln>
        </p:spPr>
      </p:sp>
      <p:sp>
        <p:nvSpPr>
          <p:cNvPr id="6" name="Text 3"/>
          <p:cNvSpPr txBox="1"/>
          <p:nvPr/>
        </p:nvSpPr>
        <p:spPr>
          <a:xfrm>
            <a:off x="548640" y="4983480"/>
            <a:ext cx="3566160" cy="685800"/>
          </a:xfrm>
          <a:prstGeom prst="rect">
            <a:avLst/>
          </a:prstGeom>
          <a:noFill/>
          <a:ln/>
        </p:spPr>
        <p:txBody>
          <a:bodyPr wrap="square" lIns="0" tIns="0" rIns="0" bIns="0" rtlCol="0" anchor="ctr"/>
          <a:lstStyle/>
          <a:p>
            <a:pPr algn="ctr" indent="0" marL="0">
              <a:buNone/>
            </a:pPr>
            <a:r>
              <a:rPr lang="en-US" sz="1800" b="1" dirty="0">
                <a:solidFill>
                  <a:schemeClr val="bg1"/>
                </a:solidFill>
              </a:rPr>
              <a:t>before all time</a:t>
            </a:r>
            <a:endParaRPr lang="en-US" sz="1800" dirty="0"/>
          </a:p>
        </p:txBody>
      </p:sp>
      <p:sp>
        <p:nvSpPr>
          <p:cNvPr id="7" name="Shape 4"/>
          <p:cNvSpPr/>
          <p:nvPr/>
        </p:nvSpPr>
        <p:spPr>
          <a:xfrm>
            <a:off x="4297680" y="4983480"/>
            <a:ext cx="3566160" cy="685800"/>
          </a:xfrm>
          <a:prstGeom prst="roundRect">
            <a:avLst>
              <a:gd name="adj" fmla="val 10667"/>
            </a:avLst>
          </a:prstGeom>
          <a:solidFill>
            <a:schemeClr val="accent1"/>
          </a:solidFill>
          <a:ln w="9525">
            <a:solidFill>
              <a:schemeClr val="accent1"/>
            </a:solidFill>
            <a:prstDash val="solid"/>
          </a:ln>
        </p:spPr>
      </p:sp>
      <p:sp>
        <p:nvSpPr>
          <p:cNvPr id="8" name="Text 5"/>
          <p:cNvSpPr txBox="1"/>
          <p:nvPr/>
        </p:nvSpPr>
        <p:spPr>
          <a:xfrm>
            <a:off x="4297680" y="4983480"/>
            <a:ext cx="3566160" cy="685800"/>
          </a:xfrm>
          <a:prstGeom prst="rect">
            <a:avLst/>
          </a:prstGeom>
          <a:noFill/>
          <a:ln/>
        </p:spPr>
        <p:txBody>
          <a:bodyPr wrap="square" lIns="0" tIns="0" rIns="0" bIns="0" rtlCol="0" anchor="ctr"/>
          <a:lstStyle/>
          <a:p>
            <a:pPr algn="ctr" indent="0" marL="0">
              <a:buNone/>
            </a:pPr>
            <a:r>
              <a:rPr lang="en-US" sz="1800" b="1" dirty="0">
                <a:solidFill>
                  <a:schemeClr val="bg1"/>
                </a:solidFill>
              </a:rPr>
              <a:t>now</a:t>
            </a:r>
            <a:endParaRPr lang="en-US" sz="1800" dirty="0"/>
          </a:p>
        </p:txBody>
      </p:sp>
      <p:sp>
        <p:nvSpPr>
          <p:cNvPr id="9" name="Shape 6"/>
          <p:cNvSpPr/>
          <p:nvPr/>
        </p:nvSpPr>
        <p:spPr>
          <a:xfrm>
            <a:off x="8046720" y="4983480"/>
            <a:ext cx="3566160" cy="685800"/>
          </a:xfrm>
          <a:prstGeom prst="roundRect">
            <a:avLst>
              <a:gd name="adj" fmla="val 10667"/>
            </a:avLst>
          </a:prstGeom>
          <a:solidFill>
            <a:schemeClr val="accent1"/>
          </a:solidFill>
          <a:ln w="9525">
            <a:solidFill>
              <a:schemeClr val="accent1"/>
            </a:solidFill>
            <a:prstDash val="solid"/>
          </a:ln>
        </p:spPr>
      </p:sp>
      <p:sp>
        <p:nvSpPr>
          <p:cNvPr id="10" name="Text 7"/>
          <p:cNvSpPr txBox="1"/>
          <p:nvPr/>
        </p:nvSpPr>
        <p:spPr>
          <a:xfrm>
            <a:off x="8046720" y="4983480"/>
            <a:ext cx="3566160" cy="685800"/>
          </a:xfrm>
          <a:prstGeom prst="rect">
            <a:avLst/>
          </a:prstGeom>
          <a:noFill/>
          <a:ln/>
        </p:spPr>
        <p:txBody>
          <a:bodyPr wrap="square" lIns="0" tIns="0" rIns="0" bIns="0" rtlCol="0" anchor="ctr"/>
          <a:lstStyle/>
          <a:p>
            <a:pPr algn="ctr" indent="0" marL="0">
              <a:buNone/>
            </a:pPr>
            <a:r>
              <a:rPr lang="en-US" sz="1800" b="1" dirty="0">
                <a:solidFill>
                  <a:schemeClr val="bg1"/>
                </a:solidFill>
              </a:rPr>
              <a:t>forever</a:t>
            </a:r>
            <a:endParaRPr lang="en-US" sz="1800" dirty="0"/>
          </a:p>
        </p:txBody>
      </p:sp>
      <p:sp>
        <p:nvSpPr>
          <p:cNvPr id="11" name="Text 8"/>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300" i="1" dirty="0">
                <a:solidFill>
                  <a:schemeClr val="accent4"/>
                </a:solidFill>
              </a:rPr>
              <a:t>"The false teachers had their moment. God has eternity." — Study 6</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What God's power guarantees</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Reformed and Free Grace readings of v.24</a:t>
            </a:r>
            <a:endParaRPr lang="en-US" sz="1400" dirty="0"/>
          </a:p>
        </p:txBody>
      </p:sp>
      <p:sp>
        <p:nvSpPr>
          <p:cNvPr id="4" name="Shape 2"/>
          <p:cNvSpPr/>
          <p:nvPr/>
        </p:nvSpPr>
        <p:spPr>
          <a:xfrm>
            <a:off x="548640" y="1371600"/>
            <a:ext cx="11064240" cy="566928"/>
          </a:xfrm>
          <a:prstGeom prst="roundRect">
            <a:avLst>
              <a:gd name="adj" fmla="val 12903"/>
            </a:avLst>
          </a:prstGeom>
          <a:solidFill>
            <a:schemeClr val="accent6"/>
          </a:solidFill>
          <a:ln w="9525">
            <a:solidFill>
              <a:srgbClr val="C9D8C0"/>
            </a:solidFill>
            <a:prstDash val="solid"/>
          </a:ln>
        </p:spPr>
      </p:sp>
      <p:sp>
        <p:nvSpPr>
          <p:cNvPr id="5" name="Text 3"/>
          <p:cNvSpPr txBox="1"/>
          <p:nvPr/>
        </p:nvSpPr>
        <p:spPr>
          <a:xfrm>
            <a:off x="731520" y="1371600"/>
            <a:ext cx="10698480" cy="566928"/>
          </a:xfrm>
          <a:prstGeom prst="rect">
            <a:avLst/>
          </a:prstGeom>
          <a:noFill/>
          <a:ln/>
        </p:spPr>
        <p:txBody>
          <a:bodyPr wrap="square" lIns="0" tIns="0" rIns="0" bIns="0" rtlCol="0" anchor="ctr"/>
          <a:lstStyle/>
          <a:p>
            <a:pPr indent="0" marL="0">
              <a:buNone/>
            </a:pPr>
            <a:r>
              <a:rPr lang="en-US" sz="1400" b="1" dirty="0">
                <a:solidFill>
                  <a:schemeClr val="accent2"/>
                </a:solidFill>
              </a:rPr>
              <a:t>Agreement  </a:t>
            </a:r>
            <a:pPr indent="0" marL="0">
              <a:buNone/>
            </a:pPr>
            <a:r>
              <a:rPr lang="en-US" sz="1400" dirty="0">
                <a:solidFill>
                  <a:schemeClr val="tx1"/>
                </a:solidFill>
              </a:rPr>
              <a:t>The believer's security is grounded in the power of God, not human strength (Murray; Canons of Dort; Schreiner).</a:t>
            </a:r>
            <a:endParaRPr lang="en-US" sz="1400" dirty="0"/>
          </a:p>
        </p:txBody>
      </p:sp>
      <p:sp>
        <p:nvSpPr>
          <p:cNvPr id="6" name="Shape 4"/>
          <p:cNvSpPr/>
          <p:nvPr/>
        </p:nvSpPr>
        <p:spPr>
          <a:xfrm>
            <a:off x="548640" y="2084832"/>
            <a:ext cx="5440680" cy="457200"/>
          </a:xfrm>
          <a:prstGeom prst="rect">
            <a:avLst/>
          </a:prstGeom>
          <a:solidFill>
            <a:schemeClr val="accent4"/>
          </a:solidFill>
          <a:ln w="9525">
            <a:solidFill>
              <a:schemeClr val="accent4"/>
            </a:solidFill>
            <a:prstDash val="solid"/>
          </a:ln>
        </p:spPr>
      </p:sp>
      <p:sp>
        <p:nvSpPr>
          <p:cNvPr id="7" name="Text 5"/>
          <p:cNvSpPr txBox="1"/>
          <p:nvPr/>
        </p:nvSpPr>
        <p:spPr>
          <a:xfrm>
            <a:off x="731520" y="2084832"/>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Reformed (counterpoint)</a:t>
            </a:r>
            <a:endParaRPr lang="en-US" sz="1500" dirty="0"/>
          </a:p>
        </p:txBody>
      </p:sp>
      <p:sp>
        <p:nvSpPr>
          <p:cNvPr id="8" name="Shape 6"/>
          <p:cNvSpPr/>
          <p:nvPr/>
        </p:nvSpPr>
        <p:spPr>
          <a:xfrm>
            <a:off x="548640" y="2542032"/>
            <a:ext cx="5440680" cy="1801368"/>
          </a:xfrm>
          <a:prstGeom prst="rect">
            <a:avLst/>
          </a:prstGeom>
          <a:solidFill>
            <a:schemeClr val="bg2"/>
          </a:solidFill>
          <a:ln w="9525">
            <a:solidFill>
              <a:srgbClr val="D5DCEA"/>
            </a:solidFill>
            <a:prstDash val="solid"/>
          </a:ln>
        </p:spPr>
      </p:sp>
      <p:sp>
        <p:nvSpPr>
          <p:cNvPr id="9" name="Text 7"/>
          <p:cNvSpPr txBox="1"/>
          <p:nvPr/>
        </p:nvSpPr>
        <p:spPr>
          <a:xfrm>
            <a:off x="731520" y="265176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God's keeping power infallibly ensures that every true believer perseveres in faith and holiness to the end</a:t>
            </a:r>
            <a:endParaRPr lang="en-US" sz="1400" dirty="0"/>
          </a:p>
          <a:p>
            <a:pPr marL="342900" indent="-342900">
              <a:spcAft>
                <a:spcPts val="600"/>
              </a:spcAft>
              <a:buSzPct val="100000"/>
              <a:buChar char="•"/>
            </a:pPr>
            <a:r>
              <a:rPr lang="en-US" sz="1400" dirty="0">
                <a:solidFill>
                  <a:schemeClr val="tx1"/>
                </a:solidFill>
              </a:rPr>
              <a:t>Perseverance therefore becomes the evidence of genuine faith</a:t>
            </a:r>
            <a:endParaRPr lang="en-US" sz="1400" dirty="0"/>
          </a:p>
        </p:txBody>
      </p:sp>
      <p:sp>
        <p:nvSpPr>
          <p:cNvPr id="10" name="Shape 8"/>
          <p:cNvSpPr/>
          <p:nvPr/>
        </p:nvSpPr>
        <p:spPr>
          <a:xfrm>
            <a:off x="6172200" y="2084832"/>
            <a:ext cx="5440680" cy="457200"/>
          </a:xfrm>
          <a:prstGeom prst="rect">
            <a:avLst/>
          </a:prstGeom>
          <a:solidFill>
            <a:schemeClr val="accent1"/>
          </a:solidFill>
          <a:ln w="9525">
            <a:solidFill>
              <a:schemeClr val="accent1"/>
            </a:solidFill>
            <a:prstDash val="solid"/>
          </a:ln>
        </p:spPr>
      </p:sp>
      <p:sp>
        <p:nvSpPr>
          <p:cNvPr id="11" name="Text 9"/>
          <p:cNvSpPr txBox="1"/>
          <p:nvPr/>
        </p:nvSpPr>
        <p:spPr>
          <a:xfrm>
            <a:off x="6355080" y="2084832"/>
            <a:ext cx="5120640" cy="457200"/>
          </a:xfrm>
          <a:prstGeom prst="rect">
            <a:avLst/>
          </a:prstGeom>
          <a:noFill/>
          <a:ln/>
        </p:spPr>
        <p:txBody>
          <a:bodyPr wrap="square" lIns="0" tIns="0" rIns="0" bIns="0" rtlCol="0" anchor="ctr"/>
          <a:lstStyle/>
          <a:p>
            <a:pPr indent="0" marL="0">
              <a:buNone/>
            </a:pPr>
            <a:r>
              <a:rPr lang="en-US" sz="1500" b="1" dirty="0">
                <a:solidFill>
                  <a:schemeClr val="bg1"/>
                </a:solidFill>
              </a:rPr>
              <a:t>Free Grace (series view)</a:t>
            </a:r>
            <a:endParaRPr lang="en-US" sz="1500" dirty="0"/>
          </a:p>
        </p:txBody>
      </p:sp>
      <p:sp>
        <p:nvSpPr>
          <p:cNvPr id="12" name="Shape 10"/>
          <p:cNvSpPr/>
          <p:nvPr/>
        </p:nvSpPr>
        <p:spPr>
          <a:xfrm>
            <a:off x="6172200" y="2542032"/>
            <a:ext cx="5440680" cy="1801368"/>
          </a:xfrm>
          <a:prstGeom prst="rect">
            <a:avLst/>
          </a:prstGeom>
          <a:solidFill>
            <a:schemeClr val="bg2"/>
          </a:solidFill>
          <a:ln w="9525">
            <a:solidFill>
              <a:srgbClr val="D5DCEA"/>
            </a:solidFill>
            <a:prstDash val="solid"/>
          </a:ln>
        </p:spPr>
      </p:sp>
      <p:sp>
        <p:nvSpPr>
          <p:cNvPr id="13" name="Text 11"/>
          <p:cNvSpPr txBox="1"/>
          <p:nvPr/>
        </p:nvSpPr>
        <p:spPr>
          <a:xfrm>
            <a:off x="6355080" y="2651760"/>
            <a:ext cx="51206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The guarantee rests in God's promise and Christ's finished work, not the believer's performance</a:t>
            </a:r>
            <a:endParaRPr lang="en-US" sz="1400" dirty="0"/>
          </a:p>
          <a:p>
            <a:pPr marL="342900" indent="-342900">
              <a:spcAft>
                <a:spcPts val="600"/>
              </a:spcAft>
              <a:buSzPct val="100000"/>
              <a:buChar char="•"/>
            </a:pPr>
            <a:r>
              <a:rPr lang="en-US" sz="1400" dirty="0">
                <a:solidFill>
                  <a:schemeClr val="tx1"/>
                </a:solidFill>
              </a:rPr>
              <a:t>A believer's walk may falter; his eternal life does not (John 10:28–29)</a:t>
            </a:r>
            <a:endParaRPr lang="en-US" sz="1400" dirty="0"/>
          </a:p>
          <a:p>
            <a:pPr marL="342900" indent="-342900">
              <a:spcAft>
                <a:spcPts val="600"/>
              </a:spcAft>
              <a:buSzPct val="100000"/>
              <a:buChar char="•"/>
            </a:pPr>
            <a:r>
              <a:rPr lang="en-US" sz="1400" dirty="0">
                <a:solidFill>
                  <a:schemeClr val="tx1"/>
                </a:solidFill>
              </a:rPr>
              <a:t>(Wilkin, Confident in Christ; Dillow, The Reign of the Servant Kings)</a:t>
            </a:r>
            <a:endParaRPr lang="en-US" sz="1400" dirty="0"/>
          </a:p>
        </p:txBody>
      </p:sp>
      <p:sp>
        <p:nvSpPr>
          <p:cNvPr id="14" name="Shape 12"/>
          <p:cNvSpPr/>
          <p:nvPr/>
        </p:nvSpPr>
        <p:spPr>
          <a:xfrm>
            <a:off x="548640" y="4526280"/>
            <a:ext cx="11064240" cy="868680"/>
          </a:xfrm>
          <a:prstGeom prst="roundRect">
            <a:avLst>
              <a:gd name="adj" fmla="val 8421"/>
            </a:avLst>
          </a:prstGeom>
          <a:solidFill>
            <a:schemeClr val="tx2"/>
          </a:solidFill>
          <a:ln w="9525">
            <a:solidFill>
              <a:schemeClr val="tx2"/>
            </a:solidFill>
            <a:prstDash val="solid"/>
          </a:ln>
        </p:spPr>
      </p:sp>
      <p:sp>
        <p:nvSpPr>
          <p:cNvPr id="15" name="Text 13"/>
          <p:cNvSpPr txBox="1"/>
          <p:nvPr/>
        </p:nvSpPr>
        <p:spPr>
          <a:xfrm>
            <a:off x="777240" y="4526280"/>
            <a:ext cx="10607040" cy="868680"/>
          </a:xfrm>
          <a:prstGeom prst="rect">
            <a:avLst/>
          </a:prstGeom>
          <a:noFill/>
          <a:ln/>
        </p:spPr>
        <p:txBody>
          <a:bodyPr wrap="square" lIns="0" tIns="0" rIns="0" bIns="0" rtlCol="0" anchor="ctr"/>
          <a:lstStyle/>
          <a:p>
            <a:pPr indent="0" marL="0">
              <a:buNone/>
            </a:pPr>
            <a:r>
              <a:rPr lang="en-US" sz="1500" dirty="0">
                <a:solidFill>
                  <a:schemeClr val="bg1"/>
                </a:solidFill>
              </a:rPr>
              <a:t>God's ability to guard us from stumbling is a resource we lean on for our walk; His ability to present us blameless is a certainty we rest on for our destiny.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Jude and 2 Peter side by side</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Shared themes and order</a:t>
            </a:r>
            <a:endParaRPr lang="en-US" sz="14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6858000"/>
                <a:gridCol w="2103120"/>
                <a:gridCol w="2103120"/>
              </a:tblGrid>
              <a:tr h="384048">
                <a:tc>
                  <a:txBody>
                    <a:bodyPr/>
                    <a:lstStyle/>
                    <a:p>
                      <a:pPr indent="0" marL="0">
                        <a:buNone/>
                      </a:pPr>
                      <a:r>
                        <a:rPr lang="en-US" sz="1400" b="1" dirty="0">
                          <a:solidFill>
                            <a:schemeClr val="bg1"/>
                          </a:solidFill>
                          <a:latin typeface="Arial" pitchFamily="34" charset="0"/>
                          <a:ea typeface="Arial" pitchFamily="34" charset="-122"/>
                          <a:cs typeface="Arial" pitchFamily="34" charset="-120"/>
                        </a:rPr>
                        <a:t>Shared theme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Jude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2 Peter</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Intruders who deny the Master</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v.4</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2:1–3</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Angels held for judgment</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v.6</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2:4</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Sodom and Gomorrah</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v.7</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2:6</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Despise authority, revile majesties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v.8</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2:10</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Angels refrain from reviling judgment</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v.9</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2:11</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Like unreasoning animals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v.10</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2:12</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The error of Balaam</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v.11</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2:15</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Feasting with you; waterless clouds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v.12</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2:13, 17</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Black darkness reserved</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v.13</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2:17</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Arrogant words</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v.16</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2:18</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384048">
                <a:tc>
                  <a:txBody>
                    <a:bodyPr/>
                    <a:lstStyle/>
                    <a:p>
                      <a:pPr indent="0" marL="0">
                        <a:buNone/>
                      </a:pPr>
                      <a:r>
                        <a:rPr lang="en-US" sz="1300" dirty="0">
                          <a:solidFill>
                            <a:schemeClr val="tx1"/>
                          </a:solidFill>
                          <a:latin typeface="Arial" pitchFamily="34" charset="0"/>
                          <a:ea typeface="Arial" pitchFamily="34" charset="-122"/>
                          <a:cs typeface="Arial" pitchFamily="34" charset="-120"/>
                        </a:rPr>
                        <a:t>Mockers in the last time</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vv.17–18</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3:2–3</a:t>
                      </a:r>
                      <a:endParaRPr lang="en-US" sz="13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685800"/>
          </a:xfrm>
          <a:prstGeom prst="rect">
            <a:avLst/>
          </a:prstGeom>
          <a:noFill/>
          <a:ln/>
        </p:spPr>
        <p:txBody>
          <a:bodyPr wrap="square" rtlCol="0" anchor="ctr"/>
          <a:lstStyle/>
          <a:p>
            <a:pPr algn="l" indent="0" marL="0">
              <a:buNone/>
            </a:pPr>
            <a:r>
              <a:rPr lang="en-US" sz="3000" b="1" dirty="0">
                <a:solidFill>
                  <a:schemeClr val="tx2"/>
                </a:solidFill>
              </a:rPr>
              <a:t>Where Jude and 2 Peter differ</a:t>
            </a:r>
            <a:endParaRPr lang="en-US" sz="3000" dirty="0"/>
          </a:p>
        </p:txBody>
      </p:sp>
      <p:sp>
        <p:nvSpPr>
          <p:cNvPr id="3" name="Text 0"/>
          <p:cNvSpPr/>
          <p:nvPr>
            <p:ph idx="101" type="body" hasCustomPrompt="1"/>
          </p:nvPr>
        </p:nvSpPr>
        <p:spPr>
          <a:xfrm>
            <a:off x="548640" y="914400"/>
            <a:ext cx="11064240" cy="365760"/>
          </a:xfrm>
          <a:prstGeom prst="rect">
            <a:avLst/>
          </a:prstGeom>
          <a:noFill/>
          <a:ln/>
        </p:spPr>
        <p:txBody>
          <a:bodyPr wrap="square" rtlCol="0" anchor="t"/>
          <a:lstStyle/>
          <a:p>
            <a:pPr algn="l" indent="0" marL="0">
              <a:buNone/>
            </a:pPr>
            <a:r>
              <a:rPr lang="en-US" sz="1400" i="1" dirty="0">
                <a:solidFill>
                  <a:schemeClr val="accent4"/>
                </a:solidFill>
              </a:rPr>
              <a:t>Same danger, different emphasis</a:t>
            </a:r>
            <a:endParaRPr lang="en-US" sz="14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011680"/>
                <a:gridCol w="4526280"/>
                <a:gridCol w="4526280"/>
              </a:tblGrid>
              <a:tr h="457200">
                <a:tc>
                  <a:txBody>
                    <a:bodyPr/>
                    <a:lstStyle/>
                    <a:p>
                      <a:pPr indent="0" marL="0">
                        <a:buNone/>
                      </a:pPr>
                      <a:r>
                        <a:rPr lang="en-US" sz="1400" b="1" dirty="0">
                          <a:solidFill>
                            <a:schemeClr val="bg1"/>
                          </a:solidFill>
                          <a:latin typeface="Arial" pitchFamily="34" charset="0"/>
                          <a:ea typeface="Arial" pitchFamily="34" charset="-122"/>
                          <a:cs typeface="Arial" pitchFamily="34" charset="-120"/>
                        </a:rPr>
                        <a:t>Point</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Jude</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2 Peter</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accent1"/>
                    </a:solidFill>
                  </a:tcPr>
                </a:tc>
              </a:tr>
              <a:tr h="868680">
                <a:tc>
                  <a:txBody>
                    <a:bodyPr/>
                    <a:lstStyle/>
                    <a:p>
                      <a:pPr indent="0" marL="0">
                        <a:buNone/>
                      </a:pPr>
                      <a:r>
                        <a:rPr lang="en-US" sz="1400" b="1" dirty="0">
                          <a:solidFill>
                            <a:schemeClr val="tx2"/>
                          </a:solidFill>
                          <a:latin typeface="Arial" pitchFamily="34" charset="0"/>
                          <a:ea typeface="Arial" pitchFamily="34" charset="-122"/>
                          <a:cs typeface="Arial" pitchFamily="34" charset="-120"/>
                        </a:rPr>
                        <a:t>Timing</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The intruders have already crept in (v.4)</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"There will also be false teachers" (2:1)</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latin typeface="Arial" pitchFamily="34" charset="0"/>
                          <a:ea typeface="Arial" pitchFamily="34" charset="-122"/>
                          <a:cs typeface="Arial" pitchFamily="34" charset="-120"/>
                        </a:rPr>
                        <a:t>Examples</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Judgment only — Israel, angels, Sodom; Cain, Balaam, Korah</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Judgment and rescue — Noah in the flood, Lot from Sodom (2:5–9)</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2"/>
                          </a:solidFill>
                          <a:latin typeface="Arial" pitchFamily="34" charset="0"/>
                          <a:ea typeface="Arial" pitchFamily="34" charset="-122"/>
                          <a:cs typeface="Arial" pitchFamily="34" charset="-120"/>
                        </a:rPr>
                        <a:t>Other sources</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Michael and Moses' body (v.9); Enoch's prophecy (vv.14–15)</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No extra-biblical citations; the angel point is general (2:11)</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2"/>
                          </a:solidFill>
                          <a:latin typeface="Arial" pitchFamily="34" charset="0"/>
                          <a:ea typeface="Arial" pitchFamily="34" charset="-122"/>
                          <a:cs typeface="Arial" pitchFamily="34" charset="-120"/>
                        </a:rPr>
                        <a:t>The call</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Contend; keep yourselves; rescue others (vv.3, 20–23)</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Grow in grace and knowledge (3:18)</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2"/>
                          </a:solidFill>
                          <a:latin typeface="Arial" pitchFamily="34" charset="0"/>
                          <a:ea typeface="Arial" pitchFamily="34" charset="-122"/>
                          <a:cs typeface="Arial" pitchFamily="34" charset="-120"/>
                        </a:rPr>
                        <a:t>Closing</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To Him who is able to keep you (vv.24–25)</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To Him be the glory, now and to the day of eternity (3:18)</a:t>
                      </a:r>
                      <a:endParaRPr lang="en-US" sz="1400" dirty="0">
                        <a:latin typeface="Arial" charset="0"/>
                        <a:ea typeface="Arial" charset="0"/>
                        <a:cs typeface="Arial" charset="0"/>
                      </a:endParaRPr>
                    </a:p>
                  </a:txBody>
                  <a:tcPr marL="64008" marR="64008" marT="64008" marB="64008" anchor="ctr">
                    <a:lnL w="6350" cap="flat" cmpd="sng" algn="ctr">
                      <a:solidFill>
                        <a:srgbClr val="D5DCEA"/>
                      </a:solidFill>
                      <a:prstDash val="solid"/>
                      <a:round/>
                      <a:headEnd type="none" w="med" len="med"/>
                      <a:tailEnd type="none" w="med" len="med"/>
                    </a:lnL>
                    <a:lnR w="6350" cap="flat" cmpd="sng" algn="ctr">
                      <a:solidFill>
                        <a:srgbClr val="D5DCEA"/>
                      </a:solidFill>
                      <a:prstDash val="solid"/>
                      <a:round/>
                      <a:headEnd type="none" w="med" len="med"/>
                      <a:tailEnd type="none" w="med" len="med"/>
                    </a:lnR>
                    <a:lnT w="6350" cap="flat" cmpd="sng" algn="ctr">
                      <a:solidFill>
                        <a:srgbClr val="D5DCEA"/>
                      </a:solidFill>
                      <a:prstDash val="solid"/>
                      <a:round/>
                      <a:headEnd type="none" w="med" len="med"/>
                      <a:tailEnd type="none" w="med" len="med"/>
                    </a:lnT>
                    <a:lnB w="6350" cap="flat" cmpd="sng" algn="ctr">
                      <a:solidFill>
                        <a:srgbClr val="D5DC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554480"/>
          </a:xfrm>
          <a:prstGeom prst="rect">
            <a:avLst/>
          </a:prstGeom>
          <a:noFill/>
          <a:ln/>
        </p:spPr>
        <p:txBody>
          <a:bodyPr wrap="square" rtlCol="0" anchor="b"/>
          <a:lstStyle/>
          <a:p>
            <a:pPr algn="l" indent="0" marL="0">
              <a:buNone/>
            </a:pPr>
            <a:r>
              <a:rPr lang="en-US" sz="4000" b="1" dirty="0">
                <a:solidFill>
                  <a:schemeClr val="bg1"/>
                </a:solidFill>
              </a:rPr>
              <a:t>From "kept" to "able to keep"</a:t>
            </a:r>
            <a:endParaRPr lang="en-US" sz="4000" dirty="0"/>
          </a:p>
        </p:txBody>
      </p:sp>
      <p:sp>
        <p:nvSpPr>
          <p:cNvPr id="3" name="Text 0"/>
          <p:cNvSpPr/>
          <p:nvPr>
            <p:ph idx="101" type="body" hasCustomPrompt="1"/>
          </p:nvPr>
        </p:nvSpPr>
        <p:spPr>
          <a:xfrm>
            <a:off x="731520" y="3474720"/>
            <a:ext cx="10698480" cy="2011680"/>
          </a:xfrm>
          <a:prstGeom prst="rect">
            <a:avLst/>
          </a:prstGeom>
          <a:noFill/>
          <a:ln/>
        </p:spPr>
        <p:txBody>
          <a:bodyPr wrap="square" rtlCol="0" anchor="t"/>
          <a:lstStyle/>
          <a:p>
            <a:pPr algn="l" indent="0" marL="0">
              <a:buNone/>
            </a:pPr>
            <a:r>
              <a:rPr lang="en-US" sz="2000" dirty="0">
                <a:solidFill>
                  <a:schemeClr val="bg2"/>
                </a:solidFill>
              </a:rPr>
              <a:t>"To those who are the called, beloved in God the Father, and kept for Jesus Christ" — Jude 1</a:t>
            </a:r>
            <a:endParaRPr lang="en-US" sz="2000" dirty="0"/>
          </a:p>
          <a:p>
            <a:pPr algn="l" indent="0" marL="0">
              <a:buNone/>
            </a:pPr>
            <a:r>
              <a:rPr lang="en-US" sz="2000" dirty="0">
                <a:solidFill>
                  <a:schemeClr val="bg2"/>
                </a:solidFill>
              </a:rPr>
              <a:t>"Now to Him who is able to keep you from stumbling" — Jude 24</a:t>
            </a:r>
            <a:endParaRPr lang="en-US" sz="2000" dirty="0"/>
          </a:p>
        </p:txBody>
      </p:sp>
      <p:sp>
        <p:nvSpPr>
          <p:cNvPr id="4" name="Text 2"/>
          <p:cNvSpPr txBox="1"/>
          <p:nvPr/>
        </p:nvSpPr>
        <p:spPr>
          <a:xfrm>
            <a:off x="731520" y="5577840"/>
            <a:ext cx="10698480" cy="457200"/>
          </a:xfrm>
          <a:prstGeom prst="rect">
            <a:avLst/>
          </a:prstGeom>
          <a:noFill/>
          <a:ln/>
        </p:spPr>
        <p:txBody>
          <a:bodyPr wrap="square" lIns="0" tIns="0" rIns="0" bIns="0" rtlCol="0" anchor="t"/>
          <a:lstStyle/>
          <a:p>
            <a:pPr indent="0" marL="0">
              <a:buNone/>
            </a:pPr>
            <a:r>
              <a:rPr lang="en-US" sz="1600" i="1" dirty="0">
                <a:solidFill>
                  <a:schemeClr val="accent5"/>
                </a:solidFill>
              </a:rPr>
              <a:t>Not with our effort, but with His ability; not with our glory, but with His. Amen.</a:t>
            </a:r>
            <a:endParaRPr lang="en-US" sz="1600" dirty="0"/>
          </a:p>
        </p:txBody>
      </p:sp>
    </p:spTree>
  </p:cSld>
  <p:clrMapOvr>
    <a:masterClrMapping/>
  </p:clrMapOvr>
</p:sld>
</file>

<file path=ppt/theme/theme1.xml><?xml version="1.0" encoding="utf-8"?>
<a:theme xmlns:a="http://schemas.openxmlformats.org/drawingml/2006/main" name="Gospel Vault Jude">
  <a:themeElements>
    <a:clrScheme name="Gospel Vault Jude">
      <a:dk1>
        <a:srgbClr val="222222"/>
      </a:dk1>
      <a:lt1>
        <a:srgbClr val="FFFFFF"/>
      </a:lt1>
      <a:dk2>
        <a:srgbClr val="1F3864"/>
      </a:dk2>
      <a:lt2>
        <a:srgbClr val="F2F6FC"/>
      </a:lt2>
      <a:accent1>
        <a:srgbClr val="2E5496"/>
      </a:accent1>
      <a:accent2>
        <a:srgbClr val="375623"/>
      </a:accent2>
      <a:accent3>
        <a:srgbClr val="7030A0"/>
      </a:accent3>
      <a:accent4>
        <a:srgbClr val="6B6A65"/>
      </a:accent4>
      <a:accent5>
        <a:srgbClr val="C9A227"/>
      </a:accent5>
      <a:accent6>
        <a:srgbClr val="F0F4EE"/>
      </a:accent6>
      <a:hlink>
        <a:srgbClr val="2E5496"/>
      </a:hlink>
      <a:folHlink>
        <a:srgbClr val="7030A0"/>
      </a:folHlink>
    </a:clrScheme>
    <a:fontScheme name="Gospel Vault Jud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Jude — Contend for the Faith: Blended Chart Deck</dc:title>
  <dc:subject>PptxGenJS Presentation</dc:subject>
  <dc:creator>The Gospel Vault</dc:creator>
  <cp:lastModifiedBy>The Gospel Vault</cp:lastModifiedBy>
  <cp:revision>1</cp:revision>
  <dcterms:created xsi:type="dcterms:W3CDTF">2026-10-29T20:25:14Z</dcterms:created>
  <dcterms:modified xsi:type="dcterms:W3CDTF">2026-10-29T20:25:14Z</dcterms:modified>
</cp:coreProperties>
</file>