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3bc8a83a-badc-98fe-2402-8125c1270044}">
          <p14:sldIdLst>
            <p14:sldId id="256"/>
          </p14:sldIdLst>
        </p14:section>
        <p14:section name="Overview" id="{c7eb9742-be11-09e6-8b61-9c73c474671c}">
          <p14:sldIdLst>
            <p14:sldId id="257"/>
            <p14:sldId id="258"/>
            <p14:sldId id="259"/>
          </p14:sldIdLst>
        </p14:section>
        <p14:section name="The warnings (vv.5–16)" id="{4467d2f1-c7aa-400d-e93e-2b90d3a3172d}">
          <p14:sldIdLst>
            <p14:sldId id="260"/>
            <p14:sldId id="261"/>
            <p14:sldId id="262"/>
            <p14:sldId id="263"/>
          </p14:sldIdLst>
        </p14:section>
        <p14:section name="Jude and 2 Peter" id="{969021a0-7af0-c28c-2537-144a2aadf03b}">
          <p14:sldIdLst>
            <p14:sldId id="264"/>
            <p14:sldId id="265"/>
          </p14:sldIdLst>
        </p14:section>
        <p14:section name="Questions groups ask" id="{4c172142-a2cf-137a-f601-5e64b45c9c68}">
          <p14:sldIdLst>
            <p14:sldId id="266"/>
          </p14:sldIdLst>
        </p14:section>
        <p14:section name="Closing" id="{9524ba32-93c4-deba-0e68-123a3ca336da}">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use this deck: one chart per slide, built for leaders preparing or teaching the six-study Jude series. Slides carry the visual; these notes carry the teaching detail. Order follows the letter: overview (survey, triads, keep bracket), the warnings (vv.5–16), the parallels with 2 Peter, the extra-biblical references, and the doxology. Scripture wording follows the NASB. Greek forms are standard parsings — verify against Blue Letter Bible before citing in a study, per the CSG source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Jude wanted to write about "our common salvation" but felt compelled to urge readers to contend for the faith (v.3), because certain persons had crept in unnoticed (v.4). The long middle (vv.5–16) exposes those intruders; the closing (vv.17–23) turns to "But you, beloved" and tells believers what to do. Color key used throughout the deck: blue = what God does for His people; green = what believers are called to do; grey = the intruders and their judgment. The bookends are worth pointing out early: the letter opens and closes with God's keeping (vv.1, 24), the faith (vv.3, 20), and mercy (vv.2, 21–23). The intruders sit inside a frame of God's care for His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Jude groups ideas in threes so consistently that many commentators treat it as his signature style. Showing the pattern helps a group read Jude as a carefully built letter, not a rant. Teaching notes: (1) v.1's "called, beloved, kept" all describe what God has done — none is the reader's achievement. (2) vv.20–21: the three participles and the command work together; "waiting anxiously for the mercy of our Lord Jesus Christ to eternal life" follows as a fourth element, so the triad is approximate here. (3) vv.22–23: NASB follows manuscripts with three groups; some manuscripts read two. A leader can note this briefly without dwelling on it. (4) v.25 frames God's glory across all time — before, now, forever.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anchor chart for the series' Free Grace framing. Jude opens and closes with God as the One who keeps: believers are kept (perfect passive — the keeping was done and stands) for Jesus Christ (v.1), and God is able to guard them from stumbling (v.24). Between those bookends, the same verb is turned against the rebellious: the angels who did not keep their domain are kept for judgment (v.6), and darkness is kept for the intruders (v.13). v.21 then commands believers to keep themselves in the love of God. Read in the Free Grace frame, v.21 concerns fellowship and the believer's present walk — remaining where God's love can be enjoyed and experienced — not a condition for retaining eternal life, which v.1 has already settled. Counterpoint (RTR): Reformed writers (e.g., Schreiner) typically read v.21 as the means by which God secures the perseverance of the elect, so that keeping oneself is evidence of genuine faith. Conclusion for this series: the letter's own structure places the believer's security in God's keeping, before and after the command. Verify Greek parsing on Blue Letter Bible before citing.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Jude reminds readers of three things they already know (v.5) and lines them up as a pattern of judgment on rebellion. v.5 (Israel): the Exodus generation was delivered from Egypt, then refused to believe God at Kadesh (Num 14) and died in the wilderness. Many Free Grace writers read this as temporal, physical judgment on a redeemed people — a sober warning about unbelief in the believer's walk — rather than loss of eternal life; Hebrews 3–4 uses the same episode the same way. RTR counterpoint: Reformed readers often take vv.5–7 as describing professing-but-false believers. For this series, note that Jude applies the examples to the intruders of v.4, whom he never calls believers — he calls them "ungodly persons" marked out for condemnation. v.6: most commentators connect this to Gen 6:1–4 as read in Jewish tradition (cf. 1 Enoch 6–10); 2 Pet 2:4 is the closest parallel. Note this is a debated reading. v.7: Sodom and Gomorrah's judgment is a visible, lasting example (Gen 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Jude pronounces a woe and gives three Old Testament portraits, with verbs that escalate: they have gone (walked) the way of Cain, rushed headlong into Balaam's error, and perished in Korah's rebellion. "Perished" is aorist — Jude speaks of their end as already settled, because Korah's end (Num 16) shows where rebellion leads. Cain: his offering was not offered by faith (Heb 11:4), and his resentment of his righteous brother ended in murder (1 John 3:12). Balaam: hired to curse Israel, he could not, but later counseled Moab to draw Israel into idolatry and immorality (Num 31:16; Rev 2:14); Peter adds that he loved the wages of unrighteousness (2 Pet 2:15). Korah: led a revolt against Moses and Aaron and was swallowed by the earth. Together: false worship, greed, and rebellion against God-given authority — the same marks Jude sees in the intruders.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structural observation many commentators make (e.g., Bauckham, Ellis): the middle of Jude alternates between a text or example and an application introduced by "these" (Greek houtoi) — vv.8, 10, 12, 16, 19. It reads like a short Jewish commentary: here is the text; these men are what it describes. For a group, this gives a simple map of vv.5–19 and shows that Jude is not name-calling — he is reasoning from Scripture and apostolic teaching to identify the danger. Note that the fifth "text" is the apostles' own prediction (vv.17–18), placing apostolic words alongside the Old Testament.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Jude's five images (hidden reefs, waterless clouds, fruitless trees, wild waves, wandering stars) sweep across every region of creation — as if all of nature testifies against the intruders. The hidden reefs (spilades) may also be read as "spots" or "stains"; the NASB's "hidden reefs" stresses unseen danger to anyone sailing near. "Doubly dead" likely means dead in two ways — fruitless and uprooted. The wandering stars (planets or meteors, which ancient sailors could not navigate by) connect to the reserved darkness of v.13 — the same "keep" verb as the bracket chart. Discussion idea: which picture best warns a church today, and what would its opposite look like in a healthy believer?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Jude and 2 Peter 2 share a large block of material, largely in the same order. Most scholars think 2 Peter drew on Jude; some argue the reverse or a common source. Leaders need not settle the question — the point for a group is that two apostolic-era letters saw the same danger and answered it the same way. This is a good chart to have on hand when a group member notices the overlap. Use the next slide for how the two letters differ.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differences are as instructive as the overlap. Jude writes as the danger has arrived; Peter writes in prophetic future tense. Jude's examples are all judgment, while Peter pairs judgment with deliverance (Noah, Lot) to stress that "the Lord knows how to rescue the godly" (2:9). Jude cites Jewish tradition (Michael, Enoch); 2 Peter does not. Jude ends with an outward call — rescue those wavering (vv.22–23) — and a doxology centered on God's keeping, which ties back to the keep bracket.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Groups almost always ask about these verses. Keep the answer simple. v.9: Scripture never records this dispute; early church writers attributed it to the Assumption/Testament of Moses, whose ending is lost. Jude's point is humility — Michael would not pronounce a reviling judgment on the devil himself but left it to the Lord, while the intruders revile what they do not understand (v.10). vv.14–15: Jude quotes a prophecy that closely matches 1 Enoch 1:9. The Holy Spirit led Jude to affirm that this statement is true; it does not make 1 Enoch part of the canon, any more than Paul's quotations made Greek poetry Scripture. Enoch is "the seventh from Adam" (Gen 5), emphasizing how early God warned of coming judgment.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where Jude ends. After 23 verses about danger, the letter's last word is not the intruders' fate but God's ability to keep His people — the closing half of the keep bracket (v.1 ↔ v.24). The believer's confidence rests on what God is able to do, not on the believer's own record. The final triad of time (v.25) — before all time, now, forever — sets the whole letter inside God's eternal glory. A fitting way to close a study session is to read vv.24–25 aloud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46304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3474720"/>
            <a:ext cx="10698480" cy="146304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685800"/>
          </a:xfrm>
          <a:prstGeom prst="rect">
            <a:avLst/>
          </a:prstGeom>
          <a:noFill/>
          <a:ln/>
        </p:spPr>
        <p:txBody>
          <a:bodyPr wrap="square" rtlCol="0"/>
          <a:lstStyle>
            <a:lvl1pPr indent="0" marL="0">
              <a:buNone/>
              <a:defRPr lang="en-US" sz="3200" b="1" dirty="0">
                <a:solidFill>
                  <a:schemeClr val="tx2"/>
                </a:solidFill>
              </a:defRPr>
            </a:lvl1pPr>
          </a:lstStyle>
          <a:p>
            <a:pPr indent="0" marL="0">
              <a:buNone/>
            </a:pPr>
            <a:endParaRPr lang="en-US" sz="3200" dirty="0"/>
          </a:p>
        </p:txBody>
      </p:sp>
      <p:sp>
        <p:nvSpPr>
          <p:cNvPr id="3" name="Text 0"/>
          <p:cNvSpPr/>
          <p:nvPr>
            <p:ph idx="101" type="body" hasCustomPrompt="1"/>
          </p:nvPr>
        </p:nvSpPr>
        <p:spPr>
          <a:xfrm>
            <a:off x="548640" y="914400"/>
            <a:ext cx="11064240" cy="365760"/>
          </a:xfrm>
          <a:prstGeom prst="rect">
            <a:avLst/>
          </a:prstGeom>
          <a:noFill/>
          <a:ln/>
        </p:spPr>
        <p:txBody>
          <a:bodyPr wrap="square" rtlCol="0"/>
          <a:lstStyle>
            <a:lvl1pPr indent="0" marL="0">
              <a:buNone/>
              <a:defRPr lang="en-US" sz="1400" i="1" dirty="0">
                <a:solidFill>
                  <a:schemeClr val="accent4"/>
                </a:solidFill>
              </a:defRPr>
            </a:lvl1pPr>
          </a:lstStyle>
          <a:p>
            <a:pPr indent="0" marL="0">
              <a:buNone/>
            </a:pPr>
            <a:endParaRPr lang="en-US" sz="1400" dirty="0"/>
          </a:p>
        </p:txBody>
      </p:sp>
      <p:sp>
        <p:nvSpPr>
          <p:cNvPr id="4" name="Text 0"/>
          <p:cNvSpPr/>
          <p:nvPr/>
        </p:nvSpPr>
        <p:spPr>
          <a:xfrm>
            <a:off x="548640" y="6400800"/>
            <a:ext cx="9144000" cy="274320"/>
          </a:xfrm>
          <a:prstGeom prst="rect">
            <a:avLst/>
          </a:prstGeom>
          <a:noFill/>
          <a:ln/>
        </p:spPr>
        <p:txBody>
          <a:bodyPr wrap="square" rtlCol="0" anchor="ctr"/>
          <a:lstStyle/>
          <a:p>
            <a:pPr indent="0" marL="0">
              <a:buNone/>
            </a:pPr>
            <a:r>
              <a:rPr lang="en-US" sz="1000" dirty="0">
                <a:solidFill>
                  <a:schemeClr val="accent4"/>
                </a:solidFill>
              </a:rPr>
              <a:t>Contend for the Faith · Jude chart deck · The Gospel Vault · NASB</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463040"/>
          </a:xfrm>
          <a:prstGeom prst="rect">
            <a:avLst/>
          </a:prstGeom>
          <a:noFill/>
          <a:ln/>
        </p:spPr>
        <p:txBody>
          <a:bodyPr wrap="square" rtlCol="0" anchor="b"/>
          <a:lstStyle/>
          <a:p>
            <a:pPr algn="l" indent="0" marL="0">
              <a:buNone/>
            </a:pPr>
            <a:r>
              <a:rPr lang="en-US" sz="4400" b="1" dirty="0">
                <a:solidFill>
                  <a:schemeClr val="bg1"/>
                </a:solidFill>
              </a:rPr>
              <a:t>Contend for the Faith</a:t>
            </a:r>
            <a:endParaRPr lang="en-US" sz="4400" dirty="0"/>
          </a:p>
        </p:txBody>
      </p:sp>
      <p:sp>
        <p:nvSpPr>
          <p:cNvPr id="3" name="Text 0"/>
          <p:cNvSpPr/>
          <p:nvPr>
            <p:ph idx="101" type="body" hasCustomPrompt="1"/>
          </p:nvPr>
        </p:nvSpPr>
        <p:spPr>
          <a:xfrm>
            <a:off x="731520" y="3474720"/>
            <a:ext cx="10698480" cy="1463040"/>
          </a:xfrm>
          <a:prstGeom prst="rect">
            <a:avLst/>
          </a:prstGeom>
          <a:noFill/>
          <a:ln/>
        </p:spPr>
        <p:txBody>
          <a:bodyPr wrap="square" rtlCol="0" anchor="t"/>
          <a:lstStyle/>
          <a:p>
            <a:pPr indent="0" marL="0">
              <a:buNone/>
            </a:pPr>
            <a:r>
              <a:rPr lang="en-US" sz="2000" dirty="0">
                <a:solidFill>
                  <a:schemeClr val="bg2"/>
                </a:solidFill>
              </a:rPr>
              <a:t>Charts for the Epistle of Jude</a:t>
            </a:r>
            <a:endParaRPr lang="en-US" sz="2000" dirty="0"/>
          </a:p>
          <a:p>
            <a:pPr indent="0" marL="0">
              <a:buNone/>
            </a:pPr>
            <a:r>
              <a:rPr lang="en-US" sz="1600" dirty="0">
                <a:solidFill>
                  <a:schemeClr val="bg2"/>
                </a:solidFill>
              </a:rPr>
              <a:t>Leader resource · Small Group Bible Study Series · NASB</a:t>
            </a:r>
            <a:endParaRPr lang="en-US" sz="2000" dirty="0"/>
          </a:p>
        </p:txBody>
      </p:sp>
      <p:sp>
        <p:nvSpPr>
          <p:cNvPr id="4" name="Text 2"/>
          <p:cNvSpPr txBox="1"/>
          <p:nvPr/>
        </p:nvSpPr>
        <p:spPr>
          <a:xfrm>
            <a:off x="731520" y="6035040"/>
            <a:ext cx="5486400" cy="365760"/>
          </a:xfrm>
          <a:prstGeom prst="rect">
            <a:avLst/>
          </a:prstGeom>
          <a:noFill/>
          <a:ln/>
        </p:spPr>
        <p:txBody>
          <a:bodyPr wrap="square" rtlCol="0" anchor="ctr"/>
          <a:lstStyle/>
          <a:p>
            <a:pPr indent="0" marL="0">
              <a:buNone/>
            </a:pPr>
            <a:r>
              <a:rPr lang="en-US" sz="1400" b="1" dirty="0">
                <a:solidFill>
                  <a:schemeClr val="accent5"/>
                </a:solidFill>
              </a:rPr>
              <a:t>The Gospel Vault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685800"/>
          </a:xfrm>
          <a:prstGeom prst="rect">
            <a:avLst/>
          </a:prstGeom>
          <a:noFill/>
          <a:ln/>
        </p:spPr>
        <p:txBody>
          <a:bodyPr wrap="square" rtlCol="0" anchor="ctr"/>
          <a:lstStyle/>
          <a:p>
            <a:pPr indent="0" marL="0">
              <a:buNone/>
            </a:pPr>
            <a:r>
              <a:rPr lang="en-US" sz="3200" b="1" dirty="0">
                <a:solidFill>
                  <a:schemeClr val="tx2"/>
                </a:solidFill>
              </a:rPr>
              <a:t>Jude at a glance</a:t>
            </a:r>
            <a:endParaRPr lang="en-US" sz="3200" dirty="0"/>
          </a:p>
        </p:txBody>
      </p:sp>
      <p:sp>
        <p:nvSpPr>
          <p:cNvPr id="3" name="Text 0"/>
          <p:cNvSpPr/>
          <p:nvPr>
            <p:ph idx="101" type="body" hasCustomPrompt="1"/>
          </p:nvPr>
        </p:nvSpPr>
        <p:spPr>
          <a:xfrm>
            <a:off x="548640" y="914400"/>
            <a:ext cx="11064240" cy="365760"/>
          </a:xfrm>
          <a:prstGeom prst="rect">
            <a:avLst/>
          </a:prstGeom>
          <a:noFill/>
          <a:ln/>
        </p:spPr>
        <p:txBody>
          <a:bodyPr wrap="square" rtlCol="0" anchor="t"/>
          <a:lstStyle/>
          <a:p>
            <a:pPr indent="0" marL="0">
              <a:buNone/>
            </a:pPr>
            <a:r>
              <a:rPr lang="en-US" sz="1400" i="1" dirty="0">
                <a:solidFill>
                  <a:schemeClr val="accent4"/>
                </a:solidFill>
              </a:rPr>
              <a:t>Survey chart · 25 verses, five movements</a:t>
            </a:r>
            <a:endParaRPr lang="en-US" sz="1400" dirty="0"/>
          </a:p>
        </p:txBody>
      </p:sp>
      <p:sp>
        <p:nvSpPr>
          <p:cNvPr id="4" name="seg0"/>
          <p:cNvSpPr/>
          <p:nvPr/>
        </p:nvSpPr>
        <p:spPr>
          <a:xfrm>
            <a:off x="548640" y="1508760"/>
            <a:ext cx="1636776" cy="1417320"/>
          </a:xfrm>
          <a:prstGeom prst="rect">
            <a:avLst/>
          </a:prstGeom>
          <a:solidFill>
            <a:schemeClr val="accent1"/>
          </a:solidFill>
          <a:ln w="12700">
            <a:solidFill>
              <a:schemeClr val="accent1"/>
            </a:solidFill>
            <a:prstDash val="solid"/>
          </a:ln>
        </p:spPr>
      </p:sp>
      <p:sp>
        <p:nvSpPr>
          <p:cNvPr id="5" name="Text 3"/>
          <p:cNvSpPr txBox="1"/>
          <p:nvPr/>
        </p:nvSpPr>
        <p:spPr>
          <a:xfrm>
            <a:off x="621792" y="1554480"/>
            <a:ext cx="1490472" cy="1325880"/>
          </a:xfrm>
          <a:prstGeom prst="rect">
            <a:avLst/>
          </a:prstGeom>
          <a:noFill/>
          <a:ln/>
        </p:spPr>
        <p:txBody>
          <a:bodyPr wrap="square" lIns="508" tIns="508" rIns="508" bIns="508" rtlCol="0" anchor="ctr"/>
          <a:lstStyle/>
          <a:p>
            <a:pPr indent="0" marL="0">
              <a:buNone/>
            </a:pPr>
            <a:r>
              <a:rPr lang="en-US" sz="1300" dirty="0">
                <a:solidFill>
                  <a:schemeClr val="bg1"/>
                </a:solidFill>
              </a:rPr>
              <a:t>vv.1–2</a:t>
            </a:r>
            <a:endParaRPr lang="en-US" sz="1300" dirty="0"/>
          </a:p>
          <a:p>
            <a:pPr indent="0" marL="0">
              <a:buNone/>
            </a:pPr>
            <a:r>
              <a:rPr lang="en-US" sz="1800" b="1" dirty="0">
                <a:solidFill>
                  <a:schemeClr val="bg1"/>
                </a:solidFill>
              </a:rPr>
              <a:t>Greeting</a:t>
            </a:r>
            <a:endParaRPr lang="en-US" sz="1300" dirty="0"/>
          </a:p>
          <a:p>
            <a:pPr indent="0" marL="0">
              <a:buNone/>
            </a:pPr>
            <a:r>
              <a:rPr lang="en-US" sz="1300" dirty="0">
                <a:solidFill>
                  <a:schemeClr val="bg1"/>
                </a:solidFill>
              </a:rPr>
              <a:t>Called, beloved, kept</a:t>
            </a:r>
            <a:endParaRPr lang="en-US" sz="1300" dirty="0"/>
          </a:p>
        </p:txBody>
      </p:sp>
      <p:sp>
        <p:nvSpPr>
          <p:cNvPr id="6" name="seg1"/>
          <p:cNvSpPr/>
          <p:nvPr/>
        </p:nvSpPr>
        <p:spPr>
          <a:xfrm>
            <a:off x="2240280" y="1508760"/>
            <a:ext cx="1773936" cy="1417320"/>
          </a:xfrm>
          <a:prstGeom prst="rect">
            <a:avLst/>
          </a:prstGeom>
          <a:solidFill>
            <a:schemeClr val="accent2"/>
          </a:solidFill>
          <a:ln w="12700">
            <a:solidFill>
              <a:schemeClr val="accent2"/>
            </a:solidFill>
            <a:prstDash val="solid"/>
          </a:ln>
        </p:spPr>
      </p:sp>
      <p:sp>
        <p:nvSpPr>
          <p:cNvPr id="7" name="Text 5"/>
          <p:cNvSpPr txBox="1"/>
          <p:nvPr/>
        </p:nvSpPr>
        <p:spPr>
          <a:xfrm>
            <a:off x="2313432" y="1554480"/>
            <a:ext cx="1627632" cy="1325880"/>
          </a:xfrm>
          <a:prstGeom prst="rect">
            <a:avLst/>
          </a:prstGeom>
          <a:noFill/>
          <a:ln/>
        </p:spPr>
        <p:txBody>
          <a:bodyPr wrap="square" lIns="508" tIns="508" rIns="508" bIns="508" rtlCol="0" anchor="ctr"/>
          <a:lstStyle/>
          <a:p>
            <a:pPr indent="0" marL="0">
              <a:buNone/>
            </a:pPr>
            <a:r>
              <a:rPr lang="en-US" sz="1300" dirty="0">
                <a:solidFill>
                  <a:schemeClr val="bg1"/>
                </a:solidFill>
              </a:rPr>
              <a:t>vv.3–4</a:t>
            </a:r>
            <a:endParaRPr lang="en-US" sz="1300" dirty="0"/>
          </a:p>
          <a:p>
            <a:pPr indent="0" marL="0">
              <a:buNone/>
            </a:pPr>
            <a:r>
              <a:rPr lang="en-US" sz="1800" b="1" dirty="0">
                <a:solidFill>
                  <a:schemeClr val="bg1"/>
                </a:solidFill>
              </a:rPr>
              <a:t>Purpose</a:t>
            </a:r>
            <a:endParaRPr lang="en-US" sz="1300" dirty="0"/>
          </a:p>
          <a:p>
            <a:pPr indent="0" marL="0">
              <a:buNone/>
            </a:pPr>
            <a:r>
              <a:rPr lang="en-US" sz="1300" dirty="0">
                <a:solidFill>
                  <a:schemeClr val="bg1"/>
                </a:solidFill>
              </a:rPr>
              <a:t>Contend for the faith</a:t>
            </a:r>
            <a:endParaRPr lang="en-US" sz="1300" dirty="0"/>
          </a:p>
        </p:txBody>
      </p:sp>
      <p:sp>
        <p:nvSpPr>
          <p:cNvPr id="8" name="seg2"/>
          <p:cNvSpPr/>
          <p:nvPr/>
        </p:nvSpPr>
        <p:spPr>
          <a:xfrm>
            <a:off x="4069080" y="1508760"/>
            <a:ext cx="3831336" cy="1417320"/>
          </a:xfrm>
          <a:prstGeom prst="rect">
            <a:avLst/>
          </a:prstGeom>
          <a:solidFill>
            <a:schemeClr val="accent4"/>
          </a:solidFill>
          <a:ln w="12700">
            <a:solidFill>
              <a:schemeClr val="accent4"/>
            </a:solidFill>
            <a:prstDash val="solid"/>
          </a:ln>
        </p:spPr>
      </p:sp>
      <p:sp>
        <p:nvSpPr>
          <p:cNvPr id="9" name="Text 7"/>
          <p:cNvSpPr txBox="1"/>
          <p:nvPr/>
        </p:nvSpPr>
        <p:spPr>
          <a:xfrm>
            <a:off x="4142232" y="1554480"/>
            <a:ext cx="3685032" cy="1325880"/>
          </a:xfrm>
          <a:prstGeom prst="rect">
            <a:avLst/>
          </a:prstGeom>
          <a:noFill/>
          <a:ln/>
        </p:spPr>
        <p:txBody>
          <a:bodyPr wrap="square" lIns="508" tIns="508" rIns="508" bIns="508" rtlCol="0" anchor="ctr"/>
          <a:lstStyle/>
          <a:p>
            <a:pPr indent="0" marL="0">
              <a:buNone/>
            </a:pPr>
            <a:r>
              <a:rPr lang="en-US" sz="1300" dirty="0">
                <a:solidFill>
                  <a:schemeClr val="bg1"/>
                </a:solidFill>
              </a:rPr>
              <a:t>vv.5–16</a:t>
            </a:r>
            <a:endParaRPr lang="en-US" sz="1300" dirty="0"/>
          </a:p>
          <a:p>
            <a:pPr indent="0" marL="0">
              <a:buNone/>
            </a:pPr>
            <a:r>
              <a:rPr lang="en-US" sz="1800" b="1" dirty="0">
                <a:solidFill>
                  <a:schemeClr val="bg1"/>
                </a:solidFill>
              </a:rPr>
              <a:t>Exposure</a:t>
            </a:r>
            <a:endParaRPr lang="en-US" sz="1300" dirty="0"/>
          </a:p>
          <a:p>
            <a:pPr indent="0" marL="0">
              <a:buNone/>
            </a:pPr>
            <a:r>
              <a:rPr lang="en-US" sz="1300" dirty="0">
                <a:solidFill>
                  <a:schemeClr val="bg1"/>
                </a:solidFill>
              </a:rPr>
              <a:t>The intruders' character and doom</a:t>
            </a:r>
            <a:endParaRPr lang="en-US" sz="1300" dirty="0"/>
          </a:p>
        </p:txBody>
      </p:sp>
      <p:sp>
        <p:nvSpPr>
          <p:cNvPr id="10" name="Shape 8"/>
          <p:cNvSpPr/>
          <p:nvPr/>
        </p:nvSpPr>
        <p:spPr>
          <a:xfrm>
            <a:off x="4069080" y="2999232"/>
            <a:ext cx="1231392" cy="566928"/>
          </a:xfrm>
          <a:prstGeom prst="rect">
            <a:avLst/>
          </a:prstGeom>
          <a:solidFill>
            <a:srgbClr val="E7E6E1"/>
          </a:solidFill>
          <a:ln w="12700">
            <a:solidFill>
              <a:srgbClr val="E7E6E1"/>
            </a:solidFill>
            <a:prstDash val="solid"/>
          </a:ln>
        </p:spPr>
      </p:sp>
      <p:sp>
        <p:nvSpPr>
          <p:cNvPr id="11" name="Text 9"/>
          <p:cNvSpPr txBox="1"/>
          <p:nvPr/>
        </p:nvSpPr>
        <p:spPr>
          <a:xfrm>
            <a:off x="4069080" y="2999232"/>
            <a:ext cx="1231392" cy="566928"/>
          </a:xfrm>
          <a:prstGeom prst="rect">
            <a:avLst/>
          </a:prstGeom>
          <a:noFill/>
          <a:ln/>
        </p:spPr>
        <p:txBody>
          <a:bodyPr wrap="square" lIns="254" tIns="254" rIns="254" bIns="254" rtlCol="0" anchor="ctr"/>
          <a:lstStyle/>
          <a:p>
            <a:pPr algn="ctr" indent="0" marL="0">
              <a:buNone/>
            </a:pPr>
            <a:r>
              <a:rPr lang="en-US" sz="1200" b="1" dirty="0">
                <a:solidFill>
                  <a:schemeClr val="tx1"/>
                </a:solidFill>
              </a:rPr>
              <a:t>vv.5–7</a:t>
            </a:r>
            <a:endParaRPr lang="en-US" sz="1200" dirty="0"/>
          </a:p>
          <a:p>
            <a:pPr algn="ctr" indent="0" marL="0">
              <a:buNone/>
            </a:pPr>
            <a:r>
              <a:rPr lang="en-US" sz="1200" dirty="0">
                <a:solidFill>
                  <a:schemeClr val="tx1"/>
                </a:solidFill>
              </a:rPr>
              <a:t>Three examples</a:t>
            </a:r>
            <a:endParaRPr lang="en-US" sz="1200" dirty="0"/>
          </a:p>
        </p:txBody>
      </p:sp>
      <p:sp>
        <p:nvSpPr>
          <p:cNvPr id="12" name="Shape 10"/>
          <p:cNvSpPr/>
          <p:nvPr/>
        </p:nvSpPr>
        <p:spPr>
          <a:xfrm>
            <a:off x="5346192" y="2999232"/>
            <a:ext cx="1231392" cy="566928"/>
          </a:xfrm>
          <a:prstGeom prst="rect">
            <a:avLst/>
          </a:prstGeom>
          <a:solidFill>
            <a:srgbClr val="E7E6E1"/>
          </a:solidFill>
          <a:ln w="12700">
            <a:solidFill>
              <a:srgbClr val="E7E6E1"/>
            </a:solidFill>
            <a:prstDash val="solid"/>
          </a:ln>
        </p:spPr>
      </p:sp>
      <p:sp>
        <p:nvSpPr>
          <p:cNvPr id="13" name="Text 11"/>
          <p:cNvSpPr txBox="1"/>
          <p:nvPr/>
        </p:nvSpPr>
        <p:spPr>
          <a:xfrm>
            <a:off x="5346192" y="2999232"/>
            <a:ext cx="1231392" cy="566928"/>
          </a:xfrm>
          <a:prstGeom prst="rect">
            <a:avLst/>
          </a:prstGeom>
          <a:noFill/>
          <a:ln/>
        </p:spPr>
        <p:txBody>
          <a:bodyPr wrap="square" lIns="254" tIns="254" rIns="254" bIns="254" rtlCol="0" anchor="ctr"/>
          <a:lstStyle/>
          <a:p>
            <a:pPr algn="ctr" indent="0" marL="0">
              <a:buNone/>
            </a:pPr>
            <a:r>
              <a:rPr lang="en-US" sz="1200" b="1" dirty="0">
                <a:solidFill>
                  <a:schemeClr val="tx1"/>
                </a:solidFill>
              </a:rPr>
              <a:t>vv.8–13</a:t>
            </a:r>
            <a:endParaRPr lang="en-US" sz="1200" dirty="0"/>
          </a:p>
          <a:p>
            <a:pPr algn="ctr" indent="0" marL="0">
              <a:buNone/>
            </a:pPr>
            <a:r>
              <a:rPr lang="en-US" sz="1200" dirty="0">
                <a:solidFill>
                  <a:schemeClr val="tx1"/>
                </a:solidFill>
              </a:rPr>
              <a:t>"These" exposed</a:t>
            </a:r>
            <a:endParaRPr lang="en-US" sz="1200" dirty="0"/>
          </a:p>
        </p:txBody>
      </p:sp>
      <p:sp>
        <p:nvSpPr>
          <p:cNvPr id="14" name="Shape 12"/>
          <p:cNvSpPr/>
          <p:nvPr/>
        </p:nvSpPr>
        <p:spPr>
          <a:xfrm>
            <a:off x="6623304" y="2999232"/>
            <a:ext cx="1231392" cy="566928"/>
          </a:xfrm>
          <a:prstGeom prst="rect">
            <a:avLst/>
          </a:prstGeom>
          <a:solidFill>
            <a:srgbClr val="E7E6E1"/>
          </a:solidFill>
          <a:ln w="12700">
            <a:solidFill>
              <a:srgbClr val="E7E6E1"/>
            </a:solidFill>
            <a:prstDash val="solid"/>
          </a:ln>
        </p:spPr>
      </p:sp>
      <p:sp>
        <p:nvSpPr>
          <p:cNvPr id="15" name="Text 13"/>
          <p:cNvSpPr txBox="1"/>
          <p:nvPr/>
        </p:nvSpPr>
        <p:spPr>
          <a:xfrm>
            <a:off x="6623304" y="2999232"/>
            <a:ext cx="1231392" cy="566928"/>
          </a:xfrm>
          <a:prstGeom prst="rect">
            <a:avLst/>
          </a:prstGeom>
          <a:noFill/>
          <a:ln/>
        </p:spPr>
        <p:txBody>
          <a:bodyPr wrap="square" lIns="254" tIns="254" rIns="254" bIns="254" rtlCol="0" anchor="ctr"/>
          <a:lstStyle/>
          <a:p>
            <a:pPr algn="ctr" indent="0" marL="0">
              <a:buNone/>
            </a:pPr>
            <a:r>
              <a:rPr lang="en-US" sz="1200" b="1" dirty="0">
                <a:solidFill>
                  <a:schemeClr val="tx1"/>
                </a:solidFill>
              </a:rPr>
              <a:t>vv.14–16</a:t>
            </a:r>
            <a:endParaRPr lang="en-US" sz="1200" dirty="0"/>
          </a:p>
          <a:p>
            <a:pPr algn="ctr" indent="0" marL="0">
              <a:buNone/>
            </a:pPr>
            <a:r>
              <a:rPr lang="en-US" sz="1200" dirty="0">
                <a:solidFill>
                  <a:schemeClr val="tx1"/>
                </a:solidFill>
              </a:rPr>
              <a:t>Enoch's prophecy</a:t>
            </a:r>
            <a:endParaRPr lang="en-US" sz="1200" dirty="0"/>
          </a:p>
        </p:txBody>
      </p:sp>
      <p:sp>
        <p:nvSpPr>
          <p:cNvPr id="16" name="seg3"/>
          <p:cNvSpPr/>
          <p:nvPr/>
        </p:nvSpPr>
        <p:spPr>
          <a:xfrm>
            <a:off x="7955280" y="1508760"/>
            <a:ext cx="2093976" cy="1417320"/>
          </a:xfrm>
          <a:prstGeom prst="rect">
            <a:avLst/>
          </a:prstGeom>
          <a:solidFill>
            <a:schemeClr val="accent2"/>
          </a:solidFill>
          <a:ln w="12700">
            <a:solidFill>
              <a:schemeClr val="accent2"/>
            </a:solidFill>
            <a:prstDash val="solid"/>
          </a:ln>
        </p:spPr>
      </p:sp>
      <p:sp>
        <p:nvSpPr>
          <p:cNvPr id="17" name="Text 15"/>
          <p:cNvSpPr txBox="1"/>
          <p:nvPr/>
        </p:nvSpPr>
        <p:spPr>
          <a:xfrm>
            <a:off x="8028432" y="1554480"/>
            <a:ext cx="1947672" cy="1325880"/>
          </a:xfrm>
          <a:prstGeom prst="rect">
            <a:avLst/>
          </a:prstGeom>
          <a:noFill/>
          <a:ln/>
        </p:spPr>
        <p:txBody>
          <a:bodyPr wrap="square" lIns="508" tIns="508" rIns="508" bIns="508" rtlCol="0" anchor="ctr"/>
          <a:lstStyle/>
          <a:p>
            <a:pPr indent="0" marL="0">
              <a:buNone/>
            </a:pPr>
            <a:r>
              <a:rPr lang="en-US" sz="1300" dirty="0">
                <a:solidFill>
                  <a:schemeClr val="bg1"/>
                </a:solidFill>
              </a:rPr>
              <a:t>vv.17–23</a:t>
            </a:r>
            <a:endParaRPr lang="en-US" sz="1300" dirty="0"/>
          </a:p>
          <a:p>
            <a:pPr indent="0" marL="0">
              <a:buNone/>
            </a:pPr>
            <a:r>
              <a:rPr lang="en-US" sz="1800" b="1" dirty="0">
                <a:solidFill>
                  <a:schemeClr val="bg1"/>
                </a:solidFill>
              </a:rPr>
              <a:t>Exhortation</a:t>
            </a:r>
            <a:endParaRPr lang="en-US" sz="1300" dirty="0"/>
          </a:p>
          <a:p>
            <a:pPr indent="0" marL="0">
              <a:buNone/>
            </a:pPr>
            <a:r>
              <a:rPr lang="en-US" sz="1300" dirty="0">
                <a:solidFill>
                  <a:schemeClr val="bg1"/>
                </a:solidFill>
              </a:rPr>
              <a:t>Remember, keep, show mercy</a:t>
            </a:r>
            <a:endParaRPr lang="en-US" sz="1300" dirty="0"/>
          </a:p>
        </p:txBody>
      </p:sp>
      <p:sp>
        <p:nvSpPr>
          <p:cNvPr id="18" name="seg4"/>
          <p:cNvSpPr/>
          <p:nvPr/>
        </p:nvSpPr>
        <p:spPr>
          <a:xfrm>
            <a:off x="10104120" y="1508760"/>
            <a:ext cx="1453896" cy="1417320"/>
          </a:xfrm>
          <a:prstGeom prst="rect">
            <a:avLst/>
          </a:prstGeom>
          <a:solidFill>
            <a:schemeClr val="accent1"/>
          </a:solidFill>
          <a:ln w="12700">
            <a:solidFill>
              <a:schemeClr val="accent1"/>
            </a:solidFill>
            <a:prstDash val="solid"/>
          </a:ln>
        </p:spPr>
      </p:sp>
      <p:sp>
        <p:nvSpPr>
          <p:cNvPr id="19" name="Text 17"/>
          <p:cNvSpPr txBox="1"/>
          <p:nvPr/>
        </p:nvSpPr>
        <p:spPr>
          <a:xfrm>
            <a:off x="10177272" y="1554480"/>
            <a:ext cx="1307592" cy="1325880"/>
          </a:xfrm>
          <a:prstGeom prst="rect">
            <a:avLst/>
          </a:prstGeom>
          <a:noFill/>
          <a:ln/>
        </p:spPr>
        <p:txBody>
          <a:bodyPr wrap="square" lIns="508" tIns="508" rIns="508" bIns="508" rtlCol="0" anchor="ctr"/>
          <a:lstStyle/>
          <a:p>
            <a:pPr indent="0" marL="0">
              <a:buNone/>
            </a:pPr>
            <a:r>
              <a:rPr lang="en-US" sz="1300" dirty="0">
                <a:solidFill>
                  <a:schemeClr val="bg1"/>
                </a:solidFill>
              </a:rPr>
              <a:t>vv.24–25</a:t>
            </a:r>
            <a:endParaRPr lang="en-US" sz="1300" dirty="0"/>
          </a:p>
          <a:p>
            <a:pPr indent="0" marL="0">
              <a:buNone/>
            </a:pPr>
            <a:r>
              <a:rPr lang="en-US" sz="1800" b="1" dirty="0">
                <a:solidFill>
                  <a:schemeClr val="bg1"/>
                </a:solidFill>
              </a:rPr>
              <a:t>Doxology</a:t>
            </a:r>
            <a:endParaRPr lang="en-US" sz="1300" dirty="0"/>
          </a:p>
          <a:p>
            <a:pPr indent="0" marL="0">
              <a:buNone/>
            </a:pPr>
            <a:r>
              <a:rPr lang="en-US" sz="1300" dirty="0">
                <a:solidFill>
                  <a:schemeClr val="bg1"/>
                </a:solidFill>
              </a:rPr>
              <a:t>Him who is able to keep</a:t>
            </a:r>
            <a:endParaRPr lang="en-US" sz="1300" dirty="0"/>
          </a:p>
        </p:txBody>
      </p:sp>
      <p:sp>
        <p:nvSpPr>
          <p:cNvPr id="20" name="Text 18"/>
          <p:cNvSpPr txBox="1"/>
          <p:nvPr/>
        </p:nvSpPr>
        <p:spPr>
          <a:xfrm>
            <a:off x="548640" y="3840480"/>
            <a:ext cx="11064240" cy="365760"/>
          </a:xfrm>
          <a:prstGeom prst="rect">
            <a:avLst/>
          </a:prstGeom>
          <a:noFill/>
          <a:ln/>
        </p:spPr>
        <p:txBody>
          <a:bodyPr wrap="square" lIns="0" tIns="0" rIns="0" bIns="0" rtlCol="0" anchor="ctr"/>
          <a:lstStyle/>
          <a:p>
            <a:pPr indent="0" marL="0">
              <a:buNone/>
            </a:pPr>
            <a:r>
              <a:rPr lang="en-US" sz="1800" b="1" dirty="0">
                <a:solidFill>
                  <a:schemeClr val="tx2"/>
                </a:solidFill>
              </a:rPr>
              <a:t>Bookends — what Jude opens with, he closes with</a:t>
            </a:r>
            <a:endParaRPr lang="en-US" sz="1800" dirty="0"/>
          </a:p>
        </p:txBody>
      </p:sp>
      <p:sp>
        <p:nvSpPr>
          <p:cNvPr id="21" name="Shape 19"/>
          <p:cNvSpPr/>
          <p:nvPr/>
        </p:nvSpPr>
        <p:spPr>
          <a:xfrm>
            <a:off x="548640" y="4343400"/>
            <a:ext cx="3566160" cy="1737360"/>
          </a:xfrm>
          <a:prstGeom prst="roundRect">
            <a:avLst>
              <a:gd name="adj" fmla="val 4211"/>
            </a:avLst>
          </a:prstGeom>
          <a:solidFill>
            <a:schemeClr val="bg2"/>
          </a:solidFill>
          <a:ln w="9525">
            <a:solidFill>
              <a:srgbClr val="D5DCEA"/>
            </a:solidFill>
            <a:prstDash val="solid"/>
          </a:ln>
        </p:spPr>
      </p:sp>
      <p:sp>
        <p:nvSpPr>
          <p:cNvPr id="22" name="Text 20"/>
          <p:cNvSpPr txBox="1"/>
          <p:nvPr/>
        </p:nvSpPr>
        <p:spPr>
          <a:xfrm>
            <a:off x="685800" y="4389120"/>
            <a:ext cx="3291840" cy="1645920"/>
          </a:xfrm>
          <a:prstGeom prst="rect">
            <a:avLst/>
          </a:prstGeom>
          <a:noFill/>
          <a:ln/>
        </p:spPr>
        <p:txBody>
          <a:bodyPr wrap="square" lIns="0" tIns="0" rIns="0" bIns="0" rtlCol="0" anchor="ctr"/>
          <a:lstStyle/>
          <a:p>
            <a:pPr indent="0" marL="0">
              <a:buNone/>
            </a:pPr>
            <a:r>
              <a:rPr lang="en-US" sz="1600" b="1" dirty="0">
                <a:solidFill>
                  <a:schemeClr val="accent1"/>
                </a:solidFill>
              </a:rPr>
              <a:t>Kept</a:t>
            </a:r>
            <a:endParaRPr lang="en-US" sz="1600" dirty="0"/>
          </a:p>
          <a:p>
            <a:pPr indent="0" marL="0">
              <a:buNone/>
            </a:pPr>
            <a:r>
              <a:rPr lang="en-US" sz="1400" dirty="0">
                <a:solidFill>
                  <a:schemeClr val="tx1"/>
                </a:solidFill>
              </a:rPr>
              <a:t>v.1 — kept for Jesus Christ</a:t>
            </a:r>
            <a:endParaRPr lang="en-US" sz="1600" dirty="0"/>
          </a:p>
          <a:p>
            <a:pPr indent="0" marL="0">
              <a:buNone/>
            </a:pPr>
            <a:r>
              <a:rPr lang="en-US" sz="1400" dirty="0">
                <a:solidFill>
                  <a:schemeClr val="accent4"/>
                </a:solidFill>
              </a:rPr>
              <a:t>↕</a:t>
            </a:r>
            <a:endParaRPr lang="en-US" sz="1600" dirty="0"/>
          </a:p>
          <a:p>
            <a:pPr indent="0" marL="0">
              <a:buNone/>
            </a:pPr>
            <a:r>
              <a:rPr lang="en-US" sz="1400" dirty="0">
                <a:solidFill>
                  <a:schemeClr val="tx1"/>
                </a:solidFill>
              </a:rPr>
              <a:t>v.24 — able to keep you</a:t>
            </a:r>
            <a:endParaRPr lang="en-US" sz="1600" dirty="0"/>
          </a:p>
        </p:txBody>
      </p:sp>
      <p:sp>
        <p:nvSpPr>
          <p:cNvPr id="23" name="Shape 21"/>
          <p:cNvSpPr/>
          <p:nvPr/>
        </p:nvSpPr>
        <p:spPr>
          <a:xfrm>
            <a:off x="4297680" y="4343400"/>
            <a:ext cx="3566160" cy="1737360"/>
          </a:xfrm>
          <a:prstGeom prst="roundRect">
            <a:avLst>
              <a:gd name="adj" fmla="val 4211"/>
            </a:avLst>
          </a:prstGeom>
          <a:solidFill>
            <a:schemeClr val="bg2"/>
          </a:solidFill>
          <a:ln w="9525">
            <a:solidFill>
              <a:srgbClr val="D5DCEA"/>
            </a:solidFill>
            <a:prstDash val="solid"/>
          </a:ln>
        </p:spPr>
      </p:sp>
      <p:sp>
        <p:nvSpPr>
          <p:cNvPr id="24" name="Text 22"/>
          <p:cNvSpPr txBox="1"/>
          <p:nvPr/>
        </p:nvSpPr>
        <p:spPr>
          <a:xfrm>
            <a:off x="4434840" y="4389120"/>
            <a:ext cx="3291840" cy="1645920"/>
          </a:xfrm>
          <a:prstGeom prst="rect">
            <a:avLst/>
          </a:prstGeom>
          <a:noFill/>
          <a:ln/>
        </p:spPr>
        <p:txBody>
          <a:bodyPr wrap="square" lIns="0" tIns="0" rIns="0" bIns="0" rtlCol="0" anchor="ctr"/>
          <a:lstStyle/>
          <a:p>
            <a:pPr indent="0" marL="0">
              <a:buNone/>
            </a:pPr>
            <a:r>
              <a:rPr lang="en-US" sz="1600" b="1" dirty="0">
                <a:solidFill>
                  <a:schemeClr val="accent1"/>
                </a:solidFill>
              </a:rPr>
              <a:t>The faith</a:t>
            </a:r>
            <a:endParaRPr lang="en-US" sz="1600" dirty="0"/>
          </a:p>
          <a:p>
            <a:pPr indent="0" marL="0">
              <a:buNone/>
            </a:pPr>
            <a:r>
              <a:rPr lang="en-US" sz="1400" dirty="0">
                <a:solidFill>
                  <a:schemeClr val="tx1"/>
                </a:solidFill>
              </a:rPr>
              <a:t>v.3 — contend for the faith</a:t>
            </a:r>
            <a:endParaRPr lang="en-US" sz="1600" dirty="0"/>
          </a:p>
          <a:p>
            <a:pPr indent="0" marL="0">
              <a:buNone/>
            </a:pPr>
            <a:r>
              <a:rPr lang="en-US" sz="1400" dirty="0">
                <a:solidFill>
                  <a:schemeClr val="accent4"/>
                </a:solidFill>
              </a:rPr>
              <a:t>↕</a:t>
            </a:r>
            <a:endParaRPr lang="en-US" sz="1600" dirty="0"/>
          </a:p>
          <a:p>
            <a:pPr indent="0" marL="0">
              <a:buNone/>
            </a:pPr>
            <a:r>
              <a:rPr lang="en-US" sz="1400" dirty="0">
                <a:solidFill>
                  <a:schemeClr val="tx1"/>
                </a:solidFill>
              </a:rPr>
              <a:t>v.20 — build up on your most holy faith</a:t>
            </a:r>
            <a:endParaRPr lang="en-US" sz="1600" dirty="0"/>
          </a:p>
        </p:txBody>
      </p:sp>
      <p:sp>
        <p:nvSpPr>
          <p:cNvPr id="25" name="Shape 23"/>
          <p:cNvSpPr/>
          <p:nvPr/>
        </p:nvSpPr>
        <p:spPr>
          <a:xfrm>
            <a:off x="8046720" y="4343400"/>
            <a:ext cx="3566160" cy="1737360"/>
          </a:xfrm>
          <a:prstGeom prst="roundRect">
            <a:avLst>
              <a:gd name="adj" fmla="val 4211"/>
            </a:avLst>
          </a:prstGeom>
          <a:solidFill>
            <a:schemeClr val="bg2"/>
          </a:solidFill>
          <a:ln w="9525">
            <a:solidFill>
              <a:srgbClr val="D5DCEA"/>
            </a:solidFill>
            <a:prstDash val="solid"/>
          </a:ln>
        </p:spPr>
      </p:sp>
      <p:sp>
        <p:nvSpPr>
          <p:cNvPr id="26" name="Text 24"/>
          <p:cNvSpPr txBox="1"/>
          <p:nvPr/>
        </p:nvSpPr>
        <p:spPr>
          <a:xfrm>
            <a:off x="8183880" y="4389120"/>
            <a:ext cx="3291840" cy="1645920"/>
          </a:xfrm>
          <a:prstGeom prst="rect">
            <a:avLst/>
          </a:prstGeom>
          <a:noFill/>
          <a:ln/>
        </p:spPr>
        <p:txBody>
          <a:bodyPr wrap="square" lIns="0" tIns="0" rIns="0" bIns="0" rtlCol="0" anchor="ctr"/>
          <a:lstStyle/>
          <a:p>
            <a:pPr indent="0" marL="0">
              <a:buNone/>
            </a:pPr>
            <a:r>
              <a:rPr lang="en-US" sz="1600" b="1" dirty="0">
                <a:solidFill>
                  <a:schemeClr val="accent1"/>
                </a:solidFill>
              </a:rPr>
              <a:t>Mercy</a:t>
            </a:r>
            <a:endParaRPr lang="en-US" sz="1600" dirty="0"/>
          </a:p>
          <a:p>
            <a:pPr indent="0" marL="0">
              <a:buNone/>
            </a:pPr>
            <a:r>
              <a:rPr lang="en-US" sz="1400" dirty="0">
                <a:solidFill>
                  <a:schemeClr val="tx1"/>
                </a:solidFill>
              </a:rPr>
              <a:t>v.2 — mercy be multiplied</a:t>
            </a:r>
            <a:endParaRPr lang="en-US" sz="1600" dirty="0"/>
          </a:p>
          <a:p>
            <a:pPr indent="0" marL="0">
              <a:buNone/>
            </a:pPr>
            <a:r>
              <a:rPr lang="en-US" sz="1400" dirty="0">
                <a:solidFill>
                  <a:schemeClr val="accent4"/>
                </a:solidFill>
              </a:rPr>
              <a:t>↕</a:t>
            </a:r>
            <a:endParaRPr lang="en-US" sz="1600" dirty="0"/>
          </a:p>
          <a:p>
            <a:pPr indent="0" marL="0">
              <a:buNone/>
            </a:pPr>
            <a:r>
              <a:rPr lang="en-US" sz="1400" dirty="0">
                <a:solidFill>
                  <a:schemeClr val="tx1"/>
                </a:solidFill>
              </a:rPr>
              <a:t>vv.21–23 — wait for mercy; show mercy</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685800"/>
          </a:xfrm>
          <a:prstGeom prst="rect">
            <a:avLst/>
          </a:prstGeom>
          <a:noFill/>
          <a:ln/>
        </p:spPr>
        <p:txBody>
          <a:bodyPr wrap="square" rtlCol="0" anchor="ctr"/>
          <a:lstStyle/>
          <a:p>
            <a:pPr indent="0" marL="0">
              <a:buNone/>
            </a:pPr>
            <a:r>
              <a:rPr lang="en-US" sz="3200" b="1" dirty="0">
                <a:solidFill>
                  <a:schemeClr val="tx2"/>
                </a:solidFill>
              </a:rPr>
              <a:t>Jude thinks in threes</a:t>
            </a:r>
            <a:endParaRPr lang="en-US" sz="3200" dirty="0"/>
          </a:p>
        </p:txBody>
      </p:sp>
      <p:sp>
        <p:nvSpPr>
          <p:cNvPr id="3" name="Text 0"/>
          <p:cNvSpPr/>
          <p:nvPr>
            <p:ph idx="101" type="body" hasCustomPrompt="1"/>
          </p:nvPr>
        </p:nvSpPr>
        <p:spPr>
          <a:xfrm>
            <a:off x="548640" y="914400"/>
            <a:ext cx="11064240" cy="365760"/>
          </a:xfrm>
          <a:prstGeom prst="rect">
            <a:avLst/>
          </a:prstGeom>
          <a:noFill/>
          <a:ln/>
        </p:spPr>
        <p:txBody>
          <a:bodyPr wrap="square" rtlCol="0" anchor="t"/>
          <a:lstStyle/>
          <a:p>
            <a:pPr indent="0" marL="0">
              <a:buNone/>
            </a:pPr>
            <a:r>
              <a:rPr lang="en-US" sz="1400" i="1" dirty="0">
                <a:solidFill>
                  <a:schemeClr val="accent4"/>
                </a:solidFill>
              </a:rPr>
              <a:t>Triads across the letter</a:t>
            </a:r>
            <a:endParaRPr lang="en-US" sz="1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1280160"/>
                <a:gridCol w="3246120"/>
                <a:gridCol w="3246120"/>
                <a:gridCol w="3291840"/>
              </a:tblGrid>
              <a:tr h="457200">
                <a:tc>
                  <a:txBody>
                    <a:bodyPr/>
                    <a:lstStyle/>
                    <a:p>
                      <a:pPr indent="0" marL="0">
                        <a:buNone/>
                      </a:pPr>
                      <a:r>
                        <a:rPr lang="en-US" sz="1400" b="1" dirty="0">
                          <a:solidFill>
                            <a:schemeClr val="bg1"/>
                          </a:solidFill>
                          <a:latin typeface="Arial" pitchFamily="34" charset="0"/>
                          <a:ea typeface="Arial" pitchFamily="34" charset="-122"/>
                          <a:cs typeface="Arial" pitchFamily="34" charset="-120"/>
                        </a:rPr>
                        <a:t>Ref</a:t>
                      </a:r>
                      <a:endParaRPr lang="en-US" sz="1400" dirty="0">
                        <a:latin typeface="Arial" charset="0"/>
                        <a:ea typeface="Arial" charset="0"/>
                        <a:cs typeface="Arial" charset="0"/>
                      </a:endParaRPr>
                    </a:p>
                  </a:txBody>
                  <a:tcPr marL="54864" marR="54864" marT="54864" marB="54864"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latin typeface="Arial" pitchFamily="34" charset="0"/>
                          <a:ea typeface="Arial" pitchFamily="34" charset="-122"/>
                          <a:cs typeface="Arial" pitchFamily="34" charset="-120"/>
                        </a:rPr>
                        <a:t>One</a:t>
                      </a:r>
                      <a:endParaRPr lang="en-US" sz="1400" dirty="0">
                        <a:latin typeface="Arial" charset="0"/>
                        <a:ea typeface="Arial" charset="0"/>
                        <a:cs typeface="Arial" charset="0"/>
                      </a:endParaRPr>
                    </a:p>
                  </a:txBody>
                  <a:tcPr marL="54864" marR="54864" marT="54864" marB="54864"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latin typeface="Arial" pitchFamily="34" charset="0"/>
                          <a:ea typeface="Arial" pitchFamily="34" charset="-122"/>
                          <a:cs typeface="Arial" pitchFamily="34" charset="-120"/>
                        </a:rPr>
                        <a:t>Two</a:t>
                      </a:r>
                      <a:endParaRPr lang="en-US" sz="1400" dirty="0">
                        <a:latin typeface="Arial" charset="0"/>
                        <a:ea typeface="Arial" charset="0"/>
                        <a:cs typeface="Arial" charset="0"/>
                      </a:endParaRPr>
                    </a:p>
                  </a:txBody>
                  <a:tcPr marL="54864" marR="54864" marT="54864" marB="54864"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latin typeface="Arial" pitchFamily="34" charset="0"/>
                          <a:ea typeface="Arial" pitchFamily="34" charset="-122"/>
                          <a:cs typeface="Arial" pitchFamily="34" charset="-120"/>
                        </a:rPr>
                        <a:t>Three</a:t>
                      </a:r>
                      <a:endParaRPr lang="en-US" sz="1400" dirty="0">
                        <a:latin typeface="Arial" charset="0"/>
                        <a:ea typeface="Arial" charset="0"/>
                        <a:cs typeface="Arial" charset="0"/>
                      </a:endParaRPr>
                    </a:p>
                  </a:txBody>
                  <a:tcPr marL="54864" marR="54864" marT="54864" marB="54864"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accent1"/>
                    </a:solidFill>
                  </a:tcPr>
                </a:tc>
              </a:tr>
              <a:tr h="457200">
                <a:tc>
                  <a:txBody>
                    <a:bodyPr/>
                    <a:lstStyle/>
                    <a:p>
                      <a:pPr indent="0" marL="0">
                        <a:buNone/>
                      </a:pPr>
                      <a:r>
                        <a:rPr lang="en-US" sz="1300" b="1" dirty="0">
                          <a:solidFill>
                            <a:schemeClr val="accent3"/>
                          </a:solidFill>
                          <a:latin typeface="Arial" pitchFamily="34" charset="0"/>
                          <a:ea typeface="Arial" pitchFamily="34" charset="-122"/>
                          <a:cs typeface="Arial" pitchFamily="34" charset="-120"/>
                        </a:rPr>
                        <a:t>v.1</a:t>
                      </a:r>
                      <a:endParaRPr lang="en-US" sz="1300" dirty="0">
                        <a:latin typeface="Arial" charset="0"/>
                        <a:ea typeface="Arial" charset="0"/>
                        <a:cs typeface="Arial" charset="0"/>
                      </a:endParaRPr>
                    </a:p>
                  </a:txBody>
                  <a:tcPr marL="54864" marR="54864" marT="54864" marB="54864"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called</a:t>
                      </a:r>
                      <a:endParaRPr lang="en-US" sz="1300" dirty="0">
                        <a:latin typeface="Arial" charset="0"/>
                        <a:ea typeface="Arial" charset="0"/>
                        <a:cs typeface="Arial" charset="0"/>
                      </a:endParaRPr>
                    </a:p>
                  </a:txBody>
                  <a:tcPr marL="54864" marR="54864" marT="54864" marB="54864"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beloved in God the Father</a:t>
                      </a:r>
                      <a:endParaRPr lang="en-US" sz="1300" dirty="0">
                        <a:latin typeface="Arial" charset="0"/>
                        <a:ea typeface="Arial" charset="0"/>
                        <a:cs typeface="Arial" charset="0"/>
                      </a:endParaRPr>
                    </a:p>
                  </a:txBody>
                  <a:tcPr marL="54864" marR="54864" marT="54864" marB="54864"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kept for Jesus Christ</a:t>
                      </a:r>
                      <a:endParaRPr lang="en-US" sz="1300" dirty="0">
                        <a:latin typeface="Arial" charset="0"/>
                        <a:ea typeface="Arial" charset="0"/>
                        <a:cs typeface="Arial" charset="0"/>
                      </a:endParaRPr>
                    </a:p>
                  </a:txBody>
                  <a:tcPr marL="54864" marR="54864" marT="54864" marB="54864"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r>
              <a:tr h="457200">
                <a:tc>
                  <a:txBody>
                    <a:bodyPr/>
                    <a:lstStyle/>
                    <a:p>
                      <a:pPr indent="0" marL="0">
                        <a:buNone/>
                      </a:pPr>
                      <a:r>
                        <a:rPr lang="en-US" sz="1300" b="1" dirty="0">
                          <a:solidFill>
                            <a:schemeClr val="accent3"/>
                          </a:solidFill>
                          <a:latin typeface="Arial" pitchFamily="34" charset="0"/>
                          <a:ea typeface="Arial" pitchFamily="34" charset="-122"/>
                          <a:cs typeface="Arial" pitchFamily="34" charset="-120"/>
                        </a:rPr>
                        <a:t>v.2</a:t>
                      </a:r>
                      <a:endParaRPr lang="en-US" sz="1300" dirty="0">
                        <a:latin typeface="Arial" charset="0"/>
                        <a:ea typeface="Arial" charset="0"/>
                        <a:cs typeface="Arial" charset="0"/>
                      </a:endParaRPr>
                    </a:p>
                  </a:txBody>
                  <a:tcPr marL="54864" marR="54864" marT="54864" marB="54864"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mercy</a:t>
                      </a:r>
                      <a:endParaRPr lang="en-US" sz="1300" dirty="0">
                        <a:latin typeface="Arial" charset="0"/>
                        <a:ea typeface="Arial" charset="0"/>
                        <a:cs typeface="Arial" charset="0"/>
                      </a:endParaRPr>
                    </a:p>
                  </a:txBody>
                  <a:tcPr marL="54864" marR="54864" marT="54864" marB="54864"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peace</a:t>
                      </a:r>
                      <a:endParaRPr lang="en-US" sz="1300" dirty="0">
                        <a:latin typeface="Arial" charset="0"/>
                        <a:ea typeface="Arial" charset="0"/>
                        <a:cs typeface="Arial" charset="0"/>
                      </a:endParaRPr>
                    </a:p>
                  </a:txBody>
                  <a:tcPr marL="54864" marR="54864" marT="54864" marB="54864"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love</a:t>
                      </a:r>
                      <a:endParaRPr lang="en-US" sz="1300" dirty="0">
                        <a:latin typeface="Arial" charset="0"/>
                        <a:ea typeface="Arial" charset="0"/>
                        <a:cs typeface="Arial" charset="0"/>
                      </a:endParaRPr>
                    </a:p>
                  </a:txBody>
                  <a:tcPr marL="54864" marR="54864" marT="54864" marB="54864"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r>
              <a:tr h="457200">
                <a:tc>
                  <a:txBody>
                    <a:bodyPr/>
                    <a:lstStyle/>
                    <a:p>
                      <a:pPr indent="0" marL="0">
                        <a:buNone/>
                      </a:pPr>
                      <a:r>
                        <a:rPr lang="en-US" sz="1300" b="1" dirty="0">
                          <a:solidFill>
                            <a:schemeClr val="accent3"/>
                          </a:solidFill>
                          <a:latin typeface="Arial" pitchFamily="34" charset="0"/>
                          <a:ea typeface="Arial" pitchFamily="34" charset="-122"/>
                          <a:cs typeface="Arial" pitchFamily="34" charset="-120"/>
                        </a:rPr>
                        <a:t>vv.5–7</a:t>
                      </a:r>
                      <a:endParaRPr lang="en-US" sz="1300" dirty="0">
                        <a:latin typeface="Arial" charset="0"/>
                        <a:ea typeface="Arial" charset="0"/>
                        <a:cs typeface="Arial" charset="0"/>
                      </a:endParaRPr>
                    </a:p>
                  </a:txBody>
                  <a:tcPr marL="54864" marR="54864" marT="54864" marB="54864"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Israel in the wilderness</a:t>
                      </a:r>
                      <a:endParaRPr lang="en-US" sz="1300" dirty="0">
                        <a:latin typeface="Arial" charset="0"/>
                        <a:ea typeface="Arial" charset="0"/>
                        <a:cs typeface="Arial" charset="0"/>
                      </a:endParaRPr>
                    </a:p>
                  </a:txBody>
                  <a:tcPr marL="54864" marR="54864" marT="54864" marB="54864"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angels who left their abode</a:t>
                      </a:r>
                      <a:endParaRPr lang="en-US" sz="1300" dirty="0">
                        <a:latin typeface="Arial" charset="0"/>
                        <a:ea typeface="Arial" charset="0"/>
                        <a:cs typeface="Arial" charset="0"/>
                      </a:endParaRPr>
                    </a:p>
                  </a:txBody>
                  <a:tcPr marL="54864" marR="54864" marT="54864" marB="54864"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Sodom and Gomorrah</a:t>
                      </a:r>
                      <a:endParaRPr lang="en-US" sz="1300" dirty="0">
                        <a:latin typeface="Arial" charset="0"/>
                        <a:ea typeface="Arial" charset="0"/>
                        <a:cs typeface="Arial" charset="0"/>
                      </a:endParaRPr>
                    </a:p>
                  </a:txBody>
                  <a:tcPr marL="54864" marR="54864" marT="54864" marB="54864"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r>
              <a:tr h="457200">
                <a:tc>
                  <a:txBody>
                    <a:bodyPr/>
                    <a:lstStyle/>
                    <a:p>
                      <a:pPr indent="0" marL="0">
                        <a:buNone/>
                      </a:pPr>
                      <a:r>
                        <a:rPr lang="en-US" sz="1300" b="1" dirty="0">
                          <a:solidFill>
                            <a:schemeClr val="accent3"/>
                          </a:solidFill>
                          <a:latin typeface="Arial" pitchFamily="34" charset="0"/>
                          <a:ea typeface="Arial" pitchFamily="34" charset="-122"/>
                          <a:cs typeface="Arial" pitchFamily="34" charset="-120"/>
                        </a:rPr>
                        <a:t>v.8</a:t>
                      </a:r>
                      <a:endParaRPr lang="en-US" sz="1300" dirty="0">
                        <a:latin typeface="Arial" charset="0"/>
                        <a:ea typeface="Arial" charset="0"/>
                        <a:cs typeface="Arial" charset="0"/>
                      </a:endParaRPr>
                    </a:p>
                  </a:txBody>
                  <a:tcPr marL="54864" marR="54864" marT="54864" marB="54864"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defile the flesh</a:t>
                      </a:r>
                      <a:endParaRPr lang="en-US" sz="1300" dirty="0">
                        <a:latin typeface="Arial" charset="0"/>
                        <a:ea typeface="Arial" charset="0"/>
                        <a:cs typeface="Arial" charset="0"/>
                      </a:endParaRPr>
                    </a:p>
                  </a:txBody>
                  <a:tcPr marL="54864" marR="54864" marT="54864" marB="54864"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reject authority</a:t>
                      </a:r>
                      <a:endParaRPr lang="en-US" sz="1300" dirty="0">
                        <a:latin typeface="Arial" charset="0"/>
                        <a:ea typeface="Arial" charset="0"/>
                        <a:cs typeface="Arial" charset="0"/>
                      </a:endParaRPr>
                    </a:p>
                  </a:txBody>
                  <a:tcPr marL="54864" marR="54864" marT="54864" marB="54864"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revile angelic majesties</a:t>
                      </a:r>
                      <a:endParaRPr lang="en-US" sz="1300" dirty="0">
                        <a:latin typeface="Arial" charset="0"/>
                        <a:ea typeface="Arial" charset="0"/>
                        <a:cs typeface="Arial" charset="0"/>
                      </a:endParaRPr>
                    </a:p>
                  </a:txBody>
                  <a:tcPr marL="54864" marR="54864" marT="54864" marB="54864"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r>
              <a:tr h="457200">
                <a:tc>
                  <a:txBody>
                    <a:bodyPr/>
                    <a:lstStyle/>
                    <a:p>
                      <a:pPr indent="0" marL="0">
                        <a:buNone/>
                      </a:pPr>
                      <a:r>
                        <a:rPr lang="en-US" sz="1300" b="1" dirty="0">
                          <a:solidFill>
                            <a:schemeClr val="accent3"/>
                          </a:solidFill>
                          <a:latin typeface="Arial" pitchFamily="34" charset="0"/>
                          <a:ea typeface="Arial" pitchFamily="34" charset="-122"/>
                          <a:cs typeface="Arial" pitchFamily="34" charset="-120"/>
                        </a:rPr>
                        <a:t>v.11</a:t>
                      </a:r>
                      <a:endParaRPr lang="en-US" sz="1300" dirty="0">
                        <a:latin typeface="Arial" charset="0"/>
                        <a:ea typeface="Arial" charset="0"/>
                        <a:cs typeface="Arial" charset="0"/>
                      </a:endParaRPr>
                    </a:p>
                  </a:txBody>
                  <a:tcPr marL="54864" marR="54864" marT="54864" marB="54864"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the way of Cain</a:t>
                      </a:r>
                      <a:endParaRPr lang="en-US" sz="1300" dirty="0">
                        <a:latin typeface="Arial" charset="0"/>
                        <a:ea typeface="Arial" charset="0"/>
                        <a:cs typeface="Arial" charset="0"/>
                      </a:endParaRPr>
                    </a:p>
                  </a:txBody>
                  <a:tcPr marL="54864" marR="54864" marT="54864" marB="54864"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the error of Balaam</a:t>
                      </a:r>
                      <a:endParaRPr lang="en-US" sz="1300" dirty="0">
                        <a:latin typeface="Arial" charset="0"/>
                        <a:ea typeface="Arial" charset="0"/>
                        <a:cs typeface="Arial" charset="0"/>
                      </a:endParaRPr>
                    </a:p>
                  </a:txBody>
                  <a:tcPr marL="54864" marR="54864" marT="54864" marB="54864"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the rebellion of Korah</a:t>
                      </a:r>
                      <a:endParaRPr lang="en-US" sz="1300" dirty="0">
                        <a:latin typeface="Arial" charset="0"/>
                        <a:ea typeface="Arial" charset="0"/>
                        <a:cs typeface="Arial" charset="0"/>
                      </a:endParaRPr>
                    </a:p>
                  </a:txBody>
                  <a:tcPr marL="54864" marR="54864" marT="54864" marB="54864"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r>
              <a:tr h="457200">
                <a:tc>
                  <a:txBody>
                    <a:bodyPr/>
                    <a:lstStyle/>
                    <a:p>
                      <a:pPr indent="0" marL="0">
                        <a:buNone/>
                      </a:pPr>
                      <a:r>
                        <a:rPr lang="en-US" sz="1300" b="1" dirty="0">
                          <a:solidFill>
                            <a:schemeClr val="accent3"/>
                          </a:solidFill>
                          <a:latin typeface="Arial" pitchFamily="34" charset="0"/>
                          <a:ea typeface="Arial" pitchFamily="34" charset="-122"/>
                          <a:cs typeface="Arial" pitchFamily="34" charset="-120"/>
                        </a:rPr>
                        <a:t>v.19</a:t>
                      </a:r>
                      <a:endParaRPr lang="en-US" sz="1300" dirty="0">
                        <a:latin typeface="Arial" charset="0"/>
                        <a:ea typeface="Arial" charset="0"/>
                        <a:cs typeface="Arial" charset="0"/>
                      </a:endParaRPr>
                    </a:p>
                  </a:txBody>
                  <a:tcPr marL="54864" marR="54864" marT="54864" marB="54864"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cause divisions</a:t>
                      </a:r>
                      <a:endParaRPr lang="en-US" sz="1300" dirty="0">
                        <a:latin typeface="Arial" charset="0"/>
                        <a:ea typeface="Arial" charset="0"/>
                        <a:cs typeface="Arial" charset="0"/>
                      </a:endParaRPr>
                    </a:p>
                  </a:txBody>
                  <a:tcPr marL="54864" marR="54864" marT="54864" marB="54864"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worldly-minded</a:t>
                      </a:r>
                      <a:endParaRPr lang="en-US" sz="1300" dirty="0">
                        <a:latin typeface="Arial" charset="0"/>
                        <a:ea typeface="Arial" charset="0"/>
                        <a:cs typeface="Arial" charset="0"/>
                      </a:endParaRPr>
                    </a:p>
                  </a:txBody>
                  <a:tcPr marL="54864" marR="54864" marT="54864" marB="54864"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devoid of the Spirit</a:t>
                      </a:r>
                      <a:endParaRPr lang="en-US" sz="1300" dirty="0">
                        <a:latin typeface="Arial" charset="0"/>
                        <a:ea typeface="Arial" charset="0"/>
                        <a:cs typeface="Arial" charset="0"/>
                      </a:endParaRPr>
                    </a:p>
                  </a:txBody>
                  <a:tcPr marL="54864" marR="54864" marT="54864" marB="54864"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r>
              <a:tr h="457200">
                <a:tc>
                  <a:txBody>
                    <a:bodyPr/>
                    <a:lstStyle/>
                    <a:p>
                      <a:pPr indent="0" marL="0">
                        <a:buNone/>
                      </a:pPr>
                      <a:r>
                        <a:rPr lang="en-US" sz="1300" b="1" dirty="0">
                          <a:solidFill>
                            <a:schemeClr val="accent3"/>
                          </a:solidFill>
                          <a:latin typeface="Arial" pitchFamily="34" charset="0"/>
                          <a:ea typeface="Arial" pitchFamily="34" charset="-122"/>
                          <a:cs typeface="Arial" pitchFamily="34" charset="-120"/>
                        </a:rPr>
                        <a:t>vv.20–21</a:t>
                      </a:r>
                      <a:endParaRPr lang="en-US" sz="1300" dirty="0">
                        <a:latin typeface="Arial" charset="0"/>
                        <a:ea typeface="Arial" charset="0"/>
                        <a:cs typeface="Arial" charset="0"/>
                      </a:endParaRPr>
                    </a:p>
                  </a:txBody>
                  <a:tcPr marL="54864" marR="54864" marT="54864" marB="54864"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building yourselves up</a:t>
                      </a:r>
                      <a:endParaRPr lang="en-US" sz="1300" dirty="0">
                        <a:latin typeface="Arial" charset="0"/>
                        <a:ea typeface="Arial" charset="0"/>
                        <a:cs typeface="Arial" charset="0"/>
                      </a:endParaRPr>
                    </a:p>
                  </a:txBody>
                  <a:tcPr marL="54864" marR="54864" marT="54864" marB="54864"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praying in the Holy Spirit</a:t>
                      </a:r>
                      <a:endParaRPr lang="en-US" sz="1300" dirty="0">
                        <a:latin typeface="Arial" charset="0"/>
                        <a:ea typeface="Arial" charset="0"/>
                        <a:cs typeface="Arial" charset="0"/>
                      </a:endParaRPr>
                    </a:p>
                  </a:txBody>
                  <a:tcPr marL="54864" marR="54864" marT="54864" marB="54864"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keep yourselves in God's love</a:t>
                      </a:r>
                      <a:endParaRPr lang="en-US" sz="1300" dirty="0">
                        <a:latin typeface="Arial" charset="0"/>
                        <a:ea typeface="Arial" charset="0"/>
                        <a:cs typeface="Arial" charset="0"/>
                      </a:endParaRPr>
                    </a:p>
                  </a:txBody>
                  <a:tcPr marL="54864" marR="54864" marT="54864" marB="54864"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r>
              <a:tr h="457200">
                <a:tc>
                  <a:txBody>
                    <a:bodyPr/>
                    <a:lstStyle/>
                    <a:p>
                      <a:pPr indent="0" marL="0">
                        <a:buNone/>
                      </a:pPr>
                      <a:r>
                        <a:rPr lang="en-US" sz="1300" b="1" dirty="0">
                          <a:solidFill>
                            <a:schemeClr val="accent3"/>
                          </a:solidFill>
                          <a:latin typeface="Arial" pitchFamily="34" charset="0"/>
                          <a:ea typeface="Arial" pitchFamily="34" charset="-122"/>
                          <a:cs typeface="Arial" pitchFamily="34" charset="-120"/>
                        </a:rPr>
                        <a:t>vv.22–23</a:t>
                      </a:r>
                      <a:endParaRPr lang="en-US" sz="1300" dirty="0">
                        <a:latin typeface="Arial" charset="0"/>
                        <a:ea typeface="Arial" charset="0"/>
                        <a:cs typeface="Arial" charset="0"/>
                      </a:endParaRPr>
                    </a:p>
                  </a:txBody>
                  <a:tcPr marL="54864" marR="54864" marT="54864" marB="54864"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have mercy on some who doubt</a:t>
                      </a:r>
                      <a:endParaRPr lang="en-US" sz="1300" dirty="0">
                        <a:latin typeface="Arial" charset="0"/>
                        <a:ea typeface="Arial" charset="0"/>
                        <a:cs typeface="Arial" charset="0"/>
                      </a:endParaRPr>
                    </a:p>
                  </a:txBody>
                  <a:tcPr marL="54864" marR="54864" marT="54864" marB="54864"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save others from the fire</a:t>
                      </a:r>
                      <a:endParaRPr lang="en-US" sz="1300" dirty="0">
                        <a:latin typeface="Arial" charset="0"/>
                        <a:ea typeface="Arial" charset="0"/>
                        <a:cs typeface="Arial" charset="0"/>
                      </a:endParaRPr>
                    </a:p>
                  </a:txBody>
                  <a:tcPr marL="54864" marR="54864" marT="54864" marB="54864"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on some have mercy with fear</a:t>
                      </a:r>
                      <a:endParaRPr lang="en-US" sz="1300" dirty="0">
                        <a:latin typeface="Arial" charset="0"/>
                        <a:ea typeface="Arial" charset="0"/>
                        <a:cs typeface="Arial" charset="0"/>
                      </a:endParaRPr>
                    </a:p>
                  </a:txBody>
                  <a:tcPr marL="54864" marR="54864" marT="54864" marB="54864"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r>
              <a:tr h="457200">
                <a:tc>
                  <a:txBody>
                    <a:bodyPr/>
                    <a:lstStyle/>
                    <a:p>
                      <a:pPr indent="0" marL="0">
                        <a:buNone/>
                      </a:pPr>
                      <a:r>
                        <a:rPr lang="en-US" sz="1300" b="1" dirty="0">
                          <a:solidFill>
                            <a:schemeClr val="accent3"/>
                          </a:solidFill>
                          <a:latin typeface="Arial" pitchFamily="34" charset="0"/>
                          <a:ea typeface="Arial" pitchFamily="34" charset="-122"/>
                          <a:cs typeface="Arial" pitchFamily="34" charset="-120"/>
                        </a:rPr>
                        <a:t>v.25</a:t>
                      </a:r>
                      <a:endParaRPr lang="en-US" sz="1300" dirty="0">
                        <a:latin typeface="Arial" charset="0"/>
                        <a:ea typeface="Arial" charset="0"/>
                        <a:cs typeface="Arial" charset="0"/>
                      </a:endParaRPr>
                    </a:p>
                  </a:txBody>
                  <a:tcPr marL="54864" marR="54864" marT="54864" marB="54864"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before all time</a:t>
                      </a:r>
                      <a:endParaRPr lang="en-US" sz="1300" dirty="0">
                        <a:latin typeface="Arial" charset="0"/>
                        <a:ea typeface="Arial" charset="0"/>
                        <a:cs typeface="Arial" charset="0"/>
                      </a:endParaRPr>
                    </a:p>
                  </a:txBody>
                  <a:tcPr marL="54864" marR="54864" marT="54864" marB="54864"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now</a:t>
                      </a:r>
                      <a:endParaRPr lang="en-US" sz="1300" dirty="0">
                        <a:latin typeface="Arial" charset="0"/>
                        <a:ea typeface="Arial" charset="0"/>
                        <a:cs typeface="Arial" charset="0"/>
                      </a:endParaRPr>
                    </a:p>
                  </a:txBody>
                  <a:tcPr marL="54864" marR="54864" marT="54864" marB="54864"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forever</a:t>
                      </a:r>
                      <a:endParaRPr lang="en-US" sz="1300" dirty="0">
                        <a:latin typeface="Arial" charset="0"/>
                        <a:ea typeface="Arial" charset="0"/>
                        <a:cs typeface="Arial" charset="0"/>
                      </a:endParaRPr>
                    </a:p>
                  </a:txBody>
                  <a:tcPr marL="54864" marR="54864" marT="54864" marB="54864"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685800"/>
          </a:xfrm>
          <a:prstGeom prst="rect">
            <a:avLst/>
          </a:prstGeom>
          <a:noFill/>
          <a:ln/>
        </p:spPr>
        <p:txBody>
          <a:bodyPr wrap="square" rtlCol="0" anchor="ctr"/>
          <a:lstStyle/>
          <a:p>
            <a:pPr indent="0" marL="0">
              <a:buNone/>
            </a:pPr>
            <a:r>
              <a:rPr lang="en-US" sz="3200" b="1" dirty="0">
                <a:solidFill>
                  <a:schemeClr val="tx2"/>
                </a:solidFill>
              </a:rPr>
              <a:t>The "keep" bracket</a:t>
            </a:r>
            <a:endParaRPr lang="en-US" sz="3200" dirty="0"/>
          </a:p>
        </p:txBody>
      </p:sp>
      <p:sp>
        <p:nvSpPr>
          <p:cNvPr id="3" name="Text 0"/>
          <p:cNvSpPr/>
          <p:nvPr>
            <p:ph idx="101" type="body" hasCustomPrompt="1"/>
          </p:nvPr>
        </p:nvSpPr>
        <p:spPr>
          <a:xfrm>
            <a:off x="548640" y="914400"/>
            <a:ext cx="11064240" cy="365760"/>
          </a:xfrm>
          <a:prstGeom prst="rect">
            <a:avLst/>
          </a:prstGeom>
          <a:noFill/>
          <a:ln/>
        </p:spPr>
        <p:txBody>
          <a:bodyPr wrap="square" rtlCol="0" anchor="t"/>
          <a:lstStyle/>
          <a:p>
            <a:pPr indent="0" marL="0">
              <a:buNone/>
            </a:pPr>
            <a:r>
              <a:rPr lang="en-US" sz="1400" i="1" dirty="0">
                <a:solidFill>
                  <a:schemeClr val="accent4"/>
                </a:solidFill>
              </a:rPr>
              <a:t>God keeps (vv.1, 24) · kept for judgment (vv.6, 13) · keep yourselves (v.21)</a:t>
            </a:r>
            <a:endParaRPr lang="en-US" sz="1400" dirty="0"/>
          </a:p>
        </p:txBody>
      </p:sp>
      <p:sp>
        <p:nvSpPr>
          <p:cNvPr id="4" name="Shape 2"/>
          <p:cNvSpPr/>
          <p:nvPr/>
        </p:nvSpPr>
        <p:spPr>
          <a:xfrm>
            <a:off x="548640" y="1417320"/>
            <a:ext cx="914400" cy="713232"/>
          </a:xfrm>
          <a:prstGeom prst="roundRect">
            <a:avLst>
              <a:gd name="adj" fmla="val 10256"/>
            </a:avLst>
          </a:prstGeom>
          <a:solidFill>
            <a:schemeClr val="accent1"/>
          </a:solidFill>
          <a:ln w="12700">
            <a:solidFill>
              <a:schemeClr val="accent1"/>
            </a:solidFill>
            <a:prstDash val="solid"/>
          </a:ln>
        </p:spPr>
      </p:sp>
      <p:sp>
        <p:nvSpPr>
          <p:cNvPr id="5" name="Text 3"/>
          <p:cNvSpPr txBox="1"/>
          <p:nvPr/>
        </p:nvSpPr>
        <p:spPr>
          <a:xfrm>
            <a:off x="548640" y="1417320"/>
            <a:ext cx="914400" cy="713232"/>
          </a:xfrm>
          <a:prstGeom prst="rect">
            <a:avLst/>
          </a:prstGeom>
          <a:noFill/>
          <a:ln/>
        </p:spPr>
        <p:txBody>
          <a:bodyPr wrap="square" lIns="0" tIns="0" rIns="0" bIns="0" rtlCol="0" anchor="ctr"/>
          <a:lstStyle/>
          <a:p>
            <a:pPr algn="ctr" indent="0" marL="0">
              <a:buNone/>
            </a:pPr>
            <a:r>
              <a:rPr lang="en-US" sz="1800" b="1" dirty="0">
                <a:solidFill>
                  <a:schemeClr val="bg1"/>
                </a:solidFill>
              </a:rPr>
              <a:t>v.1</a:t>
            </a:r>
            <a:endParaRPr lang="en-US" sz="1800" dirty="0"/>
          </a:p>
        </p:txBody>
      </p:sp>
      <p:sp>
        <p:nvSpPr>
          <p:cNvPr id="6" name="Shape 4"/>
          <p:cNvSpPr/>
          <p:nvPr/>
        </p:nvSpPr>
        <p:spPr>
          <a:xfrm>
            <a:off x="1600200" y="1417320"/>
            <a:ext cx="10012680" cy="713232"/>
          </a:xfrm>
          <a:prstGeom prst="rect">
            <a:avLst/>
          </a:prstGeom>
          <a:solidFill>
            <a:schemeClr val="bg2"/>
          </a:solidFill>
          <a:ln w="6350">
            <a:solidFill>
              <a:srgbClr val="D5DCEA"/>
            </a:solidFill>
            <a:prstDash val="solid"/>
          </a:ln>
        </p:spPr>
      </p:sp>
      <p:sp>
        <p:nvSpPr>
          <p:cNvPr id="7" name="Text 5"/>
          <p:cNvSpPr txBox="1"/>
          <p:nvPr/>
        </p:nvSpPr>
        <p:spPr>
          <a:xfrm>
            <a:off x="1737360" y="1417320"/>
            <a:ext cx="5120640" cy="713232"/>
          </a:xfrm>
          <a:prstGeom prst="rect">
            <a:avLst/>
          </a:prstGeom>
          <a:noFill/>
          <a:ln/>
        </p:spPr>
        <p:txBody>
          <a:bodyPr wrap="square" lIns="0" tIns="0" rIns="0" bIns="0" rtlCol="0" anchor="ctr"/>
          <a:lstStyle/>
          <a:p>
            <a:pPr indent="0" marL="0">
              <a:buNone/>
            </a:pPr>
            <a:r>
              <a:rPr lang="en-US" sz="1400" i="1" dirty="0">
                <a:solidFill>
                  <a:schemeClr val="tx1"/>
                </a:solidFill>
              </a:rPr>
              <a:t>"…called, beloved in God the Father, and kept for Jesus Christ"</a:t>
            </a:r>
            <a:endParaRPr lang="en-US" sz="1400" dirty="0"/>
          </a:p>
        </p:txBody>
      </p:sp>
      <p:sp>
        <p:nvSpPr>
          <p:cNvPr id="8" name="Text 6"/>
          <p:cNvSpPr txBox="1"/>
          <p:nvPr/>
        </p:nvSpPr>
        <p:spPr>
          <a:xfrm>
            <a:off x="6995160" y="1417320"/>
            <a:ext cx="4526280" cy="713232"/>
          </a:xfrm>
          <a:prstGeom prst="rect">
            <a:avLst/>
          </a:prstGeom>
          <a:noFill/>
          <a:ln/>
        </p:spPr>
        <p:txBody>
          <a:bodyPr wrap="square" lIns="0" tIns="0" rIns="0" bIns="0" rtlCol="0" anchor="ctr"/>
          <a:lstStyle/>
          <a:p>
            <a:pPr indent="0" marL="0">
              <a:buNone/>
            </a:pPr>
            <a:r>
              <a:rPr lang="en-US" sz="1600" b="1" dirty="0">
                <a:solidFill>
                  <a:schemeClr val="accent3"/>
                </a:solidFill>
              </a:rPr>
              <a:t>τετηρημένοις</a:t>
            </a:r>
            <a:endParaRPr lang="en-US" sz="1600" dirty="0"/>
          </a:p>
          <a:p>
            <a:pPr indent="0" marL="0">
              <a:buNone/>
            </a:pPr>
            <a:r>
              <a:rPr lang="en-US" sz="1200" dirty="0">
                <a:solidFill>
                  <a:schemeClr val="tx1"/>
                </a:solidFill>
              </a:rPr>
              <a:t>tēreō · perf. pass. ptc. — kept by God; a settled, ongoing state</a:t>
            </a:r>
            <a:endParaRPr lang="en-US" sz="1600" dirty="0"/>
          </a:p>
        </p:txBody>
      </p:sp>
      <p:sp>
        <p:nvSpPr>
          <p:cNvPr id="9" name="Shape 7"/>
          <p:cNvSpPr/>
          <p:nvPr/>
        </p:nvSpPr>
        <p:spPr>
          <a:xfrm>
            <a:off x="548640" y="2258568"/>
            <a:ext cx="914400" cy="713232"/>
          </a:xfrm>
          <a:prstGeom prst="roundRect">
            <a:avLst>
              <a:gd name="adj" fmla="val 10256"/>
            </a:avLst>
          </a:prstGeom>
          <a:solidFill>
            <a:schemeClr val="accent4"/>
          </a:solidFill>
          <a:ln w="12700">
            <a:solidFill>
              <a:schemeClr val="accent4"/>
            </a:solidFill>
            <a:prstDash val="solid"/>
          </a:ln>
        </p:spPr>
      </p:sp>
      <p:sp>
        <p:nvSpPr>
          <p:cNvPr id="10" name="Text 8"/>
          <p:cNvSpPr txBox="1"/>
          <p:nvPr/>
        </p:nvSpPr>
        <p:spPr>
          <a:xfrm>
            <a:off x="548640" y="2258568"/>
            <a:ext cx="914400" cy="713232"/>
          </a:xfrm>
          <a:prstGeom prst="rect">
            <a:avLst/>
          </a:prstGeom>
          <a:noFill/>
          <a:ln/>
        </p:spPr>
        <p:txBody>
          <a:bodyPr wrap="square" lIns="0" tIns="0" rIns="0" bIns="0" rtlCol="0" anchor="ctr"/>
          <a:lstStyle/>
          <a:p>
            <a:pPr algn="ctr" indent="0" marL="0">
              <a:buNone/>
            </a:pPr>
            <a:r>
              <a:rPr lang="en-US" sz="1800" b="1" dirty="0">
                <a:solidFill>
                  <a:schemeClr val="bg1"/>
                </a:solidFill>
              </a:rPr>
              <a:t>v.6</a:t>
            </a:r>
            <a:endParaRPr lang="en-US" sz="1800" dirty="0"/>
          </a:p>
        </p:txBody>
      </p:sp>
      <p:sp>
        <p:nvSpPr>
          <p:cNvPr id="11" name="Shape 9"/>
          <p:cNvSpPr/>
          <p:nvPr/>
        </p:nvSpPr>
        <p:spPr>
          <a:xfrm>
            <a:off x="1600200" y="2258568"/>
            <a:ext cx="10012680" cy="713232"/>
          </a:xfrm>
          <a:prstGeom prst="rect">
            <a:avLst/>
          </a:prstGeom>
          <a:solidFill>
            <a:schemeClr val="bg1"/>
          </a:solidFill>
          <a:ln w="6350">
            <a:solidFill>
              <a:srgbClr val="D5DCEA"/>
            </a:solidFill>
            <a:prstDash val="solid"/>
          </a:ln>
        </p:spPr>
      </p:sp>
      <p:sp>
        <p:nvSpPr>
          <p:cNvPr id="12" name="Text 10"/>
          <p:cNvSpPr txBox="1"/>
          <p:nvPr/>
        </p:nvSpPr>
        <p:spPr>
          <a:xfrm>
            <a:off x="1737360" y="2258568"/>
            <a:ext cx="5120640" cy="713232"/>
          </a:xfrm>
          <a:prstGeom prst="rect">
            <a:avLst/>
          </a:prstGeom>
          <a:noFill/>
          <a:ln/>
        </p:spPr>
        <p:txBody>
          <a:bodyPr wrap="square" lIns="0" tIns="0" rIns="0" bIns="0" rtlCol="0" anchor="ctr"/>
          <a:lstStyle/>
          <a:p>
            <a:pPr indent="0" marL="0">
              <a:buNone/>
            </a:pPr>
            <a:r>
              <a:rPr lang="en-US" sz="1400" i="1" dirty="0">
                <a:solidFill>
                  <a:schemeClr val="tx1"/>
                </a:solidFill>
              </a:rPr>
              <a:t>"angels who did not keep their own domain… He has kept in eternal bonds"</a:t>
            </a:r>
            <a:endParaRPr lang="en-US" sz="1400" dirty="0"/>
          </a:p>
        </p:txBody>
      </p:sp>
      <p:sp>
        <p:nvSpPr>
          <p:cNvPr id="13" name="Text 11"/>
          <p:cNvSpPr txBox="1"/>
          <p:nvPr/>
        </p:nvSpPr>
        <p:spPr>
          <a:xfrm>
            <a:off x="6995160" y="2258568"/>
            <a:ext cx="4526280" cy="713232"/>
          </a:xfrm>
          <a:prstGeom prst="rect">
            <a:avLst/>
          </a:prstGeom>
          <a:noFill/>
          <a:ln/>
        </p:spPr>
        <p:txBody>
          <a:bodyPr wrap="square" lIns="0" tIns="0" rIns="0" bIns="0" rtlCol="0" anchor="ctr"/>
          <a:lstStyle/>
          <a:p>
            <a:pPr indent="0" marL="0">
              <a:buNone/>
            </a:pPr>
            <a:r>
              <a:rPr lang="en-US" sz="1600" b="1" dirty="0">
                <a:solidFill>
                  <a:schemeClr val="accent3"/>
                </a:solidFill>
              </a:rPr>
              <a:t>τηρήσαντας · τετήρηκεν</a:t>
            </a:r>
            <a:endParaRPr lang="en-US" sz="1600" dirty="0"/>
          </a:p>
          <a:p>
            <a:pPr indent="0" marL="0">
              <a:buNone/>
            </a:pPr>
            <a:r>
              <a:rPr lang="en-US" sz="1200" dirty="0">
                <a:solidFill>
                  <a:schemeClr val="tx1"/>
                </a:solidFill>
              </a:rPr>
              <a:t>Those who would not keep their place are now kept under judgment</a:t>
            </a:r>
            <a:endParaRPr lang="en-US" sz="1600" dirty="0"/>
          </a:p>
        </p:txBody>
      </p:sp>
      <p:sp>
        <p:nvSpPr>
          <p:cNvPr id="14" name="Shape 12"/>
          <p:cNvSpPr/>
          <p:nvPr/>
        </p:nvSpPr>
        <p:spPr>
          <a:xfrm>
            <a:off x="548640" y="3099816"/>
            <a:ext cx="914400" cy="713232"/>
          </a:xfrm>
          <a:prstGeom prst="roundRect">
            <a:avLst>
              <a:gd name="adj" fmla="val 10256"/>
            </a:avLst>
          </a:prstGeom>
          <a:solidFill>
            <a:schemeClr val="accent4"/>
          </a:solidFill>
          <a:ln w="12700">
            <a:solidFill>
              <a:schemeClr val="accent4"/>
            </a:solidFill>
            <a:prstDash val="solid"/>
          </a:ln>
        </p:spPr>
      </p:sp>
      <p:sp>
        <p:nvSpPr>
          <p:cNvPr id="15" name="Text 13"/>
          <p:cNvSpPr txBox="1"/>
          <p:nvPr/>
        </p:nvSpPr>
        <p:spPr>
          <a:xfrm>
            <a:off x="548640" y="3099816"/>
            <a:ext cx="914400" cy="713232"/>
          </a:xfrm>
          <a:prstGeom prst="rect">
            <a:avLst/>
          </a:prstGeom>
          <a:noFill/>
          <a:ln/>
        </p:spPr>
        <p:txBody>
          <a:bodyPr wrap="square" lIns="0" tIns="0" rIns="0" bIns="0" rtlCol="0" anchor="ctr"/>
          <a:lstStyle/>
          <a:p>
            <a:pPr algn="ctr" indent="0" marL="0">
              <a:buNone/>
            </a:pPr>
            <a:r>
              <a:rPr lang="en-US" sz="1800" b="1" dirty="0">
                <a:solidFill>
                  <a:schemeClr val="bg1"/>
                </a:solidFill>
              </a:rPr>
              <a:t>v.13</a:t>
            </a:r>
            <a:endParaRPr lang="en-US" sz="1800" dirty="0"/>
          </a:p>
        </p:txBody>
      </p:sp>
      <p:sp>
        <p:nvSpPr>
          <p:cNvPr id="16" name="Shape 14"/>
          <p:cNvSpPr/>
          <p:nvPr/>
        </p:nvSpPr>
        <p:spPr>
          <a:xfrm>
            <a:off x="1600200" y="3099816"/>
            <a:ext cx="10012680" cy="713232"/>
          </a:xfrm>
          <a:prstGeom prst="rect">
            <a:avLst/>
          </a:prstGeom>
          <a:solidFill>
            <a:schemeClr val="bg2"/>
          </a:solidFill>
          <a:ln w="6350">
            <a:solidFill>
              <a:srgbClr val="D5DCEA"/>
            </a:solidFill>
            <a:prstDash val="solid"/>
          </a:ln>
        </p:spPr>
      </p:sp>
      <p:sp>
        <p:nvSpPr>
          <p:cNvPr id="17" name="Text 15"/>
          <p:cNvSpPr txBox="1"/>
          <p:nvPr/>
        </p:nvSpPr>
        <p:spPr>
          <a:xfrm>
            <a:off x="1737360" y="3099816"/>
            <a:ext cx="5120640" cy="713232"/>
          </a:xfrm>
          <a:prstGeom prst="rect">
            <a:avLst/>
          </a:prstGeom>
          <a:noFill/>
          <a:ln/>
        </p:spPr>
        <p:txBody>
          <a:bodyPr wrap="square" lIns="0" tIns="0" rIns="0" bIns="0" rtlCol="0" anchor="ctr"/>
          <a:lstStyle/>
          <a:p>
            <a:pPr indent="0" marL="0">
              <a:buNone/>
            </a:pPr>
            <a:r>
              <a:rPr lang="en-US" sz="1400" i="1" dirty="0">
                <a:solidFill>
                  <a:schemeClr val="tx1"/>
                </a:solidFill>
              </a:rPr>
              <a:t>"for whom the black darkness has been reserved forever"</a:t>
            </a:r>
            <a:endParaRPr lang="en-US" sz="1400" dirty="0"/>
          </a:p>
        </p:txBody>
      </p:sp>
      <p:sp>
        <p:nvSpPr>
          <p:cNvPr id="18" name="Text 16"/>
          <p:cNvSpPr txBox="1"/>
          <p:nvPr/>
        </p:nvSpPr>
        <p:spPr>
          <a:xfrm>
            <a:off x="6995160" y="3099816"/>
            <a:ext cx="4526280" cy="713232"/>
          </a:xfrm>
          <a:prstGeom prst="rect">
            <a:avLst/>
          </a:prstGeom>
          <a:noFill/>
          <a:ln/>
        </p:spPr>
        <p:txBody>
          <a:bodyPr wrap="square" lIns="0" tIns="0" rIns="0" bIns="0" rtlCol="0" anchor="ctr"/>
          <a:lstStyle/>
          <a:p>
            <a:pPr indent="0" marL="0">
              <a:buNone/>
            </a:pPr>
            <a:r>
              <a:rPr lang="en-US" sz="1600" b="1" dirty="0">
                <a:solidFill>
                  <a:schemeClr val="accent3"/>
                </a:solidFill>
              </a:rPr>
              <a:t>τετήρηται</a:t>
            </a:r>
            <a:endParaRPr lang="en-US" sz="1600" dirty="0"/>
          </a:p>
          <a:p>
            <a:pPr indent="0" marL="0">
              <a:buNone/>
            </a:pPr>
            <a:r>
              <a:rPr lang="en-US" sz="1200" dirty="0">
                <a:solidFill>
                  <a:schemeClr val="tx1"/>
                </a:solidFill>
              </a:rPr>
              <a:t>perf. pass. ind. — the intruders' end is kept for them</a:t>
            </a:r>
            <a:endParaRPr lang="en-US" sz="1600" dirty="0"/>
          </a:p>
        </p:txBody>
      </p:sp>
      <p:sp>
        <p:nvSpPr>
          <p:cNvPr id="19" name="Shape 17"/>
          <p:cNvSpPr/>
          <p:nvPr/>
        </p:nvSpPr>
        <p:spPr>
          <a:xfrm>
            <a:off x="548640" y="3941064"/>
            <a:ext cx="914400" cy="713232"/>
          </a:xfrm>
          <a:prstGeom prst="roundRect">
            <a:avLst>
              <a:gd name="adj" fmla="val 10256"/>
            </a:avLst>
          </a:prstGeom>
          <a:solidFill>
            <a:schemeClr val="accent2"/>
          </a:solidFill>
          <a:ln w="12700">
            <a:solidFill>
              <a:schemeClr val="accent2"/>
            </a:solidFill>
            <a:prstDash val="solid"/>
          </a:ln>
        </p:spPr>
      </p:sp>
      <p:sp>
        <p:nvSpPr>
          <p:cNvPr id="20" name="Text 18"/>
          <p:cNvSpPr txBox="1"/>
          <p:nvPr/>
        </p:nvSpPr>
        <p:spPr>
          <a:xfrm>
            <a:off x="548640" y="3941064"/>
            <a:ext cx="914400" cy="713232"/>
          </a:xfrm>
          <a:prstGeom prst="rect">
            <a:avLst/>
          </a:prstGeom>
          <a:noFill/>
          <a:ln/>
        </p:spPr>
        <p:txBody>
          <a:bodyPr wrap="square" lIns="0" tIns="0" rIns="0" bIns="0" rtlCol="0" anchor="ctr"/>
          <a:lstStyle/>
          <a:p>
            <a:pPr algn="ctr" indent="0" marL="0">
              <a:buNone/>
            </a:pPr>
            <a:r>
              <a:rPr lang="en-US" sz="1800" b="1" dirty="0">
                <a:solidFill>
                  <a:schemeClr val="bg1"/>
                </a:solidFill>
              </a:rPr>
              <a:t>v.21</a:t>
            </a:r>
            <a:endParaRPr lang="en-US" sz="1800" dirty="0"/>
          </a:p>
        </p:txBody>
      </p:sp>
      <p:sp>
        <p:nvSpPr>
          <p:cNvPr id="21" name="Shape 19"/>
          <p:cNvSpPr/>
          <p:nvPr/>
        </p:nvSpPr>
        <p:spPr>
          <a:xfrm>
            <a:off x="1600200" y="3941064"/>
            <a:ext cx="10012680" cy="713232"/>
          </a:xfrm>
          <a:prstGeom prst="rect">
            <a:avLst/>
          </a:prstGeom>
          <a:solidFill>
            <a:schemeClr val="bg1"/>
          </a:solidFill>
          <a:ln w="6350">
            <a:solidFill>
              <a:srgbClr val="D5DCEA"/>
            </a:solidFill>
            <a:prstDash val="solid"/>
          </a:ln>
        </p:spPr>
      </p:sp>
      <p:sp>
        <p:nvSpPr>
          <p:cNvPr id="22" name="Text 20"/>
          <p:cNvSpPr txBox="1"/>
          <p:nvPr/>
        </p:nvSpPr>
        <p:spPr>
          <a:xfrm>
            <a:off x="1737360" y="3941064"/>
            <a:ext cx="5120640" cy="713232"/>
          </a:xfrm>
          <a:prstGeom prst="rect">
            <a:avLst/>
          </a:prstGeom>
          <a:noFill/>
          <a:ln/>
        </p:spPr>
        <p:txBody>
          <a:bodyPr wrap="square" lIns="0" tIns="0" rIns="0" bIns="0" rtlCol="0" anchor="ctr"/>
          <a:lstStyle/>
          <a:p>
            <a:pPr indent="0" marL="0">
              <a:buNone/>
            </a:pPr>
            <a:r>
              <a:rPr lang="en-US" sz="1400" i="1" dirty="0">
                <a:solidFill>
                  <a:schemeClr val="tx1"/>
                </a:solidFill>
              </a:rPr>
              <a:t>"keep yourselves in the love of God"</a:t>
            </a:r>
            <a:endParaRPr lang="en-US" sz="1400" dirty="0"/>
          </a:p>
        </p:txBody>
      </p:sp>
      <p:sp>
        <p:nvSpPr>
          <p:cNvPr id="23" name="Text 21"/>
          <p:cNvSpPr txBox="1"/>
          <p:nvPr/>
        </p:nvSpPr>
        <p:spPr>
          <a:xfrm>
            <a:off x="6995160" y="3941064"/>
            <a:ext cx="4526280" cy="713232"/>
          </a:xfrm>
          <a:prstGeom prst="rect">
            <a:avLst/>
          </a:prstGeom>
          <a:noFill/>
          <a:ln/>
        </p:spPr>
        <p:txBody>
          <a:bodyPr wrap="square" lIns="0" tIns="0" rIns="0" bIns="0" rtlCol="0" anchor="ctr"/>
          <a:lstStyle/>
          <a:p>
            <a:pPr indent="0" marL="0">
              <a:buNone/>
            </a:pPr>
            <a:r>
              <a:rPr lang="en-US" sz="1600" b="1" dirty="0">
                <a:solidFill>
                  <a:schemeClr val="accent3"/>
                </a:solidFill>
              </a:rPr>
              <a:t>τηρήσατε</a:t>
            </a:r>
            <a:endParaRPr lang="en-US" sz="1600" dirty="0"/>
          </a:p>
          <a:p>
            <a:pPr indent="0" marL="0">
              <a:buNone/>
            </a:pPr>
            <a:r>
              <a:rPr lang="en-US" sz="1200" dirty="0">
                <a:solidFill>
                  <a:schemeClr val="tx1"/>
                </a:solidFill>
              </a:rPr>
              <a:t>aor. act. impv. 2nd pl. — a command for the believer's walk</a:t>
            </a:r>
            <a:endParaRPr lang="en-US" sz="1600" dirty="0"/>
          </a:p>
        </p:txBody>
      </p:sp>
      <p:sp>
        <p:nvSpPr>
          <p:cNvPr id="24" name="Shape 22"/>
          <p:cNvSpPr/>
          <p:nvPr/>
        </p:nvSpPr>
        <p:spPr>
          <a:xfrm>
            <a:off x="548640" y="4782312"/>
            <a:ext cx="914400" cy="713232"/>
          </a:xfrm>
          <a:prstGeom prst="roundRect">
            <a:avLst>
              <a:gd name="adj" fmla="val 10256"/>
            </a:avLst>
          </a:prstGeom>
          <a:solidFill>
            <a:schemeClr val="accent1"/>
          </a:solidFill>
          <a:ln w="12700">
            <a:solidFill>
              <a:schemeClr val="accent1"/>
            </a:solidFill>
            <a:prstDash val="solid"/>
          </a:ln>
        </p:spPr>
      </p:sp>
      <p:sp>
        <p:nvSpPr>
          <p:cNvPr id="25" name="Text 23"/>
          <p:cNvSpPr txBox="1"/>
          <p:nvPr/>
        </p:nvSpPr>
        <p:spPr>
          <a:xfrm>
            <a:off x="548640" y="4782312"/>
            <a:ext cx="914400" cy="713232"/>
          </a:xfrm>
          <a:prstGeom prst="rect">
            <a:avLst/>
          </a:prstGeom>
          <a:noFill/>
          <a:ln/>
        </p:spPr>
        <p:txBody>
          <a:bodyPr wrap="square" lIns="0" tIns="0" rIns="0" bIns="0" rtlCol="0" anchor="ctr"/>
          <a:lstStyle/>
          <a:p>
            <a:pPr algn="ctr" indent="0" marL="0">
              <a:buNone/>
            </a:pPr>
            <a:r>
              <a:rPr lang="en-US" sz="1800" b="1" dirty="0">
                <a:solidFill>
                  <a:schemeClr val="bg1"/>
                </a:solidFill>
              </a:rPr>
              <a:t>v.24</a:t>
            </a:r>
            <a:endParaRPr lang="en-US" sz="1800" dirty="0"/>
          </a:p>
        </p:txBody>
      </p:sp>
      <p:sp>
        <p:nvSpPr>
          <p:cNvPr id="26" name="Shape 24"/>
          <p:cNvSpPr/>
          <p:nvPr/>
        </p:nvSpPr>
        <p:spPr>
          <a:xfrm>
            <a:off x="1600200" y="4782312"/>
            <a:ext cx="10012680" cy="713232"/>
          </a:xfrm>
          <a:prstGeom prst="rect">
            <a:avLst/>
          </a:prstGeom>
          <a:solidFill>
            <a:schemeClr val="bg2"/>
          </a:solidFill>
          <a:ln w="6350">
            <a:solidFill>
              <a:srgbClr val="D5DCEA"/>
            </a:solidFill>
            <a:prstDash val="solid"/>
          </a:ln>
        </p:spPr>
      </p:sp>
      <p:sp>
        <p:nvSpPr>
          <p:cNvPr id="27" name="Text 25"/>
          <p:cNvSpPr txBox="1"/>
          <p:nvPr/>
        </p:nvSpPr>
        <p:spPr>
          <a:xfrm>
            <a:off x="1737360" y="4782312"/>
            <a:ext cx="5120640" cy="713232"/>
          </a:xfrm>
          <a:prstGeom prst="rect">
            <a:avLst/>
          </a:prstGeom>
          <a:noFill/>
          <a:ln/>
        </p:spPr>
        <p:txBody>
          <a:bodyPr wrap="square" lIns="0" tIns="0" rIns="0" bIns="0" rtlCol="0" anchor="ctr"/>
          <a:lstStyle/>
          <a:p>
            <a:pPr indent="0" marL="0">
              <a:buNone/>
            </a:pPr>
            <a:r>
              <a:rPr lang="en-US" sz="1400" i="1" dirty="0">
                <a:solidFill>
                  <a:schemeClr val="tx1"/>
                </a:solidFill>
              </a:rPr>
              <a:t>"Him who is able to keep you from stumbling… blameless with great joy"</a:t>
            </a:r>
            <a:endParaRPr lang="en-US" sz="1400" dirty="0"/>
          </a:p>
        </p:txBody>
      </p:sp>
      <p:sp>
        <p:nvSpPr>
          <p:cNvPr id="28" name="Text 26"/>
          <p:cNvSpPr txBox="1"/>
          <p:nvPr/>
        </p:nvSpPr>
        <p:spPr>
          <a:xfrm>
            <a:off x="6995160" y="4782312"/>
            <a:ext cx="4526280" cy="713232"/>
          </a:xfrm>
          <a:prstGeom prst="rect">
            <a:avLst/>
          </a:prstGeom>
          <a:noFill/>
          <a:ln/>
        </p:spPr>
        <p:txBody>
          <a:bodyPr wrap="square" lIns="0" tIns="0" rIns="0" bIns="0" rtlCol="0" anchor="ctr"/>
          <a:lstStyle/>
          <a:p>
            <a:pPr indent="0" marL="0">
              <a:buNone/>
            </a:pPr>
            <a:r>
              <a:rPr lang="en-US" sz="1600" b="1" dirty="0">
                <a:solidFill>
                  <a:schemeClr val="accent3"/>
                </a:solidFill>
              </a:rPr>
              <a:t>φυλάξαι</a:t>
            </a:r>
            <a:endParaRPr lang="en-US" sz="1600" dirty="0"/>
          </a:p>
          <a:p>
            <a:pPr indent="0" marL="0">
              <a:buNone/>
            </a:pPr>
            <a:r>
              <a:rPr lang="en-US" sz="1200" dirty="0">
                <a:solidFill>
                  <a:schemeClr val="tx1"/>
                </a:solidFill>
              </a:rPr>
              <a:t>phylassō · aor. act. inf. — God guards His own to the end</a:t>
            </a:r>
            <a:endParaRPr lang="en-US" sz="1600" dirty="0"/>
          </a:p>
        </p:txBody>
      </p:sp>
      <p:sp>
        <p:nvSpPr>
          <p:cNvPr id="29" name="Shape 27"/>
          <p:cNvSpPr/>
          <p:nvPr/>
        </p:nvSpPr>
        <p:spPr>
          <a:xfrm>
            <a:off x="548640" y="5669280"/>
            <a:ext cx="11064240" cy="566928"/>
          </a:xfrm>
          <a:prstGeom prst="roundRect">
            <a:avLst>
              <a:gd name="adj" fmla="val 12903"/>
            </a:avLst>
          </a:prstGeom>
          <a:solidFill>
            <a:schemeClr val="tx2"/>
          </a:solidFill>
          <a:ln w="12700">
            <a:solidFill>
              <a:schemeClr val="tx2"/>
            </a:solidFill>
            <a:prstDash val="solid"/>
          </a:ln>
        </p:spPr>
      </p:sp>
      <p:sp>
        <p:nvSpPr>
          <p:cNvPr id="30" name="Text 28"/>
          <p:cNvSpPr txBox="1"/>
          <p:nvPr/>
        </p:nvSpPr>
        <p:spPr>
          <a:xfrm>
            <a:off x="731520" y="5669280"/>
            <a:ext cx="10698480" cy="566928"/>
          </a:xfrm>
          <a:prstGeom prst="rect">
            <a:avLst/>
          </a:prstGeom>
          <a:noFill/>
          <a:ln/>
        </p:spPr>
        <p:txBody>
          <a:bodyPr wrap="square" lIns="0" tIns="0" rIns="0" bIns="0" rtlCol="0" anchor="ctr"/>
          <a:lstStyle/>
          <a:p>
            <a:pPr indent="0" marL="0">
              <a:buNone/>
            </a:pPr>
            <a:r>
              <a:rPr lang="en-US" sz="1500" dirty="0">
                <a:solidFill>
                  <a:schemeClr val="bg1"/>
                </a:solidFill>
              </a:rPr>
              <a:t>Security rests on God's keeping (vv.1, 24). "Keep yourselves" (v.21) is responsibility for the walk — inside that security.</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685800"/>
          </a:xfrm>
          <a:prstGeom prst="rect">
            <a:avLst/>
          </a:prstGeom>
          <a:noFill/>
          <a:ln/>
        </p:spPr>
        <p:txBody>
          <a:bodyPr wrap="square" rtlCol="0" anchor="ctr"/>
          <a:lstStyle/>
          <a:p>
            <a:pPr indent="0" marL="0">
              <a:buNone/>
            </a:pPr>
            <a:r>
              <a:rPr lang="en-US" sz="3200" b="1" dirty="0">
                <a:solidFill>
                  <a:schemeClr val="tx2"/>
                </a:solidFill>
              </a:rPr>
              <a:t>Three examples of judgment</a:t>
            </a:r>
            <a:endParaRPr lang="en-US" sz="3200" dirty="0"/>
          </a:p>
        </p:txBody>
      </p:sp>
      <p:sp>
        <p:nvSpPr>
          <p:cNvPr id="3" name="Text 0"/>
          <p:cNvSpPr/>
          <p:nvPr>
            <p:ph idx="101" type="body" hasCustomPrompt="1"/>
          </p:nvPr>
        </p:nvSpPr>
        <p:spPr>
          <a:xfrm>
            <a:off x="548640" y="914400"/>
            <a:ext cx="11064240" cy="365760"/>
          </a:xfrm>
          <a:prstGeom prst="rect">
            <a:avLst/>
          </a:prstGeom>
          <a:noFill/>
          <a:ln/>
        </p:spPr>
        <p:txBody>
          <a:bodyPr wrap="square" rtlCol="0" anchor="t"/>
          <a:lstStyle/>
          <a:p>
            <a:pPr indent="0" marL="0">
              <a:buNone/>
            </a:pPr>
            <a:r>
              <a:rPr lang="en-US" sz="1400" i="1" dirty="0">
                <a:solidFill>
                  <a:schemeClr val="accent4"/>
                </a:solidFill>
              </a:rPr>
              <a:t>vv.5–7 · each points back to the intruders of v.4</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1828800"/>
                <a:gridCol w="2103120"/>
                <a:gridCol w="2606040"/>
                <a:gridCol w="2514600"/>
                <a:gridCol w="2011680"/>
              </a:tblGrid>
              <a:tr h="457200">
                <a:tc>
                  <a:txBody>
                    <a:bodyPr/>
                    <a:lstStyle/>
                    <a:p>
                      <a:pPr indent="0" marL="0">
                        <a:buNone/>
                      </a:pPr>
                      <a:r>
                        <a:rPr lang="en-US" sz="1400" b="1" dirty="0">
                          <a:solidFill>
                            <a:schemeClr val="bg1"/>
                          </a:solidFill>
                          <a:latin typeface="Arial" pitchFamily="34" charset="0"/>
                          <a:ea typeface="Arial" pitchFamily="34" charset="-122"/>
                          <a:cs typeface="Arial" pitchFamily="34" charset="-120"/>
                        </a:rPr>
                        <a:t>Example</a:t>
                      </a:r>
                      <a:endParaRPr lang="en-US" sz="1400" dirty="0">
                        <a:latin typeface="Arial" charset="0"/>
                        <a:ea typeface="Arial" charset="0"/>
                        <a:cs typeface="Arial" charset="0"/>
                      </a:endParaRPr>
                    </a:p>
                  </a:txBody>
                  <a:tcPr marL="54864" marR="54864" marT="54864" marB="54864"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latin typeface="Arial" pitchFamily="34" charset="0"/>
                          <a:ea typeface="Arial" pitchFamily="34" charset="-122"/>
                          <a:cs typeface="Arial" pitchFamily="34" charset="-120"/>
                        </a:rPr>
                        <a:t>OT background</a:t>
                      </a:r>
                      <a:endParaRPr lang="en-US" sz="1400" dirty="0">
                        <a:latin typeface="Arial" charset="0"/>
                        <a:ea typeface="Arial" charset="0"/>
                        <a:cs typeface="Arial" charset="0"/>
                      </a:endParaRPr>
                    </a:p>
                  </a:txBody>
                  <a:tcPr marL="54864" marR="54864" marT="54864" marB="54864"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latin typeface="Arial" pitchFamily="34" charset="0"/>
                          <a:ea typeface="Arial" pitchFamily="34" charset="-122"/>
                          <a:cs typeface="Arial" pitchFamily="34" charset="-120"/>
                        </a:rPr>
                        <a:t>What they did</a:t>
                      </a:r>
                      <a:endParaRPr lang="en-US" sz="1400" dirty="0">
                        <a:latin typeface="Arial" charset="0"/>
                        <a:ea typeface="Arial" charset="0"/>
                        <a:cs typeface="Arial" charset="0"/>
                      </a:endParaRPr>
                    </a:p>
                  </a:txBody>
                  <a:tcPr marL="54864" marR="54864" marT="54864" marB="54864"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latin typeface="Arial" pitchFamily="34" charset="0"/>
                          <a:ea typeface="Arial" pitchFamily="34" charset="-122"/>
                          <a:cs typeface="Arial" pitchFamily="34" charset="-120"/>
                        </a:rPr>
                        <a:t>Outcome</a:t>
                      </a:r>
                      <a:endParaRPr lang="en-US" sz="1400" dirty="0">
                        <a:latin typeface="Arial" charset="0"/>
                        <a:ea typeface="Arial" charset="0"/>
                        <a:cs typeface="Arial" charset="0"/>
                      </a:endParaRPr>
                    </a:p>
                  </a:txBody>
                  <a:tcPr marL="54864" marR="54864" marT="54864" marB="54864"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latin typeface="Arial" pitchFamily="34" charset="0"/>
                          <a:ea typeface="Arial" pitchFamily="34" charset="-122"/>
                          <a:cs typeface="Arial" pitchFamily="34" charset="-120"/>
                        </a:rPr>
                        <a:t>Jude's point</a:t>
                      </a:r>
                      <a:endParaRPr lang="en-US" sz="1400" dirty="0">
                        <a:latin typeface="Arial" charset="0"/>
                        <a:ea typeface="Arial" charset="0"/>
                        <a:cs typeface="Arial" charset="0"/>
                      </a:endParaRPr>
                    </a:p>
                  </a:txBody>
                  <a:tcPr marL="54864" marR="54864" marT="54864" marB="54864"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accent1"/>
                    </a:solidFill>
                  </a:tcPr>
                </a:tc>
              </a:tr>
              <a:tr h="1051560">
                <a:tc>
                  <a:txBody>
                    <a:bodyPr/>
                    <a:lstStyle/>
                    <a:p>
                      <a:pPr indent="0" marL="0">
                        <a:buNone/>
                      </a:pPr>
                      <a:r>
                        <a:rPr lang="en-US" sz="1300" b="1" dirty="0">
                          <a:solidFill>
                            <a:schemeClr val="tx2"/>
                          </a:solidFill>
                          <a:latin typeface="Arial" pitchFamily="34" charset="0"/>
                          <a:ea typeface="Arial" pitchFamily="34" charset="-122"/>
                          <a:cs typeface="Arial" pitchFamily="34" charset="-120"/>
                        </a:rPr>
                        <a:t>Israel (v.5)</a:t>
                      </a:r>
                      <a:endParaRPr lang="en-US" sz="1300" dirty="0">
                        <a:latin typeface="Arial" charset="0"/>
                        <a:ea typeface="Arial" charset="0"/>
                        <a:cs typeface="Arial" charset="0"/>
                      </a:endParaRPr>
                    </a:p>
                  </a:txBody>
                  <a:tcPr marL="54864" marR="54864" marT="54864" marB="54864"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Num 14; cf. Heb 3:16–19</a:t>
                      </a:r>
                      <a:endParaRPr lang="en-US" sz="1400" dirty="0">
                        <a:latin typeface="Arial" charset="0"/>
                        <a:ea typeface="Arial" charset="0"/>
                        <a:cs typeface="Arial" charset="0"/>
                      </a:endParaRPr>
                    </a:p>
                  </a:txBody>
                  <a:tcPr marL="54864" marR="54864" marT="54864" marB="54864"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Saved out of Egypt, then did not believe God at Kadesh</a:t>
                      </a:r>
                      <a:endParaRPr lang="en-US" sz="1400" dirty="0">
                        <a:latin typeface="Arial" charset="0"/>
                        <a:ea typeface="Arial" charset="0"/>
                        <a:cs typeface="Arial" charset="0"/>
                      </a:endParaRPr>
                    </a:p>
                  </a:txBody>
                  <a:tcPr marL="54864" marR="54864" marT="54864" marB="54864"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That generation died in the wilderness</a:t>
                      </a:r>
                      <a:endParaRPr lang="en-US" sz="1400" dirty="0">
                        <a:latin typeface="Arial" charset="0"/>
                        <a:ea typeface="Arial" charset="0"/>
                        <a:cs typeface="Arial" charset="0"/>
                      </a:endParaRPr>
                    </a:p>
                  </a:txBody>
                  <a:tcPr marL="54864" marR="54864" marT="54864" marB="54864"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Privilege does not exempt from judgment</a:t>
                      </a:r>
                      <a:endParaRPr lang="en-US" sz="1400" dirty="0">
                        <a:latin typeface="Arial" charset="0"/>
                        <a:ea typeface="Arial" charset="0"/>
                        <a:cs typeface="Arial" charset="0"/>
                      </a:endParaRPr>
                    </a:p>
                  </a:txBody>
                  <a:tcPr marL="54864" marR="54864" marT="54864" marB="54864"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r>
              <a:tr h="1051560">
                <a:tc>
                  <a:txBody>
                    <a:bodyPr/>
                    <a:lstStyle/>
                    <a:p>
                      <a:pPr indent="0" marL="0">
                        <a:buNone/>
                      </a:pPr>
                      <a:r>
                        <a:rPr lang="en-US" sz="1300" b="1" dirty="0">
                          <a:solidFill>
                            <a:schemeClr val="tx2"/>
                          </a:solidFill>
                          <a:latin typeface="Arial" pitchFamily="34" charset="0"/>
                          <a:ea typeface="Arial" pitchFamily="34" charset="-122"/>
                          <a:cs typeface="Arial" pitchFamily="34" charset="-120"/>
                        </a:rPr>
                        <a:t>Angels (v.6)</a:t>
                      </a:r>
                      <a:endParaRPr lang="en-US" sz="1300" dirty="0">
                        <a:latin typeface="Arial" charset="0"/>
                        <a:ea typeface="Arial" charset="0"/>
                        <a:cs typeface="Arial" charset="0"/>
                      </a:endParaRPr>
                    </a:p>
                  </a:txBody>
                  <a:tcPr marL="54864" marR="54864" marT="54864" marB="54864"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Gen 6:1–4 (common reading); 2 Pet 2:4</a:t>
                      </a:r>
                      <a:endParaRPr lang="en-US" sz="1400" dirty="0">
                        <a:latin typeface="Arial" charset="0"/>
                        <a:ea typeface="Arial" charset="0"/>
                        <a:cs typeface="Arial" charset="0"/>
                      </a:endParaRPr>
                    </a:p>
                  </a:txBody>
                  <a:tcPr marL="54864" marR="54864" marT="54864" marB="54864"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Did not keep their own domain; abandoned their proper abode</a:t>
                      </a:r>
                      <a:endParaRPr lang="en-US" sz="1400" dirty="0">
                        <a:latin typeface="Arial" charset="0"/>
                        <a:ea typeface="Arial" charset="0"/>
                        <a:cs typeface="Arial" charset="0"/>
                      </a:endParaRPr>
                    </a:p>
                  </a:txBody>
                  <a:tcPr marL="54864" marR="54864" marT="54864" marB="54864"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Kept in eternal bonds under darkness for the great day</a:t>
                      </a:r>
                      <a:endParaRPr lang="en-US" sz="1400" dirty="0">
                        <a:latin typeface="Arial" charset="0"/>
                        <a:ea typeface="Arial" charset="0"/>
                        <a:cs typeface="Arial" charset="0"/>
                      </a:endParaRPr>
                    </a:p>
                  </a:txBody>
                  <a:tcPr marL="54864" marR="54864" marT="54864" marB="54864"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Rank does not exempt from judgment</a:t>
                      </a:r>
                      <a:endParaRPr lang="en-US" sz="1400" dirty="0">
                        <a:latin typeface="Arial" charset="0"/>
                        <a:ea typeface="Arial" charset="0"/>
                        <a:cs typeface="Arial" charset="0"/>
                      </a:endParaRPr>
                    </a:p>
                  </a:txBody>
                  <a:tcPr marL="54864" marR="54864" marT="54864" marB="54864"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r>
              <a:tr h="1051560">
                <a:tc>
                  <a:txBody>
                    <a:bodyPr/>
                    <a:lstStyle/>
                    <a:p>
                      <a:pPr indent="0" marL="0">
                        <a:buNone/>
                      </a:pPr>
                      <a:r>
                        <a:rPr lang="en-US" sz="1300" b="1" dirty="0">
                          <a:solidFill>
                            <a:schemeClr val="tx2"/>
                          </a:solidFill>
                          <a:latin typeface="Arial" pitchFamily="34" charset="0"/>
                          <a:ea typeface="Arial" pitchFamily="34" charset="-122"/>
                          <a:cs typeface="Arial" pitchFamily="34" charset="-120"/>
                        </a:rPr>
                        <a:t>Sodom and Gomorrah (v.7)</a:t>
                      </a:r>
                      <a:endParaRPr lang="en-US" sz="1300" dirty="0">
                        <a:latin typeface="Arial" charset="0"/>
                        <a:ea typeface="Arial" charset="0"/>
                        <a:cs typeface="Arial" charset="0"/>
                      </a:endParaRPr>
                    </a:p>
                  </a:txBody>
                  <a:tcPr marL="54864" marR="54864" marT="54864" marB="54864"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Gen 19</a:t>
                      </a:r>
                      <a:endParaRPr lang="en-US" sz="1400" dirty="0">
                        <a:latin typeface="Arial" charset="0"/>
                        <a:ea typeface="Arial" charset="0"/>
                        <a:cs typeface="Arial" charset="0"/>
                      </a:endParaRPr>
                    </a:p>
                  </a:txBody>
                  <a:tcPr marL="54864" marR="54864" marT="54864" marB="54864"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Gross immorality; went after strange flesh</a:t>
                      </a:r>
                      <a:endParaRPr lang="en-US" sz="1400" dirty="0">
                        <a:latin typeface="Arial" charset="0"/>
                        <a:ea typeface="Arial" charset="0"/>
                        <a:cs typeface="Arial" charset="0"/>
                      </a:endParaRPr>
                    </a:p>
                  </a:txBody>
                  <a:tcPr marL="54864" marR="54864" marT="54864" marB="54864"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Exhibited as an example of eternal fire</a:t>
                      </a:r>
                      <a:endParaRPr lang="en-US" sz="1400" dirty="0">
                        <a:latin typeface="Arial" charset="0"/>
                        <a:ea typeface="Arial" charset="0"/>
                        <a:cs typeface="Arial" charset="0"/>
                      </a:endParaRPr>
                    </a:p>
                  </a:txBody>
                  <a:tcPr marL="54864" marR="54864" marT="54864" marB="54864"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Open rebellion stands as a public warning</a:t>
                      </a:r>
                      <a:endParaRPr lang="en-US" sz="1400" dirty="0">
                        <a:latin typeface="Arial" charset="0"/>
                        <a:ea typeface="Arial" charset="0"/>
                        <a:cs typeface="Arial" charset="0"/>
                      </a:endParaRPr>
                    </a:p>
                  </a:txBody>
                  <a:tcPr marL="54864" marR="54864" marT="54864" marB="54864"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r>
            </a:tbl>
          </a:graphicData>
        </a:graphic>
      </p:graphicFrame>
      <p:sp>
        <p:nvSpPr>
          <p:cNvPr id="5" name="Shape 2"/>
          <p:cNvSpPr/>
          <p:nvPr/>
        </p:nvSpPr>
        <p:spPr>
          <a:xfrm>
            <a:off x="548640" y="5349240"/>
            <a:ext cx="11064240" cy="731520"/>
          </a:xfrm>
          <a:prstGeom prst="roundRect">
            <a:avLst>
              <a:gd name="adj" fmla="val 10000"/>
            </a:avLst>
          </a:prstGeom>
          <a:solidFill>
            <a:schemeClr val="bg2"/>
          </a:solidFill>
          <a:ln w="9525">
            <a:solidFill>
              <a:srgbClr val="D5DCEA"/>
            </a:solidFill>
            <a:prstDash val="solid"/>
          </a:ln>
        </p:spPr>
      </p:sp>
      <p:sp>
        <p:nvSpPr>
          <p:cNvPr id="6" name="Text 3"/>
          <p:cNvSpPr txBox="1"/>
          <p:nvPr/>
        </p:nvSpPr>
        <p:spPr>
          <a:xfrm>
            <a:off x="731520" y="5349240"/>
            <a:ext cx="10698480" cy="731520"/>
          </a:xfrm>
          <a:prstGeom prst="rect">
            <a:avLst/>
          </a:prstGeom>
          <a:noFill/>
          <a:ln/>
        </p:spPr>
        <p:txBody>
          <a:bodyPr wrap="square" lIns="0" tIns="0" rIns="0" bIns="0" rtlCol="0" anchor="ctr"/>
          <a:lstStyle/>
          <a:p>
            <a:pPr indent="0" marL="0">
              <a:buNone/>
            </a:pPr>
            <a:r>
              <a:rPr lang="en-US" sz="1400" b="1" dirty="0">
                <a:solidFill>
                  <a:schemeClr val="accent3"/>
                </a:solidFill>
              </a:rPr>
              <a:t>v.4  </a:t>
            </a:r>
            <a:pPr indent="0" marL="0">
              <a:buNone/>
            </a:pPr>
            <a:r>
              <a:rPr lang="en-US" sz="1400" i="1" dirty="0">
                <a:solidFill>
                  <a:schemeClr val="tx1"/>
                </a:solidFill>
              </a:rPr>
              <a:t>"certain persons have crept in unnoticed… ungodly persons who turn the grace of our God into licentiousness and deny our only Master and Lord, Jesus Christ."</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685800"/>
          </a:xfrm>
          <a:prstGeom prst="rect">
            <a:avLst/>
          </a:prstGeom>
          <a:noFill/>
          <a:ln/>
        </p:spPr>
        <p:txBody>
          <a:bodyPr wrap="square" rtlCol="0" anchor="ctr"/>
          <a:lstStyle/>
          <a:p>
            <a:pPr indent="0" marL="0">
              <a:buNone/>
            </a:pPr>
            <a:r>
              <a:rPr lang="en-US" sz="3200" b="1" dirty="0">
                <a:solidFill>
                  <a:schemeClr val="tx2"/>
                </a:solidFill>
              </a:rPr>
              <a:t>Woe to them: three portraits</a:t>
            </a:r>
            <a:endParaRPr lang="en-US" sz="3200" dirty="0"/>
          </a:p>
        </p:txBody>
      </p:sp>
      <p:sp>
        <p:nvSpPr>
          <p:cNvPr id="3" name="Text 0"/>
          <p:cNvSpPr/>
          <p:nvPr>
            <p:ph idx="101" type="body" hasCustomPrompt="1"/>
          </p:nvPr>
        </p:nvSpPr>
        <p:spPr>
          <a:xfrm>
            <a:off x="548640" y="914400"/>
            <a:ext cx="11064240" cy="365760"/>
          </a:xfrm>
          <a:prstGeom prst="rect">
            <a:avLst/>
          </a:prstGeom>
          <a:noFill/>
          <a:ln/>
        </p:spPr>
        <p:txBody>
          <a:bodyPr wrap="square" rtlCol="0" anchor="t"/>
          <a:lstStyle/>
          <a:p>
            <a:pPr indent="0" marL="0">
              <a:buNone/>
            </a:pPr>
            <a:r>
              <a:rPr lang="en-US" sz="1400" i="1" dirty="0">
                <a:solidFill>
                  <a:schemeClr val="accent4"/>
                </a:solidFill>
              </a:rPr>
              <a:t>v.11 · walked → rushed → perished</a:t>
            </a:r>
            <a:endParaRPr lang="en-US" sz="1400" dirty="0"/>
          </a:p>
        </p:txBody>
      </p:sp>
      <p:sp>
        <p:nvSpPr>
          <p:cNvPr id="4" name="Shape 2"/>
          <p:cNvSpPr/>
          <p:nvPr/>
        </p:nvSpPr>
        <p:spPr>
          <a:xfrm>
            <a:off x="548640" y="1463040"/>
            <a:ext cx="3566160" cy="3657600"/>
          </a:xfrm>
          <a:prstGeom prst="rect">
            <a:avLst/>
          </a:prstGeom>
          <a:solidFill>
            <a:schemeClr val="bg1"/>
          </a:solidFill>
          <a:ln w="9525">
            <a:solidFill>
              <a:srgbClr val="C9CFDD"/>
            </a:solidFill>
            <a:prstDash val="solid"/>
          </a:ln>
        </p:spPr>
      </p:sp>
      <p:sp>
        <p:nvSpPr>
          <p:cNvPr id="5" name="Shape 3"/>
          <p:cNvSpPr/>
          <p:nvPr/>
        </p:nvSpPr>
        <p:spPr>
          <a:xfrm>
            <a:off x="548640" y="1463040"/>
            <a:ext cx="3566160" cy="1051560"/>
          </a:xfrm>
          <a:prstGeom prst="rect">
            <a:avLst/>
          </a:prstGeom>
          <a:solidFill>
            <a:schemeClr val="accent4"/>
          </a:solidFill>
          <a:ln w="12700">
            <a:solidFill>
              <a:schemeClr val="accent4"/>
            </a:solidFill>
            <a:prstDash val="solid"/>
          </a:ln>
        </p:spPr>
      </p:sp>
      <p:sp>
        <p:nvSpPr>
          <p:cNvPr id="6" name="Text 4"/>
          <p:cNvSpPr txBox="1"/>
          <p:nvPr/>
        </p:nvSpPr>
        <p:spPr>
          <a:xfrm>
            <a:off x="731520" y="1463040"/>
            <a:ext cx="3200400" cy="1051560"/>
          </a:xfrm>
          <a:prstGeom prst="rect">
            <a:avLst/>
          </a:prstGeom>
          <a:noFill/>
          <a:ln/>
        </p:spPr>
        <p:txBody>
          <a:bodyPr wrap="square" lIns="0" tIns="0" rIns="0" bIns="0" rtlCol="0" anchor="ctr"/>
          <a:lstStyle/>
          <a:p>
            <a:pPr indent="0" marL="0">
              <a:buNone/>
            </a:pPr>
            <a:r>
              <a:rPr lang="en-US" sz="2400" b="1" dirty="0">
                <a:solidFill>
                  <a:schemeClr val="bg1"/>
                </a:solidFill>
              </a:rPr>
              <a:t>Cain</a:t>
            </a:r>
            <a:endParaRPr lang="en-US" sz="2400" dirty="0"/>
          </a:p>
          <a:p>
            <a:pPr indent="0" marL="0">
              <a:buNone/>
            </a:pPr>
            <a:r>
              <a:rPr lang="en-US" sz="1300" i="1" dirty="0">
                <a:solidFill>
                  <a:schemeClr val="bg1"/>
                </a:solidFill>
              </a:rPr>
              <a:t>"gone the way of"</a:t>
            </a:r>
            <a:endParaRPr lang="en-US" sz="2400" dirty="0"/>
          </a:p>
        </p:txBody>
      </p:sp>
      <p:sp>
        <p:nvSpPr>
          <p:cNvPr id="7" name="Text 5"/>
          <p:cNvSpPr txBox="1"/>
          <p:nvPr/>
        </p:nvSpPr>
        <p:spPr>
          <a:xfrm>
            <a:off x="731520" y="2651760"/>
            <a:ext cx="3200400" cy="2377440"/>
          </a:xfrm>
          <a:prstGeom prst="rect">
            <a:avLst/>
          </a:prstGeom>
          <a:noFill/>
          <a:ln/>
        </p:spPr>
        <p:txBody>
          <a:bodyPr wrap="square" lIns="0" tIns="0" rIns="0" bIns="0" rtlCol="0" anchor="t"/>
          <a:lstStyle/>
          <a:p>
            <a:pPr indent="0" marL="0">
              <a:buNone/>
            </a:pPr>
            <a:r>
              <a:rPr lang="en-US" sz="1400" b="1" dirty="0">
                <a:solidFill>
                  <a:schemeClr val="accent1"/>
                </a:solidFill>
              </a:rPr>
              <a:t>Old Testament</a:t>
            </a:r>
            <a:endParaRPr lang="en-US" sz="1400" dirty="0"/>
          </a:p>
          <a:p>
            <a:pPr indent="0" marL="0">
              <a:buNone/>
            </a:pPr>
            <a:r>
              <a:rPr lang="en-US" sz="1400" dirty="0">
                <a:solidFill>
                  <a:schemeClr val="tx1"/>
                </a:solidFill>
              </a:rPr>
              <a:t>Gen 4:1–16 · Heb 11:4 · 1 John 3:12</a:t>
            </a:r>
            <a:endParaRPr lang="en-US" sz="1400" dirty="0"/>
          </a:p>
          <a:p>
            <a:pPr indent="0" marL="0">
              <a:buNone/>
            </a:pPr>
            <a:r>
              <a:rPr lang="en-US" sz="800" dirty="0">
                <a:solidFill>
                  <a:schemeClr val="tx1"/>
                </a:solidFill>
              </a:rPr>
              <a:t> </a:t>
            </a:r>
            <a:endParaRPr lang="en-US" sz="1400" dirty="0"/>
          </a:p>
          <a:p>
            <a:pPr indent="0" marL="0">
              <a:buNone/>
            </a:pPr>
            <a:r>
              <a:rPr lang="en-US" sz="1400" b="1" dirty="0">
                <a:solidFill>
                  <a:schemeClr val="accent1"/>
                </a:solidFill>
              </a:rPr>
              <a:t>The sin</a:t>
            </a:r>
            <a:endParaRPr lang="en-US" sz="1400" dirty="0"/>
          </a:p>
          <a:p>
            <a:pPr indent="0" marL="0">
              <a:buNone/>
            </a:pPr>
            <a:r>
              <a:rPr lang="en-US" sz="1400" dirty="0">
                <a:solidFill>
                  <a:schemeClr val="tx1"/>
                </a:solidFill>
              </a:rPr>
              <a:t>Worship on his own terms; envy that ended in murder</a:t>
            </a:r>
            <a:endParaRPr lang="en-US" sz="1400" dirty="0"/>
          </a:p>
          <a:p>
            <a:pPr indent="0" marL="0">
              <a:buNone/>
            </a:pPr>
            <a:r>
              <a:rPr lang="en-US" sz="800" dirty="0">
                <a:solidFill>
                  <a:schemeClr val="tx1"/>
                </a:solidFill>
              </a:rPr>
              <a:t> </a:t>
            </a:r>
            <a:endParaRPr lang="en-US" sz="1400" dirty="0"/>
          </a:p>
          <a:p>
            <a:pPr indent="0" marL="0">
              <a:buNone/>
            </a:pPr>
            <a:r>
              <a:rPr lang="en-US" sz="1400" b="1" dirty="0">
                <a:solidFill>
                  <a:schemeClr val="accent1"/>
                </a:solidFill>
              </a:rPr>
              <a:t>The pattern today</a:t>
            </a:r>
            <a:endParaRPr lang="en-US" sz="1400" dirty="0"/>
          </a:p>
          <a:p>
            <a:pPr indent="0" marL="0">
              <a:buNone/>
            </a:pPr>
            <a:r>
              <a:rPr lang="en-US" sz="1400" dirty="0">
                <a:solidFill>
                  <a:schemeClr val="tx1"/>
                </a:solidFill>
              </a:rPr>
              <a:t>Self-made religion that resents the righteous</a:t>
            </a:r>
            <a:endParaRPr lang="en-US" sz="1400" dirty="0"/>
          </a:p>
        </p:txBody>
      </p:sp>
      <p:sp>
        <p:nvSpPr>
          <p:cNvPr id="8" name="Shape 6"/>
          <p:cNvSpPr/>
          <p:nvPr/>
        </p:nvSpPr>
        <p:spPr>
          <a:xfrm>
            <a:off x="4297680" y="1463040"/>
            <a:ext cx="3566160" cy="3657600"/>
          </a:xfrm>
          <a:prstGeom prst="rect">
            <a:avLst/>
          </a:prstGeom>
          <a:solidFill>
            <a:schemeClr val="bg1"/>
          </a:solidFill>
          <a:ln w="9525">
            <a:solidFill>
              <a:srgbClr val="C9CFDD"/>
            </a:solidFill>
            <a:prstDash val="solid"/>
          </a:ln>
        </p:spPr>
      </p:sp>
      <p:sp>
        <p:nvSpPr>
          <p:cNvPr id="9" name="Shape 7"/>
          <p:cNvSpPr/>
          <p:nvPr/>
        </p:nvSpPr>
        <p:spPr>
          <a:xfrm>
            <a:off x="4297680" y="1463040"/>
            <a:ext cx="3566160" cy="1051560"/>
          </a:xfrm>
          <a:prstGeom prst="rect">
            <a:avLst/>
          </a:prstGeom>
          <a:solidFill>
            <a:schemeClr val="accent4"/>
          </a:solidFill>
          <a:ln w="12700">
            <a:solidFill>
              <a:schemeClr val="accent4"/>
            </a:solidFill>
            <a:prstDash val="solid"/>
          </a:ln>
        </p:spPr>
      </p:sp>
      <p:sp>
        <p:nvSpPr>
          <p:cNvPr id="10" name="Text 8"/>
          <p:cNvSpPr txBox="1"/>
          <p:nvPr/>
        </p:nvSpPr>
        <p:spPr>
          <a:xfrm>
            <a:off x="4480560" y="1463040"/>
            <a:ext cx="3200400" cy="1051560"/>
          </a:xfrm>
          <a:prstGeom prst="rect">
            <a:avLst/>
          </a:prstGeom>
          <a:noFill/>
          <a:ln/>
        </p:spPr>
        <p:txBody>
          <a:bodyPr wrap="square" lIns="0" tIns="0" rIns="0" bIns="0" rtlCol="0" anchor="ctr"/>
          <a:lstStyle/>
          <a:p>
            <a:pPr indent="0" marL="0">
              <a:buNone/>
            </a:pPr>
            <a:r>
              <a:rPr lang="en-US" sz="2400" b="1" dirty="0">
                <a:solidFill>
                  <a:schemeClr val="bg1"/>
                </a:solidFill>
              </a:rPr>
              <a:t>Balaam</a:t>
            </a:r>
            <a:endParaRPr lang="en-US" sz="2400" dirty="0"/>
          </a:p>
          <a:p>
            <a:pPr indent="0" marL="0">
              <a:buNone/>
            </a:pPr>
            <a:r>
              <a:rPr lang="en-US" sz="1300" i="1" dirty="0">
                <a:solidFill>
                  <a:schemeClr val="bg1"/>
                </a:solidFill>
              </a:rPr>
              <a:t>"for pay… rushed headlong into the error of"</a:t>
            </a:r>
            <a:endParaRPr lang="en-US" sz="2400" dirty="0"/>
          </a:p>
        </p:txBody>
      </p:sp>
      <p:sp>
        <p:nvSpPr>
          <p:cNvPr id="11" name="Text 9"/>
          <p:cNvSpPr txBox="1"/>
          <p:nvPr/>
        </p:nvSpPr>
        <p:spPr>
          <a:xfrm>
            <a:off x="4480560" y="2651760"/>
            <a:ext cx="3200400" cy="2377440"/>
          </a:xfrm>
          <a:prstGeom prst="rect">
            <a:avLst/>
          </a:prstGeom>
          <a:noFill/>
          <a:ln/>
        </p:spPr>
        <p:txBody>
          <a:bodyPr wrap="square" lIns="0" tIns="0" rIns="0" bIns="0" rtlCol="0" anchor="t"/>
          <a:lstStyle/>
          <a:p>
            <a:pPr indent="0" marL="0">
              <a:buNone/>
            </a:pPr>
            <a:r>
              <a:rPr lang="en-US" sz="1400" b="1" dirty="0">
                <a:solidFill>
                  <a:schemeClr val="accent1"/>
                </a:solidFill>
              </a:rPr>
              <a:t>Old Testament</a:t>
            </a:r>
            <a:endParaRPr lang="en-US" sz="1400" dirty="0"/>
          </a:p>
          <a:p>
            <a:pPr indent="0" marL="0">
              <a:buNone/>
            </a:pPr>
            <a:r>
              <a:rPr lang="en-US" sz="1400" dirty="0">
                <a:solidFill>
                  <a:schemeClr val="tx1"/>
                </a:solidFill>
              </a:rPr>
              <a:t>Num 22–24; 31:16 · 2 Pet 2:15 · Rev 2:14</a:t>
            </a:r>
            <a:endParaRPr lang="en-US" sz="1400" dirty="0"/>
          </a:p>
          <a:p>
            <a:pPr indent="0" marL="0">
              <a:buNone/>
            </a:pPr>
            <a:r>
              <a:rPr lang="en-US" sz="800" dirty="0">
                <a:solidFill>
                  <a:schemeClr val="tx1"/>
                </a:solidFill>
              </a:rPr>
              <a:t> </a:t>
            </a:r>
            <a:endParaRPr lang="en-US" sz="1400" dirty="0"/>
          </a:p>
          <a:p>
            <a:pPr indent="0" marL="0">
              <a:buNone/>
            </a:pPr>
            <a:r>
              <a:rPr lang="en-US" sz="1400" b="1" dirty="0">
                <a:solidFill>
                  <a:schemeClr val="accent1"/>
                </a:solidFill>
              </a:rPr>
              <a:t>The sin</a:t>
            </a:r>
            <a:endParaRPr lang="en-US" sz="1400" dirty="0"/>
          </a:p>
          <a:p>
            <a:pPr indent="0" marL="0">
              <a:buNone/>
            </a:pPr>
            <a:r>
              <a:rPr lang="en-US" sz="1400" dirty="0">
                <a:solidFill>
                  <a:schemeClr val="tx1"/>
                </a:solidFill>
              </a:rPr>
              <a:t>Ministry for profit; led Israel into compromise</a:t>
            </a:r>
            <a:endParaRPr lang="en-US" sz="1400" dirty="0"/>
          </a:p>
          <a:p>
            <a:pPr indent="0" marL="0">
              <a:buNone/>
            </a:pPr>
            <a:r>
              <a:rPr lang="en-US" sz="800" dirty="0">
                <a:solidFill>
                  <a:schemeClr val="tx1"/>
                </a:solidFill>
              </a:rPr>
              <a:t> </a:t>
            </a:r>
            <a:endParaRPr lang="en-US" sz="1400" dirty="0"/>
          </a:p>
          <a:p>
            <a:pPr indent="0" marL="0">
              <a:buNone/>
            </a:pPr>
            <a:r>
              <a:rPr lang="en-US" sz="1400" b="1" dirty="0">
                <a:solidFill>
                  <a:schemeClr val="accent1"/>
                </a:solidFill>
              </a:rPr>
              <a:t>The pattern today</a:t>
            </a:r>
            <a:endParaRPr lang="en-US" sz="1400" dirty="0"/>
          </a:p>
          <a:p>
            <a:pPr indent="0" marL="0">
              <a:buNone/>
            </a:pPr>
            <a:r>
              <a:rPr lang="en-US" sz="1400" dirty="0">
                <a:solidFill>
                  <a:schemeClr val="tx1"/>
                </a:solidFill>
              </a:rPr>
              <a:t>Using spiritual things for gain</a:t>
            </a:r>
            <a:endParaRPr lang="en-US" sz="1400" dirty="0"/>
          </a:p>
        </p:txBody>
      </p:sp>
      <p:sp>
        <p:nvSpPr>
          <p:cNvPr id="12" name="Shape 10"/>
          <p:cNvSpPr/>
          <p:nvPr/>
        </p:nvSpPr>
        <p:spPr>
          <a:xfrm>
            <a:off x="8046720" y="1463040"/>
            <a:ext cx="3566160" cy="3657600"/>
          </a:xfrm>
          <a:prstGeom prst="rect">
            <a:avLst/>
          </a:prstGeom>
          <a:solidFill>
            <a:schemeClr val="bg1"/>
          </a:solidFill>
          <a:ln w="9525">
            <a:solidFill>
              <a:srgbClr val="C9CFDD"/>
            </a:solidFill>
            <a:prstDash val="solid"/>
          </a:ln>
        </p:spPr>
      </p:sp>
      <p:sp>
        <p:nvSpPr>
          <p:cNvPr id="13" name="Shape 11"/>
          <p:cNvSpPr/>
          <p:nvPr/>
        </p:nvSpPr>
        <p:spPr>
          <a:xfrm>
            <a:off x="8046720" y="1463040"/>
            <a:ext cx="3566160" cy="1051560"/>
          </a:xfrm>
          <a:prstGeom prst="rect">
            <a:avLst/>
          </a:prstGeom>
          <a:solidFill>
            <a:schemeClr val="accent4"/>
          </a:solidFill>
          <a:ln w="12700">
            <a:solidFill>
              <a:schemeClr val="accent4"/>
            </a:solidFill>
            <a:prstDash val="solid"/>
          </a:ln>
        </p:spPr>
      </p:sp>
      <p:sp>
        <p:nvSpPr>
          <p:cNvPr id="14" name="Text 12"/>
          <p:cNvSpPr txBox="1"/>
          <p:nvPr/>
        </p:nvSpPr>
        <p:spPr>
          <a:xfrm>
            <a:off x="8229600" y="1463040"/>
            <a:ext cx="3200400" cy="1051560"/>
          </a:xfrm>
          <a:prstGeom prst="rect">
            <a:avLst/>
          </a:prstGeom>
          <a:noFill/>
          <a:ln/>
        </p:spPr>
        <p:txBody>
          <a:bodyPr wrap="square" lIns="0" tIns="0" rIns="0" bIns="0" rtlCol="0" anchor="ctr"/>
          <a:lstStyle/>
          <a:p>
            <a:pPr indent="0" marL="0">
              <a:buNone/>
            </a:pPr>
            <a:r>
              <a:rPr lang="en-US" sz="2400" b="1" dirty="0">
                <a:solidFill>
                  <a:schemeClr val="bg1"/>
                </a:solidFill>
              </a:rPr>
              <a:t>Korah</a:t>
            </a:r>
            <a:endParaRPr lang="en-US" sz="2400" dirty="0"/>
          </a:p>
          <a:p>
            <a:pPr indent="0" marL="0">
              <a:buNone/>
            </a:pPr>
            <a:r>
              <a:rPr lang="en-US" sz="1300" i="1" dirty="0">
                <a:solidFill>
                  <a:schemeClr val="bg1"/>
                </a:solidFill>
              </a:rPr>
              <a:t>"perished in the rebellion of"</a:t>
            </a:r>
            <a:endParaRPr lang="en-US" sz="2400" dirty="0"/>
          </a:p>
        </p:txBody>
      </p:sp>
      <p:sp>
        <p:nvSpPr>
          <p:cNvPr id="15" name="Text 13"/>
          <p:cNvSpPr txBox="1"/>
          <p:nvPr/>
        </p:nvSpPr>
        <p:spPr>
          <a:xfrm>
            <a:off x="8229600" y="2651760"/>
            <a:ext cx="3200400" cy="2377440"/>
          </a:xfrm>
          <a:prstGeom prst="rect">
            <a:avLst/>
          </a:prstGeom>
          <a:noFill/>
          <a:ln/>
        </p:spPr>
        <p:txBody>
          <a:bodyPr wrap="square" lIns="0" tIns="0" rIns="0" bIns="0" rtlCol="0" anchor="t"/>
          <a:lstStyle/>
          <a:p>
            <a:pPr indent="0" marL="0">
              <a:buNone/>
            </a:pPr>
            <a:r>
              <a:rPr lang="en-US" sz="1400" b="1" dirty="0">
                <a:solidFill>
                  <a:schemeClr val="accent1"/>
                </a:solidFill>
              </a:rPr>
              <a:t>Old Testament</a:t>
            </a:r>
            <a:endParaRPr lang="en-US" sz="1400" dirty="0"/>
          </a:p>
          <a:p>
            <a:pPr indent="0" marL="0">
              <a:buNone/>
            </a:pPr>
            <a:r>
              <a:rPr lang="en-US" sz="1400" dirty="0">
                <a:solidFill>
                  <a:schemeClr val="tx1"/>
                </a:solidFill>
              </a:rPr>
              <a:t>Num 16</a:t>
            </a:r>
            <a:endParaRPr lang="en-US" sz="1400" dirty="0"/>
          </a:p>
          <a:p>
            <a:pPr indent="0" marL="0">
              <a:buNone/>
            </a:pPr>
            <a:r>
              <a:rPr lang="en-US" sz="800" dirty="0">
                <a:solidFill>
                  <a:schemeClr val="tx1"/>
                </a:solidFill>
              </a:rPr>
              <a:t> </a:t>
            </a:r>
            <a:endParaRPr lang="en-US" sz="1400" dirty="0"/>
          </a:p>
          <a:p>
            <a:pPr indent="0" marL="0">
              <a:buNone/>
            </a:pPr>
            <a:r>
              <a:rPr lang="en-US" sz="1400" b="1" dirty="0">
                <a:solidFill>
                  <a:schemeClr val="accent1"/>
                </a:solidFill>
              </a:rPr>
              <a:t>The sin</a:t>
            </a:r>
            <a:endParaRPr lang="en-US" sz="1400" dirty="0"/>
          </a:p>
          <a:p>
            <a:pPr indent="0" marL="0">
              <a:buNone/>
            </a:pPr>
            <a:r>
              <a:rPr lang="en-US" sz="1400" dirty="0">
                <a:solidFill>
                  <a:schemeClr val="tx1"/>
                </a:solidFill>
              </a:rPr>
              <a:t>Rose up against the God-appointed leadership of Moses and Aaron</a:t>
            </a:r>
            <a:endParaRPr lang="en-US" sz="1400" dirty="0"/>
          </a:p>
          <a:p>
            <a:pPr indent="0" marL="0">
              <a:buNone/>
            </a:pPr>
            <a:r>
              <a:rPr lang="en-US" sz="800" dirty="0">
                <a:solidFill>
                  <a:schemeClr val="tx1"/>
                </a:solidFill>
              </a:rPr>
              <a:t> </a:t>
            </a:r>
            <a:endParaRPr lang="en-US" sz="1400" dirty="0"/>
          </a:p>
          <a:p>
            <a:pPr indent="0" marL="0">
              <a:buNone/>
            </a:pPr>
            <a:r>
              <a:rPr lang="en-US" sz="1400" b="1" dirty="0">
                <a:solidFill>
                  <a:schemeClr val="accent1"/>
                </a:solidFill>
              </a:rPr>
              <a:t>The pattern today</a:t>
            </a:r>
            <a:endParaRPr lang="en-US" sz="1400" dirty="0"/>
          </a:p>
          <a:p>
            <a:pPr indent="0" marL="0">
              <a:buNone/>
            </a:pPr>
            <a:r>
              <a:rPr lang="en-US" sz="1400" dirty="0">
                <a:solidFill>
                  <a:schemeClr val="tx1"/>
                </a:solidFill>
              </a:rPr>
              <a:t>Defying God-given authority (cf. v.8)</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685800"/>
          </a:xfrm>
          <a:prstGeom prst="rect">
            <a:avLst/>
          </a:prstGeom>
          <a:noFill/>
          <a:ln/>
        </p:spPr>
        <p:txBody>
          <a:bodyPr wrap="square" rtlCol="0" anchor="ctr"/>
          <a:lstStyle/>
          <a:p>
            <a:pPr indent="0" marL="0">
              <a:buNone/>
            </a:pPr>
            <a:r>
              <a:rPr lang="en-US" sz="3200" b="1" dirty="0">
                <a:solidFill>
                  <a:schemeClr val="tx2"/>
                </a:solidFill>
              </a:rPr>
              <a:t>"These" — text, then application</a:t>
            </a:r>
            <a:endParaRPr lang="en-US" sz="3200" dirty="0"/>
          </a:p>
        </p:txBody>
      </p:sp>
      <p:sp>
        <p:nvSpPr>
          <p:cNvPr id="3" name="Text 0"/>
          <p:cNvSpPr/>
          <p:nvPr>
            <p:ph idx="101" type="body" hasCustomPrompt="1"/>
          </p:nvPr>
        </p:nvSpPr>
        <p:spPr>
          <a:xfrm>
            <a:off x="548640" y="914400"/>
            <a:ext cx="11064240" cy="365760"/>
          </a:xfrm>
          <a:prstGeom prst="rect">
            <a:avLst/>
          </a:prstGeom>
          <a:noFill/>
          <a:ln/>
        </p:spPr>
        <p:txBody>
          <a:bodyPr wrap="square" rtlCol="0" anchor="t"/>
          <a:lstStyle/>
          <a:p>
            <a:pPr indent="0" marL="0">
              <a:buNone/>
            </a:pPr>
            <a:r>
              <a:rPr lang="en-US" sz="1400" i="1" dirty="0">
                <a:solidFill>
                  <a:schemeClr val="accent4"/>
                </a:solidFill>
              </a:rPr>
              <a:t>Five times Jude cites a text, then says "these" (οὗτοι) to apply it</a:t>
            </a:r>
            <a:endParaRPr lang="en-US" sz="1400" dirty="0"/>
          </a:p>
        </p:txBody>
      </p:sp>
      <p:sp>
        <p:nvSpPr>
          <p:cNvPr id="4" name="Shape 2"/>
          <p:cNvSpPr/>
          <p:nvPr/>
        </p:nvSpPr>
        <p:spPr>
          <a:xfrm>
            <a:off x="548640" y="1508760"/>
            <a:ext cx="2103120" cy="1691640"/>
          </a:xfrm>
          <a:prstGeom prst="roundRect">
            <a:avLst>
              <a:gd name="adj" fmla="val 4324"/>
            </a:avLst>
          </a:prstGeom>
          <a:solidFill>
            <a:schemeClr val="bg2"/>
          </a:solidFill>
          <a:ln w="9525">
            <a:solidFill>
              <a:srgbClr val="C9CFDD"/>
            </a:solidFill>
            <a:prstDash val="solid"/>
          </a:ln>
        </p:spPr>
      </p:sp>
      <p:sp>
        <p:nvSpPr>
          <p:cNvPr id="5" name="Text 3"/>
          <p:cNvSpPr txBox="1"/>
          <p:nvPr/>
        </p:nvSpPr>
        <p:spPr>
          <a:xfrm>
            <a:off x="658368" y="1554480"/>
            <a:ext cx="1883664" cy="1600200"/>
          </a:xfrm>
          <a:prstGeom prst="rect">
            <a:avLst/>
          </a:prstGeom>
          <a:noFill/>
          <a:ln/>
        </p:spPr>
        <p:txBody>
          <a:bodyPr wrap="square" lIns="0" tIns="0" rIns="0" bIns="0" rtlCol="0" anchor="ctr"/>
          <a:lstStyle/>
          <a:p>
            <a:pPr indent="0" marL="0">
              <a:buNone/>
            </a:pPr>
            <a:r>
              <a:rPr lang="en-US" sz="1400" b="1" dirty="0">
                <a:solidFill>
                  <a:schemeClr val="accent1"/>
                </a:solidFill>
              </a:rPr>
              <a:t>Text · vv.5–7</a:t>
            </a:r>
            <a:endParaRPr lang="en-US" sz="1400" dirty="0"/>
          </a:p>
          <a:p>
            <a:pPr indent="0" marL="0">
              <a:buNone/>
            </a:pPr>
            <a:r>
              <a:rPr lang="en-US" sz="1400" dirty="0">
                <a:solidFill>
                  <a:schemeClr val="tx1"/>
                </a:solidFill>
              </a:rPr>
              <a:t>Israel, angels, Sodom</a:t>
            </a:r>
            <a:endParaRPr lang="en-US" sz="1400" dirty="0"/>
          </a:p>
        </p:txBody>
      </p:sp>
      <p:sp>
        <p:nvSpPr>
          <p:cNvPr id="6" name="Text 4"/>
          <p:cNvSpPr txBox="1"/>
          <p:nvPr/>
        </p:nvSpPr>
        <p:spPr>
          <a:xfrm>
            <a:off x="548640" y="3246120"/>
            <a:ext cx="2103120" cy="502920"/>
          </a:xfrm>
          <a:prstGeom prst="rect">
            <a:avLst/>
          </a:prstGeom>
          <a:noFill/>
          <a:ln/>
        </p:spPr>
        <p:txBody>
          <a:bodyPr wrap="square" lIns="0" tIns="0" rIns="0" bIns="0" rtlCol="0" anchor="ctr"/>
          <a:lstStyle/>
          <a:p>
            <a:pPr algn="ctr" indent="0" marL="0">
              <a:buNone/>
            </a:pPr>
            <a:r>
              <a:rPr lang="en-US" sz="2600" dirty="0">
                <a:solidFill>
                  <a:schemeClr val="accent4"/>
                </a:solidFill>
              </a:rPr>
              <a:t>↓</a:t>
            </a:r>
            <a:endParaRPr lang="en-US" sz="2600" dirty="0"/>
          </a:p>
        </p:txBody>
      </p:sp>
      <p:sp>
        <p:nvSpPr>
          <p:cNvPr id="7" name="Shape 5"/>
          <p:cNvSpPr/>
          <p:nvPr/>
        </p:nvSpPr>
        <p:spPr>
          <a:xfrm>
            <a:off x="548640" y="3794760"/>
            <a:ext cx="2103120" cy="2194560"/>
          </a:xfrm>
          <a:prstGeom prst="roundRect">
            <a:avLst>
              <a:gd name="adj" fmla="val 3478"/>
            </a:avLst>
          </a:prstGeom>
          <a:solidFill>
            <a:schemeClr val="accent4"/>
          </a:solidFill>
          <a:ln w="12700">
            <a:solidFill>
              <a:schemeClr val="accent4"/>
            </a:solidFill>
            <a:prstDash val="solid"/>
          </a:ln>
        </p:spPr>
      </p:sp>
      <p:sp>
        <p:nvSpPr>
          <p:cNvPr id="8" name="Text 6"/>
          <p:cNvSpPr txBox="1"/>
          <p:nvPr/>
        </p:nvSpPr>
        <p:spPr>
          <a:xfrm>
            <a:off x="658368" y="3840480"/>
            <a:ext cx="1883664" cy="2103120"/>
          </a:xfrm>
          <a:prstGeom prst="rect">
            <a:avLst/>
          </a:prstGeom>
          <a:noFill/>
          <a:ln/>
        </p:spPr>
        <p:txBody>
          <a:bodyPr wrap="square" lIns="0" tIns="0" rIns="0" bIns="0" rtlCol="0" anchor="ctr"/>
          <a:lstStyle/>
          <a:p>
            <a:pPr indent="0" marL="0">
              <a:buNone/>
            </a:pPr>
            <a:r>
              <a:rPr lang="en-US" sz="1400" b="1" dirty="0">
                <a:solidFill>
                  <a:schemeClr val="bg1"/>
                </a:solidFill>
              </a:rPr>
              <a:t>"These" · v.8</a:t>
            </a:r>
            <a:endParaRPr lang="en-US" sz="1400" dirty="0"/>
          </a:p>
          <a:p>
            <a:pPr indent="0" marL="0">
              <a:buNone/>
            </a:pPr>
            <a:r>
              <a:rPr lang="en-US" sz="1400" dirty="0">
                <a:solidFill>
                  <a:schemeClr val="bg1"/>
                </a:solidFill>
              </a:rPr>
              <a:t>defile the flesh, reject authority, revile majesties</a:t>
            </a:r>
            <a:endParaRPr lang="en-US" sz="1400" dirty="0"/>
          </a:p>
        </p:txBody>
      </p:sp>
      <p:sp>
        <p:nvSpPr>
          <p:cNvPr id="9" name="Shape 7"/>
          <p:cNvSpPr/>
          <p:nvPr/>
        </p:nvSpPr>
        <p:spPr>
          <a:xfrm>
            <a:off x="2788920" y="1508760"/>
            <a:ext cx="2103120" cy="1691640"/>
          </a:xfrm>
          <a:prstGeom prst="roundRect">
            <a:avLst>
              <a:gd name="adj" fmla="val 4324"/>
            </a:avLst>
          </a:prstGeom>
          <a:solidFill>
            <a:schemeClr val="bg2"/>
          </a:solidFill>
          <a:ln w="9525">
            <a:solidFill>
              <a:srgbClr val="C9CFDD"/>
            </a:solidFill>
            <a:prstDash val="solid"/>
          </a:ln>
        </p:spPr>
      </p:sp>
      <p:sp>
        <p:nvSpPr>
          <p:cNvPr id="10" name="Text 8"/>
          <p:cNvSpPr txBox="1"/>
          <p:nvPr/>
        </p:nvSpPr>
        <p:spPr>
          <a:xfrm>
            <a:off x="2898648" y="1554480"/>
            <a:ext cx="1883664" cy="1600200"/>
          </a:xfrm>
          <a:prstGeom prst="rect">
            <a:avLst/>
          </a:prstGeom>
          <a:noFill/>
          <a:ln/>
        </p:spPr>
        <p:txBody>
          <a:bodyPr wrap="square" lIns="0" tIns="0" rIns="0" bIns="0" rtlCol="0" anchor="ctr"/>
          <a:lstStyle/>
          <a:p>
            <a:pPr indent="0" marL="0">
              <a:buNone/>
            </a:pPr>
            <a:r>
              <a:rPr lang="en-US" sz="1400" b="1" dirty="0">
                <a:solidFill>
                  <a:schemeClr val="accent1"/>
                </a:solidFill>
              </a:rPr>
              <a:t>Text · v.9</a:t>
            </a:r>
            <a:endParaRPr lang="en-US" sz="1400" dirty="0"/>
          </a:p>
          <a:p>
            <a:pPr indent="0" marL="0">
              <a:buNone/>
            </a:pPr>
            <a:r>
              <a:rPr lang="en-US" sz="1400" dirty="0">
                <a:solidFill>
                  <a:schemeClr val="tx1"/>
                </a:solidFill>
              </a:rPr>
              <a:t>Michael and the body of Moses</a:t>
            </a:r>
            <a:endParaRPr lang="en-US" sz="1400" dirty="0"/>
          </a:p>
        </p:txBody>
      </p:sp>
      <p:sp>
        <p:nvSpPr>
          <p:cNvPr id="11" name="Text 9"/>
          <p:cNvSpPr txBox="1"/>
          <p:nvPr/>
        </p:nvSpPr>
        <p:spPr>
          <a:xfrm>
            <a:off x="2788920" y="3246120"/>
            <a:ext cx="2103120" cy="502920"/>
          </a:xfrm>
          <a:prstGeom prst="rect">
            <a:avLst/>
          </a:prstGeom>
          <a:noFill/>
          <a:ln/>
        </p:spPr>
        <p:txBody>
          <a:bodyPr wrap="square" lIns="0" tIns="0" rIns="0" bIns="0" rtlCol="0" anchor="ctr"/>
          <a:lstStyle/>
          <a:p>
            <a:pPr algn="ctr" indent="0" marL="0">
              <a:buNone/>
            </a:pPr>
            <a:r>
              <a:rPr lang="en-US" sz="2600" dirty="0">
                <a:solidFill>
                  <a:schemeClr val="accent4"/>
                </a:solidFill>
              </a:rPr>
              <a:t>↓</a:t>
            </a:r>
            <a:endParaRPr lang="en-US" sz="2600" dirty="0"/>
          </a:p>
        </p:txBody>
      </p:sp>
      <p:sp>
        <p:nvSpPr>
          <p:cNvPr id="12" name="Shape 10"/>
          <p:cNvSpPr/>
          <p:nvPr/>
        </p:nvSpPr>
        <p:spPr>
          <a:xfrm>
            <a:off x="2788920" y="3794760"/>
            <a:ext cx="2103120" cy="2194560"/>
          </a:xfrm>
          <a:prstGeom prst="roundRect">
            <a:avLst>
              <a:gd name="adj" fmla="val 3478"/>
            </a:avLst>
          </a:prstGeom>
          <a:solidFill>
            <a:schemeClr val="accent4"/>
          </a:solidFill>
          <a:ln w="12700">
            <a:solidFill>
              <a:schemeClr val="accent4"/>
            </a:solidFill>
            <a:prstDash val="solid"/>
          </a:ln>
        </p:spPr>
      </p:sp>
      <p:sp>
        <p:nvSpPr>
          <p:cNvPr id="13" name="Text 11"/>
          <p:cNvSpPr txBox="1"/>
          <p:nvPr/>
        </p:nvSpPr>
        <p:spPr>
          <a:xfrm>
            <a:off x="2898648" y="3840480"/>
            <a:ext cx="1883664" cy="2103120"/>
          </a:xfrm>
          <a:prstGeom prst="rect">
            <a:avLst/>
          </a:prstGeom>
          <a:noFill/>
          <a:ln/>
        </p:spPr>
        <p:txBody>
          <a:bodyPr wrap="square" lIns="0" tIns="0" rIns="0" bIns="0" rtlCol="0" anchor="ctr"/>
          <a:lstStyle/>
          <a:p>
            <a:pPr indent="0" marL="0">
              <a:buNone/>
            </a:pPr>
            <a:r>
              <a:rPr lang="en-US" sz="1400" b="1" dirty="0">
                <a:solidFill>
                  <a:schemeClr val="bg1"/>
                </a:solidFill>
              </a:rPr>
              <a:t>"These" · v.10</a:t>
            </a:r>
            <a:endParaRPr lang="en-US" sz="1400" dirty="0"/>
          </a:p>
          <a:p>
            <a:pPr indent="0" marL="0">
              <a:buNone/>
            </a:pPr>
            <a:r>
              <a:rPr lang="en-US" sz="1400" dirty="0">
                <a:solidFill>
                  <a:schemeClr val="bg1"/>
                </a:solidFill>
              </a:rPr>
              <a:t>revile what they do not understand</a:t>
            </a:r>
            <a:endParaRPr lang="en-US" sz="1400" dirty="0"/>
          </a:p>
        </p:txBody>
      </p:sp>
      <p:sp>
        <p:nvSpPr>
          <p:cNvPr id="14" name="Shape 12"/>
          <p:cNvSpPr/>
          <p:nvPr/>
        </p:nvSpPr>
        <p:spPr>
          <a:xfrm>
            <a:off x="5029200" y="1508760"/>
            <a:ext cx="2103120" cy="1691640"/>
          </a:xfrm>
          <a:prstGeom prst="roundRect">
            <a:avLst>
              <a:gd name="adj" fmla="val 4324"/>
            </a:avLst>
          </a:prstGeom>
          <a:solidFill>
            <a:schemeClr val="bg2"/>
          </a:solidFill>
          <a:ln w="9525">
            <a:solidFill>
              <a:srgbClr val="C9CFDD"/>
            </a:solidFill>
            <a:prstDash val="solid"/>
          </a:ln>
        </p:spPr>
      </p:sp>
      <p:sp>
        <p:nvSpPr>
          <p:cNvPr id="15" name="Text 13"/>
          <p:cNvSpPr txBox="1"/>
          <p:nvPr/>
        </p:nvSpPr>
        <p:spPr>
          <a:xfrm>
            <a:off x="5138928" y="1554480"/>
            <a:ext cx="1883664" cy="1600200"/>
          </a:xfrm>
          <a:prstGeom prst="rect">
            <a:avLst/>
          </a:prstGeom>
          <a:noFill/>
          <a:ln/>
        </p:spPr>
        <p:txBody>
          <a:bodyPr wrap="square" lIns="0" tIns="0" rIns="0" bIns="0" rtlCol="0" anchor="ctr"/>
          <a:lstStyle/>
          <a:p>
            <a:pPr indent="0" marL="0">
              <a:buNone/>
            </a:pPr>
            <a:r>
              <a:rPr lang="en-US" sz="1400" b="1" dirty="0">
                <a:solidFill>
                  <a:schemeClr val="accent1"/>
                </a:solidFill>
              </a:rPr>
              <a:t>Text · v.11</a:t>
            </a:r>
            <a:endParaRPr lang="en-US" sz="1400" dirty="0"/>
          </a:p>
          <a:p>
            <a:pPr indent="0" marL="0">
              <a:buNone/>
            </a:pPr>
            <a:r>
              <a:rPr lang="en-US" sz="1400" dirty="0">
                <a:solidFill>
                  <a:schemeClr val="tx1"/>
                </a:solidFill>
              </a:rPr>
              <a:t>Cain, Balaam, Korah</a:t>
            </a:r>
            <a:endParaRPr lang="en-US" sz="1400" dirty="0"/>
          </a:p>
        </p:txBody>
      </p:sp>
      <p:sp>
        <p:nvSpPr>
          <p:cNvPr id="16" name="Text 14"/>
          <p:cNvSpPr txBox="1"/>
          <p:nvPr/>
        </p:nvSpPr>
        <p:spPr>
          <a:xfrm>
            <a:off x="5029200" y="3246120"/>
            <a:ext cx="2103120" cy="502920"/>
          </a:xfrm>
          <a:prstGeom prst="rect">
            <a:avLst/>
          </a:prstGeom>
          <a:noFill/>
          <a:ln/>
        </p:spPr>
        <p:txBody>
          <a:bodyPr wrap="square" lIns="0" tIns="0" rIns="0" bIns="0" rtlCol="0" anchor="ctr"/>
          <a:lstStyle/>
          <a:p>
            <a:pPr algn="ctr" indent="0" marL="0">
              <a:buNone/>
            </a:pPr>
            <a:r>
              <a:rPr lang="en-US" sz="2600" dirty="0">
                <a:solidFill>
                  <a:schemeClr val="accent4"/>
                </a:solidFill>
              </a:rPr>
              <a:t>↓</a:t>
            </a:r>
            <a:endParaRPr lang="en-US" sz="2600" dirty="0"/>
          </a:p>
        </p:txBody>
      </p:sp>
      <p:sp>
        <p:nvSpPr>
          <p:cNvPr id="17" name="Shape 15"/>
          <p:cNvSpPr/>
          <p:nvPr/>
        </p:nvSpPr>
        <p:spPr>
          <a:xfrm>
            <a:off x="5029200" y="3794760"/>
            <a:ext cx="2103120" cy="2194560"/>
          </a:xfrm>
          <a:prstGeom prst="roundRect">
            <a:avLst>
              <a:gd name="adj" fmla="val 3478"/>
            </a:avLst>
          </a:prstGeom>
          <a:solidFill>
            <a:schemeClr val="accent4"/>
          </a:solidFill>
          <a:ln w="12700">
            <a:solidFill>
              <a:schemeClr val="accent4"/>
            </a:solidFill>
            <a:prstDash val="solid"/>
          </a:ln>
        </p:spPr>
      </p:sp>
      <p:sp>
        <p:nvSpPr>
          <p:cNvPr id="18" name="Text 16"/>
          <p:cNvSpPr txBox="1"/>
          <p:nvPr/>
        </p:nvSpPr>
        <p:spPr>
          <a:xfrm>
            <a:off x="5138928" y="3840480"/>
            <a:ext cx="1883664" cy="2103120"/>
          </a:xfrm>
          <a:prstGeom prst="rect">
            <a:avLst/>
          </a:prstGeom>
          <a:noFill/>
          <a:ln/>
        </p:spPr>
        <p:txBody>
          <a:bodyPr wrap="square" lIns="0" tIns="0" rIns="0" bIns="0" rtlCol="0" anchor="ctr"/>
          <a:lstStyle/>
          <a:p>
            <a:pPr indent="0" marL="0">
              <a:buNone/>
            </a:pPr>
            <a:r>
              <a:rPr lang="en-US" sz="1400" b="1" dirty="0">
                <a:solidFill>
                  <a:schemeClr val="bg1"/>
                </a:solidFill>
              </a:rPr>
              <a:t>"These" · vv.12–13</a:t>
            </a:r>
            <a:endParaRPr lang="en-US" sz="1400" dirty="0"/>
          </a:p>
          <a:p>
            <a:pPr indent="0" marL="0">
              <a:buNone/>
            </a:pPr>
            <a:r>
              <a:rPr lang="en-US" sz="1400" dirty="0">
                <a:solidFill>
                  <a:schemeClr val="bg1"/>
                </a:solidFill>
              </a:rPr>
              <a:t>hidden reefs at your love feasts</a:t>
            </a:r>
            <a:endParaRPr lang="en-US" sz="1400" dirty="0"/>
          </a:p>
        </p:txBody>
      </p:sp>
      <p:sp>
        <p:nvSpPr>
          <p:cNvPr id="19" name="Shape 17"/>
          <p:cNvSpPr/>
          <p:nvPr/>
        </p:nvSpPr>
        <p:spPr>
          <a:xfrm>
            <a:off x="7269480" y="1508760"/>
            <a:ext cx="2103120" cy="1691640"/>
          </a:xfrm>
          <a:prstGeom prst="roundRect">
            <a:avLst>
              <a:gd name="adj" fmla="val 4324"/>
            </a:avLst>
          </a:prstGeom>
          <a:solidFill>
            <a:schemeClr val="bg2"/>
          </a:solidFill>
          <a:ln w="9525">
            <a:solidFill>
              <a:srgbClr val="C9CFDD"/>
            </a:solidFill>
            <a:prstDash val="solid"/>
          </a:ln>
        </p:spPr>
      </p:sp>
      <p:sp>
        <p:nvSpPr>
          <p:cNvPr id="20" name="Text 18"/>
          <p:cNvSpPr txBox="1"/>
          <p:nvPr/>
        </p:nvSpPr>
        <p:spPr>
          <a:xfrm>
            <a:off x="7379208" y="1554480"/>
            <a:ext cx="1883664" cy="1600200"/>
          </a:xfrm>
          <a:prstGeom prst="rect">
            <a:avLst/>
          </a:prstGeom>
          <a:noFill/>
          <a:ln/>
        </p:spPr>
        <p:txBody>
          <a:bodyPr wrap="square" lIns="0" tIns="0" rIns="0" bIns="0" rtlCol="0" anchor="ctr"/>
          <a:lstStyle/>
          <a:p>
            <a:pPr indent="0" marL="0">
              <a:buNone/>
            </a:pPr>
            <a:r>
              <a:rPr lang="en-US" sz="1400" b="1" dirty="0">
                <a:solidFill>
                  <a:schemeClr val="accent1"/>
                </a:solidFill>
              </a:rPr>
              <a:t>Text · vv.14–15</a:t>
            </a:r>
            <a:endParaRPr lang="en-US" sz="1400" dirty="0"/>
          </a:p>
          <a:p>
            <a:pPr indent="0" marL="0">
              <a:buNone/>
            </a:pPr>
            <a:r>
              <a:rPr lang="en-US" sz="1400" dirty="0">
                <a:solidFill>
                  <a:schemeClr val="tx1"/>
                </a:solidFill>
              </a:rPr>
              <a:t>Enoch's prophecy</a:t>
            </a:r>
            <a:endParaRPr lang="en-US" sz="1400" dirty="0"/>
          </a:p>
        </p:txBody>
      </p:sp>
      <p:sp>
        <p:nvSpPr>
          <p:cNvPr id="21" name="Text 19"/>
          <p:cNvSpPr txBox="1"/>
          <p:nvPr/>
        </p:nvSpPr>
        <p:spPr>
          <a:xfrm>
            <a:off x="7269480" y="3246120"/>
            <a:ext cx="2103120" cy="502920"/>
          </a:xfrm>
          <a:prstGeom prst="rect">
            <a:avLst/>
          </a:prstGeom>
          <a:noFill/>
          <a:ln/>
        </p:spPr>
        <p:txBody>
          <a:bodyPr wrap="square" lIns="0" tIns="0" rIns="0" bIns="0" rtlCol="0" anchor="ctr"/>
          <a:lstStyle/>
          <a:p>
            <a:pPr algn="ctr" indent="0" marL="0">
              <a:buNone/>
            </a:pPr>
            <a:r>
              <a:rPr lang="en-US" sz="2600" dirty="0">
                <a:solidFill>
                  <a:schemeClr val="accent4"/>
                </a:solidFill>
              </a:rPr>
              <a:t>↓</a:t>
            </a:r>
            <a:endParaRPr lang="en-US" sz="2600" dirty="0"/>
          </a:p>
        </p:txBody>
      </p:sp>
      <p:sp>
        <p:nvSpPr>
          <p:cNvPr id="22" name="Shape 20"/>
          <p:cNvSpPr/>
          <p:nvPr/>
        </p:nvSpPr>
        <p:spPr>
          <a:xfrm>
            <a:off x="7269480" y="3794760"/>
            <a:ext cx="2103120" cy="2194560"/>
          </a:xfrm>
          <a:prstGeom prst="roundRect">
            <a:avLst>
              <a:gd name="adj" fmla="val 3478"/>
            </a:avLst>
          </a:prstGeom>
          <a:solidFill>
            <a:schemeClr val="accent4"/>
          </a:solidFill>
          <a:ln w="12700">
            <a:solidFill>
              <a:schemeClr val="accent4"/>
            </a:solidFill>
            <a:prstDash val="solid"/>
          </a:ln>
        </p:spPr>
      </p:sp>
      <p:sp>
        <p:nvSpPr>
          <p:cNvPr id="23" name="Text 21"/>
          <p:cNvSpPr txBox="1"/>
          <p:nvPr/>
        </p:nvSpPr>
        <p:spPr>
          <a:xfrm>
            <a:off x="7379208" y="3840480"/>
            <a:ext cx="1883664" cy="2103120"/>
          </a:xfrm>
          <a:prstGeom prst="rect">
            <a:avLst/>
          </a:prstGeom>
          <a:noFill/>
          <a:ln/>
        </p:spPr>
        <p:txBody>
          <a:bodyPr wrap="square" lIns="0" tIns="0" rIns="0" bIns="0" rtlCol="0" anchor="ctr"/>
          <a:lstStyle/>
          <a:p>
            <a:pPr indent="0" marL="0">
              <a:buNone/>
            </a:pPr>
            <a:r>
              <a:rPr lang="en-US" sz="1400" b="1" dirty="0">
                <a:solidFill>
                  <a:schemeClr val="bg1"/>
                </a:solidFill>
              </a:rPr>
              <a:t>"These" · v.16</a:t>
            </a:r>
            <a:endParaRPr lang="en-US" sz="1400" dirty="0"/>
          </a:p>
          <a:p>
            <a:pPr indent="0" marL="0">
              <a:buNone/>
            </a:pPr>
            <a:r>
              <a:rPr lang="en-US" sz="1400" dirty="0">
                <a:solidFill>
                  <a:schemeClr val="bg1"/>
                </a:solidFill>
              </a:rPr>
              <a:t>grumblers, fault-finders, flatterers</a:t>
            </a:r>
            <a:endParaRPr lang="en-US" sz="1400" dirty="0"/>
          </a:p>
        </p:txBody>
      </p:sp>
      <p:sp>
        <p:nvSpPr>
          <p:cNvPr id="24" name="Shape 22"/>
          <p:cNvSpPr/>
          <p:nvPr/>
        </p:nvSpPr>
        <p:spPr>
          <a:xfrm>
            <a:off x="9509760" y="1508760"/>
            <a:ext cx="2103120" cy="1691640"/>
          </a:xfrm>
          <a:prstGeom prst="roundRect">
            <a:avLst>
              <a:gd name="adj" fmla="val 4324"/>
            </a:avLst>
          </a:prstGeom>
          <a:solidFill>
            <a:schemeClr val="bg2"/>
          </a:solidFill>
          <a:ln w="9525">
            <a:solidFill>
              <a:srgbClr val="C9CFDD"/>
            </a:solidFill>
            <a:prstDash val="solid"/>
          </a:ln>
        </p:spPr>
      </p:sp>
      <p:sp>
        <p:nvSpPr>
          <p:cNvPr id="25" name="Text 23"/>
          <p:cNvSpPr txBox="1"/>
          <p:nvPr/>
        </p:nvSpPr>
        <p:spPr>
          <a:xfrm>
            <a:off x="9619488" y="1554480"/>
            <a:ext cx="1883664" cy="1600200"/>
          </a:xfrm>
          <a:prstGeom prst="rect">
            <a:avLst/>
          </a:prstGeom>
          <a:noFill/>
          <a:ln/>
        </p:spPr>
        <p:txBody>
          <a:bodyPr wrap="square" lIns="0" tIns="0" rIns="0" bIns="0" rtlCol="0" anchor="ctr"/>
          <a:lstStyle/>
          <a:p>
            <a:pPr indent="0" marL="0">
              <a:buNone/>
            </a:pPr>
            <a:r>
              <a:rPr lang="en-US" sz="1400" b="1" dirty="0">
                <a:solidFill>
                  <a:schemeClr val="accent1"/>
                </a:solidFill>
              </a:rPr>
              <a:t>Text · vv.17–18</a:t>
            </a:r>
            <a:endParaRPr lang="en-US" sz="1400" dirty="0"/>
          </a:p>
          <a:p>
            <a:pPr indent="0" marL="0">
              <a:buNone/>
            </a:pPr>
            <a:r>
              <a:rPr lang="en-US" sz="1400" dirty="0">
                <a:solidFill>
                  <a:schemeClr val="tx1"/>
                </a:solidFill>
              </a:rPr>
              <a:t>The apostles' warning</a:t>
            </a:r>
            <a:endParaRPr lang="en-US" sz="1400" dirty="0"/>
          </a:p>
        </p:txBody>
      </p:sp>
      <p:sp>
        <p:nvSpPr>
          <p:cNvPr id="26" name="Text 24"/>
          <p:cNvSpPr txBox="1"/>
          <p:nvPr/>
        </p:nvSpPr>
        <p:spPr>
          <a:xfrm>
            <a:off x="9509760" y="3246120"/>
            <a:ext cx="2103120" cy="502920"/>
          </a:xfrm>
          <a:prstGeom prst="rect">
            <a:avLst/>
          </a:prstGeom>
          <a:noFill/>
          <a:ln/>
        </p:spPr>
        <p:txBody>
          <a:bodyPr wrap="square" lIns="0" tIns="0" rIns="0" bIns="0" rtlCol="0" anchor="ctr"/>
          <a:lstStyle/>
          <a:p>
            <a:pPr algn="ctr" indent="0" marL="0">
              <a:buNone/>
            </a:pPr>
            <a:r>
              <a:rPr lang="en-US" sz="2600" dirty="0">
                <a:solidFill>
                  <a:schemeClr val="accent4"/>
                </a:solidFill>
              </a:rPr>
              <a:t>↓</a:t>
            </a:r>
            <a:endParaRPr lang="en-US" sz="2600" dirty="0"/>
          </a:p>
        </p:txBody>
      </p:sp>
      <p:sp>
        <p:nvSpPr>
          <p:cNvPr id="27" name="Shape 25"/>
          <p:cNvSpPr/>
          <p:nvPr/>
        </p:nvSpPr>
        <p:spPr>
          <a:xfrm>
            <a:off x="9509760" y="3794760"/>
            <a:ext cx="2103120" cy="2194560"/>
          </a:xfrm>
          <a:prstGeom prst="roundRect">
            <a:avLst>
              <a:gd name="adj" fmla="val 3478"/>
            </a:avLst>
          </a:prstGeom>
          <a:solidFill>
            <a:schemeClr val="accent4"/>
          </a:solidFill>
          <a:ln w="12700">
            <a:solidFill>
              <a:schemeClr val="accent4"/>
            </a:solidFill>
            <a:prstDash val="solid"/>
          </a:ln>
        </p:spPr>
      </p:sp>
      <p:sp>
        <p:nvSpPr>
          <p:cNvPr id="28" name="Text 26"/>
          <p:cNvSpPr txBox="1"/>
          <p:nvPr/>
        </p:nvSpPr>
        <p:spPr>
          <a:xfrm>
            <a:off x="9619488" y="3840480"/>
            <a:ext cx="1883664" cy="2103120"/>
          </a:xfrm>
          <a:prstGeom prst="rect">
            <a:avLst/>
          </a:prstGeom>
          <a:noFill/>
          <a:ln/>
        </p:spPr>
        <p:txBody>
          <a:bodyPr wrap="square" lIns="0" tIns="0" rIns="0" bIns="0" rtlCol="0" anchor="ctr"/>
          <a:lstStyle/>
          <a:p>
            <a:pPr indent="0" marL="0">
              <a:buNone/>
            </a:pPr>
            <a:r>
              <a:rPr lang="en-US" sz="1400" b="1" dirty="0">
                <a:solidFill>
                  <a:schemeClr val="bg1"/>
                </a:solidFill>
              </a:rPr>
              <a:t>"These" · v.19</a:t>
            </a:r>
            <a:endParaRPr lang="en-US" sz="1400" dirty="0"/>
          </a:p>
          <a:p>
            <a:pPr indent="0" marL="0">
              <a:buNone/>
            </a:pPr>
            <a:r>
              <a:rPr lang="en-US" sz="1400" dirty="0">
                <a:solidFill>
                  <a:schemeClr val="bg1"/>
                </a:solidFill>
              </a:rPr>
              <a:t>divisive, worldly-minded, devoid of the Spirit</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685800"/>
          </a:xfrm>
          <a:prstGeom prst="rect">
            <a:avLst/>
          </a:prstGeom>
          <a:noFill/>
          <a:ln/>
        </p:spPr>
        <p:txBody>
          <a:bodyPr wrap="square" rtlCol="0" anchor="ctr"/>
          <a:lstStyle/>
          <a:p>
            <a:pPr indent="0" marL="0">
              <a:buNone/>
            </a:pPr>
            <a:r>
              <a:rPr lang="en-US" sz="3200" b="1" dirty="0">
                <a:solidFill>
                  <a:schemeClr val="tx2"/>
                </a:solidFill>
              </a:rPr>
              <a:t>Five pictures from creation</a:t>
            </a:r>
            <a:endParaRPr lang="en-US" sz="3200" dirty="0"/>
          </a:p>
        </p:txBody>
      </p:sp>
      <p:sp>
        <p:nvSpPr>
          <p:cNvPr id="3" name="Text 0"/>
          <p:cNvSpPr/>
          <p:nvPr>
            <p:ph idx="101" type="body" hasCustomPrompt="1"/>
          </p:nvPr>
        </p:nvSpPr>
        <p:spPr>
          <a:xfrm>
            <a:off x="548640" y="914400"/>
            <a:ext cx="11064240" cy="365760"/>
          </a:xfrm>
          <a:prstGeom prst="rect">
            <a:avLst/>
          </a:prstGeom>
          <a:noFill/>
          <a:ln/>
        </p:spPr>
        <p:txBody>
          <a:bodyPr wrap="square" rtlCol="0" anchor="t"/>
          <a:lstStyle/>
          <a:p>
            <a:pPr indent="0" marL="0">
              <a:buNone/>
            </a:pPr>
            <a:r>
              <a:rPr lang="en-US" sz="1400" i="1" dirty="0">
                <a:solidFill>
                  <a:schemeClr val="accent4"/>
                </a:solidFill>
              </a:rPr>
              <a:t>vv.12–13 · sea, sky, land, and the heavens</a:t>
            </a:r>
            <a:endParaRPr lang="en-US" sz="1400" dirty="0"/>
          </a:p>
        </p:txBody>
      </p:sp>
      <p:sp>
        <p:nvSpPr>
          <p:cNvPr id="4" name="Shape 2"/>
          <p:cNvSpPr/>
          <p:nvPr/>
        </p:nvSpPr>
        <p:spPr>
          <a:xfrm>
            <a:off x="548640" y="1463040"/>
            <a:ext cx="5440680" cy="2194560"/>
          </a:xfrm>
          <a:prstGeom prst="roundRect">
            <a:avLst>
              <a:gd name="adj" fmla="val 3333"/>
            </a:avLst>
          </a:prstGeom>
          <a:solidFill>
            <a:schemeClr val="bg2"/>
          </a:solidFill>
          <a:ln w="9525">
            <a:solidFill>
              <a:srgbClr val="D5DCEA"/>
            </a:solidFill>
            <a:prstDash val="solid"/>
          </a:ln>
        </p:spPr>
      </p:sp>
      <p:sp>
        <p:nvSpPr>
          <p:cNvPr id="5" name="Shape 3"/>
          <p:cNvSpPr/>
          <p:nvPr/>
        </p:nvSpPr>
        <p:spPr>
          <a:xfrm>
            <a:off x="777240" y="1737360"/>
            <a:ext cx="822960" cy="822960"/>
          </a:xfrm>
          <a:prstGeom prst="ellipse">
            <a:avLst/>
          </a:prstGeom>
          <a:solidFill>
            <a:schemeClr val="bg1"/>
          </a:solidFill>
          <a:ln w="12700">
            <a:solidFill>
              <a:schemeClr val="accent1"/>
            </a:solidFill>
            <a:prstDash val="solid"/>
          </a:ln>
        </p:spPr>
      </p:sp>
      <p:pic>
        <p:nvPicPr>
          <p:cNvPr id="6" name="Image 0" descr="preencoded.png">    </p:cNvPr>
          <p:cNvPicPr>
            <a:picLocks noChangeAspect="1"/>
          </p:cNvPicPr>
          <p:nvPr/>
        </p:nvPicPr>
        <p:blipFill>
          <a:blip r:embed="rId1"/>
          <a:stretch>
            <a:fillRect/>
          </a:stretch>
        </p:blipFill>
        <p:spPr>
          <a:xfrm>
            <a:off x="932688" y="1892808"/>
            <a:ext cx="512064" cy="512064"/>
          </a:xfrm>
          <a:prstGeom prst="rect">
            <a:avLst/>
          </a:prstGeom>
        </p:spPr>
      </p:pic>
      <p:sp>
        <p:nvSpPr>
          <p:cNvPr id="7" name="Text 4"/>
          <p:cNvSpPr txBox="1"/>
          <p:nvPr/>
        </p:nvSpPr>
        <p:spPr>
          <a:xfrm>
            <a:off x="1828800" y="1600200"/>
            <a:ext cx="4023360" cy="1920240"/>
          </a:xfrm>
          <a:prstGeom prst="rect">
            <a:avLst/>
          </a:prstGeom>
          <a:noFill/>
          <a:ln/>
        </p:spPr>
        <p:txBody>
          <a:bodyPr wrap="square" lIns="0" tIns="0" rIns="0" bIns="0" rtlCol="0" anchor="ctr"/>
          <a:lstStyle/>
          <a:p>
            <a:pPr indent="0" marL="0">
              <a:buNone/>
            </a:pPr>
            <a:r>
              <a:rPr lang="en-US" sz="1800" b="1" dirty="0">
                <a:solidFill>
                  <a:schemeClr val="tx2"/>
                </a:solidFill>
              </a:rPr>
              <a:t>Sea</a:t>
            </a:r>
            <a:endParaRPr lang="en-US" sz="1800" dirty="0"/>
          </a:p>
          <a:p>
            <a:pPr indent="0" marL="0">
              <a:buNone/>
            </a:pPr>
            <a:r>
              <a:rPr lang="en-US" sz="1400" i="1" dirty="0">
                <a:solidFill>
                  <a:schemeClr val="tx1"/>
                </a:solidFill>
              </a:rPr>
              <a:t>Hidden reefs at your love feasts; wild waves casting up their own shame like foam</a:t>
            </a:r>
            <a:endParaRPr lang="en-US" sz="1800" dirty="0"/>
          </a:p>
          <a:p>
            <a:pPr indent="0" marL="0">
              <a:buNone/>
            </a:pPr>
            <a:r>
              <a:rPr lang="en-US" sz="600" dirty="0">
                <a:solidFill>
                  <a:schemeClr val="tx1"/>
                </a:solidFill>
              </a:rPr>
              <a:t> </a:t>
            </a:r>
            <a:endParaRPr lang="en-US" sz="1800" dirty="0"/>
          </a:p>
          <a:p>
            <a:pPr indent="0" marL="0">
              <a:buNone/>
            </a:pPr>
            <a:r>
              <a:rPr lang="en-US" sz="1400" dirty="0">
                <a:solidFill>
                  <a:schemeClr val="accent1"/>
                </a:solidFill>
              </a:rPr>
              <a:t>Unseen danger in the fellowship; restless lives that leave a mess behind</a:t>
            </a:r>
            <a:endParaRPr lang="en-US" sz="1800" dirty="0"/>
          </a:p>
        </p:txBody>
      </p:sp>
      <p:sp>
        <p:nvSpPr>
          <p:cNvPr id="8" name="Shape 5"/>
          <p:cNvSpPr/>
          <p:nvPr/>
        </p:nvSpPr>
        <p:spPr>
          <a:xfrm>
            <a:off x="6172200" y="1463040"/>
            <a:ext cx="5440680" cy="2194560"/>
          </a:xfrm>
          <a:prstGeom prst="roundRect">
            <a:avLst>
              <a:gd name="adj" fmla="val 3333"/>
            </a:avLst>
          </a:prstGeom>
          <a:solidFill>
            <a:schemeClr val="bg2"/>
          </a:solidFill>
          <a:ln w="9525">
            <a:solidFill>
              <a:srgbClr val="D5DCEA"/>
            </a:solidFill>
            <a:prstDash val="solid"/>
          </a:ln>
        </p:spPr>
      </p:sp>
      <p:sp>
        <p:nvSpPr>
          <p:cNvPr id="9" name="Shape 6"/>
          <p:cNvSpPr/>
          <p:nvPr/>
        </p:nvSpPr>
        <p:spPr>
          <a:xfrm>
            <a:off x="6400800" y="1737360"/>
            <a:ext cx="822960" cy="822960"/>
          </a:xfrm>
          <a:prstGeom prst="ellipse">
            <a:avLst/>
          </a:prstGeom>
          <a:solidFill>
            <a:schemeClr val="bg1"/>
          </a:solidFill>
          <a:ln w="12700">
            <a:solidFill>
              <a:schemeClr val="accent1"/>
            </a:solidFill>
            <a:prstDash val="solid"/>
          </a:ln>
        </p:spPr>
      </p:sp>
      <p:pic>
        <p:nvPicPr>
          <p:cNvPr id="10" name="Image 1" descr="preencoded.png">    </p:cNvPr>
          <p:cNvPicPr>
            <a:picLocks noChangeAspect="1"/>
          </p:cNvPicPr>
          <p:nvPr/>
        </p:nvPicPr>
        <p:blipFill>
          <a:blip r:embed="rId2"/>
          <a:stretch>
            <a:fillRect/>
          </a:stretch>
        </p:blipFill>
        <p:spPr>
          <a:xfrm>
            <a:off x="6556248" y="1892808"/>
            <a:ext cx="512064" cy="512064"/>
          </a:xfrm>
          <a:prstGeom prst="rect">
            <a:avLst/>
          </a:prstGeom>
        </p:spPr>
      </p:pic>
      <p:sp>
        <p:nvSpPr>
          <p:cNvPr id="11" name="Text 7"/>
          <p:cNvSpPr txBox="1"/>
          <p:nvPr/>
        </p:nvSpPr>
        <p:spPr>
          <a:xfrm>
            <a:off x="7452360" y="1600200"/>
            <a:ext cx="4023360" cy="1920240"/>
          </a:xfrm>
          <a:prstGeom prst="rect">
            <a:avLst/>
          </a:prstGeom>
          <a:noFill/>
          <a:ln/>
        </p:spPr>
        <p:txBody>
          <a:bodyPr wrap="square" lIns="0" tIns="0" rIns="0" bIns="0" rtlCol="0" anchor="ctr"/>
          <a:lstStyle/>
          <a:p>
            <a:pPr indent="0" marL="0">
              <a:buNone/>
            </a:pPr>
            <a:r>
              <a:rPr lang="en-US" sz="1800" b="1" dirty="0">
                <a:solidFill>
                  <a:schemeClr val="tx2"/>
                </a:solidFill>
              </a:rPr>
              <a:t>Sky</a:t>
            </a:r>
            <a:endParaRPr lang="en-US" sz="1800" dirty="0"/>
          </a:p>
          <a:p>
            <a:pPr indent="0" marL="0">
              <a:buNone/>
            </a:pPr>
            <a:r>
              <a:rPr lang="en-US" sz="1400" i="1" dirty="0">
                <a:solidFill>
                  <a:schemeClr val="tx1"/>
                </a:solidFill>
              </a:rPr>
              <a:t>Clouds without water, carried along by winds</a:t>
            </a:r>
            <a:endParaRPr lang="en-US" sz="1800" dirty="0"/>
          </a:p>
          <a:p>
            <a:pPr indent="0" marL="0">
              <a:buNone/>
            </a:pPr>
            <a:r>
              <a:rPr lang="en-US" sz="600" dirty="0">
                <a:solidFill>
                  <a:schemeClr val="tx1"/>
                </a:solidFill>
              </a:rPr>
              <a:t> </a:t>
            </a:r>
            <a:endParaRPr lang="en-US" sz="1800" dirty="0"/>
          </a:p>
          <a:p>
            <a:pPr indent="0" marL="0">
              <a:buNone/>
            </a:pPr>
            <a:r>
              <a:rPr lang="en-US" sz="1400" dirty="0">
                <a:solidFill>
                  <a:schemeClr val="accent1"/>
                </a:solidFill>
              </a:rPr>
              <a:t>Promise without delivery — they look like they bring rain, but bring none</a:t>
            </a:r>
            <a:endParaRPr lang="en-US" sz="1800" dirty="0"/>
          </a:p>
        </p:txBody>
      </p:sp>
      <p:sp>
        <p:nvSpPr>
          <p:cNvPr id="12" name="Shape 8"/>
          <p:cNvSpPr/>
          <p:nvPr/>
        </p:nvSpPr>
        <p:spPr>
          <a:xfrm>
            <a:off x="548640" y="3840480"/>
            <a:ext cx="5440680" cy="2194560"/>
          </a:xfrm>
          <a:prstGeom prst="roundRect">
            <a:avLst>
              <a:gd name="adj" fmla="val 3333"/>
            </a:avLst>
          </a:prstGeom>
          <a:solidFill>
            <a:schemeClr val="bg2"/>
          </a:solidFill>
          <a:ln w="9525">
            <a:solidFill>
              <a:srgbClr val="D5DCEA"/>
            </a:solidFill>
            <a:prstDash val="solid"/>
          </a:ln>
        </p:spPr>
      </p:sp>
      <p:sp>
        <p:nvSpPr>
          <p:cNvPr id="13" name="Shape 9"/>
          <p:cNvSpPr/>
          <p:nvPr/>
        </p:nvSpPr>
        <p:spPr>
          <a:xfrm>
            <a:off x="777240" y="4114800"/>
            <a:ext cx="822960" cy="822960"/>
          </a:xfrm>
          <a:prstGeom prst="ellipse">
            <a:avLst/>
          </a:prstGeom>
          <a:solidFill>
            <a:schemeClr val="bg1"/>
          </a:solidFill>
          <a:ln w="12700">
            <a:solidFill>
              <a:schemeClr val="accent1"/>
            </a:solidFill>
            <a:prstDash val="solid"/>
          </a:ln>
        </p:spPr>
      </p:sp>
      <p:pic>
        <p:nvPicPr>
          <p:cNvPr id="14" name="Image 2" descr="preencoded.png">    </p:cNvPr>
          <p:cNvPicPr>
            <a:picLocks noChangeAspect="1"/>
          </p:cNvPicPr>
          <p:nvPr/>
        </p:nvPicPr>
        <p:blipFill>
          <a:blip r:embed="rId3"/>
          <a:stretch>
            <a:fillRect/>
          </a:stretch>
        </p:blipFill>
        <p:spPr>
          <a:xfrm>
            <a:off x="932688" y="4270248"/>
            <a:ext cx="512064" cy="512064"/>
          </a:xfrm>
          <a:prstGeom prst="rect">
            <a:avLst/>
          </a:prstGeom>
        </p:spPr>
      </p:pic>
      <p:sp>
        <p:nvSpPr>
          <p:cNvPr id="15" name="Text 10"/>
          <p:cNvSpPr txBox="1"/>
          <p:nvPr/>
        </p:nvSpPr>
        <p:spPr>
          <a:xfrm>
            <a:off x="1828800" y="3977640"/>
            <a:ext cx="4023360" cy="1920240"/>
          </a:xfrm>
          <a:prstGeom prst="rect">
            <a:avLst/>
          </a:prstGeom>
          <a:noFill/>
          <a:ln/>
        </p:spPr>
        <p:txBody>
          <a:bodyPr wrap="square" lIns="0" tIns="0" rIns="0" bIns="0" rtlCol="0" anchor="ctr"/>
          <a:lstStyle/>
          <a:p>
            <a:pPr indent="0" marL="0">
              <a:buNone/>
            </a:pPr>
            <a:r>
              <a:rPr lang="en-US" sz="1800" b="1" dirty="0">
                <a:solidFill>
                  <a:schemeClr val="tx2"/>
                </a:solidFill>
              </a:rPr>
              <a:t>Land</a:t>
            </a:r>
            <a:endParaRPr lang="en-US" sz="1800" dirty="0"/>
          </a:p>
          <a:p>
            <a:pPr indent="0" marL="0">
              <a:buNone/>
            </a:pPr>
            <a:r>
              <a:rPr lang="en-US" sz="1400" i="1" dirty="0">
                <a:solidFill>
                  <a:schemeClr val="tx1"/>
                </a:solidFill>
              </a:rPr>
              <a:t>Autumn trees without fruit, doubly dead, uprooted</a:t>
            </a:r>
            <a:endParaRPr lang="en-US" sz="1800" dirty="0"/>
          </a:p>
          <a:p>
            <a:pPr indent="0" marL="0">
              <a:buNone/>
            </a:pPr>
            <a:r>
              <a:rPr lang="en-US" sz="600" dirty="0">
                <a:solidFill>
                  <a:schemeClr val="tx1"/>
                </a:solidFill>
              </a:rPr>
              <a:t> </a:t>
            </a:r>
            <a:endParaRPr lang="en-US" sz="1800" dirty="0"/>
          </a:p>
          <a:p>
            <a:pPr indent="0" marL="0">
              <a:buNone/>
            </a:pPr>
            <a:r>
              <a:rPr lang="en-US" sz="1400" dirty="0">
                <a:solidFill>
                  <a:schemeClr val="accent1"/>
                </a:solidFill>
              </a:rPr>
              <a:t>No fruit at harvest time, and no root to bear any later</a:t>
            </a:r>
            <a:endParaRPr lang="en-US" sz="1800" dirty="0"/>
          </a:p>
        </p:txBody>
      </p:sp>
      <p:sp>
        <p:nvSpPr>
          <p:cNvPr id="16" name="Shape 11"/>
          <p:cNvSpPr/>
          <p:nvPr/>
        </p:nvSpPr>
        <p:spPr>
          <a:xfrm>
            <a:off x="6172200" y="3840480"/>
            <a:ext cx="5440680" cy="2194560"/>
          </a:xfrm>
          <a:prstGeom prst="roundRect">
            <a:avLst>
              <a:gd name="adj" fmla="val 3333"/>
            </a:avLst>
          </a:prstGeom>
          <a:solidFill>
            <a:schemeClr val="bg2"/>
          </a:solidFill>
          <a:ln w="9525">
            <a:solidFill>
              <a:srgbClr val="D5DCEA"/>
            </a:solidFill>
            <a:prstDash val="solid"/>
          </a:ln>
        </p:spPr>
      </p:sp>
      <p:sp>
        <p:nvSpPr>
          <p:cNvPr id="17" name="Shape 12"/>
          <p:cNvSpPr/>
          <p:nvPr/>
        </p:nvSpPr>
        <p:spPr>
          <a:xfrm>
            <a:off x="6400800" y="4114800"/>
            <a:ext cx="822960" cy="822960"/>
          </a:xfrm>
          <a:prstGeom prst="ellipse">
            <a:avLst/>
          </a:prstGeom>
          <a:solidFill>
            <a:schemeClr val="bg1"/>
          </a:solidFill>
          <a:ln w="12700">
            <a:solidFill>
              <a:schemeClr val="accent1"/>
            </a:solidFill>
            <a:prstDash val="solid"/>
          </a:ln>
        </p:spPr>
      </p:sp>
      <p:pic>
        <p:nvPicPr>
          <p:cNvPr id="18" name="Image 3" descr="preencoded.png">    </p:cNvPr>
          <p:cNvPicPr>
            <a:picLocks noChangeAspect="1"/>
          </p:cNvPicPr>
          <p:nvPr/>
        </p:nvPicPr>
        <p:blipFill>
          <a:blip r:embed="rId4"/>
          <a:stretch>
            <a:fillRect/>
          </a:stretch>
        </p:blipFill>
        <p:spPr>
          <a:xfrm>
            <a:off x="6556248" y="4270248"/>
            <a:ext cx="512064" cy="512064"/>
          </a:xfrm>
          <a:prstGeom prst="rect">
            <a:avLst/>
          </a:prstGeom>
        </p:spPr>
      </p:pic>
      <p:sp>
        <p:nvSpPr>
          <p:cNvPr id="19" name="Text 13"/>
          <p:cNvSpPr txBox="1"/>
          <p:nvPr/>
        </p:nvSpPr>
        <p:spPr>
          <a:xfrm>
            <a:off x="7452360" y="3977640"/>
            <a:ext cx="4023360" cy="1920240"/>
          </a:xfrm>
          <a:prstGeom prst="rect">
            <a:avLst/>
          </a:prstGeom>
          <a:noFill/>
          <a:ln/>
        </p:spPr>
        <p:txBody>
          <a:bodyPr wrap="square" lIns="0" tIns="0" rIns="0" bIns="0" rtlCol="0" anchor="ctr"/>
          <a:lstStyle/>
          <a:p>
            <a:pPr indent="0" marL="0">
              <a:buNone/>
            </a:pPr>
            <a:r>
              <a:rPr lang="en-US" sz="1800" b="1" dirty="0">
                <a:solidFill>
                  <a:schemeClr val="tx2"/>
                </a:solidFill>
              </a:rPr>
              <a:t>Heavens</a:t>
            </a:r>
            <a:endParaRPr lang="en-US" sz="1800" dirty="0"/>
          </a:p>
          <a:p>
            <a:pPr indent="0" marL="0">
              <a:buNone/>
            </a:pPr>
            <a:r>
              <a:rPr lang="en-US" sz="1400" i="1" dirty="0">
                <a:solidFill>
                  <a:schemeClr val="tx1"/>
                </a:solidFill>
              </a:rPr>
              <a:t>Wandering stars, for whom the black darkness has been reserved forever</a:t>
            </a:r>
            <a:endParaRPr lang="en-US" sz="1800" dirty="0"/>
          </a:p>
          <a:p>
            <a:pPr indent="0" marL="0">
              <a:buNone/>
            </a:pPr>
            <a:r>
              <a:rPr lang="en-US" sz="600" dirty="0">
                <a:solidFill>
                  <a:schemeClr val="tx1"/>
                </a:solidFill>
              </a:rPr>
              <a:t> </a:t>
            </a:r>
            <a:endParaRPr lang="en-US" sz="1800" dirty="0"/>
          </a:p>
          <a:p>
            <a:pPr indent="0" marL="0">
              <a:buNone/>
            </a:pPr>
            <a:r>
              <a:rPr lang="en-US" sz="1400" dirty="0">
                <a:solidFill>
                  <a:schemeClr val="accent1"/>
                </a:solidFill>
              </a:rPr>
              <a:t>No fixed course — useless for navigation, headed for darkness</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685800"/>
          </a:xfrm>
          <a:prstGeom prst="rect">
            <a:avLst/>
          </a:prstGeom>
          <a:noFill/>
          <a:ln/>
        </p:spPr>
        <p:txBody>
          <a:bodyPr wrap="square" rtlCol="0" anchor="ctr"/>
          <a:lstStyle/>
          <a:p>
            <a:pPr indent="0" marL="0">
              <a:buNone/>
            </a:pPr>
            <a:r>
              <a:rPr lang="en-US" sz="3200" b="1" dirty="0">
                <a:solidFill>
                  <a:schemeClr val="tx2"/>
                </a:solidFill>
              </a:rPr>
              <a:t>Jude and 2 Peter side by side</a:t>
            </a:r>
            <a:endParaRPr lang="en-US" sz="3200" dirty="0"/>
          </a:p>
        </p:txBody>
      </p:sp>
      <p:sp>
        <p:nvSpPr>
          <p:cNvPr id="3" name="Text 0"/>
          <p:cNvSpPr/>
          <p:nvPr>
            <p:ph idx="101" type="body" hasCustomPrompt="1"/>
          </p:nvPr>
        </p:nvSpPr>
        <p:spPr>
          <a:xfrm>
            <a:off x="548640" y="914400"/>
            <a:ext cx="11064240" cy="365760"/>
          </a:xfrm>
          <a:prstGeom prst="rect">
            <a:avLst/>
          </a:prstGeom>
          <a:noFill/>
          <a:ln/>
        </p:spPr>
        <p:txBody>
          <a:bodyPr wrap="square" rtlCol="0" anchor="t"/>
          <a:lstStyle/>
          <a:p>
            <a:pPr indent="0" marL="0">
              <a:buNone/>
            </a:pPr>
            <a:r>
              <a:rPr lang="en-US" sz="1400" i="1" dirty="0">
                <a:solidFill>
                  <a:schemeClr val="accent4"/>
                </a:solidFill>
              </a:rPr>
              <a:t>Shared themes and order</a:t>
            </a:r>
            <a:endParaRPr lang="en-US" sz="1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6858000"/>
                <a:gridCol w="2103120"/>
                <a:gridCol w="2103120"/>
              </a:tblGrid>
              <a:tr h="384048">
                <a:tc>
                  <a:txBody>
                    <a:bodyPr/>
                    <a:lstStyle/>
                    <a:p>
                      <a:pPr indent="0" marL="0">
                        <a:buNone/>
                      </a:pPr>
                      <a:r>
                        <a:rPr lang="en-US" sz="1400" b="1" dirty="0">
                          <a:solidFill>
                            <a:schemeClr val="bg1"/>
                          </a:solidFill>
                          <a:latin typeface="Arial" pitchFamily="34" charset="0"/>
                          <a:ea typeface="Arial" pitchFamily="34" charset="-122"/>
                          <a:cs typeface="Arial" pitchFamily="34" charset="-120"/>
                        </a:rPr>
                        <a:t>Shared theme</a:t>
                      </a:r>
                      <a:endParaRPr lang="en-US" sz="1400" dirty="0">
                        <a:latin typeface="Arial" charset="0"/>
                        <a:ea typeface="Arial" charset="0"/>
                        <a:cs typeface="Arial" charset="0"/>
                      </a:endParaRPr>
                    </a:p>
                  </a:txBody>
                  <a:tcPr marL="54864" marR="54864" marT="54864" marB="54864"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latin typeface="Arial" pitchFamily="34" charset="0"/>
                          <a:ea typeface="Arial" pitchFamily="34" charset="-122"/>
                          <a:cs typeface="Arial" pitchFamily="34" charset="-120"/>
                        </a:rPr>
                        <a:t>Jude</a:t>
                      </a:r>
                      <a:endParaRPr lang="en-US" sz="1400" dirty="0">
                        <a:latin typeface="Arial" charset="0"/>
                        <a:ea typeface="Arial" charset="0"/>
                        <a:cs typeface="Arial" charset="0"/>
                      </a:endParaRPr>
                    </a:p>
                  </a:txBody>
                  <a:tcPr marL="54864" marR="54864" marT="54864" marB="54864"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latin typeface="Arial" pitchFamily="34" charset="0"/>
                          <a:ea typeface="Arial" pitchFamily="34" charset="-122"/>
                          <a:cs typeface="Arial" pitchFamily="34" charset="-120"/>
                        </a:rPr>
                        <a:t>2 Peter</a:t>
                      </a:r>
                      <a:endParaRPr lang="en-US" sz="1400" dirty="0">
                        <a:latin typeface="Arial" charset="0"/>
                        <a:ea typeface="Arial" charset="0"/>
                        <a:cs typeface="Arial" charset="0"/>
                      </a:endParaRPr>
                    </a:p>
                  </a:txBody>
                  <a:tcPr marL="54864" marR="54864" marT="54864" marB="54864"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accent1"/>
                    </a:solidFill>
                  </a:tcPr>
                </a:tc>
              </a:tr>
              <a:tr h="384048">
                <a:tc>
                  <a:txBody>
                    <a:bodyPr/>
                    <a:lstStyle/>
                    <a:p>
                      <a:pPr indent="0" marL="0">
                        <a:buNone/>
                      </a:pPr>
                      <a:r>
                        <a:rPr lang="en-US" sz="1300" dirty="0">
                          <a:solidFill>
                            <a:schemeClr val="tx1"/>
                          </a:solidFill>
                          <a:latin typeface="Arial" pitchFamily="34" charset="0"/>
                          <a:ea typeface="Arial" pitchFamily="34" charset="-122"/>
                          <a:cs typeface="Arial" pitchFamily="34" charset="-120"/>
                        </a:rPr>
                        <a:t>Intruders who deny the Master</a:t>
                      </a:r>
                      <a:endParaRPr lang="en-US" sz="1300" dirty="0">
                        <a:latin typeface="Arial" charset="0"/>
                        <a:ea typeface="Arial" charset="0"/>
                        <a:cs typeface="Arial" charset="0"/>
                      </a:endParaRPr>
                    </a:p>
                  </a:txBody>
                  <a:tcPr marL="54864" marR="54864" marT="54864" marB="54864"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accent3"/>
                          </a:solidFill>
                          <a:latin typeface="Arial" pitchFamily="34" charset="0"/>
                          <a:ea typeface="Arial" pitchFamily="34" charset="-122"/>
                          <a:cs typeface="Arial" pitchFamily="34" charset="-120"/>
                        </a:rPr>
                        <a:t>v.4</a:t>
                      </a:r>
                      <a:endParaRPr lang="en-US" sz="1300" dirty="0">
                        <a:latin typeface="Arial" charset="0"/>
                        <a:ea typeface="Arial" charset="0"/>
                        <a:cs typeface="Arial" charset="0"/>
                      </a:endParaRPr>
                    </a:p>
                  </a:txBody>
                  <a:tcPr marL="54864" marR="54864" marT="54864" marB="54864"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accent1"/>
                          </a:solidFill>
                          <a:latin typeface="Arial" pitchFamily="34" charset="0"/>
                          <a:ea typeface="Arial" pitchFamily="34" charset="-122"/>
                          <a:cs typeface="Arial" pitchFamily="34" charset="-120"/>
                        </a:rPr>
                        <a:t>2:1–3</a:t>
                      </a:r>
                      <a:endParaRPr lang="en-US" sz="1300" dirty="0">
                        <a:latin typeface="Arial" charset="0"/>
                        <a:ea typeface="Arial" charset="0"/>
                        <a:cs typeface="Arial" charset="0"/>
                      </a:endParaRPr>
                    </a:p>
                  </a:txBody>
                  <a:tcPr marL="54864" marR="54864" marT="54864" marB="54864"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r>
              <a:tr h="384048">
                <a:tc>
                  <a:txBody>
                    <a:bodyPr/>
                    <a:lstStyle/>
                    <a:p>
                      <a:pPr indent="0" marL="0">
                        <a:buNone/>
                      </a:pPr>
                      <a:r>
                        <a:rPr lang="en-US" sz="1300" dirty="0">
                          <a:solidFill>
                            <a:schemeClr val="tx1"/>
                          </a:solidFill>
                          <a:latin typeface="Arial" pitchFamily="34" charset="0"/>
                          <a:ea typeface="Arial" pitchFamily="34" charset="-122"/>
                          <a:cs typeface="Arial" pitchFamily="34" charset="-120"/>
                        </a:rPr>
                        <a:t>Angels held for judgment</a:t>
                      </a:r>
                      <a:endParaRPr lang="en-US" sz="1300" dirty="0">
                        <a:latin typeface="Arial" charset="0"/>
                        <a:ea typeface="Arial" charset="0"/>
                        <a:cs typeface="Arial" charset="0"/>
                      </a:endParaRPr>
                    </a:p>
                  </a:txBody>
                  <a:tcPr marL="54864" marR="54864" marT="54864" marB="54864"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algn="ctr" indent="0" marL="0">
                        <a:buNone/>
                      </a:pPr>
                      <a:r>
                        <a:rPr lang="en-US" sz="1300" b="1" dirty="0">
                          <a:solidFill>
                            <a:schemeClr val="accent3"/>
                          </a:solidFill>
                          <a:latin typeface="Arial" pitchFamily="34" charset="0"/>
                          <a:ea typeface="Arial" pitchFamily="34" charset="-122"/>
                          <a:cs typeface="Arial" pitchFamily="34" charset="-120"/>
                        </a:rPr>
                        <a:t>v.6</a:t>
                      </a:r>
                      <a:endParaRPr lang="en-US" sz="1300" dirty="0">
                        <a:latin typeface="Arial" charset="0"/>
                        <a:ea typeface="Arial" charset="0"/>
                        <a:cs typeface="Arial" charset="0"/>
                      </a:endParaRPr>
                    </a:p>
                  </a:txBody>
                  <a:tcPr marL="54864" marR="54864" marT="54864" marB="54864"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algn="ctr" indent="0" marL="0">
                        <a:buNone/>
                      </a:pPr>
                      <a:r>
                        <a:rPr lang="en-US" sz="1300" b="1" dirty="0">
                          <a:solidFill>
                            <a:schemeClr val="accent1"/>
                          </a:solidFill>
                          <a:latin typeface="Arial" pitchFamily="34" charset="0"/>
                          <a:ea typeface="Arial" pitchFamily="34" charset="-122"/>
                          <a:cs typeface="Arial" pitchFamily="34" charset="-120"/>
                        </a:rPr>
                        <a:t>2:4</a:t>
                      </a:r>
                      <a:endParaRPr lang="en-US" sz="1300" dirty="0">
                        <a:latin typeface="Arial" charset="0"/>
                        <a:ea typeface="Arial" charset="0"/>
                        <a:cs typeface="Arial" charset="0"/>
                      </a:endParaRPr>
                    </a:p>
                  </a:txBody>
                  <a:tcPr marL="54864" marR="54864" marT="54864" marB="54864"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r>
              <a:tr h="384048">
                <a:tc>
                  <a:txBody>
                    <a:bodyPr/>
                    <a:lstStyle/>
                    <a:p>
                      <a:pPr indent="0" marL="0">
                        <a:buNone/>
                      </a:pPr>
                      <a:r>
                        <a:rPr lang="en-US" sz="1300" dirty="0">
                          <a:solidFill>
                            <a:schemeClr val="tx1"/>
                          </a:solidFill>
                          <a:latin typeface="Arial" pitchFamily="34" charset="0"/>
                          <a:ea typeface="Arial" pitchFamily="34" charset="-122"/>
                          <a:cs typeface="Arial" pitchFamily="34" charset="-120"/>
                        </a:rPr>
                        <a:t>Sodom and Gomorrah</a:t>
                      </a:r>
                      <a:endParaRPr lang="en-US" sz="1300" dirty="0">
                        <a:latin typeface="Arial" charset="0"/>
                        <a:ea typeface="Arial" charset="0"/>
                        <a:cs typeface="Arial" charset="0"/>
                      </a:endParaRPr>
                    </a:p>
                  </a:txBody>
                  <a:tcPr marL="54864" marR="54864" marT="54864" marB="54864"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accent3"/>
                          </a:solidFill>
                          <a:latin typeface="Arial" pitchFamily="34" charset="0"/>
                          <a:ea typeface="Arial" pitchFamily="34" charset="-122"/>
                          <a:cs typeface="Arial" pitchFamily="34" charset="-120"/>
                        </a:rPr>
                        <a:t>v.7</a:t>
                      </a:r>
                      <a:endParaRPr lang="en-US" sz="1300" dirty="0">
                        <a:latin typeface="Arial" charset="0"/>
                        <a:ea typeface="Arial" charset="0"/>
                        <a:cs typeface="Arial" charset="0"/>
                      </a:endParaRPr>
                    </a:p>
                  </a:txBody>
                  <a:tcPr marL="54864" marR="54864" marT="54864" marB="54864"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accent1"/>
                          </a:solidFill>
                          <a:latin typeface="Arial" pitchFamily="34" charset="0"/>
                          <a:ea typeface="Arial" pitchFamily="34" charset="-122"/>
                          <a:cs typeface="Arial" pitchFamily="34" charset="-120"/>
                        </a:rPr>
                        <a:t>2:6</a:t>
                      </a:r>
                      <a:endParaRPr lang="en-US" sz="1300" dirty="0">
                        <a:latin typeface="Arial" charset="0"/>
                        <a:ea typeface="Arial" charset="0"/>
                        <a:cs typeface="Arial" charset="0"/>
                      </a:endParaRPr>
                    </a:p>
                  </a:txBody>
                  <a:tcPr marL="54864" marR="54864" marT="54864" marB="54864"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r>
              <a:tr h="384048">
                <a:tc>
                  <a:txBody>
                    <a:bodyPr/>
                    <a:lstStyle/>
                    <a:p>
                      <a:pPr indent="0" marL="0">
                        <a:buNone/>
                      </a:pPr>
                      <a:r>
                        <a:rPr lang="en-US" sz="1300" dirty="0">
                          <a:solidFill>
                            <a:schemeClr val="tx1"/>
                          </a:solidFill>
                          <a:latin typeface="Arial" pitchFamily="34" charset="0"/>
                          <a:ea typeface="Arial" pitchFamily="34" charset="-122"/>
                          <a:cs typeface="Arial" pitchFamily="34" charset="-120"/>
                        </a:rPr>
                        <a:t>Despise authority, revile majesties</a:t>
                      </a:r>
                      <a:endParaRPr lang="en-US" sz="1300" dirty="0">
                        <a:latin typeface="Arial" charset="0"/>
                        <a:ea typeface="Arial" charset="0"/>
                        <a:cs typeface="Arial" charset="0"/>
                      </a:endParaRPr>
                    </a:p>
                  </a:txBody>
                  <a:tcPr marL="54864" marR="54864" marT="54864" marB="54864"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algn="ctr" indent="0" marL="0">
                        <a:buNone/>
                      </a:pPr>
                      <a:r>
                        <a:rPr lang="en-US" sz="1300" b="1" dirty="0">
                          <a:solidFill>
                            <a:schemeClr val="accent3"/>
                          </a:solidFill>
                          <a:latin typeface="Arial" pitchFamily="34" charset="0"/>
                          <a:ea typeface="Arial" pitchFamily="34" charset="-122"/>
                          <a:cs typeface="Arial" pitchFamily="34" charset="-120"/>
                        </a:rPr>
                        <a:t>v.8</a:t>
                      </a:r>
                      <a:endParaRPr lang="en-US" sz="1300" dirty="0">
                        <a:latin typeface="Arial" charset="0"/>
                        <a:ea typeface="Arial" charset="0"/>
                        <a:cs typeface="Arial" charset="0"/>
                      </a:endParaRPr>
                    </a:p>
                  </a:txBody>
                  <a:tcPr marL="54864" marR="54864" marT="54864" marB="54864"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algn="ctr" indent="0" marL="0">
                        <a:buNone/>
                      </a:pPr>
                      <a:r>
                        <a:rPr lang="en-US" sz="1300" b="1" dirty="0">
                          <a:solidFill>
                            <a:schemeClr val="accent1"/>
                          </a:solidFill>
                          <a:latin typeface="Arial" pitchFamily="34" charset="0"/>
                          <a:ea typeface="Arial" pitchFamily="34" charset="-122"/>
                          <a:cs typeface="Arial" pitchFamily="34" charset="-120"/>
                        </a:rPr>
                        <a:t>2:10</a:t>
                      </a:r>
                      <a:endParaRPr lang="en-US" sz="1300" dirty="0">
                        <a:latin typeface="Arial" charset="0"/>
                        <a:ea typeface="Arial" charset="0"/>
                        <a:cs typeface="Arial" charset="0"/>
                      </a:endParaRPr>
                    </a:p>
                  </a:txBody>
                  <a:tcPr marL="54864" marR="54864" marT="54864" marB="54864"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r>
              <a:tr h="384048">
                <a:tc>
                  <a:txBody>
                    <a:bodyPr/>
                    <a:lstStyle/>
                    <a:p>
                      <a:pPr indent="0" marL="0">
                        <a:buNone/>
                      </a:pPr>
                      <a:r>
                        <a:rPr lang="en-US" sz="1300" dirty="0">
                          <a:solidFill>
                            <a:schemeClr val="tx1"/>
                          </a:solidFill>
                          <a:latin typeface="Arial" pitchFamily="34" charset="0"/>
                          <a:ea typeface="Arial" pitchFamily="34" charset="-122"/>
                          <a:cs typeface="Arial" pitchFamily="34" charset="-120"/>
                        </a:rPr>
                        <a:t>Angels refrain from reviling judgment</a:t>
                      </a:r>
                      <a:endParaRPr lang="en-US" sz="1300" dirty="0">
                        <a:latin typeface="Arial" charset="0"/>
                        <a:ea typeface="Arial" charset="0"/>
                        <a:cs typeface="Arial" charset="0"/>
                      </a:endParaRPr>
                    </a:p>
                  </a:txBody>
                  <a:tcPr marL="54864" marR="54864" marT="54864" marB="54864"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accent3"/>
                          </a:solidFill>
                          <a:latin typeface="Arial" pitchFamily="34" charset="0"/>
                          <a:ea typeface="Arial" pitchFamily="34" charset="-122"/>
                          <a:cs typeface="Arial" pitchFamily="34" charset="-120"/>
                        </a:rPr>
                        <a:t>v.9</a:t>
                      </a:r>
                      <a:endParaRPr lang="en-US" sz="1300" dirty="0">
                        <a:latin typeface="Arial" charset="0"/>
                        <a:ea typeface="Arial" charset="0"/>
                        <a:cs typeface="Arial" charset="0"/>
                      </a:endParaRPr>
                    </a:p>
                  </a:txBody>
                  <a:tcPr marL="54864" marR="54864" marT="54864" marB="54864"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accent1"/>
                          </a:solidFill>
                          <a:latin typeface="Arial" pitchFamily="34" charset="0"/>
                          <a:ea typeface="Arial" pitchFamily="34" charset="-122"/>
                          <a:cs typeface="Arial" pitchFamily="34" charset="-120"/>
                        </a:rPr>
                        <a:t>2:11</a:t>
                      </a:r>
                      <a:endParaRPr lang="en-US" sz="1300" dirty="0">
                        <a:latin typeface="Arial" charset="0"/>
                        <a:ea typeface="Arial" charset="0"/>
                        <a:cs typeface="Arial" charset="0"/>
                      </a:endParaRPr>
                    </a:p>
                  </a:txBody>
                  <a:tcPr marL="54864" marR="54864" marT="54864" marB="54864"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r>
              <a:tr h="384048">
                <a:tc>
                  <a:txBody>
                    <a:bodyPr/>
                    <a:lstStyle/>
                    <a:p>
                      <a:pPr indent="0" marL="0">
                        <a:buNone/>
                      </a:pPr>
                      <a:r>
                        <a:rPr lang="en-US" sz="1300" dirty="0">
                          <a:solidFill>
                            <a:schemeClr val="tx1"/>
                          </a:solidFill>
                          <a:latin typeface="Arial" pitchFamily="34" charset="0"/>
                          <a:ea typeface="Arial" pitchFamily="34" charset="-122"/>
                          <a:cs typeface="Arial" pitchFamily="34" charset="-120"/>
                        </a:rPr>
                        <a:t>Like unreasoning animals</a:t>
                      </a:r>
                      <a:endParaRPr lang="en-US" sz="1300" dirty="0">
                        <a:latin typeface="Arial" charset="0"/>
                        <a:ea typeface="Arial" charset="0"/>
                        <a:cs typeface="Arial" charset="0"/>
                      </a:endParaRPr>
                    </a:p>
                  </a:txBody>
                  <a:tcPr marL="54864" marR="54864" marT="54864" marB="54864"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algn="ctr" indent="0" marL="0">
                        <a:buNone/>
                      </a:pPr>
                      <a:r>
                        <a:rPr lang="en-US" sz="1300" b="1" dirty="0">
                          <a:solidFill>
                            <a:schemeClr val="accent3"/>
                          </a:solidFill>
                          <a:latin typeface="Arial" pitchFamily="34" charset="0"/>
                          <a:ea typeface="Arial" pitchFamily="34" charset="-122"/>
                          <a:cs typeface="Arial" pitchFamily="34" charset="-120"/>
                        </a:rPr>
                        <a:t>v.10</a:t>
                      </a:r>
                      <a:endParaRPr lang="en-US" sz="1300" dirty="0">
                        <a:latin typeface="Arial" charset="0"/>
                        <a:ea typeface="Arial" charset="0"/>
                        <a:cs typeface="Arial" charset="0"/>
                      </a:endParaRPr>
                    </a:p>
                  </a:txBody>
                  <a:tcPr marL="54864" marR="54864" marT="54864" marB="54864"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algn="ctr" indent="0" marL="0">
                        <a:buNone/>
                      </a:pPr>
                      <a:r>
                        <a:rPr lang="en-US" sz="1300" b="1" dirty="0">
                          <a:solidFill>
                            <a:schemeClr val="accent1"/>
                          </a:solidFill>
                          <a:latin typeface="Arial" pitchFamily="34" charset="0"/>
                          <a:ea typeface="Arial" pitchFamily="34" charset="-122"/>
                          <a:cs typeface="Arial" pitchFamily="34" charset="-120"/>
                        </a:rPr>
                        <a:t>2:12</a:t>
                      </a:r>
                      <a:endParaRPr lang="en-US" sz="1300" dirty="0">
                        <a:latin typeface="Arial" charset="0"/>
                        <a:ea typeface="Arial" charset="0"/>
                        <a:cs typeface="Arial" charset="0"/>
                      </a:endParaRPr>
                    </a:p>
                  </a:txBody>
                  <a:tcPr marL="54864" marR="54864" marT="54864" marB="54864"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r>
              <a:tr h="384048">
                <a:tc>
                  <a:txBody>
                    <a:bodyPr/>
                    <a:lstStyle/>
                    <a:p>
                      <a:pPr indent="0" marL="0">
                        <a:buNone/>
                      </a:pPr>
                      <a:r>
                        <a:rPr lang="en-US" sz="1300" dirty="0">
                          <a:solidFill>
                            <a:schemeClr val="tx1"/>
                          </a:solidFill>
                          <a:latin typeface="Arial" pitchFamily="34" charset="0"/>
                          <a:ea typeface="Arial" pitchFamily="34" charset="-122"/>
                          <a:cs typeface="Arial" pitchFamily="34" charset="-120"/>
                        </a:rPr>
                        <a:t>The error of Balaam</a:t>
                      </a:r>
                      <a:endParaRPr lang="en-US" sz="1300" dirty="0">
                        <a:latin typeface="Arial" charset="0"/>
                        <a:ea typeface="Arial" charset="0"/>
                        <a:cs typeface="Arial" charset="0"/>
                      </a:endParaRPr>
                    </a:p>
                  </a:txBody>
                  <a:tcPr marL="54864" marR="54864" marT="54864" marB="54864"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accent3"/>
                          </a:solidFill>
                          <a:latin typeface="Arial" pitchFamily="34" charset="0"/>
                          <a:ea typeface="Arial" pitchFamily="34" charset="-122"/>
                          <a:cs typeface="Arial" pitchFamily="34" charset="-120"/>
                        </a:rPr>
                        <a:t>v.11</a:t>
                      </a:r>
                      <a:endParaRPr lang="en-US" sz="1300" dirty="0">
                        <a:latin typeface="Arial" charset="0"/>
                        <a:ea typeface="Arial" charset="0"/>
                        <a:cs typeface="Arial" charset="0"/>
                      </a:endParaRPr>
                    </a:p>
                  </a:txBody>
                  <a:tcPr marL="54864" marR="54864" marT="54864" marB="54864"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accent1"/>
                          </a:solidFill>
                          <a:latin typeface="Arial" pitchFamily="34" charset="0"/>
                          <a:ea typeface="Arial" pitchFamily="34" charset="-122"/>
                          <a:cs typeface="Arial" pitchFamily="34" charset="-120"/>
                        </a:rPr>
                        <a:t>2:15</a:t>
                      </a:r>
                      <a:endParaRPr lang="en-US" sz="1300" dirty="0">
                        <a:latin typeface="Arial" charset="0"/>
                        <a:ea typeface="Arial" charset="0"/>
                        <a:cs typeface="Arial" charset="0"/>
                      </a:endParaRPr>
                    </a:p>
                  </a:txBody>
                  <a:tcPr marL="54864" marR="54864" marT="54864" marB="54864"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r>
              <a:tr h="384048">
                <a:tc>
                  <a:txBody>
                    <a:bodyPr/>
                    <a:lstStyle/>
                    <a:p>
                      <a:pPr indent="0" marL="0">
                        <a:buNone/>
                      </a:pPr>
                      <a:r>
                        <a:rPr lang="en-US" sz="1300" dirty="0">
                          <a:solidFill>
                            <a:schemeClr val="tx1"/>
                          </a:solidFill>
                          <a:latin typeface="Arial" pitchFamily="34" charset="0"/>
                          <a:ea typeface="Arial" pitchFamily="34" charset="-122"/>
                          <a:cs typeface="Arial" pitchFamily="34" charset="-120"/>
                        </a:rPr>
                        <a:t>Feasting with you; waterless clouds</a:t>
                      </a:r>
                      <a:endParaRPr lang="en-US" sz="1300" dirty="0">
                        <a:latin typeface="Arial" charset="0"/>
                        <a:ea typeface="Arial" charset="0"/>
                        <a:cs typeface="Arial" charset="0"/>
                      </a:endParaRPr>
                    </a:p>
                  </a:txBody>
                  <a:tcPr marL="54864" marR="54864" marT="54864" marB="54864"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algn="ctr" indent="0" marL="0">
                        <a:buNone/>
                      </a:pPr>
                      <a:r>
                        <a:rPr lang="en-US" sz="1300" b="1" dirty="0">
                          <a:solidFill>
                            <a:schemeClr val="accent3"/>
                          </a:solidFill>
                          <a:latin typeface="Arial" pitchFamily="34" charset="0"/>
                          <a:ea typeface="Arial" pitchFamily="34" charset="-122"/>
                          <a:cs typeface="Arial" pitchFamily="34" charset="-120"/>
                        </a:rPr>
                        <a:t>v.12</a:t>
                      </a:r>
                      <a:endParaRPr lang="en-US" sz="1300" dirty="0">
                        <a:latin typeface="Arial" charset="0"/>
                        <a:ea typeface="Arial" charset="0"/>
                        <a:cs typeface="Arial" charset="0"/>
                      </a:endParaRPr>
                    </a:p>
                  </a:txBody>
                  <a:tcPr marL="54864" marR="54864" marT="54864" marB="54864"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algn="ctr" indent="0" marL="0">
                        <a:buNone/>
                      </a:pPr>
                      <a:r>
                        <a:rPr lang="en-US" sz="1300" b="1" dirty="0">
                          <a:solidFill>
                            <a:schemeClr val="accent1"/>
                          </a:solidFill>
                          <a:latin typeface="Arial" pitchFamily="34" charset="0"/>
                          <a:ea typeface="Arial" pitchFamily="34" charset="-122"/>
                          <a:cs typeface="Arial" pitchFamily="34" charset="-120"/>
                        </a:rPr>
                        <a:t>2:13, 17</a:t>
                      </a:r>
                      <a:endParaRPr lang="en-US" sz="1300" dirty="0">
                        <a:latin typeface="Arial" charset="0"/>
                        <a:ea typeface="Arial" charset="0"/>
                        <a:cs typeface="Arial" charset="0"/>
                      </a:endParaRPr>
                    </a:p>
                  </a:txBody>
                  <a:tcPr marL="54864" marR="54864" marT="54864" marB="54864"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r>
              <a:tr h="384048">
                <a:tc>
                  <a:txBody>
                    <a:bodyPr/>
                    <a:lstStyle/>
                    <a:p>
                      <a:pPr indent="0" marL="0">
                        <a:buNone/>
                      </a:pPr>
                      <a:r>
                        <a:rPr lang="en-US" sz="1300" dirty="0">
                          <a:solidFill>
                            <a:schemeClr val="tx1"/>
                          </a:solidFill>
                          <a:latin typeface="Arial" pitchFamily="34" charset="0"/>
                          <a:ea typeface="Arial" pitchFamily="34" charset="-122"/>
                          <a:cs typeface="Arial" pitchFamily="34" charset="-120"/>
                        </a:rPr>
                        <a:t>Black darkness reserved</a:t>
                      </a:r>
                      <a:endParaRPr lang="en-US" sz="1300" dirty="0">
                        <a:latin typeface="Arial" charset="0"/>
                        <a:ea typeface="Arial" charset="0"/>
                        <a:cs typeface="Arial" charset="0"/>
                      </a:endParaRPr>
                    </a:p>
                  </a:txBody>
                  <a:tcPr marL="54864" marR="54864" marT="54864" marB="54864"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accent3"/>
                          </a:solidFill>
                          <a:latin typeface="Arial" pitchFamily="34" charset="0"/>
                          <a:ea typeface="Arial" pitchFamily="34" charset="-122"/>
                          <a:cs typeface="Arial" pitchFamily="34" charset="-120"/>
                        </a:rPr>
                        <a:t>v.13</a:t>
                      </a:r>
                      <a:endParaRPr lang="en-US" sz="1300" dirty="0">
                        <a:latin typeface="Arial" charset="0"/>
                        <a:ea typeface="Arial" charset="0"/>
                        <a:cs typeface="Arial" charset="0"/>
                      </a:endParaRPr>
                    </a:p>
                  </a:txBody>
                  <a:tcPr marL="54864" marR="54864" marT="54864" marB="54864"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accent1"/>
                          </a:solidFill>
                          <a:latin typeface="Arial" pitchFamily="34" charset="0"/>
                          <a:ea typeface="Arial" pitchFamily="34" charset="-122"/>
                          <a:cs typeface="Arial" pitchFamily="34" charset="-120"/>
                        </a:rPr>
                        <a:t>2:17</a:t>
                      </a:r>
                      <a:endParaRPr lang="en-US" sz="1300" dirty="0">
                        <a:latin typeface="Arial" charset="0"/>
                        <a:ea typeface="Arial" charset="0"/>
                        <a:cs typeface="Arial" charset="0"/>
                      </a:endParaRPr>
                    </a:p>
                  </a:txBody>
                  <a:tcPr marL="54864" marR="54864" marT="54864" marB="54864"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r>
              <a:tr h="384048">
                <a:tc>
                  <a:txBody>
                    <a:bodyPr/>
                    <a:lstStyle/>
                    <a:p>
                      <a:pPr indent="0" marL="0">
                        <a:buNone/>
                      </a:pPr>
                      <a:r>
                        <a:rPr lang="en-US" sz="1300" dirty="0">
                          <a:solidFill>
                            <a:schemeClr val="tx1"/>
                          </a:solidFill>
                          <a:latin typeface="Arial" pitchFamily="34" charset="0"/>
                          <a:ea typeface="Arial" pitchFamily="34" charset="-122"/>
                          <a:cs typeface="Arial" pitchFamily="34" charset="-120"/>
                        </a:rPr>
                        <a:t>Arrogant words</a:t>
                      </a:r>
                      <a:endParaRPr lang="en-US" sz="1300" dirty="0">
                        <a:latin typeface="Arial" charset="0"/>
                        <a:ea typeface="Arial" charset="0"/>
                        <a:cs typeface="Arial" charset="0"/>
                      </a:endParaRPr>
                    </a:p>
                  </a:txBody>
                  <a:tcPr marL="54864" marR="54864" marT="54864" marB="54864"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algn="ctr" indent="0" marL="0">
                        <a:buNone/>
                      </a:pPr>
                      <a:r>
                        <a:rPr lang="en-US" sz="1300" b="1" dirty="0">
                          <a:solidFill>
                            <a:schemeClr val="accent3"/>
                          </a:solidFill>
                          <a:latin typeface="Arial" pitchFamily="34" charset="0"/>
                          <a:ea typeface="Arial" pitchFamily="34" charset="-122"/>
                          <a:cs typeface="Arial" pitchFamily="34" charset="-120"/>
                        </a:rPr>
                        <a:t>v.16</a:t>
                      </a:r>
                      <a:endParaRPr lang="en-US" sz="1300" dirty="0">
                        <a:latin typeface="Arial" charset="0"/>
                        <a:ea typeface="Arial" charset="0"/>
                        <a:cs typeface="Arial" charset="0"/>
                      </a:endParaRPr>
                    </a:p>
                  </a:txBody>
                  <a:tcPr marL="54864" marR="54864" marT="54864" marB="54864"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algn="ctr" indent="0" marL="0">
                        <a:buNone/>
                      </a:pPr>
                      <a:r>
                        <a:rPr lang="en-US" sz="1300" b="1" dirty="0">
                          <a:solidFill>
                            <a:schemeClr val="accent1"/>
                          </a:solidFill>
                          <a:latin typeface="Arial" pitchFamily="34" charset="0"/>
                          <a:ea typeface="Arial" pitchFamily="34" charset="-122"/>
                          <a:cs typeface="Arial" pitchFamily="34" charset="-120"/>
                        </a:rPr>
                        <a:t>2:18</a:t>
                      </a:r>
                      <a:endParaRPr lang="en-US" sz="1300" dirty="0">
                        <a:latin typeface="Arial" charset="0"/>
                        <a:ea typeface="Arial" charset="0"/>
                        <a:cs typeface="Arial" charset="0"/>
                      </a:endParaRPr>
                    </a:p>
                  </a:txBody>
                  <a:tcPr marL="54864" marR="54864" marT="54864" marB="54864"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r>
              <a:tr h="384048">
                <a:tc>
                  <a:txBody>
                    <a:bodyPr/>
                    <a:lstStyle/>
                    <a:p>
                      <a:pPr indent="0" marL="0">
                        <a:buNone/>
                      </a:pPr>
                      <a:r>
                        <a:rPr lang="en-US" sz="1300" dirty="0">
                          <a:solidFill>
                            <a:schemeClr val="tx1"/>
                          </a:solidFill>
                          <a:latin typeface="Arial" pitchFamily="34" charset="0"/>
                          <a:ea typeface="Arial" pitchFamily="34" charset="-122"/>
                          <a:cs typeface="Arial" pitchFamily="34" charset="-120"/>
                        </a:rPr>
                        <a:t>Mockers in the last time</a:t>
                      </a:r>
                      <a:endParaRPr lang="en-US" sz="1300" dirty="0">
                        <a:latin typeface="Arial" charset="0"/>
                        <a:ea typeface="Arial" charset="0"/>
                        <a:cs typeface="Arial" charset="0"/>
                      </a:endParaRPr>
                    </a:p>
                  </a:txBody>
                  <a:tcPr marL="54864" marR="54864" marT="54864" marB="54864"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accent3"/>
                          </a:solidFill>
                          <a:latin typeface="Arial" pitchFamily="34" charset="0"/>
                          <a:ea typeface="Arial" pitchFamily="34" charset="-122"/>
                          <a:cs typeface="Arial" pitchFamily="34" charset="-120"/>
                        </a:rPr>
                        <a:t>vv.17–18</a:t>
                      </a:r>
                      <a:endParaRPr lang="en-US" sz="1300" dirty="0">
                        <a:latin typeface="Arial" charset="0"/>
                        <a:ea typeface="Arial" charset="0"/>
                        <a:cs typeface="Arial" charset="0"/>
                      </a:endParaRPr>
                    </a:p>
                  </a:txBody>
                  <a:tcPr marL="54864" marR="54864" marT="54864" marB="54864"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accent1"/>
                          </a:solidFill>
                          <a:latin typeface="Arial" pitchFamily="34" charset="0"/>
                          <a:ea typeface="Arial" pitchFamily="34" charset="-122"/>
                          <a:cs typeface="Arial" pitchFamily="34" charset="-120"/>
                        </a:rPr>
                        <a:t>3:2–3</a:t>
                      </a:r>
                      <a:endParaRPr lang="en-US" sz="1300" dirty="0">
                        <a:latin typeface="Arial" charset="0"/>
                        <a:ea typeface="Arial" charset="0"/>
                        <a:cs typeface="Arial" charset="0"/>
                      </a:endParaRPr>
                    </a:p>
                  </a:txBody>
                  <a:tcPr marL="54864" marR="54864" marT="54864" marB="54864"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685800"/>
          </a:xfrm>
          <a:prstGeom prst="rect">
            <a:avLst/>
          </a:prstGeom>
          <a:noFill/>
          <a:ln/>
        </p:spPr>
        <p:txBody>
          <a:bodyPr wrap="square" rtlCol="0" anchor="ctr"/>
          <a:lstStyle/>
          <a:p>
            <a:pPr indent="0" marL="0">
              <a:buNone/>
            </a:pPr>
            <a:r>
              <a:rPr lang="en-US" sz="3200" b="1" dirty="0">
                <a:solidFill>
                  <a:schemeClr val="tx2"/>
                </a:solidFill>
              </a:rPr>
              <a:t>Where Jude and 2 Peter differ</a:t>
            </a:r>
            <a:endParaRPr lang="en-US" sz="3200" dirty="0"/>
          </a:p>
        </p:txBody>
      </p:sp>
      <p:sp>
        <p:nvSpPr>
          <p:cNvPr id="3" name="Text 0"/>
          <p:cNvSpPr/>
          <p:nvPr>
            <p:ph idx="101" type="body" hasCustomPrompt="1"/>
          </p:nvPr>
        </p:nvSpPr>
        <p:spPr>
          <a:xfrm>
            <a:off x="548640" y="914400"/>
            <a:ext cx="11064240" cy="365760"/>
          </a:xfrm>
          <a:prstGeom prst="rect">
            <a:avLst/>
          </a:prstGeom>
          <a:noFill/>
          <a:ln/>
        </p:spPr>
        <p:txBody>
          <a:bodyPr wrap="square" rtlCol="0" anchor="t"/>
          <a:lstStyle/>
          <a:p>
            <a:pPr indent="0" marL="0">
              <a:buNone/>
            </a:pPr>
            <a:r>
              <a:rPr lang="en-US" sz="1400" i="1" dirty="0">
                <a:solidFill>
                  <a:schemeClr val="accent4"/>
                </a:solidFill>
              </a:rPr>
              <a:t>Same danger, different emphasis</a:t>
            </a:r>
            <a:endParaRPr lang="en-US" sz="1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2011680"/>
                <a:gridCol w="4526280"/>
                <a:gridCol w="4526280"/>
              </a:tblGrid>
              <a:tr h="457200">
                <a:tc>
                  <a:txBody>
                    <a:bodyPr/>
                    <a:lstStyle/>
                    <a:p>
                      <a:pPr indent="0" marL="0">
                        <a:buNone/>
                      </a:pPr>
                      <a:r>
                        <a:rPr lang="en-US" sz="1400" b="1" dirty="0">
                          <a:solidFill>
                            <a:schemeClr val="bg1"/>
                          </a:solidFill>
                          <a:latin typeface="Arial" pitchFamily="34" charset="0"/>
                          <a:ea typeface="Arial" pitchFamily="34" charset="-122"/>
                          <a:cs typeface="Arial" pitchFamily="34" charset="-120"/>
                        </a:rPr>
                        <a:t>Point</a:t>
                      </a:r>
                      <a:endParaRPr lang="en-US" sz="1400" dirty="0">
                        <a:latin typeface="Arial" charset="0"/>
                        <a:ea typeface="Arial" charset="0"/>
                        <a:cs typeface="Arial" charset="0"/>
                      </a:endParaRPr>
                    </a:p>
                  </a:txBody>
                  <a:tcPr marL="54864" marR="54864" marT="54864" marB="54864"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latin typeface="Arial" pitchFamily="34" charset="0"/>
                          <a:ea typeface="Arial" pitchFamily="34" charset="-122"/>
                          <a:cs typeface="Arial" pitchFamily="34" charset="-120"/>
                        </a:rPr>
                        <a:t>Jude</a:t>
                      </a:r>
                      <a:endParaRPr lang="en-US" sz="1400" dirty="0">
                        <a:latin typeface="Arial" charset="0"/>
                        <a:ea typeface="Arial" charset="0"/>
                        <a:cs typeface="Arial" charset="0"/>
                      </a:endParaRPr>
                    </a:p>
                  </a:txBody>
                  <a:tcPr marL="54864" marR="54864" marT="54864" marB="54864"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latin typeface="Arial" pitchFamily="34" charset="0"/>
                          <a:ea typeface="Arial" pitchFamily="34" charset="-122"/>
                          <a:cs typeface="Arial" pitchFamily="34" charset="-120"/>
                        </a:rPr>
                        <a:t>2 Peter</a:t>
                      </a:r>
                      <a:endParaRPr lang="en-US" sz="1400" dirty="0">
                        <a:latin typeface="Arial" charset="0"/>
                        <a:ea typeface="Arial" charset="0"/>
                        <a:cs typeface="Arial" charset="0"/>
                      </a:endParaRPr>
                    </a:p>
                  </a:txBody>
                  <a:tcPr marL="54864" marR="54864" marT="54864" marB="54864"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accent1"/>
                    </a:solidFill>
                  </a:tcPr>
                </a:tc>
              </a:tr>
              <a:tr h="868680">
                <a:tc>
                  <a:txBody>
                    <a:bodyPr/>
                    <a:lstStyle/>
                    <a:p>
                      <a:pPr indent="0" marL="0">
                        <a:buNone/>
                      </a:pPr>
                      <a:r>
                        <a:rPr lang="en-US" sz="1300" b="1" dirty="0">
                          <a:solidFill>
                            <a:schemeClr val="tx2"/>
                          </a:solidFill>
                          <a:latin typeface="Arial" pitchFamily="34" charset="0"/>
                          <a:ea typeface="Arial" pitchFamily="34" charset="-122"/>
                          <a:cs typeface="Arial" pitchFamily="34" charset="-120"/>
                        </a:rPr>
                        <a:t>Timing</a:t>
                      </a:r>
                      <a:endParaRPr lang="en-US" sz="1300" dirty="0">
                        <a:latin typeface="Arial" charset="0"/>
                        <a:ea typeface="Arial" charset="0"/>
                        <a:cs typeface="Arial" charset="0"/>
                      </a:endParaRPr>
                    </a:p>
                  </a:txBody>
                  <a:tcPr marL="54864" marR="54864" marT="54864" marB="54864"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The intruders have already crept in (v.4)</a:t>
                      </a:r>
                      <a:endParaRPr lang="en-US" sz="1400" dirty="0">
                        <a:latin typeface="Arial" charset="0"/>
                        <a:ea typeface="Arial" charset="0"/>
                        <a:cs typeface="Arial" charset="0"/>
                      </a:endParaRPr>
                    </a:p>
                  </a:txBody>
                  <a:tcPr marL="54864" marR="54864" marT="54864" marB="54864"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"There will also be false teachers" (2:1)</a:t>
                      </a:r>
                      <a:endParaRPr lang="en-US" sz="1400" dirty="0">
                        <a:latin typeface="Arial" charset="0"/>
                        <a:ea typeface="Arial" charset="0"/>
                        <a:cs typeface="Arial" charset="0"/>
                      </a:endParaRPr>
                    </a:p>
                  </a:txBody>
                  <a:tcPr marL="54864" marR="54864" marT="54864" marB="54864"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r>
              <a:tr h="868680">
                <a:tc>
                  <a:txBody>
                    <a:bodyPr/>
                    <a:lstStyle/>
                    <a:p>
                      <a:pPr indent="0" marL="0">
                        <a:buNone/>
                      </a:pPr>
                      <a:r>
                        <a:rPr lang="en-US" sz="1300" b="1" dirty="0">
                          <a:solidFill>
                            <a:schemeClr val="tx2"/>
                          </a:solidFill>
                          <a:latin typeface="Arial" pitchFamily="34" charset="0"/>
                          <a:ea typeface="Arial" pitchFamily="34" charset="-122"/>
                          <a:cs typeface="Arial" pitchFamily="34" charset="-120"/>
                        </a:rPr>
                        <a:t>Examples</a:t>
                      </a:r>
                      <a:endParaRPr lang="en-US" sz="1300" dirty="0">
                        <a:latin typeface="Arial" charset="0"/>
                        <a:ea typeface="Arial" charset="0"/>
                        <a:cs typeface="Arial" charset="0"/>
                      </a:endParaRPr>
                    </a:p>
                  </a:txBody>
                  <a:tcPr marL="54864" marR="54864" marT="54864" marB="54864"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Judgment only — Israel, angels, Sodom; Cain, Balaam, Korah</a:t>
                      </a:r>
                      <a:endParaRPr lang="en-US" sz="1400" dirty="0">
                        <a:latin typeface="Arial" charset="0"/>
                        <a:ea typeface="Arial" charset="0"/>
                        <a:cs typeface="Arial" charset="0"/>
                      </a:endParaRPr>
                    </a:p>
                  </a:txBody>
                  <a:tcPr marL="54864" marR="54864" marT="54864" marB="54864"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Judgment and rescue — Noah in the flood, Lot from Sodom (2:5–9)</a:t>
                      </a:r>
                      <a:endParaRPr lang="en-US" sz="1400" dirty="0">
                        <a:latin typeface="Arial" charset="0"/>
                        <a:ea typeface="Arial" charset="0"/>
                        <a:cs typeface="Arial" charset="0"/>
                      </a:endParaRPr>
                    </a:p>
                  </a:txBody>
                  <a:tcPr marL="54864" marR="54864" marT="54864" marB="54864"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r>
              <a:tr h="868680">
                <a:tc>
                  <a:txBody>
                    <a:bodyPr/>
                    <a:lstStyle/>
                    <a:p>
                      <a:pPr indent="0" marL="0">
                        <a:buNone/>
                      </a:pPr>
                      <a:r>
                        <a:rPr lang="en-US" sz="1300" b="1" dirty="0">
                          <a:solidFill>
                            <a:schemeClr val="tx2"/>
                          </a:solidFill>
                          <a:latin typeface="Arial" pitchFamily="34" charset="0"/>
                          <a:ea typeface="Arial" pitchFamily="34" charset="-122"/>
                          <a:cs typeface="Arial" pitchFamily="34" charset="-120"/>
                        </a:rPr>
                        <a:t>Other sources</a:t>
                      </a:r>
                      <a:endParaRPr lang="en-US" sz="1300" dirty="0">
                        <a:latin typeface="Arial" charset="0"/>
                        <a:ea typeface="Arial" charset="0"/>
                        <a:cs typeface="Arial" charset="0"/>
                      </a:endParaRPr>
                    </a:p>
                  </a:txBody>
                  <a:tcPr marL="54864" marR="54864" marT="54864" marB="54864"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Michael and Moses' body (v.9); Enoch's prophecy (vv.14–15)</a:t>
                      </a:r>
                      <a:endParaRPr lang="en-US" sz="1400" dirty="0">
                        <a:latin typeface="Arial" charset="0"/>
                        <a:ea typeface="Arial" charset="0"/>
                        <a:cs typeface="Arial" charset="0"/>
                      </a:endParaRPr>
                    </a:p>
                  </a:txBody>
                  <a:tcPr marL="54864" marR="54864" marT="54864" marB="54864"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No extra-biblical citations; the angel point is general (2:11)</a:t>
                      </a:r>
                      <a:endParaRPr lang="en-US" sz="1400" dirty="0">
                        <a:latin typeface="Arial" charset="0"/>
                        <a:ea typeface="Arial" charset="0"/>
                        <a:cs typeface="Arial" charset="0"/>
                      </a:endParaRPr>
                    </a:p>
                  </a:txBody>
                  <a:tcPr marL="54864" marR="54864" marT="54864" marB="54864"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r>
              <a:tr h="868680">
                <a:tc>
                  <a:txBody>
                    <a:bodyPr/>
                    <a:lstStyle/>
                    <a:p>
                      <a:pPr indent="0" marL="0">
                        <a:buNone/>
                      </a:pPr>
                      <a:r>
                        <a:rPr lang="en-US" sz="1300" b="1" dirty="0">
                          <a:solidFill>
                            <a:schemeClr val="tx2"/>
                          </a:solidFill>
                          <a:latin typeface="Arial" pitchFamily="34" charset="0"/>
                          <a:ea typeface="Arial" pitchFamily="34" charset="-122"/>
                          <a:cs typeface="Arial" pitchFamily="34" charset="-120"/>
                        </a:rPr>
                        <a:t>The call</a:t>
                      </a:r>
                      <a:endParaRPr lang="en-US" sz="1300" dirty="0">
                        <a:latin typeface="Arial" charset="0"/>
                        <a:ea typeface="Arial" charset="0"/>
                        <a:cs typeface="Arial" charset="0"/>
                      </a:endParaRPr>
                    </a:p>
                  </a:txBody>
                  <a:tcPr marL="54864" marR="54864" marT="54864" marB="54864"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Contend; keep yourselves; rescue others (vv.3, 20–23)</a:t>
                      </a:r>
                      <a:endParaRPr lang="en-US" sz="1400" dirty="0">
                        <a:latin typeface="Arial" charset="0"/>
                        <a:ea typeface="Arial" charset="0"/>
                        <a:cs typeface="Arial" charset="0"/>
                      </a:endParaRPr>
                    </a:p>
                  </a:txBody>
                  <a:tcPr marL="54864" marR="54864" marT="54864" marB="54864"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Grow in grace and knowledge (3:18)</a:t>
                      </a:r>
                      <a:endParaRPr lang="en-US" sz="1400" dirty="0">
                        <a:latin typeface="Arial" charset="0"/>
                        <a:ea typeface="Arial" charset="0"/>
                        <a:cs typeface="Arial" charset="0"/>
                      </a:endParaRPr>
                    </a:p>
                  </a:txBody>
                  <a:tcPr marL="54864" marR="54864" marT="54864" marB="54864"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r>
              <a:tr h="868680">
                <a:tc>
                  <a:txBody>
                    <a:bodyPr/>
                    <a:lstStyle/>
                    <a:p>
                      <a:pPr indent="0" marL="0">
                        <a:buNone/>
                      </a:pPr>
                      <a:r>
                        <a:rPr lang="en-US" sz="1300" b="1" dirty="0">
                          <a:solidFill>
                            <a:schemeClr val="tx2"/>
                          </a:solidFill>
                          <a:latin typeface="Arial" pitchFamily="34" charset="0"/>
                          <a:ea typeface="Arial" pitchFamily="34" charset="-122"/>
                          <a:cs typeface="Arial" pitchFamily="34" charset="-120"/>
                        </a:rPr>
                        <a:t>Closing</a:t>
                      </a:r>
                      <a:endParaRPr lang="en-US" sz="1300" dirty="0">
                        <a:latin typeface="Arial" charset="0"/>
                        <a:ea typeface="Arial" charset="0"/>
                        <a:cs typeface="Arial" charset="0"/>
                      </a:endParaRPr>
                    </a:p>
                  </a:txBody>
                  <a:tcPr marL="54864" marR="54864" marT="54864" marB="54864"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To Him who is able to keep you (vv.24–25)</a:t>
                      </a:r>
                      <a:endParaRPr lang="en-US" sz="1400" dirty="0">
                        <a:latin typeface="Arial" charset="0"/>
                        <a:ea typeface="Arial" charset="0"/>
                        <a:cs typeface="Arial" charset="0"/>
                      </a:endParaRPr>
                    </a:p>
                  </a:txBody>
                  <a:tcPr marL="54864" marR="54864" marT="54864" marB="54864"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To Him be the glory, now and to the day of eternity (3:18)</a:t>
                      </a:r>
                      <a:endParaRPr lang="en-US" sz="1400" dirty="0">
                        <a:latin typeface="Arial" charset="0"/>
                        <a:ea typeface="Arial" charset="0"/>
                        <a:cs typeface="Arial" charset="0"/>
                      </a:endParaRPr>
                    </a:p>
                  </a:txBody>
                  <a:tcPr marL="54864" marR="54864" marT="54864" marB="54864"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685800"/>
          </a:xfrm>
          <a:prstGeom prst="rect">
            <a:avLst/>
          </a:prstGeom>
          <a:noFill/>
          <a:ln/>
        </p:spPr>
        <p:txBody>
          <a:bodyPr wrap="square" rtlCol="0" anchor="ctr"/>
          <a:lstStyle/>
          <a:p>
            <a:pPr indent="0" marL="0">
              <a:buNone/>
            </a:pPr>
            <a:r>
              <a:rPr lang="en-US" sz="3200" b="1" dirty="0">
                <a:solidFill>
                  <a:schemeClr val="tx2"/>
                </a:solidFill>
              </a:rPr>
              <a:t>Jude's references outside the Old Testament</a:t>
            </a:r>
            <a:endParaRPr lang="en-US" sz="3200" dirty="0"/>
          </a:p>
        </p:txBody>
      </p:sp>
      <p:sp>
        <p:nvSpPr>
          <p:cNvPr id="3" name="Text 0"/>
          <p:cNvSpPr/>
          <p:nvPr>
            <p:ph idx="101" type="body" hasCustomPrompt="1"/>
          </p:nvPr>
        </p:nvSpPr>
        <p:spPr>
          <a:xfrm>
            <a:off x="548640" y="914400"/>
            <a:ext cx="11064240" cy="365760"/>
          </a:xfrm>
          <a:prstGeom prst="rect">
            <a:avLst/>
          </a:prstGeom>
          <a:noFill/>
          <a:ln/>
        </p:spPr>
        <p:txBody>
          <a:bodyPr wrap="square" rtlCol="0" anchor="t"/>
          <a:lstStyle/>
          <a:p>
            <a:pPr indent="0" marL="0">
              <a:buNone/>
            </a:pPr>
            <a:r>
              <a:rPr lang="en-US" sz="1400" i="1" dirty="0">
                <a:solidFill>
                  <a:schemeClr val="accent4"/>
                </a:solidFill>
              </a:rPr>
              <a:t>vv.9 and 14–15 · what Jude is doing, and what he is not</a:t>
            </a:r>
            <a:endParaRPr lang="en-US" sz="1400" dirty="0"/>
          </a:p>
        </p:txBody>
      </p:sp>
      <p:sp>
        <p:nvSpPr>
          <p:cNvPr id="4" name="Shape 2"/>
          <p:cNvSpPr/>
          <p:nvPr/>
        </p:nvSpPr>
        <p:spPr>
          <a:xfrm>
            <a:off x="548640" y="1417320"/>
            <a:ext cx="5440680" cy="2514600"/>
          </a:xfrm>
          <a:prstGeom prst="roundRect">
            <a:avLst>
              <a:gd name="adj" fmla="val 2909"/>
            </a:avLst>
          </a:prstGeom>
          <a:solidFill>
            <a:schemeClr val="bg2"/>
          </a:solidFill>
          <a:ln w="9525">
            <a:solidFill>
              <a:srgbClr val="D5DCEA"/>
            </a:solidFill>
            <a:prstDash val="solid"/>
          </a:ln>
        </p:spPr>
      </p:sp>
      <p:sp>
        <p:nvSpPr>
          <p:cNvPr id="5" name="Text 3"/>
          <p:cNvSpPr txBox="1"/>
          <p:nvPr/>
        </p:nvSpPr>
        <p:spPr>
          <a:xfrm>
            <a:off x="777240" y="1508760"/>
            <a:ext cx="4983480" cy="2331720"/>
          </a:xfrm>
          <a:prstGeom prst="rect">
            <a:avLst/>
          </a:prstGeom>
          <a:noFill/>
          <a:ln/>
        </p:spPr>
        <p:txBody>
          <a:bodyPr wrap="square" lIns="0" tIns="0" rIns="0" bIns="0" rtlCol="0" anchor="t"/>
          <a:lstStyle/>
          <a:p>
            <a:pPr indent="0" marL="0">
              <a:buNone/>
            </a:pPr>
            <a:r>
              <a:rPr lang="en-US" sz="1800" b="1" dirty="0">
                <a:solidFill>
                  <a:schemeClr val="accent3"/>
                </a:solidFill>
              </a:rPr>
              <a:t>v.9  </a:t>
            </a:r>
            <a:pPr indent="0" marL="0">
              <a:buNone/>
            </a:pPr>
            <a:r>
              <a:rPr lang="en-US" sz="1800" b="1" dirty="0">
                <a:solidFill>
                  <a:schemeClr val="tx2"/>
                </a:solidFill>
              </a:rPr>
              <a:t>Michael and the body of Moses</a:t>
            </a:r>
            <a:endParaRPr lang="en-US" sz="1400" dirty="0"/>
          </a:p>
          <a:p>
            <a:pPr indent="0" marL="0">
              <a:buNone/>
            </a:pPr>
            <a:r>
              <a:rPr lang="en-US" sz="600" dirty="0">
                <a:solidFill>
                  <a:schemeClr val="tx1"/>
                </a:solidFill>
              </a:rPr>
              <a:t> </a:t>
            </a:r>
            <a:endParaRPr lang="en-US" sz="1400" dirty="0"/>
          </a:p>
          <a:p>
            <a:pPr indent="0" marL="0">
              <a:buNone/>
            </a:pPr>
            <a:r>
              <a:rPr lang="en-US" sz="1400" b="1" dirty="0">
                <a:solidFill>
                  <a:schemeClr val="accent1"/>
                </a:solidFill>
              </a:rPr>
              <a:t>Background</a:t>
            </a:r>
            <a:endParaRPr lang="en-US" sz="1400" dirty="0"/>
          </a:p>
          <a:p>
            <a:pPr indent="0" marL="0">
              <a:buNone/>
            </a:pPr>
            <a:r>
              <a:rPr lang="en-US" sz="1400" dirty="0">
                <a:solidFill>
                  <a:schemeClr val="tx1"/>
                </a:solidFill>
              </a:rPr>
              <a:t>Early writers (Clement of Alexandria, Origen) linked this to a Jewish work known as the Assumption (or Testament) of Moses; the surviving copy lacks its ending.</a:t>
            </a:r>
            <a:endParaRPr lang="en-US" sz="1400" dirty="0"/>
          </a:p>
          <a:p>
            <a:pPr indent="0" marL="0">
              <a:buNone/>
            </a:pPr>
            <a:r>
              <a:rPr lang="en-US" sz="600" dirty="0">
                <a:solidFill>
                  <a:schemeClr val="tx1"/>
                </a:solidFill>
              </a:rPr>
              <a:t> </a:t>
            </a:r>
            <a:endParaRPr lang="en-US" sz="1400" dirty="0"/>
          </a:p>
          <a:p>
            <a:pPr indent="0" marL="0">
              <a:buNone/>
            </a:pPr>
            <a:r>
              <a:rPr lang="en-US" sz="1400" b="1" dirty="0">
                <a:solidFill>
                  <a:schemeClr val="accent1"/>
                </a:solidFill>
              </a:rPr>
              <a:t>Jude's point</a:t>
            </a:r>
            <a:endParaRPr lang="en-US" sz="1400" dirty="0"/>
          </a:p>
          <a:p>
            <a:pPr indent="0" marL="0">
              <a:buNone/>
            </a:pPr>
            <a:r>
              <a:rPr lang="en-US" sz="1400" dirty="0">
                <a:solidFill>
                  <a:schemeClr val="tx1"/>
                </a:solidFill>
              </a:rPr>
              <a:t>Even the archangel left judgment to God: "The Lord rebuke you" (cf. Zech 3:2).</a:t>
            </a:r>
            <a:endParaRPr lang="en-US" sz="1400" dirty="0"/>
          </a:p>
        </p:txBody>
      </p:sp>
      <p:sp>
        <p:nvSpPr>
          <p:cNvPr id="6" name="Shape 4"/>
          <p:cNvSpPr/>
          <p:nvPr/>
        </p:nvSpPr>
        <p:spPr>
          <a:xfrm>
            <a:off x="6172200" y="1417320"/>
            <a:ext cx="5440680" cy="2514600"/>
          </a:xfrm>
          <a:prstGeom prst="roundRect">
            <a:avLst>
              <a:gd name="adj" fmla="val 2909"/>
            </a:avLst>
          </a:prstGeom>
          <a:solidFill>
            <a:schemeClr val="bg2"/>
          </a:solidFill>
          <a:ln w="9525">
            <a:solidFill>
              <a:srgbClr val="D5DCEA"/>
            </a:solidFill>
            <a:prstDash val="solid"/>
          </a:ln>
        </p:spPr>
      </p:sp>
      <p:sp>
        <p:nvSpPr>
          <p:cNvPr id="7" name="Text 5"/>
          <p:cNvSpPr txBox="1"/>
          <p:nvPr/>
        </p:nvSpPr>
        <p:spPr>
          <a:xfrm>
            <a:off x="6400800" y="1508760"/>
            <a:ext cx="4983480" cy="2331720"/>
          </a:xfrm>
          <a:prstGeom prst="rect">
            <a:avLst/>
          </a:prstGeom>
          <a:noFill/>
          <a:ln/>
        </p:spPr>
        <p:txBody>
          <a:bodyPr wrap="square" lIns="0" tIns="0" rIns="0" bIns="0" rtlCol="0" anchor="t"/>
          <a:lstStyle/>
          <a:p>
            <a:pPr indent="0" marL="0">
              <a:buNone/>
            </a:pPr>
            <a:r>
              <a:rPr lang="en-US" sz="1800" b="1" dirty="0">
                <a:solidFill>
                  <a:schemeClr val="accent3"/>
                </a:solidFill>
              </a:rPr>
              <a:t>vv.14–15  </a:t>
            </a:r>
            <a:pPr indent="0" marL="0">
              <a:buNone/>
            </a:pPr>
            <a:r>
              <a:rPr lang="en-US" sz="1800" b="1" dirty="0">
                <a:solidFill>
                  <a:schemeClr val="tx2"/>
                </a:solidFill>
              </a:rPr>
              <a:t>Enoch's prophecy</a:t>
            </a:r>
            <a:endParaRPr lang="en-US" sz="1400" dirty="0"/>
          </a:p>
          <a:p>
            <a:pPr indent="0" marL="0">
              <a:buNone/>
            </a:pPr>
            <a:r>
              <a:rPr lang="en-US" sz="600" dirty="0">
                <a:solidFill>
                  <a:schemeClr val="tx1"/>
                </a:solidFill>
              </a:rPr>
              <a:t> </a:t>
            </a:r>
            <a:endParaRPr lang="en-US" sz="1400" dirty="0"/>
          </a:p>
          <a:p>
            <a:pPr indent="0" marL="0">
              <a:buNone/>
            </a:pPr>
            <a:r>
              <a:rPr lang="en-US" sz="1400" b="1" dirty="0">
                <a:solidFill>
                  <a:schemeClr val="accent1"/>
                </a:solidFill>
              </a:rPr>
              <a:t>Background</a:t>
            </a:r>
            <a:endParaRPr lang="en-US" sz="1400" dirty="0"/>
          </a:p>
          <a:p>
            <a:pPr indent="0" marL="0">
              <a:buNone/>
            </a:pPr>
            <a:r>
              <a:rPr lang="en-US" sz="1400" dirty="0">
                <a:solidFill>
                  <a:schemeClr val="tx1"/>
                </a:solidFill>
              </a:rPr>
              <a:t>Closely matches 1 Enoch 1:9, a Jewish writing well known in Jude's day.</a:t>
            </a:r>
            <a:endParaRPr lang="en-US" sz="1400" dirty="0"/>
          </a:p>
          <a:p>
            <a:pPr indent="0" marL="0">
              <a:buNone/>
            </a:pPr>
            <a:r>
              <a:rPr lang="en-US" sz="600" dirty="0">
                <a:solidFill>
                  <a:schemeClr val="tx1"/>
                </a:solidFill>
              </a:rPr>
              <a:t> </a:t>
            </a:r>
            <a:endParaRPr lang="en-US" sz="1400" dirty="0"/>
          </a:p>
          <a:p>
            <a:pPr indent="0" marL="0">
              <a:buNone/>
            </a:pPr>
            <a:r>
              <a:rPr lang="en-US" sz="1400" b="1" dirty="0">
                <a:solidFill>
                  <a:schemeClr val="accent1"/>
                </a:solidFill>
              </a:rPr>
              <a:t>Jude's point</a:t>
            </a:r>
            <a:endParaRPr lang="en-US" sz="1400" dirty="0"/>
          </a:p>
          <a:p>
            <a:pPr indent="0" marL="0">
              <a:buNone/>
            </a:pPr>
            <a:r>
              <a:rPr lang="en-US" sz="1400" dirty="0">
                <a:solidFill>
                  <a:schemeClr val="tx1"/>
                </a:solidFill>
              </a:rPr>
              <a:t>The Lord comes with His holy ones to judge the ungodly — "ungodly" four times in v.15.</a:t>
            </a:r>
            <a:endParaRPr lang="en-US" sz="1400" dirty="0"/>
          </a:p>
        </p:txBody>
      </p:sp>
      <p:sp>
        <p:nvSpPr>
          <p:cNvPr id="8" name="Shape 6"/>
          <p:cNvSpPr/>
          <p:nvPr/>
        </p:nvSpPr>
        <p:spPr>
          <a:xfrm>
            <a:off x="548640" y="4206240"/>
            <a:ext cx="11064240" cy="1417320"/>
          </a:xfrm>
          <a:prstGeom prst="roundRect">
            <a:avLst>
              <a:gd name="adj" fmla="val 5161"/>
            </a:avLst>
          </a:prstGeom>
          <a:solidFill>
            <a:schemeClr val="tx2"/>
          </a:solidFill>
          <a:ln w="12700">
            <a:solidFill>
              <a:schemeClr val="tx2"/>
            </a:solidFill>
            <a:prstDash val="solid"/>
          </a:ln>
        </p:spPr>
      </p:sp>
      <p:sp>
        <p:nvSpPr>
          <p:cNvPr id="9" name="Text 7"/>
          <p:cNvSpPr txBox="1"/>
          <p:nvPr/>
        </p:nvSpPr>
        <p:spPr>
          <a:xfrm>
            <a:off x="777240" y="4206240"/>
            <a:ext cx="10607040" cy="1417320"/>
          </a:xfrm>
          <a:prstGeom prst="rect">
            <a:avLst/>
          </a:prstGeom>
          <a:noFill/>
          <a:ln/>
        </p:spPr>
        <p:txBody>
          <a:bodyPr wrap="square" lIns="0" tIns="0" rIns="0" bIns="0" rtlCol="0" anchor="ctr"/>
          <a:lstStyle/>
          <a:p>
            <a:pPr indent="0" marL="0">
              <a:buNone/>
            </a:pPr>
            <a:r>
              <a:rPr lang="en-US" sz="1800" b="1" dirty="0">
                <a:solidFill>
                  <a:schemeClr val="accent5"/>
                </a:solidFill>
              </a:rPr>
              <a:t>Quoting is not canonizing</a:t>
            </a:r>
            <a:endParaRPr lang="en-US" sz="1800" dirty="0"/>
          </a:p>
          <a:p>
            <a:pPr indent="0" marL="0">
              <a:buNone/>
            </a:pPr>
            <a:r>
              <a:rPr lang="en-US" sz="1500" dirty="0">
                <a:solidFill>
                  <a:schemeClr val="bg1"/>
                </a:solidFill>
              </a:rPr>
              <a:t>Paul quoted Greek poets — Aratus (Acts 17:28), Epimenides (Titus 1:12), Menander (1 Cor 15:33). Inspiration guarantees that what Jude affirms is true, not that every book he draws from is Scripture.</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463040"/>
          </a:xfrm>
          <a:prstGeom prst="rect">
            <a:avLst/>
          </a:prstGeom>
          <a:noFill/>
          <a:ln/>
        </p:spPr>
        <p:txBody>
          <a:bodyPr wrap="square" rtlCol="0" anchor="b"/>
          <a:lstStyle/>
          <a:p>
            <a:pPr algn="l" indent="0" marL="0">
              <a:buNone/>
            </a:pPr>
            <a:r>
              <a:rPr lang="en-US" sz="4400" b="1" dirty="0">
                <a:solidFill>
                  <a:schemeClr val="bg1"/>
                </a:solidFill>
              </a:rPr>
              <a:t>Him who is able to keep you</a:t>
            </a:r>
            <a:endParaRPr lang="en-US" sz="4400" dirty="0"/>
          </a:p>
        </p:txBody>
      </p:sp>
      <p:sp>
        <p:nvSpPr>
          <p:cNvPr id="3" name="Text 0"/>
          <p:cNvSpPr/>
          <p:nvPr>
            <p:ph idx="101" type="body" hasCustomPrompt="1"/>
          </p:nvPr>
        </p:nvSpPr>
        <p:spPr>
          <a:xfrm>
            <a:off x="731520" y="3474720"/>
            <a:ext cx="10698480" cy="1463040"/>
          </a:xfrm>
          <a:prstGeom prst="rect">
            <a:avLst/>
          </a:prstGeom>
          <a:noFill/>
          <a:ln/>
        </p:spPr>
        <p:txBody>
          <a:bodyPr wrap="square" rtlCol="0" anchor="t"/>
          <a:lstStyle/>
          <a:p>
            <a:pPr indent="0" marL="0">
              <a:buNone/>
            </a:pPr>
            <a:r>
              <a:rPr lang="en-US" sz="2000" dirty="0">
                <a:solidFill>
                  <a:schemeClr val="bg2"/>
                </a:solidFill>
              </a:rPr>
              <a:t>"…from stumbling, and to make you stand in the presence of His glory blameless with great joy." — Jude 24 (NASB)</a:t>
            </a:r>
            <a:endParaRPr lang="en-US" sz="2000" dirty="0"/>
          </a:p>
        </p:txBody>
      </p:sp>
      <p:sp>
        <p:nvSpPr>
          <p:cNvPr id="4" name="Shape 2"/>
          <p:cNvSpPr/>
          <p:nvPr/>
        </p:nvSpPr>
        <p:spPr>
          <a:xfrm>
            <a:off x="731520" y="5029200"/>
            <a:ext cx="2834640" cy="777240"/>
          </a:xfrm>
          <a:prstGeom prst="roundRect">
            <a:avLst>
              <a:gd name="adj" fmla="val 11765"/>
            </a:avLst>
          </a:prstGeom>
          <a:solidFill>
            <a:schemeClr val="accent1"/>
          </a:solidFill>
          <a:ln w="12700">
            <a:solidFill>
              <a:schemeClr val="accent5"/>
            </a:solidFill>
            <a:prstDash val="solid"/>
          </a:ln>
        </p:spPr>
      </p:sp>
      <p:sp>
        <p:nvSpPr>
          <p:cNvPr id="5" name="Text 3"/>
          <p:cNvSpPr txBox="1"/>
          <p:nvPr/>
        </p:nvSpPr>
        <p:spPr>
          <a:xfrm>
            <a:off x="731520" y="5029200"/>
            <a:ext cx="2834640" cy="777240"/>
          </a:xfrm>
          <a:prstGeom prst="rect">
            <a:avLst/>
          </a:prstGeom>
          <a:noFill/>
          <a:ln/>
        </p:spPr>
        <p:txBody>
          <a:bodyPr wrap="square" lIns="0" tIns="0" rIns="0" bIns="0" rtlCol="0" anchor="ctr"/>
          <a:lstStyle/>
          <a:p>
            <a:pPr algn="ctr" indent="0" marL="0">
              <a:buNone/>
            </a:pPr>
            <a:r>
              <a:rPr lang="en-US" sz="2000" b="1" dirty="0">
                <a:solidFill>
                  <a:schemeClr val="bg1"/>
                </a:solidFill>
              </a:rPr>
              <a:t>before all time</a:t>
            </a:r>
            <a:endParaRPr lang="en-US" sz="2000" dirty="0"/>
          </a:p>
        </p:txBody>
      </p:sp>
      <p:sp>
        <p:nvSpPr>
          <p:cNvPr id="6" name="Shape 4"/>
          <p:cNvSpPr/>
          <p:nvPr/>
        </p:nvSpPr>
        <p:spPr>
          <a:xfrm>
            <a:off x="3794760" y="5029200"/>
            <a:ext cx="2834640" cy="777240"/>
          </a:xfrm>
          <a:prstGeom prst="roundRect">
            <a:avLst>
              <a:gd name="adj" fmla="val 11765"/>
            </a:avLst>
          </a:prstGeom>
          <a:solidFill>
            <a:schemeClr val="accent1"/>
          </a:solidFill>
          <a:ln w="12700">
            <a:solidFill>
              <a:schemeClr val="accent5"/>
            </a:solidFill>
            <a:prstDash val="solid"/>
          </a:ln>
        </p:spPr>
      </p:sp>
      <p:sp>
        <p:nvSpPr>
          <p:cNvPr id="7" name="Text 5"/>
          <p:cNvSpPr txBox="1"/>
          <p:nvPr/>
        </p:nvSpPr>
        <p:spPr>
          <a:xfrm>
            <a:off x="3794760" y="5029200"/>
            <a:ext cx="2834640" cy="777240"/>
          </a:xfrm>
          <a:prstGeom prst="rect">
            <a:avLst/>
          </a:prstGeom>
          <a:noFill/>
          <a:ln/>
        </p:spPr>
        <p:txBody>
          <a:bodyPr wrap="square" lIns="0" tIns="0" rIns="0" bIns="0" rtlCol="0" anchor="ctr"/>
          <a:lstStyle/>
          <a:p>
            <a:pPr algn="ctr" indent="0" marL="0">
              <a:buNone/>
            </a:pPr>
            <a:r>
              <a:rPr lang="en-US" sz="2000" b="1" dirty="0">
                <a:solidFill>
                  <a:schemeClr val="bg1"/>
                </a:solidFill>
              </a:rPr>
              <a:t>now</a:t>
            </a:r>
            <a:endParaRPr lang="en-US" sz="2000" dirty="0"/>
          </a:p>
        </p:txBody>
      </p:sp>
      <p:sp>
        <p:nvSpPr>
          <p:cNvPr id="8" name="Shape 6"/>
          <p:cNvSpPr/>
          <p:nvPr/>
        </p:nvSpPr>
        <p:spPr>
          <a:xfrm>
            <a:off x="6858000" y="5029200"/>
            <a:ext cx="2834640" cy="777240"/>
          </a:xfrm>
          <a:prstGeom prst="roundRect">
            <a:avLst>
              <a:gd name="adj" fmla="val 11765"/>
            </a:avLst>
          </a:prstGeom>
          <a:solidFill>
            <a:schemeClr val="accent1"/>
          </a:solidFill>
          <a:ln w="12700">
            <a:solidFill>
              <a:schemeClr val="accent5"/>
            </a:solidFill>
            <a:prstDash val="solid"/>
          </a:ln>
        </p:spPr>
      </p:sp>
      <p:sp>
        <p:nvSpPr>
          <p:cNvPr id="9" name="Text 7"/>
          <p:cNvSpPr txBox="1"/>
          <p:nvPr/>
        </p:nvSpPr>
        <p:spPr>
          <a:xfrm>
            <a:off x="6858000" y="5029200"/>
            <a:ext cx="2834640" cy="777240"/>
          </a:xfrm>
          <a:prstGeom prst="rect">
            <a:avLst/>
          </a:prstGeom>
          <a:noFill/>
          <a:ln/>
        </p:spPr>
        <p:txBody>
          <a:bodyPr wrap="square" lIns="0" tIns="0" rIns="0" bIns="0" rtlCol="0" anchor="ctr"/>
          <a:lstStyle/>
          <a:p>
            <a:pPr algn="ctr" indent="0" marL="0">
              <a:buNone/>
            </a:pPr>
            <a:r>
              <a:rPr lang="en-US" sz="2000" b="1" dirty="0">
                <a:solidFill>
                  <a:schemeClr val="bg1"/>
                </a:solidFill>
              </a:rPr>
              <a:t>forever</a:t>
            </a:r>
            <a:endParaRPr lang="en-US" sz="2000" dirty="0"/>
          </a:p>
        </p:txBody>
      </p:sp>
      <p:sp>
        <p:nvSpPr>
          <p:cNvPr id="10" name="Text 8"/>
          <p:cNvSpPr txBox="1"/>
          <p:nvPr/>
        </p:nvSpPr>
        <p:spPr>
          <a:xfrm>
            <a:off x="731520" y="5943600"/>
            <a:ext cx="9144000" cy="365760"/>
          </a:xfrm>
          <a:prstGeom prst="rect">
            <a:avLst/>
          </a:prstGeom>
          <a:noFill/>
          <a:ln/>
        </p:spPr>
        <p:txBody>
          <a:bodyPr wrap="square" lIns="0" tIns="0" rIns="0" bIns="0" rtlCol="0" anchor="ctr"/>
          <a:lstStyle/>
          <a:p>
            <a:pPr indent="0" marL="0">
              <a:buNone/>
            </a:pPr>
            <a:r>
              <a:rPr lang="en-US" sz="1400" i="1" dirty="0">
                <a:solidFill>
                  <a:schemeClr val="bg2"/>
                </a:solidFill>
              </a:rPr>
              <a:t>Jude 25 — glory, majesty, dominion and authority</a:t>
            </a:r>
            <a:endParaRPr lang="en-US" sz="1400" dirty="0"/>
          </a:p>
        </p:txBody>
      </p:sp>
    </p:spTree>
  </p:cSld>
  <p:clrMapOvr>
    <a:masterClrMapping/>
  </p:clrMapOvr>
</p:sld>
</file>

<file path=ppt/theme/theme1.xml><?xml version="1.0" encoding="utf-8"?>
<a:theme xmlns:a="http://schemas.openxmlformats.org/drawingml/2006/main" name="Gospel Vault Jude">
  <a:themeElements>
    <a:clrScheme name="Gospel Vault Jude">
      <a:dk1>
        <a:srgbClr val="222222"/>
      </a:dk1>
      <a:lt1>
        <a:srgbClr val="FFFFFF"/>
      </a:lt1>
      <a:dk2>
        <a:srgbClr val="1F3864"/>
      </a:dk2>
      <a:lt2>
        <a:srgbClr val="F2F6FC"/>
      </a:lt2>
      <a:accent1>
        <a:srgbClr val="2E5496"/>
      </a:accent1>
      <a:accent2>
        <a:srgbClr val="375623"/>
      </a:accent2>
      <a:accent3>
        <a:srgbClr val="7030A0"/>
      </a:accent3>
      <a:accent4>
        <a:srgbClr val="6B6A65"/>
      </a:accent4>
      <a:accent5>
        <a:srgbClr val="C9A227"/>
      </a:accent5>
      <a:accent6>
        <a:srgbClr val="F0F4EE"/>
      </a:accent6>
      <a:hlink>
        <a:srgbClr val="2E5496"/>
      </a:hlink>
      <a:folHlink>
        <a:srgbClr val="7030A0"/>
      </a:folHlink>
    </a:clrScheme>
    <a:fontScheme name="Gospel Vault Jud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Jude — Contend for the Faith: Chart Deck</dc:title>
  <dc:subject>PptxGenJS Presentation</dc:subject>
  <dc:creator>The Gospel Vault</dc:creator>
  <cp:lastModifiedBy>The Gospel Vault</cp:lastModifiedBy>
  <cp:revision>1</cp:revision>
  <dcterms:created xsi:type="dcterms:W3CDTF">2026-10-29T20:11:56Z</dcterms:created>
  <dcterms:modified xsi:type="dcterms:W3CDTF">2026-10-29T20:11:56Z</dcterms:modified>
</cp:coreProperties>
</file>