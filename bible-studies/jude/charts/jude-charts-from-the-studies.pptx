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d16e8cc-f79b-71dd-e114-f3fd07782a32}">
          <p14:sldIdLst>
            <p14:sldId id="256"/>
          </p14:sldIdLst>
        </p14:section>
        <p14:section name="Overview" id="{c588c7b5-776b-c6ad-9ace-e6d4c75914d2}">
          <p14:sldIdLst>
            <p14:sldId id="257"/>
          </p14:sldIdLst>
        </p14:section>
        <p14:section name="Study 1 · 1–2" id="{cae6699a-82ef-e773-17ce-06cfca5a3503}">
          <p14:sldIdLst>
            <p14:sldId id="258"/>
            <p14:sldId id="259"/>
            <p14:sldId id="260"/>
            <p14:sldId id="261"/>
            <p14:sldId id="262"/>
            <p14:sldId id="263"/>
          </p14:sldIdLst>
        </p14:section>
        <p14:section name="Study 2 · 3–4" id="{844b582d-4b4f-b60e-82d3-67f7c4fbb42d}">
          <p14:sldIdLst>
            <p14:sldId id="264"/>
            <p14:sldId id="265"/>
            <p14:sldId id="266"/>
            <p14:sldId id="267"/>
            <p14:sldId id="268"/>
            <p14:sldId id="269"/>
          </p14:sldIdLst>
        </p14:section>
        <p14:section name="Study 3 · 5–11" id="{01a8613c-6a5c-b8bb-de74-a07fed629080}">
          <p14:sldIdLst>
            <p14:sldId id="270"/>
            <p14:sldId id="271"/>
            <p14:sldId id="272"/>
            <p14:sldId id="273"/>
            <p14:sldId id="274"/>
            <p14:sldId id="275"/>
            <p14:sldId id="276"/>
          </p14:sldIdLst>
        </p14:section>
        <p14:section name="Study 4 · 12–16" id="{6857be9b-008a-6988-0486-e03c0a4d135a}">
          <p14:sldIdLst>
            <p14:sldId id="277"/>
            <p14:sldId id="278"/>
            <p14:sldId id="279"/>
            <p14:sldId id="280"/>
            <p14:sldId id="281"/>
            <p14:sldId id="282"/>
          </p14:sldIdLst>
        </p14:section>
        <p14:section name="Study 5 · 17–23" id="{7bbcc494-4218-3008-7a5f-78dfdceafc94}">
          <p14:sldIdLst>
            <p14:sldId id="283"/>
            <p14:sldId id="284"/>
            <p14:sldId id="285"/>
            <p14:sldId id="286"/>
            <p14:sldId id="287"/>
            <p14:sldId id="288"/>
          </p14:sldIdLst>
        </p14:section>
        <p14:section name="Study 6 · 24–25" id="{9173e033-adb1-39e6-deeb-c8cdab4b5a33}">
          <p14:sldIdLst>
            <p14:sldId id="289"/>
            <p14:sldId id="290"/>
            <p14:sldId id="291"/>
            <p14:sldId id="292"/>
            <p14:sldId id="293"/>
          </p14:sldIdLst>
        </p14:section>
        <p14:section name="Closing" id="{b140d3d9-5e51-19a5-b43f-ecf96d730bef}">
          <p14:sldIdLst>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chart in this deck is drawn from the six Jude studies (Contend for the Faith, Studies 1–6) — their commentary, Greek word studies, and passage summaries. Each slide's notes name the study and section it comes from, so a leader can turn straight to the fuller discussion. Scripture wording follows the NASB (1995). Greek forms follow the studies' word tables (Blue Letter Bible). Color key: blue = what God does for His people; green = what believers are called to do; grey = the intruders and their judgment. In comparison slides, the grey column is the Reformed / Lordship view and the blue column the Free Grace view, with the series' conclusion in the dark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studies follow the letter in order. Studies 1 and 6 are the frame (God's keeping); Study 2 is the thesis (the charge of v.3 and its reason in v.4); Studies 3–4 develop the danger; Study 5 gives the believer's response. Source: the title and Proposition box of each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1 proposition (abridged). The study's structure: I. Introduction — Fifty Words Before the Storm; II. The Writer (v.1a); III. The Readers — Three Things God Has Done (v.1b); IV. The Greeting (v.2); V. Conclusion — Identity Before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§II.A–C. Jude (Ioudas) is the half-brother of Jesus (Matt 13:55), "brother of James" — James of Jerusalem (Acts 15:13; Gal 1:19). He did not believe during Jesus' ministry (John 7:5; Mark 3:21); the resurrection changed that (1 Cor 15:7; Acts 1:14). This gives the letter tenderness: when Jude tells the church to have mercy on doubters (v.22), he writes as one who once doubted (Study 1 §II.B; Study 5 §IV.A). His humility contrasts with the intruders who "reject authority" (v.8) and flatter "for the sake of gaining an advantage" (v.16).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§III.A–C and the Greek word study. Why open this way? The letter will describe people who look like believers and are not (vv.4, 12, 19). Genuine believers might read it and fear: Am I one of them? Jude answers that fear before it can form. Reformed agreement: calling originates entirely with God (Murray; Berkhof). Where the Reformed system treats calling as the first link in a chain that must produce persevering works as proof, the Free Grace reading "stops where the text stops" (Bing, Simply by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§III.C ("Kept for Jesus Christ"), which lists the five "keep" texts and calls tēreō "the key to the whole letter"; Study 4 §II.E (v.13, "reserved" is tēreō); Study 5 §III.C (v.21); Study 6 §III.A (v.24 uses phylassō, "to guard," the word for a sentry at his post — not tēreō). The same verb describes two utterly different destinies: believers kept for Jesus Christ (v.1), the rebellious kept for judgment (vv.6, 13) (Study 3 §II.B). Free Grace sources cited in the studies: Dillow, The Reign of the Servant Kings; Wilkin, Confident in Christ.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§IV and the Greek word study. Jude's greeting is unique: Paul writes "grace and peace"; Peter "grace and peace be multiplied." Jude chooses the three gifts believers need most when the church is under pressure. Application idea from the study: close the meeting by praying Jude 2 over each person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§III.C and Study Question 4. Calvin's definition is closer to the Free Grace view of assurance than the later Westminster formulation (WCF 18.3), an internal Reformed fault line noted in RTR.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2 proposition (abridged). Structure: I. The Letter Jude Did Not Write; II. The Change of Plans (v.3a); III. The Charge (v.3b); IV. The Cause — Infiltrators in the Church (v.4); V. Contending with Grace in Hand. Study 2 calls vv.3–4 the thesis of the whole book: everything from v.5 to v.23 develops either the danger of v.4 or the response of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§I–II. Teaching line from the study: not every controversy deserves a letter, but when the gospel itself is being reshaped, silence is not kindness. "A shepherd who sees wolves among the sheep and keeps writing about the weather has not loved the flock." On "common salvation": the gift of eternal life is the same for every believer because it rests on the Giver, not the receiver (Bing, Simply by Grace).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§III and the Greek word study. Contending earnestly is not the same as being contentious: in v.9 Michael leaves rebuke to the Lord, and in vv.20–23 contending turns out to mean building, praying, keeping, and showing mercy. Point of agreement: Free Grace and Reformed teachers stand together on the sufficiency and finality of Scripture (WCF ch.1); disagreement concerns the interpretation of the deposit, not its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§IV.A–E. Their presence in the fellowship did not make them saved, any more than Judas's presence among the Twelve made him a believer (John 6:64, 70). The denial may have been practical (Titus 1:16) as well as doctrinal (2 Pet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§IV.B. Wilkin's free GES booklet Is Calvinism Biblical? (faithalone.org/ebooks) offers a fuller Free Grace response to the reprobation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§IV.D. The false teachers of Jude 4 were not believers who misunderstood discipleship; they were ungodly men, devoid of the Spirit, who used the language of grace to justify a life that denied the Lord. Closing line from the study: "We do not contend in order to secure our place. We contend because our place is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3 proposition (abridged). Jude does not tell his readers anything new — "I desire to remind you, though you know all things once for all" (v.5). Structure: three examples of judgment (vv.5–7); applied to the intruders (v.8); Michael in contrast (v.9); conclusion (v.10); a woe and three more examples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 The phrase "once for all" in v.5 is the same hapax as v.3: they had received the whole deposit and knew the stories; what they needed was to see their own situation 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§II.A–C. On v.6, Study 3 presents two views: (1) Genesis 6:1–4 as read in Judaism and 1 Enoch, which fits "in the same way as these" in v.7; (2) the original fall of angels with Satan. "Teachers in our tradition hold both views; the group need not settle it to grasp the warning." Sodom's sin: "strange flesh" (sarkos heteras); the cities are "exhibited as an example" (deigma).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§II.A. Textual note to share: two early manuscripts read "Jesus" instead of "the Lord" in v.5; if original, Jude is saying the pre-incarnate Son led Israel out of Egypt (cf. 1 Cor 10:4). Either way, the same Lord who saves also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§III. A model for believers who contend: "We are not called to be spiritual brawlers, mocking our enemies or trading insults with the powers of darkness. We stand firm in the truth and say, with Michael, 'The Lord rebuke you.' The battle is His." Bitter irony of v.10: what they do not understand they mock; what they do understand — their appetites — they follow like animals, and those appetites ruin them (cf. 2 Pet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§IV. The only woe outside the Gospels and Revelation; the language of the prophets and of Jesus (Matt 23). "Taken together, the three names trace a downward path: Cain went his own way, Balaam rushed headlong for profit, Korah perished in rebellion. Walking, running, falling. Sin rarely stands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§V. "We have not been kept because we are better than the wilderness generation or wiser than Balaam. We have been kept because God saved us by grace through faith and holds us in His hand (John 10:28–29). That is reason not for pride, but for grateful, humble obedience."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4 proposition (abridged). Opening illustration: bank tellers learn to spot counterfeits mainly by handling the real thing. Structure: five images from nature (vv.12–13); Enoch's prophecy (vv.14–15); a plain portrait (v.16). On "apostasy": these are not believers who lost salvation, but unbelievers who infiltrated the church and abandoned the faith they once professed (v.19).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 Jude takes his images from every realm of creation — "as though all creation is called to testify against these men." Spilades most likely means "reefs" (NASB margin: "stains"; cf. 2 Pet 2:13). "Doubly dead": Study 4 gives two views — (1) fruitless and then uprooted, or (2) spiritually dead now and destined for the "second death" (Rev 20:14). Wandering stars: planētai, from which we get "planet"; teachers are meant to be guiding lights (Dan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§V and the bank-teller illustration in §I: the best protection against counterfeits is close familiarity with the real thing. The portraits are not meant to turn believers into anxious self-inspectors; the letter begins and ends with God's keeping. Scripture references for each counterpart are added for the leader's 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§III. Sources cited in the study for the eschatology: Pentecost, Things to Come; Fruchtenbaum, The Footsteps of the Messiah. "Convict" (elenxai) means to expose and prove guilty — every deed and every harsh word will be brought into the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§IV. "It is a strange combination, but a familiar one: arrogant toward God and His authority, fawning toward people who can benefit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5 proposition (abridged). Illustration: a doctor gives a diagnosis and a prescription. Jude has given the diagnosis (vv.4–16); now the prescription. Three movements: remember (vv.17–19), keep yourselves (vv.20–21), reach out (vv.22–23). This is Jude's practical answer to v.3: what it means to contend for the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§I–III. The emphatic "you" (hymeis) sets believers in deliberate contrast with "these." Every believer receives the Spirit at the moment of faith (Rom 8:9; Eph 1:13–14). Study 5 §II.B: "here Free Grace and Reformed interpreters agree. Both see the intruders as unregenerate." The pairing of rows is a teaching arrangement of the study's contrasts, not a claim that Jude matches them one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§I–V. "None of it is driven by fear for our own security. Jude has already told us we are kept. We build, pray, keep, and rescue not to secure our standing, but because our standing is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 "There is one main command — 'keep yourselves in the love of God' — surrounded by three participles that describe how it is done: building, praying, and waiting." On "to eternal life": eternal life is a present possession (John 5:24; 1 John 5:13) with a future fullness — resurrection, the Lord's presence, the kingdom (Study 5 §III.D). In the series' dispensational framework, the mercy awaited points to the Lord's return for His church (1 Thess 4:13–18).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§III.C, including the child-in-a-loving-home illustration: "The parent still loves the child; the child is still in the family. But the child is not keeping himself in the love of his parents in the sense of enjoying and responding to it." The reading fits the frame: kept (v.1) and able to keep (v.24).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§IV. On the second group, Study 5 gives two readings that both fit Jude's argument; either way, "Jude is not teaching that believers can lose eternal life. He is calling the church to urgent, rescuing love." James 5:20 is understood by Free Grace interpreters as rescue from physical death and the ruin of sin (Hodges, The Epistle of James). "Our groups should be safe places for honest questions, because doubt met with mercy often becomes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6 proposition (abridged). The letter that opened with a battle cry does not end with a battle but with a doxology — a structural choice that is itself a theological statement. Verse 24 tells us what God is able to do for us; verse 25 tells us what belongs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§II–III and the word study. Caution from the study: v.24 does not promise that believers will never sin (1 John 1:8; James 3:2 uses the same root, ptaiō); it praises God's ability — a power fully sufficient to guard His people from being carried off by error, which believers draw on as they build, pray, and keep themselves (vv.20–21). Picture: "not a reluctant judge admitting defendants on a technicality" but a bridegroom presenting his bride.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§III.C: "The contrast is total — and it is entirely God's doing." Free Grace source cited: Hodges, Grace in Eclipse.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§IV. "To the only God our Savior" — in a world crowded with gods and teachers claiming special access, there is only one; the NT often calls the Father "Savior." "Through Jesus Christ our Lord" — the very lordship the intruders denied (v.4); the letter ends by confessing what they rejected. Textual note: the Majority Text (Hodges–Farstad; KJV/NKJV) reads "to God our Savior, who alone is wise" and lacks "through Jesus Christ our Lord" and "before all time"; the NASB follows the older manuscripts. "Amen" — the congregation's word of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§III.A. Closing question from the study: "Where is my confidence placed? If it rests on my faithfulness, my strength, my record, it will be shaken every time I stumble. If it rests on Him who is able, it cannot be shaken, because He cannot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§V: "The letter that opened with 'kept for Jesus Christ' ends with 'Him who is able to keep you.' Everything in between is held inside that frame." A fitting close for the last session: read vv.24–25 aloud together and let the group answer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lstStyle>
            <a:lvl1pPr algn="l" indent="0" marL="0">
              <a:buNone/>
              <a:defRPr lang="en-US" sz="1400" i="1" dirty="0">
                <a:solidFill>
                  <a:schemeClr val="accent4"/>
                </a:solidFill>
              </a:defRPr>
            </a:lvl1pPr>
          </a:lstStyle>
          <a:p>
            <a:pPr algn="l" indent="0" marL="0">
              <a:buNone/>
            </a:pPr>
            <a:endParaRPr lang="en-US" sz="1400" dirty="0"/>
          </a:p>
        </p:txBody>
      </p:sp>
      <p:sp>
        <p:nvSpPr>
          <p:cNvPr id="4" name="Text 0"/>
          <p:cNvSpPr/>
          <p:nvPr/>
        </p:nvSpPr>
        <p:spPr>
          <a:xfrm>
            <a:off x="548640" y="6400800"/>
            <a:ext cx="9144000" cy="274320"/>
          </a:xfrm>
          <a:prstGeom prst="rect">
            <a:avLst/>
          </a:prstGeom>
          <a:noFill/>
          <a:ln/>
        </p:spPr>
        <p:txBody>
          <a:bodyPr wrap="square" rtlCol="0" anchor="ctr"/>
          <a:lstStyle/>
          <a:p>
            <a:pPr indent="0" marL="0">
              <a:buNone/>
            </a:pPr>
            <a:r>
              <a:rPr lang="en-US" sz="1000" dirty="0">
                <a:solidFill>
                  <a:schemeClr val="accent4"/>
                </a:solidFill>
              </a:rPr>
              <a:t>Contend for the Faith · Charts from the six studies · The Gospel Vault · NASB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Contend for the Faith</a:t>
            </a: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Charts from the six studies</a:t>
            </a:r>
            <a:endParaRPr lang="en-US" sz="2000" dirty="0"/>
          </a:p>
          <a:p>
            <a:pPr algn="l" indent="0" marL="0">
              <a:buNone/>
            </a:pPr>
            <a:r>
              <a:rPr lang="en-US" sz="1600" dirty="0">
                <a:solidFill>
                  <a:schemeClr val="bg2"/>
                </a:solidFill>
              </a:rPr>
              <a:t>Leader resource · drawn from Studies 1–6 · NASB</a:t>
            </a:r>
            <a:endParaRPr lang="en-US" sz="2000" dirty="0"/>
          </a:p>
        </p:txBody>
      </p:sp>
      <p:sp>
        <p:nvSpPr>
          <p:cNvPr id="4" name="Text 2"/>
          <p:cNvSpPr txBox="1"/>
          <p:nvPr/>
        </p:nvSpPr>
        <p:spPr>
          <a:xfrm>
            <a:off x="731520" y="6035040"/>
            <a:ext cx="5486400" cy="365760"/>
          </a:xfrm>
          <a:prstGeom prst="rect">
            <a:avLst/>
          </a:prstGeom>
          <a:noFill/>
          <a:ln/>
        </p:spPr>
        <p:txBody>
          <a:bodyPr wrap="square" lIns="0" tIns="0" rIns="0" bIns="0" rtlCol="0" anchor="t"/>
          <a:lstStyle/>
          <a:p>
            <a:pPr indent="0" marL="0">
              <a:buNone/>
            </a:pPr>
            <a:r>
              <a:rPr lang="en-US" sz="1400" b="1" dirty="0">
                <a:solidFill>
                  <a:schemeClr val="accent5"/>
                </a:solidFill>
              </a:rPr>
              <a:t>The Gospel Vault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series at a glance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Six studies through Jude's 25 verses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777240"/>
                <a:gridCol w="1234440"/>
                <a:gridCol w="3840480"/>
                <a:gridCol w="5212080"/>
              </a:tblGrid>
              <a:tr h="438912">
                <a:tc>
                  <a:txBody>
                    <a:bodyPr/>
                    <a:lstStyle/>
                    <a:p>
                      <a:pPr indent="0" marL="0">
                        <a:buNone/>
                      </a:pPr>
                      <a:r>
                        <a:rPr lang="en-US" sz="1400" b="1" dirty="0">
                          <a:solidFill>
                            <a:schemeClr val="bg1"/>
                          </a:solidFill>
                          <a:latin typeface="Arial" pitchFamily="34" charset="0"/>
                          <a:ea typeface="Arial" pitchFamily="34" charset="-122"/>
                          <a:cs typeface="Arial" pitchFamily="34" charset="-120"/>
                        </a:rPr>
                        <a:t>Study</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Passage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Title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Proposition in brief</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1–2</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Standing in the Storm: Grace, Mercy, and Peace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Before believers contend, they are reminded who they are — called, loved, kept — with mercy, peace, and love multiplied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3–4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Battle Cry: Contend Earnestly for the Faith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Contend earnestly — and graciously — for the once-for-all faith against those who turn grace into license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5–11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Three Warnings from History: When Grace Is Misused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God faithfully judges contempt for His grace and authority; like Michael, leave judgment to the Lord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12–16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Portraits of Apostasy: What False Teachers Look Like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Recognize empty, self-serving religion and rest in the certainty of the Lord's judgment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17–23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Believer's Response: Build, Pray, Keep, Rescue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Remember the apostles, keep yourselves in God's love, and reach out in discerning mercy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49808">
                <a:tc>
                  <a:txBody>
                    <a:bodyPr/>
                    <a:lstStyle/>
                    <a:p>
                      <a:pPr algn="ctr" indent="0" marL="0">
                        <a:buNone/>
                      </a:pPr>
                      <a:r>
                        <a:rPr lang="en-US" sz="1300" b="1" dirty="0">
                          <a:solidFill>
                            <a:schemeClr val="accent3"/>
                          </a:solidFill>
                          <a:latin typeface="Arial" pitchFamily="34" charset="0"/>
                          <a:ea typeface="Arial" pitchFamily="34" charset="-122"/>
                          <a:cs typeface="Arial" pitchFamily="34" charset="-120"/>
                        </a:rPr>
                        <a:t>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Jude 24–25</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Doxology of Confidence: He Is Able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God is able to guard His people and present them blameless with great joy — to Him be glory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1 of 6 · Jude 1–2</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Standing in the Storm: Grace, Mercy, and Peace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Before believers are called to contend for the faith, they are reminded of who they are: called, loved, and kept by God.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Jude: from unbelief to bond-servant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writer behind the letter (v.1a)</a:t>
            </a:r>
            <a:endParaRPr lang="en-US" sz="1400" dirty="0"/>
          </a:p>
        </p:txBody>
      </p:sp>
      <p:sp>
        <p:nvSpPr>
          <p:cNvPr id="4" name="Shape 2"/>
          <p:cNvSpPr/>
          <p:nvPr/>
        </p:nvSpPr>
        <p:spPr>
          <a:xfrm>
            <a:off x="548640" y="1508760"/>
            <a:ext cx="1737360" cy="685800"/>
          </a:xfrm>
          <a:prstGeom prst="roundRect">
            <a:avLst>
              <a:gd name="adj" fmla="val 10667"/>
            </a:avLst>
          </a:prstGeom>
          <a:solidFill>
            <a:schemeClr val="accent4"/>
          </a:solidFill>
          <a:ln w="9525">
            <a:solidFill>
              <a:schemeClr val="accent4"/>
            </a:solidFill>
            <a:prstDash val="solid"/>
          </a:ln>
        </p:spPr>
      </p:sp>
      <p:sp>
        <p:nvSpPr>
          <p:cNvPr id="5" name="Text 3"/>
          <p:cNvSpPr txBox="1"/>
          <p:nvPr/>
        </p:nvSpPr>
        <p:spPr>
          <a:xfrm>
            <a:off x="62179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Grew up with Jesus</a:t>
            </a:r>
            <a:endParaRPr lang="en-US" sz="1400" dirty="0"/>
          </a:p>
        </p:txBody>
      </p:sp>
      <p:sp>
        <p:nvSpPr>
          <p:cNvPr id="6" name="Text 4"/>
          <p:cNvSpPr txBox="1"/>
          <p:nvPr/>
        </p:nvSpPr>
        <p:spPr>
          <a:xfrm>
            <a:off x="226771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7" name="Shape 5"/>
          <p:cNvSpPr/>
          <p:nvPr/>
        </p:nvSpPr>
        <p:spPr>
          <a:xfrm>
            <a:off x="548640" y="2331720"/>
            <a:ext cx="1737360" cy="2057400"/>
          </a:xfrm>
          <a:prstGeom prst="roundRect">
            <a:avLst>
              <a:gd name="adj" fmla="val 4211"/>
            </a:avLst>
          </a:prstGeom>
          <a:solidFill>
            <a:schemeClr val="bg2"/>
          </a:solidFill>
          <a:ln w="9525">
            <a:solidFill>
              <a:srgbClr val="D5DCEA"/>
            </a:solidFill>
            <a:prstDash val="solid"/>
          </a:ln>
        </p:spPr>
      </p:sp>
      <p:sp>
        <p:nvSpPr>
          <p:cNvPr id="8" name="Text 6"/>
          <p:cNvSpPr txBox="1"/>
          <p:nvPr/>
        </p:nvSpPr>
        <p:spPr>
          <a:xfrm>
            <a:off x="65836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"His brothers, James and Joseph and Simon and Judas"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Matt 13:55</a:t>
            </a:r>
            <a:endParaRPr lang="en-US" sz="1300" dirty="0"/>
          </a:p>
        </p:txBody>
      </p:sp>
      <p:sp>
        <p:nvSpPr>
          <p:cNvPr id="9" name="Shape 7"/>
          <p:cNvSpPr/>
          <p:nvPr/>
        </p:nvSpPr>
        <p:spPr>
          <a:xfrm>
            <a:off x="2423160" y="1508760"/>
            <a:ext cx="1737360" cy="685800"/>
          </a:xfrm>
          <a:prstGeom prst="roundRect">
            <a:avLst>
              <a:gd name="adj" fmla="val 10667"/>
            </a:avLst>
          </a:prstGeom>
          <a:solidFill>
            <a:schemeClr val="accent4"/>
          </a:solidFill>
          <a:ln w="9525">
            <a:solidFill>
              <a:schemeClr val="accent4"/>
            </a:solidFill>
            <a:prstDash val="solid"/>
          </a:ln>
        </p:spPr>
      </p:sp>
      <p:sp>
        <p:nvSpPr>
          <p:cNvPr id="10" name="Text 8"/>
          <p:cNvSpPr txBox="1"/>
          <p:nvPr/>
        </p:nvSpPr>
        <p:spPr>
          <a:xfrm>
            <a:off x="249631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Did not believe</a:t>
            </a:r>
            <a:endParaRPr lang="en-US" sz="1400" dirty="0"/>
          </a:p>
        </p:txBody>
      </p:sp>
      <p:sp>
        <p:nvSpPr>
          <p:cNvPr id="11" name="Text 9"/>
          <p:cNvSpPr txBox="1"/>
          <p:nvPr/>
        </p:nvSpPr>
        <p:spPr>
          <a:xfrm>
            <a:off x="414223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12" name="Shape 10"/>
          <p:cNvSpPr/>
          <p:nvPr/>
        </p:nvSpPr>
        <p:spPr>
          <a:xfrm>
            <a:off x="2423160" y="2331720"/>
            <a:ext cx="1737360" cy="2057400"/>
          </a:xfrm>
          <a:prstGeom prst="roundRect">
            <a:avLst>
              <a:gd name="adj" fmla="val 4211"/>
            </a:avLst>
          </a:prstGeom>
          <a:solidFill>
            <a:schemeClr val="bg2"/>
          </a:solidFill>
          <a:ln w="9525">
            <a:solidFill>
              <a:srgbClr val="D5DCEA"/>
            </a:solidFill>
            <a:prstDash val="solid"/>
          </a:ln>
        </p:spPr>
      </p:sp>
      <p:sp>
        <p:nvSpPr>
          <p:cNvPr id="13" name="Text 11"/>
          <p:cNvSpPr txBox="1"/>
          <p:nvPr/>
        </p:nvSpPr>
        <p:spPr>
          <a:xfrm>
            <a:off x="253288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"Not even His brothers were believing in Him"</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John 7:5; Mark 3:21</a:t>
            </a:r>
            <a:endParaRPr lang="en-US" sz="1300" dirty="0"/>
          </a:p>
        </p:txBody>
      </p:sp>
      <p:sp>
        <p:nvSpPr>
          <p:cNvPr id="14" name="Shape 12"/>
          <p:cNvSpPr/>
          <p:nvPr/>
        </p:nvSpPr>
        <p:spPr>
          <a:xfrm>
            <a:off x="4297680" y="1508760"/>
            <a:ext cx="1737360" cy="685800"/>
          </a:xfrm>
          <a:prstGeom prst="roundRect">
            <a:avLst>
              <a:gd name="adj" fmla="val 10667"/>
            </a:avLst>
          </a:prstGeom>
          <a:solidFill>
            <a:schemeClr val="accent5"/>
          </a:solidFill>
          <a:ln w="9525">
            <a:solidFill>
              <a:schemeClr val="accent5"/>
            </a:solidFill>
            <a:prstDash val="solid"/>
          </a:ln>
        </p:spPr>
      </p:sp>
      <p:sp>
        <p:nvSpPr>
          <p:cNvPr id="15" name="Text 13"/>
          <p:cNvSpPr txBox="1"/>
          <p:nvPr/>
        </p:nvSpPr>
        <p:spPr>
          <a:xfrm>
            <a:off x="437083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Met the risen Lord</a:t>
            </a:r>
            <a:endParaRPr lang="en-US" sz="1400" dirty="0"/>
          </a:p>
        </p:txBody>
      </p:sp>
      <p:sp>
        <p:nvSpPr>
          <p:cNvPr id="16" name="Text 14"/>
          <p:cNvSpPr txBox="1"/>
          <p:nvPr/>
        </p:nvSpPr>
        <p:spPr>
          <a:xfrm>
            <a:off x="601675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17" name="Shape 15"/>
          <p:cNvSpPr/>
          <p:nvPr/>
        </p:nvSpPr>
        <p:spPr>
          <a:xfrm>
            <a:off x="4297680" y="2331720"/>
            <a:ext cx="1737360" cy="2057400"/>
          </a:xfrm>
          <a:prstGeom prst="roundRect">
            <a:avLst>
              <a:gd name="adj" fmla="val 4211"/>
            </a:avLst>
          </a:prstGeom>
          <a:solidFill>
            <a:schemeClr val="bg2"/>
          </a:solidFill>
          <a:ln w="9525">
            <a:solidFill>
              <a:srgbClr val="D5DCEA"/>
            </a:solidFill>
            <a:prstDash val="solid"/>
          </a:ln>
        </p:spPr>
      </p:sp>
      <p:sp>
        <p:nvSpPr>
          <p:cNvPr id="18" name="Text 16"/>
          <p:cNvSpPr txBox="1"/>
          <p:nvPr/>
        </p:nvSpPr>
        <p:spPr>
          <a:xfrm>
            <a:off x="440740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The risen Christ "appeared to James"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1 Cor 15:7</a:t>
            </a:r>
            <a:endParaRPr lang="en-US" sz="1300" dirty="0"/>
          </a:p>
        </p:txBody>
      </p:sp>
      <p:sp>
        <p:nvSpPr>
          <p:cNvPr id="19" name="Shape 17"/>
          <p:cNvSpPr/>
          <p:nvPr/>
        </p:nvSpPr>
        <p:spPr>
          <a:xfrm>
            <a:off x="6172200" y="1508760"/>
            <a:ext cx="1737360" cy="685800"/>
          </a:xfrm>
          <a:prstGeom prst="roundRect">
            <a:avLst>
              <a:gd name="adj" fmla="val 10667"/>
            </a:avLst>
          </a:prstGeom>
          <a:solidFill>
            <a:schemeClr val="accent1"/>
          </a:solidFill>
          <a:ln w="9525">
            <a:solidFill>
              <a:schemeClr val="accent1"/>
            </a:solidFill>
            <a:prstDash val="solid"/>
          </a:ln>
        </p:spPr>
      </p:sp>
      <p:sp>
        <p:nvSpPr>
          <p:cNvPr id="20" name="Text 18"/>
          <p:cNvSpPr txBox="1"/>
          <p:nvPr/>
        </p:nvSpPr>
        <p:spPr>
          <a:xfrm>
            <a:off x="624535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Among the believers</a:t>
            </a:r>
            <a:endParaRPr lang="en-US" sz="1400" dirty="0"/>
          </a:p>
        </p:txBody>
      </p:sp>
      <p:sp>
        <p:nvSpPr>
          <p:cNvPr id="21" name="Text 19"/>
          <p:cNvSpPr txBox="1"/>
          <p:nvPr/>
        </p:nvSpPr>
        <p:spPr>
          <a:xfrm>
            <a:off x="789127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22" name="Shape 20"/>
          <p:cNvSpPr/>
          <p:nvPr/>
        </p:nvSpPr>
        <p:spPr>
          <a:xfrm>
            <a:off x="6172200" y="2331720"/>
            <a:ext cx="1737360" cy="2057400"/>
          </a:xfrm>
          <a:prstGeom prst="roundRect">
            <a:avLst>
              <a:gd name="adj" fmla="val 4211"/>
            </a:avLst>
          </a:prstGeom>
          <a:solidFill>
            <a:schemeClr val="bg2"/>
          </a:solidFill>
          <a:ln w="9525">
            <a:solidFill>
              <a:srgbClr val="D5DCEA"/>
            </a:solidFill>
            <a:prstDash val="solid"/>
          </a:ln>
        </p:spPr>
      </p:sp>
      <p:sp>
        <p:nvSpPr>
          <p:cNvPr id="23" name="Text 21"/>
          <p:cNvSpPr txBox="1"/>
          <p:nvPr/>
        </p:nvSpPr>
        <p:spPr>
          <a:xfrm>
            <a:off x="628192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Mary and "His brothers" praying in the upper room</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Acts 1:14</a:t>
            </a:r>
            <a:endParaRPr lang="en-US" sz="1300" dirty="0"/>
          </a:p>
        </p:txBody>
      </p:sp>
      <p:sp>
        <p:nvSpPr>
          <p:cNvPr id="24" name="Shape 22"/>
          <p:cNvSpPr/>
          <p:nvPr/>
        </p:nvSpPr>
        <p:spPr>
          <a:xfrm>
            <a:off x="8046720" y="1508760"/>
            <a:ext cx="1737360" cy="685800"/>
          </a:xfrm>
          <a:prstGeom prst="roundRect">
            <a:avLst>
              <a:gd name="adj" fmla="val 10667"/>
            </a:avLst>
          </a:prstGeom>
          <a:solidFill>
            <a:schemeClr val="accent1"/>
          </a:solidFill>
          <a:ln w="9525">
            <a:solidFill>
              <a:schemeClr val="accent1"/>
            </a:solidFill>
            <a:prstDash val="solid"/>
          </a:ln>
        </p:spPr>
      </p:sp>
      <p:sp>
        <p:nvSpPr>
          <p:cNvPr id="25" name="Text 23"/>
          <p:cNvSpPr txBox="1"/>
          <p:nvPr/>
        </p:nvSpPr>
        <p:spPr>
          <a:xfrm>
            <a:off x="811987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A bond-servant</a:t>
            </a:r>
            <a:endParaRPr lang="en-US" sz="1400" dirty="0"/>
          </a:p>
        </p:txBody>
      </p:sp>
      <p:sp>
        <p:nvSpPr>
          <p:cNvPr id="26" name="Text 24"/>
          <p:cNvSpPr txBox="1"/>
          <p:nvPr/>
        </p:nvSpPr>
        <p:spPr>
          <a:xfrm>
            <a:off x="976579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27" name="Shape 25"/>
          <p:cNvSpPr/>
          <p:nvPr/>
        </p:nvSpPr>
        <p:spPr>
          <a:xfrm>
            <a:off x="8046720" y="2331720"/>
            <a:ext cx="1737360" cy="2057400"/>
          </a:xfrm>
          <a:prstGeom prst="roundRect">
            <a:avLst>
              <a:gd name="adj" fmla="val 4211"/>
            </a:avLst>
          </a:prstGeom>
          <a:solidFill>
            <a:schemeClr val="bg2"/>
          </a:solidFill>
          <a:ln w="9525">
            <a:solidFill>
              <a:srgbClr val="D5DCEA"/>
            </a:solidFill>
            <a:prstDash val="solid"/>
          </a:ln>
        </p:spPr>
      </p:sp>
      <p:sp>
        <p:nvSpPr>
          <p:cNvPr id="28" name="Text 26"/>
          <p:cNvSpPr txBox="1"/>
          <p:nvPr/>
        </p:nvSpPr>
        <p:spPr>
          <a:xfrm>
            <a:off x="815644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"Jude, a bond-servant of Jesus Christ" — doulos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Jude 1</a:t>
            </a:r>
            <a:endParaRPr lang="en-US" sz="1300" dirty="0"/>
          </a:p>
        </p:txBody>
      </p:sp>
      <p:sp>
        <p:nvSpPr>
          <p:cNvPr id="29" name="Shape 27"/>
          <p:cNvSpPr/>
          <p:nvPr/>
        </p:nvSpPr>
        <p:spPr>
          <a:xfrm>
            <a:off x="9921240" y="1508760"/>
            <a:ext cx="1737360" cy="685800"/>
          </a:xfrm>
          <a:prstGeom prst="roundRect">
            <a:avLst>
              <a:gd name="adj" fmla="val 10667"/>
            </a:avLst>
          </a:prstGeom>
          <a:solidFill>
            <a:schemeClr val="accent1"/>
          </a:solidFill>
          <a:ln w="9525">
            <a:solidFill>
              <a:schemeClr val="accent1"/>
            </a:solidFill>
            <a:prstDash val="solid"/>
          </a:ln>
        </p:spPr>
      </p:sp>
      <p:sp>
        <p:nvSpPr>
          <p:cNvPr id="30" name="Text 28"/>
          <p:cNvSpPr txBox="1"/>
          <p:nvPr/>
        </p:nvSpPr>
        <p:spPr>
          <a:xfrm>
            <a:off x="999439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Mercy for doubters</a:t>
            </a:r>
            <a:endParaRPr lang="en-US" sz="1400" dirty="0"/>
          </a:p>
        </p:txBody>
      </p:sp>
      <p:sp>
        <p:nvSpPr>
          <p:cNvPr id="31" name="Shape 29"/>
          <p:cNvSpPr/>
          <p:nvPr/>
        </p:nvSpPr>
        <p:spPr>
          <a:xfrm>
            <a:off x="9921240" y="2331720"/>
            <a:ext cx="1737360" cy="2057400"/>
          </a:xfrm>
          <a:prstGeom prst="roundRect">
            <a:avLst>
              <a:gd name="adj" fmla="val 4211"/>
            </a:avLst>
          </a:prstGeom>
          <a:solidFill>
            <a:schemeClr val="bg2"/>
          </a:solidFill>
          <a:ln w="9525">
            <a:solidFill>
              <a:srgbClr val="D5DCEA"/>
            </a:solidFill>
            <a:prstDash val="solid"/>
          </a:ln>
        </p:spPr>
      </p:sp>
      <p:sp>
        <p:nvSpPr>
          <p:cNvPr id="32" name="Text 30"/>
          <p:cNvSpPr txBox="1"/>
          <p:nvPr/>
        </p:nvSpPr>
        <p:spPr>
          <a:xfrm>
            <a:off x="1003096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"Have mercy on some, who are doubting"</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Jude 22</a:t>
            </a:r>
            <a:endParaRPr lang="en-US" sz="1300" dirty="0"/>
          </a:p>
        </p:txBody>
      </p:sp>
      <p:sp>
        <p:nvSpPr>
          <p:cNvPr id="33" name="Shape 31"/>
          <p:cNvSpPr/>
          <p:nvPr/>
        </p:nvSpPr>
        <p:spPr>
          <a:xfrm>
            <a:off x="548640" y="4663440"/>
            <a:ext cx="11064240" cy="868680"/>
          </a:xfrm>
          <a:prstGeom prst="roundRect">
            <a:avLst>
              <a:gd name="adj" fmla="val 8421"/>
            </a:avLst>
          </a:prstGeom>
          <a:solidFill>
            <a:schemeClr val="tx2"/>
          </a:solidFill>
          <a:ln w="9525">
            <a:solidFill>
              <a:schemeClr val="tx2"/>
            </a:solidFill>
            <a:prstDash val="solid"/>
          </a:ln>
        </p:spPr>
      </p:sp>
      <p:sp>
        <p:nvSpPr>
          <p:cNvPr id="34" name="Text 32"/>
          <p:cNvSpPr txBox="1"/>
          <p:nvPr/>
        </p:nvSpPr>
        <p:spPr>
          <a:xfrm>
            <a:off x="777240" y="4663440"/>
            <a:ext cx="10607040" cy="868680"/>
          </a:xfrm>
          <a:prstGeom prst="rect">
            <a:avLst/>
          </a:prstGeom>
          <a:noFill/>
          <a:ln/>
        </p:spPr>
        <p:txBody>
          <a:bodyPr wrap="square" lIns="0" tIns="0" rIns="0" bIns="0" rtlCol="0" anchor="ctr"/>
          <a:lstStyle/>
          <a:p>
            <a:pPr indent="0" marL="0">
              <a:buNone/>
            </a:pPr>
            <a:r>
              <a:rPr lang="en-US" sz="1500" dirty="0">
                <a:solidFill>
                  <a:schemeClr val="bg1"/>
                </a:solidFill>
              </a:rPr>
              <a:t>He could have written "brother of the Lord." He wrote "bond-servant of Jesus Christ" — and later calls Jesus "our only Master" (despotēs, v.4). He bows before he speaks.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Called · beloved · kept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Three things God has done (v.1b)</a:t>
            </a:r>
            <a:endParaRPr lang="en-US" sz="1400" dirty="0"/>
          </a:p>
        </p:txBody>
      </p:sp>
      <p:sp>
        <p:nvSpPr>
          <p:cNvPr id="4" name="Shape 2"/>
          <p:cNvSpPr/>
          <p:nvPr/>
        </p:nvSpPr>
        <p:spPr>
          <a:xfrm>
            <a:off x="548640" y="1417320"/>
            <a:ext cx="3566160" cy="1143000"/>
          </a:xfrm>
          <a:prstGeom prst="rect">
            <a:avLst/>
          </a:prstGeom>
          <a:solidFill>
            <a:schemeClr val="accent1"/>
          </a:solidFill>
          <a:ln w="9525">
            <a:solidFill>
              <a:schemeClr val="accent1"/>
            </a:solidFill>
            <a:prstDash val="solid"/>
          </a:ln>
        </p:spPr>
      </p:sp>
      <p:sp>
        <p:nvSpPr>
          <p:cNvPr id="5" name="Text 3"/>
          <p:cNvSpPr txBox="1"/>
          <p:nvPr/>
        </p:nvSpPr>
        <p:spPr>
          <a:xfrm>
            <a:off x="71323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Called</a:t>
            </a:r>
            <a:endParaRPr lang="en-US" sz="1400" dirty="0"/>
          </a:p>
          <a:p>
            <a:pPr indent="0" marL="0">
              <a:buNone/>
            </a:pPr>
            <a:r>
              <a:rPr lang="en-US" sz="1500" dirty="0">
                <a:solidFill>
                  <a:schemeClr val="bg1"/>
                </a:solidFill>
              </a:rPr>
              <a:t>κλητοῖς  </a:t>
            </a:r>
            <a:pPr indent="0" marL="0">
              <a:buNone/>
            </a:pPr>
            <a:r>
              <a:rPr lang="en-US" sz="1100" dirty="0">
                <a:solidFill>
                  <a:schemeClr val="bg1"/>
                </a:solidFill>
              </a:rPr>
              <a:t>klētos · adj. (substantival)</a:t>
            </a:r>
            <a:endParaRPr lang="en-US" sz="1400" dirty="0"/>
          </a:p>
        </p:txBody>
      </p:sp>
      <p:sp>
        <p:nvSpPr>
          <p:cNvPr id="6" name="Shape 4"/>
          <p:cNvSpPr/>
          <p:nvPr/>
        </p:nvSpPr>
        <p:spPr>
          <a:xfrm>
            <a:off x="548640" y="2560320"/>
            <a:ext cx="3566160" cy="1828800"/>
          </a:xfrm>
          <a:prstGeom prst="rect">
            <a:avLst/>
          </a:prstGeom>
          <a:solidFill>
            <a:schemeClr val="bg2"/>
          </a:solidFill>
          <a:ln w="9525">
            <a:solidFill>
              <a:srgbClr val="D5DCEA"/>
            </a:solidFill>
            <a:prstDash val="solid"/>
          </a:ln>
        </p:spPr>
      </p:sp>
      <p:sp>
        <p:nvSpPr>
          <p:cNvPr id="7" name="Text 5"/>
          <p:cNvSpPr txBox="1"/>
          <p:nvPr/>
        </p:nvSpPr>
        <p:spPr>
          <a:xfrm>
            <a:off x="71323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Placed last for emphasis — but first in experience</a:t>
            </a:r>
            <a:endParaRPr lang="en-US" sz="1400" dirty="0"/>
          </a:p>
          <a:p>
            <a:pPr marL="342900" indent="-342900">
              <a:spcAft>
                <a:spcPts val="600"/>
              </a:spcAft>
              <a:buSzPct val="100000"/>
              <a:buChar char="•"/>
            </a:pPr>
            <a:r>
              <a:rPr lang="en-US" sz="1400" dirty="0">
                <a:solidFill>
                  <a:schemeClr val="tx1"/>
                </a:solidFill>
              </a:rPr>
              <a:t>God took the initiative; His call, answered by faith, is a settled fact (Rom 1:6–7)</a:t>
            </a:r>
            <a:endParaRPr lang="en-US" sz="1400" dirty="0"/>
          </a:p>
        </p:txBody>
      </p:sp>
      <p:sp>
        <p:nvSpPr>
          <p:cNvPr id="8" name="Shape 6"/>
          <p:cNvSpPr/>
          <p:nvPr/>
        </p:nvSpPr>
        <p:spPr>
          <a:xfrm>
            <a:off x="4297680" y="1417320"/>
            <a:ext cx="3566160" cy="1143000"/>
          </a:xfrm>
          <a:prstGeom prst="rect">
            <a:avLst/>
          </a:prstGeom>
          <a:solidFill>
            <a:schemeClr val="accent1"/>
          </a:solidFill>
          <a:ln w="9525">
            <a:solidFill>
              <a:schemeClr val="accent1"/>
            </a:solidFill>
            <a:prstDash val="solid"/>
          </a:ln>
        </p:spPr>
      </p:sp>
      <p:sp>
        <p:nvSpPr>
          <p:cNvPr id="9" name="Text 7"/>
          <p:cNvSpPr txBox="1"/>
          <p:nvPr/>
        </p:nvSpPr>
        <p:spPr>
          <a:xfrm>
            <a:off x="446227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Beloved in God the Father</a:t>
            </a:r>
            <a:endParaRPr lang="en-US" sz="1400" dirty="0"/>
          </a:p>
          <a:p>
            <a:pPr indent="0" marL="0">
              <a:buNone/>
            </a:pPr>
            <a:r>
              <a:rPr lang="en-US" sz="1500" dirty="0">
                <a:solidFill>
                  <a:schemeClr val="bg1"/>
                </a:solidFill>
              </a:rPr>
              <a:t>ἠγαπημένοις  </a:t>
            </a:r>
            <a:pPr indent="0" marL="0">
              <a:buNone/>
            </a:pPr>
            <a:r>
              <a:rPr lang="en-US" sz="1100" dirty="0">
                <a:solidFill>
                  <a:schemeClr val="bg1"/>
                </a:solidFill>
              </a:rPr>
              <a:t>agapaō · perf. pass. ptc.</a:t>
            </a:r>
            <a:endParaRPr lang="en-US" sz="1400" dirty="0"/>
          </a:p>
        </p:txBody>
      </p:sp>
      <p:sp>
        <p:nvSpPr>
          <p:cNvPr id="10" name="Shape 8"/>
          <p:cNvSpPr/>
          <p:nvPr/>
        </p:nvSpPr>
        <p:spPr>
          <a:xfrm>
            <a:off x="4297680" y="2560320"/>
            <a:ext cx="3566160" cy="1828800"/>
          </a:xfrm>
          <a:prstGeom prst="rect">
            <a:avLst/>
          </a:prstGeom>
          <a:solidFill>
            <a:schemeClr val="bg2"/>
          </a:solidFill>
          <a:ln w="9525">
            <a:solidFill>
              <a:srgbClr val="D5DCEA"/>
            </a:solidFill>
            <a:prstDash val="solid"/>
          </a:ln>
        </p:spPr>
      </p:sp>
      <p:sp>
        <p:nvSpPr>
          <p:cNvPr id="11" name="Text 9"/>
          <p:cNvSpPr txBox="1"/>
          <p:nvPr/>
        </p:nvSpPr>
        <p:spPr>
          <a:xfrm>
            <a:off x="446227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Loved in the past and still loved — not a love on probation</a:t>
            </a:r>
            <a:endParaRPr lang="en-US" sz="1400" dirty="0"/>
          </a:p>
          <a:p>
            <a:pPr marL="342900" indent="-342900">
              <a:spcAft>
                <a:spcPts val="600"/>
              </a:spcAft>
              <a:buSzPct val="100000"/>
              <a:buChar char="•"/>
            </a:pPr>
            <a:r>
              <a:rPr lang="en-US" sz="1400" dirty="0">
                <a:solidFill>
                  <a:schemeClr val="tx1"/>
                </a:solidFill>
              </a:rPr>
              <a:t>They live inside it; v.21 tells them to stay there</a:t>
            </a:r>
            <a:endParaRPr lang="en-US" sz="1400" dirty="0"/>
          </a:p>
          <a:p>
            <a:pPr marL="342900" indent="-342900">
              <a:spcAft>
                <a:spcPts val="600"/>
              </a:spcAft>
              <a:buSzPct val="100000"/>
              <a:buChar char="•"/>
            </a:pPr>
            <a:r>
              <a:rPr lang="en-US" sz="1400" dirty="0">
                <a:solidFill>
                  <a:schemeClr val="tx1"/>
                </a:solidFill>
              </a:rPr>
              <a:t>Majority Text: "sanctified" — also perf. pass., same force</a:t>
            </a:r>
            <a:endParaRPr lang="en-US" sz="1400" dirty="0"/>
          </a:p>
        </p:txBody>
      </p:sp>
      <p:sp>
        <p:nvSpPr>
          <p:cNvPr id="12" name="Shape 10"/>
          <p:cNvSpPr/>
          <p:nvPr/>
        </p:nvSpPr>
        <p:spPr>
          <a:xfrm>
            <a:off x="8046720" y="1417320"/>
            <a:ext cx="3566160" cy="1143000"/>
          </a:xfrm>
          <a:prstGeom prst="rect">
            <a:avLst/>
          </a:prstGeom>
          <a:solidFill>
            <a:schemeClr val="accent1"/>
          </a:solidFill>
          <a:ln w="9525">
            <a:solidFill>
              <a:schemeClr val="accent1"/>
            </a:solidFill>
            <a:prstDash val="solid"/>
          </a:ln>
        </p:spPr>
      </p:sp>
      <p:sp>
        <p:nvSpPr>
          <p:cNvPr id="13" name="Text 11"/>
          <p:cNvSpPr txBox="1"/>
          <p:nvPr/>
        </p:nvSpPr>
        <p:spPr>
          <a:xfrm>
            <a:off x="821131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Kept for Jesus Christ</a:t>
            </a:r>
            <a:endParaRPr lang="en-US" sz="1400" dirty="0"/>
          </a:p>
          <a:p>
            <a:pPr indent="0" marL="0">
              <a:buNone/>
            </a:pPr>
            <a:r>
              <a:rPr lang="en-US" sz="1500" dirty="0">
                <a:solidFill>
                  <a:schemeClr val="bg1"/>
                </a:solidFill>
              </a:rPr>
              <a:t>τετηρημένοις  </a:t>
            </a:r>
            <a:pPr indent="0" marL="0">
              <a:buNone/>
            </a:pPr>
            <a:r>
              <a:rPr lang="en-US" sz="1100" dirty="0">
                <a:solidFill>
                  <a:schemeClr val="bg1"/>
                </a:solidFill>
              </a:rPr>
              <a:t>tēreō · perf. pass. ptc.</a:t>
            </a:r>
            <a:endParaRPr lang="en-US" sz="1400" dirty="0"/>
          </a:p>
        </p:txBody>
      </p:sp>
      <p:sp>
        <p:nvSpPr>
          <p:cNvPr id="14" name="Shape 12"/>
          <p:cNvSpPr/>
          <p:nvPr/>
        </p:nvSpPr>
        <p:spPr>
          <a:xfrm>
            <a:off x="8046720" y="2560320"/>
            <a:ext cx="3566160" cy="1828800"/>
          </a:xfrm>
          <a:prstGeom prst="rect">
            <a:avLst/>
          </a:prstGeom>
          <a:solidFill>
            <a:schemeClr val="bg2"/>
          </a:solidFill>
          <a:ln w="9525">
            <a:solidFill>
              <a:srgbClr val="D5DCEA"/>
            </a:solidFill>
            <a:prstDash val="solid"/>
          </a:ln>
        </p:spPr>
      </p:sp>
      <p:sp>
        <p:nvSpPr>
          <p:cNvPr id="15" name="Text 13"/>
          <p:cNvSpPr txBox="1"/>
          <p:nvPr/>
        </p:nvSpPr>
        <p:spPr>
          <a:xfrm>
            <a:off x="821131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Kept, and remaining kept — God is the keeper</a:t>
            </a:r>
            <a:endParaRPr lang="en-US" sz="1400" dirty="0"/>
          </a:p>
          <a:p>
            <a:pPr marL="342900" indent="-342900">
              <a:spcAft>
                <a:spcPts val="600"/>
              </a:spcAft>
              <a:buSzPct val="100000"/>
              <a:buChar char="•"/>
            </a:pPr>
            <a:r>
              <a:rPr lang="en-US" sz="1400" dirty="0">
                <a:solidFill>
                  <a:schemeClr val="tx1"/>
                </a:solidFill>
              </a:rPr>
              <a:t>The letter's frame word (vv.1, 6, 13, 21; cf. v.24)</a:t>
            </a:r>
            <a:endParaRPr lang="en-US" sz="1400" dirty="0"/>
          </a:p>
        </p:txBody>
      </p:sp>
      <p:sp>
        <p:nvSpPr>
          <p:cNvPr id="16" name="Shape 14"/>
          <p:cNvSpPr/>
          <p:nvPr/>
        </p:nvSpPr>
        <p:spPr>
          <a:xfrm>
            <a:off x="548640" y="4617720"/>
            <a:ext cx="11064240" cy="731520"/>
          </a:xfrm>
          <a:prstGeom prst="roundRect">
            <a:avLst>
              <a:gd name="adj" fmla="val 10000"/>
            </a:avLst>
          </a:prstGeom>
          <a:solidFill>
            <a:schemeClr val="tx2"/>
          </a:solidFill>
          <a:ln w="9525">
            <a:solidFill>
              <a:schemeClr val="tx2"/>
            </a:solidFill>
            <a:prstDash val="solid"/>
          </a:ln>
        </p:spPr>
      </p:sp>
      <p:sp>
        <p:nvSpPr>
          <p:cNvPr id="17" name="Text 15"/>
          <p:cNvSpPr txBox="1"/>
          <p:nvPr/>
        </p:nvSpPr>
        <p:spPr>
          <a:xfrm>
            <a:off x="777240" y="4617720"/>
            <a:ext cx="10607040" cy="731520"/>
          </a:xfrm>
          <a:prstGeom prst="rect">
            <a:avLst/>
          </a:prstGeom>
          <a:noFill/>
          <a:ln/>
        </p:spPr>
        <p:txBody>
          <a:bodyPr wrap="square" lIns="0" tIns="0" rIns="0" bIns="0" rtlCol="0" anchor="ctr"/>
          <a:lstStyle/>
          <a:p>
            <a:pPr indent="0" marL="0">
              <a:buNone/>
            </a:pPr>
            <a:r>
              <a:rPr lang="en-US" sz="1500" dirty="0">
                <a:solidFill>
                  <a:schemeClr val="bg1"/>
                </a:solidFill>
              </a:rPr>
              <a:t>All three hang on a single article — three views of the same people. Every word describes what God has done; none describes the readers' performance.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"keep" frame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letter's frame word, traced through Jude</a:t>
            </a:r>
            <a:endParaRPr lang="en-US" sz="1400" dirty="0"/>
          </a:p>
        </p:txBody>
      </p:sp>
      <p:sp>
        <p:nvSpPr>
          <p:cNvPr id="4" name="Shape 2"/>
          <p:cNvSpPr/>
          <p:nvPr/>
        </p:nvSpPr>
        <p:spPr>
          <a:xfrm>
            <a:off x="548640" y="1417320"/>
            <a:ext cx="914400" cy="694944"/>
          </a:xfrm>
          <a:prstGeom prst="roundRect">
            <a:avLst>
              <a:gd name="adj" fmla="val 10526"/>
            </a:avLst>
          </a:prstGeom>
          <a:solidFill>
            <a:schemeClr val="accent1"/>
          </a:solidFill>
          <a:ln w="9525">
            <a:solidFill>
              <a:schemeClr val="accent1"/>
            </a:solidFill>
            <a:prstDash val="solid"/>
          </a:ln>
        </p:spPr>
      </p:sp>
      <p:sp>
        <p:nvSpPr>
          <p:cNvPr id="5" name="Text 3"/>
          <p:cNvSpPr txBox="1"/>
          <p:nvPr/>
        </p:nvSpPr>
        <p:spPr>
          <a:xfrm>
            <a:off x="548640" y="141732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v.1</a:t>
            </a:r>
            <a:endParaRPr lang="en-US" sz="1800" dirty="0"/>
          </a:p>
        </p:txBody>
      </p:sp>
      <p:sp>
        <p:nvSpPr>
          <p:cNvPr id="6" name="Shape 4"/>
          <p:cNvSpPr/>
          <p:nvPr/>
        </p:nvSpPr>
        <p:spPr>
          <a:xfrm>
            <a:off x="1600200" y="1417320"/>
            <a:ext cx="10012680" cy="694944"/>
          </a:xfrm>
          <a:prstGeom prst="rect">
            <a:avLst/>
          </a:prstGeom>
          <a:solidFill>
            <a:schemeClr val="bg2"/>
          </a:solidFill>
          <a:ln w="9525">
            <a:solidFill>
              <a:srgbClr val="D5DCEA"/>
            </a:solidFill>
            <a:prstDash val="solid"/>
          </a:ln>
        </p:spPr>
      </p:sp>
      <p:sp>
        <p:nvSpPr>
          <p:cNvPr id="7" name="Text 5"/>
          <p:cNvSpPr txBox="1"/>
          <p:nvPr/>
        </p:nvSpPr>
        <p:spPr>
          <a:xfrm>
            <a:off x="1737360" y="141732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"…called, beloved in God the Father, and kept for Jesus Christ"</a:t>
            </a:r>
            <a:endParaRPr lang="en-US" sz="1400" dirty="0"/>
          </a:p>
        </p:txBody>
      </p:sp>
      <p:sp>
        <p:nvSpPr>
          <p:cNvPr id="8" name="Text 6"/>
          <p:cNvSpPr txBox="1"/>
          <p:nvPr/>
        </p:nvSpPr>
        <p:spPr>
          <a:xfrm>
            <a:off x="6995160" y="141732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τετηρημένοις</a:t>
            </a:r>
            <a:endParaRPr lang="en-US" sz="1400" dirty="0"/>
          </a:p>
          <a:p>
            <a:pPr indent="0" marL="0">
              <a:buNone/>
            </a:pPr>
            <a:r>
              <a:rPr lang="en-US" sz="1200" dirty="0">
                <a:solidFill>
                  <a:schemeClr val="tx1"/>
                </a:solidFill>
              </a:rPr>
              <a:t>tēreō · perf. pass. ptc. — kept, and remaining kept</a:t>
            </a:r>
            <a:endParaRPr lang="en-US" sz="1400" dirty="0"/>
          </a:p>
        </p:txBody>
      </p:sp>
      <p:sp>
        <p:nvSpPr>
          <p:cNvPr id="9" name="Shape 7"/>
          <p:cNvSpPr/>
          <p:nvPr/>
        </p:nvSpPr>
        <p:spPr>
          <a:xfrm>
            <a:off x="548640" y="2240280"/>
            <a:ext cx="914400" cy="694944"/>
          </a:xfrm>
          <a:prstGeom prst="roundRect">
            <a:avLst>
              <a:gd name="adj" fmla="val 10526"/>
            </a:avLst>
          </a:prstGeom>
          <a:solidFill>
            <a:schemeClr val="accent4"/>
          </a:solidFill>
          <a:ln w="9525">
            <a:solidFill>
              <a:schemeClr val="accent4"/>
            </a:solidFill>
            <a:prstDash val="solid"/>
          </a:ln>
        </p:spPr>
      </p:sp>
      <p:sp>
        <p:nvSpPr>
          <p:cNvPr id="10" name="Text 8"/>
          <p:cNvSpPr txBox="1"/>
          <p:nvPr/>
        </p:nvSpPr>
        <p:spPr>
          <a:xfrm>
            <a:off x="548640" y="224028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v.6</a:t>
            </a:r>
            <a:endParaRPr lang="en-US" sz="1800" dirty="0"/>
          </a:p>
        </p:txBody>
      </p:sp>
      <p:sp>
        <p:nvSpPr>
          <p:cNvPr id="11" name="Shape 9"/>
          <p:cNvSpPr/>
          <p:nvPr/>
        </p:nvSpPr>
        <p:spPr>
          <a:xfrm>
            <a:off x="1600200" y="2240280"/>
            <a:ext cx="10012680" cy="694944"/>
          </a:xfrm>
          <a:prstGeom prst="rect">
            <a:avLst/>
          </a:prstGeom>
          <a:solidFill>
            <a:schemeClr val="bg1"/>
          </a:solidFill>
          <a:ln w="9525">
            <a:solidFill>
              <a:srgbClr val="D5DCEA"/>
            </a:solidFill>
            <a:prstDash val="solid"/>
          </a:ln>
        </p:spPr>
      </p:sp>
      <p:sp>
        <p:nvSpPr>
          <p:cNvPr id="12" name="Text 10"/>
          <p:cNvSpPr txBox="1"/>
          <p:nvPr/>
        </p:nvSpPr>
        <p:spPr>
          <a:xfrm>
            <a:off x="1737360" y="224028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"angels who did not keep their own domain… He has kept in eternal bonds"</a:t>
            </a:r>
            <a:endParaRPr lang="en-US" sz="1400" dirty="0"/>
          </a:p>
        </p:txBody>
      </p:sp>
      <p:sp>
        <p:nvSpPr>
          <p:cNvPr id="13" name="Text 11"/>
          <p:cNvSpPr txBox="1"/>
          <p:nvPr/>
        </p:nvSpPr>
        <p:spPr>
          <a:xfrm>
            <a:off x="6995160" y="224028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τηρήσαντας · τετήρηκεν</a:t>
            </a:r>
            <a:endParaRPr lang="en-US" sz="1400" dirty="0"/>
          </a:p>
          <a:p>
            <a:pPr indent="0" marL="0">
              <a:buNone/>
            </a:pPr>
            <a:r>
              <a:rPr lang="en-US" sz="1200" dirty="0">
                <a:solidFill>
                  <a:schemeClr val="tx1"/>
                </a:solidFill>
              </a:rPr>
              <a:t>Those who would not keep their place are kept in a place they did not choose</a:t>
            </a:r>
            <a:endParaRPr lang="en-US" sz="1400" dirty="0"/>
          </a:p>
        </p:txBody>
      </p:sp>
      <p:sp>
        <p:nvSpPr>
          <p:cNvPr id="14" name="Shape 12"/>
          <p:cNvSpPr/>
          <p:nvPr/>
        </p:nvSpPr>
        <p:spPr>
          <a:xfrm>
            <a:off x="548640" y="3063240"/>
            <a:ext cx="914400" cy="694944"/>
          </a:xfrm>
          <a:prstGeom prst="roundRect">
            <a:avLst>
              <a:gd name="adj" fmla="val 10526"/>
            </a:avLst>
          </a:prstGeom>
          <a:solidFill>
            <a:schemeClr val="accent4"/>
          </a:solidFill>
          <a:ln w="9525">
            <a:solidFill>
              <a:schemeClr val="accent4"/>
            </a:solidFill>
            <a:prstDash val="solid"/>
          </a:ln>
        </p:spPr>
      </p:sp>
      <p:sp>
        <p:nvSpPr>
          <p:cNvPr id="15" name="Text 13"/>
          <p:cNvSpPr txBox="1"/>
          <p:nvPr/>
        </p:nvSpPr>
        <p:spPr>
          <a:xfrm>
            <a:off x="548640" y="306324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v.13</a:t>
            </a:r>
            <a:endParaRPr lang="en-US" sz="1800" dirty="0"/>
          </a:p>
        </p:txBody>
      </p:sp>
      <p:sp>
        <p:nvSpPr>
          <p:cNvPr id="16" name="Shape 14"/>
          <p:cNvSpPr/>
          <p:nvPr/>
        </p:nvSpPr>
        <p:spPr>
          <a:xfrm>
            <a:off x="1600200" y="3063240"/>
            <a:ext cx="10012680" cy="694944"/>
          </a:xfrm>
          <a:prstGeom prst="rect">
            <a:avLst/>
          </a:prstGeom>
          <a:solidFill>
            <a:schemeClr val="bg2"/>
          </a:solidFill>
          <a:ln w="9525">
            <a:solidFill>
              <a:srgbClr val="D5DCEA"/>
            </a:solidFill>
            <a:prstDash val="solid"/>
          </a:ln>
        </p:spPr>
      </p:sp>
      <p:sp>
        <p:nvSpPr>
          <p:cNvPr id="17" name="Text 15"/>
          <p:cNvSpPr txBox="1"/>
          <p:nvPr/>
        </p:nvSpPr>
        <p:spPr>
          <a:xfrm>
            <a:off x="1737360" y="306324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"for whom the black darkness has been reserved forever"</a:t>
            </a:r>
            <a:endParaRPr lang="en-US" sz="1400" dirty="0"/>
          </a:p>
        </p:txBody>
      </p:sp>
      <p:sp>
        <p:nvSpPr>
          <p:cNvPr id="18" name="Text 16"/>
          <p:cNvSpPr txBox="1"/>
          <p:nvPr/>
        </p:nvSpPr>
        <p:spPr>
          <a:xfrm>
            <a:off x="6995160" y="306324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τετήρηται</a:t>
            </a:r>
            <a:endParaRPr lang="en-US" sz="1400" dirty="0"/>
          </a:p>
          <a:p>
            <a:pPr indent="0" marL="0">
              <a:buNone/>
            </a:pPr>
            <a:r>
              <a:rPr lang="en-US" sz="1200" dirty="0">
                <a:solidFill>
                  <a:schemeClr val="tx1"/>
                </a:solidFill>
              </a:rPr>
              <a:t>"Reserved" is tēreō — darkness kept for them</a:t>
            </a:r>
            <a:endParaRPr lang="en-US" sz="1400" dirty="0"/>
          </a:p>
        </p:txBody>
      </p:sp>
      <p:sp>
        <p:nvSpPr>
          <p:cNvPr id="19" name="Shape 17"/>
          <p:cNvSpPr/>
          <p:nvPr/>
        </p:nvSpPr>
        <p:spPr>
          <a:xfrm>
            <a:off x="548640" y="3886200"/>
            <a:ext cx="914400" cy="694944"/>
          </a:xfrm>
          <a:prstGeom prst="roundRect">
            <a:avLst>
              <a:gd name="adj" fmla="val 10526"/>
            </a:avLst>
          </a:prstGeom>
          <a:solidFill>
            <a:schemeClr val="accent2"/>
          </a:solidFill>
          <a:ln w="9525">
            <a:solidFill>
              <a:schemeClr val="accent2"/>
            </a:solidFill>
            <a:prstDash val="solid"/>
          </a:ln>
        </p:spPr>
      </p:sp>
      <p:sp>
        <p:nvSpPr>
          <p:cNvPr id="20" name="Text 18"/>
          <p:cNvSpPr txBox="1"/>
          <p:nvPr/>
        </p:nvSpPr>
        <p:spPr>
          <a:xfrm>
            <a:off x="548640" y="388620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v.21</a:t>
            </a:r>
            <a:endParaRPr lang="en-US" sz="1800" dirty="0"/>
          </a:p>
        </p:txBody>
      </p:sp>
      <p:sp>
        <p:nvSpPr>
          <p:cNvPr id="21" name="Shape 19"/>
          <p:cNvSpPr/>
          <p:nvPr/>
        </p:nvSpPr>
        <p:spPr>
          <a:xfrm>
            <a:off x="1600200" y="3886200"/>
            <a:ext cx="10012680" cy="694944"/>
          </a:xfrm>
          <a:prstGeom prst="rect">
            <a:avLst/>
          </a:prstGeom>
          <a:solidFill>
            <a:schemeClr val="bg1"/>
          </a:solidFill>
          <a:ln w="9525">
            <a:solidFill>
              <a:srgbClr val="D5DCEA"/>
            </a:solidFill>
            <a:prstDash val="solid"/>
          </a:ln>
        </p:spPr>
      </p:sp>
      <p:sp>
        <p:nvSpPr>
          <p:cNvPr id="22" name="Text 20"/>
          <p:cNvSpPr txBox="1"/>
          <p:nvPr/>
        </p:nvSpPr>
        <p:spPr>
          <a:xfrm>
            <a:off x="1737360" y="388620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"keep yourselves in the love of God"</a:t>
            </a:r>
            <a:endParaRPr lang="en-US" sz="1400" dirty="0"/>
          </a:p>
        </p:txBody>
      </p:sp>
      <p:sp>
        <p:nvSpPr>
          <p:cNvPr id="23" name="Text 21"/>
          <p:cNvSpPr txBox="1"/>
          <p:nvPr/>
        </p:nvSpPr>
        <p:spPr>
          <a:xfrm>
            <a:off x="6995160" y="388620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τηρήσατε</a:t>
            </a:r>
            <a:endParaRPr lang="en-US" sz="1400" dirty="0"/>
          </a:p>
          <a:p>
            <a:pPr indent="0" marL="0">
              <a:buNone/>
            </a:pPr>
            <a:r>
              <a:rPr lang="en-US" sz="1200" dirty="0">
                <a:solidFill>
                  <a:schemeClr val="tx1"/>
                </a:solidFill>
              </a:rPr>
              <a:t>aor. act. impv. — stay in the enjoyment of a love already given</a:t>
            </a:r>
            <a:endParaRPr lang="en-US" sz="1400" dirty="0"/>
          </a:p>
        </p:txBody>
      </p:sp>
      <p:sp>
        <p:nvSpPr>
          <p:cNvPr id="24" name="Shape 22"/>
          <p:cNvSpPr/>
          <p:nvPr/>
        </p:nvSpPr>
        <p:spPr>
          <a:xfrm>
            <a:off x="548640" y="4709160"/>
            <a:ext cx="914400" cy="694944"/>
          </a:xfrm>
          <a:prstGeom prst="roundRect">
            <a:avLst>
              <a:gd name="adj" fmla="val 10526"/>
            </a:avLst>
          </a:prstGeom>
          <a:solidFill>
            <a:schemeClr val="accent1"/>
          </a:solidFill>
          <a:ln w="9525">
            <a:solidFill>
              <a:schemeClr val="accent1"/>
            </a:solidFill>
            <a:prstDash val="solid"/>
          </a:ln>
        </p:spPr>
      </p:sp>
      <p:sp>
        <p:nvSpPr>
          <p:cNvPr id="25" name="Text 23"/>
          <p:cNvSpPr txBox="1"/>
          <p:nvPr/>
        </p:nvSpPr>
        <p:spPr>
          <a:xfrm>
            <a:off x="548640" y="470916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v.24</a:t>
            </a:r>
            <a:endParaRPr lang="en-US" sz="1800" dirty="0"/>
          </a:p>
        </p:txBody>
      </p:sp>
      <p:sp>
        <p:nvSpPr>
          <p:cNvPr id="26" name="Shape 24"/>
          <p:cNvSpPr/>
          <p:nvPr/>
        </p:nvSpPr>
        <p:spPr>
          <a:xfrm>
            <a:off x="1600200" y="4709160"/>
            <a:ext cx="10012680" cy="694944"/>
          </a:xfrm>
          <a:prstGeom prst="rect">
            <a:avLst/>
          </a:prstGeom>
          <a:solidFill>
            <a:schemeClr val="bg2"/>
          </a:solidFill>
          <a:ln w="9525">
            <a:solidFill>
              <a:srgbClr val="D5DCEA"/>
            </a:solidFill>
            <a:prstDash val="solid"/>
          </a:ln>
        </p:spPr>
      </p:sp>
      <p:sp>
        <p:nvSpPr>
          <p:cNvPr id="27" name="Text 25"/>
          <p:cNvSpPr txBox="1"/>
          <p:nvPr/>
        </p:nvSpPr>
        <p:spPr>
          <a:xfrm>
            <a:off x="1737360" y="470916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"Him who is able to keep you from stumbling"</a:t>
            </a:r>
            <a:endParaRPr lang="en-US" sz="1400" dirty="0"/>
          </a:p>
        </p:txBody>
      </p:sp>
      <p:sp>
        <p:nvSpPr>
          <p:cNvPr id="28" name="Text 26"/>
          <p:cNvSpPr txBox="1"/>
          <p:nvPr/>
        </p:nvSpPr>
        <p:spPr>
          <a:xfrm>
            <a:off x="6995160" y="470916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φυλάξαι</a:t>
            </a:r>
            <a:endParaRPr lang="en-US" sz="1400" dirty="0"/>
          </a:p>
          <a:p>
            <a:pPr indent="0" marL="0">
              <a:buNone/>
            </a:pPr>
            <a:r>
              <a:rPr lang="en-US" sz="1200" dirty="0">
                <a:solidFill>
                  <a:schemeClr val="tx1"/>
                </a:solidFill>
              </a:rPr>
              <a:t>phylassō — to guard, a sentry's word (not tēreō)</a:t>
            </a:r>
            <a:endParaRPr lang="en-US" sz="1400" dirty="0"/>
          </a:p>
        </p:txBody>
      </p:sp>
      <p:sp>
        <p:nvSpPr>
          <p:cNvPr id="29" name="Shape 27"/>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30" name="Text 28"/>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The commands sit inside the frame, not outside it. The believer's responsibility to live in God's love is never the foundation of his security; God's keeping 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Mercy, peace, and love — multiplied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greeting (v.2) and where each word returns</a:t>
            </a:r>
            <a:endParaRPr lang="en-US" sz="1400" dirty="0"/>
          </a:p>
        </p:txBody>
      </p:sp>
      <p:sp>
        <p:nvSpPr>
          <p:cNvPr id="4" name="Shape 2"/>
          <p:cNvSpPr/>
          <p:nvPr/>
        </p:nvSpPr>
        <p:spPr>
          <a:xfrm>
            <a:off x="548640" y="1417320"/>
            <a:ext cx="3566160" cy="2468880"/>
          </a:xfrm>
          <a:prstGeom prst="roundRect">
            <a:avLst>
              <a:gd name="adj" fmla="val 2963"/>
            </a:avLst>
          </a:prstGeom>
          <a:solidFill>
            <a:schemeClr val="bg2"/>
          </a:solidFill>
          <a:ln w="9525">
            <a:solidFill>
              <a:srgbClr val="D5DCEA"/>
            </a:solidFill>
            <a:prstDash val="solid"/>
          </a:ln>
        </p:spPr>
      </p:sp>
      <p:sp>
        <p:nvSpPr>
          <p:cNvPr id="5" name="Text 3"/>
          <p:cNvSpPr txBox="1"/>
          <p:nvPr/>
        </p:nvSpPr>
        <p:spPr>
          <a:xfrm>
            <a:off x="74980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Mercy</a:t>
            </a:r>
            <a:endParaRPr lang="en-US" sz="1400" dirty="0"/>
          </a:p>
          <a:p>
            <a:pPr indent="0" marL="0">
              <a:buNone/>
            </a:pPr>
            <a:r>
              <a:rPr lang="en-US" sz="1500" b="1" dirty="0">
                <a:solidFill>
                  <a:schemeClr val="accent3"/>
                </a:solidFill>
              </a:rPr>
              <a:t>ἔλεος · eleos</a:t>
            </a:r>
            <a:endParaRPr lang="en-US" sz="1400" dirty="0"/>
          </a:p>
          <a:p>
            <a:pPr indent="0" marL="0">
              <a:buNone/>
            </a:pPr>
            <a:r>
              <a:rPr lang="en-US" sz="1300" i="1" dirty="0">
                <a:solidFill>
                  <a:schemeClr val="accent4"/>
                </a:solidFill>
              </a:rPr>
              <a:t>LXX: chesed — steadfast covenant love</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Returns in vv.21–23: mercy awaited from Christ becomes mercy extended to the doubting</a:t>
            </a:r>
            <a:endParaRPr lang="en-US" sz="1400" dirty="0"/>
          </a:p>
        </p:txBody>
      </p:sp>
      <p:sp>
        <p:nvSpPr>
          <p:cNvPr id="6" name="Shape 4"/>
          <p:cNvSpPr/>
          <p:nvPr/>
        </p:nvSpPr>
        <p:spPr>
          <a:xfrm>
            <a:off x="4297680" y="1417320"/>
            <a:ext cx="3566160" cy="2468880"/>
          </a:xfrm>
          <a:prstGeom prst="roundRect">
            <a:avLst>
              <a:gd name="adj" fmla="val 2963"/>
            </a:avLst>
          </a:prstGeom>
          <a:solidFill>
            <a:schemeClr val="bg2"/>
          </a:solidFill>
          <a:ln w="9525">
            <a:solidFill>
              <a:srgbClr val="D5DCEA"/>
            </a:solidFill>
            <a:prstDash val="solid"/>
          </a:ln>
        </p:spPr>
      </p:sp>
      <p:sp>
        <p:nvSpPr>
          <p:cNvPr id="7" name="Text 5"/>
          <p:cNvSpPr txBox="1"/>
          <p:nvPr/>
        </p:nvSpPr>
        <p:spPr>
          <a:xfrm>
            <a:off x="449884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Peace</a:t>
            </a:r>
            <a:endParaRPr lang="en-US" sz="1400" dirty="0"/>
          </a:p>
          <a:p>
            <a:pPr indent="0" marL="0">
              <a:buNone/>
            </a:pPr>
            <a:r>
              <a:rPr lang="en-US" sz="1500" b="1" dirty="0">
                <a:solidFill>
                  <a:schemeClr val="accent3"/>
                </a:solidFill>
              </a:rPr>
              <a:t>εἰρήνη · eirēnē</a:t>
            </a:r>
            <a:endParaRPr lang="en-US" sz="1400" dirty="0"/>
          </a:p>
          <a:p>
            <a:pPr indent="0" marL="0">
              <a:buNone/>
            </a:pPr>
            <a:r>
              <a:rPr lang="en-US" sz="1300" i="1" dirty="0">
                <a:solidFill>
                  <a:schemeClr val="accent4"/>
                </a:solidFill>
              </a:rPr>
              <a:t>LXX: shalom — wholeness under God</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Peace in the storm, not from it — the intruders are still there in v.4</a:t>
            </a:r>
            <a:endParaRPr lang="en-US" sz="1400" dirty="0"/>
          </a:p>
        </p:txBody>
      </p:sp>
      <p:sp>
        <p:nvSpPr>
          <p:cNvPr id="8" name="Shape 6"/>
          <p:cNvSpPr/>
          <p:nvPr/>
        </p:nvSpPr>
        <p:spPr>
          <a:xfrm>
            <a:off x="8046720" y="1417320"/>
            <a:ext cx="3566160" cy="2468880"/>
          </a:xfrm>
          <a:prstGeom prst="roundRect">
            <a:avLst>
              <a:gd name="adj" fmla="val 2963"/>
            </a:avLst>
          </a:prstGeom>
          <a:solidFill>
            <a:schemeClr val="bg2"/>
          </a:solidFill>
          <a:ln w="9525">
            <a:solidFill>
              <a:srgbClr val="D5DCEA"/>
            </a:solidFill>
            <a:prstDash val="solid"/>
          </a:ln>
        </p:spPr>
      </p:sp>
      <p:sp>
        <p:nvSpPr>
          <p:cNvPr id="9" name="Text 7"/>
          <p:cNvSpPr txBox="1"/>
          <p:nvPr/>
        </p:nvSpPr>
        <p:spPr>
          <a:xfrm>
            <a:off x="824788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Love</a:t>
            </a:r>
            <a:endParaRPr lang="en-US" sz="1400" dirty="0"/>
          </a:p>
          <a:p>
            <a:pPr indent="0" marL="0">
              <a:buNone/>
            </a:pPr>
            <a:r>
              <a:rPr lang="en-US" sz="1500" b="1" dirty="0">
                <a:solidFill>
                  <a:schemeClr val="accent3"/>
                </a:solidFill>
              </a:rPr>
              <a:t>ἀγάπη · agapē</a:t>
            </a:r>
            <a:endParaRPr lang="en-US" sz="1400" dirty="0"/>
          </a:p>
          <a:p>
            <a:pPr indent="0" marL="0">
              <a:buNone/>
            </a:pPr>
            <a:r>
              <a:rPr lang="en-US" sz="1300" i="1" dirty="0">
                <a:solidFill>
                  <a:schemeClr val="accent4"/>
                </a:solidFill>
              </a:rPr>
              <a:t>Echoes "beloved" (v.1)</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Returns in the "love feasts" (v.12) and "keep yourselves in the love of God" (v.21)</a:t>
            </a:r>
            <a:endParaRPr lang="en-US" sz="1400" dirty="0"/>
          </a:p>
        </p:txBody>
      </p:sp>
      <p:sp>
        <p:nvSpPr>
          <p:cNvPr id="10" name="Shape 8"/>
          <p:cNvSpPr/>
          <p:nvPr/>
        </p:nvSpPr>
        <p:spPr>
          <a:xfrm>
            <a:off x="548640" y="4114800"/>
            <a:ext cx="11064240" cy="777240"/>
          </a:xfrm>
          <a:prstGeom prst="roundRect">
            <a:avLst>
              <a:gd name="adj" fmla="val 9412"/>
            </a:avLst>
          </a:prstGeom>
          <a:solidFill>
            <a:schemeClr val="tx2"/>
          </a:solidFill>
          <a:ln w="9525">
            <a:solidFill>
              <a:schemeClr val="tx2"/>
            </a:solidFill>
            <a:prstDash val="solid"/>
          </a:ln>
        </p:spPr>
      </p:sp>
      <p:sp>
        <p:nvSpPr>
          <p:cNvPr id="11" name="Text 9"/>
          <p:cNvSpPr txBox="1"/>
          <p:nvPr/>
        </p:nvSpPr>
        <p:spPr>
          <a:xfrm>
            <a:off x="777240" y="4114800"/>
            <a:ext cx="10607040" cy="777240"/>
          </a:xfrm>
          <a:prstGeom prst="rect">
            <a:avLst/>
          </a:prstGeom>
          <a:noFill/>
          <a:ln/>
        </p:spPr>
        <p:txBody>
          <a:bodyPr wrap="square" lIns="0" tIns="0" rIns="0" bIns="0" rtlCol="0" anchor="ctr"/>
          <a:lstStyle/>
          <a:p>
            <a:pPr indent="0" marL="0">
              <a:buNone/>
            </a:pPr>
            <a:r>
              <a:rPr lang="en-US" sz="1500" dirty="0">
                <a:solidFill>
                  <a:schemeClr val="bg1"/>
                </a:solidFill>
              </a:rPr>
              <a:t>"Be multiplied" — plēthyntheiē, aorist passive optative: a prayer for abundance, not rationing. God's supply grows as the pressure grows.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Assurance: where does it rest?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Reformed and Free Grace readings of "kept for Jesus Christ" (v.1)</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God preserves His people (Canons of Dort, Fifth Head; Murray, Redemption Accomplished and Applied).</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preserving work necessarily produces the believer's perseverance in faith and holiness to the end</a:t>
            </a:r>
            <a:endParaRPr lang="en-US" sz="1400" dirty="0"/>
          </a:p>
          <a:p>
            <a:pPr marL="342900" indent="-342900">
              <a:spcAft>
                <a:spcPts val="600"/>
              </a:spcAft>
              <a:buSzPct val="100000"/>
              <a:buChar char="•"/>
            </a:pPr>
            <a:r>
              <a:rPr lang="en-US" sz="1400" dirty="0">
                <a:solidFill>
                  <a:schemeClr val="tx1"/>
                </a:solidFill>
              </a:rPr>
              <a:t>Assurance comes, at least in part, from examining that perseverance (WCF 18.3; Schreiner and Caneday, The Race Set Before Us)</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keeping is itself the guarantee — it does not depend on the believer's grip</a:t>
            </a:r>
            <a:endParaRPr lang="en-US" sz="1400" dirty="0"/>
          </a:p>
          <a:p>
            <a:pPr marL="342900" indent="-342900">
              <a:spcAft>
                <a:spcPts val="600"/>
              </a:spcAft>
              <a:buSzPct val="100000"/>
              <a:buChar char="•"/>
            </a:pPr>
            <a:r>
              <a:rPr lang="en-US" sz="1400" dirty="0">
                <a:solidFill>
                  <a:schemeClr val="tx1"/>
                </a:solidFill>
              </a:rPr>
              <a:t>Assurance comes from looking at the promise and the One who keeps, not inward at our record (Dillow; Wilkin, Confident in Christ)</a:t>
            </a:r>
            <a:endParaRPr lang="en-US" sz="1400" dirty="0"/>
          </a:p>
          <a:p>
            <a:pPr marL="342900" indent="-342900">
              <a:spcAft>
                <a:spcPts val="600"/>
              </a:spcAft>
              <a:buSzPct val="100000"/>
              <a:buChar char="•"/>
            </a:pPr>
            <a:r>
              <a:rPr lang="en-US" sz="1400" dirty="0">
                <a:solidFill>
                  <a:schemeClr val="tx1"/>
                </a:solidFill>
              </a:rPr>
              <a:t>Calvin: faith is "a firm and certain knowledge of God's benevolence" (Inst. 3.2.7)</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warnings of this letter are real — but they are not designed to make kept people wonder whether they are kept. (Study 1 §III.C)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2 of 6 · Jude 3–4</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Battle Cry: Contend Earnestly for the Faith</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Because false teachers have turned God's grace into a license for sin, believers are called to contend earnestly — and graciously — for the once-for-all faith.</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letter Jude did not write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change of plans (v.3)</a:t>
            </a:r>
            <a:endParaRPr lang="en-US" sz="1400" dirty="0"/>
          </a:p>
        </p:txBody>
      </p:sp>
      <p:sp>
        <p:nvSpPr>
          <p:cNvPr id="4" name="Shape 2"/>
          <p:cNvSpPr/>
          <p:nvPr/>
        </p:nvSpPr>
        <p:spPr>
          <a:xfrm>
            <a:off x="548640" y="1417320"/>
            <a:ext cx="5440680" cy="1005840"/>
          </a:xfrm>
          <a:prstGeom prst="rect">
            <a:avLst/>
          </a:prstGeom>
          <a:solidFill>
            <a:schemeClr val="accent2"/>
          </a:solidFill>
          <a:ln w="9525">
            <a:solidFill>
              <a:schemeClr val="accent2"/>
            </a:solidFill>
            <a:prstDash val="solid"/>
          </a:ln>
        </p:spPr>
      </p:sp>
      <p:sp>
        <p:nvSpPr>
          <p:cNvPr id="5" name="Text 3"/>
          <p:cNvSpPr txBox="1"/>
          <p:nvPr/>
        </p:nvSpPr>
        <p:spPr>
          <a:xfrm>
            <a:off x="749808" y="1417320"/>
            <a:ext cx="5029200" cy="1005840"/>
          </a:xfrm>
          <a:prstGeom prst="rect">
            <a:avLst/>
          </a:prstGeom>
          <a:noFill/>
          <a:ln/>
        </p:spPr>
        <p:txBody>
          <a:bodyPr wrap="square" lIns="0" tIns="0" rIns="0" bIns="0" rtlCol="0" anchor="ctr"/>
          <a:lstStyle/>
          <a:p>
            <a:pPr indent="0" marL="0">
              <a:buNone/>
            </a:pPr>
            <a:r>
              <a:rPr lang="en-US" sz="1800" b="1" dirty="0">
                <a:solidFill>
                  <a:schemeClr val="bg1"/>
                </a:solidFill>
              </a:rPr>
              <a:t>The letter he planned</a:t>
            </a:r>
            <a:endParaRPr lang="en-US" sz="1400" dirty="0"/>
          </a:p>
          <a:p>
            <a:pPr indent="0" marL="0">
              <a:buNone/>
            </a:pPr>
            <a:r>
              <a:rPr lang="en-US" sz="1500" i="1" dirty="0">
                <a:solidFill>
                  <a:schemeClr val="bg1"/>
                </a:solidFill>
              </a:rPr>
              <a:t>"our common salvation"</a:t>
            </a:r>
            <a:endParaRPr lang="en-US" sz="1400" dirty="0"/>
          </a:p>
        </p:txBody>
      </p:sp>
      <p:sp>
        <p:nvSpPr>
          <p:cNvPr id="6" name="Shape 4"/>
          <p:cNvSpPr/>
          <p:nvPr/>
        </p:nvSpPr>
        <p:spPr>
          <a:xfrm>
            <a:off x="548640" y="2423160"/>
            <a:ext cx="5440680" cy="1737360"/>
          </a:xfrm>
          <a:prstGeom prst="rect">
            <a:avLst/>
          </a:prstGeom>
          <a:solidFill>
            <a:schemeClr val="bg2"/>
          </a:solidFill>
          <a:ln w="9525">
            <a:solidFill>
              <a:srgbClr val="D5DCEA"/>
            </a:solidFill>
            <a:prstDash val="solid"/>
          </a:ln>
        </p:spPr>
      </p:sp>
      <p:sp>
        <p:nvSpPr>
          <p:cNvPr id="7" name="Text 5"/>
          <p:cNvSpPr txBox="1"/>
          <p:nvPr/>
        </p:nvSpPr>
        <p:spPr>
          <a:xfrm>
            <a:off x="749808" y="25603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koinos — shared, held in common (cf. "common faith," Titus 1:4)</a:t>
            </a:r>
            <a:endParaRPr lang="en-US" sz="1400" dirty="0"/>
          </a:p>
          <a:p>
            <a:pPr marL="342900" indent="-342900">
              <a:spcAft>
                <a:spcPts val="600"/>
              </a:spcAft>
              <a:buSzPct val="100000"/>
              <a:buChar char="•"/>
            </a:pPr>
            <a:r>
              <a:rPr lang="en-US" sz="1400" dirty="0">
                <a:solidFill>
                  <a:schemeClr val="tx1"/>
                </a:solidFill>
              </a:rPr>
              <a:t>One salvation, held equally by every believer — not graded by performance</a:t>
            </a:r>
            <a:endParaRPr lang="en-US" sz="1400" dirty="0"/>
          </a:p>
          <a:p>
            <a:pPr marL="342900" indent="-342900">
              <a:spcAft>
                <a:spcPts val="600"/>
              </a:spcAft>
              <a:buSzPct val="100000"/>
              <a:buChar char="•"/>
            </a:pPr>
            <a:r>
              <a:rPr lang="en-US" sz="1400" dirty="0">
                <a:solidFill>
                  <a:schemeClr val="tx1"/>
                </a:solidFill>
              </a:rPr>
              <a:t>A celebration</a:t>
            </a:r>
            <a:endParaRPr lang="en-US" sz="1400" dirty="0"/>
          </a:p>
        </p:txBody>
      </p:sp>
      <p:sp>
        <p:nvSpPr>
          <p:cNvPr id="8" name="Shape 6"/>
          <p:cNvSpPr/>
          <p:nvPr/>
        </p:nvSpPr>
        <p:spPr>
          <a:xfrm>
            <a:off x="6172200" y="1417320"/>
            <a:ext cx="5440680" cy="1005840"/>
          </a:xfrm>
          <a:prstGeom prst="rect">
            <a:avLst/>
          </a:prstGeom>
          <a:solidFill>
            <a:schemeClr val="accent1"/>
          </a:solidFill>
          <a:ln w="9525">
            <a:solidFill>
              <a:schemeClr val="accent1"/>
            </a:solidFill>
            <a:prstDash val="solid"/>
          </a:ln>
        </p:spPr>
      </p:sp>
      <p:sp>
        <p:nvSpPr>
          <p:cNvPr id="9" name="Text 7"/>
          <p:cNvSpPr txBox="1"/>
          <p:nvPr/>
        </p:nvSpPr>
        <p:spPr>
          <a:xfrm>
            <a:off x="6373368" y="1417320"/>
            <a:ext cx="5029200" cy="1005840"/>
          </a:xfrm>
          <a:prstGeom prst="rect">
            <a:avLst/>
          </a:prstGeom>
          <a:noFill/>
          <a:ln/>
        </p:spPr>
        <p:txBody>
          <a:bodyPr wrap="square" lIns="0" tIns="0" rIns="0" bIns="0" rtlCol="0" anchor="ctr"/>
          <a:lstStyle/>
          <a:p>
            <a:pPr indent="0" marL="0">
              <a:buNone/>
            </a:pPr>
            <a:r>
              <a:rPr lang="en-US" sz="1800" b="1" dirty="0">
                <a:solidFill>
                  <a:schemeClr val="bg1"/>
                </a:solidFill>
              </a:rPr>
              <a:t>The letter he wrote</a:t>
            </a:r>
            <a:endParaRPr lang="en-US" sz="1400" dirty="0"/>
          </a:p>
          <a:p>
            <a:pPr indent="0" marL="0">
              <a:buNone/>
            </a:pPr>
            <a:r>
              <a:rPr lang="en-US" sz="1500" i="1" dirty="0">
                <a:solidFill>
                  <a:schemeClr val="bg1"/>
                </a:solidFill>
              </a:rPr>
              <a:t>"contend earnestly for the faith"</a:t>
            </a:r>
            <a:endParaRPr lang="en-US" sz="1400" dirty="0"/>
          </a:p>
        </p:txBody>
      </p:sp>
      <p:sp>
        <p:nvSpPr>
          <p:cNvPr id="10" name="Shape 8"/>
          <p:cNvSpPr/>
          <p:nvPr/>
        </p:nvSpPr>
        <p:spPr>
          <a:xfrm>
            <a:off x="6172200" y="2423160"/>
            <a:ext cx="5440680" cy="1737360"/>
          </a:xfrm>
          <a:prstGeom prst="rect">
            <a:avLst/>
          </a:prstGeom>
          <a:solidFill>
            <a:schemeClr val="bg2"/>
          </a:solidFill>
          <a:ln w="9525">
            <a:solidFill>
              <a:srgbClr val="D5DCEA"/>
            </a:solidFill>
            <a:prstDash val="solid"/>
          </a:ln>
        </p:spPr>
      </p:sp>
      <p:sp>
        <p:nvSpPr>
          <p:cNvPr id="11" name="Text 9"/>
          <p:cNvSpPr txBox="1"/>
          <p:nvPr/>
        </p:nvSpPr>
        <p:spPr>
          <a:xfrm>
            <a:off x="6373368" y="25603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 felt the necessity" — anankēn eschon, the language of compulsion (cf. 1 Cor 9:16)</a:t>
            </a:r>
            <a:endParaRPr lang="en-US" sz="1400" dirty="0"/>
          </a:p>
          <a:p>
            <a:pPr marL="342900" indent="-342900">
              <a:spcAft>
                <a:spcPts val="600"/>
              </a:spcAft>
              <a:buSzPct val="100000"/>
              <a:buChar char="•"/>
            </a:pPr>
            <a:r>
              <a:rPr lang="en-US" sz="1400" dirty="0">
                <a:solidFill>
                  <a:schemeClr val="tx1"/>
                </a:solidFill>
              </a:rPr>
              <a:t>Love for the church left him no choice</a:t>
            </a:r>
            <a:endParaRPr lang="en-US" sz="1400" dirty="0"/>
          </a:p>
          <a:p>
            <a:pPr marL="342900" indent="-342900">
              <a:spcAft>
                <a:spcPts val="600"/>
              </a:spcAft>
              <a:buSzPct val="100000"/>
              <a:buChar char="•"/>
            </a:pPr>
            <a:r>
              <a:rPr lang="en-US" sz="1400" dirty="0">
                <a:solidFill>
                  <a:schemeClr val="tx1"/>
                </a:solidFill>
              </a:rPr>
              <a:t>A summons</a:t>
            </a:r>
            <a:endParaRPr lang="en-US" sz="1400" dirty="0"/>
          </a:p>
        </p:txBody>
      </p:sp>
      <p:sp>
        <p:nvSpPr>
          <p:cNvPr id="12" name="Text 10"/>
          <p:cNvSpPr txBox="1"/>
          <p:nvPr/>
        </p:nvSpPr>
        <p:spPr>
          <a:xfrm>
            <a:off x="5852160" y="1645920"/>
            <a:ext cx="457200" cy="548640"/>
          </a:xfrm>
          <a:prstGeom prst="rect">
            <a:avLst/>
          </a:prstGeom>
          <a:noFill/>
          <a:ln/>
        </p:spPr>
        <p:txBody>
          <a:bodyPr wrap="square" lIns="0" tIns="0" rIns="0" bIns="0" rtlCol="0" anchor="t"/>
          <a:lstStyle/>
          <a:p>
            <a:pPr algn="ctr" indent="0" marL="0">
              <a:buNone/>
            </a:pPr>
            <a:r>
              <a:rPr lang="en-US" sz="2600" dirty="0">
                <a:solidFill>
                  <a:schemeClr val="accent4"/>
                </a:solidFill>
              </a:rPr>
              <a:t>→</a:t>
            </a:r>
            <a:endParaRPr lang="en-US" sz="2600" dirty="0"/>
          </a:p>
        </p:txBody>
      </p:sp>
      <p:sp>
        <p:nvSpPr>
          <p:cNvPr id="13" name="Shape 11"/>
          <p:cNvSpPr/>
          <p:nvPr/>
        </p:nvSpPr>
        <p:spPr>
          <a:xfrm>
            <a:off x="548640" y="4389120"/>
            <a:ext cx="11064240" cy="777240"/>
          </a:xfrm>
          <a:prstGeom prst="roundRect">
            <a:avLst>
              <a:gd name="adj" fmla="val 9412"/>
            </a:avLst>
          </a:prstGeom>
          <a:solidFill>
            <a:schemeClr val="tx2"/>
          </a:solidFill>
          <a:ln w="9525">
            <a:solidFill>
              <a:schemeClr val="tx2"/>
            </a:solidFill>
            <a:prstDash val="solid"/>
          </a:ln>
        </p:spPr>
      </p:sp>
      <p:sp>
        <p:nvSpPr>
          <p:cNvPr id="14" name="Text 12"/>
          <p:cNvSpPr txBox="1"/>
          <p:nvPr/>
        </p:nvSpPr>
        <p:spPr>
          <a:xfrm>
            <a:off x="777240" y="4389120"/>
            <a:ext cx="10607040" cy="777240"/>
          </a:xfrm>
          <a:prstGeom prst="rect">
            <a:avLst/>
          </a:prstGeom>
          <a:noFill/>
          <a:ln/>
        </p:spPr>
        <p:txBody>
          <a:bodyPr wrap="square" lIns="0" tIns="0" rIns="0" bIns="0" rtlCol="0" anchor="ctr"/>
          <a:lstStyle/>
          <a:p>
            <a:pPr indent="0" marL="0">
              <a:buNone/>
            </a:pPr>
            <a:r>
              <a:rPr lang="en-US" sz="1500" dirty="0">
                <a:solidFill>
                  <a:schemeClr val="bg1"/>
                </a:solidFill>
              </a:rPr>
              <a:t>v.3 gives the charge; v.4 gives the reason. Everything from v.5 to v.23 develops either the danger of v.4 or the response of v.3.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charge, phrase by phrase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v.3b · "contend earnestly for the faith which was once for all handed down to the saints"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011680"/>
                <a:gridCol w="2834640"/>
                <a:gridCol w="62179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Phrase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it means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contend earnestly</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epagōnizesthai · pres. inf. (NT hapax)</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From agōn, an athletic contest — an ongoing, strenuous struggle; in the manner of vv.9 and 20–23, not quarrelsomeness (2 Tim 2:24–25)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the faith</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tē pistei · with the article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 content believed — the gospel and apostolic teaching. The struggle is for the message, not for the believer's standing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once for all</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hapax</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Decisive and unrepeatable (cf. Heb 9:26) — delivered complete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handed down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paradotheisē · aor. pass. ptc.</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Technical term for authoritative tradition (1 Cor 15:3) — no later, "more enlightened" version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to the saints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tois hagiois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Entrusted to every believer, not a professional class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Five marks of the intruders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v.4 · the reason for the charge</a:t>
            </a:r>
            <a:endParaRPr lang="en-US" sz="1400" dirty="0"/>
          </a:p>
        </p:txBody>
      </p:sp>
      <p:sp>
        <p:nvSpPr>
          <p:cNvPr id="4" name="Shape 2"/>
          <p:cNvSpPr/>
          <p:nvPr/>
        </p:nvSpPr>
        <p:spPr>
          <a:xfrm>
            <a:off x="548640" y="1417320"/>
            <a:ext cx="548640" cy="694944"/>
          </a:xfrm>
          <a:prstGeom prst="roundRect">
            <a:avLst>
              <a:gd name="adj" fmla="val 13333"/>
            </a:avLst>
          </a:prstGeom>
          <a:solidFill>
            <a:schemeClr val="accent4"/>
          </a:solidFill>
          <a:ln w="9525">
            <a:solidFill>
              <a:schemeClr val="accent4"/>
            </a:solidFill>
            <a:prstDash val="solid"/>
          </a:ln>
        </p:spPr>
      </p:sp>
      <p:sp>
        <p:nvSpPr>
          <p:cNvPr id="5" name="Text 3"/>
          <p:cNvSpPr txBox="1"/>
          <p:nvPr/>
        </p:nvSpPr>
        <p:spPr>
          <a:xfrm>
            <a:off x="548640" y="141732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hape 4"/>
          <p:cNvSpPr/>
          <p:nvPr/>
        </p:nvSpPr>
        <p:spPr>
          <a:xfrm>
            <a:off x="1234440" y="1417320"/>
            <a:ext cx="10378440" cy="694944"/>
          </a:xfrm>
          <a:prstGeom prst="rect">
            <a:avLst/>
          </a:prstGeom>
          <a:solidFill>
            <a:schemeClr val="bg2"/>
          </a:solidFill>
          <a:ln w="9525">
            <a:solidFill>
              <a:srgbClr val="D5DCEA"/>
            </a:solidFill>
            <a:prstDash val="solid"/>
          </a:ln>
        </p:spPr>
      </p:sp>
      <p:sp>
        <p:nvSpPr>
          <p:cNvPr id="7" name="Text 5"/>
          <p:cNvSpPr txBox="1"/>
          <p:nvPr/>
        </p:nvSpPr>
        <p:spPr>
          <a:xfrm>
            <a:off x="1371600" y="141732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Crept in unnoticed</a:t>
            </a:r>
            <a:endParaRPr lang="en-US" sz="1400" dirty="0"/>
          </a:p>
        </p:txBody>
      </p:sp>
      <p:sp>
        <p:nvSpPr>
          <p:cNvPr id="8" name="Text 6"/>
          <p:cNvSpPr txBox="1"/>
          <p:nvPr/>
        </p:nvSpPr>
        <p:spPr>
          <a:xfrm>
            <a:off x="5120640" y="141732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pareisedysan</a:t>
            </a:r>
            <a:endParaRPr lang="en-US" sz="1300" dirty="0"/>
          </a:p>
        </p:txBody>
      </p:sp>
      <p:sp>
        <p:nvSpPr>
          <p:cNvPr id="9" name="Text 7"/>
          <p:cNvSpPr txBox="1"/>
          <p:nvPr/>
        </p:nvSpPr>
        <p:spPr>
          <a:xfrm>
            <a:off x="7132320" y="1417320"/>
            <a:ext cx="4389120" cy="694944"/>
          </a:xfrm>
          <a:prstGeom prst="rect">
            <a:avLst/>
          </a:prstGeom>
          <a:noFill/>
          <a:ln/>
        </p:spPr>
        <p:txBody>
          <a:bodyPr wrap="square" lIns="0" tIns="0" rIns="0" bIns="0" rtlCol="0" anchor="ctr"/>
          <a:lstStyle/>
          <a:p>
            <a:pPr indent="0" marL="0">
              <a:buNone/>
            </a:pPr>
            <a:r>
              <a:rPr lang="en-US" sz="1300" dirty="0">
                <a:solidFill>
                  <a:schemeClr val="tx1"/>
                </a:solidFill>
              </a:rPr>
              <a:t>Slipped in by a side door — the danger came from within, quietly (cf. Gal 2:4)</a:t>
            </a:r>
            <a:endParaRPr lang="en-US" sz="1300" dirty="0"/>
          </a:p>
        </p:txBody>
      </p:sp>
      <p:sp>
        <p:nvSpPr>
          <p:cNvPr id="10" name="Shape 8"/>
          <p:cNvSpPr/>
          <p:nvPr/>
        </p:nvSpPr>
        <p:spPr>
          <a:xfrm>
            <a:off x="548640" y="2240280"/>
            <a:ext cx="548640" cy="694944"/>
          </a:xfrm>
          <a:prstGeom prst="roundRect">
            <a:avLst>
              <a:gd name="adj" fmla="val 13333"/>
            </a:avLst>
          </a:prstGeom>
          <a:solidFill>
            <a:schemeClr val="accent4"/>
          </a:solidFill>
          <a:ln w="9525">
            <a:solidFill>
              <a:schemeClr val="accent4"/>
            </a:solidFill>
            <a:prstDash val="solid"/>
          </a:ln>
        </p:spPr>
      </p:sp>
      <p:sp>
        <p:nvSpPr>
          <p:cNvPr id="11" name="Text 9"/>
          <p:cNvSpPr txBox="1"/>
          <p:nvPr/>
        </p:nvSpPr>
        <p:spPr>
          <a:xfrm>
            <a:off x="548640" y="224028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hape 10"/>
          <p:cNvSpPr/>
          <p:nvPr/>
        </p:nvSpPr>
        <p:spPr>
          <a:xfrm>
            <a:off x="1234440" y="2240280"/>
            <a:ext cx="10378440" cy="694944"/>
          </a:xfrm>
          <a:prstGeom prst="rect">
            <a:avLst/>
          </a:prstGeom>
          <a:solidFill>
            <a:schemeClr val="bg1"/>
          </a:solidFill>
          <a:ln w="9525">
            <a:solidFill>
              <a:srgbClr val="D5DCEA"/>
            </a:solidFill>
            <a:prstDash val="solid"/>
          </a:ln>
        </p:spPr>
      </p:sp>
      <p:sp>
        <p:nvSpPr>
          <p:cNvPr id="13" name="Text 11"/>
          <p:cNvSpPr txBox="1"/>
          <p:nvPr/>
        </p:nvSpPr>
        <p:spPr>
          <a:xfrm>
            <a:off x="1371600" y="224028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Long beforehand marked out for this condemnation</a:t>
            </a:r>
            <a:endParaRPr lang="en-US" sz="1400" dirty="0"/>
          </a:p>
        </p:txBody>
      </p:sp>
      <p:sp>
        <p:nvSpPr>
          <p:cNvPr id="14" name="Text 12"/>
          <p:cNvSpPr txBox="1"/>
          <p:nvPr/>
        </p:nvSpPr>
        <p:spPr>
          <a:xfrm>
            <a:off x="5120640" y="224028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progegrammenoi</a:t>
            </a:r>
            <a:endParaRPr lang="en-US" sz="1300" dirty="0"/>
          </a:p>
        </p:txBody>
      </p:sp>
      <p:sp>
        <p:nvSpPr>
          <p:cNvPr id="15" name="Text 13"/>
          <p:cNvSpPr txBox="1"/>
          <p:nvPr/>
        </p:nvSpPr>
        <p:spPr>
          <a:xfrm>
            <a:off x="7132320" y="2240280"/>
            <a:ext cx="4389120" cy="694944"/>
          </a:xfrm>
          <a:prstGeom prst="rect">
            <a:avLst/>
          </a:prstGeom>
          <a:noFill/>
          <a:ln/>
        </p:spPr>
        <p:txBody>
          <a:bodyPr wrap="square" lIns="0" tIns="0" rIns="0" bIns="0" rtlCol="0" anchor="ctr"/>
          <a:lstStyle/>
          <a:p>
            <a:pPr indent="0" marL="0">
              <a:buNone/>
            </a:pPr>
            <a:r>
              <a:rPr lang="en-US" sz="1300" dirty="0">
                <a:solidFill>
                  <a:schemeClr val="tx1"/>
                </a:solidFill>
              </a:rPr>
              <a:t>"Written beforehand" — their condemnation already on the page in vv.5–16</a:t>
            </a:r>
            <a:endParaRPr lang="en-US" sz="1300" dirty="0"/>
          </a:p>
        </p:txBody>
      </p:sp>
      <p:sp>
        <p:nvSpPr>
          <p:cNvPr id="16" name="Shape 14"/>
          <p:cNvSpPr/>
          <p:nvPr/>
        </p:nvSpPr>
        <p:spPr>
          <a:xfrm>
            <a:off x="548640" y="3063240"/>
            <a:ext cx="548640" cy="694944"/>
          </a:xfrm>
          <a:prstGeom prst="roundRect">
            <a:avLst>
              <a:gd name="adj" fmla="val 13333"/>
            </a:avLst>
          </a:prstGeom>
          <a:solidFill>
            <a:schemeClr val="accent4"/>
          </a:solidFill>
          <a:ln w="9525">
            <a:solidFill>
              <a:schemeClr val="accent4"/>
            </a:solidFill>
            <a:prstDash val="solid"/>
          </a:ln>
        </p:spPr>
      </p:sp>
      <p:sp>
        <p:nvSpPr>
          <p:cNvPr id="17" name="Text 15"/>
          <p:cNvSpPr txBox="1"/>
          <p:nvPr/>
        </p:nvSpPr>
        <p:spPr>
          <a:xfrm>
            <a:off x="548640" y="306324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Shape 16"/>
          <p:cNvSpPr/>
          <p:nvPr/>
        </p:nvSpPr>
        <p:spPr>
          <a:xfrm>
            <a:off x="1234440" y="3063240"/>
            <a:ext cx="10378440" cy="694944"/>
          </a:xfrm>
          <a:prstGeom prst="rect">
            <a:avLst/>
          </a:prstGeom>
          <a:solidFill>
            <a:schemeClr val="bg2"/>
          </a:solidFill>
          <a:ln w="9525">
            <a:solidFill>
              <a:srgbClr val="D5DCEA"/>
            </a:solidFill>
            <a:prstDash val="solid"/>
          </a:ln>
        </p:spPr>
      </p:sp>
      <p:sp>
        <p:nvSpPr>
          <p:cNvPr id="19" name="Text 17"/>
          <p:cNvSpPr txBox="1"/>
          <p:nvPr/>
        </p:nvSpPr>
        <p:spPr>
          <a:xfrm>
            <a:off x="1371600" y="306324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Ungodly persons</a:t>
            </a:r>
            <a:endParaRPr lang="en-US" sz="1400" dirty="0"/>
          </a:p>
        </p:txBody>
      </p:sp>
      <p:sp>
        <p:nvSpPr>
          <p:cNvPr id="20" name="Text 18"/>
          <p:cNvSpPr txBox="1"/>
          <p:nvPr/>
        </p:nvSpPr>
        <p:spPr>
          <a:xfrm>
            <a:off x="5120640" y="306324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asebeis</a:t>
            </a:r>
            <a:endParaRPr lang="en-US" sz="1300" dirty="0"/>
          </a:p>
        </p:txBody>
      </p:sp>
      <p:sp>
        <p:nvSpPr>
          <p:cNvPr id="21" name="Text 19"/>
          <p:cNvSpPr txBox="1"/>
          <p:nvPr/>
        </p:nvSpPr>
        <p:spPr>
          <a:xfrm>
            <a:off x="7132320" y="3063240"/>
            <a:ext cx="4389120" cy="694944"/>
          </a:xfrm>
          <a:prstGeom prst="rect">
            <a:avLst/>
          </a:prstGeom>
          <a:noFill/>
          <a:ln/>
        </p:spPr>
        <p:txBody>
          <a:bodyPr wrap="square" lIns="0" tIns="0" rIns="0" bIns="0" rtlCol="0" anchor="ctr"/>
          <a:lstStyle/>
          <a:p>
            <a:pPr indent="0" marL="0">
              <a:buNone/>
            </a:pPr>
            <a:r>
              <a:rPr lang="en-US" sz="1300" dirty="0">
                <a:solidFill>
                  <a:schemeClr val="tx1"/>
                </a:solidFill>
              </a:rPr>
              <a:t>Jude's signature word (vv.4, 15, 18) — a settled orientation, not struggling believers</a:t>
            </a:r>
            <a:endParaRPr lang="en-US" sz="1300" dirty="0"/>
          </a:p>
        </p:txBody>
      </p:sp>
      <p:sp>
        <p:nvSpPr>
          <p:cNvPr id="22" name="Shape 20"/>
          <p:cNvSpPr/>
          <p:nvPr/>
        </p:nvSpPr>
        <p:spPr>
          <a:xfrm>
            <a:off x="548640" y="3886200"/>
            <a:ext cx="548640" cy="694944"/>
          </a:xfrm>
          <a:prstGeom prst="roundRect">
            <a:avLst>
              <a:gd name="adj" fmla="val 13333"/>
            </a:avLst>
          </a:prstGeom>
          <a:solidFill>
            <a:schemeClr val="accent4"/>
          </a:solidFill>
          <a:ln w="9525">
            <a:solidFill>
              <a:schemeClr val="accent4"/>
            </a:solidFill>
            <a:prstDash val="solid"/>
          </a:ln>
        </p:spPr>
      </p:sp>
      <p:sp>
        <p:nvSpPr>
          <p:cNvPr id="23" name="Text 21"/>
          <p:cNvSpPr txBox="1"/>
          <p:nvPr/>
        </p:nvSpPr>
        <p:spPr>
          <a:xfrm>
            <a:off x="548640" y="388620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Shape 22"/>
          <p:cNvSpPr/>
          <p:nvPr/>
        </p:nvSpPr>
        <p:spPr>
          <a:xfrm>
            <a:off x="1234440" y="3886200"/>
            <a:ext cx="10378440" cy="694944"/>
          </a:xfrm>
          <a:prstGeom prst="rect">
            <a:avLst/>
          </a:prstGeom>
          <a:solidFill>
            <a:schemeClr val="bg1"/>
          </a:solidFill>
          <a:ln w="9525">
            <a:solidFill>
              <a:srgbClr val="D5DCEA"/>
            </a:solidFill>
            <a:prstDash val="solid"/>
          </a:ln>
        </p:spPr>
      </p:sp>
      <p:sp>
        <p:nvSpPr>
          <p:cNvPr id="25" name="Text 23"/>
          <p:cNvSpPr txBox="1"/>
          <p:nvPr/>
        </p:nvSpPr>
        <p:spPr>
          <a:xfrm>
            <a:off x="1371600" y="388620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Turn the grace of our God into licentiousness</a:t>
            </a:r>
            <a:endParaRPr lang="en-US" sz="1400" dirty="0"/>
          </a:p>
        </p:txBody>
      </p:sp>
      <p:sp>
        <p:nvSpPr>
          <p:cNvPr id="26" name="Text 24"/>
          <p:cNvSpPr txBox="1"/>
          <p:nvPr/>
        </p:nvSpPr>
        <p:spPr>
          <a:xfrm>
            <a:off x="5120640" y="388620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aselgeia</a:t>
            </a:r>
            <a:endParaRPr lang="en-US" sz="1300" dirty="0"/>
          </a:p>
        </p:txBody>
      </p:sp>
      <p:sp>
        <p:nvSpPr>
          <p:cNvPr id="27" name="Text 25"/>
          <p:cNvSpPr txBox="1"/>
          <p:nvPr/>
        </p:nvSpPr>
        <p:spPr>
          <a:xfrm>
            <a:off x="7132320" y="3886200"/>
            <a:ext cx="4389120" cy="694944"/>
          </a:xfrm>
          <a:prstGeom prst="rect">
            <a:avLst/>
          </a:prstGeom>
          <a:noFill/>
          <a:ln/>
        </p:spPr>
        <p:txBody>
          <a:bodyPr wrap="square" lIns="0" tIns="0" rIns="0" bIns="0" rtlCol="0" anchor="ctr"/>
          <a:lstStyle/>
          <a:p>
            <a:pPr indent="0" marL="0">
              <a:buNone/>
            </a:pPr>
            <a:r>
              <a:rPr lang="en-US" sz="1300" dirty="0">
                <a:solidFill>
                  <a:schemeClr val="tx1"/>
                </a:solidFill>
              </a:rPr>
              <a:t>Unrestrained sensuality — grace twisted into a license to sin</a:t>
            </a:r>
            <a:endParaRPr lang="en-US" sz="1300" dirty="0"/>
          </a:p>
        </p:txBody>
      </p:sp>
      <p:sp>
        <p:nvSpPr>
          <p:cNvPr id="28" name="Shape 26"/>
          <p:cNvSpPr/>
          <p:nvPr/>
        </p:nvSpPr>
        <p:spPr>
          <a:xfrm>
            <a:off x="548640" y="4709160"/>
            <a:ext cx="548640" cy="694944"/>
          </a:xfrm>
          <a:prstGeom prst="roundRect">
            <a:avLst>
              <a:gd name="adj" fmla="val 13333"/>
            </a:avLst>
          </a:prstGeom>
          <a:solidFill>
            <a:schemeClr val="accent4"/>
          </a:solidFill>
          <a:ln w="9525">
            <a:solidFill>
              <a:schemeClr val="accent4"/>
            </a:solidFill>
            <a:prstDash val="solid"/>
          </a:ln>
        </p:spPr>
      </p:sp>
      <p:sp>
        <p:nvSpPr>
          <p:cNvPr id="29" name="Text 27"/>
          <p:cNvSpPr txBox="1"/>
          <p:nvPr/>
        </p:nvSpPr>
        <p:spPr>
          <a:xfrm>
            <a:off x="548640" y="470916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Shape 28"/>
          <p:cNvSpPr/>
          <p:nvPr/>
        </p:nvSpPr>
        <p:spPr>
          <a:xfrm>
            <a:off x="1234440" y="4709160"/>
            <a:ext cx="10378440" cy="694944"/>
          </a:xfrm>
          <a:prstGeom prst="rect">
            <a:avLst/>
          </a:prstGeom>
          <a:solidFill>
            <a:schemeClr val="bg2"/>
          </a:solidFill>
          <a:ln w="9525">
            <a:solidFill>
              <a:srgbClr val="D5DCEA"/>
            </a:solidFill>
            <a:prstDash val="solid"/>
          </a:ln>
        </p:spPr>
      </p:sp>
      <p:sp>
        <p:nvSpPr>
          <p:cNvPr id="31" name="Text 29"/>
          <p:cNvSpPr txBox="1"/>
          <p:nvPr/>
        </p:nvSpPr>
        <p:spPr>
          <a:xfrm>
            <a:off x="1371600" y="470916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Deny our only Master and Lord, Jesus Christ</a:t>
            </a:r>
            <a:endParaRPr lang="en-US" sz="1400" dirty="0"/>
          </a:p>
        </p:txBody>
      </p:sp>
      <p:sp>
        <p:nvSpPr>
          <p:cNvPr id="32" name="Text 30"/>
          <p:cNvSpPr txBox="1"/>
          <p:nvPr/>
        </p:nvSpPr>
        <p:spPr>
          <a:xfrm>
            <a:off x="5120640" y="470916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arnoumenoi · despotēn</a:t>
            </a:r>
            <a:endParaRPr lang="en-US" sz="1300" dirty="0"/>
          </a:p>
        </p:txBody>
      </p:sp>
      <p:sp>
        <p:nvSpPr>
          <p:cNvPr id="33" name="Text 31"/>
          <p:cNvSpPr txBox="1"/>
          <p:nvPr/>
        </p:nvSpPr>
        <p:spPr>
          <a:xfrm>
            <a:off x="7132320" y="4709160"/>
            <a:ext cx="4389120" cy="694944"/>
          </a:xfrm>
          <a:prstGeom prst="rect">
            <a:avLst/>
          </a:prstGeom>
          <a:noFill/>
          <a:ln/>
        </p:spPr>
        <p:txBody>
          <a:bodyPr wrap="square" lIns="0" tIns="0" rIns="0" bIns="0" rtlCol="0" anchor="ctr"/>
          <a:lstStyle/>
          <a:p>
            <a:pPr indent="0" marL="0">
              <a:buNone/>
            </a:pPr>
            <a:r>
              <a:rPr lang="en-US" sz="1300" dirty="0">
                <a:solidFill>
                  <a:schemeClr val="tx1"/>
                </a:solidFill>
              </a:rPr>
              <a:t>An ongoing pattern; the despotēs Jude serves as doulos (v.1), they reject</a:t>
            </a:r>
            <a:endParaRPr lang="en-US" sz="1300" dirty="0"/>
          </a:p>
        </p:txBody>
      </p:sp>
      <p:sp>
        <p:nvSpPr>
          <p:cNvPr id="34" name="Shape 32"/>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35" name="Text 33"/>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"They claimed the benefits of grace while refusing the Lord of grace." Jude does not call them believers: they are "devoid of the Spirit" (v.19).</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"Long beforehand marked out"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Two readings of v.4</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statement of eternal decree: these individuals were foreordained to condemnation (cf. 1 Pet 2:8)</a:t>
            </a:r>
            <a:endParaRPr lang="en-US" sz="1400" dirty="0"/>
          </a:p>
          <a:p>
            <a:pPr marL="342900" indent="-342900">
              <a:spcAft>
                <a:spcPts val="600"/>
              </a:spcAft>
              <a:buSzPct val="100000"/>
              <a:buChar char="•"/>
            </a:pPr>
            <a:r>
              <a:rPr lang="en-US" sz="1400" dirty="0">
                <a:solidFill>
                  <a:schemeClr val="tx1"/>
                </a:solidFill>
              </a:rPr>
              <a:t>Draws on the classical doctrine of reprobation (Calvin; Westminster Confession ch.3)</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 DTS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progegrammenoi = "written beforehand" (cf. Rom 15:4)</a:t>
            </a:r>
            <a:endParaRPr lang="en-US" sz="1400" dirty="0"/>
          </a:p>
          <a:p>
            <a:pPr marL="342900" indent="-342900">
              <a:spcAft>
                <a:spcPts val="600"/>
              </a:spcAft>
              <a:buSzPct val="100000"/>
              <a:buChar char="•"/>
            </a:pPr>
            <a:r>
              <a:rPr lang="en-US" sz="1400" dirty="0">
                <a:solidFill>
                  <a:schemeClr val="tx1"/>
                </a:solidFill>
              </a:rPr>
              <a:t>Jude immediately says "I desire to remind you" (v.5) and cites written examples and Enoch's prophecy (vv.5–16)</a:t>
            </a:r>
            <a:endParaRPr lang="en-US" sz="1400" dirty="0"/>
          </a:p>
          <a:p>
            <a:pPr marL="342900" indent="-342900">
              <a:spcAft>
                <a:spcPts val="600"/>
              </a:spcAft>
              <a:buSzPct val="100000"/>
              <a:buChar char="•"/>
            </a:pPr>
            <a:r>
              <a:rPr lang="en-US" sz="1400" dirty="0">
                <a:solidFill>
                  <a:schemeClr val="tx1"/>
                </a:solidFill>
              </a:rPr>
              <a:t>Their condemnation was already on the page (Constable; Bible Knowledge Commentary; Wilkin, Is Calvinism Biblical?)</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focus stays where Jude puts it: on the certainty of God's judgment against those who corrupt His grace — not on a decree hidden in eternity.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Grace, not license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charge critics bring against Free Grace — and the answer (v.4)</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Grace is never a license for sin — "Are we to continue in sin so that grace may increase? May it never be!" (Rom 6:1–2)</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Lordship Salvation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Free Grace teaching leads to the very error Jude condemns (MacArthur, The Gospel According to Jesus)</a:t>
            </a:r>
            <a:endParaRPr lang="en-US" sz="1400" dirty="0"/>
          </a:p>
          <a:p>
            <a:pPr marL="342900" indent="-342900">
              <a:spcAft>
                <a:spcPts val="600"/>
              </a:spcAft>
              <a:buSzPct val="100000"/>
              <a:buChar char="•"/>
            </a:pPr>
            <a:r>
              <a:rPr lang="en-US" sz="1400" dirty="0">
                <a:solidFill>
                  <a:schemeClr val="tx1"/>
                </a:solidFill>
              </a:rPr>
              <a:t>Sproul: receiving Jesus as Savior but not as Lord is "antinomianism with a vengeance"</a:t>
            </a:r>
            <a:endParaRPr lang="en-US" sz="1400" dirty="0"/>
          </a:p>
          <a:p>
            <a:pPr marL="342900" indent="-342900">
              <a:spcAft>
                <a:spcPts val="600"/>
              </a:spcAft>
              <a:buSzPct val="100000"/>
              <a:buChar char="•"/>
            </a:pPr>
            <a:r>
              <a:rPr lang="en-US" sz="1400" dirty="0">
                <a:solidFill>
                  <a:schemeClr val="tx1"/>
                </a:solidFill>
              </a:rPr>
              <a:t>Remedy: saving faith necessarily includes submission and persevering obedience</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Keep the gospel offer free, as Jesus gave it (John 4:10; Rev 22:17)</a:t>
            </a:r>
            <a:endParaRPr lang="en-US" sz="1400" dirty="0"/>
          </a:p>
          <a:p>
            <a:pPr marL="342900" indent="-342900">
              <a:spcAft>
                <a:spcPts val="600"/>
              </a:spcAft>
              <a:buSzPct val="100000"/>
              <a:buChar char="•"/>
            </a:pPr>
            <a:r>
              <a:rPr lang="en-US" sz="1400" dirty="0">
                <a:solidFill>
                  <a:schemeClr val="tx1"/>
                </a:solidFill>
              </a:rPr>
              <a:t>Press discipleship, holiness, and reward on those who believe — the Judgment Seat (2 Cor 5:10; 1 Cor 3:12–15) and discipline (Heb 12)</a:t>
            </a:r>
            <a:endParaRPr lang="en-US" sz="1400" dirty="0"/>
          </a:p>
          <a:p>
            <a:pPr marL="342900" indent="-342900">
              <a:spcAft>
                <a:spcPts val="600"/>
              </a:spcAft>
              <a:buSzPct val="100000"/>
              <a:buChar char="•"/>
            </a:pPr>
            <a:r>
              <a:rPr lang="en-US" sz="1400" dirty="0">
                <a:solidFill>
                  <a:schemeClr val="tx1"/>
                </a:solidFill>
              </a:rPr>
              <a:t>Grace as freedom, not license (Swindoll; Hodges, Absolutely Free!, Grace in Eclipse)</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cure for counterfeit grace is not less grace — it is grace rightly understood, the grace that instructs us to deny ungodliness (Titus 2:11–12).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3 of 6 · Jude 5–11</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Three Warnings from History: When Grace Is Misused</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History shows that God faithfully judges those who despise His grace and authority; believers learn, like Michael, to leave judgment to the Lord.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How vv.5–11 are built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Example, application, contrast, conclusion, woe</a:t>
            </a:r>
            <a:endParaRPr lang="en-US" sz="1400" dirty="0"/>
          </a:p>
        </p:txBody>
      </p:sp>
      <p:sp>
        <p:nvSpPr>
          <p:cNvPr id="4" name="Shape 2"/>
          <p:cNvSpPr/>
          <p:nvPr/>
        </p:nvSpPr>
        <p:spPr>
          <a:xfrm>
            <a:off x="548640" y="1737360"/>
            <a:ext cx="2011680" cy="2377440"/>
          </a:xfrm>
          <a:prstGeom prst="roundRect">
            <a:avLst>
              <a:gd name="adj" fmla="val 3636"/>
            </a:avLst>
          </a:prstGeom>
          <a:solidFill>
            <a:schemeClr val="accent4"/>
          </a:solidFill>
          <a:ln w="9525">
            <a:solidFill>
              <a:schemeClr val="accent4"/>
            </a:solidFill>
            <a:prstDash val="solid"/>
          </a:ln>
        </p:spPr>
      </p:sp>
      <p:sp>
        <p:nvSpPr>
          <p:cNvPr id="5" name="Text 3"/>
          <p:cNvSpPr txBox="1"/>
          <p:nvPr/>
        </p:nvSpPr>
        <p:spPr>
          <a:xfrm>
            <a:off x="685800"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vv.5–7</a:t>
            </a:r>
            <a:endParaRPr lang="en-US" sz="1400" dirty="0"/>
          </a:p>
          <a:p>
            <a:pPr indent="0" marL="0">
              <a:buNone/>
            </a:pPr>
            <a:r>
              <a:rPr lang="en-US" sz="1800" b="1" dirty="0">
                <a:solidFill>
                  <a:schemeClr val="bg1"/>
                </a:solidFill>
              </a:rPr>
              <a:t>Three examples</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Israel, angels, Sodom</a:t>
            </a:r>
            <a:endParaRPr lang="en-US" sz="1400" dirty="0"/>
          </a:p>
        </p:txBody>
      </p:sp>
      <p:sp>
        <p:nvSpPr>
          <p:cNvPr id="6" name="Text 4"/>
          <p:cNvSpPr txBox="1"/>
          <p:nvPr/>
        </p:nvSpPr>
        <p:spPr>
          <a:xfrm>
            <a:off x="2560320"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7" name="Shape 5"/>
          <p:cNvSpPr/>
          <p:nvPr/>
        </p:nvSpPr>
        <p:spPr>
          <a:xfrm>
            <a:off x="2807208" y="1737360"/>
            <a:ext cx="2011680" cy="2377440"/>
          </a:xfrm>
          <a:prstGeom prst="roundRect">
            <a:avLst>
              <a:gd name="adj" fmla="val 3636"/>
            </a:avLst>
          </a:prstGeom>
          <a:solidFill>
            <a:schemeClr val="accent4"/>
          </a:solidFill>
          <a:ln w="9525">
            <a:solidFill>
              <a:schemeClr val="accent4"/>
            </a:solidFill>
            <a:prstDash val="solid"/>
          </a:ln>
        </p:spPr>
      </p:sp>
      <p:sp>
        <p:nvSpPr>
          <p:cNvPr id="8" name="Text 6"/>
          <p:cNvSpPr txBox="1"/>
          <p:nvPr/>
        </p:nvSpPr>
        <p:spPr>
          <a:xfrm>
            <a:off x="2944368"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v.8</a:t>
            </a:r>
            <a:endParaRPr lang="en-US" sz="1400" dirty="0"/>
          </a:p>
          <a:p>
            <a:pPr indent="0" marL="0">
              <a:buNone/>
            </a:pPr>
            <a:r>
              <a:rPr lang="en-US" sz="1800" b="1" dirty="0">
                <a:solidFill>
                  <a:schemeClr val="bg1"/>
                </a:solidFill>
              </a:rPr>
              <a:t>Applied to "these"</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defile, reject, revile</a:t>
            </a:r>
            <a:endParaRPr lang="en-US" sz="1400" dirty="0"/>
          </a:p>
        </p:txBody>
      </p:sp>
      <p:sp>
        <p:nvSpPr>
          <p:cNvPr id="9" name="Text 7"/>
          <p:cNvSpPr txBox="1"/>
          <p:nvPr/>
        </p:nvSpPr>
        <p:spPr>
          <a:xfrm>
            <a:off x="4818888"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0" name="Shape 8"/>
          <p:cNvSpPr/>
          <p:nvPr/>
        </p:nvSpPr>
        <p:spPr>
          <a:xfrm>
            <a:off x="5065776" y="1737360"/>
            <a:ext cx="2011680" cy="2377440"/>
          </a:xfrm>
          <a:prstGeom prst="roundRect">
            <a:avLst>
              <a:gd name="adj" fmla="val 3636"/>
            </a:avLst>
          </a:prstGeom>
          <a:solidFill>
            <a:schemeClr val="accent1"/>
          </a:solidFill>
          <a:ln w="9525">
            <a:solidFill>
              <a:schemeClr val="accent1"/>
            </a:solidFill>
            <a:prstDash val="solid"/>
          </a:ln>
        </p:spPr>
      </p:sp>
      <p:sp>
        <p:nvSpPr>
          <p:cNvPr id="11" name="Text 9"/>
          <p:cNvSpPr txBox="1"/>
          <p:nvPr/>
        </p:nvSpPr>
        <p:spPr>
          <a:xfrm>
            <a:off x="5202936"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v.9</a:t>
            </a:r>
            <a:endParaRPr lang="en-US" sz="1400" dirty="0"/>
          </a:p>
          <a:p>
            <a:pPr indent="0" marL="0">
              <a:buNone/>
            </a:pPr>
            <a:r>
              <a:rPr lang="en-US" sz="1800" b="1" dirty="0">
                <a:solidFill>
                  <a:schemeClr val="bg1"/>
                </a:solidFill>
              </a:rPr>
              <a:t>Michael in contrast</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"The Lord rebuke you!"</a:t>
            </a:r>
            <a:endParaRPr lang="en-US" sz="1400" dirty="0"/>
          </a:p>
        </p:txBody>
      </p:sp>
      <p:sp>
        <p:nvSpPr>
          <p:cNvPr id="12" name="Text 10"/>
          <p:cNvSpPr txBox="1"/>
          <p:nvPr/>
        </p:nvSpPr>
        <p:spPr>
          <a:xfrm>
            <a:off x="7077456"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3" name="Shape 11"/>
          <p:cNvSpPr/>
          <p:nvPr/>
        </p:nvSpPr>
        <p:spPr>
          <a:xfrm>
            <a:off x="7324344" y="1737360"/>
            <a:ext cx="2011680" cy="2377440"/>
          </a:xfrm>
          <a:prstGeom prst="roundRect">
            <a:avLst>
              <a:gd name="adj" fmla="val 3636"/>
            </a:avLst>
          </a:prstGeom>
          <a:solidFill>
            <a:schemeClr val="accent4"/>
          </a:solidFill>
          <a:ln w="9525">
            <a:solidFill>
              <a:schemeClr val="accent4"/>
            </a:solidFill>
            <a:prstDash val="solid"/>
          </a:ln>
        </p:spPr>
      </p:sp>
      <p:sp>
        <p:nvSpPr>
          <p:cNvPr id="14" name="Text 12"/>
          <p:cNvSpPr txBox="1"/>
          <p:nvPr/>
        </p:nvSpPr>
        <p:spPr>
          <a:xfrm>
            <a:off x="7461504"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v.10</a:t>
            </a:r>
            <a:endParaRPr lang="en-US" sz="1400" dirty="0"/>
          </a:p>
          <a:p>
            <a:pPr indent="0" marL="0">
              <a:buNone/>
            </a:pPr>
            <a:r>
              <a:rPr lang="en-US" sz="1800" b="1" dirty="0">
                <a:solidFill>
                  <a:schemeClr val="bg1"/>
                </a:solidFill>
              </a:rPr>
              <a:t>The conclusion</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destroyed by instinct</a:t>
            </a:r>
            <a:endParaRPr lang="en-US" sz="1400" dirty="0"/>
          </a:p>
        </p:txBody>
      </p:sp>
      <p:sp>
        <p:nvSpPr>
          <p:cNvPr id="15" name="Text 13"/>
          <p:cNvSpPr txBox="1"/>
          <p:nvPr/>
        </p:nvSpPr>
        <p:spPr>
          <a:xfrm>
            <a:off x="9336024"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6" name="Shape 14"/>
          <p:cNvSpPr/>
          <p:nvPr/>
        </p:nvSpPr>
        <p:spPr>
          <a:xfrm>
            <a:off x="9582912" y="1737360"/>
            <a:ext cx="2011680" cy="2377440"/>
          </a:xfrm>
          <a:prstGeom prst="roundRect">
            <a:avLst>
              <a:gd name="adj" fmla="val 3636"/>
            </a:avLst>
          </a:prstGeom>
          <a:solidFill>
            <a:schemeClr val="accent4"/>
          </a:solidFill>
          <a:ln w="9525">
            <a:solidFill>
              <a:schemeClr val="accent4"/>
            </a:solidFill>
            <a:prstDash val="solid"/>
          </a:ln>
        </p:spPr>
      </p:sp>
      <p:sp>
        <p:nvSpPr>
          <p:cNvPr id="17" name="Text 15"/>
          <p:cNvSpPr txBox="1"/>
          <p:nvPr/>
        </p:nvSpPr>
        <p:spPr>
          <a:xfrm>
            <a:off x="9720072"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v.11</a:t>
            </a:r>
            <a:endParaRPr lang="en-US" sz="1400" dirty="0"/>
          </a:p>
          <a:p>
            <a:pPr indent="0" marL="0">
              <a:buNone/>
            </a:pPr>
            <a:r>
              <a:rPr lang="en-US" sz="1800" b="1" dirty="0">
                <a:solidFill>
                  <a:schemeClr val="bg1"/>
                </a:solidFill>
              </a:rPr>
              <a:t>Woe and three men</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Cain, Balaam, Korah</a:t>
            </a:r>
            <a:endParaRPr lang="en-US" sz="1400" dirty="0"/>
          </a:p>
        </p:txBody>
      </p:sp>
      <p:sp>
        <p:nvSpPr>
          <p:cNvPr id="18" name="Shape 16"/>
          <p:cNvSpPr/>
          <p:nvPr/>
        </p:nvSpPr>
        <p:spPr>
          <a:xfrm>
            <a:off x="548640" y="4526280"/>
            <a:ext cx="11064240" cy="777240"/>
          </a:xfrm>
          <a:prstGeom prst="roundRect">
            <a:avLst>
              <a:gd name="adj" fmla="val 9412"/>
            </a:avLst>
          </a:prstGeom>
          <a:solidFill>
            <a:schemeClr val="tx2"/>
          </a:solidFill>
          <a:ln w="9525">
            <a:solidFill>
              <a:schemeClr val="tx2"/>
            </a:solidFill>
            <a:prstDash val="solid"/>
          </a:ln>
        </p:spPr>
      </p:sp>
      <p:sp>
        <p:nvSpPr>
          <p:cNvPr id="19" name="Text 17"/>
          <p:cNvSpPr txBox="1"/>
          <p:nvPr/>
        </p:nvSpPr>
        <p:spPr>
          <a:xfrm>
            <a:off x="777240" y="4526280"/>
            <a:ext cx="10607040" cy="777240"/>
          </a:xfrm>
          <a:prstGeom prst="rect">
            <a:avLst/>
          </a:prstGeom>
          <a:noFill/>
          <a:ln/>
        </p:spPr>
        <p:txBody>
          <a:bodyPr wrap="square" lIns="0" tIns="0" rIns="0" bIns="0" rtlCol="0" anchor="ctr"/>
          <a:lstStyle/>
          <a:p>
            <a:pPr indent="0" marL="0">
              <a:buNone/>
            </a:pPr>
            <a:r>
              <a:rPr lang="en-US" sz="1500" dirty="0">
                <a:solidFill>
                  <a:schemeClr val="bg1"/>
                </a:solidFill>
              </a:rPr>
              <a:t>Two triads — three collective examples (vv.5–7) and three individuals (v.11) — with the archangel standing between them as the model believers follow.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Three examples, three marks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vv.5–7 matched to the intruders</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2377440"/>
                <a:gridCol w="2834640"/>
                <a:gridCol w="310896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Example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was judged</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Old Testament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The intruders' matching mark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914400">
                <a:tc>
                  <a:txBody>
                    <a:bodyPr/>
                    <a:lstStyle/>
                    <a:p>
                      <a:pPr indent="0" marL="0">
                        <a:buNone/>
                      </a:pPr>
                      <a:r>
                        <a:rPr lang="en-US" sz="1400" b="1" dirty="0">
                          <a:solidFill>
                            <a:schemeClr val="tx2"/>
                          </a:solidFill>
                          <a:latin typeface="Arial" pitchFamily="34" charset="0"/>
                          <a:ea typeface="Arial" pitchFamily="34" charset="-122"/>
                          <a:cs typeface="Arial" pitchFamily="34" charset="-120"/>
                        </a:rPr>
                        <a:t>Israel in the wilderness (v.5)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Unbelief</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Num 14:29–35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They deny our only Master and Lord (v.4)</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914400">
                <a:tc>
                  <a:txBody>
                    <a:bodyPr/>
                    <a:lstStyle/>
                    <a:p>
                      <a:pPr indent="0" marL="0">
                        <a:buNone/>
                      </a:pPr>
                      <a:r>
                        <a:rPr lang="en-US" sz="1400" b="1" dirty="0">
                          <a:solidFill>
                            <a:schemeClr val="tx2"/>
                          </a:solidFill>
                          <a:latin typeface="Arial" pitchFamily="34" charset="0"/>
                          <a:ea typeface="Arial" pitchFamily="34" charset="-122"/>
                          <a:cs typeface="Arial" pitchFamily="34" charset="-120"/>
                        </a:rPr>
                        <a:t>The angels who sinned (v.6)</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Rebellion against God's order</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Gen 6:1–4, or the original fall; 2 Pet 2:4</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They reject authority (v.8)</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2"/>
                          </a:solidFill>
                          <a:latin typeface="Arial" pitchFamily="34" charset="0"/>
                          <a:ea typeface="Arial" pitchFamily="34" charset="-122"/>
                          <a:cs typeface="Arial" pitchFamily="34" charset="-120"/>
                        </a:rPr>
                        <a:t>Sodom and Gomorrah (v.7)</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Sexual immorality</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Gen 19</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They turn grace into sensuality (v.4) and defile the flesh (v.8)</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4937760"/>
            <a:ext cx="11064240" cy="777240"/>
          </a:xfrm>
          <a:prstGeom prst="roundRect">
            <a:avLst>
              <a:gd name="adj" fmla="val 9412"/>
            </a:avLst>
          </a:prstGeom>
          <a:solidFill>
            <a:schemeClr val="tx2"/>
          </a:solidFill>
          <a:ln w="9525">
            <a:solidFill>
              <a:schemeClr val="tx2"/>
            </a:solidFill>
            <a:prstDash val="solid"/>
          </a:ln>
        </p:spPr>
      </p:sp>
      <p:sp>
        <p:nvSpPr>
          <p:cNvPr id="6" name="Text 3"/>
          <p:cNvSpPr txBox="1"/>
          <p:nvPr/>
        </p:nvSpPr>
        <p:spPr>
          <a:xfrm>
            <a:off x="777240" y="4937760"/>
            <a:ext cx="10607040" cy="777240"/>
          </a:xfrm>
          <a:prstGeom prst="rect">
            <a:avLst/>
          </a:prstGeom>
          <a:noFill/>
          <a:ln/>
        </p:spPr>
        <p:txBody>
          <a:bodyPr wrap="square" lIns="0" tIns="0" rIns="0" bIns="0" rtlCol="0" anchor="ctr"/>
          <a:lstStyle/>
          <a:p>
            <a:pPr indent="0" marL="0">
              <a:buNone/>
            </a:pPr>
            <a:r>
              <a:rPr lang="en-US" sz="1500" dirty="0">
                <a:solidFill>
                  <a:schemeClr val="bg1"/>
                </a:solidFill>
              </a:rPr>
              <a:t>Note Jude's wordplay in v.6: the angels did not keep their domain, so God has kept them in bonds — while believers are "kept for Jesus Christ" (v.1).</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Israel in the wilderness (v.5)</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Does this verse threaten believers with the loss of eternal life?</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central text for the view that people who once appeared saved can finally perish if they do not persevere</a:t>
            </a:r>
            <a:endParaRPr lang="en-US" sz="1400" dirty="0"/>
          </a:p>
          <a:p>
            <a:pPr marL="342900" indent="-342900">
              <a:spcAft>
                <a:spcPts val="600"/>
              </a:spcAft>
              <a:buSzPct val="100000"/>
              <a:buChar char="•"/>
            </a:pPr>
            <a:r>
              <a:rPr lang="en-US" sz="1300" dirty="0">
                <a:solidFill>
                  <a:schemeClr val="tx1"/>
                </a:solidFill>
              </a:rPr>
              <a:t>NT warnings threaten eternal destruction and are the means God uses to keep the elect persevering (Schreiner and Caneday, The Race Set Before Us)</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wilderness judgment was physical death — they did not enter the land</a:t>
            </a:r>
            <a:endParaRPr lang="en-US" sz="1400" dirty="0"/>
          </a:p>
          <a:p>
            <a:pPr marL="342900" indent="-342900">
              <a:spcAft>
                <a:spcPts val="600"/>
              </a:spcAft>
              <a:buSzPct val="100000"/>
              <a:buChar char="•"/>
            </a:pPr>
            <a:r>
              <a:rPr lang="en-US" sz="1300" dirty="0">
                <a:solidFill>
                  <a:schemeClr val="tx1"/>
                </a:solidFill>
              </a:rPr>
              <a:t>Moses, Aaron, and Miriam also died outside the land, and no one doubts they were believers</a:t>
            </a:r>
            <a:endParaRPr lang="en-US" sz="1400" dirty="0"/>
          </a:p>
          <a:p>
            <a:pPr marL="342900" indent="-342900">
              <a:spcAft>
                <a:spcPts val="600"/>
              </a:spcAft>
              <a:buSzPct val="100000"/>
              <a:buChar char="•"/>
            </a:pPr>
            <a:r>
              <a:rPr lang="en-US" sz="1300" dirty="0">
                <a:solidFill>
                  <a:schemeClr val="tx1"/>
                </a:solidFill>
              </a:rPr>
              <a:t>Paul (1 Cor 10:1–11) and Hebrews (3–4) use this history to warn believers of discipline and lost reward (Dillow; Hodges, BKC "Hebrews")</a:t>
            </a:r>
            <a:endParaRPr lang="en-US" sz="1400" dirty="0"/>
          </a:p>
          <a:p>
            <a:pPr marL="342900" indent="-342900">
              <a:spcAft>
                <a:spcPts val="600"/>
              </a:spcAft>
              <a:buSzPct val="100000"/>
              <a:buChar char="•"/>
            </a:pPr>
            <a:r>
              <a:rPr lang="en-US" sz="1300" dirty="0">
                <a:solidFill>
                  <a:schemeClr val="tx1"/>
                </a:solidFill>
              </a:rPr>
              <a:t>Jude applies it to intruders "devoid of the Spirit" (v.19)</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lesson: proximity to God's people protects no one. God judges unbelief, and He is not fooled.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Michael and the intruders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vv.8–10 · two ways of speaking about the spiritual realm</a:t>
            </a:r>
            <a:endParaRPr lang="en-US" sz="1400" dirty="0"/>
          </a:p>
        </p:txBody>
      </p:sp>
      <p:sp>
        <p:nvSpPr>
          <p:cNvPr id="4" name="Shape 2"/>
          <p:cNvSpPr/>
          <p:nvPr/>
        </p:nvSpPr>
        <p:spPr>
          <a:xfrm>
            <a:off x="548640" y="1417320"/>
            <a:ext cx="5440680" cy="50292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Michael the archangel (v.9)</a:t>
            </a:r>
            <a:endParaRPr lang="en-US" sz="1600" dirty="0"/>
          </a:p>
        </p:txBody>
      </p:sp>
      <p:sp>
        <p:nvSpPr>
          <p:cNvPr id="6" name="Shape 4"/>
          <p:cNvSpPr/>
          <p:nvPr/>
        </p:nvSpPr>
        <p:spPr>
          <a:xfrm>
            <a:off x="548640" y="1920240"/>
            <a:ext cx="5440680" cy="2331720"/>
          </a:xfrm>
          <a:prstGeom prst="rect">
            <a:avLst/>
          </a:prstGeom>
          <a:solidFill>
            <a:schemeClr val="bg2"/>
          </a:solidFill>
          <a:ln w="9525">
            <a:solidFill>
              <a:srgbClr val="D5DCEA"/>
            </a:solidFill>
            <a:prstDash val="solid"/>
          </a:ln>
        </p:spPr>
      </p:sp>
      <p:sp>
        <p:nvSpPr>
          <p:cNvPr id="7" name="Text 5"/>
          <p:cNvSpPr txBox="1"/>
          <p:nvPr/>
        </p:nvSpPr>
        <p:spPr>
          <a:xfrm>
            <a:off x="731520" y="2029968"/>
            <a:ext cx="512064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 a dispute with the devil himself over the body of Moses</a:t>
            </a:r>
            <a:endParaRPr lang="en-US" sz="1400" dirty="0"/>
          </a:p>
          <a:p>
            <a:pPr marL="342900" indent="-342900">
              <a:spcAft>
                <a:spcPts val="600"/>
              </a:spcAft>
              <a:buSzPct val="100000"/>
              <a:buChar char="•"/>
            </a:pPr>
            <a:r>
              <a:rPr lang="en-US" sz="1400" dirty="0">
                <a:solidFill>
                  <a:schemeClr val="tx1"/>
                </a:solidFill>
              </a:rPr>
              <a:t>"Did not dare pronounce against him a railing judgment"</a:t>
            </a:r>
            <a:endParaRPr lang="en-US" sz="1400" dirty="0"/>
          </a:p>
          <a:p>
            <a:pPr marL="342900" indent="-342900">
              <a:spcAft>
                <a:spcPts val="600"/>
              </a:spcAft>
              <a:buSzPct val="100000"/>
              <a:buChar char="•"/>
            </a:pPr>
            <a:r>
              <a:rPr lang="en-US" sz="1400" dirty="0">
                <a:solidFill>
                  <a:schemeClr val="tx1"/>
                </a:solidFill>
              </a:rPr>
              <a:t>Said, "The Lord rebuke you!" — the words of Zech 3:2</a:t>
            </a:r>
            <a:endParaRPr lang="en-US" sz="1400" dirty="0"/>
          </a:p>
          <a:p>
            <a:pPr marL="342900" indent="-342900">
              <a:spcAft>
                <a:spcPts val="600"/>
              </a:spcAft>
              <a:buSzPct val="100000"/>
              <a:buChar char="•"/>
            </a:pPr>
            <a:r>
              <a:rPr lang="en-US" sz="1400" dirty="0">
                <a:solidFill>
                  <a:schemeClr val="tx1"/>
                </a:solidFill>
              </a:rPr>
              <a:t>He knew his place and referred judgment to God</a:t>
            </a:r>
            <a:endParaRPr lang="en-US" sz="1400" dirty="0"/>
          </a:p>
        </p:txBody>
      </p:sp>
      <p:sp>
        <p:nvSpPr>
          <p:cNvPr id="8" name="Shape 6"/>
          <p:cNvSpPr/>
          <p:nvPr/>
        </p:nvSpPr>
        <p:spPr>
          <a:xfrm>
            <a:off x="6172200" y="1417320"/>
            <a:ext cx="5440680" cy="502920"/>
          </a:xfrm>
          <a:prstGeom prst="rect">
            <a:avLst/>
          </a:prstGeom>
          <a:solidFill>
            <a:schemeClr val="accent4"/>
          </a:solidFill>
          <a:ln w="9525">
            <a:solidFill>
              <a:schemeClr val="accent4"/>
            </a:solidFill>
            <a:prstDash val="solid"/>
          </a:ln>
        </p:spPr>
      </p:sp>
      <p:sp>
        <p:nvSpPr>
          <p:cNvPr id="9" name="Text 7"/>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The intruders (vv.8, 10)</a:t>
            </a:r>
            <a:endParaRPr lang="en-US" sz="1600" dirty="0"/>
          </a:p>
        </p:txBody>
      </p:sp>
      <p:sp>
        <p:nvSpPr>
          <p:cNvPr id="10" name="Shape 8"/>
          <p:cNvSpPr/>
          <p:nvPr/>
        </p:nvSpPr>
        <p:spPr>
          <a:xfrm>
            <a:off x="6172200" y="1920240"/>
            <a:ext cx="5440680" cy="2331720"/>
          </a:xfrm>
          <a:prstGeom prst="rect">
            <a:avLst/>
          </a:prstGeom>
          <a:solidFill>
            <a:schemeClr val="bg2"/>
          </a:solidFill>
          <a:ln w="9525">
            <a:solidFill>
              <a:srgbClr val="D5DCEA"/>
            </a:solidFill>
            <a:prstDash val="solid"/>
          </a:ln>
        </p:spPr>
      </p:sp>
      <p:sp>
        <p:nvSpPr>
          <p:cNvPr id="11" name="Text 9"/>
          <p:cNvSpPr txBox="1"/>
          <p:nvPr/>
        </p:nvSpPr>
        <p:spPr>
          <a:xfrm>
            <a:off x="6355080" y="2029968"/>
            <a:ext cx="512064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"Dreamers" — claiming visions that freed them from moral boundaries (cf. Deut 13:1–5)</a:t>
            </a:r>
            <a:endParaRPr lang="en-US" sz="1400" dirty="0"/>
          </a:p>
          <a:p>
            <a:pPr marL="342900" indent="-342900">
              <a:spcAft>
                <a:spcPts val="600"/>
              </a:spcAft>
              <a:buSzPct val="100000"/>
              <a:buChar char="•"/>
            </a:pPr>
            <a:r>
              <a:rPr lang="en-US" sz="1400" dirty="0">
                <a:solidFill>
                  <a:schemeClr val="tx1"/>
                </a:solidFill>
              </a:rPr>
              <a:t>Revile angelic majesties</a:t>
            </a:r>
            <a:endParaRPr lang="en-US" sz="1400" dirty="0"/>
          </a:p>
          <a:p>
            <a:pPr marL="342900" indent="-342900">
              <a:spcAft>
                <a:spcPts val="600"/>
              </a:spcAft>
              <a:buSzPct val="100000"/>
              <a:buChar char="•"/>
            </a:pPr>
            <a:r>
              <a:rPr lang="en-US" sz="1400" dirty="0">
                <a:solidFill>
                  <a:schemeClr val="tx1"/>
                </a:solidFill>
              </a:rPr>
              <a:t>Revile what they do not understand</a:t>
            </a:r>
            <a:endParaRPr lang="en-US" sz="1400" dirty="0"/>
          </a:p>
          <a:p>
            <a:pPr marL="342900" indent="-342900">
              <a:spcAft>
                <a:spcPts val="600"/>
              </a:spcAft>
              <a:buSzPct val="100000"/>
              <a:buChar char="•"/>
            </a:pPr>
            <a:r>
              <a:rPr lang="en-US" sz="1400" dirty="0">
                <a:solidFill>
                  <a:schemeClr val="tx1"/>
                </a:solidFill>
              </a:rPr>
              <a:t>Follow instinct like unreasoning animals — and are destroyed by it</a:t>
            </a:r>
            <a:endParaRPr lang="en-US" sz="1400" dirty="0"/>
          </a:p>
        </p:txBody>
      </p:sp>
      <p:sp>
        <p:nvSpPr>
          <p:cNvPr id="12" name="Shape 10"/>
          <p:cNvSpPr/>
          <p:nvPr/>
        </p:nvSpPr>
        <p:spPr>
          <a:xfrm>
            <a:off x="548640" y="4434840"/>
            <a:ext cx="11064240" cy="1600200"/>
          </a:xfrm>
          <a:prstGeom prst="roundRect">
            <a:avLst>
              <a:gd name="adj" fmla="val 4571"/>
            </a:avLst>
          </a:prstGeom>
          <a:solidFill>
            <a:schemeClr val="tx2"/>
          </a:solidFill>
          <a:ln w="9525">
            <a:solidFill>
              <a:schemeClr val="tx2"/>
            </a:solidFill>
            <a:prstDash val="solid"/>
          </a:ln>
        </p:spPr>
      </p:sp>
      <p:sp>
        <p:nvSpPr>
          <p:cNvPr id="13" name="Text 11"/>
          <p:cNvSpPr txBox="1"/>
          <p:nvPr/>
        </p:nvSpPr>
        <p:spPr>
          <a:xfrm>
            <a:off x="777240" y="4480560"/>
            <a:ext cx="10607040" cy="1508760"/>
          </a:xfrm>
          <a:prstGeom prst="rect">
            <a:avLst/>
          </a:prstGeom>
          <a:noFill/>
          <a:ln/>
        </p:spPr>
        <p:txBody>
          <a:bodyPr wrap="square" lIns="0" tIns="0" rIns="0" bIns="0" rtlCol="0" anchor="ctr"/>
          <a:lstStyle/>
          <a:p>
            <a:pPr indent="0" marL="0">
              <a:buNone/>
            </a:pPr>
            <a:r>
              <a:rPr lang="en-US" sz="1600" b="1" dirty="0">
                <a:solidFill>
                  <a:schemeClr val="accent5"/>
                </a:solidFill>
              </a:rPr>
              <a:t>Where does the story come from?</a:t>
            </a:r>
            <a:endParaRPr lang="en-US" sz="1400" dirty="0"/>
          </a:p>
          <a:p>
            <a:pPr indent="0" marL="0">
              <a:buNone/>
            </a:pPr>
            <a:r>
              <a:rPr lang="en-US" sz="1400" dirty="0">
                <a:solidFill>
                  <a:schemeClr val="bg1"/>
                </a:solidFill>
              </a:rPr>
              <a:t>Not in the Old Testament (Deut 34:6). Clement of Alexandria and Origen placed it in the Assumption (Testament) of Moses, whose ending is lost. Quoting a source is not endorsing all of it — Paul quotes pagan poets (Acts 17:28; Titus 1:12). What Jude affirms, Scripture affirms.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Woe to them: Cain, Balaam, Korah</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v.11 · walking → running → falling</a:t>
            </a:r>
            <a:endParaRPr lang="en-US" sz="1400" dirty="0"/>
          </a:p>
        </p:txBody>
      </p:sp>
      <p:sp>
        <p:nvSpPr>
          <p:cNvPr id="4" name="Shape 2"/>
          <p:cNvSpPr/>
          <p:nvPr/>
        </p:nvSpPr>
        <p:spPr>
          <a:xfrm>
            <a:off x="548640" y="1417320"/>
            <a:ext cx="3566160" cy="3977640"/>
          </a:xfrm>
          <a:prstGeom prst="rect">
            <a:avLst/>
          </a:prstGeom>
          <a:solidFill>
            <a:schemeClr val="bg1"/>
          </a:solidFill>
          <a:ln w="9525">
            <a:solidFill>
              <a:srgbClr val="C9CFDD"/>
            </a:solidFill>
            <a:prstDash val="solid"/>
          </a:ln>
        </p:spPr>
      </p:sp>
      <p:sp>
        <p:nvSpPr>
          <p:cNvPr id="5" name="Shape 3"/>
          <p:cNvSpPr/>
          <p:nvPr/>
        </p:nvSpPr>
        <p:spPr>
          <a:xfrm>
            <a:off x="548640" y="1417320"/>
            <a:ext cx="3566160" cy="1051560"/>
          </a:xfrm>
          <a:prstGeom prst="rect">
            <a:avLst/>
          </a:prstGeom>
          <a:solidFill>
            <a:schemeClr val="accent4"/>
          </a:solidFill>
          <a:ln w="9525">
            <a:solidFill>
              <a:schemeClr val="accent4"/>
            </a:solidFill>
            <a:prstDash val="solid"/>
          </a:ln>
        </p:spPr>
      </p:sp>
      <p:sp>
        <p:nvSpPr>
          <p:cNvPr id="6" name="Text 4"/>
          <p:cNvSpPr txBox="1"/>
          <p:nvPr/>
        </p:nvSpPr>
        <p:spPr>
          <a:xfrm>
            <a:off x="73152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Cain</a:t>
            </a:r>
            <a:endParaRPr lang="en-US" sz="1400" dirty="0"/>
          </a:p>
          <a:p>
            <a:pPr indent="0" marL="0">
              <a:buNone/>
            </a:pPr>
            <a:r>
              <a:rPr lang="en-US" sz="1300" i="1" dirty="0">
                <a:solidFill>
                  <a:schemeClr val="bg1"/>
                </a:solidFill>
              </a:rPr>
              <a:t>"gone the way of"</a:t>
            </a:r>
            <a:endParaRPr lang="en-US" sz="1400" dirty="0"/>
          </a:p>
        </p:txBody>
      </p:sp>
      <p:sp>
        <p:nvSpPr>
          <p:cNvPr id="7" name="Text 5"/>
          <p:cNvSpPr txBox="1"/>
          <p:nvPr/>
        </p:nvSpPr>
        <p:spPr>
          <a:xfrm>
            <a:off x="73152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Gen 4 · Heb 11:4 · 1 John 3:12</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Came to God on his own terms, without faith; resentment, then violence</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Religion without faith, hostile to those who walk by faith</a:t>
            </a:r>
            <a:endParaRPr lang="en-US" sz="1300" dirty="0"/>
          </a:p>
        </p:txBody>
      </p:sp>
      <p:sp>
        <p:nvSpPr>
          <p:cNvPr id="8" name="Shape 6"/>
          <p:cNvSpPr/>
          <p:nvPr/>
        </p:nvSpPr>
        <p:spPr>
          <a:xfrm>
            <a:off x="4297680" y="1417320"/>
            <a:ext cx="3566160" cy="3977640"/>
          </a:xfrm>
          <a:prstGeom prst="rect">
            <a:avLst/>
          </a:prstGeom>
          <a:solidFill>
            <a:schemeClr val="bg1"/>
          </a:solidFill>
          <a:ln w="9525">
            <a:solidFill>
              <a:srgbClr val="C9CFDD"/>
            </a:solidFill>
            <a:prstDash val="solid"/>
          </a:ln>
        </p:spPr>
      </p:sp>
      <p:sp>
        <p:nvSpPr>
          <p:cNvPr id="9" name="Shape 7"/>
          <p:cNvSpPr/>
          <p:nvPr/>
        </p:nvSpPr>
        <p:spPr>
          <a:xfrm>
            <a:off x="4297680" y="1417320"/>
            <a:ext cx="3566160" cy="1051560"/>
          </a:xfrm>
          <a:prstGeom prst="rect">
            <a:avLst/>
          </a:prstGeom>
          <a:solidFill>
            <a:schemeClr val="accent4"/>
          </a:solidFill>
          <a:ln w="9525">
            <a:solidFill>
              <a:schemeClr val="accent4"/>
            </a:solidFill>
            <a:prstDash val="solid"/>
          </a:ln>
        </p:spPr>
      </p:sp>
      <p:sp>
        <p:nvSpPr>
          <p:cNvPr id="10" name="Text 8"/>
          <p:cNvSpPr txBox="1"/>
          <p:nvPr/>
        </p:nvSpPr>
        <p:spPr>
          <a:xfrm>
            <a:off x="448056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Balaam</a:t>
            </a:r>
            <a:endParaRPr lang="en-US" sz="1400" dirty="0"/>
          </a:p>
          <a:p>
            <a:pPr indent="0" marL="0">
              <a:buNone/>
            </a:pPr>
            <a:r>
              <a:rPr lang="en-US" sz="1300" i="1" dirty="0">
                <a:solidFill>
                  <a:schemeClr val="bg1"/>
                </a:solidFill>
              </a:rPr>
              <a:t>"for pay… rushed headlong into the error of"</a:t>
            </a:r>
            <a:endParaRPr lang="en-US" sz="1400" dirty="0"/>
          </a:p>
        </p:txBody>
      </p:sp>
      <p:sp>
        <p:nvSpPr>
          <p:cNvPr id="11" name="Text 9"/>
          <p:cNvSpPr txBox="1"/>
          <p:nvPr/>
        </p:nvSpPr>
        <p:spPr>
          <a:xfrm>
            <a:off x="448056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Num 22–25; 31:16 · 2 Pet 2:15 · Rev 2:14</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Prophet for hire; advised Balak to lead Israel into immorality and idolatry</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Profitable teaching that leads God's people into sin</a:t>
            </a:r>
            <a:endParaRPr lang="en-US" sz="1300" dirty="0"/>
          </a:p>
        </p:txBody>
      </p:sp>
      <p:sp>
        <p:nvSpPr>
          <p:cNvPr id="12" name="Shape 10"/>
          <p:cNvSpPr/>
          <p:nvPr/>
        </p:nvSpPr>
        <p:spPr>
          <a:xfrm>
            <a:off x="8046720" y="1417320"/>
            <a:ext cx="3566160" cy="3977640"/>
          </a:xfrm>
          <a:prstGeom prst="rect">
            <a:avLst/>
          </a:prstGeom>
          <a:solidFill>
            <a:schemeClr val="bg1"/>
          </a:solidFill>
          <a:ln w="9525">
            <a:solidFill>
              <a:srgbClr val="C9CFDD"/>
            </a:solidFill>
            <a:prstDash val="solid"/>
          </a:ln>
        </p:spPr>
      </p:sp>
      <p:sp>
        <p:nvSpPr>
          <p:cNvPr id="13" name="Shape 11"/>
          <p:cNvSpPr/>
          <p:nvPr/>
        </p:nvSpPr>
        <p:spPr>
          <a:xfrm>
            <a:off x="8046720" y="1417320"/>
            <a:ext cx="3566160" cy="1051560"/>
          </a:xfrm>
          <a:prstGeom prst="rect">
            <a:avLst/>
          </a:prstGeom>
          <a:solidFill>
            <a:schemeClr val="accent4"/>
          </a:solidFill>
          <a:ln w="9525">
            <a:solidFill>
              <a:schemeClr val="accent4"/>
            </a:solidFill>
            <a:prstDash val="solid"/>
          </a:ln>
        </p:spPr>
      </p:sp>
      <p:sp>
        <p:nvSpPr>
          <p:cNvPr id="14" name="Text 12"/>
          <p:cNvSpPr txBox="1"/>
          <p:nvPr/>
        </p:nvSpPr>
        <p:spPr>
          <a:xfrm>
            <a:off x="822960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Korah</a:t>
            </a:r>
            <a:endParaRPr lang="en-US" sz="1400" dirty="0"/>
          </a:p>
          <a:p>
            <a:pPr indent="0" marL="0">
              <a:buNone/>
            </a:pPr>
            <a:r>
              <a:rPr lang="en-US" sz="1300" i="1" dirty="0">
                <a:solidFill>
                  <a:schemeClr val="bg1"/>
                </a:solidFill>
              </a:rPr>
              <a:t>"perished in the rebellion of"</a:t>
            </a:r>
            <a:endParaRPr lang="en-US" sz="1400" dirty="0"/>
          </a:p>
        </p:txBody>
      </p:sp>
      <p:sp>
        <p:nvSpPr>
          <p:cNvPr id="15" name="Text 13"/>
          <p:cNvSpPr txBox="1"/>
          <p:nvPr/>
        </p:nvSpPr>
        <p:spPr>
          <a:xfrm>
            <a:off x="822960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Num 16:3, 31–35</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A Levite who claimed "all the congregation are holy" while seeking the priesthood</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Rejecting God-given authority (v.8) — an end as sure as his</a:t>
            </a:r>
            <a:endParaRPr lang="en-US" sz="1300" dirty="0"/>
          </a:p>
        </p:txBody>
      </p:sp>
      <p:sp>
        <p:nvSpPr>
          <p:cNvPr id="16" name="Shape 14"/>
          <p:cNvSpPr/>
          <p:nvPr/>
        </p:nvSpPr>
        <p:spPr>
          <a:xfrm>
            <a:off x="548640" y="5577840"/>
            <a:ext cx="11064240" cy="685800"/>
          </a:xfrm>
          <a:prstGeom prst="roundRect">
            <a:avLst>
              <a:gd name="adj" fmla="val 10667"/>
            </a:avLst>
          </a:prstGeom>
          <a:solidFill>
            <a:schemeClr val="tx2"/>
          </a:solidFill>
          <a:ln w="9525">
            <a:solidFill>
              <a:schemeClr val="tx2"/>
            </a:solidFill>
            <a:prstDash val="solid"/>
          </a:ln>
        </p:spPr>
      </p:sp>
      <p:sp>
        <p:nvSpPr>
          <p:cNvPr id="17" name="Text 15"/>
          <p:cNvSpPr txBox="1"/>
          <p:nvPr/>
        </p:nvSpPr>
        <p:spPr>
          <a:xfrm>
            <a:off x="777240" y="5577840"/>
            <a:ext cx="10607040" cy="685800"/>
          </a:xfrm>
          <a:prstGeom prst="rect">
            <a:avLst/>
          </a:prstGeom>
          <a:noFill/>
          <a:ln/>
        </p:spPr>
        <p:txBody>
          <a:bodyPr wrap="square" lIns="0" tIns="0" rIns="0" bIns="0" rtlCol="0" anchor="ctr"/>
          <a:lstStyle/>
          <a:p>
            <a:pPr indent="0" marL="0">
              <a:buNone/>
            </a:pPr>
            <a:r>
              <a:rPr lang="en-US" sz="1500" dirty="0">
                <a:solidFill>
                  <a:schemeClr val="bg1"/>
                </a:solidFill>
              </a:rPr>
              <a:t>"Woe" — a prophet's lament over certain judgment, not a curse spoken in anger. "Perished" is aorist: as certain as if it had already happened.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Privilege did not protect them</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Six examples, one message (vv.5–11)</a:t>
            </a:r>
            <a:endParaRPr lang="en-US" sz="1400" dirty="0"/>
          </a:p>
        </p:txBody>
      </p:sp>
      <p:sp>
        <p:nvSpPr>
          <p:cNvPr id="4" name="Shape 2"/>
          <p:cNvSpPr/>
          <p:nvPr/>
        </p:nvSpPr>
        <p:spPr>
          <a:xfrm>
            <a:off x="548640" y="1463040"/>
            <a:ext cx="3566160" cy="1234440"/>
          </a:xfrm>
          <a:prstGeom prst="roundRect">
            <a:avLst>
              <a:gd name="adj" fmla="val 5926"/>
            </a:avLst>
          </a:prstGeom>
          <a:solidFill>
            <a:schemeClr val="bg2"/>
          </a:solidFill>
          <a:ln w="9525">
            <a:solidFill>
              <a:srgbClr val="D5DCEA"/>
            </a:solidFill>
            <a:prstDash val="solid"/>
          </a:ln>
        </p:spPr>
      </p:sp>
      <p:sp>
        <p:nvSpPr>
          <p:cNvPr id="5" name="Text 3"/>
          <p:cNvSpPr txBox="1"/>
          <p:nvPr/>
        </p:nvSpPr>
        <p:spPr>
          <a:xfrm>
            <a:off x="77724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Israel</a:t>
            </a:r>
            <a:endParaRPr lang="en-US" sz="1400" dirty="0"/>
          </a:p>
          <a:p>
            <a:pPr indent="0" marL="0">
              <a:buNone/>
            </a:pPr>
            <a:r>
              <a:rPr lang="en-US" sz="1500" dirty="0">
                <a:solidFill>
                  <a:schemeClr val="tx1"/>
                </a:solidFill>
              </a:rPr>
              <a:t>had been rescued from Egypt</a:t>
            </a:r>
            <a:endParaRPr lang="en-US" sz="1400" dirty="0"/>
          </a:p>
        </p:txBody>
      </p:sp>
      <p:sp>
        <p:nvSpPr>
          <p:cNvPr id="6" name="Shape 4"/>
          <p:cNvSpPr/>
          <p:nvPr/>
        </p:nvSpPr>
        <p:spPr>
          <a:xfrm>
            <a:off x="4297680" y="1463040"/>
            <a:ext cx="3566160" cy="1234440"/>
          </a:xfrm>
          <a:prstGeom prst="roundRect">
            <a:avLst>
              <a:gd name="adj" fmla="val 5926"/>
            </a:avLst>
          </a:prstGeom>
          <a:solidFill>
            <a:schemeClr val="bg2"/>
          </a:solidFill>
          <a:ln w="9525">
            <a:solidFill>
              <a:srgbClr val="D5DCEA"/>
            </a:solidFill>
            <a:prstDash val="solid"/>
          </a:ln>
        </p:spPr>
      </p:sp>
      <p:sp>
        <p:nvSpPr>
          <p:cNvPr id="7" name="Text 5"/>
          <p:cNvSpPr txBox="1"/>
          <p:nvPr/>
        </p:nvSpPr>
        <p:spPr>
          <a:xfrm>
            <a:off x="452628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The angels</a:t>
            </a:r>
            <a:endParaRPr lang="en-US" sz="1400" dirty="0"/>
          </a:p>
          <a:p>
            <a:pPr indent="0" marL="0">
              <a:buNone/>
            </a:pPr>
            <a:r>
              <a:rPr lang="en-US" sz="1500" dirty="0">
                <a:solidFill>
                  <a:schemeClr val="tx1"/>
                </a:solidFill>
              </a:rPr>
              <a:t>had been exalted</a:t>
            </a:r>
            <a:endParaRPr lang="en-US" sz="1400" dirty="0"/>
          </a:p>
        </p:txBody>
      </p:sp>
      <p:sp>
        <p:nvSpPr>
          <p:cNvPr id="8" name="Shape 6"/>
          <p:cNvSpPr/>
          <p:nvPr/>
        </p:nvSpPr>
        <p:spPr>
          <a:xfrm>
            <a:off x="8046720" y="1463040"/>
            <a:ext cx="3566160" cy="1234440"/>
          </a:xfrm>
          <a:prstGeom prst="roundRect">
            <a:avLst>
              <a:gd name="adj" fmla="val 5926"/>
            </a:avLst>
          </a:prstGeom>
          <a:solidFill>
            <a:schemeClr val="bg2"/>
          </a:solidFill>
          <a:ln w="9525">
            <a:solidFill>
              <a:srgbClr val="D5DCEA"/>
            </a:solidFill>
            <a:prstDash val="solid"/>
          </a:ln>
        </p:spPr>
      </p:sp>
      <p:sp>
        <p:nvSpPr>
          <p:cNvPr id="9" name="Text 7"/>
          <p:cNvSpPr txBox="1"/>
          <p:nvPr/>
        </p:nvSpPr>
        <p:spPr>
          <a:xfrm>
            <a:off x="827532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Sodom</a:t>
            </a:r>
            <a:endParaRPr lang="en-US" sz="1400" dirty="0"/>
          </a:p>
          <a:p>
            <a:pPr indent="0" marL="0">
              <a:buNone/>
            </a:pPr>
            <a:r>
              <a:rPr lang="en-US" sz="1500" dirty="0">
                <a:solidFill>
                  <a:schemeClr val="tx1"/>
                </a:solidFill>
              </a:rPr>
              <a:t>had been warned by Lot</a:t>
            </a:r>
            <a:endParaRPr lang="en-US" sz="1400" dirty="0"/>
          </a:p>
        </p:txBody>
      </p:sp>
      <p:sp>
        <p:nvSpPr>
          <p:cNvPr id="10" name="Shape 8"/>
          <p:cNvSpPr/>
          <p:nvPr/>
        </p:nvSpPr>
        <p:spPr>
          <a:xfrm>
            <a:off x="548640" y="2880360"/>
            <a:ext cx="3566160" cy="1234440"/>
          </a:xfrm>
          <a:prstGeom prst="roundRect">
            <a:avLst>
              <a:gd name="adj" fmla="val 5926"/>
            </a:avLst>
          </a:prstGeom>
          <a:solidFill>
            <a:schemeClr val="bg2"/>
          </a:solidFill>
          <a:ln w="9525">
            <a:solidFill>
              <a:srgbClr val="D5DCEA"/>
            </a:solidFill>
            <a:prstDash val="solid"/>
          </a:ln>
        </p:spPr>
      </p:sp>
      <p:sp>
        <p:nvSpPr>
          <p:cNvPr id="11" name="Text 9"/>
          <p:cNvSpPr txBox="1"/>
          <p:nvPr/>
        </p:nvSpPr>
        <p:spPr>
          <a:xfrm>
            <a:off x="77724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Cain</a:t>
            </a:r>
            <a:endParaRPr lang="en-US" sz="1400" dirty="0"/>
          </a:p>
          <a:p>
            <a:pPr indent="0" marL="0">
              <a:buNone/>
            </a:pPr>
            <a:r>
              <a:rPr lang="en-US" sz="1500" dirty="0">
                <a:solidFill>
                  <a:schemeClr val="tx1"/>
                </a:solidFill>
              </a:rPr>
              <a:t>had been spoken to by God</a:t>
            </a:r>
            <a:endParaRPr lang="en-US" sz="1400" dirty="0"/>
          </a:p>
        </p:txBody>
      </p:sp>
      <p:sp>
        <p:nvSpPr>
          <p:cNvPr id="12" name="Shape 10"/>
          <p:cNvSpPr/>
          <p:nvPr/>
        </p:nvSpPr>
        <p:spPr>
          <a:xfrm>
            <a:off x="4297680" y="2880360"/>
            <a:ext cx="3566160" cy="1234440"/>
          </a:xfrm>
          <a:prstGeom prst="roundRect">
            <a:avLst>
              <a:gd name="adj" fmla="val 5926"/>
            </a:avLst>
          </a:prstGeom>
          <a:solidFill>
            <a:schemeClr val="bg2"/>
          </a:solidFill>
          <a:ln w="9525">
            <a:solidFill>
              <a:srgbClr val="D5DCEA"/>
            </a:solidFill>
            <a:prstDash val="solid"/>
          </a:ln>
        </p:spPr>
      </p:sp>
      <p:sp>
        <p:nvSpPr>
          <p:cNvPr id="13" name="Text 11"/>
          <p:cNvSpPr txBox="1"/>
          <p:nvPr/>
        </p:nvSpPr>
        <p:spPr>
          <a:xfrm>
            <a:off x="452628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Balaam</a:t>
            </a:r>
            <a:endParaRPr lang="en-US" sz="1400" dirty="0"/>
          </a:p>
          <a:p>
            <a:pPr indent="0" marL="0">
              <a:buNone/>
            </a:pPr>
            <a:r>
              <a:rPr lang="en-US" sz="1500" dirty="0">
                <a:solidFill>
                  <a:schemeClr val="tx1"/>
                </a:solidFill>
              </a:rPr>
              <a:t>had received true prophecy</a:t>
            </a:r>
            <a:endParaRPr lang="en-US" sz="1400" dirty="0"/>
          </a:p>
        </p:txBody>
      </p:sp>
      <p:sp>
        <p:nvSpPr>
          <p:cNvPr id="14" name="Shape 12"/>
          <p:cNvSpPr/>
          <p:nvPr/>
        </p:nvSpPr>
        <p:spPr>
          <a:xfrm>
            <a:off x="8046720" y="2880360"/>
            <a:ext cx="3566160" cy="1234440"/>
          </a:xfrm>
          <a:prstGeom prst="roundRect">
            <a:avLst>
              <a:gd name="adj" fmla="val 5926"/>
            </a:avLst>
          </a:prstGeom>
          <a:solidFill>
            <a:schemeClr val="bg2"/>
          </a:solidFill>
          <a:ln w="9525">
            <a:solidFill>
              <a:srgbClr val="D5DCEA"/>
            </a:solidFill>
            <a:prstDash val="solid"/>
          </a:ln>
        </p:spPr>
      </p:sp>
      <p:sp>
        <p:nvSpPr>
          <p:cNvPr id="15" name="Text 13"/>
          <p:cNvSpPr txBox="1"/>
          <p:nvPr/>
        </p:nvSpPr>
        <p:spPr>
          <a:xfrm>
            <a:off x="827532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Korah</a:t>
            </a:r>
            <a:endParaRPr lang="en-US" sz="1400" dirty="0"/>
          </a:p>
          <a:p>
            <a:pPr indent="0" marL="0">
              <a:buNone/>
            </a:pPr>
            <a:r>
              <a:rPr lang="en-US" sz="1500" dirty="0">
                <a:solidFill>
                  <a:schemeClr val="tx1"/>
                </a:solidFill>
              </a:rPr>
              <a:t>served at the tabernacle</a:t>
            </a:r>
            <a:endParaRPr lang="en-US" sz="1400" dirty="0"/>
          </a:p>
        </p:txBody>
      </p:sp>
      <p:sp>
        <p:nvSpPr>
          <p:cNvPr id="16" name="Shape 14"/>
          <p:cNvSpPr/>
          <p:nvPr/>
        </p:nvSpPr>
        <p:spPr>
          <a:xfrm>
            <a:off x="548640" y="4480560"/>
            <a:ext cx="11064240" cy="1005840"/>
          </a:xfrm>
          <a:prstGeom prst="roundRect">
            <a:avLst>
              <a:gd name="adj" fmla="val 7273"/>
            </a:avLst>
          </a:prstGeom>
          <a:solidFill>
            <a:schemeClr val="tx2"/>
          </a:solidFill>
          <a:ln w="9525">
            <a:solidFill>
              <a:schemeClr val="tx2"/>
            </a:solidFill>
            <a:prstDash val="solid"/>
          </a:ln>
        </p:spPr>
      </p:sp>
      <p:sp>
        <p:nvSpPr>
          <p:cNvPr id="17" name="Text 15"/>
          <p:cNvSpPr txBox="1"/>
          <p:nvPr/>
        </p:nvSpPr>
        <p:spPr>
          <a:xfrm>
            <a:off x="777240" y="4480560"/>
            <a:ext cx="10607040" cy="1005840"/>
          </a:xfrm>
          <a:prstGeom prst="rect">
            <a:avLst/>
          </a:prstGeom>
          <a:noFill/>
          <a:ln/>
        </p:spPr>
        <p:txBody>
          <a:bodyPr wrap="square" lIns="0" tIns="0" rIns="0" bIns="0" rtlCol="0" anchor="ctr"/>
          <a:lstStyle/>
          <a:p>
            <a:pPr indent="0" marL="0">
              <a:buNone/>
            </a:pPr>
            <a:r>
              <a:rPr lang="en-US" sz="1500" dirty="0">
                <a:solidFill>
                  <a:schemeClr val="bg1"/>
                </a:solidFill>
              </a:rPr>
              <a:t>God does not overlook contempt for His grace and His authority. For believers, this is not a threat to eternal life (vv.1, 24) but a call to sobriety — God disciplines His children (Heb 12:6), and all will give account (2 Cor 5:10).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4 of 6 · Jude 12–16</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Portraits of Apostasy: What False Teachers Look Like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Jude exposes the false teachers through portraits from nature and the prophecy of Enoch, so that believers can recognize empty, self-serving religion and rest in the Lord's judgment.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Five portraits from creation</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vv.12–13 · sea, sky, earth, sea, heavens — promise without substance</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1097280"/>
                <a:gridCol w="2560320"/>
                <a:gridCol w="34747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Portrait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Realm</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Scripture echo</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it exposes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41248">
                <a:tc>
                  <a:txBody>
                    <a:bodyPr/>
                    <a:lstStyle/>
                    <a:p>
                      <a:pPr indent="0" marL="0">
                        <a:buNone/>
                      </a:pPr>
                      <a:r>
                        <a:rPr lang="en-US" sz="1300" i="1" dirty="0">
                          <a:solidFill>
                            <a:schemeClr val="tx1"/>
                          </a:solidFill>
                          <a:latin typeface="Arial" pitchFamily="34" charset="0"/>
                          <a:ea typeface="Arial" pitchFamily="34" charset="-122"/>
                          <a:cs typeface="Arial" pitchFamily="34" charset="-120"/>
                        </a:rPr>
                        <a:t>Hidden reefs in your love feasts (spilades) — "caring for themselves"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Sea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Ezek 34 — shepherds who fed themselves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Calm surface, wreck beneath; feasting "without fear"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Clouds without water, carried along by winds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Sky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Prov 25:14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Promised refreshment, delivered none; no stability (Eph 4:14)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Autumn trees without fruit, doubly dead, uprooted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Earth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Matt 7:16–20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Harvest time and nothing on the branches — dead wood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Wild waves of the sea, casting up their own shame like foam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Sea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Isa 57:20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Restless and noisy, producing only shame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41248">
                <a:tc>
                  <a:txBody>
                    <a:bodyPr/>
                    <a:lstStyle/>
                    <a:p>
                      <a:pPr indent="0" marL="0">
                        <a:buNone/>
                      </a:pPr>
                      <a:r>
                        <a:rPr lang="en-US" sz="1300" i="1" dirty="0">
                          <a:solidFill>
                            <a:schemeClr val="tx1"/>
                          </a:solidFill>
                          <a:latin typeface="Arial" pitchFamily="34" charset="0"/>
                          <a:ea typeface="Arial" pitchFamily="34" charset="-122"/>
                          <a:cs typeface="Arial" pitchFamily="34" charset="-120"/>
                        </a:rPr>
                        <a:t>Wandering stars, for whom the black darkness has been reserved forever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Heavens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Dan 12:3; 1 Enoch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Guides who lead people off course; darkness kept (tēreō) for them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counterfeit and the real</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Study 4's conclusion: drink deeply from the real thing</a:t>
            </a:r>
            <a:endParaRPr lang="en-US" sz="1400" dirty="0"/>
          </a:p>
        </p:txBody>
      </p:sp>
      <p:sp>
        <p:nvSpPr>
          <p:cNvPr id="4" name="Shape 2"/>
          <p:cNvSpPr/>
          <p:nvPr/>
        </p:nvSpPr>
        <p:spPr>
          <a:xfrm>
            <a:off x="548640" y="1508760"/>
            <a:ext cx="4206240" cy="1097280"/>
          </a:xfrm>
          <a:prstGeom prst="roundRect">
            <a:avLst>
              <a:gd name="adj" fmla="val 6667"/>
            </a:avLst>
          </a:prstGeom>
          <a:solidFill>
            <a:schemeClr val="accent4"/>
          </a:solidFill>
          <a:ln w="9525">
            <a:solidFill>
              <a:schemeClr val="accent4"/>
            </a:solidFill>
            <a:prstDash val="solid"/>
          </a:ln>
        </p:spPr>
      </p:sp>
      <p:sp>
        <p:nvSpPr>
          <p:cNvPr id="5" name="Text 3"/>
          <p:cNvSpPr txBox="1"/>
          <p:nvPr/>
        </p:nvSpPr>
        <p:spPr>
          <a:xfrm>
            <a:off x="731520" y="150876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Clouds without water</a:t>
            </a:r>
            <a:endParaRPr lang="en-US" sz="1700" dirty="0"/>
          </a:p>
        </p:txBody>
      </p:sp>
      <p:sp>
        <p:nvSpPr>
          <p:cNvPr id="6" name="Text 4"/>
          <p:cNvSpPr txBox="1"/>
          <p:nvPr/>
        </p:nvSpPr>
        <p:spPr>
          <a:xfrm>
            <a:off x="4800600" y="150876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7" name="Shape 5"/>
          <p:cNvSpPr/>
          <p:nvPr/>
        </p:nvSpPr>
        <p:spPr>
          <a:xfrm>
            <a:off x="5486400" y="1508760"/>
            <a:ext cx="6126480" cy="1097280"/>
          </a:xfrm>
          <a:prstGeom prst="roundRect">
            <a:avLst>
              <a:gd name="adj" fmla="val 6667"/>
            </a:avLst>
          </a:prstGeom>
          <a:solidFill>
            <a:schemeClr val="accent1"/>
          </a:solidFill>
          <a:ln w="9525">
            <a:solidFill>
              <a:schemeClr val="accent1"/>
            </a:solidFill>
            <a:prstDash val="solid"/>
          </a:ln>
        </p:spPr>
      </p:sp>
      <p:sp>
        <p:nvSpPr>
          <p:cNvPr id="8" name="Text 6"/>
          <p:cNvSpPr txBox="1"/>
          <p:nvPr/>
        </p:nvSpPr>
        <p:spPr>
          <a:xfrm>
            <a:off x="5669280" y="150876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living water</a:t>
            </a:r>
            <a:endParaRPr lang="en-US" sz="1400" dirty="0"/>
          </a:p>
          <a:p>
            <a:pPr indent="0" marL="0">
              <a:buNone/>
            </a:pPr>
            <a:r>
              <a:rPr lang="en-US" sz="1300" dirty="0">
                <a:solidFill>
                  <a:schemeClr val="bg1"/>
                </a:solidFill>
              </a:rPr>
              <a:t>John 4:10; 7:37–38</a:t>
            </a:r>
            <a:endParaRPr lang="en-US" sz="1400" dirty="0"/>
          </a:p>
        </p:txBody>
      </p:sp>
      <p:sp>
        <p:nvSpPr>
          <p:cNvPr id="9" name="Shape 7"/>
          <p:cNvSpPr/>
          <p:nvPr/>
        </p:nvSpPr>
        <p:spPr>
          <a:xfrm>
            <a:off x="548640" y="2788920"/>
            <a:ext cx="4206240" cy="1097280"/>
          </a:xfrm>
          <a:prstGeom prst="roundRect">
            <a:avLst>
              <a:gd name="adj" fmla="val 6667"/>
            </a:avLst>
          </a:prstGeom>
          <a:solidFill>
            <a:schemeClr val="accent4"/>
          </a:solidFill>
          <a:ln w="9525">
            <a:solidFill>
              <a:schemeClr val="accent4"/>
            </a:solidFill>
            <a:prstDash val="solid"/>
          </a:ln>
        </p:spPr>
      </p:sp>
      <p:sp>
        <p:nvSpPr>
          <p:cNvPr id="10" name="Text 8"/>
          <p:cNvSpPr txBox="1"/>
          <p:nvPr/>
        </p:nvSpPr>
        <p:spPr>
          <a:xfrm>
            <a:off x="731520" y="278892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Autumn trees without fruit</a:t>
            </a:r>
            <a:endParaRPr lang="en-US" sz="1700" dirty="0"/>
          </a:p>
        </p:txBody>
      </p:sp>
      <p:sp>
        <p:nvSpPr>
          <p:cNvPr id="11" name="Text 9"/>
          <p:cNvSpPr txBox="1"/>
          <p:nvPr/>
        </p:nvSpPr>
        <p:spPr>
          <a:xfrm>
            <a:off x="4800600" y="278892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2" name="Shape 10"/>
          <p:cNvSpPr/>
          <p:nvPr/>
        </p:nvSpPr>
        <p:spPr>
          <a:xfrm>
            <a:off x="5486400" y="2788920"/>
            <a:ext cx="6126480" cy="1097280"/>
          </a:xfrm>
          <a:prstGeom prst="roundRect">
            <a:avLst>
              <a:gd name="adj" fmla="val 6667"/>
            </a:avLst>
          </a:prstGeom>
          <a:solidFill>
            <a:schemeClr val="accent1"/>
          </a:solidFill>
          <a:ln w="9525">
            <a:solidFill>
              <a:schemeClr val="accent1"/>
            </a:solidFill>
            <a:prstDash val="solid"/>
          </a:ln>
        </p:spPr>
      </p:sp>
      <p:sp>
        <p:nvSpPr>
          <p:cNvPr id="13" name="Text 11"/>
          <p:cNvSpPr txBox="1"/>
          <p:nvPr/>
        </p:nvSpPr>
        <p:spPr>
          <a:xfrm>
            <a:off x="5669280" y="278892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true Vine — whose life bears fruit in those who abide</a:t>
            </a:r>
            <a:endParaRPr lang="en-US" sz="1400" dirty="0"/>
          </a:p>
          <a:p>
            <a:pPr indent="0" marL="0">
              <a:buNone/>
            </a:pPr>
            <a:r>
              <a:rPr lang="en-US" sz="1300" dirty="0">
                <a:solidFill>
                  <a:schemeClr val="bg1"/>
                </a:solidFill>
              </a:rPr>
              <a:t>John 15:1–5</a:t>
            </a:r>
            <a:endParaRPr lang="en-US" sz="1400" dirty="0"/>
          </a:p>
        </p:txBody>
      </p:sp>
      <p:sp>
        <p:nvSpPr>
          <p:cNvPr id="14" name="Shape 12"/>
          <p:cNvSpPr/>
          <p:nvPr/>
        </p:nvSpPr>
        <p:spPr>
          <a:xfrm>
            <a:off x="548640" y="4069080"/>
            <a:ext cx="4206240" cy="1097280"/>
          </a:xfrm>
          <a:prstGeom prst="roundRect">
            <a:avLst>
              <a:gd name="adj" fmla="val 6667"/>
            </a:avLst>
          </a:prstGeom>
          <a:solidFill>
            <a:schemeClr val="accent4"/>
          </a:solidFill>
          <a:ln w="9525">
            <a:solidFill>
              <a:schemeClr val="accent4"/>
            </a:solidFill>
            <a:prstDash val="solid"/>
          </a:ln>
        </p:spPr>
      </p:sp>
      <p:sp>
        <p:nvSpPr>
          <p:cNvPr id="15" name="Text 13"/>
          <p:cNvSpPr txBox="1"/>
          <p:nvPr/>
        </p:nvSpPr>
        <p:spPr>
          <a:xfrm>
            <a:off x="731520" y="406908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Wandering stars</a:t>
            </a:r>
            <a:endParaRPr lang="en-US" sz="1700" dirty="0"/>
          </a:p>
        </p:txBody>
      </p:sp>
      <p:sp>
        <p:nvSpPr>
          <p:cNvPr id="16" name="Text 14"/>
          <p:cNvSpPr txBox="1"/>
          <p:nvPr/>
        </p:nvSpPr>
        <p:spPr>
          <a:xfrm>
            <a:off x="4800600" y="406908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7" name="Shape 15"/>
          <p:cNvSpPr/>
          <p:nvPr/>
        </p:nvSpPr>
        <p:spPr>
          <a:xfrm>
            <a:off x="5486400" y="4069080"/>
            <a:ext cx="6126480" cy="1097280"/>
          </a:xfrm>
          <a:prstGeom prst="roundRect">
            <a:avLst>
              <a:gd name="adj" fmla="val 6667"/>
            </a:avLst>
          </a:prstGeom>
          <a:solidFill>
            <a:schemeClr val="accent1"/>
          </a:solidFill>
          <a:ln w="9525">
            <a:solidFill>
              <a:schemeClr val="accent1"/>
            </a:solidFill>
            <a:prstDash val="solid"/>
          </a:ln>
        </p:spPr>
      </p:sp>
      <p:sp>
        <p:nvSpPr>
          <p:cNvPr id="18" name="Text 16"/>
          <p:cNvSpPr txBox="1"/>
          <p:nvPr/>
        </p:nvSpPr>
        <p:spPr>
          <a:xfrm>
            <a:off x="5669280" y="406908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Bright Morning Star by which we steer</a:t>
            </a:r>
            <a:endParaRPr lang="en-US" sz="1400" dirty="0"/>
          </a:p>
          <a:p>
            <a:pPr indent="0" marL="0">
              <a:buNone/>
            </a:pPr>
            <a:r>
              <a:rPr lang="en-US" sz="1300" dirty="0">
                <a:solidFill>
                  <a:schemeClr val="bg1"/>
                </a:solidFill>
              </a:rPr>
              <a:t>Rev 22:16</a:t>
            </a:r>
            <a:endParaRPr lang="en-US" sz="1400" dirty="0"/>
          </a:p>
        </p:txBody>
      </p:sp>
      <p:sp>
        <p:nvSpPr>
          <p:cNvPr id="19" name="Shape 17"/>
          <p:cNvSpPr/>
          <p:nvPr/>
        </p:nvSpPr>
        <p:spPr>
          <a:xfrm>
            <a:off x="548640" y="5486400"/>
            <a:ext cx="11064240" cy="594360"/>
          </a:xfrm>
          <a:prstGeom prst="roundRect">
            <a:avLst>
              <a:gd name="adj" fmla="val 12308"/>
            </a:avLst>
          </a:prstGeom>
          <a:solidFill>
            <a:schemeClr val="tx2"/>
          </a:solidFill>
          <a:ln w="9525">
            <a:solidFill>
              <a:schemeClr val="tx2"/>
            </a:solidFill>
            <a:prstDash val="solid"/>
          </a:ln>
        </p:spPr>
      </p:sp>
      <p:sp>
        <p:nvSpPr>
          <p:cNvPr id="20" name="Text 18"/>
          <p:cNvSpPr txBox="1"/>
          <p:nvPr/>
        </p:nvSpPr>
        <p:spPr>
          <a:xfrm>
            <a:off x="777240" y="5486400"/>
            <a:ext cx="10607040" cy="594360"/>
          </a:xfrm>
          <a:prstGeom prst="rect">
            <a:avLst/>
          </a:prstGeom>
          <a:noFill/>
          <a:ln/>
        </p:spPr>
        <p:txBody>
          <a:bodyPr wrap="square" lIns="0" tIns="0" rIns="0" bIns="0" rtlCol="0" anchor="ctr"/>
          <a:lstStyle/>
          <a:p>
            <a:pPr indent="0" marL="0">
              <a:buNone/>
            </a:pPr>
            <a:r>
              <a:rPr lang="en-US" sz="1500" dirty="0">
                <a:solidFill>
                  <a:schemeClr val="bg1"/>
                </a:solidFill>
              </a:rPr>
              <a:t>"False teachers wander; we are kept."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fruit test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Who is Jude's portrait meant to examine? (v.12)</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The men Jude describes are unsaved — Jude says so: "devoid of the Spirit" (v.19).</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Lordship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Fruitless trees are a general test of genuine salvation</a:t>
            </a:r>
            <a:endParaRPr lang="en-US" sz="1400" dirty="0"/>
          </a:p>
          <a:p>
            <a:pPr marL="342900" indent="-342900">
              <a:spcAft>
                <a:spcPts val="600"/>
              </a:spcAft>
              <a:buSzPct val="100000"/>
              <a:buChar char="•"/>
            </a:pPr>
            <a:r>
              <a:rPr lang="en-US" sz="1300" dirty="0">
                <a:solidFill>
                  <a:schemeClr val="tx1"/>
                </a:solidFill>
              </a:rPr>
              <a:t>"You will know them by their fruits" (Matt 7:16) — the absence of fruit proves the absence of life (MacArthur, The Gospel According to Jesus)</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In Matt 7:15–20 and Jude the test is applied to false teachers — including their teaching and its effects (Hodges; Wilkin)</a:t>
            </a:r>
            <a:endParaRPr lang="en-US" sz="1400" dirty="0"/>
          </a:p>
          <a:p>
            <a:pPr marL="342900" indent="-342900">
              <a:spcAft>
                <a:spcPts val="600"/>
              </a:spcAft>
              <a:buSzPct val="100000"/>
              <a:buChar char="•"/>
            </a:pPr>
            <a:r>
              <a:rPr lang="en-US" sz="1300" dirty="0">
                <a:solidFill>
                  <a:schemeClr val="tx1"/>
                </a:solidFill>
              </a:rPr>
              <a:t>Jude never tells readers to inspect their own fruit; he tells them they are kept (v.1)</a:t>
            </a:r>
            <a:endParaRPr lang="en-US" sz="1400" dirty="0"/>
          </a:p>
          <a:p>
            <a:pPr marL="342900" indent="-342900">
              <a:spcAft>
                <a:spcPts val="600"/>
              </a:spcAft>
              <a:buSzPct val="100000"/>
              <a:buChar char="•"/>
            </a:pPr>
            <a:r>
              <a:rPr lang="en-US" sz="1300" dirty="0">
                <a:solidFill>
                  <a:schemeClr val="tx1"/>
                </a:solidFill>
              </a:rPr>
              <a:t>Believers can be carnal for a time (1 Cor 3:1–3; John 15:2; 2 Pet 1:8–9) — the remedy is abiding, confession, and growth</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Use Jude's portraits to recognize false teachers; rest your own assurance on God's promise.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Enoch's prophecy</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vv.14–15 · the seventh from Adam</a:t>
            </a:r>
            <a:endParaRPr lang="en-US" sz="1400" dirty="0"/>
          </a:p>
        </p:txBody>
      </p:sp>
      <p:sp>
        <p:nvSpPr>
          <p:cNvPr id="4" name="Shape 2"/>
          <p:cNvSpPr/>
          <p:nvPr/>
        </p:nvSpPr>
        <p:spPr>
          <a:xfrm>
            <a:off x="548640" y="1417320"/>
            <a:ext cx="5440680" cy="50292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Two "sevenths" from Adam</a:t>
            </a:r>
            <a:endParaRPr lang="en-US" sz="1600" dirty="0"/>
          </a:p>
        </p:txBody>
      </p:sp>
      <p:sp>
        <p:nvSpPr>
          <p:cNvPr id="6" name="Shape 4"/>
          <p:cNvSpPr/>
          <p:nvPr/>
        </p:nvSpPr>
        <p:spPr>
          <a:xfrm>
            <a:off x="548640" y="1920240"/>
            <a:ext cx="5440680" cy="1143000"/>
          </a:xfrm>
          <a:prstGeom prst="rect">
            <a:avLst/>
          </a:prstGeom>
          <a:solidFill>
            <a:schemeClr val="bg2"/>
          </a:solidFill>
          <a:ln w="9525">
            <a:solidFill>
              <a:srgbClr val="D5DCEA"/>
            </a:solidFill>
            <a:prstDash val="solid"/>
          </a:ln>
        </p:spPr>
      </p:sp>
      <p:sp>
        <p:nvSpPr>
          <p:cNvPr id="7" name="Text 5"/>
          <p:cNvSpPr txBox="1"/>
          <p:nvPr/>
        </p:nvSpPr>
        <p:spPr>
          <a:xfrm>
            <a:off x="731520" y="1965960"/>
            <a:ext cx="5120640" cy="1051560"/>
          </a:xfrm>
          <a:prstGeom prst="rect">
            <a:avLst/>
          </a:prstGeom>
          <a:noFill/>
          <a:ln/>
        </p:spPr>
        <p:txBody>
          <a:bodyPr wrap="square" lIns="0" tIns="0" rIns="0" bIns="0" rtlCol="0" anchor="ctr"/>
          <a:lstStyle/>
          <a:p>
            <a:pPr indent="0" marL="0">
              <a:buNone/>
            </a:pPr>
            <a:r>
              <a:rPr lang="en-US" sz="1400" b="1" dirty="0">
                <a:solidFill>
                  <a:schemeClr val="tx2"/>
                </a:solidFill>
              </a:rPr>
              <a:t>Line of Seth · 7th: Enoch</a:t>
            </a:r>
            <a:endParaRPr lang="en-US" sz="1400" dirty="0"/>
          </a:p>
          <a:p>
            <a:pPr indent="0" marL="0">
              <a:buNone/>
            </a:pPr>
            <a:r>
              <a:rPr lang="en-US" sz="1300" dirty="0">
                <a:solidFill>
                  <a:schemeClr val="tx1"/>
                </a:solidFill>
              </a:rPr>
              <a:t>"Walked with God; and he was not, for God took him" (Gen 5:24; Heb 11:5)</a:t>
            </a:r>
            <a:endParaRPr lang="en-US" sz="1400" dirty="0"/>
          </a:p>
        </p:txBody>
      </p:sp>
      <p:sp>
        <p:nvSpPr>
          <p:cNvPr id="8" name="Shape 6"/>
          <p:cNvSpPr/>
          <p:nvPr/>
        </p:nvSpPr>
        <p:spPr>
          <a:xfrm>
            <a:off x="548640" y="3063240"/>
            <a:ext cx="5440680" cy="1143000"/>
          </a:xfrm>
          <a:prstGeom prst="rect">
            <a:avLst/>
          </a:prstGeom>
          <a:solidFill>
            <a:srgbClr val="EDEBE7"/>
          </a:solidFill>
          <a:ln w="9525">
            <a:solidFill>
              <a:srgbClr val="D5DCEA"/>
            </a:solidFill>
            <a:prstDash val="solid"/>
          </a:ln>
        </p:spPr>
      </p:sp>
      <p:sp>
        <p:nvSpPr>
          <p:cNvPr id="9" name="Text 7"/>
          <p:cNvSpPr txBox="1"/>
          <p:nvPr/>
        </p:nvSpPr>
        <p:spPr>
          <a:xfrm>
            <a:off x="731520" y="3108960"/>
            <a:ext cx="5120640" cy="1051560"/>
          </a:xfrm>
          <a:prstGeom prst="rect">
            <a:avLst/>
          </a:prstGeom>
          <a:noFill/>
          <a:ln/>
        </p:spPr>
        <p:txBody>
          <a:bodyPr wrap="square" lIns="0" tIns="0" rIns="0" bIns="0" rtlCol="0" anchor="ctr"/>
          <a:lstStyle/>
          <a:p>
            <a:pPr indent="0" marL="0">
              <a:buNone/>
            </a:pPr>
            <a:r>
              <a:rPr lang="en-US" sz="1400" b="1" dirty="0">
                <a:solidFill>
                  <a:schemeClr val="tx2"/>
                </a:solidFill>
              </a:rPr>
              <a:t>Line of Cain · 7th: Lamech</a:t>
            </a:r>
            <a:endParaRPr lang="en-US" sz="1400" dirty="0"/>
          </a:p>
          <a:p>
            <a:pPr indent="0" marL="0">
              <a:buNone/>
            </a:pPr>
            <a:r>
              <a:rPr lang="en-US" sz="1300" dirty="0">
                <a:solidFill>
                  <a:schemeClr val="tx1"/>
                </a:solidFill>
              </a:rPr>
              <a:t>Boasted of violence (Gen 4:19–24)</a:t>
            </a:r>
            <a:endParaRPr lang="en-US" sz="1400" dirty="0"/>
          </a:p>
        </p:txBody>
      </p:sp>
      <p:sp>
        <p:nvSpPr>
          <p:cNvPr id="10" name="Shape 8"/>
          <p:cNvSpPr/>
          <p:nvPr/>
        </p:nvSpPr>
        <p:spPr>
          <a:xfrm>
            <a:off x="6172200" y="1417320"/>
            <a:ext cx="5440680" cy="502920"/>
          </a:xfrm>
          <a:prstGeom prst="rect">
            <a:avLst/>
          </a:prstGeom>
          <a:solidFill>
            <a:schemeClr val="accent4"/>
          </a:solidFill>
          <a:ln w="9525">
            <a:solidFill>
              <a:schemeClr val="accent4"/>
            </a:solidFill>
            <a:prstDash val="solid"/>
          </a:ln>
        </p:spPr>
      </p:sp>
      <p:sp>
        <p:nvSpPr>
          <p:cNvPr id="11" name="Text 9"/>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"Ungodly" four times in v.15</a:t>
            </a:r>
            <a:endParaRPr lang="en-US" sz="1600" dirty="0"/>
          </a:p>
        </p:txBody>
      </p:sp>
      <p:sp>
        <p:nvSpPr>
          <p:cNvPr id="12" name="Shape 10"/>
          <p:cNvSpPr/>
          <p:nvPr/>
        </p:nvSpPr>
        <p:spPr>
          <a:xfrm>
            <a:off x="6172200" y="1920240"/>
            <a:ext cx="5440680" cy="2286000"/>
          </a:xfrm>
          <a:prstGeom prst="rect">
            <a:avLst/>
          </a:prstGeom>
          <a:solidFill>
            <a:schemeClr val="bg2"/>
          </a:solidFill>
          <a:ln w="9525">
            <a:solidFill>
              <a:srgbClr val="D5DCEA"/>
            </a:solidFill>
            <a:prstDash val="solid"/>
          </a:ln>
        </p:spPr>
      </p:sp>
      <p:sp>
        <p:nvSpPr>
          <p:cNvPr id="13" name="Text 11"/>
          <p:cNvSpPr txBox="1"/>
          <p:nvPr/>
        </p:nvSpPr>
        <p:spPr>
          <a:xfrm>
            <a:off x="6355080" y="2011680"/>
            <a:ext cx="5120640" cy="2103120"/>
          </a:xfrm>
          <a:prstGeom prst="rect">
            <a:avLst/>
          </a:prstGeom>
          <a:noFill/>
          <a:ln/>
        </p:spPr>
        <p:txBody>
          <a:bodyPr wrap="square" lIns="0" tIns="0" rIns="0" bIns="0" rtlCol="0" anchor="t"/>
          <a:lstStyle/>
          <a:p>
            <a:pPr indent="0" marL="0">
              <a:buNone/>
            </a:pPr>
            <a:r>
              <a:rPr lang="en-US" sz="1500" b="1" dirty="0">
                <a:solidFill>
                  <a:schemeClr val="accent3"/>
                </a:solidFill>
              </a:rPr>
              <a:t>asebeis · asebeias · ēsebēsan · asebeis</a:t>
            </a:r>
            <a:endParaRPr lang="en-US" sz="1400" dirty="0"/>
          </a:p>
          <a:p>
            <a:pPr indent="0" marL="0">
              <a:buNone/>
            </a:pPr>
            <a:r>
              <a:rPr lang="en-US" sz="600" dirty="0">
                <a:solidFill>
                  <a:schemeClr val="tx1"/>
                </a:solidFill>
              </a:rPr>
              <a:t> </a:t>
            </a:r>
            <a:endParaRPr lang="en-US" sz="1400" dirty="0"/>
          </a:p>
          <a:p>
            <a:pPr indent="0" marL="0">
              <a:buNone/>
            </a:pPr>
            <a:r>
              <a:rPr lang="en-US" sz="1300" i="1" dirty="0">
                <a:solidFill>
                  <a:schemeClr val="tx1"/>
                </a:solidFill>
              </a:rPr>
              <a:t>"to convict all the ungodly of all their ungodly deeds which they have done in an ungodly way, and of all the harsh things which ungodly sinners have spoken against Him"</a:t>
            </a:r>
            <a:endParaRPr lang="en-US" sz="1400" dirty="0"/>
          </a:p>
        </p:txBody>
      </p:sp>
      <p:sp>
        <p:nvSpPr>
          <p:cNvPr id="14" name="Shape 12"/>
          <p:cNvSpPr/>
          <p:nvPr/>
        </p:nvSpPr>
        <p:spPr>
          <a:xfrm>
            <a:off x="548640" y="4389120"/>
            <a:ext cx="11064240" cy="1645920"/>
          </a:xfrm>
          <a:prstGeom prst="roundRect">
            <a:avLst>
              <a:gd name="adj" fmla="val 4444"/>
            </a:avLst>
          </a:prstGeom>
          <a:solidFill>
            <a:schemeClr val="tx2"/>
          </a:solidFill>
          <a:ln w="9525">
            <a:solidFill>
              <a:schemeClr val="tx2"/>
            </a:solidFill>
            <a:prstDash val="solid"/>
          </a:ln>
        </p:spPr>
      </p:sp>
      <p:sp>
        <p:nvSpPr>
          <p:cNvPr id="15" name="Text 13"/>
          <p:cNvSpPr txBox="1"/>
          <p:nvPr/>
        </p:nvSpPr>
        <p:spPr>
          <a:xfrm>
            <a:off x="777240" y="4480560"/>
            <a:ext cx="10607040" cy="15087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chemeClr val="bg1"/>
                </a:solidFill>
              </a:rPr>
              <a:t>"The Lord came" — a prophetic past: the future event is so certain it is described as done</a:t>
            </a:r>
            <a:endParaRPr lang="en-US" sz="1400" dirty="0"/>
          </a:p>
          <a:p>
            <a:pPr marL="342900" indent="-342900">
              <a:spcAft>
                <a:spcPts val="600"/>
              </a:spcAft>
              <a:buSzPct val="100000"/>
              <a:buChar char="•"/>
            </a:pPr>
            <a:r>
              <a:rPr lang="en-US" sz="1300" dirty="0">
                <a:solidFill>
                  <a:schemeClr val="bg1"/>
                </a:solidFill>
              </a:rPr>
              <a:t>"His holy ones" — angels and the saints who return with Christ (Deut 33:2; Zech 14:5; Rev 19:14); in this series' premillennial framework, His return at the end of the Tribulation</a:t>
            </a:r>
            <a:endParaRPr lang="en-US" sz="1400" dirty="0"/>
          </a:p>
          <a:p>
            <a:pPr marL="342900" indent="-342900">
              <a:spcAft>
                <a:spcPts val="600"/>
              </a:spcAft>
              <a:buSzPct val="100000"/>
              <a:buChar char="•"/>
            </a:pPr>
            <a:r>
              <a:rPr lang="en-US" sz="1300" dirty="0">
                <a:solidFill>
                  <a:schemeClr val="bg1"/>
                </a:solidFill>
              </a:rPr>
              <a:t>The words closely match 1 Enoch 1:9. Jude affirms this prophecy is true; that does not make 1 Enoch Scripture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plain portrait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v.16 · each trait echoes something earlier in the letter</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2011680"/>
                <a:gridCol w="3291840"/>
                <a:gridCol w="3200400"/>
              </a:tblGrid>
              <a:tr h="411480">
                <a:tc>
                  <a:txBody>
                    <a:bodyPr/>
                    <a:lstStyle/>
                    <a:p>
                      <a:pPr indent="0" marL="0">
                        <a:buNone/>
                      </a:pPr>
                      <a:r>
                        <a:rPr lang="en-US" sz="1400" b="1" dirty="0">
                          <a:solidFill>
                            <a:schemeClr val="bg1"/>
                          </a:solidFill>
                          <a:latin typeface="Arial" pitchFamily="34" charset="0"/>
                          <a:ea typeface="Arial" pitchFamily="34" charset="-122"/>
                          <a:cs typeface="Arial" pitchFamily="34" charset="-120"/>
                        </a:rPr>
                        <a:t>Trait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Echo in Jude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Grumblers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gongystai</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low, complaining murmur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Israel in the wilderness (v.5; Num 14:27)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Finding fault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mempsimoiroi</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"Blaming one's lot" — never content with God's gifts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same wilderness generation</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Following after their own lusts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Desire as their compass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Licentiousness (v.4); instinct (v.10)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Speak arrogantly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"swelling words"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Arrogant toward God and His authority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Revile majesties (v.8)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Flattering people for advantage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thaumazontes prosōpa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"Admiring faces" — favoritism (cf. James 2:1–9)</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Balaam's profit motive (v.11)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5577840"/>
            <a:ext cx="11064240" cy="658368"/>
          </a:xfrm>
          <a:prstGeom prst="roundRect">
            <a:avLst>
              <a:gd name="adj" fmla="val 11111"/>
            </a:avLst>
          </a:prstGeom>
          <a:solidFill>
            <a:schemeClr val="tx2"/>
          </a:solidFill>
          <a:ln w="9525">
            <a:solidFill>
              <a:schemeClr val="tx2"/>
            </a:solidFill>
            <a:prstDash val="solid"/>
          </a:ln>
        </p:spPr>
      </p:sp>
      <p:sp>
        <p:nvSpPr>
          <p:cNvPr id="6" name="Text 3"/>
          <p:cNvSpPr txBox="1"/>
          <p:nvPr/>
        </p:nvSpPr>
        <p:spPr>
          <a:xfrm>
            <a:off x="777240" y="5577840"/>
            <a:ext cx="10607040" cy="658368"/>
          </a:xfrm>
          <a:prstGeom prst="rect">
            <a:avLst/>
          </a:prstGeom>
          <a:noFill/>
          <a:ln/>
        </p:spPr>
        <p:txBody>
          <a:bodyPr wrap="square" lIns="0" tIns="0" rIns="0" bIns="0" rtlCol="0" anchor="ctr"/>
          <a:lstStyle/>
          <a:p>
            <a:pPr indent="0" marL="0">
              <a:buNone/>
            </a:pPr>
            <a:r>
              <a:rPr lang="en-US" sz="1500" dirty="0">
                <a:solidFill>
                  <a:schemeClr val="bg1"/>
                </a:solidFill>
              </a:rPr>
              <a:t>Real shepherds speak the truth in love to everyone alike (Eph 4:15). False shepherds tell people what they want to hear, and choose their audience by what they can get from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5 of 6 · Jude 17–23</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Believer's Response: Build, Pray, Keep, Rescue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Believers are called to remember the apostles' warnings, to keep themselves in the enjoyment of God's love, and to reach out in discerning mercy.</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"These" and "But you, beloved"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vv.17–21 · two kinds of people</a:t>
            </a:r>
            <a:endParaRPr lang="en-US" sz="1400" dirty="0"/>
          </a:p>
        </p:txBody>
      </p:sp>
      <p:sp>
        <p:nvSpPr>
          <p:cNvPr id="4" name="Shape 2"/>
          <p:cNvSpPr/>
          <p:nvPr/>
        </p:nvSpPr>
        <p:spPr>
          <a:xfrm>
            <a:off x="548640" y="1417320"/>
            <a:ext cx="5440680" cy="502920"/>
          </a:xfrm>
          <a:prstGeom prst="rect">
            <a:avLst/>
          </a:prstGeom>
          <a:solidFill>
            <a:schemeClr val="accent4"/>
          </a:solidFill>
          <a:ln w="9525">
            <a:solidFill>
              <a:schemeClr val="accent4"/>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500" b="1" dirty="0">
                <a:solidFill>
                  <a:schemeClr val="bg1"/>
                </a:solidFill>
              </a:rPr>
              <a:t>"These" · vv.8, 10, 12, 14, 16, 19</a:t>
            </a:r>
            <a:endParaRPr lang="en-US" sz="1500" dirty="0"/>
          </a:p>
        </p:txBody>
      </p:sp>
      <p:sp>
        <p:nvSpPr>
          <p:cNvPr id="6" name="Shape 4"/>
          <p:cNvSpPr/>
          <p:nvPr/>
        </p:nvSpPr>
        <p:spPr>
          <a:xfrm>
            <a:off x="6172200" y="1417320"/>
            <a:ext cx="5440680" cy="502920"/>
          </a:xfrm>
          <a:prstGeom prst="rect">
            <a:avLst/>
          </a:prstGeom>
          <a:solidFill>
            <a:schemeClr val="accent2"/>
          </a:solidFill>
          <a:ln w="9525">
            <a:solidFill>
              <a:schemeClr val="accent2"/>
            </a:solidFill>
            <a:prstDash val="solid"/>
          </a:ln>
        </p:spPr>
      </p:sp>
      <p:sp>
        <p:nvSpPr>
          <p:cNvPr id="7" name="Text 5"/>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500" b="1" dirty="0">
                <a:solidFill>
                  <a:schemeClr val="bg1"/>
                </a:solidFill>
              </a:rPr>
              <a:t>"But you, beloved" · vv.17, 20</a:t>
            </a:r>
            <a:endParaRPr lang="en-US" sz="1500" dirty="0"/>
          </a:p>
        </p:txBody>
      </p:sp>
      <p:sp>
        <p:nvSpPr>
          <p:cNvPr id="8" name="Shape 6"/>
          <p:cNvSpPr/>
          <p:nvPr/>
        </p:nvSpPr>
        <p:spPr>
          <a:xfrm>
            <a:off x="548640" y="1993392"/>
            <a:ext cx="5440680" cy="640080"/>
          </a:xfrm>
          <a:prstGeom prst="rect">
            <a:avLst/>
          </a:prstGeom>
          <a:solidFill>
            <a:schemeClr val="bg2"/>
          </a:solidFill>
          <a:ln w="9525">
            <a:solidFill>
              <a:srgbClr val="D5DCEA"/>
            </a:solidFill>
            <a:prstDash val="solid"/>
          </a:ln>
        </p:spPr>
      </p:sp>
      <p:sp>
        <p:nvSpPr>
          <p:cNvPr id="9" name="Text 7"/>
          <p:cNvSpPr txBox="1"/>
          <p:nvPr/>
        </p:nvSpPr>
        <p:spPr>
          <a:xfrm>
            <a:off x="731520" y="1993392"/>
            <a:ext cx="5120640" cy="640080"/>
          </a:xfrm>
          <a:prstGeom prst="rect">
            <a:avLst/>
          </a:prstGeom>
          <a:noFill/>
          <a:ln/>
        </p:spPr>
        <p:txBody>
          <a:bodyPr wrap="square" lIns="0" tIns="0" rIns="0" bIns="0" rtlCol="0" anchor="ctr"/>
          <a:lstStyle/>
          <a:p>
            <a:pPr indent="0" marL="0">
              <a:buNone/>
            </a:pPr>
            <a:r>
              <a:rPr lang="en-US" sz="1300" dirty="0">
                <a:solidFill>
                  <a:schemeClr val="tx1"/>
                </a:solidFill>
              </a:rPr>
              <a:t>Cause divisions (apodiorizontes) — the spiritual elite</a:t>
            </a:r>
            <a:endParaRPr lang="en-US" sz="1300" dirty="0"/>
          </a:p>
        </p:txBody>
      </p:sp>
      <p:sp>
        <p:nvSpPr>
          <p:cNvPr id="10" name="Shape 8"/>
          <p:cNvSpPr/>
          <p:nvPr/>
        </p:nvSpPr>
        <p:spPr>
          <a:xfrm>
            <a:off x="6172200" y="1993392"/>
            <a:ext cx="5440680" cy="640080"/>
          </a:xfrm>
          <a:prstGeom prst="rect">
            <a:avLst/>
          </a:prstGeom>
          <a:solidFill>
            <a:schemeClr val="accent6"/>
          </a:solidFill>
          <a:ln w="9525">
            <a:solidFill>
              <a:srgbClr val="D5DCEA"/>
            </a:solidFill>
            <a:prstDash val="solid"/>
          </a:ln>
        </p:spPr>
      </p:sp>
      <p:sp>
        <p:nvSpPr>
          <p:cNvPr id="11" name="Text 9"/>
          <p:cNvSpPr txBox="1"/>
          <p:nvPr/>
        </p:nvSpPr>
        <p:spPr>
          <a:xfrm>
            <a:off x="6355080" y="1993392"/>
            <a:ext cx="5120640" cy="640080"/>
          </a:xfrm>
          <a:prstGeom prst="rect">
            <a:avLst/>
          </a:prstGeom>
          <a:noFill/>
          <a:ln/>
        </p:spPr>
        <p:txBody>
          <a:bodyPr wrap="square" lIns="0" tIns="0" rIns="0" bIns="0" rtlCol="0" anchor="ctr"/>
          <a:lstStyle/>
          <a:p>
            <a:pPr indent="0" marL="0">
              <a:buNone/>
            </a:pPr>
            <a:r>
              <a:rPr lang="en-US" sz="1300" dirty="0">
                <a:solidFill>
                  <a:schemeClr val="tx1"/>
                </a:solidFill>
              </a:rPr>
              <a:t>Build yourselves up — together (the "yourselves" is plural)</a:t>
            </a:r>
            <a:endParaRPr lang="en-US" sz="1300" dirty="0"/>
          </a:p>
        </p:txBody>
      </p:sp>
      <p:sp>
        <p:nvSpPr>
          <p:cNvPr id="12" name="Shape 10"/>
          <p:cNvSpPr/>
          <p:nvPr/>
        </p:nvSpPr>
        <p:spPr>
          <a:xfrm>
            <a:off x="548640" y="2706624"/>
            <a:ext cx="5440680" cy="640080"/>
          </a:xfrm>
          <a:prstGeom prst="rect">
            <a:avLst/>
          </a:prstGeom>
          <a:solidFill>
            <a:schemeClr val="bg1"/>
          </a:solidFill>
          <a:ln w="9525">
            <a:solidFill>
              <a:srgbClr val="D5DCEA"/>
            </a:solidFill>
            <a:prstDash val="solid"/>
          </a:ln>
        </p:spPr>
      </p:sp>
      <p:sp>
        <p:nvSpPr>
          <p:cNvPr id="13" name="Text 11"/>
          <p:cNvSpPr txBox="1"/>
          <p:nvPr/>
        </p:nvSpPr>
        <p:spPr>
          <a:xfrm>
            <a:off x="731520" y="2706624"/>
            <a:ext cx="5120640" cy="640080"/>
          </a:xfrm>
          <a:prstGeom prst="rect">
            <a:avLst/>
          </a:prstGeom>
          <a:noFill/>
          <a:ln/>
        </p:spPr>
        <p:txBody>
          <a:bodyPr wrap="square" lIns="0" tIns="0" rIns="0" bIns="0" rtlCol="0" anchor="ctr"/>
          <a:lstStyle/>
          <a:p>
            <a:pPr indent="0" marL="0">
              <a:buNone/>
            </a:pPr>
            <a:r>
              <a:rPr lang="en-US" sz="1300" dirty="0">
                <a:solidFill>
                  <a:schemeClr val="tx1"/>
                </a:solidFill>
              </a:rPr>
              <a:t>Worldly-minded (psychikoi) — merely natural</a:t>
            </a:r>
            <a:endParaRPr lang="en-US" sz="1300" dirty="0"/>
          </a:p>
        </p:txBody>
      </p:sp>
      <p:sp>
        <p:nvSpPr>
          <p:cNvPr id="14" name="Shape 12"/>
          <p:cNvSpPr/>
          <p:nvPr/>
        </p:nvSpPr>
        <p:spPr>
          <a:xfrm>
            <a:off x="6172200" y="2706624"/>
            <a:ext cx="5440680" cy="640080"/>
          </a:xfrm>
          <a:prstGeom prst="rect">
            <a:avLst/>
          </a:prstGeom>
          <a:solidFill>
            <a:schemeClr val="bg1"/>
          </a:solidFill>
          <a:ln w="9525">
            <a:solidFill>
              <a:srgbClr val="D5DCEA"/>
            </a:solidFill>
            <a:prstDash val="solid"/>
          </a:ln>
        </p:spPr>
      </p:sp>
      <p:sp>
        <p:nvSpPr>
          <p:cNvPr id="15" name="Text 13"/>
          <p:cNvSpPr txBox="1"/>
          <p:nvPr/>
        </p:nvSpPr>
        <p:spPr>
          <a:xfrm>
            <a:off x="6355080" y="2706624"/>
            <a:ext cx="5120640" cy="640080"/>
          </a:xfrm>
          <a:prstGeom prst="rect">
            <a:avLst/>
          </a:prstGeom>
          <a:noFill/>
          <a:ln/>
        </p:spPr>
        <p:txBody>
          <a:bodyPr wrap="square" lIns="0" tIns="0" rIns="0" bIns="0" rtlCol="0" anchor="ctr"/>
          <a:lstStyle/>
          <a:p>
            <a:pPr indent="0" marL="0">
              <a:buNone/>
            </a:pPr>
            <a:r>
              <a:rPr lang="en-US" sz="1300" dirty="0">
                <a:solidFill>
                  <a:schemeClr val="tx1"/>
                </a:solidFill>
              </a:rPr>
              <a:t>On your most holy faith — the faith of v.3</a:t>
            </a:r>
            <a:endParaRPr lang="en-US" sz="1300" dirty="0"/>
          </a:p>
        </p:txBody>
      </p:sp>
      <p:sp>
        <p:nvSpPr>
          <p:cNvPr id="16" name="Shape 14"/>
          <p:cNvSpPr/>
          <p:nvPr/>
        </p:nvSpPr>
        <p:spPr>
          <a:xfrm>
            <a:off x="548640" y="3419856"/>
            <a:ext cx="5440680" cy="640080"/>
          </a:xfrm>
          <a:prstGeom prst="rect">
            <a:avLst/>
          </a:prstGeom>
          <a:solidFill>
            <a:schemeClr val="bg2"/>
          </a:solidFill>
          <a:ln w="9525">
            <a:solidFill>
              <a:srgbClr val="D5DCEA"/>
            </a:solidFill>
            <a:prstDash val="solid"/>
          </a:ln>
        </p:spPr>
      </p:sp>
      <p:sp>
        <p:nvSpPr>
          <p:cNvPr id="17" name="Text 15"/>
          <p:cNvSpPr txBox="1"/>
          <p:nvPr/>
        </p:nvSpPr>
        <p:spPr>
          <a:xfrm>
            <a:off x="731520" y="3419856"/>
            <a:ext cx="5120640" cy="640080"/>
          </a:xfrm>
          <a:prstGeom prst="rect">
            <a:avLst/>
          </a:prstGeom>
          <a:noFill/>
          <a:ln/>
        </p:spPr>
        <p:txBody>
          <a:bodyPr wrap="square" lIns="0" tIns="0" rIns="0" bIns="0" rtlCol="0" anchor="ctr"/>
          <a:lstStyle/>
          <a:p>
            <a:pPr indent="0" marL="0">
              <a:buNone/>
            </a:pPr>
            <a:r>
              <a:rPr lang="en-US" sz="1300" dirty="0">
                <a:solidFill>
                  <a:schemeClr val="tx1"/>
                </a:solidFill>
              </a:rPr>
              <a:t>Devoid of the Spirit (pneuma mē echontes)</a:t>
            </a:r>
            <a:endParaRPr lang="en-US" sz="1300" dirty="0"/>
          </a:p>
        </p:txBody>
      </p:sp>
      <p:sp>
        <p:nvSpPr>
          <p:cNvPr id="18" name="Shape 16"/>
          <p:cNvSpPr/>
          <p:nvPr/>
        </p:nvSpPr>
        <p:spPr>
          <a:xfrm>
            <a:off x="6172200" y="3419856"/>
            <a:ext cx="5440680" cy="640080"/>
          </a:xfrm>
          <a:prstGeom prst="rect">
            <a:avLst/>
          </a:prstGeom>
          <a:solidFill>
            <a:schemeClr val="accent6"/>
          </a:solidFill>
          <a:ln w="9525">
            <a:solidFill>
              <a:srgbClr val="D5DCEA"/>
            </a:solidFill>
            <a:prstDash val="solid"/>
          </a:ln>
        </p:spPr>
      </p:sp>
      <p:sp>
        <p:nvSpPr>
          <p:cNvPr id="19" name="Text 17"/>
          <p:cNvSpPr txBox="1"/>
          <p:nvPr/>
        </p:nvSpPr>
        <p:spPr>
          <a:xfrm>
            <a:off x="6355080" y="3419856"/>
            <a:ext cx="5120640" cy="640080"/>
          </a:xfrm>
          <a:prstGeom prst="rect">
            <a:avLst/>
          </a:prstGeom>
          <a:noFill/>
          <a:ln/>
        </p:spPr>
        <p:txBody>
          <a:bodyPr wrap="square" lIns="0" tIns="0" rIns="0" bIns="0" rtlCol="0" anchor="ctr"/>
          <a:lstStyle/>
          <a:p>
            <a:pPr indent="0" marL="0">
              <a:buNone/>
            </a:pPr>
            <a:r>
              <a:rPr lang="en-US" sz="1300" dirty="0">
                <a:solidFill>
                  <a:schemeClr val="tx1"/>
                </a:solidFill>
              </a:rPr>
              <a:t>Praying in the Holy Spirit</a:t>
            </a:r>
            <a:endParaRPr lang="en-US" sz="1300" dirty="0"/>
          </a:p>
        </p:txBody>
      </p:sp>
      <p:sp>
        <p:nvSpPr>
          <p:cNvPr id="20" name="Shape 18"/>
          <p:cNvSpPr/>
          <p:nvPr/>
        </p:nvSpPr>
        <p:spPr>
          <a:xfrm>
            <a:off x="548640" y="4133088"/>
            <a:ext cx="5440680" cy="640080"/>
          </a:xfrm>
          <a:prstGeom prst="rect">
            <a:avLst/>
          </a:prstGeom>
          <a:solidFill>
            <a:schemeClr val="bg1"/>
          </a:solidFill>
          <a:ln w="9525">
            <a:solidFill>
              <a:srgbClr val="D5DCEA"/>
            </a:solidFill>
            <a:prstDash val="solid"/>
          </a:ln>
        </p:spPr>
      </p:sp>
      <p:sp>
        <p:nvSpPr>
          <p:cNvPr id="21" name="Text 19"/>
          <p:cNvSpPr txBox="1"/>
          <p:nvPr/>
        </p:nvSpPr>
        <p:spPr>
          <a:xfrm>
            <a:off x="731520" y="4133088"/>
            <a:ext cx="5120640" cy="640080"/>
          </a:xfrm>
          <a:prstGeom prst="rect">
            <a:avLst/>
          </a:prstGeom>
          <a:noFill/>
          <a:ln/>
        </p:spPr>
        <p:txBody>
          <a:bodyPr wrap="square" lIns="0" tIns="0" rIns="0" bIns="0" rtlCol="0" anchor="ctr"/>
          <a:lstStyle/>
          <a:p>
            <a:pPr indent="0" marL="0">
              <a:buNone/>
            </a:pPr>
            <a:r>
              <a:rPr lang="en-US" sz="1300" dirty="0">
                <a:solidFill>
                  <a:schemeClr val="tx1"/>
                </a:solidFill>
              </a:rPr>
              <a:t>Following after their own ungodly lusts (v.18)</a:t>
            </a:r>
            <a:endParaRPr lang="en-US" sz="1300" dirty="0"/>
          </a:p>
        </p:txBody>
      </p:sp>
      <p:sp>
        <p:nvSpPr>
          <p:cNvPr id="22" name="Shape 20"/>
          <p:cNvSpPr/>
          <p:nvPr/>
        </p:nvSpPr>
        <p:spPr>
          <a:xfrm>
            <a:off x="6172200" y="4133088"/>
            <a:ext cx="5440680" cy="640080"/>
          </a:xfrm>
          <a:prstGeom prst="rect">
            <a:avLst/>
          </a:prstGeom>
          <a:solidFill>
            <a:schemeClr val="bg1"/>
          </a:solidFill>
          <a:ln w="9525">
            <a:solidFill>
              <a:srgbClr val="D5DCEA"/>
            </a:solidFill>
            <a:prstDash val="solid"/>
          </a:ln>
        </p:spPr>
      </p:sp>
      <p:sp>
        <p:nvSpPr>
          <p:cNvPr id="23" name="Text 21"/>
          <p:cNvSpPr txBox="1"/>
          <p:nvPr/>
        </p:nvSpPr>
        <p:spPr>
          <a:xfrm>
            <a:off x="6355080" y="4133088"/>
            <a:ext cx="5120640" cy="640080"/>
          </a:xfrm>
          <a:prstGeom prst="rect">
            <a:avLst/>
          </a:prstGeom>
          <a:noFill/>
          <a:ln/>
        </p:spPr>
        <p:txBody>
          <a:bodyPr wrap="square" lIns="0" tIns="0" rIns="0" bIns="0" rtlCol="0" anchor="ctr"/>
          <a:lstStyle/>
          <a:p>
            <a:pPr indent="0" marL="0">
              <a:buNone/>
            </a:pPr>
            <a:r>
              <a:rPr lang="en-US" sz="1300" dirty="0">
                <a:solidFill>
                  <a:schemeClr val="tx1"/>
                </a:solidFill>
              </a:rPr>
              <a:t>Keep yourselves in the love of God</a:t>
            </a:r>
            <a:endParaRPr lang="en-US" sz="1300" dirty="0"/>
          </a:p>
        </p:txBody>
      </p:sp>
      <p:sp>
        <p:nvSpPr>
          <p:cNvPr id="24" name="Shape 22"/>
          <p:cNvSpPr/>
          <p:nvPr/>
        </p:nvSpPr>
        <p:spPr>
          <a:xfrm>
            <a:off x="548640" y="4846320"/>
            <a:ext cx="5440680" cy="640080"/>
          </a:xfrm>
          <a:prstGeom prst="rect">
            <a:avLst/>
          </a:prstGeom>
          <a:solidFill>
            <a:schemeClr val="bg2"/>
          </a:solidFill>
          <a:ln w="9525">
            <a:solidFill>
              <a:srgbClr val="D5DCEA"/>
            </a:solidFill>
            <a:prstDash val="solid"/>
          </a:ln>
        </p:spPr>
      </p:sp>
      <p:sp>
        <p:nvSpPr>
          <p:cNvPr id="25" name="Text 23"/>
          <p:cNvSpPr txBox="1"/>
          <p:nvPr/>
        </p:nvSpPr>
        <p:spPr>
          <a:xfrm>
            <a:off x="731520" y="4846320"/>
            <a:ext cx="5120640" cy="640080"/>
          </a:xfrm>
          <a:prstGeom prst="rect">
            <a:avLst/>
          </a:prstGeom>
          <a:noFill/>
          <a:ln/>
        </p:spPr>
        <p:txBody>
          <a:bodyPr wrap="square" lIns="0" tIns="0" rIns="0" bIns="0" rtlCol="0" anchor="ctr"/>
          <a:lstStyle/>
          <a:p>
            <a:pPr indent="0" marL="0">
              <a:buNone/>
            </a:pPr>
            <a:r>
              <a:rPr lang="en-US" sz="1300" dirty="0">
                <a:solidFill>
                  <a:schemeClr val="tx1"/>
                </a:solidFill>
              </a:rPr>
              <a:t>Mockers in the last time (v.18)</a:t>
            </a:r>
            <a:endParaRPr lang="en-US" sz="1300" dirty="0"/>
          </a:p>
        </p:txBody>
      </p:sp>
      <p:sp>
        <p:nvSpPr>
          <p:cNvPr id="26" name="Shape 24"/>
          <p:cNvSpPr/>
          <p:nvPr/>
        </p:nvSpPr>
        <p:spPr>
          <a:xfrm>
            <a:off x="6172200" y="4846320"/>
            <a:ext cx="5440680" cy="640080"/>
          </a:xfrm>
          <a:prstGeom prst="rect">
            <a:avLst/>
          </a:prstGeom>
          <a:solidFill>
            <a:schemeClr val="accent6"/>
          </a:solidFill>
          <a:ln w="9525">
            <a:solidFill>
              <a:srgbClr val="D5DCEA"/>
            </a:solidFill>
            <a:prstDash val="solid"/>
          </a:ln>
        </p:spPr>
      </p:sp>
      <p:sp>
        <p:nvSpPr>
          <p:cNvPr id="27" name="Text 25"/>
          <p:cNvSpPr txBox="1"/>
          <p:nvPr/>
        </p:nvSpPr>
        <p:spPr>
          <a:xfrm>
            <a:off x="6355080" y="4846320"/>
            <a:ext cx="5120640" cy="640080"/>
          </a:xfrm>
          <a:prstGeom prst="rect">
            <a:avLst/>
          </a:prstGeom>
          <a:noFill/>
          <a:ln/>
        </p:spPr>
        <p:txBody>
          <a:bodyPr wrap="square" lIns="0" tIns="0" rIns="0" bIns="0" rtlCol="0" anchor="ctr"/>
          <a:lstStyle/>
          <a:p>
            <a:pPr indent="0" marL="0">
              <a:buNone/>
            </a:pPr>
            <a:r>
              <a:rPr lang="en-US" sz="1300" dirty="0">
                <a:solidFill>
                  <a:schemeClr val="tx1"/>
                </a:solidFill>
              </a:rPr>
              <a:t>Waiting anxiously for the mercy of our Lord Jesus Christ</a:t>
            </a:r>
            <a:endParaRPr lang="en-US" sz="1300" dirty="0"/>
          </a:p>
        </p:txBody>
      </p:sp>
      <p:sp>
        <p:nvSpPr>
          <p:cNvPr id="28" name="Shape 26"/>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29" name="Text 27"/>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"Devoid of the Spirit" is the key to the whole letter: the warnings are aimed at people who never possessed eternal life — not at believers who lost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Remember · keep · reach out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Jude's prescription — and his answer to "contend for the faith" (v.3)</a:t>
            </a:r>
            <a:endParaRPr lang="en-US" sz="1400" dirty="0"/>
          </a:p>
        </p:txBody>
      </p:sp>
      <p:sp>
        <p:nvSpPr>
          <p:cNvPr id="4" name="Shape 2"/>
          <p:cNvSpPr/>
          <p:nvPr/>
        </p:nvSpPr>
        <p:spPr>
          <a:xfrm>
            <a:off x="548640" y="1417320"/>
            <a:ext cx="3566160" cy="86868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Remember</a:t>
            </a:r>
            <a:endParaRPr lang="en-US" sz="1400" dirty="0"/>
          </a:p>
          <a:p>
            <a:pPr indent="0" marL="0">
              <a:buNone/>
            </a:pPr>
            <a:r>
              <a:rPr lang="en-US" sz="1300" dirty="0">
                <a:solidFill>
                  <a:schemeClr val="bg1"/>
                </a:solidFill>
              </a:rPr>
              <a:t>vv.17–19</a:t>
            </a:r>
            <a:endParaRPr lang="en-US" sz="1400" dirty="0"/>
          </a:p>
        </p:txBody>
      </p:sp>
      <p:sp>
        <p:nvSpPr>
          <p:cNvPr id="6" name="Shape 4"/>
          <p:cNvSpPr/>
          <p:nvPr/>
        </p:nvSpPr>
        <p:spPr>
          <a:xfrm>
            <a:off x="548640" y="2286000"/>
            <a:ext cx="3566160" cy="2331720"/>
          </a:xfrm>
          <a:prstGeom prst="rect">
            <a:avLst/>
          </a:prstGeom>
          <a:solidFill>
            <a:schemeClr val="bg2"/>
          </a:solidFill>
          <a:ln w="9525">
            <a:solidFill>
              <a:srgbClr val="D5DCEA"/>
            </a:solidFill>
            <a:prstDash val="solid"/>
          </a:ln>
        </p:spPr>
      </p:sp>
      <p:sp>
        <p:nvSpPr>
          <p:cNvPr id="7" name="Text 5"/>
          <p:cNvSpPr txBox="1"/>
          <p:nvPr/>
        </p:nvSpPr>
        <p:spPr>
          <a:xfrm>
            <a:off x="73152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"Remember" — aorist imperative</a:t>
            </a:r>
            <a:endParaRPr lang="en-US" sz="1400" dirty="0"/>
          </a:p>
          <a:p>
            <a:pPr marL="342900" indent="-342900">
              <a:spcAft>
                <a:spcPts val="600"/>
              </a:spcAft>
              <a:buSzPct val="100000"/>
              <a:buChar char="•"/>
            </a:pPr>
            <a:r>
              <a:rPr lang="en-US" sz="1400" dirty="0">
                <a:solidFill>
                  <a:schemeClr val="tx1"/>
                </a:solidFill>
              </a:rPr>
              <a:t>The apostles saw this coming (Acts 20:29; 1 Tim 4:1; 2 Tim 3:1; 2 Pet 3:3)</a:t>
            </a:r>
            <a:endParaRPr lang="en-US" sz="1400" dirty="0"/>
          </a:p>
          <a:p>
            <a:pPr marL="342900" indent="-342900">
              <a:spcAft>
                <a:spcPts val="600"/>
              </a:spcAft>
              <a:buSzPct val="100000"/>
              <a:buChar char="•"/>
            </a:pPr>
            <a:r>
              <a:rPr lang="en-US" sz="1400" dirty="0">
                <a:solidFill>
                  <a:schemeClr val="tx1"/>
                </a:solidFill>
              </a:rPr>
              <a:t>False teachers are a sign the apostles' words are being fulfilled — not that the gospel is failing</a:t>
            </a:r>
            <a:endParaRPr lang="en-US" sz="1400" dirty="0"/>
          </a:p>
        </p:txBody>
      </p:sp>
      <p:sp>
        <p:nvSpPr>
          <p:cNvPr id="8" name="Shape 6"/>
          <p:cNvSpPr/>
          <p:nvPr/>
        </p:nvSpPr>
        <p:spPr>
          <a:xfrm>
            <a:off x="4297680" y="1417320"/>
            <a:ext cx="3566160" cy="868680"/>
          </a:xfrm>
          <a:prstGeom prst="rect">
            <a:avLst/>
          </a:prstGeom>
          <a:solidFill>
            <a:schemeClr val="accent2"/>
          </a:solidFill>
          <a:ln w="9525">
            <a:solidFill>
              <a:schemeClr val="accent2"/>
            </a:solidFill>
            <a:prstDash val="solid"/>
          </a:ln>
        </p:spPr>
      </p:sp>
      <p:sp>
        <p:nvSpPr>
          <p:cNvPr id="9" name="Text 7"/>
          <p:cNvSpPr txBox="1"/>
          <p:nvPr/>
        </p:nvSpPr>
        <p:spPr>
          <a:xfrm>
            <a:off x="448056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Keep yourselves</a:t>
            </a:r>
            <a:endParaRPr lang="en-US" sz="1400" dirty="0"/>
          </a:p>
          <a:p>
            <a:pPr indent="0" marL="0">
              <a:buNone/>
            </a:pPr>
            <a:r>
              <a:rPr lang="en-US" sz="1300" dirty="0">
                <a:solidFill>
                  <a:schemeClr val="bg1"/>
                </a:solidFill>
              </a:rPr>
              <a:t>vv.20–21</a:t>
            </a:r>
            <a:endParaRPr lang="en-US" sz="1400" dirty="0"/>
          </a:p>
        </p:txBody>
      </p:sp>
      <p:sp>
        <p:nvSpPr>
          <p:cNvPr id="10" name="Shape 8"/>
          <p:cNvSpPr/>
          <p:nvPr/>
        </p:nvSpPr>
        <p:spPr>
          <a:xfrm>
            <a:off x="4297680" y="2286000"/>
            <a:ext cx="3566160" cy="2331720"/>
          </a:xfrm>
          <a:prstGeom prst="rect">
            <a:avLst/>
          </a:prstGeom>
          <a:solidFill>
            <a:schemeClr val="bg2"/>
          </a:solidFill>
          <a:ln w="9525">
            <a:solidFill>
              <a:srgbClr val="D5DCEA"/>
            </a:solidFill>
            <a:prstDash val="solid"/>
          </a:ln>
        </p:spPr>
      </p:sp>
      <p:sp>
        <p:nvSpPr>
          <p:cNvPr id="11" name="Text 9"/>
          <p:cNvSpPr txBox="1"/>
          <p:nvPr/>
        </p:nvSpPr>
        <p:spPr>
          <a:xfrm>
            <a:off x="448056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Building on your most holy faith</a:t>
            </a:r>
            <a:endParaRPr lang="en-US" sz="1400" dirty="0"/>
          </a:p>
          <a:p>
            <a:pPr marL="342900" indent="-342900">
              <a:spcAft>
                <a:spcPts val="600"/>
              </a:spcAft>
              <a:buSzPct val="100000"/>
              <a:buChar char="•"/>
            </a:pPr>
            <a:r>
              <a:rPr lang="en-US" sz="1400" dirty="0">
                <a:solidFill>
                  <a:schemeClr val="tx1"/>
                </a:solidFill>
              </a:rPr>
              <a:t>Praying in the Holy Spirit</a:t>
            </a:r>
            <a:endParaRPr lang="en-US" sz="1400" dirty="0"/>
          </a:p>
          <a:p>
            <a:pPr marL="342900" indent="-342900">
              <a:spcAft>
                <a:spcPts val="600"/>
              </a:spcAft>
              <a:buSzPct val="100000"/>
              <a:buChar char="•"/>
            </a:pPr>
            <a:r>
              <a:rPr lang="en-US" sz="1400" dirty="0">
                <a:solidFill>
                  <a:schemeClr val="tx1"/>
                </a:solidFill>
              </a:rPr>
              <a:t>Keeping yourselves in the love of God</a:t>
            </a:r>
            <a:endParaRPr lang="en-US" sz="1400" dirty="0"/>
          </a:p>
          <a:p>
            <a:pPr marL="342900" indent="-342900">
              <a:spcAft>
                <a:spcPts val="600"/>
              </a:spcAft>
              <a:buSzPct val="100000"/>
              <a:buChar char="•"/>
            </a:pPr>
            <a:r>
              <a:rPr lang="en-US" sz="1400" dirty="0">
                <a:solidFill>
                  <a:schemeClr val="tx1"/>
                </a:solidFill>
              </a:rPr>
              <a:t>Waiting for the mercy of our Lord Jesus Christ</a:t>
            </a:r>
            <a:endParaRPr lang="en-US" sz="1400" dirty="0"/>
          </a:p>
        </p:txBody>
      </p:sp>
      <p:sp>
        <p:nvSpPr>
          <p:cNvPr id="12" name="Shape 10"/>
          <p:cNvSpPr/>
          <p:nvPr/>
        </p:nvSpPr>
        <p:spPr>
          <a:xfrm>
            <a:off x="8046720" y="1417320"/>
            <a:ext cx="3566160" cy="868680"/>
          </a:xfrm>
          <a:prstGeom prst="rect">
            <a:avLst/>
          </a:prstGeom>
          <a:solidFill>
            <a:schemeClr val="accent2"/>
          </a:solidFill>
          <a:ln w="9525">
            <a:solidFill>
              <a:schemeClr val="accent2"/>
            </a:solidFill>
            <a:prstDash val="solid"/>
          </a:ln>
        </p:spPr>
      </p:sp>
      <p:sp>
        <p:nvSpPr>
          <p:cNvPr id="13" name="Text 11"/>
          <p:cNvSpPr txBox="1"/>
          <p:nvPr/>
        </p:nvSpPr>
        <p:spPr>
          <a:xfrm>
            <a:off x="822960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Reach out</a:t>
            </a:r>
            <a:endParaRPr lang="en-US" sz="1400" dirty="0"/>
          </a:p>
          <a:p>
            <a:pPr indent="0" marL="0">
              <a:buNone/>
            </a:pPr>
            <a:r>
              <a:rPr lang="en-US" sz="1300" dirty="0">
                <a:solidFill>
                  <a:schemeClr val="bg1"/>
                </a:solidFill>
              </a:rPr>
              <a:t>vv.22–23</a:t>
            </a:r>
            <a:endParaRPr lang="en-US" sz="1400" dirty="0"/>
          </a:p>
        </p:txBody>
      </p:sp>
      <p:sp>
        <p:nvSpPr>
          <p:cNvPr id="14" name="Shape 12"/>
          <p:cNvSpPr/>
          <p:nvPr/>
        </p:nvSpPr>
        <p:spPr>
          <a:xfrm>
            <a:off x="8046720" y="2286000"/>
            <a:ext cx="3566160" cy="2331720"/>
          </a:xfrm>
          <a:prstGeom prst="rect">
            <a:avLst/>
          </a:prstGeom>
          <a:solidFill>
            <a:schemeClr val="bg2"/>
          </a:solidFill>
          <a:ln w="9525">
            <a:solidFill>
              <a:srgbClr val="D5DCEA"/>
            </a:solidFill>
            <a:prstDash val="solid"/>
          </a:ln>
        </p:spPr>
      </p:sp>
      <p:sp>
        <p:nvSpPr>
          <p:cNvPr id="15" name="Text 13"/>
          <p:cNvSpPr txBox="1"/>
          <p:nvPr/>
        </p:nvSpPr>
        <p:spPr>
          <a:xfrm>
            <a:off x="822960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Mercy to the doubting</a:t>
            </a:r>
            <a:endParaRPr lang="en-US" sz="1400" dirty="0"/>
          </a:p>
          <a:p>
            <a:pPr marL="342900" indent="-342900">
              <a:spcAft>
                <a:spcPts val="600"/>
              </a:spcAft>
              <a:buSzPct val="100000"/>
              <a:buChar char="•"/>
            </a:pPr>
            <a:r>
              <a:rPr lang="en-US" sz="1400" dirty="0">
                <a:solidFill>
                  <a:schemeClr val="tx1"/>
                </a:solidFill>
              </a:rPr>
              <a:t>Snatching others from the fire</a:t>
            </a:r>
            <a:endParaRPr lang="en-US" sz="1400" dirty="0"/>
          </a:p>
          <a:p>
            <a:pPr marL="342900" indent="-342900">
              <a:spcAft>
                <a:spcPts val="600"/>
              </a:spcAft>
              <a:buSzPct val="100000"/>
              <a:buChar char="•"/>
            </a:pPr>
            <a:r>
              <a:rPr lang="en-US" sz="1400" dirty="0">
                <a:solidFill>
                  <a:schemeClr val="tx1"/>
                </a:solidFill>
              </a:rPr>
              <a:t>Mercy with fear to the entangled</a:t>
            </a:r>
            <a:endParaRPr lang="en-US" sz="1400" dirty="0"/>
          </a:p>
        </p:txBody>
      </p:sp>
      <p:sp>
        <p:nvSpPr>
          <p:cNvPr id="16" name="Shape 14"/>
          <p:cNvSpPr/>
          <p:nvPr/>
        </p:nvSpPr>
        <p:spPr>
          <a:xfrm>
            <a:off x="548640" y="4800600"/>
            <a:ext cx="11064240" cy="731520"/>
          </a:xfrm>
          <a:prstGeom prst="roundRect">
            <a:avLst>
              <a:gd name="adj" fmla="val 10000"/>
            </a:avLst>
          </a:prstGeom>
          <a:solidFill>
            <a:schemeClr val="tx2"/>
          </a:solidFill>
          <a:ln w="9525">
            <a:solidFill>
              <a:schemeClr val="tx2"/>
            </a:solidFill>
            <a:prstDash val="solid"/>
          </a:ln>
        </p:spPr>
      </p:sp>
      <p:sp>
        <p:nvSpPr>
          <p:cNvPr id="17" name="Text 15"/>
          <p:cNvSpPr txBox="1"/>
          <p:nvPr/>
        </p:nvSpPr>
        <p:spPr>
          <a:xfrm>
            <a:off x="777240" y="4800600"/>
            <a:ext cx="10607040" cy="731520"/>
          </a:xfrm>
          <a:prstGeom prst="rect">
            <a:avLst/>
          </a:prstGeom>
          <a:noFill/>
          <a:ln/>
        </p:spPr>
        <p:txBody>
          <a:bodyPr wrap="square" lIns="0" tIns="0" rIns="0" bIns="0" rtlCol="0" anchor="ctr"/>
          <a:lstStyle/>
          <a:p>
            <a:pPr indent="0" marL="0">
              <a:buNone/>
            </a:pPr>
            <a:r>
              <a:rPr lang="en-US" sz="1500" dirty="0">
                <a:solidFill>
                  <a:schemeClr val="bg1"/>
                </a:solidFill>
              </a:rPr>
              <a:t>Contending is not primarily debating or denouncing. It is remembering, building, praying, keeping, looking for Christ — and rescuing.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One command, three participles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vv.20–21 · with a Trinitarian shape</a:t>
            </a:r>
            <a:endParaRPr lang="en-US" sz="1400" dirty="0"/>
          </a:p>
        </p:txBody>
      </p:sp>
      <p:sp>
        <p:nvSpPr>
          <p:cNvPr id="4" name="Shape 2"/>
          <p:cNvSpPr/>
          <p:nvPr/>
        </p:nvSpPr>
        <p:spPr>
          <a:xfrm>
            <a:off x="3794760" y="2743200"/>
            <a:ext cx="4572000" cy="1325880"/>
          </a:xfrm>
          <a:prstGeom prst="roundRect">
            <a:avLst>
              <a:gd name="adj" fmla="val 5517"/>
            </a:avLst>
          </a:prstGeom>
          <a:solidFill>
            <a:schemeClr val="accent2"/>
          </a:solidFill>
          <a:ln w="9525">
            <a:solidFill>
              <a:schemeClr val="accent2"/>
            </a:solidFill>
            <a:prstDash val="solid"/>
          </a:ln>
        </p:spPr>
      </p:sp>
      <p:sp>
        <p:nvSpPr>
          <p:cNvPr id="5" name="Text 3"/>
          <p:cNvSpPr txBox="1"/>
          <p:nvPr/>
        </p:nvSpPr>
        <p:spPr>
          <a:xfrm>
            <a:off x="3931920" y="2743200"/>
            <a:ext cx="4297680" cy="1325880"/>
          </a:xfrm>
          <a:prstGeom prst="rect">
            <a:avLst/>
          </a:prstGeom>
          <a:noFill/>
          <a:ln/>
        </p:spPr>
        <p:txBody>
          <a:bodyPr wrap="square" lIns="0" tIns="0" rIns="0" bIns="0" rtlCol="0" anchor="ctr"/>
          <a:lstStyle/>
          <a:p>
            <a:pPr algn="ctr" indent="0" marL="0">
              <a:buNone/>
            </a:pPr>
            <a:r>
              <a:rPr lang="en-US" sz="1900" b="1" dirty="0">
                <a:solidFill>
                  <a:schemeClr val="bg1"/>
                </a:solidFill>
              </a:rPr>
              <a:t>Keep yourselves in the love of God</a:t>
            </a:r>
            <a:endParaRPr lang="en-US" sz="1400" dirty="0"/>
          </a:p>
          <a:p>
            <a:pPr algn="ctr" indent="0" marL="0">
              <a:buNone/>
            </a:pPr>
            <a:r>
              <a:rPr lang="en-US" sz="1300" dirty="0">
                <a:solidFill>
                  <a:schemeClr val="bg1"/>
                </a:solidFill>
              </a:rPr>
              <a:t>tērēsate · aor. act. impv. — the main command</a:t>
            </a:r>
            <a:endParaRPr lang="en-US" sz="1400" dirty="0"/>
          </a:p>
        </p:txBody>
      </p:sp>
      <p:sp>
        <p:nvSpPr>
          <p:cNvPr id="6" name="Shape 4"/>
          <p:cNvSpPr/>
          <p:nvPr/>
        </p:nvSpPr>
        <p:spPr>
          <a:xfrm>
            <a:off x="548640" y="1417320"/>
            <a:ext cx="3108960" cy="1600200"/>
          </a:xfrm>
          <a:prstGeom prst="roundRect">
            <a:avLst>
              <a:gd name="adj" fmla="val 4571"/>
            </a:avLst>
          </a:prstGeom>
          <a:solidFill>
            <a:schemeClr val="accent6"/>
          </a:solidFill>
          <a:ln w="9525">
            <a:solidFill>
              <a:srgbClr val="D5DCEA"/>
            </a:solidFill>
            <a:prstDash val="solid"/>
          </a:ln>
        </p:spPr>
      </p:sp>
      <p:sp>
        <p:nvSpPr>
          <p:cNvPr id="7" name="Text 5"/>
          <p:cNvSpPr txBox="1"/>
          <p:nvPr/>
        </p:nvSpPr>
        <p:spPr>
          <a:xfrm>
            <a:off x="685800" y="149047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Building yourselves up</a:t>
            </a:r>
            <a:endParaRPr lang="en-US" sz="1400" dirty="0"/>
          </a:p>
          <a:p>
            <a:pPr indent="0" marL="0">
              <a:buNone/>
            </a:pPr>
            <a:r>
              <a:rPr lang="en-US" sz="1200" b="1" dirty="0">
                <a:solidFill>
                  <a:schemeClr val="accent3"/>
                </a:solidFill>
              </a:rPr>
              <a:t>epoikodomountes</a:t>
            </a:r>
            <a:endParaRPr lang="en-US" sz="1400" dirty="0"/>
          </a:p>
          <a:p>
            <a:pPr indent="0" marL="0">
              <a:buNone/>
            </a:pPr>
            <a:r>
              <a:rPr lang="en-US" sz="1200" dirty="0">
                <a:solidFill>
                  <a:schemeClr val="tx1"/>
                </a:solidFill>
              </a:rPr>
              <a:t>On your most holy faith — the faith of v.3. False teachers erode; believers build, together.</a:t>
            </a:r>
            <a:endParaRPr lang="en-US" sz="1400" dirty="0"/>
          </a:p>
        </p:txBody>
      </p:sp>
      <p:sp>
        <p:nvSpPr>
          <p:cNvPr id="8" name="Shape 6"/>
          <p:cNvSpPr/>
          <p:nvPr/>
        </p:nvSpPr>
        <p:spPr>
          <a:xfrm>
            <a:off x="548640" y="4343400"/>
            <a:ext cx="3108960" cy="1600200"/>
          </a:xfrm>
          <a:prstGeom prst="roundRect">
            <a:avLst>
              <a:gd name="adj" fmla="val 4571"/>
            </a:avLst>
          </a:prstGeom>
          <a:solidFill>
            <a:schemeClr val="accent6"/>
          </a:solidFill>
          <a:ln w="9525">
            <a:solidFill>
              <a:srgbClr val="D5DCEA"/>
            </a:solidFill>
            <a:prstDash val="solid"/>
          </a:ln>
        </p:spPr>
      </p:sp>
      <p:sp>
        <p:nvSpPr>
          <p:cNvPr id="9" name="Text 7"/>
          <p:cNvSpPr txBox="1"/>
          <p:nvPr/>
        </p:nvSpPr>
        <p:spPr>
          <a:xfrm>
            <a:off x="685800" y="441655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Praying in the Holy Spirit</a:t>
            </a:r>
            <a:endParaRPr lang="en-US" sz="1400" dirty="0"/>
          </a:p>
          <a:p>
            <a:pPr indent="0" marL="0">
              <a:buNone/>
            </a:pPr>
            <a:r>
              <a:rPr lang="en-US" sz="1200" dirty="0">
                <a:solidFill>
                  <a:schemeClr val="tx1"/>
                </a:solidFill>
              </a:rPr>
              <a:t>Prompted, guided, empowered by the Spirit every believer has (Rom 8:26–27; Eph 6:18).</a:t>
            </a:r>
            <a:endParaRPr lang="en-US" sz="1400" dirty="0"/>
          </a:p>
          <a:p>
            <a:pPr indent="0" marL="0">
              <a:buNone/>
            </a:pPr>
            <a:r>
              <a:rPr lang="en-US" sz="1200" b="1" dirty="0">
                <a:solidFill>
                  <a:schemeClr val="accent1"/>
                </a:solidFill>
              </a:rPr>
              <a:t>The Spirit</a:t>
            </a:r>
            <a:endParaRPr lang="en-US" sz="1400" dirty="0"/>
          </a:p>
        </p:txBody>
      </p:sp>
      <p:sp>
        <p:nvSpPr>
          <p:cNvPr id="10" name="Shape 8"/>
          <p:cNvSpPr/>
          <p:nvPr/>
        </p:nvSpPr>
        <p:spPr>
          <a:xfrm>
            <a:off x="8503920" y="1417320"/>
            <a:ext cx="3108960" cy="1600200"/>
          </a:xfrm>
          <a:prstGeom prst="roundRect">
            <a:avLst>
              <a:gd name="adj" fmla="val 4571"/>
            </a:avLst>
          </a:prstGeom>
          <a:solidFill>
            <a:schemeClr val="bg2"/>
          </a:solidFill>
          <a:ln w="9525">
            <a:solidFill>
              <a:srgbClr val="D5DCEA"/>
            </a:solidFill>
            <a:prstDash val="solid"/>
          </a:ln>
        </p:spPr>
      </p:sp>
      <p:sp>
        <p:nvSpPr>
          <p:cNvPr id="11" name="Text 9"/>
          <p:cNvSpPr txBox="1"/>
          <p:nvPr/>
        </p:nvSpPr>
        <p:spPr>
          <a:xfrm>
            <a:off x="8641080" y="149047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The love of God</a:t>
            </a:r>
            <a:endParaRPr lang="en-US" sz="1400" dirty="0"/>
          </a:p>
          <a:p>
            <a:pPr indent="0" marL="0">
              <a:buNone/>
            </a:pPr>
            <a:r>
              <a:rPr lang="en-US" sz="1200" dirty="0">
                <a:solidFill>
                  <a:schemeClr val="tx1"/>
                </a:solidFill>
              </a:rPr>
              <a:t>God's love for believers — the love in which they are "beloved" (v.1).</a:t>
            </a:r>
            <a:endParaRPr lang="en-US" sz="1400" dirty="0"/>
          </a:p>
          <a:p>
            <a:pPr indent="0" marL="0">
              <a:buNone/>
            </a:pPr>
            <a:r>
              <a:rPr lang="en-US" sz="1200" b="1" dirty="0">
                <a:solidFill>
                  <a:schemeClr val="accent1"/>
                </a:solidFill>
              </a:rPr>
              <a:t>The Father</a:t>
            </a:r>
            <a:endParaRPr lang="en-US" sz="1400" dirty="0"/>
          </a:p>
        </p:txBody>
      </p:sp>
      <p:sp>
        <p:nvSpPr>
          <p:cNvPr id="12" name="Shape 10"/>
          <p:cNvSpPr/>
          <p:nvPr/>
        </p:nvSpPr>
        <p:spPr>
          <a:xfrm>
            <a:off x="8503920" y="4343400"/>
            <a:ext cx="3108960" cy="1600200"/>
          </a:xfrm>
          <a:prstGeom prst="roundRect">
            <a:avLst>
              <a:gd name="adj" fmla="val 4571"/>
            </a:avLst>
          </a:prstGeom>
          <a:solidFill>
            <a:schemeClr val="accent6"/>
          </a:solidFill>
          <a:ln w="9525">
            <a:solidFill>
              <a:srgbClr val="D5DCEA"/>
            </a:solidFill>
            <a:prstDash val="solid"/>
          </a:ln>
        </p:spPr>
      </p:sp>
      <p:sp>
        <p:nvSpPr>
          <p:cNvPr id="13" name="Text 11"/>
          <p:cNvSpPr txBox="1"/>
          <p:nvPr/>
        </p:nvSpPr>
        <p:spPr>
          <a:xfrm>
            <a:off x="8641080" y="441655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Waiting anxiously for mercy</a:t>
            </a:r>
            <a:endParaRPr lang="en-US" sz="1400" dirty="0"/>
          </a:p>
          <a:p>
            <a:pPr indent="0" marL="0">
              <a:buNone/>
            </a:pPr>
            <a:r>
              <a:rPr lang="en-US" sz="1200" b="1" dirty="0">
                <a:solidFill>
                  <a:schemeClr val="accent3"/>
                </a:solidFill>
              </a:rPr>
              <a:t>prosdechomenoi</a:t>
            </a:r>
            <a:endParaRPr lang="en-US" sz="1400" dirty="0"/>
          </a:p>
          <a:p>
            <a:pPr indent="0" marL="0">
              <a:buNone/>
            </a:pPr>
            <a:r>
              <a:rPr lang="en-US" sz="1200" dirty="0">
                <a:solidFill>
                  <a:schemeClr val="tx1"/>
                </a:solidFill>
              </a:rPr>
              <a:t>Eager expectation of the mercy of our Lord Jesus Christ to eternal life (Titus 2:13).</a:t>
            </a:r>
            <a:endParaRPr lang="en-US" sz="1400" dirty="0"/>
          </a:p>
          <a:p>
            <a:pPr indent="0" marL="0">
              <a:buNone/>
            </a:pPr>
            <a:r>
              <a:rPr lang="en-US" sz="1200" b="1" dirty="0">
                <a:solidFill>
                  <a:schemeClr val="accent1"/>
                </a:solidFill>
              </a:rPr>
              <a:t>The Son</a:t>
            </a:r>
            <a:endParaRPr lang="en-US" sz="1400" dirty="0"/>
          </a:p>
        </p:txBody>
      </p:sp>
      <p:sp>
        <p:nvSpPr>
          <p:cNvPr id="14" name="Shape 12"/>
          <p:cNvSpPr/>
          <p:nvPr/>
        </p:nvSpPr>
        <p:spPr>
          <a:xfrm>
            <a:off x="3657600" y="2194560"/>
            <a:ext cx="137160" cy="640080"/>
          </a:xfrm>
          <a:prstGeom prst="line">
            <a:avLst/>
          </a:prstGeom>
          <a:noFill/>
          <a:ln w="12700">
            <a:solidFill>
              <a:schemeClr val="accent4"/>
            </a:solidFill>
            <a:prstDash val="solid"/>
          </a:ln>
        </p:spPr>
      </p:sp>
      <p:sp>
        <p:nvSpPr>
          <p:cNvPr id="15" name="Shape 13"/>
          <p:cNvSpPr/>
          <p:nvPr/>
        </p:nvSpPr>
        <p:spPr>
          <a:xfrm flipH="1">
            <a:off x="3657600" y="3977640"/>
            <a:ext cx="137160" cy="1143000"/>
          </a:xfrm>
          <a:prstGeom prst="line">
            <a:avLst/>
          </a:prstGeom>
          <a:noFill/>
          <a:ln w="12700">
            <a:solidFill>
              <a:schemeClr val="accent4"/>
            </a:solidFill>
            <a:prstDash val="solid"/>
          </a:ln>
        </p:spPr>
      </p:sp>
      <p:sp>
        <p:nvSpPr>
          <p:cNvPr id="16" name="Shape 14"/>
          <p:cNvSpPr/>
          <p:nvPr/>
        </p:nvSpPr>
        <p:spPr>
          <a:xfrm flipH="1">
            <a:off x="8366760" y="2194560"/>
            <a:ext cx="137160" cy="640080"/>
          </a:xfrm>
          <a:prstGeom prst="line">
            <a:avLst/>
          </a:prstGeom>
          <a:noFill/>
          <a:ln w="12700">
            <a:solidFill>
              <a:schemeClr val="accent4"/>
            </a:solidFill>
            <a:prstDash val="solid"/>
          </a:ln>
        </p:spPr>
      </p:sp>
      <p:sp>
        <p:nvSpPr>
          <p:cNvPr id="17" name="Shape 15"/>
          <p:cNvSpPr/>
          <p:nvPr/>
        </p:nvSpPr>
        <p:spPr>
          <a:xfrm>
            <a:off x="8366760" y="3977640"/>
            <a:ext cx="137160" cy="1143000"/>
          </a:xfrm>
          <a:prstGeom prst="line">
            <a:avLst/>
          </a:prstGeom>
          <a:noFill/>
          <a:ln w="12700">
            <a:solidFill>
              <a:schemeClr val="accent4"/>
            </a:solidFill>
            <a:prstDash val="solid"/>
          </a:ln>
        </p:spPr>
      </p:sp>
      <p:sp>
        <p:nvSpPr>
          <p:cNvPr id="18" name="Text 16"/>
          <p:cNvSpPr txBox="1"/>
          <p:nvPr/>
        </p:nvSpPr>
        <p:spPr>
          <a:xfrm>
            <a:off x="3657600" y="1463040"/>
            <a:ext cx="4846320" cy="1005840"/>
          </a:xfrm>
          <a:prstGeom prst="rect">
            <a:avLst/>
          </a:prstGeom>
          <a:noFill/>
          <a:ln/>
        </p:spPr>
        <p:txBody>
          <a:bodyPr wrap="square" lIns="0" tIns="0" rIns="0" bIns="0" rtlCol="0" anchor="ctr"/>
          <a:lstStyle/>
          <a:p>
            <a:pPr algn="ctr" indent="0" marL="0">
              <a:buNone/>
            </a:pPr>
            <a:r>
              <a:rPr lang="en-US" sz="1300" i="1" dirty="0">
                <a:solidFill>
                  <a:schemeClr val="accent4"/>
                </a:solidFill>
              </a:rPr>
              <a:t>Spirit · Father · Son — "praying in the Holy Spirit… the love of God… the mercy of our Lord Jesus Christ"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"Keep yourselves in the love of God"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Two readings of v.21</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Commands like this are conditions believers must meet to obtain eternal life at the end</a:t>
            </a:r>
            <a:endParaRPr lang="en-US" sz="1400" dirty="0"/>
          </a:p>
          <a:p>
            <a:pPr marL="342900" indent="-342900">
              <a:spcAft>
                <a:spcPts val="600"/>
              </a:spcAft>
              <a:buSzPct val="100000"/>
              <a:buChar char="•"/>
            </a:pPr>
            <a:r>
              <a:rPr lang="en-US" sz="1400" dirty="0">
                <a:solidFill>
                  <a:schemeClr val="tx1"/>
                </a:solidFill>
              </a:rPr>
              <a:t>God ensures the elect will meet them — keeping oneself in God's love is, in part, keeping oneself saved (Schreiner and Caneday, The Race Set Before Us)</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love of God" is God's love for believers (v.1) — they are already in it</a:t>
            </a:r>
            <a:endParaRPr lang="en-US" sz="1400" dirty="0"/>
          </a:p>
          <a:p>
            <a:pPr marL="342900" indent="-342900">
              <a:spcAft>
                <a:spcPts val="600"/>
              </a:spcAft>
              <a:buSzPct val="100000"/>
              <a:buChar char="•"/>
            </a:pPr>
            <a:r>
              <a:rPr lang="en-US" sz="1400" dirty="0">
                <a:solidFill>
                  <a:schemeClr val="tx1"/>
                </a:solidFill>
              </a:rPr>
              <a:t>The command is to remain in the conscious enjoyment of it: "abide in My love" (John 15:9–10)</a:t>
            </a:r>
            <a:endParaRPr lang="en-US" sz="1400" dirty="0"/>
          </a:p>
          <a:p>
            <a:pPr marL="342900" indent="-342900">
              <a:spcAft>
                <a:spcPts val="600"/>
              </a:spcAft>
              <a:buSzPct val="100000"/>
              <a:buChar char="•"/>
            </a:pPr>
            <a:r>
              <a:rPr lang="en-US" sz="1400" dirty="0">
                <a:solidFill>
                  <a:schemeClr val="tx1"/>
                </a:solidFill>
              </a:rPr>
              <a:t>Like a child in a loving home: membership settled by birth, but able to wander from the warmth (Hodges; Dillow)</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Believers do not keep themselves in God's love to stay saved; they keep themselves in it because they are saved and want to live in the joy of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Three kinds of mercy</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vv.22–23 · contending reaches outward</a:t>
            </a:r>
            <a:endParaRPr lang="en-US" sz="1400" dirty="0"/>
          </a:p>
        </p:txBody>
      </p:sp>
      <p:sp>
        <p:nvSpPr>
          <p:cNvPr id="4" name="Shape 2"/>
          <p:cNvSpPr/>
          <p:nvPr/>
        </p:nvSpPr>
        <p:spPr>
          <a:xfrm>
            <a:off x="548640" y="1417320"/>
            <a:ext cx="3566160" cy="1051560"/>
          </a:xfrm>
          <a:prstGeom prst="rect">
            <a:avLst/>
          </a:prstGeom>
          <a:solidFill>
            <a:schemeClr val="accent2"/>
          </a:solidFill>
          <a:ln w="9525">
            <a:solidFill>
              <a:schemeClr val="accent2"/>
            </a:solidFill>
            <a:prstDash val="solid"/>
          </a:ln>
        </p:spPr>
      </p:sp>
      <p:sp>
        <p:nvSpPr>
          <p:cNvPr id="5" name="Text 3"/>
          <p:cNvSpPr txBox="1"/>
          <p:nvPr/>
        </p:nvSpPr>
        <p:spPr>
          <a:xfrm>
            <a:off x="73152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Have mercy on the doubting</a:t>
            </a:r>
            <a:endParaRPr lang="en-US" sz="1400" dirty="0"/>
          </a:p>
          <a:p>
            <a:pPr indent="0" marL="0">
              <a:buNone/>
            </a:pPr>
            <a:r>
              <a:rPr lang="en-US" sz="1300" dirty="0">
                <a:solidFill>
                  <a:schemeClr val="bg1"/>
                </a:solidFill>
              </a:rPr>
              <a:t>diakrinomenous</a:t>
            </a:r>
            <a:endParaRPr lang="en-US" sz="1400" dirty="0"/>
          </a:p>
        </p:txBody>
      </p:sp>
      <p:sp>
        <p:nvSpPr>
          <p:cNvPr id="6" name="Shape 4"/>
          <p:cNvSpPr/>
          <p:nvPr/>
        </p:nvSpPr>
        <p:spPr>
          <a:xfrm>
            <a:off x="548640" y="2468880"/>
            <a:ext cx="3566160" cy="2103120"/>
          </a:xfrm>
          <a:prstGeom prst="rect">
            <a:avLst/>
          </a:prstGeom>
          <a:solidFill>
            <a:schemeClr val="bg2"/>
          </a:solidFill>
          <a:ln w="9525">
            <a:solidFill>
              <a:srgbClr val="D5DCEA"/>
            </a:solidFill>
            <a:prstDash val="solid"/>
          </a:ln>
        </p:spPr>
      </p:sp>
      <p:sp>
        <p:nvSpPr>
          <p:cNvPr id="7" name="Text 5"/>
          <p:cNvSpPr txBox="1"/>
          <p:nvPr/>
        </p:nvSpPr>
        <p:spPr>
          <a:xfrm>
            <a:off x="73152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Wavering, torn between two positions (cf. James 1:6)</a:t>
            </a:r>
            <a:endParaRPr lang="en-US" sz="1400" dirty="0"/>
          </a:p>
          <a:p>
            <a:pPr marL="342900" indent="-342900">
              <a:spcAft>
                <a:spcPts val="600"/>
              </a:spcAft>
              <a:buSzPct val="100000"/>
              <a:buChar char="•"/>
            </a:pPr>
            <a:r>
              <a:rPr lang="en-US" sz="1300" dirty="0">
                <a:solidFill>
                  <a:schemeClr val="tx1"/>
                </a:solidFill>
              </a:rPr>
              <a:t>Not dismissed or shamed — shown patience and help</a:t>
            </a:r>
            <a:endParaRPr lang="en-US" sz="1400" dirty="0"/>
          </a:p>
          <a:p>
            <a:pPr marL="342900" indent="-342900">
              <a:spcAft>
                <a:spcPts val="600"/>
              </a:spcAft>
              <a:buSzPct val="100000"/>
              <a:buChar char="•"/>
            </a:pPr>
            <a:r>
              <a:rPr lang="en-US" sz="1300" dirty="0">
                <a:solidFill>
                  <a:schemeClr val="tx1"/>
                </a:solidFill>
              </a:rPr>
              <a:t>Jude once doubted his own brother (John 7:5)</a:t>
            </a:r>
            <a:endParaRPr lang="en-US" sz="1400" dirty="0"/>
          </a:p>
        </p:txBody>
      </p:sp>
      <p:sp>
        <p:nvSpPr>
          <p:cNvPr id="8" name="Shape 6"/>
          <p:cNvSpPr/>
          <p:nvPr/>
        </p:nvSpPr>
        <p:spPr>
          <a:xfrm>
            <a:off x="4297680" y="1417320"/>
            <a:ext cx="3566160" cy="1051560"/>
          </a:xfrm>
          <a:prstGeom prst="rect">
            <a:avLst/>
          </a:prstGeom>
          <a:solidFill>
            <a:schemeClr val="accent2"/>
          </a:solidFill>
          <a:ln w="9525">
            <a:solidFill>
              <a:schemeClr val="accent2"/>
            </a:solidFill>
            <a:prstDash val="solid"/>
          </a:ln>
        </p:spPr>
      </p:sp>
      <p:sp>
        <p:nvSpPr>
          <p:cNvPr id="9" name="Text 7"/>
          <p:cNvSpPr txBox="1"/>
          <p:nvPr/>
        </p:nvSpPr>
        <p:spPr>
          <a:xfrm>
            <a:off x="448056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Save others, snatching them from the fire</a:t>
            </a:r>
            <a:endParaRPr lang="en-US" sz="1400" dirty="0"/>
          </a:p>
          <a:p>
            <a:pPr indent="0" marL="0">
              <a:buNone/>
            </a:pPr>
            <a:r>
              <a:rPr lang="en-US" sz="1300" dirty="0">
                <a:solidFill>
                  <a:schemeClr val="bg1"/>
                </a:solidFill>
              </a:rPr>
              <a:t>harpazontes</a:t>
            </a:r>
            <a:endParaRPr lang="en-US" sz="1400" dirty="0"/>
          </a:p>
        </p:txBody>
      </p:sp>
      <p:sp>
        <p:nvSpPr>
          <p:cNvPr id="10" name="Shape 8"/>
          <p:cNvSpPr/>
          <p:nvPr/>
        </p:nvSpPr>
        <p:spPr>
          <a:xfrm>
            <a:off x="4297680" y="2468880"/>
            <a:ext cx="3566160" cy="2103120"/>
          </a:xfrm>
          <a:prstGeom prst="rect">
            <a:avLst/>
          </a:prstGeom>
          <a:solidFill>
            <a:schemeClr val="bg2"/>
          </a:solidFill>
          <a:ln w="9525">
            <a:solidFill>
              <a:srgbClr val="D5DCEA"/>
            </a:solidFill>
            <a:prstDash val="solid"/>
          </a:ln>
        </p:spPr>
      </p:sp>
      <p:sp>
        <p:nvSpPr>
          <p:cNvPr id="11" name="Text 9"/>
          <p:cNvSpPr txBox="1"/>
          <p:nvPr/>
        </p:nvSpPr>
        <p:spPr>
          <a:xfrm>
            <a:off x="448056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brand plucked from the fire" (Amos 4:11; Zech 3:2)</a:t>
            </a:r>
            <a:endParaRPr lang="en-US" sz="1400" dirty="0"/>
          </a:p>
          <a:p>
            <a:pPr marL="342900" indent="-342900">
              <a:spcAft>
                <a:spcPts val="600"/>
              </a:spcAft>
              <a:buSzPct val="100000"/>
              <a:buChar char="•"/>
            </a:pPr>
            <a:r>
              <a:rPr lang="en-US" sz="1300" dirty="0">
                <a:solidFill>
                  <a:schemeClr val="tx1"/>
                </a:solidFill>
              </a:rPr>
              <a:t>Unbelievers near "eternal fire" (v.7) — bring them the gospel</a:t>
            </a:r>
            <a:endParaRPr lang="en-US" sz="1400" dirty="0"/>
          </a:p>
          <a:p>
            <a:pPr marL="342900" indent="-342900">
              <a:spcAft>
                <a:spcPts val="600"/>
              </a:spcAft>
              <a:buSzPct val="100000"/>
              <a:buChar char="•"/>
            </a:pPr>
            <a:r>
              <a:rPr lang="en-US" sz="1300" dirty="0">
                <a:solidFill>
                  <a:schemeClr val="tx1"/>
                </a:solidFill>
              </a:rPr>
              <a:t>Or deceived believers headed for sin's ruin (cf. James 5:20)</a:t>
            </a:r>
            <a:endParaRPr lang="en-US" sz="1400" dirty="0"/>
          </a:p>
        </p:txBody>
      </p:sp>
      <p:sp>
        <p:nvSpPr>
          <p:cNvPr id="12" name="Shape 10"/>
          <p:cNvSpPr/>
          <p:nvPr/>
        </p:nvSpPr>
        <p:spPr>
          <a:xfrm>
            <a:off x="8046720" y="1417320"/>
            <a:ext cx="3566160" cy="1051560"/>
          </a:xfrm>
          <a:prstGeom prst="rect">
            <a:avLst/>
          </a:prstGeom>
          <a:solidFill>
            <a:schemeClr val="accent2"/>
          </a:solidFill>
          <a:ln w="9525">
            <a:solidFill>
              <a:schemeClr val="accent2"/>
            </a:solidFill>
            <a:prstDash val="solid"/>
          </a:ln>
        </p:spPr>
      </p:sp>
      <p:sp>
        <p:nvSpPr>
          <p:cNvPr id="13" name="Text 11"/>
          <p:cNvSpPr txBox="1"/>
          <p:nvPr/>
        </p:nvSpPr>
        <p:spPr>
          <a:xfrm>
            <a:off x="822960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Have mercy with fear</a:t>
            </a:r>
            <a:endParaRPr lang="en-US" sz="1400" dirty="0"/>
          </a:p>
          <a:p>
            <a:pPr indent="0" marL="0">
              <a:buNone/>
            </a:pPr>
            <a:r>
              <a:rPr lang="en-US" sz="1300" dirty="0">
                <a:solidFill>
                  <a:schemeClr val="bg1"/>
                </a:solidFill>
              </a:rPr>
              <a:t>espilōmenon</a:t>
            </a:r>
            <a:endParaRPr lang="en-US" sz="1400" dirty="0"/>
          </a:p>
        </p:txBody>
      </p:sp>
      <p:sp>
        <p:nvSpPr>
          <p:cNvPr id="14" name="Shape 12"/>
          <p:cNvSpPr/>
          <p:nvPr/>
        </p:nvSpPr>
        <p:spPr>
          <a:xfrm>
            <a:off x="8046720" y="2468880"/>
            <a:ext cx="3566160" cy="2103120"/>
          </a:xfrm>
          <a:prstGeom prst="rect">
            <a:avLst/>
          </a:prstGeom>
          <a:solidFill>
            <a:schemeClr val="bg2"/>
          </a:solidFill>
          <a:ln w="9525">
            <a:solidFill>
              <a:srgbClr val="D5DCEA"/>
            </a:solidFill>
            <a:prstDash val="solid"/>
          </a:ln>
        </p:spPr>
      </p:sp>
      <p:sp>
        <p:nvSpPr>
          <p:cNvPr id="15" name="Text 13"/>
          <p:cNvSpPr txBox="1"/>
          <p:nvPr/>
        </p:nvSpPr>
        <p:spPr>
          <a:xfrm>
            <a:off x="822960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Those deeply entangled in the intruders' immorality</a:t>
            </a:r>
            <a:endParaRPr lang="en-US" sz="1400" dirty="0"/>
          </a:p>
          <a:p>
            <a:pPr marL="342900" indent="-342900">
              <a:spcAft>
                <a:spcPts val="600"/>
              </a:spcAft>
              <a:buSzPct val="100000"/>
              <a:buChar char="•"/>
            </a:pPr>
            <a:r>
              <a:rPr lang="en-US" sz="1300" dirty="0">
                <a:solidFill>
                  <a:schemeClr val="tx1"/>
                </a:solidFill>
              </a:rPr>
              <a:t>"Hating even the garment polluted by the flesh" (cf. Zech 3:3–4)</a:t>
            </a:r>
            <a:endParaRPr lang="en-US" sz="1400" dirty="0"/>
          </a:p>
          <a:p>
            <a:pPr marL="342900" indent="-342900">
              <a:spcAft>
                <a:spcPts val="600"/>
              </a:spcAft>
              <a:buSzPct val="100000"/>
              <a:buChar char="•"/>
            </a:pPr>
            <a:r>
              <a:rPr lang="en-US" sz="1300" dirty="0">
                <a:solidFill>
                  <a:schemeClr val="tx1"/>
                </a:solidFill>
              </a:rPr>
              <a:t>Love the sinner, refuse the contamination (Gal 6:1)</a:t>
            </a:r>
            <a:endParaRPr lang="en-US" sz="1400" dirty="0"/>
          </a:p>
        </p:txBody>
      </p:sp>
      <p:sp>
        <p:nvSpPr>
          <p:cNvPr id="16" name="Shape 14"/>
          <p:cNvSpPr/>
          <p:nvPr/>
        </p:nvSpPr>
        <p:spPr>
          <a:xfrm>
            <a:off x="548640" y="4754880"/>
            <a:ext cx="11064240" cy="777240"/>
          </a:xfrm>
          <a:prstGeom prst="roundRect">
            <a:avLst>
              <a:gd name="adj" fmla="val 9412"/>
            </a:avLst>
          </a:prstGeom>
          <a:solidFill>
            <a:schemeClr val="tx2"/>
          </a:solidFill>
          <a:ln w="9525">
            <a:solidFill>
              <a:schemeClr val="tx2"/>
            </a:solidFill>
            <a:prstDash val="solid"/>
          </a:ln>
        </p:spPr>
      </p:sp>
      <p:sp>
        <p:nvSpPr>
          <p:cNvPr id="17" name="Text 15"/>
          <p:cNvSpPr txBox="1"/>
          <p:nvPr/>
        </p:nvSpPr>
        <p:spPr>
          <a:xfrm>
            <a:off x="777240" y="4754880"/>
            <a:ext cx="10607040" cy="777240"/>
          </a:xfrm>
          <a:prstGeom prst="rect">
            <a:avLst/>
          </a:prstGeom>
          <a:noFill/>
          <a:ln/>
        </p:spPr>
        <p:txBody>
          <a:bodyPr wrap="square" lIns="0" tIns="0" rIns="0" bIns="0" rtlCol="0" anchor="ctr"/>
          <a:lstStyle/>
          <a:p>
            <a:pPr indent="0" marL="0">
              <a:buNone/>
            </a:pPr>
            <a:r>
              <a:rPr lang="en-US" sz="1500" dirty="0">
                <a:solidFill>
                  <a:schemeClr val="bg1"/>
                </a:solidFill>
              </a:rPr>
              <a:t>Mercy does not mean naïveté: we reach into the mud to rescue someone without wallowing in it ourselves. (Manuscripts differ between two and three groups; the NASB follows three.)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6 of 6 · Jude 24–25</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Doxology of Confidence: He Is Able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The letter that called believers to contend ends by lifting their eyes to God, who is able to guard them and present them blameless with great joy.</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Him who is able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v.24 · what God is able to do</a:t>
            </a:r>
            <a:endParaRPr lang="en-US" sz="1400" dirty="0"/>
          </a:p>
        </p:txBody>
      </p:sp>
      <p:sp>
        <p:nvSpPr>
          <p:cNvPr id="4" name="Shape 2"/>
          <p:cNvSpPr/>
          <p:nvPr/>
        </p:nvSpPr>
        <p:spPr>
          <a:xfrm>
            <a:off x="548640" y="1371600"/>
            <a:ext cx="3749040" cy="585216"/>
          </a:xfrm>
          <a:prstGeom prst="roundRect">
            <a:avLst>
              <a:gd name="adj" fmla="val 12500"/>
            </a:avLst>
          </a:prstGeom>
          <a:solidFill>
            <a:schemeClr val="accent1"/>
          </a:solidFill>
          <a:ln w="9525">
            <a:solidFill>
              <a:schemeClr val="accent1"/>
            </a:solidFill>
            <a:prstDash val="solid"/>
          </a:ln>
        </p:spPr>
      </p:sp>
      <p:sp>
        <p:nvSpPr>
          <p:cNvPr id="5" name="Text 3"/>
          <p:cNvSpPr txBox="1"/>
          <p:nvPr/>
        </p:nvSpPr>
        <p:spPr>
          <a:xfrm>
            <a:off x="685800" y="13716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Him who is able</a:t>
            </a:r>
            <a:endParaRPr lang="en-US" sz="1500" dirty="0"/>
          </a:p>
        </p:txBody>
      </p:sp>
      <p:sp>
        <p:nvSpPr>
          <p:cNvPr id="6" name="Text 4"/>
          <p:cNvSpPr txBox="1"/>
          <p:nvPr/>
        </p:nvSpPr>
        <p:spPr>
          <a:xfrm>
            <a:off x="4526280" y="13716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tō dynamenō</a:t>
            </a:r>
            <a:endParaRPr lang="en-US" sz="1300" dirty="0"/>
          </a:p>
        </p:txBody>
      </p:sp>
      <p:sp>
        <p:nvSpPr>
          <p:cNvPr id="7" name="Text 5"/>
          <p:cNvSpPr txBox="1"/>
          <p:nvPr/>
        </p:nvSpPr>
        <p:spPr>
          <a:xfrm>
            <a:off x="6583680" y="1371600"/>
            <a:ext cx="5029200" cy="585216"/>
          </a:xfrm>
          <a:prstGeom prst="rect">
            <a:avLst/>
          </a:prstGeom>
          <a:noFill/>
          <a:ln/>
        </p:spPr>
        <p:txBody>
          <a:bodyPr wrap="square" lIns="0" tIns="0" rIns="0" bIns="0" rtlCol="0" anchor="ctr"/>
          <a:lstStyle/>
          <a:p>
            <a:pPr indent="0" marL="0">
              <a:buNone/>
            </a:pPr>
            <a:r>
              <a:rPr lang="en-US" sz="1300" dirty="0">
                <a:solidFill>
                  <a:schemeClr val="tx1"/>
                </a:solidFill>
              </a:rPr>
              <a:t>He leads with God's ability (Rom 16:25; Eph 3:20; Heb 7:25; 2 Tim 1:12)</a:t>
            </a:r>
            <a:endParaRPr lang="en-US" sz="1300" dirty="0"/>
          </a:p>
        </p:txBody>
      </p:sp>
      <p:sp>
        <p:nvSpPr>
          <p:cNvPr id="8" name="Shape 6"/>
          <p:cNvSpPr/>
          <p:nvPr/>
        </p:nvSpPr>
        <p:spPr>
          <a:xfrm>
            <a:off x="822960" y="2057400"/>
            <a:ext cx="3749040" cy="585216"/>
          </a:xfrm>
          <a:prstGeom prst="roundRect">
            <a:avLst>
              <a:gd name="adj" fmla="val 12500"/>
            </a:avLst>
          </a:prstGeom>
          <a:solidFill>
            <a:schemeClr val="accent1"/>
          </a:solidFill>
          <a:ln w="9525">
            <a:solidFill>
              <a:schemeClr val="accent1"/>
            </a:solidFill>
            <a:prstDash val="solid"/>
          </a:ln>
        </p:spPr>
      </p:sp>
      <p:sp>
        <p:nvSpPr>
          <p:cNvPr id="9" name="Text 7"/>
          <p:cNvSpPr txBox="1"/>
          <p:nvPr/>
        </p:nvSpPr>
        <p:spPr>
          <a:xfrm>
            <a:off x="960120" y="20574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to keep you from stumbling</a:t>
            </a:r>
            <a:endParaRPr lang="en-US" sz="1500" dirty="0"/>
          </a:p>
        </p:txBody>
      </p:sp>
      <p:sp>
        <p:nvSpPr>
          <p:cNvPr id="10" name="Text 8"/>
          <p:cNvSpPr txBox="1"/>
          <p:nvPr/>
        </p:nvSpPr>
        <p:spPr>
          <a:xfrm>
            <a:off x="4800600" y="20574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phylassō · aptaistous</a:t>
            </a:r>
            <a:endParaRPr lang="en-US" sz="1300" dirty="0"/>
          </a:p>
        </p:txBody>
      </p:sp>
      <p:sp>
        <p:nvSpPr>
          <p:cNvPr id="11" name="Text 9"/>
          <p:cNvSpPr txBox="1"/>
          <p:nvPr/>
        </p:nvSpPr>
        <p:spPr>
          <a:xfrm>
            <a:off x="6858000" y="2057400"/>
            <a:ext cx="4754880" cy="585216"/>
          </a:xfrm>
          <a:prstGeom prst="rect">
            <a:avLst/>
          </a:prstGeom>
          <a:noFill/>
          <a:ln/>
        </p:spPr>
        <p:txBody>
          <a:bodyPr wrap="square" lIns="0" tIns="0" rIns="0" bIns="0" rtlCol="0" anchor="ctr"/>
          <a:lstStyle/>
          <a:p>
            <a:pPr indent="0" marL="0">
              <a:buNone/>
            </a:pPr>
            <a:r>
              <a:rPr lang="en-US" sz="1300" dirty="0">
                <a:solidFill>
                  <a:schemeClr val="tx1"/>
                </a:solidFill>
              </a:rPr>
              <a:t>A sentry's word; "unstumbling" — sure-footed on a rocky path</a:t>
            </a:r>
            <a:endParaRPr lang="en-US" sz="1300" dirty="0"/>
          </a:p>
        </p:txBody>
      </p:sp>
      <p:sp>
        <p:nvSpPr>
          <p:cNvPr id="12" name="Shape 10"/>
          <p:cNvSpPr/>
          <p:nvPr/>
        </p:nvSpPr>
        <p:spPr>
          <a:xfrm>
            <a:off x="1097280" y="2743200"/>
            <a:ext cx="3749040" cy="585216"/>
          </a:xfrm>
          <a:prstGeom prst="roundRect">
            <a:avLst>
              <a:gd name="adj" fmla="val 12500"/>
            </a:avLst>
          </a:prstGeom>
          <a:solidFill>
            <a:schemeClr val="accent1"/>
          </a:solidFill>
          <a:ln w="9525">
            <a:solidFill>
              <a:schemeClr val="accent1"/>
            </a:solidFill>
            <a:prstDash val="solid"/>
          </a:ln>
        </p:spPr>
      </p:sp>
      <p:sp>
        <p:nvSpPr>
          <p:cNvPr id="13" name="Text 11"/>
          <p:cNvSpPr txBox="1"/>
          <p:nvPr/>
        </p:nvSpPr>
        <p:spPr>
          <a:xfrm>
            <a:off x="1234440" y="27432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and to make you stand</a:t>
            </a:r>
            <a:endParaRPr lang="en-US" sz="1500" dirty="0"/>
          </a:p>
        </p:txBody>
      </p:sp>
      <p:sp>
        <p:nvSpPr>
          <p:cNvPr id="14" name="Text 12"/>
          <p:cNvSpPr txBox="1"/>
          <p:nvPr/>
        </p:nvSpPr>
        <p:spPr>
          <a:xfrm>
            <a:off x="5074920" y="27432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stēsai</a:t>
            </a:r>
            <a:endParaRPr lang="en-US" sz="1300" dirty="0"/>
          </a:p>
        </p:txBody>
      </p:sp>
      <p:sp>
        <p:nvSpPr>
          <p:cNvPr id="15" name="Text 13"/>
          <p:cNvSpPr txBox="1"/>
          <p:nvPr/>
        </p:nvSpPr>
        <p:spPr>
          <a:xfrm>
            <a:off x="7132320" y="2743200"/>
            <a:ext cx="4480560" cy="585216"/>
          </a:xfrm>
          <a:prstGeom prst="rect">
            <a:avLst/>
          </a:prstGeom>
          <a:noFill/>
          <a:ln/>
        </p:spPr>
        <p:txBody>
          <a:bodyPr wrap="square" lIns="0" tIns="0" rIns="0" bIns="0" rtlCol="0" anchor="ctr"/>
          <a:lstStyle/>
          <a:p>
            <a:pPr indent="0" marL="0">
              <a:buNone/>
            </a:pPr>
            <a:r>
              <a:rPr lang="en-US" sz="1300" dirty="0">
                <a:solidFill>
                  <a:schemeClr val="tx1"/>
                </a:solidFill>
              </a:rPr>
              <a:t>Not admitted by a side door — set in place</a:t>
            </a:r>
            <a:endParaRPr lang="en-US" sz="1300" dirty="0"/>
          </a:p>
        </p:txBody>
      </p:sp>
      <p:sp>
        <p:nvSpPr>
          <p:cNvPr id="16" name="Shape 14"/>
          <p:cNvSpPr/>
          <p:nvPr/>
        </p:nvSpPr>
        <p:spPr>
          <a:xfrm>
            <a:off x="1371600" y="3429000"/>
            <a:ext cx="3749040" cy="585216"/>
          </a:xfrm>
          <a:prstGeom prst="roundRect">
            <a:avLst>
              <a:gd name="adj" fmla="val 12500"/>
            </a:avLst>
          </a:prstGeom>
          <a:solidFill>
            <a:schemeClr val="accent1"/>
          </a:solidFill>
          <a:ln w="9525">
            <a:solidFill>
              <a:schemeClr val="accent1"/>
            </a:solidFill>
            <a:prstDash val="solid"/>
          </a:ln>
        </p:spPr>
      </p:sp>
      <p:sp>
        <p:nvSpPr>
          <p:cNvPr id="17" name="Text 15"/>
          <p:cNvSpPr txBox="1"/>
          <p:nvPr/>
        </p:nvSpPr>
        <p:spPr>
          <a:xfrm>
            <a:off x="1508760" y="34290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in the presence of His glory</a:t>
            </a:r>
            <a:endParaRPr lang="en-US" sz="1500" dirty="0"/>
          </a:p>
        </p:txBody>
      </p:sp>
      <p:sp>
        <p:nvSpPr>
          <p:cNvPr id="18" name="Text 16"/>
          <p:cNvSpPr txBox="1"/>
          <p:nvPr/>
        </p:nvSpPr>
        <p:spPr>
          <a:xfrm>
            <a:off x="5349240" y="34290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katenōpion</a:t>
            </a:r>
            <a:endParaRPr lang="en-US" sz="1300" dirty="0"/>
          </a:p>
        </p:txBody>
      </p:sp>
      <p:sp>
        <p:nvSpPr>
          <p:cNvPr id="19" name="Text 17"/>
          <p:cNvSpPr txBox="1"/>
          <p:nvPr/>
        </p:nvSpPr>
        <p:spPr>
          <a:xfrm>
            <a:off x="7406640" y="3429000"/>
            <a:ext cx="4206240" cy="585216"/>
          </a:xfrm>
          <a:prstGeom prst="rect">
            <a:avLst/>
          </a:prstGeom>
          <a:noFill/>
          <a:ln/>
        </p:spPr>
        <p:txBody>
          <a:bodyPr wrap="square" lIns="0" tIns="0" rIns="0" bIns="0" rtlCol="0" anchor="ctr"/>
          <a:lstStyle/>
          <a:p>
            <a:pPr indent="0" marL="0">
              <a:buNone/>
            </a:pPr>
            <a:r>
              <a:rPr lang="en-US" sz="1300" dirty="0">
                <a:solidFill>
                  <a:schemeClr val="tx1"/>
                </a:solidFill>
              </a:rPr>
              <a:t>Face to face before the radiant majesty of God (cf. Isa 6:5)</a:t>
            </a:r>
            <a:endParaRPr lang="en-US" sz="1300" dirty="0"/>
          </a:p>
        </p:txBody>
      </p:sp>
      <p:sp>
        <p:nvSpPr>
          <p:cNvPr id="20" name="Shape 18"/>
          <p:cNvSpPr/>
          <p:nvPr/>
        </p:nvSpPr>
        <p:spPr>
          <a:xfrm>
            <a:off x="1645920" y="4114800"/>
            <a:ext cx="3749040" cy="585216"/>
          </a:xfrm>
          <a:prstGeom prst="roundRect">
            <a:avLst>
              <a:gd name="adj" fmla="val 12500"/>
            </a:avLst>
          </a:prstGeom>
          <a:solidFill>
            <a:schemeClr val="accent1"/>
          </a:solidFill>
          <a:ln w="9525">
            <a:solidFill>
              <a:schemeClr val="accent1"/>
            </a:solidFill>
            <a:prstDash val="solid"/>
          </a:ln>
        </p:spPr>
      </p:sp>
      <p:sp>
        <p:nvSpPr>
          <p:cNvPr id="21" name="Text 19"/>
          <p:cNvSpPr txBox="1"/>
          <p:nvPr/>
        </p:nvSpPr>
        <p:spPr>
          <a:xfrm>
            <a:off x="1783080" y="41148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blameless</a:t>
            </a:r>
            <a:endParaRPr lang="en-US" sz="1500" dirty="0"/>
          </a:p>
        </p:txBody>
      </p:sp>
      <p:sp>
        <p:nvSpPr>
          <p:cNvPr id="22" name="Text 20"/>
          <p:cNvSpPr txBox="1"/>
          <p:nvPr/>
        </p:nvSpPr>
        <p:spPr>
          <a:xfrm>
            <a:off x="5623560" y="41148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amōmous</a:t>
            </a:r>
            <a:endParaRPr lang="en-US" sz="1300" dirty="0"/>
          </a:p>
        </p:txBody>
      </p:sp>
      <p:sp>
        <p:nvSpPr>
          <p:cNvPr id="23" name="Text 21"/>
          <p:cNvSpPr txBox="1"/>
          <p:nvPr/>
        </p:nvSpPr>
        <p:spPr>
          <a:xfrm>
            <a:off x="7680960" y="4114800"/>
            <a:ext cx="3931920" cy="585216"/>
          </a:xfrm>
          <a:prstGeom prst="rect">
            <a:avLst/>
          </a:prstGeom>
          <a:noFill/>
          <a:ln/>
        </p:spPr>
        <p:txBody>
          <a:bodyPr wrap="square" lIns="0" tIns="0" rIns="0" bIns="0" rtlCol="0" anchor="ctr"/>
          <a:lstStyle/>
          <a:p>
            <a:pPr indent="0" marL="0">
              <a:buNone/>
            </a:pPr>
            <a:r>
              <a:rPr lang="en-US" sz="1300" dirty="0">
                <a:solidFill>
                  <a:schemeClr val="tx1"/>
                </a:solidFill>
              </a:rPr>
              <a:t>A sacrificial word — without defect (Heb 9:14; 1 Pet 1:19; Col 1:22)</a:t>
            </a:r>
            <a:endParaRPr lang="en-US" sz="1300" dirty="0"/>
          </a:p>
        </p:txBody>
      </p:sp>
      <p:sp>
        <p:nvSpPr>
          <p:cNvPr id="24" name="Shape 22"/>
          <p:cNvSpPr/>
          <p:nvPr/>
        </p:nvSpPr>
        <p:spPr>
          <a:xfrm>
            <a:off x="1920240" y="4800600"/>
            <a:ext cx="3749040" cy="585216"/>
          </a:xfrm>
          <a:prstGeom prst="roundRect">
            <a:avLst>
              <a:gd name="adj" fmla="val 12500"/>
            </a:avLst>
          </a:prstGeom>
          <a:solidFill>
            <a:schemeClr val="accent1"/>
          </a:solidFill>
          <a:ln w="9525">
            <a:solidFill>
              <a:schemeClr val="accent1"/>
            </a:solidFill>
            <a:prstDash val="solid"/>
          </a:ln>
        </p:spPr>
      </p:sp>
      <p:sp>
        <p:nvSpPr>
          <p:cNvPr id="25" name="Text 23"/>
          <p:cNvSpPr txBox="1"/>
          <p:nvPr/>
        </p:nvSpPr>
        <p:spPr>
          <a:xfrm>
            <a:off x="2057400" y="48006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with great joy</a:t>
            </a:r>
            <a:endParaRPr lang="en-US" sz="1500" dirty="0"/>
          </a:p>
        </p:txBody>
      </p:sp>
      <p:sp>
        <p:nvSpPr>
          <p:cNvPr id="26" name="Text 24"/>
          <p:cNvSpPr txBox="1"/>
          <p:nvPr/>
        </p:nvSpPr>
        <p:spPr>
          <a:xfrm>
            <a:off x="5897880" y="48006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en agalliasei</a:t>
            </a:r>
            <a:endParaRPr lang="en-US" sz="1300" dirty="0"/>
          </a:p>
        </p:txBody>
      </p:sp>
      <p:sp>
        <p:nvSpPr>
          <p:cNvPr id="27" name="Text 25"/>
          <p:cNvSpPr txBox="1"/>
          <p:nvPr/>
        </p:nvSpPr>
        <p:spPr>
          <a:xfrm>
            <a:off x="7955280" y="4800600"/>
            <a:ext cx="3657600" cy="585216"/>
          </a:xfrm>
          <a:prstGeom prst="rect">
            <a:avLst/>
          </a:prstGeom>
          <a:noFill/>
          <a:ln/>
        </p:spPr>
        <p:txBody>
          <a:bodyPr wrap="square" lIns="0" tIns="0" rIns="0" bIns="0" rtlCol="0" anchor="ctr"/>
          <a:lstStyle/>
          <a:p>
            <a:pPr indent="0" marL="0">
              <a:buNone/>
            </a:pPr>
            <a:r>
              <a:rPr lang="en-US" sz="1300" dirty="0">
                <a:solidFill>
                  <a:schemeClr val="tx1"/>
                </a:solidFill>
              </a:rPr>
              <a:t>Exultant gladness — ours and His (Heb 12:2; Zeph 3:17)</a:t>
            </a:r>
            <a:endParaRPr lang="en-US" sz="1300" dirty="0"/>
          </a:p>
        </p:txBody>
      </p:sp>
      <p:sp>
        <p:nvSpPr>
          <p:cNvPr id="28" name="Shape 26"/>
          <p:cNvSpPr/>
          <p:nvPr/>
        </p:nvSpPr>
        <p:spPr>
          <a:xfrm>
            <a:off x="548640" y="5623560"/>
            <a:ext cx="11064240" cy="640080"/>
          </a:xfrm>
          <a:prstGeom prst="roundRect">
            <a:avLst>
              <a:gd name="adj" fmla="val 11429"/>
            </a:avLst>
          </a:prstGeom>
          <a:solidFill>
            <a:schemeClr val="tx2"/>
          </a:solidFill>
          <a:ln w="9525">
            <a:solidFill>
              <a:schemeClr val="tx2"/>
            </a:solidFill>
            <a:prstDash val="solid"/>
          </a:ln>
        </p:spPr>
      </p:sp>
      <p:sp>
        <p:nvSpPr>
          <p:cNvPr id="29" name="Text 27"/>
          <p:cNvSpPr txBox="1"/>
          <p:nvPr/>
        </p:nvSpPr>
        <p:spPr>
          <a:xfrm>
            <a:off x="777240" y="5623560"/>
            <a:ext cx="10607040" cy="640080"/>
          </a:xfrm>
          <a:prstGeom prst="rect">
            <a:avLst/>
          </a:prstGeom>
          <a:noFill/>
          <a:ln/>
        </p:spPr>
        <p:txBody>
          <a:bodyPr wrap="square" lIns="0" tIns="0" rIns="0" bIns="0" rtlCol="0" anchor="ctr"/>
          <a:lstStyle/>
          <a:p>
            <a:pPr indent="0" marL="0">
              <a:buNone/>
            </a:pPr>
            <a:r>
              <a:rPr lang="en-US" sz="1500" dirty="0">
                <a:solidFill>
                  <a:schemeClr val="bg1"/>
                </a:solidFill>
              </a:rPr>
              <a:t>After twenty-three verses of warnings, Jude's answer to "Will I be led astray?" is not "Try harder." It is "God is able to guard you."</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Stained or blameless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contrast Jude draws with one word family</a:t>
            </a:r>
            <a:endParaRPr lang="en-US" sz="1400" dirty="0"/>
          </a:p>
        </p:txBody>
      </p:sp>
      <p:sp>
        <p:nvSpPr>
          <p:cNvPr id="4" name="Shape 2"/>
          <p:cNvSpPr/>
          <p:nvPr/>
        </p:nvSpPr>
        <p:spPr>
          <a:xfrm>
            <a:off x="548640" y="1417320"/>
            <a:ext cx="5440680" cy="548640"/>
          </a:xfrm>
          <a:prstGeom prst="rect">
            <a:avLst/>
          </a:prstGeom>
          <a:solidFill>
            <a:schemeClr val="accent4"/>
          </a:solidFill>
          <a:ln w="9525">
            <a:solidFill>
              <a:schemeClr val="accent4"/>
            </a:solidFill>
            <a:prstDash val="solid"/>
          </a:ln>
        </p:spPr>
      </p:sp>
      <p:sp>
        <p:nvSpPr>
          <p:cNvPr id="5" name="Text 3"/>
          <p:cNvSpPr txBox="1"/>
          <p:nvPr/>
        </p:nvSpPr>
        <p:spPr>
          <a:xfrm>
            <a:off x="731520" y="1417320"/>
            <a:ext cx="5120640" cy="548640"/>
          </a:xfrm>
          <a:prstGeom prst="rect">
            <a:avLst/>
          </a:prstGeom>
          <a:noFill/>
          <a:ln/>
        </p:spPr>
        <p:txBody>
          <a:bodyPr wrap="square" lIns="0" tIns="0" rIns="0" bIns="0" rtlCol="0" anchor="ctr"/>
          <a:lstStyle/>
          <a:p>
            <a:pPr indent="0" marL="0">
              <a:buNone/>
            </a:pPr>
            <a:r>
              <a:rPr lang="en-US" sz="1800" b="1" dirty="0">
                <a:solidFill>
                  <a:schemeClr val="bg1"/>
                </a:solidFill>
              </a:rPr>
              <a:t>The intruders</a:t>
            </a:r>
            <a:endParaRPr lang="en-US" sz="1800" dirty="0"/>
          </a:p>
        </p:txBody>
      </p:sp>
      <p:sp>
        <p:nvSpPr>
          <p:cNvPr id="6" name="Shape 4"/>
          <p:cNvSpPr/>
          <p:nvPr/>
        </p:nvSpPr>
        <p:spPr>
          <a:xfrm>
            <a:off x="548640" y="1965960"/>
            <a:ext cx="5440680" cy="1143000"/>
          </a:xfrm>
          <a:prstGeom prst="rect">
            <a:avLst/>
          </a:prstGeom>
          <a:solidFill>
            <a:schemeClr val="bg2"/>
          </a:solidFill>
          <a:ln w="9525">
            <a:solidFill>
              <a:srgbClr val="D5DCEA"/>
            </a:solidFill>
            <a:prstDash val="solid"/>
          </a:ln>
        </p:spPr>
      </p:sp>
      <p:sp>
        <p:nvSpPr>
          <p:cNvPr id="7" name="Text 5"/>
          <p:cNvSpPr txBox="1"/>
          <p:nvPr/>
        </p:nvSpPr>
        <p:spPr>
          <a:xfrm>
            <a:off x="731520" y="1965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v.12  </a:t>
            </a:r>
            <a:pPr indent="0" marL="0">
              <a:buNone/>
            </a:pPr>
            <a:r>
              <a:rPr lang="en-US" sz="1400" dirty="0">
                <a:solidFill>
                  <a:schemeClr val="tx1"/>
                </a:solidFill>
              </a:rPr>
              <a:t>"hidden reefs" — spilades (or "stains")</a:t>
            </a:r>
            <a:endParaRPr lang="en-US" sz="1400" dirty="0"/>
          </a:p>
        </p:txBody>
      </p:sp>
      <p:sp>
        <p:nvSpPr>
          <p:cNvPr id="8" name="Shape 6"/>
          <p:cNvSpPr/>
          <p:nvPr/>
        </p:nvSpPr>
        <p:spPr>
          <a:xfrm>
            <a:off x="548640" y="3108960"/>
            <a:ext cx="5440680" cy="1143000"/>
          </a:xfrm>
          <a:prstGeom prst="rect">
            <a:avLst/>
          </a:prstGeom>
          <a:solidFill>
            <a:schemeClr val="bg1"/>
          </a:solidFill>
          <a:ln w="9525">
            <a:solidFill>
              <a:srgbClr val="D5DCEA"/>
            </a:solidFill>
            <a:prstDash val="solid"/>
          </a:ln>
        </p:spPr>
      </p:sp>
      <p:sp>
        <p:nvSpPr>
          <p:cNvPr id="9" name="Text 7"/>
          <p:cNvSpPr txBox="1"/>
          <p:nvPr/>
        </p:nvSpPr>
        <p:spPr>
          <a:xfrm>
            <a:off x="731520" y="3108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v.23  </a:t>
            </a:r>
            <a:pPr indent="0" marL="0">
              <a:buNone/>
            </a:pPr>
            <a:r>
              <a:rPr lang="en-US" sz="1400" dirty="0">
                <a:solidFill>
                  <a:schemeClr val="tx1"/>
                </a:solidFill>
              </a:rPr>
              <a:t>"the garment polluted" — espilōmenon, stained and remaining stained</a:t>
            </a:r>
            <a:endParaRPr lang="en-US" sz="1400" dirty="0"/>
          </a:p>
        </p:txBody>
      </p:sp>
      <p:sp>
        <p:nvSpPr>
          <p:cNvPr id="10" name="Shape 8"/>
          <p:cNvSpPr/>
          <p:nvPr/>
        </p:nvSpPr>
        <p:spPr>
          <a:xfrm>
            <a:off x="6172200" y="1417320"/>
            <a:ext cx="5440680" cy="548640"/>
          </a:xfrm>
          <a:prstGeom prst="rect">
            <a:avLst/>
          </a:prstGeom>
          <a:solidFill>
            <a:schemeClr val="accent1"/>
          </a:solidFill>
          <a:ln w="9525">
            <a:solidFill>
              <a:schemeClr val="accent1"/>
            </a:solidFill>
            <a:prstDash val="solid"/>
          </a:ln>
        </p:spPr>
      </p:sp>
      <p:sp>
        <p:nvSpPr>
          <p:cNvPr id="11" name="Text 9"/>
          <p:cNvSpPr txBox="1"/>
          <p:nvPr/>
        </p:nvSpPr>
        <p:spPr>
          <a:xfrm>
            <a:off x="6355080" y="1417320"/>
            <a:ext cx="5120640" cy="548640"/>
          </a:xfrm>
          <a:prstGeom prst="rect">
            <a:avLst/>
          </a:prstGeom>
          <a:noFill/>
          <a:ln/>
        </p:spPr>
        <p:txBody>
          <a:bodyPr wrap="square" lIns="0" tIns="0" rIns="0" bIns="0" rtlCol="0" anchor="ctr"/>
          <a:lstStyle/>
          <a:p>
            <a:pPr indent="0" marL="0">
              <a:buNone/>
            </a:pPr>
            <a:r>
              <a:rPr lang="en-US" sz="1800" b="1" dirty="0">
                <a:solidFill>
                  <a:schemeClr val="bg1"/>
                </a:solidFill>
              </a:rPr>
              <a:t>The believers</a:t>
            </a:r>
            <a:endParaRPr lang="en-US" sz="1800" dirty="0"/>
          </a:p>
        </p:txBody>
      </p:sp>
      <p:sp>
        <p:nvSpPr>
          <p:cNvPr id="12" name="Shape 10"/>
          <p:cNvSpPr/>
          <p:nvPr/>
        </p:nvSpPr>
        <p:spPr>
          <a:xfrm>
            <a:off x="6172200" y="1965960"/>
            <a:ext cx="5440680" cy="1143000"/>
          </a:xfrm>
          <a:prstGeom prst="rect">
            <a:avLst/>
          </a:prstGeom>
          <a:solidFill>
            <a:schemeClr val="bg2"/>
          </a:solidFill>
          <a:ln w="9525">
            <a:solidFill>
              <a:srgbClr val="D5DCEA"/>
            </a:solidFill>
            <a:prstDash val="solid"/>
          </a:ln>
        </p:spPr>
      </p:sp>
      <p:sp>
        <p:nvSpPr>
          <p:cNvPr id="13" name="Text 11"/>
          <p:cNvSpPr txBox="1"/>
          <p:nvPr/>
        </p:nvSpPr>
        <p:spPr>
          <a:xfrm>
            <a:off x="6355080" y="1965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v.24  </a:t>
            </a:r>
            <a:pPr indent="0" marL="0">
              <a:buNone/>
            </a:pPr>
            <a:r>
              <a:rPr lang="en-US" sz="1400" dirty="0">
                <a:solidFill>
                  <a:schemeClr val="tx1"/>
                </a:solidFill>
              </a:rPr>
              <a:t>"blameless" — amōmous, without blemish</a:t>
            </a:r>
            <a:endParaRPr lang="en-US" sz="1400" dirty="0"/>
          </a:p>
        </p:txBody>
      </p:sp>
      <p:sp>
        <p:nvSpPr>
          <p:cNvPr id="14" name="Shape 12"/>
          <p:cNvSpPr/>
          <p:nvPr/>
        </p:nvSpPr>
        <p:spPr>
          <a:xfrm>
            <a:off x="6172200" y="3108960"/>
            <a:ext cx="5440680" cy="1143000"/>
          </a:xfrm>
          <a:prstGeom prst="rect">
            <a:avLst/>
          </a:prstGeom>
          <a:solidFill>
            <a:schemeClr val="bg1"/>
          </a:solidFill>
          <a:ln w="9525">
            <a:solidFill>
              <a:srgbClr val="D5DCEA"/>
            </a:solidFill>
            <a:prstDash val="solid"/>
          </a:ln>
        </p:spPr>
      </p:sp>
      <p:sp>
        <p:nvSpPr>
          <p:cNvPr id="15" name="Text 13"/>
          <p:cNvSpPr txBox="1"/>
          <p:nvPr/>
        </p:nvSpPr>
        <p:spPr>
          <a:xfrm>
            <a:off x="6355080" y="3108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How?  </a:t>
            </a:r>
            <a:pPr indent="0" marL="0">
              <a:buNone/>
            </a:pPr>
            <a:r>
              <a:rPr lang="en-US" sz="1400" dirty="0">
                <a:solidFill>
                  <a:schemeClr val="tx1"/>
                </a:solidFill>
              </a:rPr>
              <a:t>Christ's righteousness, credited the moment one believes (Rom 4:5; 2 Cor 5:21; Col 1:22)</a:t>
            </a:r>
            <a:endParaRPr lang="en-US" sz="1400" dirty="0"/>
          </a:p>
        </p:txBody>
      </p:sp>
      <p:sp>
        <p:nvSpPr>
          <p:cNvPr id="16" name="Shape 14"/>
          <p:cNvSpPr/>
          <p:nvPr/>
        </p:nvSpPr>
        <p:spPr>
          <a:xfrm>
            <a:off x="548640" y="4480560"/>
            <a:ext cx="11064240" cy="1051560"/>
          </a:xfrm>
          <a:prstGeom prst="roundRect">
            <a:avLst>
              <a:gd name="adj" fmla="val 6957"/>
            </a:avLst>
          </a:prstGeom>
          <a:solidFill>
            <a:schemeClr val="tx2"/>
          </a:solidFill>
          <a:ln w="9525">
            <a:solidFill>
              <a:schemeClr val="tx2"/>
            </a:solidFill>
            <a:prstDash val="solid"/>
          </a:ln>
        </p:spPr>
      </p:sp>
      <p:sp>
        <p:nvSpPr>
          <p:cNvPr id="17" name="Text 15"/>
          <p:cNvSpPr txBox="1"/>
          <p:nvPr/>
        </p:nvSpPr>
        <p:spPr>
          <a:xfrm>
            <a:off x="777240" y="4480560"/>
            <a:ext cx="10607040" cy="1051560"/>
          </a:xfrm>
          <a:prstGeom prst="rect">
            <a:avLst/>
          </a:prstGeom>
          <a:noFill/>
          <a:ln/>
        </p:spPr>
        <p:txBody>
          <a:bodyPr wrap="square" lIns="0" tIns="0" rIns="0" bIns="0" rtlCol="0" anchor="ctr"/>
          <a:lstStyle/>
          <a:p>
            <a:pPr indent="0" marL="0">
              <a:buNone/>
            </a:pPr>
            <a:r>
              <a:rPr lang="en-US" sz="1500" dirty="0">
                <a:solidFill>
                  <a:schemeClr val="bg1"/>
                </a:solidFill>
              </a:rPr>
              <a:t>Believers will appear at the Judgment Seat of Christ, where works are evaluated and rewards given or lost (2 Cor 5:10; 1 Cor 3:12–15). That evaluation concerns reward, not acceptance. Every believer will stand blameless in Christ.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What belongs to God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v.25 · four ascriptions answer the intruders' challenge</a:t>
            </a:r>
            <a:endParaRPr lang="en-US" sz="1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1828800"/>
                <a:gridCol w="4023360"/>
                <a:gridCol w="34747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Ascription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the intruders challenged</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Glory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doxa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radiance of His character, the weight of His worth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Majesty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megalōsynē</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Transcendent greatness — "the Majesty on high" (Heb 1:3; 8:1)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Dominion</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kratos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Sovereign might, the power that prevails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They acted as if they could live outside God's rule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Authority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exousia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His rightful claim to rule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They "reject authority" (v.8) and deny "our only Master" (v.4)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bl>
          </a:graphicData>
        </a:graphic>
      </p:graphicFrame>
      <p:sp>
        <p:nvSpPr>
          <p:cNvPr id="5" name="Shape 2"/>
          <p:cNvSpPr/>
          <p:nvPr/>
        </p:nvSpPr>
        <p:spPr>
          <a:xfrm>
            <a:off x="548640" y="4983480"/>
            <a:ext cx="3566160" cy="685800"/>
          </a:xfrm>
          <a:prstGeom prst="roundRect">
            <a:avLst>
              <a:gd name="adj" fmla="val 10667"/>
            </a:avLst>
          </a:prstGeom>
          <a:solidFill>
            <a:schemeClr val="accent1"/>
          </a:solidFill>
          <a:ln w="9525">
            <a:solidFill>
              <a:schemeClr val="accent1"/>
            </a:solidFill>
            <a:prstDash val="solid"/>
          </a:ln>
        </p:spPr>
      </p:sp>
      <p:sp>
        <p:nvSpPr>
          <p:cNvPr id="6" name="Text 3"/>
          <p:cNvSpPr txBox="1"/>
          <p:nvPr/>
        </p:nvSpPr>
        <p:spPr>
          <a:xfrm>
            <a:off x="54864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before all time</a:t>
            </a:r>
            <a:endParaRPr lang="en-US" sz="1800" dirty="0"/>
          </a:p>
        </p:txBody>
      </p:sp>
      <p:sp>
        <p:nvSpPr>
          <p:cNvPr id="7" name="Shape 4"/>
          <p:cNvSpPr/>
          <p:nvPr/>
        </p:nvSpPr>
        <p:spPr>
          <a:xfrm>
            <a:off x="4297680" y="4983480"/>
            <a:ext cx="3566160" cy="685800"/>
          </a:xfrm>
          <a:prstGeom prst="roundRect">
            <a:avLst>
              <a:gd name="adj" fmla="val 10667"/>
            </a:avLst>
          </a:prstGeom>
          <a:solidFill>
            <a:schemeClr val="accent1"/>
          </a:solidFill>
          <a:ln w="9525">
            <a:solidFill>
              <a:schemeClr val="accent1"/>
            </a:solidFill>
            <a:prstDash val="solid"/>
          </a:ln>
        </p:spPr>
      </p:sp>
      <p:sp>
        <p:nvSpPr>
          <p:cNvPr id="8" name="Text 5"/>
          <p:cNvSpPr txBox="1"/>
          <p:nvPr/>
        </p:nvSpPr>
        <p:spPr>
          <a:xfrm>
            <a:off x="429768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now</a:t>
            </a:r>
            <a:endParaRPr lang="en-US" sz="1800" dirty="0"/>
          </a:p>
        </p:txBody>
      </p:sp>
      <p:sp>
        <p:nvSpPr>
          <p:cNvPr id="9" name="Shape 6"/>
          <p:cNvSpPr/>
          <p:nvPr/>
        </p:nvSpPr>
        <p:spPr>
          <a:xfrm>
            <a:off x="8046720" y="4983480"/>
            <a:ext cx="3566160" cy="685800"/>
          </a:xfrm>
          <a:prstGeom prst="roundRect">
            <a:avLst>
              <a:gd name="adj" fmla="val 10667"/>
            </a:avLst>
          </a:prstGeom>
          <a:solidFill>
            <a:schemeClr val="accent1"/>
          </a:solidFill>
          <a:ln w="9525">
            <a:solidFill>
              <a:schemeClr val="accent1"/>
            </a:solidFill>
            <a:prstDash val="solid"/>
          </a:ln>
        </p:spPr>
      </p:sp>
      <p:sp>
        <p:nvSpPr>
          <p:cNvPr id="10" name="Text 7"/>
          <p:cNvSpPr txBox="1"/>
          <p:nvPr/>
        </p:nvSpPr>
        <p:spPr>
          <a:xfrm>
            <a:off x="804672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forever</a:t>
            </a:r>
            <a:endParaRPr lang="en-US" sz="1800" dirty="0"/>
          </a:p>
        </p:txBody>
      </p:sp>
      <p:sp>
        <p:nvSpPr>
          <p:cNvPr id="11" name="Text 8"/>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i="1" dirty="0">
                <a:solidFill>
                  <a:schemeClr val="accent4"/>
                </a:solidFill>
              </a:rPr>
              <a:t>"The false teachers had their moment. God has eternity." — Study 6</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What God's power guarantees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Reformed and Free Grace readings of v.24</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The believer's security is grounded in the power of God, not human strength (Murray; Canons of Dort; Schreiner).</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keeping power infallibly ensures that every true believer perseveres in faith and holiness to the end</a:t>
            </a:r>
            <a:endParaRPr lang="en-US" sz="1400" dirty="0"/>
          </a:p>
          <a:p>
            <a:pPr marL="342900" indent="-342900">
              <a:spcAft>
                <a:spcPts val="600"/>
              </a:spcAft>
              <a:buSzPct val="100000"/>
              <a:buChar char="•"/>
            </a:pPr>
            <a:r>
              <a:rPr lang="en-US" sz="1400" dirty="0">
                <a:solidFill>
                  <a:schemeClr val="tx1"/>
                </a:solidFill>
              </a:rPr>
              <a:t>Perseverance therefore becomes the evidence of genuine faith</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guarantee rests in God's promise and Christ's finished work, not the believer's performance</a:t>
            </a:r>
            <a:endParaRPr lang="en-US" sz="1400" dirty="0"/>
          </a:p>
          <a:p>
            <a:pPr marL="342900" indent="-342900">
              <a:spcAft>
                <a:spcPts val="600"/>
              </a:spcAft>
              <a:buSzPct val="100000"/>
              <a:buChar char="•"/>
            </a:pPr>
            <a:r>
              <a:rPr lang="en-US" sz="1400" dirty="0">
                <a:solidFill>
                  <a:schemeClr val="tx1"/>
                </a:solidFill>
              </a:rPr>
              <a:t>A believer's walk may falter; his eternal life does not (John 10:28–29)</a:t>
            </a:r>
            <a:endParaRPr lang="en-US" sz="1400" dirty="0"/>
          </a:p>
          <a:p>
            <a:pPr marL="342900" indent="-342900">
              <a:spcAft>
                <a:spcPts val="600"/>
              </a:spcAft>
              <a:buSzPct val="100000"/>
              <a:buChar char="•"/>
            </a:pPr>
            <a:r>
              <a:rPr lang="en-US" sz="1400" dirty="0">
                <a:solidFill>
                  <a:schemeClr val="tx1"/>
                </a:solidFill>
              </a:rPr>
              <a:t>(Wilkin, Confident in Christ; Dillow, The Reign of the Servant Kings)</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God's ability to guard us from stumbling is a resource we lean on for our walk; His ability to present us blameless is a certainty we rest on for our destiny.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From "kept" to "able to keep"</a:t>
            </a: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"To those who are the called, beloved in God the Father, and kept for Jesus Christ" — Jude 1</a:t>
            </a:r>
            <a:endParaRPr lang="en-US" sz="2000" dirty="0"/>
          </a:p>
          <a:p>
            <a:pPr algn="l" indent="0" marL="0">
              <a:buNone/>
            </a:pPr>
            <a:r>
              <a:rPr lang="en-US" sz="2000" dirty="0">
                <a:solidFill>
                  <a:schemeClr val="bg2"/>
                </a:solidFill>
              </a:rPr>
              <a:t>"Now to Him who is able to keep you from stumbling" — Jude 24</a:t>
            </a:r>
            <a:endParaRPr lang="en-US" sz="2000" dirty="0"/>
          </a:p>
        </p:txBody>
      </p:sp>
      <p:sp>
        <p:nvSpPr>
          <p:cNvPr id="4" name="Text 2"/>
          <p:cNvSpPr txBox="1"/>
          <p:nvPr/>
        </p:nvSpPr>
        <p:spPr>
          <a:xfrm>
            <a:off x="731520" y="5577840"/>
            <a:ext cx="10698480" cy="457200"/>
          </a:xfrm>
          <a:prstGeom prst="rect">
            <a:avLst/>
          </a:prstGeom>
          <a:noFill/>
          <a:ln/>
        </p:spPr>
        <p:txBody>
          <a:bodyPr wrap="square" lIns="0" tIns="0" rIns="0" bIns="0" rtlCol="0" anchor="t"/>
          <a:lstStyle/>
          <a:p>
            <a:pPr indent="0" marL="0">
              <a:buNone/>
            </a:pPr>
            <a:r>
              <a:rPr lang="en-US" sz="1600" i="1" dirty="0">
                <a:solidFill>
                  <a:schemeClr val="accent5"/>
                </a:solidFill>
              </a:rPr>
              <a:t>Not with our effort, but with His ability; not with our glory, but with His. Amen.</a:t>
            </a:r>
            <a:endParaRPr lang="en-US" sz="1600" dirty="0"/>
          </a:p>
        </p:txBody>
      </p:sp>
    </p:spTree>
  </p:cSld>
  <p:clrMapOvr>
    <a:masterClrMapping/>
  </p:clrMapOvr>
</p:sld>
</file>

<file path=ppt/theme/theme1.xml><?xml version="1.0" encoding="utf-8"?>
<a:theme xmlns:a="http://schemas.openxmlformats.org/drawingml/2006/main" name="Gospel Vault Jude">
  <a:themeElements>
    <a:clrScheme name="Gospel Vault Jude">
      <a:dk1>
        <a:srgbClr val="222222"/>
      </a:dk1>
      <a:lt1>
        <a:srgbClr val="FFFFFF"/>
      </a:lt1>
      <a:dk2>
        <a:srgbClr val="1F3864"/>
      </a:dk2>
      <a:lt2>
        <a:srgbClr val="F2F6FC"/>
      </a:lt2>
      <a:accent1>
        <a:srgbClr val="2E5496"/>
      </a:accent1>
      <a:accent2>
        <a:srgbClr val="375623"/>
      </a:accent2>
      <a:accent3>
        <a:srgbClr val="7030A0"/>
      </a:accent3>
      <a:accent4>
        <a:srgbClr val="6B6A65"/>
      </a:accent4>
      <a:accent5>
        <a:srgbClr val="C9A227"/>
      </a:accent5>
      <a:accent6>
        <a:srgbClr val="F0F4EE"/>
      </a:accent6>
      <a:hlink>
        <a:srgbClr val="2E5496"/>
      </a:hlink>
      <a:folHlink>
        <a:srgbClr val="7030A0"/>
      </a:folHlink>
    </a:clrScheme>
    <a:fontScheme name="Gospel Vault Ju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Jude — Contend for the Faith: Charts from the Six Studies</dc:title>
  <dc:subject>PptxGenJS Presentation</dc:subject>
  <dc:creator>The Gospel Vault</dc:creator>
  <cp:lastModifiedBy>The Gospel Vault</cp:lastModifiedBy>
  <cp:revision>1</cp:revision>
  <dcterms:created xsi:type="dcterms:W3CDTF">2026-10-29T20:25:13Z</dcterms:created>
  <dcterms:modified xsi:type="dcterms:W3CDTF">2026-10-29T20:25:13Z</dcterms:modified>
</cp:coreProperties>
</file>