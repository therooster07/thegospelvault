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notes: The outline has three parts: a word of undiluted praise (1:3–4), a word of undisputed promise (1:5–10) and a word of undefeated prayer (1:11–12). Every chart stays within the commentary posted for this study, including its Study Notes; Greek words come from the study’s Greek Word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notes: Use this map to show the group where this passage sits in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(Opening and Outline): “What are we doing wrong? Our seats are empty.” Here is a church Paul admired — find out what it is and do it. Three words frame the passage: undiluted praise, undisputed promise (God is in control in every situation), and undefeated prayer.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(I.A–B, with ὀφείλω, ὑπεραυξάνω, πλεονάζω, ἕκαστος, καυχάομαι): “Bound” is the word for owing a debt — present tense, a standing obligation, repeated in 2:13. Growth: faith tested exceedingly grows exceedingly — the gym, the oak on the hilltop. Grace: love “of each one of you all” — the Shibe Park nickel: a nickel for everybody is one nickel; a nickel for each one is a fortune. Glory: Paul boasted of them to believers passing through Corinth.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(II.A.1–2 and Study Note, with ἔνδειγμα, καταξιόω): Their endurance is manifest evidence that God’s judgment is righteous. Every believer enters the kingdom — that is a promise; not every believer rules with Christ. Faithful sufferers are counted worthy (kataxioō — declared worthy, not made worthy) to rule, at the Judgment Seat of Christ — not a judgment for sin. The believer receives the reward; God receives the glory. And God is just to repay the persecutors: they are amateurs at troubling you; God is the professional.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(II.B–C and Study Notes, with ἄνεσις, ἀποκάλυψις, ὄλεθρος, αἰώνιος, ἐνδοξάζομαι): Rest — relief: not ceasing to resist, but resting in Jesus for the outcome. “God’s got your back.” Then the Second Coming, not the Rapture: He comes with His mighty angels, not for His saints. Two groups in v.8 (the repeated article): those who don’t know God and those who don’t obey the gospel. Everlasting punishment is as long as everlasting life (Matt 25:46); its essence is separation from His face (Constable). And He will be glorified in His saints — “in, not by.”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(II.C.1 and Study Note): The teacher reads 1:7–10 as the Second Coming: “revealed from heaven,” “with His mighty angels,” “in flaming fire taking vengeance” — all marks of the second phase. At His coming to the earth He defeats the Armageddon armies, judges living Israel (Ezek 20:33–38) and the living Gentiles — the sheep and the goats. (Commentary note: the posted text cites “Matthew 24:31 to 46”; the sheep-and-goats judgment is Matthew 25:31–46.)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(III.A–B, with ἀξιόω): “We also pray always” — to “our God,” theirs and ours. That God would count them worthy of the high calling: witnessing, accepting persecution — worthy in the Spirit’s power, commended at His coming (2 Tim 4:7–8). That the name of the Lord Jesus be glorified in them and they in Him. Glorify doesn’t mean make more glorious; it means make His glory more widely known. Stand firm.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(from the posted Study Questions and Application sections): Q1: Why was the Thessalonians’ faith growing “exceedingly,” and what illustrations does the teacher use? — Leader answer: Their faith was being tested — tested exceedingly, so growing exceedingly. Like exercising muscles at the gym (Heb 5:14) and like the oak on the hilltop made strong by the wind. “Faith that’s not tested is faith that’s not growing.”  Q2: How does the teacher explain being “counted worthy of the kingdom of God” (1:5)? — Leader answer: Every believer will enter the kingdom; not every believer will rule with Christ. Those who accept persecutions for Christ’s sake are counted worthy to rule — determined at the Judgment Seat of Christ, not a judgment for sin. The believer receives the reward; God receives the glory.  Applications: Welcome the Wind — Name one current trial in prayer each day this week and thank God for the faith He is building through it.  Rest — God’s Got Your Back — Memorize 2 Thessalonians 1:7a and pray it whenever pressure comes.  Close by reading the summary line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Thessalonians · Study 2 of 7 · 2 Thessalonians 1:3–12 · The Gospel Vault · NKJV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0876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743200"/>
            <a:ext cx="75895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i="1" dirty="0">
                <a:solidFill>
                  <a:srgbClr val="E6ECF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64008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Thessalonians · Study 2 of 7 · 2 Thessalonians 1:3–12 · The Gospel Vault · NKJV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Thessalonians · Study 2 of 7 · 2 Thessalonians 1:3–12 · Leader charts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087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Paul’s Admiration for the Thessalonians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74320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6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faith growing under testing, a love that reaches each one, endurance worth boasting about — and to such a church God gives an undisputed promise and Paul an undefeated prayer.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Dr. C. Norman Sellers, ThD · SellersBibleInstitute.com · used by permission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study fits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Thessalonians · seven studies · this study highlighted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1954530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1298448"/>
            <a:ext cx="173507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1:1–2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and Background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548890" y="1188720"/>
            <a:ext cx="1954530" cy="137160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58618" y="1298448"/>
            <a:ext cx="173507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105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1:3–12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Paul’s Admiration for the Thessalonians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40580" y="1188720"/>
            <a:ext cx="1954530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0308" y="1298448"/>
            <a:ext cx="173507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2:1–5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Concerning the Coming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732270" y="1188720"/>
            <a:ext cx="1954530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41998" y="1298448"/>
            <a:ext cx="173507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2:6–12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Removal of the Restrainer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761488"/>
            <a:ext cx="1954530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2871216"/>
            <a:ext cx="173507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2:13–17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Day of the Lord and Believers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548890" y="2761488"/>
            <a:ext cx="1954530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58618" y="2871216"/>
            <a:ext cx="173507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3:1–12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While Waiting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640580" y="2761488"/>
            <a:ext cx="1954530" cy="137160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0308" y="2871216"/>
            <a:ext cx="173507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3:13–18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Brother’s Keeper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4224528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" y="4224528"/>
            <a:ext cx="7900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 and peace frame the letter (1:2; 3:16–18):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persecution in chapter 1, prophecy in chapter 2, correction in chapter 3.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Praise, promise, prayer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Thessalonians 1:3–12 · Outline I–III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499360" cy="36576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234440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· Undiluted praise · 3–4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2499360" cy="21488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627632"/>
            <a:ext cx="2316480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 to give thanks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growth — faith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grace — love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glory — boasting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020568" y="2327148"/>
            <a:ext cx="237744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22320" y="1188720"/>
            <a:ext cx="2499360" cy="36576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13760" y="1234440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· Undisputed promise · 5–10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22320" y="1554480"/>
            <a:ext cx="2499360" cy="21488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13760" y="1627632"/>
            <a:ext cx="2316480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proof: judgment of saints and sinners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present: rest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prospect: revelation, revenge, reward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885688" y="2327148"/>
            <a:ext cx="237744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87440" y="1188720"/>
            <a:ext cx="2499360" cy="36576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78880" y="1234440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· Undefeated prayer · 11–12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87440" y="1554480"/>
            <a:ext cx="2499360" cy="21488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78880" y="1627632"/>
            <a:ext cx="2316480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Always, to our God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Counted worthy of the calling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name glorified in you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" y="3886200"/>
            <a:ext cx="7900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promise? God is in control. Every situation you find yourself in, God is in control.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Paul was bound to give thanks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Thessalonians 1:3–4 · I.A–B — A word of undiluted praise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621280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234440"/>
            <a:ext cx="243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growth · 3b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ὑπεραυξάνω</a:t>
            </a:r>
            <a:pPr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grows exceedingly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755648"/>
            <a:ext cx="2621280" cy="194767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828800"/>
            <a:ext cx="243840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exceedingly → growing exceedingly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muscles at the gym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the oak in the wind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61360" y="1188720"/>
            <a:ext cx="2621280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52800" y="1234440"/>
            <a:ext cx="243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grace · 3c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ἕκαστος</a:t>
            </a:r>
            <a:pPr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each one · G1538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61360" y="1755648"/>
            <a:ext cx="2621280" cy="194767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52800" y="1828800"/>
            <a:ext cx="243840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 “of each one of you all”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nickel for each — not for everybody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no one out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65520" y="1188720"/>
            <a:ext cx="2621280" cy="56692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56960" y="1234440"/>
            <a:ext cx="243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glory · 4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καυχάομαι</a:t>
            </a:r>
            <a:pPr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boast · G2744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65520" y="1755648"/>
            <a:ext cx="2621280" cy="194767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56960" y="1828800"/>
            <a:ext cx="243840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 boasted of them at Corinth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patience and faith in persecution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we spreading the word?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" y="3886200"/>
            <a:ext cx="7900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ὀφείλω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are bound” — a debt Paul owed God every time he thought of this church (again in 2:13)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Entering the kingdom — and ruling in it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Thessalonians 1:5–6 · II.A — The proof of the promise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931920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2344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 of saints · v.5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καταξιόω</a:t>
            </a:r>
            <a:pPr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counted worthy · G2661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755648"/>
            <a:ext cx="3931920" cy="194767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828800"/>
            <a:ext cx="374904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believer enters the kingdom (John 5:24)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 sufferers are counted worthy to rule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Judgment Seat of Christ — not for sin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believer gets the reward; God the glory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931920" cy="5669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0" y="12344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 of sinners · v.6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755648"/>
            <a:ext cx="3931920" cy="194767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828800"/>
            <a:ext cx="374904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repays with tribulation those who trouble you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amateurs; God is the professional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Meanwhile, give them the Word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Saul heard Stephen — and the Lord got him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38912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3886200"/>
            <a:ext cx="7900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“If we endure, we shall also reign with Him” (2 Tim 2:12). Entrance is by faith alone; reigning is a reward for faithful endurance.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now — revelation, revenge, reward to come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Thessalonians 1:7–10 · II.B–C — The present and the prospect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777240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11556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v.7a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234440" y="1115568"/>
            <a:ext cx="7452360" cy="56692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44168" y="111556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with us — relief: resting in Jesus for the outcome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806440" y="111556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ἄνεσις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relaxation, relief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755648"/>
            <a:ext cx="777240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75564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v.7b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234440" y="1755648"/>
            <a:ext cx="7452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44168" y="175564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Revealed from heaven with His mighty angels — the Second Coming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806440" y="175564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ἀποκάλυψις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public unveiling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395728"/>
            <a:ext cx="777240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39572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v.8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234440" y="2395728"/>
            <a:ext cx="7452360" cy="56692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44168" y="239572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Vengeance on those who don’t know God and don’t obey the gospel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806440" y="239572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groups, one outcome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035808"/>
            <a:ext cx="777240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303580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v.9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234440" y="3035808"/>
            <a:ext cx="7452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344168" y="303580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Everlasting destruction from the presence of the Lord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806440" y="303580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ὄλεθρος · αἰώνιος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long as everlasting life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3675888"/>
            <a:ext cx="777240" cy="56692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367588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v.10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234440" y="3675888"/>
            <a:ext cx="7452360" cy="56692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344168" y="367588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Glorified in His saints, admired among all who believe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806440" y="367588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ἐνδοξάζομαι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His saints — “in, not by”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for His saints — or with them?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Thessalonians 1:7–10 · Study Note — Rapture or Second Coming?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Rapture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3931920" cy="187452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627632"/>
            <a:ext cx="374904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comes for His saints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Meets them in the air (1 Thess 4:16–17)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judgment on the world mentioned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Second Coming · 1:7–10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554480"/>
            <a:ext cx="3931920" cy="187452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627632"/>
            <a:ext cx="374904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comes with His saints and mighty angels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the earth, in flaming fire, in judgment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end of the Tribulation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389120" y="21259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3657600"/>
            <a:ext cx="7900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Believers on the earth will look at the church returning with Him and see Christ in us. We can’t make His name more glorious — but we can make His glory more well known.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word of undefeated prayer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Thessalonians 1:11–12 · III.A–B — When and what Paul prayed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1899666" cy="2011680"/>
          </a:xfrm>
          <a:prstGeom prst="roundRect">
            <a:avLst>
              <a:gd name="adj" fmla="val 2888"/>
            </a:avLst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05865" y="1298448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05865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0352" y="1773936"/>
            <a:ext cx="1753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30352" y="2157984"/>
            <a:ext cx="17533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our God — theirs and ours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30352" y="2816352"/>
            <a:ext cx="1753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v.11a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361438" y="207568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67178" y="1188720"/>
            <a:ext cx="1899666" cy="2011680"/>
          </a:xfrm>
          <a:prstGeom prst="roundRect">
            <a:avLst>
              <a:gd name="adj" fmla="val 2888"/>
            </a:avLst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15843" y="1298448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15843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640330" y="1773936"/>
            <a:ext cx="1753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Counted worthy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640330" y="2157984"/>
            <a:ext cx="17533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high calling, in the Spirit’s power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640330" y="2816352"/>
            <a:ext cx="1753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ἀξιόω · v.11b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471416" y="207568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77156" y="1188720"/>
            <a:ext cx="1899666" cy="2011680"/>
          </a:xfrm>
          <a:prstGeom prst="roundRect">
            <a:avLst>
              <a:gd name="adj" fmla="val 2888"/>
            </a:avLst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25821" y="1298448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25821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750308" y="1773936"/>
            <a:ext cx="1753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name glorified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750308" y="2157984"/>
            <a:ext cx="17533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you, and you in Him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750308" y="2816352"/>
            <a:ext cx="1753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v.12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581394" y="207568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787134" y="1188720"/>
            <a:ext cx="1899666" cy="2011680"/>
          </a:xfrm>
          <a:prstGeom prst="roundRect">
            <a:avLst>
              <a:gd name="adj" fmla="val 2888"/>
            </a:avLst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535799" y="1298448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35799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860286" y="1773936"/>
            <a:ext cx="1753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firm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860286" y="2157984"/>
            <a:ext cx="17533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Don’t run from affliction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860286" y="2816352"/>
            <a:ext cx="1753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grace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57200" y="342900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1792" y="3429000"/>
            <a:ext cx="7900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was true for the church at Thessalonica is certainly the standard for all of us” — a faithful life that honors His name as we look for His coming.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and apply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Thessalonians 1:3–12 · from the study's posted questions and applications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4023360" cy="38404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111556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499616"/>
            <a:ext cx="4023360" cy="23591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663440" y="1115568"/>
            <a:ext cx="4023360" cy="38404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73168" y="111556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499616"/>
            <a:ext cx="4023360" cy="23591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" y="1636776"/>
            <a:ext cx="347472" cy="347472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1636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1591056"/>
            <a:ext cx="3364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was the Thessalonians’ faith growing “exceedingly,” and what illustrations does the teacher use?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2724912"/>
            <a:ext cx="347472" cy="347472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" y="2679192"/>
            <a:ext cx="3364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the teacher explain being “counted worthy of the kingdom of God” (1:5)?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791456" y="1591056"/>
            <a:ext cx="3767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the Wind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current trial in prayer each day this week and thank God for the faith He is building through it.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791456" y="2679192"/>
            <a:ext cx="3767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— God’s Got Your Back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Memorize 2 Thessalonians 1:7a and pray it whenever pressure comes.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" y="4023360"/>
            <a:ext cx="7900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line: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faith grows, love reaches each one, God will set things right — so rest in Him and let His name be glorified in you.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 Thessalonians Study 2 — Paul’s Admiration for the Thessalonians: Charts</dc:title>
  <dc:subject>PptxGenJS Presentation</dc:subject>
  <dc:creator>The Gospel Vault</dc:creator>
  <cp:lastModifiedBy>The Gospel Vault</cp:lastModifiedBy>
  <cp:revision>1</cp:revision>
  <dcterms:created xsi:type="dcterms:W3CDTF">2026-10-30T06:34:07Z</dcterms:created>
  <dcterms:modified xsi:type="dcterms:W3CDTF">2026-10-30T06:34:07Z</dcterms:modified>
</cp:coreProperties>
</file>