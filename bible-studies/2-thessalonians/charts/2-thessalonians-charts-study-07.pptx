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Cain’s question in Genesis 4 — “Am I my brother’s keeper?” — is answered here: yes. The outline: Confirmation (3:13), Admonition (3:14–15), Benediction (3:16), Validation (3:17), Salutation (3:18).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The letter’s close in one view. Confirmation for the faithful majority; admonition for the disobedient brother; benediction of peace; validation by Paul’s own hand; salutation of grace.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B and I.A–B, with ἐκκακέω, καλοποιέω, ἀδελφός): Some were not working — “the Rapture’s near” — and meddling. Shouldn’t I help my brother? Yes — but make sure it is help, not enabling. “But as for you, brethren” — the faithful majority, working for their families and for the church. Don’t be weary — doing good (kalopoiountes). Even when you grow tired in doing good, don’t grow tired of doing good; the problem is never the good, only the circumstances. Keep on keeping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and Study Note, with ὑπακούω, σημειόω, συναναμίγνυμι, ἐντρέπω, ἐχθρός, νουθετέω): Paul’s epistle is God’s Word — Peter counted Paul’s letters with “the rest of the Scriptures” (2 Pet 3:15–16). Note that person; don’t keep company — “Can two walk together, unless they are agreed?” (Amos 3:3). The purpose is never destructive, always constructive: that he be ashamed, see his error, confess, be forgiven and restored. Not a foe — family. “When you’re here, you’re family.” Withdrawal concerns fellowship, not his eternal life — he is still called “brother.”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(II.B.2.b–c): The teacher’s steps before you approach an erring brother, then his approach. Ask permission. If he says yes, you may gain your brother; if no, take the next step of Matthew 18:15–17 — another brother with you. Galatians 6:1 gives the same spirit: restore such a one in gentleness.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and Study Note, with εἰρήνη): Peace with God — guaranteed by justification by faith (Rom 5:1). The peace of God — received when we bring our anxieties to Him (Phil 4:6–7): Peter asleep in prison (Acts 12), Paul calm in the storm (Acts 27). The God of peace — who will never leave a believer (Matt 28:20); Hebrews 13:5 piles up negatives (ou mē … oud’ ou mē), the strongest denial in NT Greek, as does John 10:28. “The Lord be with you all” — not only the good brothers;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(IV–V and Study Note, with ἀσπασμός, σημεῖον, χάρις): Paul dictated to a secretary (Tertius, Rom 16:22) and took the pen to sign (1 Cor 16:21; Col 4:18) — a sign in every epistle, the answer to the forged letter of 2:2. Perhaps because of his eyesight (Gal 4:15; 6:11). Then grace three ways: saving grace (Eph 2:8–9), sharing grace — giving (2 Cor 8:7), serving grace (Heb 12:28). The letter ends where it began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is the difference between helping a brother and enabling him, and how does this connect to the idle Thessalonians? — Leader answer: Enabling is “helping” someone continue in what is wrong — like giving money that buys drugs. Some were enabling the idle brothers to keep not working and keep meddling. Real help may mean doing something distasteful, like withdrawing fellowship, so the brother sees his error.  Q2: What is the purpose of church discipline in 3:14–15? — Leader answer: Never destructive, always constructive: “that he may be ashamed,” realize his error, confess it, be forgiven and be helped back into fellowship. He is not counted as an enemy but admonished as a brother — in a way that does not turn him away.  Applications: Help, Don’t Enable — Ask the Lord whether any of your help has become enabling, and what real help would look like.  Never, Ever Alone — Each evening, write down one worry, pray it through Philippians 4:6–7, and leave it there.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2 Thessalonians · Study 7 of 7 · 2 Thessalonians 3:13–18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2 Thessalonians · Study 7 of 7 · 2 Thessalonians 3:13–18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2 Thessalonians · Study 7 of 7 · 2 Thessalonians 3:13–18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My Brother’s Keeper</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Am I my brother’s keeper? Yes. Don’t grow weary in doing good, admonish the disobedient brother as family — and rest in the Lord of peace and the grace of our Lord Jesus Christ.</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 seven studies · this study highlighted</a:t>
            </a:r>
            <a:endParaRPr lang="en-US" sz="1200" dirty="0"/>
          </a:p>
        </p:txBody>
      </p:sp>
      <p:sp>
        <p:nvSpPr>
          <p:cNvPr id="5" name="Shape 2"/>
          <p:cNvSpPr/>
          <p:nvPr/>
        </p:nvSpPr>
        <p:spPr>
          <a:xfrm>
            <a:off x="457200" y="1188720"/>
            <a:ext cx="1954530" cy="1371600"/>
          </a:xfrm>
          <a:prstGeom prst="rect">
            <a:avLst/>
          </a:prstGeom>
          <a:solidFill>
            <a:srgbClr val="F2F6FC"/>
          </a:solidFill>
          <a:ln w="9525">
            <a:solidFill>
              <a:srgbClr val="D5DCEA"/>
            </a:solidFill>
            <a:prstDash val="solid"/>
          </a:ln>
        </p:spPr>
      </p:sp>
      <p:sp>
        <p:nvSpPr>
          <p:cNvPr id="6" name="Text 3"/>
          <p:cNvSpPr/>
          <p:nvPr/>
        </p:nvSpPr>
        <p:spPr>
          <a:xfrm>
            <a:off x="56692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Introduction and Background</a:t>
            </a:r>
            <a:endParaRPr lang="en-US" sz="1300" dirty="0"/>
          </a:p>
        </p:txBody>
      </p:sp>
      <p:sp>
        <p:nvSpPr>
          <p:cNvPr id="7" name="Shape 4"/>
          <p:cNvSpPr/>
          <p:nvPr/>
        </p:nvSpPr>
        <p:spPr>
          <a:xfrm>
            <a:off x="2548890" y="1188720"/>
            <a:ext cx="1954530" cy="1371600"/>
          </a:xfrm>
          <a:prstGeom prst="rect">
            <a:avLst/>
          </a:prstGeom>
          <a:solidFill>
            <a:srgbClr val="F2F6FC"/>
          </a:solidFill>
          <a:ln w="9525">
            <a:solidFill>
              <a:srgbClr val="D5DCEA"/>
            </a:solidFill>
            <a:prstDash val="solid"/>
          </a:ln>
        </p:spPr>
      </p:sp>
      <p:sp>
        <p:nvSpPr>
          <p:cNvPr id="8" name="Text 5"/>
          <p:cNvSpPr/>
          <p:nvPr/>
        </p:nvSpPr>
        <p:spPr>
          <a:xfrm>
            <a:off x="265861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1:3–12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Paul’s Admiration for the Thessalonians</a:t>
            </a:r>
            <a:endParaRPr lang="en-US" sz="1300" dirty="0"/>
          </a:p>
        </p:txBody>
      </p:sp>
      <p:sp>
        <p:nvSpPr>
          <p:cNvPr id="9" name="Shape 6"/>
          <p:cNvSpPr/>
          <p:nvPr/>
        </p:nvSpPr>
        <p:spPr>
          <a:xfrm>
            <a:off x="4640580" y="1188720"/>
            <a:ext cx="1954530" cy="1371600"/>
          </a:xfrm>
          <a:prstGeom prst="rect">
            <a:avLst/>
          </a:prstGeom>
          <a:solidFill>
            <a:srgbClr val="F2F6FC"/>
          </a:solidFill>
          <a:ln w="9525">
            <a:solidFill>
              <a:srgbClr val="D5DCEA"/>
            </a:solidFill>
            <a:prstDash val="solid"/>
          </a:ln>
        </p:spPr>
      </p:sp>
      <p:sp>
        <p:nvSpPr>
          <p:cNvPr id="10" name="Text 7"/>
          <p:cNvSpPr/>
          <p:nvPr/>
        </p:nvSpPr>
        <p:spPr>
          <a:xfrm>
            <a:off x="475030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Confusion Concerning the Coming</a:t>
            </a:r>
            <a:endParaRPr lang="en-US" sz="1300" dirty="0"/>
          </a:p>
        </p:txBody>
      </p:sp>
      <p:sp>
        <p:nvSpPr>
          <p:cNvPr id="11" name="Shape 8"/>
          <p:cNvSpPr/>
          <p:nvPr/>
        </p:nvSpPr>
        <p:spPr>
          <a:xfrm>
            <a:off x="6732270" y="1188720"/>
            <a:ext cx="1954530" cy="1371600"/>
          </a:xfrm>
          <a:prstGeom prst="rect">
            <a:avLst/>
          </a:prstGeom>
          <a:solidFill>
            <a:srgbClr val="F2F6FC"/>
          </a:solidFill>
          <a:ln w="9525">
            <a:solidFill>
              <a:srgbClr val="D5DCEA"/>
            </a:solidFill>
            <a:prstDash val="solid"/>
          </a:ln>
        </p:spPr>
      </p:sp>
      <p:sp>
        <p:nvSpPr>
          <p:cNvPr id="12" name="Text 9"/>
          <p:cNvSpPr/>
          <p:nvPr/>
        </p:nvSpPr>
        <p:spPr>
          <a:xfrm>
            <a:off x="684199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2:6–12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Removal of the Restrainer</a:t>
            </a:r>
            <a:endParaRPr lang="en-US" sz="1300" dirty="0"/>
          </a:p>
        </p:txBody>
      </p:sp>
      <p:sp>
        <p:nvSpPr>
          <p:cNvPr id="13" name="Shape 10"/>
          <p:cNvSpPr/>
          <p:nvPr/>
        </p:nvSpPr>
        <p:spPr>
          <a:xfrm>
            <a:off x="457200" y="2761488"/>
            <a:ext cx="1954530" cy="1371600"/>
          </a:xfrm>
          <a:prstGeom prst="rect">
            <a:avLst/>
          </a:prstGeom>
          <a:solidFill>
            <a:srgbClr val="F2F6FC"/>
          </a:solidFill>
          <a:ln w="9525">
            <a:solidFill>
              <a:srgbClr val="D5DCEA"/>
            </a:solidFill>
            <a:prstDash val="solid"/>
          </a:ln>
        </p:spPr>
      </p:sp>
      <p:sp>
        <p:nvSpPr>
          <p:cNvPr id="14" name="Text 11"/>
          <p:cNvSpPr/>
          <p:nvPr/>
        </p:nvSpPr>
        <p:spPr>
          <a:xfrm>
            <a:off x="56692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2:13–17</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Day of the Lord and Believers</a:t>
            </a:r>
            <a:endParaRPr lang="en-US" sz="1300" dirty="0"/>
          </a:p>
        </p:txBody>
      </p:sp>
      <p:sp>
        <p:nvSpPr>
          <p:cNvPr id="15" name="Shape 12"/>
          <p:cNvSpPr/>
          <p:nvPr/>
        </p:nvSpPr>
        <p:spPr>
          <a:xfrm>
            <a:off x="2548890" y="2761488"/>
            <a:ext cx="1954530" cy="1371600"/>
          </a:xfrm>
          <a:prstGeom prst="rect">
            <a:avLst/>
          </a:prstGeom>
          <a:solidFill>
            <a:srgbClr val="F2F6FC"/>
          </a:solidFill>
          <a:ln w="9525">
            <a:solidFill>
              <a:srgbClr val="D5DCEA"/>
            </a:solidFill>
            <a:prstDash val="solid"/>
          </a:ln>
        </p:spPr>
      </p:sp>
      <p:sp>
        <p:nvSpPr>
          <p:cNvPr id="16" name="Text 13"/>
          <p:cNvSpPr/>
          <p:nvPr/>
        </p:nvSpPr>
        <p:spPr>
          <a:xfrm>
            <a:off x="265861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3:1–12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Serving While Waiting</a:t>
            </a:r>
            <a:endParaRPr lang="en-US" sz="1300" dirty="0"/>
          </a:p>
        </p:txBody>
      </p:sp>
      <p:sp>
        <p:nvSpPr>
          <p:cNvPr id="17" name="Shape 14"/>
          <p:cNvSpPr/>
          <p:nvPr/>
        </p:nvSpPr>
        <p:spPr>
          <a:xfrm>
            <a:off x="4640580" y="2761488"/>
            <a:ext cx="1954530" cy="1371600"/>
          </a:xfrm>
          <a:prstGeom prst="rect">
            <a:avLst/>
          </a:prstGeom>
          <a:solidFill>
            <a:srgbClr val="1F3864"/>
          </a:solidFill>
          <a:ln w="9525">
            <a:solidFill>
              <a:srgbClr val="1F3864"/>
            </a:solidFill>
            <a:prstDash val="solid"/>
          </a:ln>
        </p:spPr>
      </p:sp>
      <p:sp>
        <p:nvSpPr>
          <p:cNvPr id="18" name="Text 15"/>
          <p:cNvSpPr/>
          <p:nvPr/>
        </p:nvSpPr>
        <p:spPr>
          <a:xfrm>
            <a:off x="4750308" y="2871216"/>
            <a:ext cx="1735074"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07  </a:t>
            </a:r>
            <a:pPr indent="0" marL="0">
              <a:buNone/>
            </a:pPr>
            <a:r>
              <a:rPr lang="en-US" sz="1050" b="1" dirty="0">
                <a:solidFill>
                  <a:srgbClr val="C9D5EE"/>
                </a:solidFill>
                <a:latin typeface="Arial" pitchFamily="34" charset="0"/>
                <a:ea typeface="Arial" pitchFamily="34" charset="-122"/>
                <a:cs typeface="Arial" pitchFamily="34" charset="-120"/>
              </a:rPr>
              <a:t>3:13–18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My Brother’s Keeper</a:t>
            </a:r>
            <a:endParaRPr lang="en-US" sz="1300" dirty="0"/>
          </a:p>
        </p:txBody>
      </p:sp>
      <p:sp>
        <p:nvSpPr>
          <p:cNvPr id="19" name="Shape 16"/>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0" name="Text 17"/>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Grace and peace frame the letter (1:2; 3:16–18):  </a:t>
            </a:r>
            <a:pPr indent="0" marL="0">
              <a:buNone/>
            </a:pPr>
            <a:r>
              <a:rPr lang="en-US" sz="1100" dirty="0">
                <a:solidFill>
                  <a:srgbClr val="FFFFFF"/>
                </a:solidFill>
                <a:latin typeface="Arial" pitchFamily="34" charset="0"/>
                <a:ea typeface="Arial" pitchFamily="34" charset="-122"/>
                <a:cs typeface="Arial" pitchFamily="34" charset="-120"/>
              </a:rPr>
              <a:t>persecution in chapter 1, prophecy in chapter 2, correction in chapter 3.</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closing words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3:13–18 · Outline I–V</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Confirmation · v.13</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“Do not grow weary in doing good”</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Admonition · vv.14–15</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Note him, withdraw — but admonish him as a brother</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Benediction · v.16</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 Lord of peace Himself give you peace always”</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Validation · v.17</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“With my own hand, which is a sign in every epistle”</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375623"/>
          </a:solidFill>
          <a:ln w="12700">
            <a:solidFill>
              <a:srgbClr val="375623"/>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Salutation · v.18</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 grace of our Lord Jesus Christ be with you all”</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1F3864"/>
          </a:solidFill>
          <a:ln w="12700">
            <a:solidFill>
              <a:srgbClr val="1F3864"/>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Yes</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I am my brother’s keeper — and my sister’s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Help, don’t enable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and I · Confirmation — 3:13</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Enabling</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“Helping” someone keep doing wrong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Like money that buys drugs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Some fed the idle and their meddling</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Helping</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καλοποιέω</a:t>
            </a:r>
            <a:pPr indent="0" marL="0">
              <a:buNone/>
            </a:pPr>
            <a:r>
              <a:rPr lang="en-US" sz="850" dirty="0">
                <a:solidFill>
                  <a:srgbClr val="DCE4F2"/>
                </a:solidFill>
                <a:latin typeface="Arial" pitchFamily="34" charset="0"/>
                <a:ea typeface="Arial" pitchFamily="34" charset="-122"/>
                <a:cs typeface="Arial" pitchFamily="34" charset="-120"/>
              </a:rPr>
              <a:t>  doing good · G2569</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Work and care for your family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Do the work of the church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Don’t grow weary (ἐκκακέω)</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822960"/>
          </a:xfrm>
          <a:prstGeom prst="roundRect">
            <a:avLst>
              <a:gd name="adj" fmla="val 6667"/>
            </a:avLst>
          </a:prstGeom>
          <a:solidFill>
            <a:srgbClr val="1F3864"/>
          </a:solidFill>
          <a:ln w="12700">
            <a:solidFill>
              <a:srgbClr val="1F3864"/>
            </a:solidFill>
            <a:prstDash val="solid"/>
          </a:ln>
        </p:spPr>
      </p:sp>
      <p:sp>
        <p:nvSpPr>
          <p:cNvPr id="15" name="Text 12"/>
          <p:cNvSpPr/>
          <p:nvPr/>
        </p:nvSpPr>
        <p:spPr>
          <a:xfrm>
            <a:off x="621792" y="3749040"/>
            <a:ext cx="7900416" cy="8229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Even when you grow tired in doing good, don’t grow tired of doing good. Keep on keeping 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Withdraw — but as family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3:14–15 · II — Admonition</a:t>
            </a:r>
            <a:endParaRPr lang="en-US" sz="1200" dirty="0"/>
          </a:p>
        </p:txBody>
      </p:sp>
      <p:sp>
        <p:nvSpPr>
          <p:cNvPr id="5" name="Shape 2"/>
          <p:cNvSpPr/>
          <p:nvPr/>
        </p:nvSpPr>
        <p:spPr>
          <a:xfrm>
            <a:off x="457200" y="1188720"/>
            <a:ext cx="1899666" cy="210312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Note him</a:t>
            </a:r>
            <a:endParaRPr lang="en-US" sz="1150" dirty="0"/>
          </a:p>
        </p:txBody>
      </p:sp>
      <p:sp>
        <p:nvSpPr>
          <p:cNvPr id="9" name="Text 6"/>
          <p:cNvSpPr/>
          <p:nvPr/>
        </p:nvSpPr>
        <p:spPr>
          <a:xfrm>
            <a:off x="530352"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Don’t disobey the epistle — it is God’s Word</a:t>
            </a:r>
            <a:endParaRPr lang="en-US" sz="1150" dirty="0"/>
          </a:p>
        </p:txBody>
      </p:sp>
      <p:sp>
        <p:nvSpPr>
          <p:cNvPr id="10" name="Text 7"/>
          <p:cNvSpPr/>
          <p:nvPr/>
        </p:nvSpPr>
        <p:spPr>
          <a:xfrm>
            <a:off x="530352"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σημειόω · v.14a</a:t>
            </a:r>
            <a:endParaRPr lang="en-US" sz="900" dirty="0"/>
          </a:p>
        </p:txBody>
      </p:sp>
      <p:sp>
        <p:nvSpPr>
          <p:cNvPr id="11" name="Shape 8"/>
          <p:cNvSpPr/>
          <p:nvPr/>
        </p:nvSpPr>
        <p:spPr>
          <a:xfrm>
            <a:off x="2361438"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0312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Withdraw</a:t>
            </a:r>
            <a:endParaRPr lang="en-US" sz="1150" dirty="0"/>
          </a:p>
        </p:txBody>
      </p:sp>
      <p:sp>
        <p:nvSpPr>
          <p:cNvPr id="16" name="Text 13"/>
          <p:cNvSpPr/>
          <p:nvPr/>
        </p:nvSpPr>
        <p:spPr>
          <a:xfrm>
            <a:off x="2640330"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“Can two walk together unless they are agreed?”</a:t>
            </a:r>
            <a:endParaRPr lang="en-US" sz="1150" dirty="0"/>
          </a:p>
        </p:txBody>
      </p:sp>
      <p:sp>
        <p:nvSpPr>
          <p:cNvPr id="17" name="Text 14"/>
          <p:cNvSpPr/>
          <p:nvPr/>
        </p:nvSpPr>
        <p:spPr>
          <a:xfrm>
            <a:off x="2640330"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συναναμίγνυμι · Amos 3:3</a:t>
            </a:r>
            <a:endParaRPr lang="en-US" sz="900" dirty="0"/>
          </a:p>
        </p:txBody>
      </p:sp>
      <p:sp>
        <p:nvSpPr>
          <p:cNvPr id="18" name="Shape 15"/>
          <p:cNvSpPr/>
          <p:nvPr/>
        </p:nvSpPr>
        <p:spPr>
          <a:xfrm>
            <a:off x="4471416"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0312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That he be ashamed</a:t>
            </a:r>
            <a:endParaRPr lang="en-US" sz="1150" dirty="0"/>
          </a:p>
        </p:txBody>
      </p:sp>
      <p:sp>
        <p:nvSpPr>
          <p:cNvPr id="23" name="Text 20"/>
          <p:cNvSpPr/>
          <p:nvPr/>
        </p:nvSpPr>
        <p:spPr>
          <a:xfrm>
            <a:off x="4750308"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Constructive, never destructive</a:t>
            </a:r>
            <a:endParaRPr lang="en-US" sz="1150" dirty="0"/>
          </a:p>
        </p:txBody>
      </p:sp>
      <p:sp>
        <p:nvSpPr>
          <p:cNvPr id="24" name="Text 21"/>
          <p:cNvSpPr/>
          <p:nvPr/>
        </p:nvSpPr>
        <p:spPr>
          <a:xfrm>
            <a:off x="4750308"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ἐντρέπω · v.14c</a:t>
            </a:r>
            <a:endParaRPr lang="en-US" sz="900" dirty="0"/>
          </a:p>
        </p:txBody>
      </p:sp>
      <p:sp>
        <p:nvSpPr>
          <p:cNvPr id="25" name="Shape 22"/>
          <p:cNvSpPr/>
          <p:nvPr/>
        </p:nvSpPr>
        <p:spPr>
          <a:xfrm>
            <a:off x="6581394"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0312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Admonish as a brother</a:t>
            </a:r>
            <a:endParaRPr lang="en-US" sz="1150" dirty="0"/>
          </a:p>
        </p:txBody>
      </p:sp>
      <p:sp>
        <p:nvSpPr>
          <p:cNvPr id="30" name="Text 27"/>
          <p:cNvSpPr/>
          <p:nvPr/>
        </p:nvSpPr>
        <p:spPr>
          <a:xfrm>
            <a:off x="6860286"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Not an enemy — family</a:t>
            </a:r>
            <a:endParaRPr lang="en-US" sz="1150" dirty="0"/>
          </a:p>
        </p:txBody>
      </p:sp>
      <p:sp>
        <p:nvSpPr>
          <p:cNvPr id="31" name="Text 28"/>
          <p:cNvSpPr/>
          <p:nvPr/>
        </p:nvSpPr>
        <p:spPr>
          <a:xfrm>
            <a:off x="6860286"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νουθετέω · v.15</a:t>
            </a:r>
            <a:endParaRPr lang="en-US" sz="900" dirty="0"/>
          </a:p>
        </p:txBody>
      </p:sp>
      <p:sp>
        <p:nvSpPr>
          <p:cNvPr id="32" name="Shape 29"/>
          <p:cNvSpPr/>
          <p:nvPr/>
        </p:nvSpPr>
        <p:spPr>
          <a:xfrm>
            <a:off x="457200" y="3520440"/>
            <a:ext cx="8229600" cy="1097280"/>
          </a:xfrm>
          <a:prstGeom prst="roundRect">
            <a:avLst>
              <a:gd name="adj" fmla="val 5000"/>
            </a:avLst>
          </a:prstGeom>
          <a:solidFill>
            <a:srgbClr val="1F3864"/>
          </a:solidFill>
          <a:ln w="12700">
            <a:solidFill>
              <a:srgbClr val="1F3864"/>
            </a:solidFill>
            <a:prstDash val="solid"/>
          </a:ln>
        </p:spPr>
      </p:sp>
      <p:sp>
        <p:nvSpPr>
          <p:cNvPr id="33" name="Text 30"/>
          <p:cNvSpPr/>
          <p:nvPr/>
        </p:nvSpPr>
        <p:spPr>
          <a:xfrm>
            <a:off x="621792" y="3520440"/>
            <a:ext cx="7900416" cy="10972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He is still a “brother” (3:6, 15). Withdrawal addresses his fellowship, not his eternal life — relationship is settled at faith; fellowship is restored by confession (1 John 1:9).</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“Brother Horatio …”</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3:15b · II.B.2 — Counsel him as family</a:t>
            </a:r>
            <a:endParaRPr lang="en-US" sz="1200" dirty="0"/>
          </a:p>
        </p:txBody>
      </p:sp>
      <p:sp>
        <p:nvSpPr>
          <p:cNvPr id="5" name="Shape 2"/>
          <p:cNvSpPr/>
          <p:nvPr/>
        </p:nvSpPr>
        <p:spPr>
          <a:xfrm>
            <a:off x="457200" y="1188720"/>
            <a:ext cx="3291840" cy="365760"/>
          </a:xfrm>
          <a:prstGeom prst="rect">
            <a:avLst/>
          </a:prstGeom>
          <a:solidFill>
            <a:srgbClr val="2E5496"/>
          </a:solidFill>
          <a:ln w="12700">
            <a:solidFill>
              <a:srgbClr val="2E5496"/>
            </a:solidFill>
            <a:prstDash val="solid"/>
          </a:ln>
        </p:spPr>
      </p:sp>
      <p:sp>
        <p:nvSpPr>
          <p:cNvPr id="6" name="Text 3"/>
          <p:cNvSpPr/>
          <p:nvPr/>
        </p:nvSpPr>
        <p:spPr>
          <a:xfrm>
            <a:off x="548640" y="1234440"/>
            <a:ext cx="31089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you go</a:t>
            </a:r>
            <a:endParaRPr lang="en-US" sz="1200" dirty="0"/>
          </a:p>
        </p:txBody>
      </p:sp>
      <p:sp>
        <p:nvSpPr>
          <p:cNvPr id="7" name="Shape 4"/>
          <p:cNvSpPr/>
          <p:nvPr/>
        </p:nvSpPr>
        <p:spPr>
          <a:xfrm>
            <a:off x="457200" y="1554480"/>
            <a:ext cx="3291840" cy="2423160"/>
          </a:xfrm>
          <a:prstGeom prst="rect">
            <a:avLst/>
          </a:prstGeom>
          <a:solidFill>
            <a:srgbClr val="F2F6FC"/>
          </a:solidFill>
          <a:ln w="9525">
            <a:solidFill>
              <a:srgbClr val="D5DCEA"/>
            </a:solidFill>
            <a:prstDash val="solid"/>
          </a:ln>
        </p:spPr>
      </p:sp>
      <p:sp>
        <p:nvSpPr>
          <p:cNvPr id="8" name="Text 5"/>
          <p:cNvSpPr/>
          <p:nvPr/>
        </p:nvSpPr>
        <p:spPr>
          <a:xfrm>
            <a:off x="548640" y="1627632"/>
            <a:ext cx="3108960" cy="2295144"/>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The Lord lays it on your heart</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You’re convinced it’s your assignment</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You have prayed hard</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He gives you a clear path</a:t>
            </a:r>
            <a:endParaRPr lang="en-US" sz="1150" dirty="0"/>
          </a:p>
        </p:txBody>
      </p:sp>
      <p:sp>
        <p:nvSpPr>
          <p:cNvPr id="9" name="Text 6"/>
          <p:cNvSpPr/>
          <p:nvPr/>
        </p:nvSpPr>
        <p:spPr>
          <a:xfrm>
            <a:off x="3977640" y="1188720"/>
            <a:ext cx="4709160" cy="29260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When you go</a:t>
            </a:r>
            <a:endParaRPr lang="en-US" sz="1200" dirty="0"/>
          </a:p>
        </p:txBody>
      </p:sp>
      <p:sp>
        <p:nvSpPr>
          <p:cNvPr id="10" name="Shape 7"/>
          <p:cNvSpPr/>
          <p:nvPr/>
        </p:nvSpPr>
        <p:spPr>
          <a:xfrm>
            <a:off x="3977640" y="1591056"/>
            <a:ext cx="384048" cy="384048"/>
          </a:xfrm>
          <a:prstGeom prst="ellipse">
            <a:avLst/>
          </a:prstGeom>
          <a:solidFill>
            <a:srgbClr val="2E5496"/>
          </a:solidFill>
          <a:ln w="12700">
            <a:solidFill>
              <a:srgbClr val="2E5496"/>
            </a:solidFill>
            <a:prstDash val="solid"/>
          </a:ln>
        </p:spPr>
      </p:sp>
      <p:sp>
        <p:nvSpPr>
          <p:cNvPr id="11" name="Text 8"/>
          <p:cNvSpPr/>
          <p:nvPr/>
        </p:nvSpPr>
        <p:spPr>
          <a:xfrm>
            <a:off x="397764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9"/>
          <p:cNvSpPr/>
          <p:nvPr/>
        </p:nvSpPr>
        <p:spPr>
          <a:xfrm>
            <a:off x="4480560" y="1536192"/>
            <a:ext cx="4206240" cy="77114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“Brother Horatio, we’re brothers.”</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Children of God — start with the relationship</a:t>
            </a:r>
            <a:endParaRPr lang="en-US" sz="1150" dirty="0"/>
          </a:p>
        </p:txBody>
      </p:sp>
      <p:sp>
        <p:nvSpPr>
          <p:cNvPr id="13" name="Shape 10"/>
          <p:cNvSpPr/>
          <p:nvPr/>
        </p:nvSpPr>
        <p:spPr>
          <a:xfrm>
            <a:off x="3977640" y="2398776"/>
            <a:ext cx="384048" cy="384048"/>
          </a:xfrm>
          <a:prstGeom prst="ellipse">
            <a:avLst/>
          </a:prstGeom>
          <a:solidFill>
            <a:srgbClr val="2E5496"/>
          </a:solidFill>
          <a:ln w="12700">
            <a:solidFill>
              <a:srgbClr val="2E5496"/>
            </a:solidFill>
            <a:prstDash val="solid"/>
          </a:ln>
        </p:spPr>
      </p:sp>
      <p:sp>
        <p:nvSpPr>
          <p:cNvPr id="14" name="Text 11"/>
          <p:cNvSpPr/>
          <p:nvPr/>
        </p:nvSpPr>
        <p:spPr>
          <a:xfrm>
            <a:off x="3977640" y="2398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2"/>
          <p:cNvSpPr/>
          <p:nvPr/>
        </p:nvSpPr>
        <p:spPr>
          <a:xfrm>
            <a:off x="4480560" y="2343912"/>
            <a:ext cx="4206240" cy="77114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“I’m concerned about you …”</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Then name the area — name the offense</a:t>
            </a:r>
            <a:endParaRPr lang="en-US" sz="1150" dirty="0"/>
          </a:p>
        </p:txBody>
      </p:sp>
      <p:sp>
        <p:nvSpPr>
          <p:cNvPr id="16" name="Shape 13"/>
          <p:cNvSpPr/>
          <p:nvPr/>
        </p:nvSpPr>
        <p:spPr>
          <a:xfrm>
            <a:off x="3977640" y="3206496"/>
            <a:ext cx="384048" cy="384048"/>
          </a:xfrm>
          <a:prstGeom prst="ellipse">
            <a:avLst/>
          </a:prstGeom>
          <a:solidFill>
            <a:srgbClr val="375623"/>
          </a:solidFill>
          <a:ln w="12700">
            <a:solidFill>
              <a:srgbClr val="375623"/>
            </a:solidFill>
            <a:prstDash val="solid"/>
          </a:ln>
        </p:spPr>
      </p:sp>
      <p:sp>
        <p:nvSpPr>
          <p:cNvPr id="17" name="Text 14"/>
          <p:cNvSpPr/>
          <p:nvPr/>
        </p:nvSpPr>
        <p:spPr>
          <a:xfrm>
            <a:off x="3977640" y="3206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p:nvPr/>
        </p:nvSpPr>
        <p:spPr>
          <a:xfrm>
            <a:off x="4480560" y="3151632"/>
            <a:ext cx="4206240" cy="77114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“May I show you in the Word?”</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Ask permission; if no, take the next step (Matt 18)</a:t>
            </a:r>
            <a:endParaRPr lang="en-US" sz="1150" dirty="0"/>
          </a:p>
        </p:txBody>
      </p:sp>
      <p:sp>
        <p:nvSpPr>
          <p:cNvPr id="19" name="Shape 16"/>
          <p:cNvSpPr/>
          <p:nvPr/>
        </p:nvSpPr>
        <p:spPr>
          <a:xfrm>
            <a:off x="457200" y="4114800"/>
            <a:ext cx="8229600" cy="502920"/>
          </a:xfrm>
          <a:prstGeom prst="roundRect">
            <a:avLst>
              <a:gd name="adj" fmla="val 10909"/>
            </a:avLst>
          </a:prstGeom>
          <a:solidFill>
            <a:srgbClr val="1F3864"/>
          </a:solidFill>
          <a:ln w="12700">
            <a:solidFill>
              <a:srgbClr val="1F3864"/>
            </a:solidFill>
            <a:prstDash val="solid"/>
          </a:ln>
        </p:spPr>
      </p:sp>
      <p:sp>
        <p:nvSpPr>
          <p:cNvPr id="20" name="Text 17"/>
          <p:cNvSpPr/>
          <p:nvPr/>
        </p:nvSpPr>
        <p:spPr>
          <a:xfrm>
            <a:off x="621792" y="4114800"/>
            <a:ext cx="7900416" cy="5029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“Make sure I don’t get to be an enemy by the way I handle the job the Lord gave me.”</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Peace three ways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3:16 · III — Benediction</a:t>
            </a:r>
            <a:endParaRPr lang="en-US" sz="1200" dirty="0"/>
          </a:p>
        </p:txBody>
      </p:sp>
      <p:sp>
        <p:nvSpPr>
          <p:cNvPr id="5" name="Shape 2"/>
          <p:cNvSpPr/>
          <p:nvPr/>
        </p:nvSpPr>
        <p:spPr>
          <a:xfrm>
            <a:off x="457200" y="1188720"/>
            <a:ext cx="2499360" cy="365760"/>
          </a:xfrm>
          <a:prstGeom prst="rect">
            <a:avLst/>
          </a:prstGeom>
          <a:solidFill>
            <a:srgbClr val="2E5496"/>
          </a:solidFill>
          <a:ln w="12700">
            <a:solidFill>
              <a:srgbClr val="2E5496"/>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Peace with God</a:t>
            </a:r>
            <a:endParaRPr lang="en-US" sz="1200" dirty="0"/>
          </a:p>
        </p:txBody>
      </p:sp>
      <p:sp>
        <p:nvSpPr>
          <p:cNvPr id="7" name="Shape 4"/>
          <p:cNvSpPr/>
          <p:nvPr/>
        </p:nvSpPr>
        <p:spPr>
          <a:xfrm>
            <a:off x="457200" y="1554480"/>
            <a:ext cx="2499360" cy="2011680"/>
          </a:xfrm>
          <a:prstGeom prst="rect">
            <a:avLst/>
          </a:prstGeom>
          <a:solidFill>
            <a:srgbClr val="F2F6FC"/>
          </a:solidFill>
          <a:ln w="9525">
            <a:solidFill>
              <a:srgbClr val="D5DCEA"/>
            </a:solidFill>
            <a:prstDash val="solid"/>
          </a:ln>
        </p:spPr>
      </p:sp>
      <p:sp>
        <p:nvSpPr>
          <p:cNvPr id="8" name="Text 5"/>
          <p:cNvSpPr/>
          <p:nvPr/>
        </p:nvSpPr>
        <p:spPr>
          <a:xfrm>
            <a:off x="54864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Justified by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Settled and guaranteed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Rom 5:1</a:t>
            </a:r>
            <a:endParaRPr lang="en-US" sz="1250" dirty="0"/>
          </a:p>
        </p:txBody>
      </p:sp>
      <p:sp>
        <p:nvSpPr>
          <p:cNvPr id="9" name="Shape 6"/>
          <p:cNvSpPr/>
          <p:nvPr/>
        </p:nvSpPr>
        <p:spPr>
          <a:xfrm>
            <a:off x="3020568" y="225856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2E5496"/>
          </a:solidFill>
          <a:ln w="12700">
            <a:solidFill>
              <a:srgbClr val="2E5496"/>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peace of God</a:t>
            </a:r>
            <a:endParaRPr lang="en-US" sz="1200" dirty="0"/>
          </a:p>
        </p:txBody>
      </p:sp>
      <p:sp>
        <p:nvSpPr>
          <p:cNvPr id="12" name="Shape 9"/>
          <p:cNvSpPr/>
          <p:nvPr/>
        </p:nvSpPr>
        <p:spPr>
          <a:xfrm>
            <a:off x="3322320" y="1554480"/>
            <a:ext cx="2499360" cy="201168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 anxious for nothing — pray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Peter asleep in prison (Acts 12)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Phil 4:6–7</a:t>
            </a:r>
            <a:endParaRPr lang="en-US" sz="1250" dirty="0"/>
          </a:p>
        </p:txBody>
      </p:sp>
      <p:sp>
        <p:nvSpPr>
          <p:cNvPr id="14" name="Shape 11"/>
          <p:cNvSpPr/>
          <p:nvPr/>
        </p:nvSpPr>
        <p:spPr>
          <a:xfrm>
            <a:off x="5885688" y="225856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God of peace</a:t>
            </a:r>
            <a:endParaRPr lang="en-US" sz="1200" dirty="0"/>
          </a:p>
        </p:txBody>
      </p:sp>
      <p:sp>
        <p:nvSpPr>
          <p:cNvPr id="17" name="Shape 14"/>
          <p:cNvSpPr/>
          <p:nvPr/>
        </p:nvSpPr>
        <p:spPr>
          <a:xfrm>
            <a:off x="6187440" y="1554480"/>
            <a:ext cx="2499360" cy="201168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 will never leave you” — Heb 13:5</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With you always — Matt 28:20</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“With you all”</a:t>
            </a:r>
            <a:endParaRPr lang="en-US" sz="1250" dirty="0"/>
          </a:p>
        </p:txBody>
      </p:sp>
      <p:sp>
        <p:nvSpPr>
          <p:cNvPr id="19" name="Shape 16"/>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20" name="Text 17"/>
          <p:cNvSpPr/>
          <p:nvPr/>
        </p:nvSpPr>
        <p:spPr>
          <a:xfrm>
            <a:off x="621792" y="3749040"/>
            <a:ext cx="7900416" cy="86868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εἰρήνη  </a:t>
            </a:r>
            <a:pPr indent="0" marL="0">
              <a:buNone/>
            </a:pPr>
            <a:r>
              <a:rPr lang="en-US" sz="1200" dirty="0">
                <a:solidFill>
                  <a:srgbClr val="FFFFFF"/>
                </a:solidFill>
                <a:latin typeface="Arial" pitchFamily="34" charset="0"/>
                <a:ea typeface="Arial" pitchFamily="34" charset="-122"/>
                <a:cs typeface="Arial" pitchFamily="34" charset="-120"/>
              </a:rPr>
              <a:t>Peace with God is guaranteed. The peace of God is something we ask for — we let our requests be known to Him, and leave it there.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Signed by hand — sealed with grace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3:17–18 · IV–V — Validation and salutation</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Validation · v.17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ἀσπασμός · σημεῖον</a:t>
            </a:r>
            <a:pPr indent="0" marL="0">
              <a:buNone/>
            </a:pPr>
            <a:r>
              <a:rPr lang="en-US" sz="850" dirty="0">
                <a:solidFill>
                  <a:srgbClr val="DCE4F2"/>
                </a:solidFill>
                <a:latin typeface="Arial" pitchFamily="34" charset="0"/>
                <a:ea typeface="Arial" pitchFamily="34" charset="-122"/>
                <a:cs typeface="Arial" pitchFamily="34" charset="-120"/>
              </a:rPr>
              <a:t>  salutation · sign</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 signs with his own hand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sign in every epistle”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test against the forged letter (2:2)</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Salutation · v.18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χάρις</a:t>
            </a:r>
            <a:pPr indent="0" marL="0">
              <a:buNone/>
            </a:pPr>
            <a:r>
              <a:rPr lang="en-US" sz="850" dirty="0">
                <a:solidFill>
                  <a:srgbClr val="DCE4F2"/>
                </a:solidFill>
                <a:latin typeface="Arial" pitchFamily="34" charset="0"/>
                <a:ea typeface="Arial" pitchFamily="34" charset="-122"/>
                <a:cs typeface="Arial" pitchFamily="34" charset="-120"/>
              </a:rPr>
              <a:t>  grace · G5485</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Saving grace — Eph 2:8–9</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Sharing grace — 2 Cor 8:7</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Serving grace — Heb 12:28</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Am I my brother’s keeper? Yes — and he is my brother, not my enemy. The grace of our Lord Jesus Christ be with you all.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3:13–18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is the difference between helping a brother and enabling him, and how does this connect to the idle Thessalonians?</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is the purpose of church discipline in 3:14–15?</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Help, Don’t Enable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Ask the Lord whether any of your help has become enabling, and what real help would look like.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Never, Ever Alone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Each evening, write down one worry, pray it through Philippians 4:6–7, and leave it there.</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Yes, I am my brother’s keeper — keep doing good, restore him as family, and rest in the Lord of peace and His grace.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Thessalonians Study 7 — My Brother’s Keeper: Charts</dc:title>
  <dc:subject>PptxGenJS Presentation</dc:subject>
  <dc:creator>The Gospel Vault</dc:creator>
  <cp:lastModifiedBy>The Gospel Vault</cp:lastModifiedBy>
  <cp:revision>1</cp:revision>
  <dcterms:created xsi:type="dcterms:W3CDTF">2026-10-30T06:34:07Z</dcterms:created>
  <dcterms:modified xsi:type="dcterms:W3CDTF">2026-10-30T06:34:07Z</dcterms:modified>
</cp:coreProperties>
</file>