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commentary gives three reasons the Thessalonians could not be in the Day of the Lord — the apostasy, the revelation of the man of sin, and the removal of the Restrainer — then the present conflict (2:6–7), the prophetic climax (2:8–10) and the practical conclusion (2:11–12). Every chart stays within the commentary posted for this study, including its Study Notes;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B–D): The Day of the Lord starts with the Tribulation (7 years) and continues with the Millennium (1,000 years). Reason one: the great apostasy — worldwide and church-wide. Reason two: the man of sin revealed when he makes the seven-year covenant with Israel (Dan 9:24–27) — that starts Israel’s prophecy clock ticking again. He is on the earth before he is revealed as this man. Reason three: the Restrainer must be removed — today’s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 I.C and Study Note, with κατέχω): Verse 6 is neuter — “what is restraining”; verse 7 is masculine — “He who now restrains.” The neuter fits pneuma, a neuter noun; the masculine fits how Jesus spoke of the Spirit as “He” (John 14–16). The Restrainer must be strong enough to hold back Satan — only God can. Even Michael said only, “The Lord rebuke you” (Jude 9). Since Pentecost the Spirit indwells every believer and cannot leave him (John 14:16–17) — so when He is taken out of the way, the church goes with Him. Other suggestions (Rome, government, Paul, Michael) fail that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 with μυστήριον, ἀνομία, ἐνεργέω): A mystery is a new truth previously unknown, now revealed in this age (Constable). The church is a mystery; the Rapture is a mystery; and the lawlessness of the church age, empowered by Satan and headed up by the Antichrist, is a mystery. It is already at work (energeō) — the same root as “the working of Satan” (v.9) and “strong delusion,” literally a working of error (v.11).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(II.A–C, with ἄνομος, ἀναλίσκω, καταργέω, ἐπιφάνεια, σημεῖον, τέρας, ἀπάτη): When — revealed after the removal; the “whom” clause describes him; the Lord consumes him with the breath of His mouth and destroys him by the brightness of His coming — cast alive into the lake of fire (Rev 19:20). Who — empowered by Satan; signs and lying wonders to imitate the Messiah, whose credentials were His works. Today’s “wherever there are miracles, God is doing it” plays into his hands. Why — they did not receive the love of the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(II.A.2–3): The divine adversary, Jesus Christ, handles all three of the unholy trinity. The beast and the false prophet are cast alive into the lake of fire at the end of the Tribulation (Rev 19:20). A thousand years later, after Satan is released and his last rebellion is put down, he is cast into the lake of fire “where the beast and the false prophet are” — still there — tormented forever (Rev 20:10). “I looked at the last page: He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(III.A–C and Study Note, with πλάνη, ψεῦδος, κρίνω): God sends strong delusion — literally a working of error — so that they believe the lie: that the Antichrist is Messiah, is God. Condemnation is declared and deserved: they did not believe the truth (John 3:36; 5:27). Can those left behind still believe? Yes — the 144,000 and a great multitude (Rev 7:4, 9). But multitudes will follow the Antichrist, and taking the mark of the beast appears final (Rev 14:9–11). The teacher suggests the delusion may answer that decision, not one made before the Rapture — “just a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Why does the teacher identify the Restrainer as the Holy Spirit indwelling the church? — Leader answer: The Restrainer must be powerful enough to hold back Satan — only God can. Verse 6’s neuter fits pneuma; verse 7’s masculine fits how Jesus spoke of the Spirit as “He.” Since Pentecost the Spirit indwells every believer and cannot leave him, so when He is taken out of the way, the church goes with Him.  Q2: Why will the Antichrist work signs and wonders, and how does the teacher connect this to some miracle workers today? — Leader answer: To imitate Jesus, whose messiahship was known by His works; a false messiah must do the same, with power from Satan. Teachers today who say “wherever there are miracles, God is doing it” are preparing people to conclude the Antichrist is of God.  Applications: Don’t Be Impressed by the Show — When you hear a claim of the miraculous this week, ask first what it teaches about Jesus and the gospel.  Remember Who Wins — Read Revelation 19:11–20:10 and thank God specifically for each victory Christ wins.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2 Thessalonians · Study 4 of 7 · 2 Thessalonians 2:6–12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73168"/>
            <a:ext cx="68580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2 Thessalonians · Study 4 of 7 · 2 Thessalonians 2:6–12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2 Thessalonians · Study 4 of 7 · 2 Thessalonians 2:6–12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The Removal of the Restrainer</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The apostasy, the man of sin — and a third thing must come first: the Restrainer taken out of the way. Then the lawless one is revealed, and the Lord Jesus destroys him at His coming. God is in control from beginning to end.</a:t>
            </a:r>
            <a:endParaRPr lang="en-US" sz="1500" dirty="0"/>
          </a:p>
        </p:txBody>
      </p:sp>
      <p:sp>
        <p:nvSpPr>
          <p:cNvPr id="5" name="Text 3"/>
          <p:cNvSpPr/>
          <p:nvPr/>
        </p:nvSpPr>
        <p:spPr>
          <a:xfrm>
            <a:off x="640080" y="4343400"/>
            <a:ext cx="7863840" cy="274320"/>
          </a:xfrm>
          <a:prstGeom prst="rect">
            <a:avLst/>
          </a:prstGeom>
          <a:noFill/>
          <a:ln/>
        </p:spPr>
        <p:txBody>
          <a:bodyPr wrap="square" lIns="0" tIns="0" rIns="0" bIns="0" rtlCol="0" anchor="ctr"/>
          <a:lstStyle/>
          <a:p>
            <a:pPr indent="0" marL="0">
              <a:buNone/>
            </a:pPr>
            <a:r>
              <a:rPr lang="en-US" sz="1000" dirty="0">
                <a:solidFill>
                  <a:srgbClr val="C9D5EE"/>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 seven studies · this study highlighted</a:t>
            </a:r>
            <a:endParaRPr lang="en-US" sz="1200" dirty="0"/>
          </a:p>
        </p:txBody>
      </p:sp>
      <p:sp>
        <p:nvSpPr>
          <p:cNvPr id="5" name="Shape 2"/>
          <p:cNvSpPr/>
          <p:nvPr/>
        </p:nvSpPr>
        <p:spPr>
          <a:xfrm>
            <a:off x="457200" y="1188720"/>
            <a:ext cx="1954530" cy="1371600"/>
          </a:xfrm>
          <a:prstGeom prst="rect">
            <a:avLst/>
          </a:prstGeom>
          <a:solidFill>
            <a:srgbClr val="F2F6FC"/>
          </a:solidFill>
          <a:ln w="9525">
            <a:solidFill>
              <a:srgbClr val="D5DCEA"/>
            </a:solidFill>
            <a:prstDash val="solid"/>
          </a:ln>
        </p:spPr>
      </p:sp>
      <p:sp>
        <p:nvSpPr>
          <p:cNvPr id="6" name="Text 3"/>
          <p:cNvSpPr/>
          <p:nvPr/>
        </p:nvSpPr>
        <p:spPr>
          <a:xfrm>
            <a:off x="56692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01  </a:t>
            </a:r>
            <a:pPr indent="0" marL="0">
              <a:buNone/>
            </a:pPr>
            <a:r>
              <a:rPr lang="en-US" sz="1050" b="1" dirty="0">
                <a:solidFill>
                  <a:srgbClr val="595959"/>
                </a:solidFill>
                <a:latin typeface="Arial" pitchFamily="34" charset="0"/>
                <a:ea typeface="Arial" pitchFamily="34" charset="-122"/>
                <a:cs typeface="Arial" pitchFamily="34" charset="-120"/>
              </a:rPr>
              <a:t>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Introduction and Background</a:t>
            </a:r>
            <a:endParaRPr lang="en-US" sz="1300" dirty="0"/>
          </a:p>
        </p:txBody>
      </p:sp>
      <p:sp>
        <p:nvSpPr>
          <p:cNvPr id="7" name="Shape 4"/>
          <p:cNvSpPr/>
          <p:nvPr/>
        </p:nvSpPr>
        <p:spPr>
          <a:xfrm>
            <a:off x="2548890" y="1188720"/>
            <a:ext cx="1954530" cy="1371600"/>
          </a:xfrm>
          <a:prstGeom prst="rect">
            <a:avLst/>
          </a:prstGeom>
          <a:solidFill>
            <a:srgbClr val="F2F6FC"/>
          </a:solidFill>
          <a:ln w="9525">
            <a:solidFill>
              <a:srgbClr val="D5DCEA"/>
            </a:solidFill>
            <a:prstDash val="solid"/>
          </a:ln>
        </p:spPr>
      </p:sp>
      <p:sp>
        <p:nvSpPr>
          <p:cNvPr id="8" name="Text 5"/>
          <p:cNvSpPr/>
          <p:nvPr/>
        </p:nvSpPr>
        <p:spPr>
          <a:xfrm>
            <a:off x="265861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02  </a:t>
            </a:r>
            <a:pPr indent="0" marL="0">
              <a:buNone/>
            </a:pPr>
            <a:r>
              <a:rPr lang="en-US" sz="1050" b="1" dirty="0">
                <a:solidFill>
                  <a:srgbClr val="595959"/>
                </a:solidFill>
                <a:latin typeface="Arial" pitchFamily="34" charset="0"/>
                <a:ea typeface="Arial" pitchFamily="34" charset="-122"/>
                <a:cs typeface="Arial" pitchFamily="34" charset="-120"/>
              </a:rPr>
              <a:t>1:3–12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Paul’s Admiration for the Thessalonians</a:t>
            </a:r>
            <a:endParaRPr lang="en-US" sz="1300" dirty="0"/>
          </a:p>
        </p:txBody>
      </p:sp>
      <p:sp>
        <p:nvSpPr>
          <p:cNvPr id="9" name="Shape 6"/>
          <p:cNvSpPr/>
          <p:nvPr/>
        </p:nvSpPr>
        <p:spPr>
          <a:xfrm>
            <a:off x="4640580" y="1188720"/>
            <a:ext cx="1954530" cy="1371600"/>
          </a:xfrm>
          <a:prstGeom prst="rect">
            <a:avLst/>
          </a:prstGeom>
          <a:solidFill>
            <a:srgbClr val="F2F6FC"/>
          </a:solidFill>
          <a:ln w="9525">
            <a:solidFill>
              <a:srgbClr val="D5DCEA"/>
            </a:solidFill>
            <a:prstDash val="solid"/>
          </a:ln>
        </p:spPr>
      </p:sp>
      <p:sp>
        <p:nvSpPr>
          <p:cNvPr id="10" name="Text 7"/>
          <p:cNvSpPr/>
          <p:nvPr/>
        </p:nvSpPr>
        <p:spPr>
          <a:xfrm>
            <a:off x="475030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03  </a:t>
            </a:r>
            <a:pPr indent="0" marL="0">
              <a:buNone/>
            </a:pPr>
            <a:r>
              <a:rPr lang="en-US" sz="1050" b="1" dirty="0">
                <a:solidFill>
                  <a:srgbClr val="595959"/>
                </a:solidFill>
                <a:latin typeface="Arial" pitchFamily="34" charset="0"/>
                <a:ea typeface="Arial" pitchFamily="34" charset="-122"/>
                <a:cs typeface="Arial" pitchFamily="34" charset="-120"/>
              </a:rPr>
              <a:t>2:1–5</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Confusion Concerning the Coming</a:t>
            </a:r>
            <a:endParaRPr lang="en-US" sz="1300" dirty="0"/>
          </a:p>
        </p:txBody>
      </p:sp>
      <p:sp>
        <p:nvSpPr>
          <p:cNvPr id="11" name="Shape 8"/>
          <p:cNvSpPr/>
          <p:nvPr/>
        </p:nvSpPr>
        <p:spPr>
          <a:xfrm>
            <a:off x="6732270" y="1188720"/>
            <a:ext cx="1954530" cy="1371600"/>
          </a:xfrm>
          <a:prstGeom prst="rect">
            <a:avLst/>
          </a:prstGeom>
          <a:solidFill>
            <a:srgbClr val="1F3864"/>
          </a:solidFill>
          <a:ln w="9525">
            <a:solidFill>
              <a:srgbClr val="1F3864"/>
            </a:solidFill>
            <a:prstDash val="solid"/>
          </a:ln>
        </p:spPr>
      </p:sp>
      <p:sp>
        <p:nvSpPr>
          <p:cNvPr id="12" name="Text 9"/>
          <p:cNvSpPr/>
          <p:nvPr/>
        </p:nvSpPr>
        <p:spPr>
          <a:xfrm>
            <a:off x="6841998" y="1298448"/>
            <a:ext cx="1735074" cy="1152144"/>
          </a:xfrm>
          <a:prstGeom prst="rect">
            <a:avLst/>
          </a:prstGeom>
          <a:noFill/>
          <a:ln/>
        </p:spPr>
        <p:txBody>
          <a:bodyPr wrap="square" lIns="0" tIns="0" rIns="0" bIns="0" rtlCol="0" anchor="t"/>
          <a:lstStyle/>
          <a:p>
            <a:pPr indent="0" marL="0">
              <a:buNone/>
            </a:pPr>
            <a:r>
              <a:rPr lang="en-US" sz="1300" b="1" dirty="0">
                <a:solidFill>
                  <a:srgbClr val="C9D5EE"/>
                </a:solidFill>
                <a:latin typeface="Arial" pitchFamily="34" charset="0"/>
                <a:ea typeface="Arial" pitchFamily="34" charset="-122"/>
                <a:cs typeface="Arial" pitchFamily="34" charset="-120"/>
              </a:rPr>
              <a:t>04  </a:t>
            </a:r>
            <a:pPr indent="0" marL="0">
              <a:buNone/>
            </a:pPr>
            <a:r>
              <a:rPr lang="en-US" sz="1050" b="1" dirty="0">
                <a:solidFill>
                  <a:srgbClr val="C9D5EE"/>
                </a:solidFill>
                <a:latin typeface="Arial" pitchFamily="34" charset="0"/>
                <a:ea typeface="Arial" pitchFamily="34" charset="-122"/>
                <a:cs typeface="Arial" pitchFamily="34" charset="-120"/>
              </a:rPr>
              <a:t>2:6–12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FFFFFF"/>
                </a:solidFill>
                <a:latin typeface="Arial" pitchFamily="34" charset="0"/>
                <a:ea typeface="Arial" pitchFamily="34" charset="-122"/>
                <a:cs typeface="Arial" pitchFamily="34" charset="-120"/>
              </a:rPr>
              <a:t>The Removal of the Restrainer</a:t>
            </a:r>
            <a:endParaRPr lang="en-US" sz="1300" dirty="0"/>
          </a:p>
        </p:txBody>
      </p:sp>
      <p:sp>
        <p:nvSpPr>
          <p:cNvPr id="13" name="Shape 10"/>
          <p:cNvSpPr/>
          <p:nvPr/>
        </p:nvSpPr>
        <p:spPr>
          <a:xfrm>
            <a:off x="457200" y="2761488"/>
            <a:ext cx="1954530" cy="1371600"/>
          </a:xfrm>
          <a:prstGeom prst="rect">
            <a:avLst/>
          </a:prstGeom>
          <a:solidFill>
            <a:srgbClr val="F2F6FC"/>
          </a:solidFill>
          <a:ln w="9525">
            <a:solidFill>
              <a:srgbClr val="D5DCEA"/>
            </a:solidFill>
            <a:prstDash val="solid"/>
          </a:ln>
        </p:spPr>
      </p:sp>
      <p:sp>
        <p:nvSpPr>
          <p:cNvPr id="14" name="Text 11"/>
          <p:cNvSpPr/>
          <p:nvPr/>
        </p:nvSpPr>
        <p:spPr>
          <a:xfrm>
            <a:off x="566928" y="2871216"/>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05  </a:t>
            </a:r>
            <a:pPr indent="0" marL="0">
              <a:buNone/>
            </a:pPr>
            <a:r>
              <a:rPr lang="en-US" sz="1050" b="1" dirty="0">
                <a:solidFill>
                  <a:srgbClr val="595959"/>
                </a:solidFill>
                <a:latin typeface="Arial" pitchFamily="34" charset="0"/>
                <a:ea typeface="Arial" pitchFamily="34" charset="-122"/>
                <a:cs typeface="Arial" pitchFamily="34" charset="-120"/>
              </a:rPr>
              <a:t>2:13–17</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Day of the Lord and Believers</a:t>
            </a:r>
            <a:endParaRPr lang="en-US" sz="1300" dirty="0"/>
          </a:p>
        </p:txBody>
      </p:sp>
      <p:sp>
        <p:nvSpPr>
          <p:cNvPr id="15" name="Shape 12"/>
          <p:cNvSpPr/>
          <p:nvPr/>
        </p:nvSpPr>
        <p:spPr>
          <a:xfrm>
            <a:off x="2548890" y="2761488"/>
            <a:ext cx="1954530" cy="1371600"/>
          </a:xfrm>
          <a:prstGeom prst="rect">
            <a:avLst/>
          </a:prstGeom>
          <a:solidFill>
            <a:srgbClr val="F2F6FC"/>
          </a:solidFill>
          <a:ln w="9525">
            <a:solidFill>
              <a:srgbClr val="D5DCEA"/>
            </a:solidFill>
            <a:prstDash val="solid"/>
          </a:ln>
        </p:spPr>
      </p:sp>
      <p:sp>
        <p:nvSpPr>
          <p:cNvPr id="16" name="Text 13"/>
          <p:cNvSpPr/>
          <p:nvPr/>
        </p:nvSpPr>
        <p:spPr>
          <a:xfrm>
            <a:off x="2658618" y="2871216"/>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06  </a:t>
            </a:r>
            <a:pPr indent="0" marL="0">
              <a:buNone/>
            </a:pPr>
            <a:r>
              <a:rPr lang="en-US" sz="1050" b="1" dirty="0">
                <a:solidFill>
                  <a:srgbClr val="595959"/>
                </a:solidFill>
                <a:latin typeface="Arial" pitchFamily="34" charset="0"/>
                <a:ea typeface="Arial" pitchFamily="34" charset="-122"/>
                <a:cs typeface="Arial" pitchFamily="34" charset="-120"/>
              </a:rPr>
              <a:t>3:1–12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Serving While Waiting</a:t>
            </a:r>
            <a:endParaRPr lang="en-US" sz="1300" dirty="0"/>
          </a:p>
        </p:txBody>
      </p:sp>
      <p:sp>
        <p:nvSpPr>
          <p:cNvPr id="17" name="Shape 14"/>
          <p:cNvSpPr/>
          <p:nvPr/>
        </p:nvSpPr>
        <p:spPr>
          <a:xfrm>
            <a:off x="4640580" y="2761488"/>
            <a:ext cx="1954530" cy="1371600"/>
          </a:xfrm>
          <a:prstGeom prst="rect">
            <a:avLst/>
          </a:prstGeom>
          <a:solidFill>
            <a:srgbClr val="F2F6FC"/>
          </a:solidFill>
          <a:ln w="9525">
            <a:solidFill>
              <a:srgbClr val="D5DCEA"/>
            </a:solidFill>
            <a:prstDash val="solid"/>
          </a:ln>
        </p:spPr>
      </p:sp>
      <p:sp>
        <p:nvSpPr>
          <p:cNvPr id="18" name="Text 15"/>
          <p:cNvSpPr/>
          <p:nvPr/>
        </p:nvSpPr>
        <p:spPr>
          <a:xfrm>
            <a:off x="4750308" y="2871216"/>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07  </a:t>
            </a:r>
            <a:pPr indent="0" marL="0">
              <a:buNone/>
            </a:pPr>
            <a:r>
              <a:rPr lang="en-US" sz="1050" b="1" dirty="0">
                <a:solidFill>
                  <a:srgbClr val="595959"/>
                </a:solidFill>
                <a:latin typeface="Arial" pitchFamily="34" charset="0"/>
                <a:ea typeface="Arial" pitchFamily="34" charset="-122"/>
                <a:cs typeface="Arial" pitchFamily="34" charset="-120"/>
              </a:rPr>
              <a:t>3:13–18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My Brother’s Keeper</a:t>
            </a:r>
            <a:endParaRPr lang="en-US" sz="1300" dirty="0"/>
          </a:p>
        </p:txBody>
      </p:sp>
      <p:sp>
        <p:nvSpPr>
          <p:cNvPr id="19" name="Shape 16"/>
          <p:cNvSpPr/>
          <p:nvPr/>
        </p:nvSpPr>
        <p:spPr>
          <a:xfrm>
            <a:off x="457200" y="4224528"/>
            <a:ext cx="8229600" cy="411480"/>
          </a:xfrm>
          <a:prstGeom prst="roundRect">
            <a:avLst>
              <a:gd name="adj" fmla="val 13333"/>
            </a:avLst>
          </a:prstGeom>
          <a:solidFill>
            <a:srgbClr val="1F3864"/>
          </a:solidFill>
          <a:ln w="12700">
            <a:solidFill>
              <a:srgbClr val="1F3864"/>
            </a:solidFill>
            <a:prstDash val="solid"/>
          </a:ln>
        </p:spPr>
      </p:sp>
      <p:sp>
        <p:nvSpPr>
          <p:cNvPr id="20" name="Text 17"/>
          <p:cNvSpPr/>
          <p:nvPr/>
        </p:nvSpPr>
        <p:spPr>
          <a:xfrm>
            <a:off x="621792" y="4224528"/>
            <a:ext cx="7900416" cy="411480"/>
          </a:xfrm>
          <a:prstGeom prst="rect">
            <a:avLst/>
          </a:prstGeom>
          <a:noFill/>
          <a:ln/>
        </p:spPr>
        <p:txBody>
          <a:bodyPr wrap="square" lIns="0" tIns="0" rIns="0" bIns="0" rtlCol="0" anchor="ctr"/>
          <a:lstStyle/>
          <a:p>
            <a:pPr indent="0" marL="0">
              <a:buNone/>
            </a:pPr>
            <a:r>
              <a:rPr lang="en-US" sz="1100" b="1" dirty="0">
                <a:solidFill>
                  <a:srgbClr val="C9D5EE"/>
                </a:solidFill>
                <a:latin typeface="Arial" pitchFamily="34" charset="0"/>
                <a:ea typeface="Arial" pitchFamily="34" charset="-122"/>
                <a:cs typeface="Arial" pitchFamily="34" charset="-120"/>
              </a:rPr>
              <a:t>Grace and peace frame the letter (1:2; 3:16–18):  </a:t>
            </a:r>
            <a:pPr indent="0" marL="0">
              <a:buNone/>
            </a:pPr>
            <a:r>
              <a:rPr lang="en-US" sz="1100" dirty="0">
                <a:solidFill>
                  <a:srgbClr val="FFFFFF"/>
                </a:solidFill>
                <a:latin typeface="Arial" pitchFamily="34" charset="0"/>
                <a:ea typeface="Arial" pitchFamily="34" charset="-122"/>
                <a:cs typeface="Arial" pitchFamily="34" charset="-120"/>
              </a:rPr>
              <a:t>persecution in chapter 1, prophecy in chapter 2, correction in chapter 3.</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reasons they were not in the Day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Introduction · A–D</a:t>
            </a:r>
            <a:endParaRPr lang="en-US" sz="1200" dirty="0"/>
          </a:p>
        </p:txBody>
      </p:sp>
      <p:sp>
        <p:nvSpPr>
          <p:cNvPr id="5" name="Shape 2"/>
          <p:cNvSpPr/>
          <p:nvPr/>
        </p:nvSpPr>
        <p:spPr>
          <a:xfrm>
            <a:off x="457200" y="1188720"/>
            <a:ext cx="2499360" cy="365760"/>
          </a:xfrm>
          <a:prstGeom prst="rect">
            <a:avLst/>
          </a:prstGeom>
          <a:solidFill>
            <a:srgbClr val="6B7280"/>
          </a:solidFill>
          <a:ln w="12700">
            <a:solidFill>
              <a:srgbClr val="6B7280"/>
            </a:solidFill>
            <a:prstDash val="solid"/>
          </a:ln>
        </p:spPr>
      </p:sp>
      <p:sp>
        <p:nvSpPr>
          <p:cNvPr id="6" name="Text 3"/>
          <p:cNvSpPr/>
          <p:nvPr/>
        </p:nvSpPr>
        <p:spPr>
          <a:xfrm>
            <a:off x="54864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1 · The apostasy</a:t>
            </a:r>
            <a:endParaRPr lang="en-US" sz="1200" dirty="0"/>
          </a:p>
        </p:txBody>
      </p:sp>
      <p:sp>
        <p:nvSpPr>
          <p:cNvPr id="7" name="Shape 4"/>
          <p:cNvSpPr/>
          <p:nvPr/>
        </p:nvSpPr>
        <p:spPr>
          <a:xfrm>
            <a:off x="457200" y="1554480"/>
            <a:ext cx="2499360" cy="1920240"/>
          </a:xfrm>
          <a:prstGeom prst="rect">
            <a:avLst/>
          </a:prstGeom>
          <a:solidFill>
            <a:srgbClr val="F2F6FC"/>
          </a:solidFill>
          <a:ln w="9525">
            <a:solidFill>
              <a:srgbClr val="D5DCEA"/>
            </a:solidFill>
            <a:prstDash val="solid"/>
          </a:ln>
        </p:spPr>
      </p:sp>
      <p:sp>
        <p:nvSpPr>
          <p:cNvPr id="8" name="Text 5"/>
          <p:cNvSpPr/>
          <p:nvPr/>
        </p:nvSpPr>
        <p:spPr>
          <a:xfrm>
            <a:off x="548640" y="1627632"/>
            <a:ext cx="2316480" cy="17922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falling away from the faith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Worldwide and church-wide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Studied in 2:3</a:t>
            </a:r>
            <a:endParaRPr lang="en-US" sz="1250" dirty="0"/>
          </a:p>
        </p:txBody>
      </p:sp>
      <p:sp>
        <p:nvSpPr>
          <p:cNvPr id="9" name="Shape 6"/>
          <p:cNvSpPr/>
          <p:nvPr/>
        </p:nvSpPr>
        <p:spPr>
          <a:xfrm>
            <a:off x="3020568" y="221284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365760"/>
          </a:xfrm>
          <a:prstGeom prst="rect">
            <a:avLst/>
          </a:prstGeom>
          <a:solidFill>
            <a:srgbClr val="2E5496"/>
          </a:solidFill>
          <a:ln w="12700">
            <a:solidFill>
              <a:srgbClr val="2E5496"/>
            </a:solidFill>
            <a:prstDash val="solid"/>
          </a:ln>
        </p:spPr>
      </p:sp>
      <p:sp>
        <p:nvSpPr>
          <p:cNvPr id="11" name="Text 8"/>
          <p:cNvSpPr/>
          <p:nvPr/>
        </p:nvSpPr>
        <p:spPr>
          <a:xfrm>
            <a:off x="341376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2 · The man of sin revealed</a:t>
            </a:r>
            <a:endParaRPr lang="en-US" sz="1200" dirty="0"/>
          </a:p>
        </p:txBody>
      </p:sp>
      <p:sp>
        <p:nvSpPr>
          <p:cNvPr id="12" name="Shape 9"/>
          <p:cNvSpPr/>
          <p:nvPr/>
        </p:nvSpPr>
        <p:spPr>
          <a:xfrm>
            <a:off x="3322320" y="1554480"/>
            <a:ext cx="2499360" cy="1920240"/>
          </a:xfrm>
          <a:prstGeom prst="rect">
            <a:avLst/>
          </a:prstGeom>
          <a:solidFill>
            <a:srgbClr val="F2F6FC"/>
          </a:solidFill>
          <a:ln w="9525">
            <a:solidFill>
              <a:srgbClr val="D5DCEA"/>
            </a:solidFill>
            <a:prstDash val="solid"/>
          </a:ln>
        </p:spPr>
      </p:sp>
      <p:sp>
        <p:nvSpPr>
          <p:cNvPr id="13" name="Text 10"/>
          <p:cNvSpPr/>
          <p:nvPr/>
        </p:nvSpPr>
        <p:spPr>
          <a:xfrm>
            <a:off x="3413760" y="1627632"/>
            <a:ext cx="2316480" cy="17922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seven-year covenant with Israel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Dan 9:27</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Israel’s prophecy clock restarts</a:t>
            </a:r>
            <a:endParaRPr lang="en-US" sz="1250" dirty="0"/>
          </a:p>
        </p:txBody>
      </p:sp>
      <p:sp>
        <p:nvSpPr>
          <p:cNvPr id="14" name="Shape 11"/>
          <p:cNvSpPr/>
          <p:nvPr/>
        </p:nvSpPr>
        <p:spPr>
          <a:xfrm>
            <a:off x="5885688" y="221284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365760"/>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3 · The Restrainer removed</a:t>
            </a:r>
            <a:endParaRPr lang="en-US" sz="1200" dirty="0"/>
          </a:p>
        </p:txBody>
      </p:sp>
      <p:sp>
        <p:nvSpPr>
          <p:cNvPr id="17" name="Shape 14"/>
          <p:cNvSpPr/>
          <p:nvPr/>
        </p:nvSpPr>
        <p:spPr>
          <a:xfrm>
            <a:off x="6187440" y="1554480"/>
            <a:ext cx="2499360" cy="1920240"/>
          </a:xfrm>
          <a:prstGeom prst="rect">
            <a:avLst/>
          </a:prstGeom>
          <a:solidFill>
            <a:srgbClr val="F2F6FC"/>
          </a:solidFill>
          <a:ln w="9525">
            <a:solidFill>
              <a:srgbClr val="D5DCEA"/>
            </a:solidFill>
            <a:prstDash val="solid"/>
          </a:ln>
        </p:spPr>
      </p:sp>
      <p:sp>
        <p:nvSpPr>
          <p:cNvPr id="18" name="Text 15"/>
          <p:cNvSpPr/>
          <p:nvPr/>
        </p:nvSpPr>
        <p:spPr>
          <a:xfrm>
            <a:off x="6278880" y="1627632"/>
            <a:ext cx="2316480" cy="17922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“Until He is taken out of the way”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2:6–7</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Today’s study</a:t>
            </a:r>
            <a:endParaRPr lang="en-US" sz="1250" dirty="0"/>
          </a:p>
        </p:txBody>
      </p:sp>
      <p:sp>
        <p:nvSpPr>
          <p:cNvPr id="19" name="Shape 16"/>
          <p:cNvSpPr/>
          <p:nvPr/>
        </p:nvSpPr>
        <p:spPr>
          <a:xfrm>
            <a:off x="457200" y="3657600"/>
            <a:ext cx="8229600" cy="914400"/>
          </a:xfrm>
          <a:prstGeom prst="roundRect">
            <a:avLst>
              <a:gd name="adj" fmla="val 6000"/>
            </a:avLst>
          </a:prstGeom>
          <a:solidFill>
            <a:srgbClr val="1F3864"/>
          </a:solidFill>
          <a:ln w="12700">
            <a:solidFill>
              <a:srgbClr val="1F3864"/>
            </a:solidFill>
            <a:prstDash val="solid"/>
          </a:ln>
        </p:spPr>
      </p:sp>
      <p:sp>
        <p:nvSpPr>
          <p:cNvPr id="20" name="Text 17"/>
          <p:cNvSpPr/>
          <p:nvPr/>
        </p:nvSpPr>
        <p:spPr>
          <a:xfrm>
            <a:off x="621792" y="3657600"/>
            <a:ext cx="7900416" cy="91440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“Do you not remember that when I was with you I told you these things?” (2:5) — Paul expected them to remember what he taught them. And why not?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Who is the Restrainer?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2:6–7 · I.A and I.C — A force and a person</a:t>
            </a:r>
            <a:endParaRPr lang="en-US" sz="1200" dirty="0"/>
          </a:p>
        </p:txBody>
      </p:sp>
      <p:sp>
        <p:nvSpPr>
          <p:cNvPr id="5" name="Shape 2"/>
          <p:cNvSpPr/>
          <p:nvPr/>
        </p:nvSpPr>
        <p:spPr>
          <a:xfrm>
            <a:off x="457200" y="1188720"/>
            <a:ext cx="3931920" cy="566928"/>
          </a:xfrm>
          <a:prstGeom prst="rect">
            <a:avLst/>
          </a:prstGeom>
          <a:solidFill>
            <a:srgbClr val="2E5496"/>
          </a:solidFill>
          <a:ln w="12700">
            <a:solidFill>
              <a:srgbClr val="2E5496"/>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v.6 — “what is restraining”</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τὸ κατέχον</a:t>
            </a:r>
            <a:pPr indent="0" marL="0">
              <a:buNone/>
            </a:pPr>
            <a:r>
              <a:rPr lang="en-US" sz="850" dirty="0">
                <a:solidFill>
                  <a:srgbClr val="DCE4F2"/>
                </a:solidFill>
                <a:latin typeface="Arial" pitchFamily="34" charset="0"/>
                <a:ea typeface="Arial" pitchFamily="34" charset="-122"/>
                <a:cs typeface="Arial" pitchFamily="34" charset="-120"/>
              </a:rPr>
              <a:t>  neuter</a:t>
            </a:r>
            <a:endParaRPr lang="en-US" sz="1200" dirty="0"/>
          </a:p>
        </p:txBody>
      </p:sp>
      <p:sp>
        <p:nvSpPr>
          <p:cNvPr id="7" name="Shape 4"/>
          <p:cNvSpPr/>
          <p:nvPr/>
        </p:nvSpPr>
        <p:spPr>
          <a:xfrm>
            <a:off x="457200" y="1755648"/>
            <a:ext cx="3931920" cy="1764792"/>
          </a:xfrm>
          <a:prstGeom prst="rect">
            <a:avLst/>
          </a:prstGeom>
          <a:solidFill>
            <a:srgbClr val="F2F6FC"/>
          </a:solidFill>
          <a:ln w="9525">
            <a:solidFill>
              <a:srgbClr val="D5DCEA"/>
            </a:solidFill>
            <a:prstDash val="solid"/>
          </a:ln>
        </p:spPr>
      </p:sp>
      <p:sp>
        <p:nvSpPr>
          <p:cNvPr id="8" name="Text 5"/>
          <p:cNvSpPr/>
          <p:nvPr/>
        </p:nvSpPr>
        <p:spPr>
          <a:xfrm>
            <a:off x="54864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force — a “what”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Fits pneuma, a neuter noun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Must be strong enough to hold back Satan</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v.7 — “He who now restrains”</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ὁ κατέχων</a:t>
            </a:r>
            <a:pPr indent="0" marL="0">
              <a:buNone/>
            </a:pPr>
            <a:r>
              <a:rPr lang="en-US" sz="850" dirty="0">
                <a:solidFill>
                  <a:srgbClr val="DCE4F2"/>
                </a:solidFill>
                <a:latin typeface="Arial" pitchFamily="34" charset="0"/>
                <a:ea typeface="Arial" pitchFamily="34" charset="-122"/>
                <a:cs typeface="Arial" pitchFamily="34" charset="-120"/>
              </a:rPr>
              <a:t>  masculine</a:t>
            </a:r>
            <a:endParaRPr lang="en-US" sz="1200" dirty="0"/>
          </a:p>
        </p:txBody>
      </p:sp>
      <p:sp>
        <p:nvSpPr>
          <p:cNvPr id="11" name="Shape 8"/>
          <p:cNvSpPr/>
          <p:nvPr/>
        </p:nvSpPr>
        <p:spPr>
          <a:xfrm>
            <a:off x="4754880" y="1755648"/>
            <a:ext cx="3931920" cy="176479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person — a “He”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As Jesus spoke of the Spirit (John 14–16)</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Indwells the church until removed</a:t>
            </a:r>
            <a:endParaRPr lang="en-US" sz="1250" dirty="0"/>
          </a:p>
        </p:txBody>
      </p:sp>
      <p:sp>
        <p:nvSpPr>
          <p:cNvPr id="13" name="Text 10"/>
          <p:cNvSpPr/>
          <p:nvPr/>
        </p:nvSpPr>
        <p:spPr>
          <a:xfrm>
            <a:off x="4389120" y="217170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a:t>
            </a:r>
            <a:endParaRPr lang="en-US" sz="1100" dirty="0"/>
          </a:p>
        </p:txBody>
      </p:sp>
      <p:sp>
        <p:nvSpPr>
          <p:cNvPr id="14" name="Shape 11"/>
          <p:cNvSpPr/>
          <p:nvPr/>
        </p:nvSpPr>
        <p:spPr>
          <a:xfrm>
            <a:off x="457200" y="3749040"/>
            <a:ext cx="8229600" cy="868680"/>
          </a:xfrm>
          <a:prstGeom prst="roundRect">
            <a:avLst>
              <a:gd name="adj" fmla="val 6316"/>
            </a:avLst>
          </a:prstGeom>
          <a:solidFill>
            <a:srgbClr val="1F3864"/>
          </a:solidFill>
          <a:ln w="12700">
            <a:solidFill>
              <a:srgbClr val="1F3864"/>
            </a:solidFill>
            <a:prstDash val="solid"/>
          </a:ln>
        </p:spPr>
      </p:sp>
      <p:sp>
        <p:nvSpPr>
          <p:cNvPr id="15" name="Text 12"/>
          <p:cNvSpPr/>
          <p:nvPr/>
        </p:nvSpPr>
        <p:spPr>
          <a:xfrm>
            <a:off x="621792" y="3749040"/>
            <a:ext cx="7900416" cy="86868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 Spirit cannot leave a believer (“forever,” John 14:16). If the Restrainer is taken out of the way, the church is taken out with Him.</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mystery of lawlessness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2:7a · I.B — The demonic activity</a:t>
            </a:r>
            <a:endParaRPr lang="en-US" sz="1200" dirty="0"/>
          </a:p>
        </p:txBody>
      </p:sp>
      <p:sp>
        <p:nvSpPr>
          <p:cNvPr id="5" name="Shape 2"/>
          <p:cNvSpPr/>
          <p:nvPr/>
        </p:nvSpPr>
        <p:spPr>
          <a:xfrm>
            <a:off x="457200" y="1188720"/>
            <a:ext cx="2602992" cy="1737360"/>
          </a:xfrm>
          <a:prstGeom prst="roundRect">
            <a:avLst>
              <a:gd name="adj" fmla="val 3158"/>
            </a:avLst>
          </a:prstGeom>
          <a:solidFill>
            <a:srgbClr val="F2F6FC"/>
          </a:solidFill>
          <a:ln w="9525">
            <a:solidFill>
              <a:srgbClr val="D5DCEA"/>
            </a:solidFill>
            <a:prstDash val="solid"/>
          </a:ln>
        </p:spPr>
      </p:sp>
      <p:sp>
        <p:nvSpPr>
          <p:cNvPr id="6" name="Shape 3"/>
          <p:cNvSpPr/>
          <p:nvPr/>
        </p:nvSpPr>
        <p:spPr>
          <a:xfrm>
            <a:off x="1557528"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557528"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church</a:t>
            </a:r>
            <a:endParaRPr lang="en-US" sz="1150" dirty="0"/>
          </a:p>
        </p:txBody>
      </p:sp>
      <p:sp>
        <p:nvSpPr>
          <p:cNvPr id="9" name="Text 6"/>
          <p:cNvSpPr/>
          <p:nvPr/>
        </p:nvSpPr>
        <p:spPr>
          <a:xfrm>
            <a:off x="530352" y="2157984"/>
            <a:ext cx="2456688" cy="3840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 mystery</a:t>
            </a:r>
            <a:endParaRPr lang="en-US" sz="1150" dirty="0"/>
          </a:p>
        </p:txBody>
      </p:sp>
      <p:sp>
        <p:nvSpPr>
          <p:cNvPr id="10" name="Text 7"/>
          <p:cNvSpPr/>
          <p:nvPr/>
        </p:nvSpPr>
        <p:spPr>
          <a:xfrm>
            <a:off x="530352" y="254203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Rom 16:25 · Eph 5:32</a:t>
            </a:r>
            <a:endParaRPr lang="en-US" sz="900" dirty="0"/>
          </a:p>
        </p:txBody>
      </p:sp>
      <p:sp>
        <p:nvSpPr>
          <p:cNvPr id="11" name="Shape 8"/>
          <p:cNvSpPr/>
          <p:nvPr/>
        </p:nvSpPr>
        <p:spPr>
          <a:xfrm>
            <a:off x="3064764" y="1938528"/>
            <a:ext cx="201168" cy="237744"/>
          </a:xfrm>
          <a:prstGeom prst="rightArrow">
            <a:avLst/>
          </a:prstGeom>
          <a:solidFill>
            <a:srgbClr val="6B7280"/>
          </a:solidFill>
          <a:ln w="12700">
            <a:solidFill>
              <a:srgbClr val="6B7280"/>
            </a:solidFill>
            <a:prstDash val="solid"/>
          </a:ln>
        </p:spPr>
      </p:sp>
      <p:sp>
        <p:nvSpPr>
          <p:cNvPr id="12" name="Shape 9"/>
          <p:cNvSpPr/>
          <p:nvPr/>
        </p:nvSpPr>
        <p:spPr>
          <a:xfrm>
            <a:off x="3270504" y="1188720"/>
            <a:ext cx="2602992" cy="1737360"/>
          </a:xfrm>
          <a:prstGeom prst="roundRect">
            <a:avLst>
              <a:gd name="adj" fmla="val 3158"/>
            </a:avLst>
          </a:prstGeom>
          <a:solidFill>
            <a:srgbClr val="F2F6FC"/>
          </a:solidFill>
          <a:ln w="9525">
            <a:solidFill>
              <a:srgbClr val="D5DCEA"/>
            </a:solidFill>
            <a:prstDash val="solid"/>
          </a:ln>
        </p:spPr>
      </p:sp>
      <p:sp>
        <p:nvSpPr>
          <p:cNvPr id="13" name="Shape 10"/>
          <p:cNvSpPr/>
          <p:nvPr/>
        </p:nvSpPr>
        <p:spPr>
          <a:xfrm>
            <a:off x="4370832"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3343656"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Rapture</a:t>
            </a:r>
            <a:endParaRPr lang="en-US" sz="1150" dirty="0"/>
          </a:p>
        </p:txBody>
      </p:sp>
      <p:sp>
        <p:nvSpPr>
          <p:cNvPr id="16" name="Text 13"/>
          <p:cNvSpPr/>
          <p:nvPr/>
        </p:nvSpPr>
        <p:spPr>
          <a:xfrm>
            <a:off x="3343656" y="2157984"/>
            <a:ext cx="2456688" cy="3840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 mystery</a:t>
            </a:r>
            <a:endParaRPr lang="en-US" sz="1150" dirty="0"/>
          </a:p>
        </p:txBody>
      </p:sp>
      <p:sp>
        <p:nvSpPr>
          <p:cNvPr id="17" name="Text 14"/>
          <p:cNvSpPr/>
          <p:nvPr/>
        </p:nvSpPr>
        <p:spPr>
          <a:xfrm>
            <a:off x="3343656" y="254203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1 Cor 15:51</a:t>
            </a:r>
            <a:endParaRPr lang="en-US" sz="900" dirty="0"/>
          </a:p>
        </p:txBody>
      </p:sp>
      <p:sp>
        <p:nvSpPr>
          <p:cNvPr id="18" name="Shape 15"/>
          <p:cNvSpPr/>
          <p:nvPr/>
        </p:nvSpPr>
        <p:spPr>
          <a:xfrm>
            <a:off x="5878068" y="1938528"/>
            <a:ext cx="201168" cy="237744"/>
          </a:xfrm>
          <a:prstGeom prst="rightArrow">
            <a:avLst/>
          </a:prstGeom>
          <a:solidFill>
            <a:srgbClr val="6B7280"/>
          </a:solidFill>
          <a:ln w="12700">
            <a:solidFill>
              <a:srgbClr val="6B7280"/>
            </a:solidFill>
            <a:prstDash val="solid"/>
          </a:ln>
        </p:spPr>
      </p:sp>
      <p:sp>
        <p:nvSpPr>
          <p:cNvPr id="19" name="Shape 16"/>
          <p:cNvSpPr/>
          <p:nvPr/>
        </p:nvSpPr>
        <p:spPr>
          <a:xfrm>
            <a:off x="6083808" y="1188720"/>
            <a:ext cx="2602992" cy="1737360"/>
          </a:xfrm>
          <a:prstGeom prst="roundRect">
            <a:avLst>
              <a:gd name="adj" fmla="val 3158"/>
            </a:avLst>
          </a:prstGeom>
          <a:solidFill>
            <a:srgbClr val="1F3864"/>
          </a:solidFill>
          <a:ln w="9525">
            <a:solidFill>
              <a:srgbClr val="1F3864"/>
            </a:solidFill>
            <a:prstDash val="solid"/>
          </a:ln>
        </p:spPr>
      </p:sp>
      <p:sp>
        <p:nvSpPr>
          <p:cNvPr id="20" name="Shape 17"/>
          <p:cNvSpPr/>
          <p:nvPr/>
        </p:nvSpPr>
        <p:spPr>
          <a:xfrm>
            <a:off x="7184136"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7184136"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6156960" y="1773936"/>
            <a:ext cx="2456688"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Lawlessness</a:t>
            </a:r>
            <a:endParaRPr lang="en-US" sz="1150" dirty="0"/>
          </a:p>
        </p:txBody>
      </p:sp>
      <p:sp>
        <p:nvSpPr>
          <p:cNvPr id="23" name="Text 20"/>
          <p:cNvSpPr/>
          <p:nvPr/>
        </p:nvSpPr>
        <p:spPr>
          <a:xfrm>
            <a:off x="6156960" y="2157984"/>
            <a:ext cx="2456688" cy="38404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A mystery — already at work</a:t>
            </a:r>
            <a:endParaRPr lang="en-US" sz="1150" dirty="0"/>
          </a:p>
        </p:txBody>
      </p:sp>
      <p:sp>
        <p:nvSpPr>
          <p:cNvPr id="24" name="Text 21"/>
          <p:cNvSpPr/>
          <p:nvPr/>
        </p:nvSpPr>
        <p:spPr>
          <a:xfrm>
            <a:off x="6156960" y="2542032"/>
            <a:ext cx="2456688"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μυστήριον · ἀνομία · 2:7</a:t>
            </a:r>
            <a:endParaRPr lang="en-US" sz="900" dirty="0"/>
          </a:p>
        </p:txBody>
      </p:sp>
      <p:sp>
        <p:nvSpPr>
          <p:cNvPr id="25" name="Shape 22"/>
          <p:cNvSpPr/>
          <p:nvPr/>
        </p:nvSpPr>
        <p:spPr>
          <a:xfrm>
            <a:off x="457200" y="3108960"/>
            <a:ext cx="4023360" cy="566928"/>
          </a:xfrm>
          <a:prstGeom prst="rect">
            <a:avLst/>
          </a:prstGeom>
          <a:solidFill>
            <a:srgbClr val="2E5496"/>
          </a:solidFill>
          <a:ln w="12700">
            <a:solidFill>
              <a:srgbClr val="2E5496"/>
            </a:solidFill>
            <a:prstDash val="solid"/>
          </a:ln>
        </p:spPr>
      </p:sp>
      <p:sp>
        <p:nvSpPr>
          <p:cNvPr id="26" name="Text 23"/>
          <p:cNvSpPr/>
          <p:nvPr/>
        </p:nvSpPr>
        <p:spPr>
          <a:xfrm>
            <a:off x="548640" y="315468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Already at work</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ἐνεργέω</a:t>
            </a:r>
            <a:pPr indent="0" marL="0">
              <a:buNone/>
            </a:pPr>
            <a:r>
              <a:rPr lang="en-US" sz="850" dirty="0">
                <a:solidFill>
                  <a:srgbClr val="DCE4F2"/>
                </a:solidFill>
                <a:latin typeface="Arial" pitchFamily="34" charset="0"/>
                <a:ea typeface="Arial" pitchFamily="34" charset="-122"/>
                <a:cs typeface="Arial" pitchFamily="34" charset="-120"/>
              </a:rPr>
              <a:t>  G1754</a:t>
            </a:r>
            <a:endParaRPr lang="en-US" sz="1200" dirty="0"/>
          </a:p>
        </p:txBody>
      </p:sp>
      <p:sp>
        <p:nvSpPr>
          <p:cNvPr id="27" name="Shape 24"/>
          <p:cNvSpPr/>
          <p:nvPr/>
        </p:nvSpPr>
        <p:spPr>
          <a:xfrm>
            <a:off x="457200" y="3675888"/>
            <a:ext cx="4023360" cy="941832"/>
          </a:xfrm>
          <a:prstGeom prst="rect">
            <a:avLst/>
          </a:prstGeom>
          <a:solidFill>
            <a:srgbClr val="F2F6FC"/>
          </a:solidFill>
          <a:ln w="9525">
            <a:solidFill>
              <a:srgbClr val="D5DCEA"/>
            </a:solidFill>
            <a:prstDash val="solid"/>
          </a:ln>
        </p:spPr>
      </p:sp>
      <p:sp>
        <p:nvSpPr>
          <p:cNvPr id="28" name="Text 25"/>
          <p:cNvSpPr/>
          <p:nvPr/>
        </p:nvSpPr>
        <p:spPr>
          <a:xfrm>
            <a:off x="548640" y="3749040"/>
            <a:ext cx="3840480" cy="813816"/>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Satan’s power operating now</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Same root in v.9 and v.11</a:t>
            </a:r>
            <a:endParaRPr lang="en-US" sz="1200" dirty="0"/>
          </a:p>
        </p:txBody>
      </p:sp>
      <p:sp>
        <p:nvSpPr>
          <p:cNvPr id="29" name="Shape 26"/>
          <p:cNvSpPr/>
          <p:nvPr/>
        </p:nvSpPr>
        <p:spPr>
          <a:xfrm>
            <a:off x="4663440" y="3108960"/>
            <a:ext cx="4023360" cy="365760"/>
          </a:xfrm>
          <a:prstGeom prst="rect">
            <a:avLst/>
          </a:prstGeom>
          <a:solidFill>
            <a:srgbClr val="375623"/>
          </a:solidFill>
          <a:ln w="12700">
            <a:solidFill>
              <a:srgbClr val="375623"/>
            </a:solidFill>
            <a:prstDash val="solid"/>
          </a:ln>
        </p:spPr>
      </p:sp>
      <p:sp>
        <p:nvSpPr>
          <p:cNvPr id="30" name="Text 27"/>
          <p:cNvSpPr/>
          <p:nvPr/>
        </p:nvSpPr>
        <p:spPr>
          <a:xfrm>
            <a:off x="4754880" y="315468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Only God can restrain it</a:t>
            </a:r>
            <a:endParaRPr lang="en-US" sz="1200" dirty="0"/>
          </a:p>
        </p:txBody>
      </p:sp>
      <p:sp>
        <p:nvSpPr>
          <p:cNvPr id="31" name="Shape 28"/>
          <p:cNvSpPr/>
          <p:nvPr/>
        </p:nvSpPr>
        <p:spPr>
          <a:xfrm>
            <a:off x="4663440" y="3474720"/>
            <a:ext cx="4023360" cy="1143000"/>
          </a:xfrm>
          <a:prstGeom prst="rect">
            <a:avLst/>
          </a:prstGeom>
          <a:solidFill>
            <a:srgbClr val="F2F6FC"/>
          </a:solidFill>
          <a:ln w="9525">
            <a:solidFill>
              <a:srgbClr val="D5DCEA"/>
            </a:solidFill>
            <a:prstDash val="solid"/>
          </a:ln>
        </p:spPr>
      </p:sp>
      <p:sp>
        <p:nvSpPr>
          <p:cNvPr id="32" name="Text 29"/>
          <p:cNvSpPr/>
          <p:nvPr/>
        </p:nvSpPr>
        <p:spPr>
          <a:xfrm>
            <a:off x="4754880" y="3547872"/>
            <a:ext cx="3840480" cy="1014984"/>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Satan is the mightiest angel</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Michael: “The Lord rebuke you” (Jude 9)</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When, who, why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2:8–10 · II — The prophetic climax</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When · v.8</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ἐπιφάνεια</a:t>
            </a:r>
            <a:pPr indent="0" marL="0">
              <a:buNone/>
            </a:pPr>
            <a:r>
              <a:rPr lang="en-US" sz="850" dirty="0">
                <a:solidFill>
                  <a:srgbClr val="DCE4F2"/>
                </a:solidFill>
                <a:latin typeface="Arial" pitchFamily="34" charset="0"/>
                <a:ea typeface="Arial" pitchFamily="34" charset="-122"/>
                <a:cs typeface="Arial" pitchFamily="34" charset="-120"/>
              </a:rPr>
              <a:t>  brightness of His coming</a:t>
            </a:r>
            <a:endParaRPr lang="en-US" sz="1200" dirty="0"/>
          </a:p>
        </p:txBody>
      </p:sp>
      <p:sp>
        <p:nvSpPr>
          <p:cNvPr id="7" name="Shape 4"/>
          <p:cNvSpPr/>
          <p:nvPr/>
        </p:nvSpPr>
        <p:spPr>
          <a:xfrm>
            <a:off x="457200" y="1755648"/>
            <a:ext cx="2621280" cy="1947672"/>
          </a:xfrm>
          <a:prstGeom prst="rect">
            <a:avLst/>
          </a:prstGeom>
          <a:solidFill>
            <a:srgbClr val="F2F6FC"/>
          </a:solidFill>
          <a:ln w="9525">
            <a:solidFill>
              <a:srgbClr val="D5DCEA"/>
            </a:solidFill>
            <a:prstDash val="solid"/>
          </a:ln>
        </p:spPr>
      </p:sp>
      <p:sp>
        <p:nvSpPr>
          <p:cNvPr id="8" name="Text 5"/>
          <p:cNvSpPr/>
          <p:nvPr/>
        </p:nvSpPr>
        <p:spPr>
          <a:xfrm>
            <a:off x="54864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Revealed after the removal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Consumed by the breath of His mouth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Destroyed at Christ’s coming</a:t>
            </a:r>
            <a:endParaRPr lang="en-US" sz="1250" dirty="0"/>
          </a:p>
        </p:txBody>
      </p:sp>
      <p:sp>
        <p:nvSpPr>
          <p:cNvPr id="9" name="Shape 6"/>
          <p:cNvSpPr/>
          <p:nvPr/>
        </p:nvSpPr>
        <p:spPr>
          <a:xfrm>
            <a:off x="3261360" y="1188720"/>
            <a:ext cx="2621280" cy="566928"/>
          </a:xfrm>
          <a:prstGeom prst="rect">
            <a:avLst/>
          </a:prstGeom>
          <a:solidFill>
            <a:srgbClr val="6B7280"/>
          </a:solidFill>
          <a:ln w="12700">
            <a:solidFill>
              <a:srgbClr val="6B7280"/>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Who · vv.9–10a</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σημεῖον · τέρας</a:t>
            </a:r>
            <a:pPr indent="0" marL="0">
              <a:buNone/>
            </a:pPr>
            <a:r>
              <a:rPr lang="en-US" sz="850" dirty="0">
                <a:solidFill>
                  <a:srgbClr val="DCE4F2"/>
                </a:solidFill>
                <a:latin typeface="Arial" pitchFamily="34" charset="0"/>
                <a:ea typeface="Arial" pitchFamily="34" charset="-122"/>
                <a:cs typeface="Arial" pitchFamily="34" charset="-120"/>
              </a:rPr>
              <a:t>  signs · wonders</a:t>
            </a:r>
            <a:endParaRPr lang="en-US" sz="1200" dirty="0"/>
          </a:p>
        </p:txBody>
      </p:sp>
      <p:sp>
        <p:nvSpPr>
          <p:cNvPr id="11" name="Shape 8"/>
          <p:cNvSpPr/>
          <p:nvPr/>
        </p:nvSpPr>
        <p:spPr>
          <a:xfrm>
            <a:off x="3261360" y="1755648"/>
            <a:ext cx="2621280" cy="194767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According to the working of Satan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Lying wonders imitate the Messiah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Deceiving those who perish</a:t>
            </a:r>
            <a:endParaRPr lang="en-US" sz="1250" dirty="0"/>
          </a:p>
        </p:txBody>
      </p:sp>
      <p:sp>
        <p:nvSpPr>
          <p:cNvPr id="13" name="Shape 10"/>
          <p:cNvSpPr/>
          <p:nvPr/>
        </p:nvSpPr>
        <p:spPr>
          <a:xfrm>
            <a:off x="6065520" y="1188720"/>
            <a:ext cx="2621280" cy="566928"/>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Why · v.10b</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ἀπάτη</a:t>
            </a:r>
            <a:pPr indent="0" marL="0">
              <a:buNone/>
            </a:pPr>
            <a:r>
              <a:rPr lang="en-US" sz="850" dirty="0">
                <a:solidFill>
                  <a:srgbClr val="DCE4F2"/>
                </a:solidFill>
                <a:latin typeface="Arial" pitchFamily="34" charset="0"/>
                <a:ea typeface="Arial" pitchFamily="34" charset="-122"/>
                <a:cs typeface="Arial" pitchFamily="34" charset="-120"/>
              </a:rPr>
              <a:t>  deception · G539</a:t>
            </a:r>
            <a:endParaRPr lang="en-US" sz="1200" dirty="0"/>
          </a:p>
        </p:txBody>
      </p:sp>
      <p:sp>
        <p:nvSpPr>
          <p:cNvPr id="15" name="Shape 12"/>
          <p:cNvSpPr/>
          <p:nvPr/>
        </p:nvSpPr>
        <p:spPr>
          <a:xfrm>
            <a:off x="6065520" y="1755648"/>
            <a:ext cx="2621280" cy="194767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“They did not receive the love of the truth”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They traded the cross for the show</a:t>
            </a:r>
            <a:endParaRPr lang="en-US" sz="1250" dirty="0"/>
          </a:p>
        </p:txBody>
      </p:sp>
      <p:sp>
        <p:nvSpPr>
          <p:cNvPr id="17" name="Shape 14"/>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18" name="Text 15"/>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Verse 8 is his whole career in three lines: he comes up, he rebels, he is thrown into the lake of fire.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God wins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2:8 · II.A.2–3 — Revelation 19:20 and 20:10</a:t>
            </a:r>
            <a:endParaRPr lang="en-US" sz="1200" dirty="0"/>
          </a:p>
        </p:txBody>
      </p:sp>
      <p:sp>
        <p:nvSpPr>
          <p:cNvPr id="5" name="Shape 2"/>
          <p:cNvSpPr/>
          <p:nvPr/>
        </p:nvSpPr>
        <p:spPr>
          <a:xfrm>
            <a:off x="457200" y="1188720"/>
            <a:ext cx="1899666" cy="2103120"/>
          </a:xfrm>
          <a:prstGeom prst="roundRect">
            <a:avLst>
              <a:gd name="adj" fmla="val 2888"/>
            </a:avLst>
          </a:prstGeom>
          <a:solidFill>
            <a:srgbClr val="F2F6FC"/>
          </a:solidFill>
          <a:ln w="9525">
            <a:solidFill>
              <a:srgbClr val="D5DCEA"/>
            </a:solidFill>
            <a:prstDash val="solid"/>
          </a:ln>
        </p:spPr>
      </p:sp>
      <p:sp>
        <p:nvSpPr>
          <p:cNvPr id="6" name="Shape 3"/>
          <p:cNvSpPr/>
          <p:nvPr/>
        </p:nvSpPr>
        <p:spPr>
          <a:xfrm>
            <a:off x="1205865"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Revealed</a:t>
            </a:r>
            <a:endParaRPr lang="en-US" sz="1150" dirty="0"/>
          </a:p>
        </p:txBody>
      </p:sp>
      <p:sp>
        <p:nvSpPr>
          <p:cNvPr id="9" name="Text 6"/>
          <p:cNvSpPr/>
          <p:nvPr/>
        </p:nvSpPr>
        <p:spPr>
          <a:xfrm>
            <a:off x="530352"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After the Restrainer is removed</a:t>
            </a:r>
            <a:endParaRPr lang="en-US" sz="1150" dirty="0"/>
          </a:p>
        </p:txBody>
      </p:sp>
      <p:sp>
        <p:nvSpPr>
          <p:cNvPr id="10" name="Text 7"/>
          <p:cNvSpPr/>
          <p:nvPr/>
        </p:nvSpPr>
        <p:spPr>
          <a:xfrm>
            <a:off x="530352"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2:8a</a:t>
            </a:r>
            <a:endParaRPr lang="en-US" sz="900" dirty="0"/>
          </a:p>
        </p:txBody>
      </p:sp>
      <p:sp>
        <p:nvSpPr>
          <p:cNvPr id="11" name="Shape 8"/>
          <p:cNvSpPr/>
          <p:nvPr/>
        </p:nvSpPr>
        <p:spPr>
          <a:xfrm>
            <a:off x="2361438" y="212140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2103120"/>
          </a:xfrm>
          <a:prstGeom prst="roundRect">
            <a:avLst>
              <a:gd name="adj" fmla="val 2888"/>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His career</a:t>
            </a:r>
            <a:endParaRPr lang="en-US" sz="1150" dirty="0"/>
          </a:p>
        </p:txBody>
      </p:sp>
      <p:sp>
        <p:nvSpPr>
          <p:cNvPr id="16" name="Text 13"/>
          <p:cNvSpPr/>
          <p:nvPr/>
        </p:nvSpPr>
        <p:spPr>
          <a:xfrm>
            <a:off x="2640330"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Empowered by Satan, worshiped by the perishing</a:t>
            </a:r>
            <a:endParaRPr lang="en-US" sz="1150" dirty="0"/>
          </a:p>
        </p:txBody>
      </p:sp>
      <p:sp>
        <p:nvSpPr>
          <p:cNvPr id="17" name="Text 14"/>
          <p:cNvSpPr/>
          <p:nvPr/>
        </p:nvSpPr>
        <p:spPr>
          <a:xfrm>
            <a:off x="2640330"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the Tribulation</a:t>
            </a:r>
            <a:endParaRPr lang="en-US" sz="900" dirty="0"/>
          </a:p>
        </p:txBody>
      </p:sp>
      <p:sp>
        <p:nvSpPr>
          <p:cNvPr id="18" name="Shape 15"/>
          <p:cNvSpPr/>
          <p:nvPr/>
        </p:nvSpPr>
        <p:spPr>
          <a:xfrm>
            <a:off x="4471416" y="212140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2103120"/>
          </a:xfrm>
          <a:prstGeom prst="roundRect">
            <a:avLst>
              <a:gd name="adj" fmla="val 2888"/>
            </a:avLst>
          </a:prstGeom>
          <a:solidFill>
            <a:srgbClr val="1F3864"/>
          </a:solidFill>
          <a:ln w="9525">
            <a:solidFill>
              <a:srgbClr val="1F3864"/>
            </a:solidFill>
            <a:prstDash val="solid"/>
          </a:ln>
        </p:spPr>
      </p:sp>
      <p:sp>
        <p:nvSpPr>
          <p:cNvPr id="20" name="Shape 17"/>
          <p:cNvSpPr/>
          <p:nvPr/>
        </p:nvSpPr>
        <p:spPr>
          <a:xfrm>
            <a:off x="5425821"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Cast alive</a:t>
            </a:r>
            <a:endParaRPr lang="en-US" sz="1150" dirty="0"/>
          </a:p>
        </p:txBody>
      </p:sp>
      <p:sp>
        <p:nvSpPr>
          <p:cNvPr id="23" name="Text 20"/>
          <p:cNvSpPr/>
          <p:nvPr/>
        </p:nvSpPr>
        <p:spPr>
          <a:xfrm>
            <a:off x="4750308" y="2157984"/>
            <a:ext cx="1753362"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The beast and the false prophet into the lake of fire</a:t>
            </a:r>
            <a:endParaRPr lang="en-US" sz="1150" dirty="0"/>
          </a:p>
        </p:txBody>
      </p:sp>
      <p:sp>
        <p:nvSpPr>
          <p:cNvPr id="24" name="Text 21"/>
          <p:cNvSpPr/>
          <p:nvPr/>
        </p:nvSpPr>
        <p:spPr>
          <a:xfrm>
            <a:off x="4750308" y="290779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Rev 19:20</a:t>
            </a:r>
            <a:endParaRPr lang="en-US" sz="900" dirty="0"/>
          </a:p>
        </p:txBody>
      </p:sp>
      <p:sp>
        <p:nvSpPr>
          <p:cNvPr id="25" name="Shape 22"/>
          <p:cNvSpPr/>
          <p:nvPr/>
        </p:nvSpPr>
        <p:spPr>
          <a:xfrm>
            <a:off x="6581394" y="212140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2103120"/>
          </a:xfrm>
          <a:prstGeom prst="roundRect">
            <a:avLst>
              <a:gd name="adj" fmla="val 2888"/>
            </a:avLst>
          </a:prstGeom>
          <a:solidFill>
            <a:srgbClr val="1F3864"/>
          </a:solidFill>
          <a:ln w="9525">
            <a:solidFill>
              <a:srgbClr val="1F3864"/>
            </a:solidFill>
            <a:prstDash val="solid"/>
          </a:ln>
        </p:spPr>
      </p:sp>
      <p:sp>
        <p:nvSpPr>
          <p:cNvPr id="27" name="Shape 24"/>
          <p:cNvSpPr/>
          <p:nvPr/>
        </p:nvSpPr>
        <p:spPr>
          <a:xfrm>
            <a:off x="7535799"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1,000 years later</a:t>
            </a:r>
            <a:endParaRPr lang="en-US" sz="1150" dirty="0"/>
          </a:p>
        </p:txBody>
      </p:sp>
      <p:sp>
        <p:nvSpPr>
          <p:cNvPr id="30" name="Text 27"/>
          <p:cNvSpPr/>
          <p:nvPr/>
        </p:nvSpPr>
        <p:spPr>
          <a:xfrm>
            <a:off x="6860286" y="2157984"/>
            <a:ext cx="1753362"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Satan joins them — “where the beast and false prophet are”</a:t>
            </a:r>
            <a:endParaRPr lang="en-US" sz="1150" dirty="0"/>
          </a:p>
        </p:txBody>
      </p:sp>
      <p:sp>
        <p:nvSpPr>
          <p:cNvPr id="31" name="Text 28"/>
          <p:cNvSpPr/>
          <p:nvPr/>
        </p:nvSpPr>
        <p:spPr>
          <a:xfrm>
            <a:off x="6860286" y="290779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Rev 20:10</a:t>
            </a:r>
            <a:endParaRPr lang="en-US" sz="900" dirty="0"/>
          </a:p>
        </p:txBody>
      </p:sp>
      <p:sp>
        <p:nvSpPr>
          <p:cNvPr id="32" name="Shape 29"/>
          <p:cNvSpPr/>
          <p:nvPr/>
        </p:nvSpPr>
        <p:spPr>
          <a:xfrm>
            <a:off x="457200" y="3520440"/>
            <a:ext cx="8229600" cy="777240"/>
          </a:xfrm>
          <a:prstGeom prst="roundRect">
            <a:avLst>
              <a:gd name="adj" fmla="val 7059"/>
            </a:avLst>
          </a:prstGeom>
          <a:solidFill>
            <a:srgbClr val="1F3864"/>
          </a:solidFill>
          <a:ln w="12700">
            <a:solidFill>
              <a:srgbClr val="1F3864"/>
            </a:solidFill>
            <a:prstDash val="solid"/>
          </a:ln>
        </p:spPr>
      </p:sp>
      <p:sp>
        <p:nvSpPr>
          <p:cNvPr id="33" name="Text 30"/>
          <p:cNvSpPr/>
          <p:nvPr/>
        </p:nvSpPr>
        <p:spPr>
          <a:xfrm>
            <a:off x="621792" y="3520440"/>
            <a:ext cx="7900416"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“I looked at the last page: He wins. And we’re winning with Him.”</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Delusion, damnation — and a question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2:11–12 · III — The practical conclusion</a:t>
            </a:r>
            <a:endParaRPr lang="en-US" sz="1200" dirty="0"/>
          </a:p>
        </p:txBody>
      </p:sp>
      <p:sp>
        <p:nvSpPr>
          <p:cNvPr id="5" name="Shape 2"/>
          <p:cNvSpPr/>
          <p:nvPr/>
        </p:nvSpPr>
        <p:spPr>
          <a:xfrm>
            <a:off x="457200" y="1188720"/>
            <a:ext cx="3931920" cy="566928"/>
          </a:xfrm>
          <a:prstGeom prst="rect">
            <a:avLst/>
          </a:prstGeom>
          <a:solidFill>
            <a:srgbClr val="6B7280"/>
          </a:solidFill>
          <a:ln w="12700">
            <a:solidFill>
              <a:srgbClr val="6B7280"/>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Delusion and damnation</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πλάνη · ψεῦδος</a:t>
            </a:r>
            <a:pPr indent="0" marL="0">
              <a:buNone/>
            </a:pPr>
            <a:r>
              <a:rPr lang="en-US" sz="850" dirty="0">
                <a:solidFill>
                  <a:srgbClr val="DCE4F2"/>
                </a:solidFill>
                <a:latin typeface="Arial" pitchFamily="34" charset="0"/>
                <a:ea typeface="Arial" pitchFamily="34" charset="-122"/>
                <a:cs typeface="Arial" pitchFamily="34" charset="-120"/>
              </a:rPr>
              <a:t>  delusion · the lie</a:t>
            </a:r>
            <a:endParaRPr lang="en-US" sz="1200" dirty="0"/>
          </a:p>
        </p:txBody>
      </p:sp>
      <p:sp>
        <p:nvSpPr>
          <p:cNvPr id="7" name="Shape 4"/>
          <p:cNvSpPr/>
          <p:nvPr/>
        </p:nvSpPr>
        <p:spPr>
          <a:xfrm>
            <a:off x="457200" y="1755648"/>
            <a:ext cx="3931920" cy="1810512"/>
          </a:xfrm>
          <a:prstGeom prst="rect">
            <a:avLst/>
          </a:prstGeom>
          <a:solidFill>
            <a:srgbClr val="F2F6FC"/>
          </a:solidFill>
          <a:ln w="9525">
            <a:solidFill>
              <a:srgbClr val="D5DCEA"/>
            </a:solidFill>
            <a:prstDash val="solid"/>
          </a:ln>
        </p:spPr>
      </p:sp>
      <p:sp>
        <p:nvSpPr>
          <p:cNvPr id="8" name="Text 5"/>
          <p:cNvSpPr/>
          <p:nvPr/>
        </p:nvSpPr>
        <p:spPr>
          <a:xfrm>
            <a:off x="54864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Strong delusion — a working of error</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They believe the lie: the Antichrist is God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Condemned — declared and deserved</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Can those left behind believe?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“a great multitude”</a:t>
            </a:r>
            <a:pPr indent="0" marL="0">
              <a:buNone/>
            </a:pPr>
            <a:r>
              <a:rPr lang="en-US" sz="850" dirty="0">
                <a:solidFill>
                  <a:srgbClr val="DCE4F2"/>
                </a:solidFill>
                <a:latin typeface="Arial" pitchFamily="34" charset="0"/>
                <a:ea typeface="Arial" pitchFamily="34" charset="-122"/>
                <a:cs typeface="Arial" pitchFamily="34" charset="-120"/>
              </a:rPr>
              <a:t>  Rev 7:9</a:t>
            </a:r>
            <a:endParaRPr lang="en-US" sz="1200" dirty="0"/>
          </a:p>
        </p:txBody>
      </p:sp>
      <p:sp>
        <p:nvSpPr>
          <p:cNvPr id="11" name="Shape 8"/>
          <p:cNvSpPr/>
          <p:nvPr/>
        </p:nvSpPr>
        <p:spPr>
          <a:xfrm>
            <a:off x="4754880" y="1755648"/>
            <a:ext cx="3931920" cy="181051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Yes — the 144,000 and a great multitude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But many take the mark — no turning back</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Eternal life is always by faith in Christ</a:t>
            </a:r>
            <a:endParaRPr lang="en-US" sz="1250" dirty="0"/>
          </a:p>
        </p:txBody>
      </p:sp>
      <p:sp>
        <p:nvSpPr>
          <p:cNvPr id="13" name="Text 10"/>
          <p:cNvSpPr/>
          <p:nvPr/>
        </p:nvSpPr>
        <p:spPr>
          <a:xfrm>
            <a:off x="4389120" y="219456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94760"/>
            <a:ext cx="8229600" cy="777240"/>
          </a:xfrm>
          <a:prstGeom prst="roundRect">
            <a:avLst>
              <a:gd name="adj" fmla="val 7059"/>
            </a:avLst>
          </a:prstGeom>
          <a:solidFill>
            <a:srgbClr val="1F3864"/>
          </a:solidFill>
          <a:ln w="12700">
            <a:solidFill>
              <a:srgbClr val="1F3864"/>
            </a:solidFill>
            <a:prstDash val="solid"/>
          </a:ln>
        </p:spPr>
      </p:sp>
      <p:sp>
        <p:nvSpPr>
          <p:cNvPr id="15" name="Text 12"/>
          <p:cNvSpPr/>
          <p:nvPr/>
        </p:nvSpPr>
        <p:spPr>
          <a:xfrm>
            <a:off x="621792" y="3794760"/>
            <a:ext cx="7900416"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All rejection of Christ’s offer of eternal life — offered at the cost of His own life — deserves eternal punishment. All judgment is given to the Son (John 5:27).</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2:6–12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Why does the teacher identify the Restrainer as the Holy Spirit indwelling the church?</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Why will the Antichrist work signs and wonders, and how does the teacher connect this to some miracle workers today?</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Don’t Be Impressed by the Show</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When you hear a claim of the miraculous this week, ask first what it teaches about Jesus and the gospel.</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Remember Who Wins</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Read Revelation 19:11–20:10 and thank God specifically for each victory Christ wins.</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The Spirit in the church holds back lawlessness until He is taken out of the way — and then Christ destroys the lawless one. He wins.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 Thessalonians Study 4 — The Removal of the Restrainer: Charts</dc:title>
  <dc:subject>PptxGenJS Presentation</dc:subject>
  <dc:creator>The Gospel Vault</dc:creator>
  <cp:lastModifiedBy>The Gospel Vault</cp:lastModifiedBy>
  <cp:revision>1</cp:revision>
  <dcterms:created xsi:type="dcterms:W3CDTF">2026-10-30T06:34:07Z</dcterms:created>
  <dcterms:modified xsi:type="dcterms:W3CDTF">2026-10-30T06:34:07Z</dcterms:modified>
</cp:coreProperties>
</file>