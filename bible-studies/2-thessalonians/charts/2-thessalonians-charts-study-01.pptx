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title slide carries the study’s proposition. Study 1 covers the background of the letter (Paul’s road to Thessalonica, Acts 15:36–18:11) and the greeting of 1:1–2. Every chart stays within the commentary posted for this study — the teacher’s text, the “From the Outline” boxes and the Study Notes — and Greek words come from the study’s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(B.1–6): Paul and Barnabas part ways; Paul chooses Silas. Timothy, “well spoken of” in Lystra and Iconium, joins the team. The Spirit closes doors until the Macedonian call at Troas. In Philippi the jailer asks “What must I do to be saved?” — and Paul’s answer is the gospel he preached in Thessalonica: “Believe on the Lord Jesus Christ.” Three Sabbaths in the synagogue (Acts 17:2) — but he was there longer. Then Berea, Athens and Corinth, where both letters were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(C.1.a–c and Study Notes): Just “Paul” — not “Paul the apostle,” as with the Galatians (doctrinal errors) and Corinthians (errors in conduct). Here he is their friend. Silvanus is the Latin form of Silas — a leading man of the Jerusalem church, a prophet, a Roman citizen, later Peter’s courier (1 Pet 5:12), and one of their founders. Timothy is the leader in training who had come back to stand with them (1 Thess 3:2,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(C.2.a–c, with ἐκκλησία, ἐν, πατήρ): Ekklēsia was a secular word for any assembly — even the worshipers of Diana (Acts 19:32). Jesus took it: the church universal (Matt 16:18) and the local church (Matt 18:17). This is a local church — “of the Thessalonians,” identified by its people. Its address is “in” God: security, love and strength. Study Note: 1 Thessalonians 1:1 says “the Father”; 2 Thessalonians 1:1 says “our Father” — a family word for a suffering church.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(C.2.d–e and Study Note, with χάρις, εἰρήνη, ἀπό): Grace is favor in spite of demerit — we deserve His fury and He gives grace. Peace (eirēnē; shalom) is wholeness, prosperity, welfare. One preposition, apo, governs both Father and Son — one fountain of blessing, a quiet witness to Christ’s deity. Grace comes first, then peace: peace with God is settled at faith (Rom 5:1); the peace wished here is the daily peace that guards the heart in trouble (Phil 4:7). The letter closes the same way (3:16,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Paul writes simply “Paul,” not “Paul the apostle.” Why does that matter here, and how does it compare with Galatians and Corinthians? — Leader answer: To the Galatians (doctrinal errors) and Corinthians (errors in conduct) Paul used his title because he needed to speak with authority. To the Thessalonians he is “Paul, their friend” — the plain name signals relationship and affection with a church that was doing well.  Q2: How does the teacher define grace, and what does peace mean? Why does grace come before peace? — Leader answer: Grace is “favor in spite of demerit”: we deserve His judgment, and He gives grace. Peace means wholeness, prosperity, welfare. Grace is the source; peace is the result. Peace with God is settled at faith (Rom 5:1); the greeting’s peace is the daily peace believers need in trouble.  Applications: Live at Your True Address — Write “in God our Father and the Lord Jesus Christ” on a card and keep it where you’ll see it each morning.  Receive Favor in Spite of Demerit — Each day this week, thank God by name for one specific grace you did not deserve.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2 Thessalonians · Study 1 of 7 · 2 Thessalonians 1:1–2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2 Thessalonians · Study 1 of 7 · 2 Thessalonians 1:1–2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2 Thessalonians · Study 1 of 7 · 2 Thessalonians 1:1–2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Introduction and Background</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Before Paul says one word about persecution, prophecy, or correction, he reminds a young, suffering church where it came from and who it is — a church “in God our Father and the Lord Jesus Christ.”</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 seven studies · this study highlighted</a:t>
            </a:r>
            <a:endParaRPr lang="en-US" sz="1200" dirty="0"/>
          </a:p>
        </p:txBody>
      </p:sp>
      <p:sp>
        <p:nvSpPr>
          <p:cNvPr id="5" name="Shape 2"/>
          <p:cNvSpPr/>
          <p:nvPr/>
        </p:nvSpPr>
        <p:spPr>
          <a:xfrm>
            <a:off x="457200" y="1188720"/>
            <a:ext cx="1954530" cy="1371600"/>
          </a:xfrm>
          <a:prstGeom prst="rect">
            <a:avLst/>
          </a:prstGeom>
          <a:solidFill>
            <a:srgbClr val="1F3864"/>
          </a:solidFill>
          <a:ln w="9525">
            <a:solidFill>
              <a:srgbClr val="1F3864"/>
            </a:solidFill>
            <a:prstDash val="solid"/>
          </a:ln>
        </p:spPr>
      </p:sp>
      <p:sp>
        <p:nvSpPr>
          <p:cNvPr id="6" name="Text 3"/>
          <p:cNvSpPr/>
          <p:nvPr/>
        </p:nvSpPr>
        <p:spPr>
          <a:xfrm>
            <a:off x="566928" y="1298448"/>
            <a:ext cx="1735074"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01  </a:t>
            </a:r>
            <a:pPr indent="0" marL="0">
              <a:buNone/>
            </a:pPr>
            <a:r>
              <a:rPr lang="en-US" sz="1050" b="1" dirty="0">
                <a:solidFill>
                  <a:srgbClr val="C9D5EE"/>
                </a:solidFill>
                <a:latin typeface="Arial" pitchFamily="34" charset="0"/>
                <a:ea typeface="Arial" pitchFamily="34" charset="-122"/>
                <a:cs typeface="Arial" pitchFamily="34" charset="-120"/>
              </a:rPr>
              <a:t>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Introduction and Background</a:t>
            </a:r>
            <a:endParaRPr lang="en-US" sz="1300" dirty="0"/>
          </a:p>
        </p:txBody>
      </p:sp>
      <p:sp>
        <p:nvSpPr>
          <p:cNvPr id="7" name="Shape 4"/>
          <p:cNvSpPr/>
          <p:nvPr/>
        </p:nvSpPr>
        <p:spPr>
          <a:xfrm>
            <a:off x="2548890" y="1188720"/>
            <a:ext cx="1954530" cy="1371600"/>
          </a:xfrm>
          <a:prstGeom prst="rect">
            <a:avLst/>
          </a:prstGeom>
          <a:solidFill>
            <a:srgbClr val="F2F6FC"/>
          </a:solidFill>
          <a:ln w="9525">
            <a:solidFill>
              <a:srgbClr val="D5DCEA"/>
            </a:solidFill>
            <a:prstDash val="solid"/>
          </a:ln>
        </p:spPr>
      </p:sp>
      <p:sp>
        <p:nvSpPr>
          <p:cNvPr id="8" name="Text 5"/>
          <p:cNvSpPr/>
          <p:nvPr/>
        </p:nvSpPr>
        <p:spPr>
          <a:xfrm>
            <a:off x="265861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1:3–12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Paul’s Admiration for the Thessalonians</a:t>
            </a:r>
            <a:endParaRPr lang="en-US" sz="1300" dirty="0"/>
          </a:p>
        </p:txBody>
      </p:sp>
      <p:sp>
        <p:nvSpPr>
          <p:cNvPr id="9" name="Shape 6"/>
          <p:cNvSpPr/>
          <p:nvPr/>
        </p:nvSpPr>
        <p:spPr>
          <a:xfrm>
            <a:off x="4640580" y="1188720"/>
            <a:ext cx="1954530" cy="1371600"/>
          </a:xfrm>
          <a:prstGeom prst="rect">
            <a:avLst/>
          </a:prstGeom>
          <a:solidFill>
            <a:srgbClr val="F2F6FC"/>
          </a:solidFill>
          <a:ln w="9525">
            <a:solidFill>
              <a:srgbClr val="D5DCEA"/>
            </a:solidFill>
            <a:prstDash val="solid"/>
          </a:ln>
        </p:spPr>
      </p:sp>
      <p:sp>
        <p:nvSpPr>
          <p:cNvPr id="10" name="Text 7"/>
          <p:cNvSpPr/>
          <p:nvPr/>
        </p:nvSpPr>
        <p:spPr>
          <a:xfrm>
            <a:off x="475030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Confusion Concerning the Coming</a:t>
            </a:r>
            <a:endParaRPr lang="en-US" sz="1300" dirty="0"/>
          </a:p>
        </p:txBody>
      </p:sp>
      <p:sp>
        <p:nvSpPr>
          <p:cNvPr id="11" name="Shape 8"/>
          <p:cNvSpPr/>
          <p:nvPr/>
        </p:nvSpPr>
        <p:spPr>
          <a:xfrm>
            <a:off x="6732270" y="1188720"/>
            <a:ext cx="1954530" cy="1371600"/>
          </a:xfrm>
          <a:prstGeom prst="rect">
            <a:avLst/>
          </a:prstGeom>
          <a:solidFill>
            <a:srgbClr val="F2F6FC"/>
          </a:solidFill>
          <a:ln w="9525">
            <a:solidFill>
              <a:srgbClr val="D5DCEA"/>
            </a:solidFill>
            <a:prstDash val="solid"/>
          </a:ln>
        </p:spPr>
      </p:sp>
      <p:sp>
        <p:nvSpPr>
          <p:cNvPr id="12" name="Text 9"/>
          <p:cNvSpPr/>
          <p:nvPr/>
        </p:nvSpPr>
        <p:spPr>
          <a:xfrm>
            <a:off x="684199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04  </a:t>
            </a:r>
            <a:pPr indent="0" marL="0">
              <a:buNone/>
            </a:pPr>
            <a:r>
              <a:rPr lang="en-US" sz="1050" b="1" dirty="0">
                <a:solidFill>
                  <a:srgbClr val="595959"/>
                </a:solidFill>
                <a:latin typeface="Arial" pitchFamily="34" charset="0"/>
                <a:ea typeface="Arial" pitchFamily="34" charset="-122"/>
                <a:cs typeface="Arial" pitchFamily="34" charset="-120"/>
              </a:rPr>
              <a:t>2:6–12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Removal of the Restrainer</a:t>
            </a:r>
            <a:endParaRPr lang="en-US" sz="1300" dirty="0"/>
          </a:p>
        </p:txBody>
      </p:sp>
      <p:sp>
        <p:nvSpPr>
          <p:cNvPr id="13" name="Shape 10"/>
          <p:cNvSpPr/>
          <p:nvPr/>
        </p:nvSpPr>
        <p:spPr>
          <a:xfrm>
            <a:off x="457200" y="2761488"/>
            <a:ext cx="1954530" cy="1371600"/>
          </a:xfrm>
          <a:prstGeom prst="rect">
            <a:avLst/>
          </a:prstGeom>
          <a:solidFill>
            <a:srgbClr val="F2F6FC"/>
          </a:solidFill>
          <a:ln w="9525">
            <a:solidFill>
              <a:srgbClr val="D5DCEA"/>
            </a:solidFill>
            <a:prstDash val="solid"/>
          </a:ln>
        </p:spPr>
      </p:sp>
      <p:sp>
        <p:nvSpPr>
          <p:cNvPr id="14" name="Text 11"/>
          <p:cNvSpPr/>
          <p:nvPr/>
        </p:nvSpPr>
        <p:spPr>
          <a:xfrm>
            <a:off x="56692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05  </a:t>
            </a:r>
            <a:pPr indent="0" marL="0">
              <a:buNone/>
            </a:pPr>
            <a:r>
              <a:rPr lang="en-US" sz="1050" b="1" dirty="0">
                <a:solidFill>
                  <a:srgbClr val="595959"/>
                </a:solidFill>
                <a:latin typeface="Arial" pitchFamily="34" charset="0"/>
                <a:ea typeface="Arial" pitchFamily="34" charset="-122"/>
                <a:cs typeface="Arial" pitchFamily="34" charset="-120"/>
              </a:rPr>
              <a:t>2:13–17</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Day of the Lord and Believers</a:t>
            </a:r>
            <a:endParaRPr lang="en-US" sz="1300" dirty="0"/>
          </a:p>
        </p:txBody>
      </p:sp>
      <p:sp>
        <p:nvSpPr>
          <p:cNvPr id="15" name="Shape 12"/>
          <p:cNvSpPr/>
          <p:nvPr/>
        </p:nvSpPr>
        <p:spPr>
          <a:xfrm>
            <a:off x="2548890" y="2761488"/>
            <a:ext cx="1954530" cy="1371600"/>
          </a:xfrm>
          <a:prstGeom prst="rect">
            <a:avLst/>
          </a:prstGeom>
          <a:solidFill>
            <a:srgbClr val="F2F6FC"/>
          </a:solidFill>
          <a:ln w="9525">
            <a:solidFill>
              <a:srgbClr val="D5DCEA"/>
            </a:solidFill>
            <a:prstDash val="solid"/>
          </a:ln>
        </p:spPr>
      </p:sp>
      <p:sp>
        <p:nvSpPr>
          <p:cNvPr id="16" name="Text 13"/>
          <p:cNvSpPr/>
          <p:nvPr/>
        </p:nvSpPr>
        <p:spPr>
          <a:xfrm>
            <a:off x="265861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06  </a:t>
            </a:r>
            <a:pPr indent="0" marL="0">
              <a:buNone/>
            </a:pPr>
            <a:r>
              <a:rPr lang="en-US" sz="1050" b="1" dirty="0">
                <a:solidFill>
                  <a:srgbClr val="595959"/>
                </a:solidFill>
                <a:latin typeface="Arial" pitchFamily="34" charset="0"/>
                <a:ea typeface="Arial" pitchFamily="34" charset="-122"/>
                <a:cs typeface="Arial" pitchFamily="34" charset="-120"/>
              </a:rPr>
              <a:t>3:1–12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Serving While Waiting</a:t>
            </a:r>
            <a:endParaRPr lang="en-US" sz="1300" dirty="0"/>
          </a:p>
        </p:txBody>
      </p:sp>
      <p:sp>
        <p:nvSpPr>
          <p:cNvPr id="17" name="Shape 14"/>
          <p:cNvSpPr/>
          <p:nvPr/>
        </p:nvSpPr>
        <p:spPr>
          <a:xfrm>
            <a:off x="4640580" y="2761488"/>
            <a:ext cx="1954530" cy="1371600"/>
          </a:xfrm>
          <a:prstGeom prst="rect">
            <a:avLst/>
          </a:prstGeom>
          <a:solidFill>
            <a:srgbClr val="F2F6FC"/>
          </a:solidFill>
          <a:ln w="9525">
            <a:solidFill>
              <a:srgbClr val="D5DCEA"/>
            </a:solidFill>
            <a:prstDash val="solid"/>
          </a:ln>
        </p:spPr>
      </p:sp>
      <p:sp>
        <p:nvSpPr>
          <p:cNvPr id="18" name="Text 15"/>
          <p:cNvSpPr/>
          <p:nvPr/>
        </p:nvSpPr>
        <p:spPr>
          <a:xfrm>
            <a:off x="475030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07  </a:t>
            </a:r>
            <a:pPr indent="0" marL="0">
              <a:buNone/>
            </a:pPr>
            <a:r>
              <a:rPr lang="en-US" sz="1050" b="1" dirty="0">
                <a:solidFill>
                  <a:srgbClr val="595959"/>
                </a:solidFill>
                <a:latin typeface="Arial" pitchFamily="34" charset="0"/>
                <a:ea typeface="Arial" pitchFamily="34" charset="-122"/>
                <a:cs typeface="Arial" pitchFamily="34" charset="-120"/>
              </a:rPr>
              <a:t>3:13–18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My Brother’s Keeper</a:t>
            </a:r>
            <a:endParaRPr lang="en-US" sz="1300" dirty="0"/>
          </a:p>
        </p:txBody>
      </p:sp>
      <p:sp>
        <p:nvSpPr>
          <p:cNvPr id="19" name="Shape 16"/>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0" name="Text 17"/>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Grace and peace frame the letter (1:2; 3:16–18):  </a:t>
            </a:r>
            <a:pPr indent="0" marL="0">
              <a:buNone/>
            </a:pPr>
            <a:r>
              <a:rPr lang="en-US" sz="1100" dirty="0">
                <a:solidFill>
                  <a:srgbClr val="FFFFFF"/>
                </a:solidFill>
                <a:latin typeface="Arial" pitchFamily="34" charset="0"/>
                <a:ea typeface="Arial" pitchFamily="34" charset="-122"/>
                <a:cs typeface="Arial" pitchFamily="34" charset="-120"/>
              </a:rPr>
              <a:t>persecution in chapter 1, prophecy in chapter 2, correction in chapter 3.</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road to Thessalonica</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B · The background geographically (Acts 15:36–18:11)</a:t>
            </a:r>
            <a:endParaRPr lang="en-US" sz="1200" dirty="0"/>
          </a:p>
        </p:txBody>
      </p:sp>
      <p:sp>
        <p:nvSpPr>
          <p:cNvPr id="5" name="Shape 2"/>
          <p:cNvSpPr/>
          <p:nvPr/>
        </p:nvSpPr>
        <p:spPr>
          <a:xfrm>
            <a:off x="457200" y="1188720"/>
            <a:ext cx="1477670" cy="210312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team</a:t>
            </a:r>
            <a:endParaRPr lang="en-US" sz="1150" dirty="0"/>
          </a:p>
        </p:txBody>
      </p:sp>
      <p:sp>
        <p:nvSpPr>
          <p:cNvPr id="9" name="Text 6"/>
          <p:cNvSpPr/>
          <p:nvPr/>
        </p:nvSpPr>
        <p:spPr>
          <a:xfrm>
            <a:off x="53035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Paul and Silas; Timothy joins at Lystra</a:t>
            </a:r>
            <a:endParaRPr lang="en-US" sz="1150" dirty="0"/>
          </a:p>
        </p:txBody>
      </p:sp>
      <p:sp>
        <p:nvSpPr>
          <p:cNvPr id="10" name="Text 7"/>
          <p:cNvSpPr/>
          <p:nvPr/>
        </p:nvSpPr>
        <p:spPr>
          <a:xfrm>
            <a:off x="53035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15:36–16:3</a:t>
            </a:r>
            <a:endParaRPr lang="en-US" sz="900" dirty="0"/>
          </a:p>
        </p:txBody>
      </p:sp>
      <p:sp>
        <p:nvSpPr>
          <p:cNvPr id="11" name="Shape 8"/>
          <p:cNvSpPr/>
          <p:nvPr/>
        </p:nvSpPr>
        <p:spPr>
          <a:xfrm>
            <a:off x="1939442"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10312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Troas</a:t>
            </a:r>
            <a:endParaRPr lang="en-US" sz="1150" dirty="0"/>
          </a:p>
        </p:txBody>
      </p:sp>
      <p:sp>
        <p:nvSpPr>
          <p:cNvPr id="16" name="Text 13"/>
          <p:cNvSpPr/>
          <p:nvPr/>
        </p:nvSpPr>
        <p:spPr>
          <a:xfrm>
            <a:off x="2218334"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Doors closed — then the Macedonian call</a:t>
            </a:r>
            <a:endParaRPr lang="en-US" sz="1150" dirty="0"/>
          </a:p>
        </p:txBody>
      </p:sp>
      <p:sp>
        <p:nvSpPr>
          <p:cNvPr id="17" name="Text 14"/>
          <p:cNvSpPr/>
          <p:nvPr/>
        </p:nvSpPr>
        <p:spPr>
          <a:xfrm>
            <a:off x="2218334"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16:6–10</a:t>
            </a:r>
            <a:endParaRPr lang="en-US" sz="900" dirty="0"/>
          </a:p>
        </p:txBody>
      </p:sp>
      <p:sp>
        <p:nvSpPr>
          <p:cNvPr id="18" name="Shape 15"/>
          <p:cNvSpPr/>
          <p:nvPr/>
        </p:nvSpPr>
        <p:spPr>
          <a:xfrm>
            <a:off x="3627425"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103120"/>
          </a:xfrm>
          <a:prstGeom prst="roundRect">
            <a:avLst>
              <a:gd name="adj" fmla="val 3713"/>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Philippi</a:t>
            </a:r>
            <a:endParaRPr lang="en-US" sz="1150" dirty="0"/>
          </a:p>
        </p:txBody>
      </p:sp>
      <p:sp>
        <p:nvSpPr>
          <p:cNvPr id="23" name="Text 20"/>
          <p:cNvSpPr/>
          <p:nvPr/>
        </p:nvSpPr>
        <p:spPr>
          <a:xfrm>
            <a:off x="3906317"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“Believe on the Lord Jesus Christ, and you will be saved”</a:t>
            </a:r>
            <a:endParaRPr lang="en-US" sz="1150" dirty="0"/>
          </a:p>
        </p:txBody>
      </p:sp>
      <p:sp>
        <p:nvSpPr>
          <p:cNvPr id="24" name="Text 21"/>
          <p:cNvSpPr/>
          <p:nvPr/>
        </p:nvSpPr>
        <p:spPr>
          <a:xfrm>
            <a:off x="3906317"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16:16–34</a:t>
            </a:r>
            <a:endParaRPr lang="en-US" sz="900" dirty="0"/>
          </a:p>
        </p:txBody>
      </p:sp>
      <p:sp>
        <p:nvSpPr>
          <p:cNvPr id="25" name="Shape 22"/>
          <p:cNvSpPr/>
          <p:nvPr/>
        </p:nvSpPr>
        <p:spPr>
          <a:xfrm>
            <a:off x="5315407"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103120"/>
          </a:xfrm>
          <a:prstGeom prst="roundRect">
            <a:avLst>
              <a:gd name="adj" fmla="val 3713"/>
            </a:avLst>
          </a:prstGeom>
          <a:solidFill>
            <a:srgbClr val="1F3864"/>
          </a:solidFill>
          <a:ln w="9525">
            <a:solidFill>
              <a:srgbClr val="1F3864"/>
            </a:solidFill>
            <a:prstDash val="solid"/>
          </a:ln>
        </p:spPr>
      </p:sp>
      <p:sp>
        <p:nvSpPr>
          <p:cNvPr id="27" name="Shape 24"/>
          <p:cNvSpPr/>
          <p:nvPr/>
        </p:nvSpPr>
        <p:spPr>
          <a:xfrm>
            <a:off x="6058814"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Thessalonica</a:t>
            </a:r>
            <a:endParaRPr lang="en-US" sz="1150" dirty="0"/>
          </a:p>
        </p:txBody>
      </p:sp>
      <p:sp>
        <p:nvSpPr>
          <p:cNvPr id="30" name="Text 27"/>
          <p:cNvSpPr/>
          <p:nvPr/>
        </p:nvSpPr>
        <p:spPr>
          <a:xfrm>
            <a:off x="5594299" y="2157984"/>
            <a:ext cx="1331366"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Three Sabbaths in the synagogue — and more</a:t>
            </a:r>
            <a:endParaRPr lang="en-US" sz="1150" dirty="0"/>
          </a:p>
        </p:txBody>
      </p:sp>
      <p:sp>
        <p:nvSpPr>
          <p:cNvPr id="31" name="Text 28"/>
          <p:cNvSpPr/>
          <p:nvPr/>
        </p:nvSpPr>
        <p:spPr>
          <a:xfrm>
            <a:off x="5594299" y="290779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Acts 17:1–9</a:t>
            </a:r>
            <a:endParaRPr lang="en-US" sz="900" dirty="0"/>
          </a:p>
        </p:txBody>
      </p:sp>
      <p:sp>
        <p:nvSpPr>
          <p:cNvPr id="32" name="Shape 29"/>
          <p:cNvSpPr/>
          <p:nvPr/>
        </p:nvSpPr>
        <p:spPr>
          <a:xfrm>
            <a:off x="7003390" y="212140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103120"/>
          </a:xfrm>
          <a:prstGeom prst="roundRect">
            <a:avLst>
              <a:gd name="adj" fmla="val 3713"/>
            </a:avLst>
          </a:prstGeom>
          <a:solidFill>
            <a:srgbClr val="F2F6FC"/>
          </a:solidFill>
          <a:ln w="9525">
            <a:solidFill>
              <a:srgbClr val="D5DCEA"/>
            </a:solidFill>
            <a:prstDash val="solid"/>
          </a:ln>
        </p:spPr>
      </p:sp>
      <p:sp>
        <p:nvSpPr>
          <p:cNvPr id="34" name="Shape 31"/>
          <p:cNvSpPr/>
          <p:nvPr/>
        </p:nvSpPr>
        <p:spPr>
          <a:xfrm>
            <a:off x="7746797" y="1298448"/>
            <a:ext cx="402336" cy="402336"/>
          </a:xfrm>
          <a:prstGeom prst="ellipse">
            <a:avLst/>
          </a:prstGeom>
          <a:solidFill>
            <a:srgbClr val="2E5496"/>
          </a:solidFill>
          <a:ln w="12700">
            <a:solidFill>
              <a:srgbClr val="2E5496"/>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Corinth</a:t>
            </a:r>
            <a:endParaRPr lang="en-US" sz="1150" dirty="0"/>
          </a:p>
        </p:txBody>
      </p:sp>
      <p:sp>
        <p:nvSpPr>
          <p:cNvPr id="37" name="Text 34"/>
          <p:cNvSpPr/>
          <p:nvPr/>
        </p:nvSpPr>
        <p:spPr>
          <a:xfrm>
            <a:off x="728228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Berea and Athens, then Corinth — where both letters were written</a:t>
            </a:r>
            <a:endParaRPr lang="en-US" sz="1150" dirty="0"/>
          </a:p>
        </p:txBody>
      </p:sp>
      <p:sp>
        <p:nvSpPr>
          <p:cNvPr id="38" name="Text 35"/>
          <p:cNvSpPr/>
          <p:nvPr/>
        </p:nvSpPr>
        <p:spPr>
          <a:xfrm>
            <a:off x="728228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17:10–18:11</a:t>
            </a:r>
            <a:endParaRPr lang="en-US" sz="900" dirty="0"/>
          </a:p>
        </p:txBody>
      </p:sp>
      <p:sp>
        <p:nvSpPr>
          <p:cNvPr id="39" name="Shape 36"/>
          <p:cNvSpPr/>
          <p:nvPr/>
        </p:nvSpPr>
        <p:spPr>
          <a:xfrm>
            <a:off x="457200" y="3474720"/>
            <a:ext cx="4023360" cy="365760"/>
          </a:xfrm>
          <a:prstGeom prst="rect">
            <a:avLst/>
          </a:prstGeom>
          <a:solidFill>
            <a:srgbClr val="2E5496"/>
          </a:solidFill>
          <a:ln w="12700">
            <a:solidFill>
              <a:srgbClr val="2E5496"/>
            </a:solidFill>
            <a:prstDash val="solid"/>
          </a:ln>
        </p:spPr>
      </p:sp>
      <p:sp>
        <p:nvSpPr>
          <p:cNvPr id="40" name="Text 37"/>
          <p:cNvSpPr/>
          <p:nvPr/>
        </p:nvSpPr>
        <p:spPr>
          <a:xfrm>
            <a:off x="548640" y="3520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Paul taught new believers</a:t>
            </a:r>
            <a:endParaRPr lang="en-US" sz="1200" dirty="0"/>
          </a:p>
        </p:txBody>
      </p:sp>
      <p:sp>
        <p:nvSpPr>
          <p:cNvPr id="41" name="Shape 38"/>
          <p:cNvSpPr/>
          <p:nvPr/>
        </p:nvSpPr>
        <p:spPr>
          <a:xfrm>
            <a:off x="457200" y="3840480"/>
            <a:ext cx="4023360" cy="777240"/>
          </a:xfrm>
          <a:prstGeom prst="rect">
            <a:avLst/>
          </a:prstGeom>
          <a:solidFill>
            <a:srgbClr val="F2F6FC"/>
          </a:solidFill>
          <a:ln w="9525">
            <a:solidFill>
              <a:srgbClr val="D5DCEA"/>
            </a:solidFill>
            <a:prstDash val="solid"/>
          </a:ln>
        </p:spPr>
      </p:sp>
      <p:sp>
        <p:nvSpPr>
          <p:cNvPr id="42" name="Text 39"/>
          <p:cNvSpPr/>
          <p:nvPr/>
        </p:nvSpPr>
        <p:spPr>
          <a:xfrm>
            <a:off x="548640" y="3913632"/>
            <a:ext cx="3840480" cy="6492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Prophecy — “Jesus is coming”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And it strengthened them</a:t>
            </a:r>
            <a:endParaRPr lang="en-US" sz="1250" dirty="0"/>
          </a:p>
        </p:txBody>
      </p:sp>
      <p:sp>
        <p:nvSpPr>
          <p:cNvPr id="43" name="Shape 40"/>
          <p:cNvSpPr/>
          <p:nvPr/>
        </p:nvSpPr>
        <p:spPr>
          <a:xfrm>
            <a:off x="4663440" y="3474720"/>
            <a:ext cx="4023360" cy="365760"/>
          </a:xfrm>
          <a:prstGeom prst="rect">
            <a:avLst/>
          </a:prstGeom>
          <a:solidFill>
            <a:srgbClr val="375623"/>
          </a:solidFill>
          <a:ln w="12700">
            <a:solidFill>
              <a:srgbClr val="375623"/>
            </a:solidFill>
            <a:prstDash val="solid"/>
          </a:ln>
        </p:spPr>
      </p:sp>
      <p:sp>
        <p:nvSpPr>
          <p:cNvPr id="44" name="Text 41"/>
          <p:cNvSpPr/>
          <p:nvPr/>
        </p:nvSpPr>
        <p:spPr>
          <a:xfrm>
            <a:off x="4754880" y="3520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Why a second letter? · Study Note</a:t>
            </a:r>
            <a:endParaRPr lang="en-US" sz="1200" dirty="0"/>
          </a:p>
        </p:txBody>
      </p:sp>
      <p:sp>
        <p:nvSpPr>
          <p:cNvPr id="45" name="Shape 42"/>
          <p:cNvSpPr/>
          <p:nvPr/>
        </p:nvSpPr>
        <p:spPr>
          <a:xfrm>
            <a:off x="4663440" y="3840480"/>
            <a:ext cx="4023360" cy="777240"/>
          </a:xfrm>
          <a:prstGeom prst="rect">
            <a:avLst/>
          </a:prstGeom>
          <a:solidFill>
            <a:srgbClr val="F2F6FC"/>
          </a:solidFill>
          <a:ln w="9525">
            <a:solidFill>
              <a:srgbClr val="D5DCEA"/>
            </a:solidFill>
            <a:prstDash val="solid"/>
          </a:ln>
        </p:spPr>
      </p:sp>
      <p:sp>
        <p:nvSpPr>
          <p:cNvPr id="46" name="Text 43"/>
          <p:cNvSpPr/>
          <p:nvPr/>
        </p:nvSpPr>
        <p:spPr>
          <a:xfrm>
            <a:off x="4754880" y="3913632"/>
            <a:ext cx="3840480" cy="649224"/>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Persecution had intensified (1:4–7)</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A false claim the Day had come (2:1–2)</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Some had stopped working (3:6–12)</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men, one letter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1:1a · C.1 — Paul and his companions</a:t>
            </a:r>
            <a:endParaRPr lang="en-US" sz="1200" dirty="0"/>
          </a:p>
        </p:txBody>
      </p:sp>
      <p:sp>
        <p:nvSpPr>
          <p:cNvPr id="5" name="Shape 2"/>
          <p:cNvSpPr/>
          <p:nvPr/>
        </p:nvSpPr>
        <p:spPr>
          <a:xfrm>
            <a:off x="457200" y="1188720"/>
            <a:ext cx="2621280" cy="566928"/>
          </a:xfrm>
          <a:prstGeom prst="rect">
            <a:avLst/>
          </a:prstGeom>
          <a:solidFill>
            <a:srgbClr val="1F3864"/>
          </a:solidFill>
          <a:ln w="12700">
            <a:solidFill>
              <a:srgbClr val="1F3864"/>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Παῦλος</a:t>
            </a:r>
            <a:pPr indent="0" marL="0">
              <a:buNone/>
            </a:pPr>
            <a:r>
              <a:rPr lang="en-US" sz="850" dirty="0">
                <a:solidFill>
                  <a:srgbClr val="DCE4F2"/>
                </a:solidFill>
                <a:latin typeface="Arial" pitchFamily="34" charset="0"/>
                <a:ea typeface="Arial" pitchFamily="34" charset="-122"/>
                <a:cs typeface="Arial" pitchFamily="34" charset="-120"/>
              </a:rPr>
              <a:t>  G3972</a:t>
            </a:r>
            <a:endParaRPr lang="en-US" sz="1200" dirty="0"/>
          </a:p>
        </p:txBody>
      </p:sp>
      <p:sp>
        <p:nvSpPr>
          <p:cNvPr id="7" name="Shape 4"/>
          <p:cNvSpPr/>
          <p:nvPr/>
        </p:nvSpPr>
        <p:spPr>
          <a:xfrm>
            <a:off x="457200" y="1755648"/>
            <a:ext cx="2621280" cy="1993392"/>
          </a:xfrm>
          <a:prstGeom prst="rect">
            <a:avLst/>
          </a:prstGeom>
          <a:solidFill>
            <a:srgbClr val="F2F6FC"/>
          </a:solidFill>
          <a:ln w="9525">
            <a:solidFill>
              <a:srgbClr val="D5DCEA"/>
            </a:solidFill>
            <a:prstDash val="solid"/>
          </a:ln>
        </p:spPr>
      </p:sp>
      <p:sp>
        <p:nvSpPr>
          <p:cNvPr id="8" name="Text 5"/>
          <p:cNvSpPr/>
          <p:nvPr/>
        </p:nvSpPr>
        <p:spPr>
          <a:xfrm>
            <a:off x="548640" y="1828800"/>
            <a:ext cx="2438400" cy="18653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Just “Paul” — no title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Their friend, the one they loved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Contrast Galatians 1:1</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Silvanus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Σιλουανός</a:t>
            </a:r>
            <a:pPr indent="0" marL="0">
              <a:buNone/>
            </a:pPr>
            <a:r>
              <a:rPr lang="en-US" sz="850" dirty="0">
                <a:solidFill>
                  <a:srgbClr val="DCE4F2"/>
                </a:solidFill>
                <a:latin typeface="Arial" pitchFamily="34" charset="0"/>
                <a:ea typeface="Arial" pitchFamily="34" charset="-122"/>
                <a:cs typeface="Arial" pitchFamily="34" charset="-120"/>
              </a:rPr>
              <a:t>  G4610</a:t>
            </a:r>
            <a:endParaRPr lang="en-US" sz="1200" dirty="0"/>
          </a:p>
        </p:txBody>
      </p:sp>
      <p:sp>
        <p:nvSpPr>
          <p:cNvPr id="11" name="Shape 8"/>
          <p:cNvSpPr/>
          <p:nvPr/>
        </p:nvSpPr>
        <p:spPr>
          <a:xfrm>
            <a:off x="3261360" y="1755648"/>
            <a:ext cx="2621280" cy="199339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8653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senior member (Silas)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Jerusalem leader, prophet, Roman citizen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co-founder of this church</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Timothy</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Τιμόθεος</a:t>
            </a:r>
            <a:pPr indent="0" marL="0">
              <a:buNone/>
            </a:pPr>
            <a:r>
              <a:rPr lang="en-US" sz="850" dirty="0">
                <a:solidFill>
                  <a:srgbClr val="DCE4F2"/>
                </a:solidFill>
                <a:latin typeface="Arial" pitchFamily="34" charset="0"/>
                <a:ea typeface="Arial" pitchFamily="34" charset="-122"/>
                <a:cs typeface="Arial" pitchFamily="34" charset="-120"/>
              </a:rPr>
              <a:t>  G5095</a:t>
            </a:r>
            <a:endParaRPr lang="en-US" sz="1200" dirty="0"/>
          </a:p>
        </p:txBody>
      </p:sp>
      <p:sp>
        <p:nvSpPr>
          <p:cNvPr id="15" name="Shape 12"/>
          <p:cNvSpPr/>
          <p:nvPr/>
        </p:nvSpPr>
        <p:spPr>
          <a:xfrm>
            <a:off x="6065520" y="1755648"/>
            <a:ext cx="2621280" cy="199339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8653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leader in training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Sent back to establish them (1 Thess 3:2)</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Later pastor at Ephesus</a:t>
            </a:r>
            <a:endParaRPr lang="en-US" sz="1250" dirty="0"/>
          </a:p>
        </p:txBody>
      </p:sp>
      <p:sp>
        <p:nvSpPr>
          <p:cNvPr id="17" name="Shape 14"/>
          <p:cNvSpPr/>
          <p:nvPr/>
        </p:nvSpPr>
        <p:spPr>
          <a:xfrm>
            <a:off x="457200" y="3931920"/>
            <a:ext cx="8229600" cy="685800"/>
          </a:xfrm>
          <a:prstGeom prst="roundRect">
            <a:avLst>
              <a:gd name="adj" fmla="val 8000"/>
            </a:avLst>
          </a:prstGeom>
          <a:solidFill>
            <a:srgbClr val="1F3864"/>
          </a:solidFill>
          <a:ln w="12700">
            <a:solidFill>
              <a:srgbClr val="1F3864"/>
            </a:solidFill>
            <a:prstDash val="solid"/>
          </a:ln>
        </p:spPr>
      </p:sp>
      <p:sp>
        <p:nvSpPr>
          <p:cNvPr id="18" name="Text 15"/>
          <p:cNvSpPr/>
          <p:nvPr/>
        </p:nvSpPr>
        <p:spPr>
          <a:xfrm>
            <a:off x="621792" y="3931920"/>
            <a:ext cx="7900416" cy="6858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Paul comes to this church as a friend, not as an authority enforcing correction.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church’s true address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1:1b · C.2.a–c — The church, in God our Father and the Lord Jesus Christ</a:t>
            </a:r>
            <a:endParaRPr lang="en-US" sz="1200" dirty="0"/>
          </a:p>
        </p:txBody>
      </p:sp>
      <p:sp>
        <p:nvSpPr>
          <p:cNvPr id="5" name="Shape 2"/>
          <p:cNvSpPr/>
          <p:nvPr/>
        </p:nvSpPr>
        <p:spPr>
          <a:xfrm>
            <a:off x="457200" y="1188720"/>
            <a:ext cx="1899666" cy="1874520"/>
          </a:xfrm>
          <a:prstGeom prst="roundRect">
            <a:avLst>
              <a:gd name="adj" fmla="val 2927"/>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Any assembly</a:t>
            </a:r>
            <a:endParaRPr lang="en-US" sz="1150" dirty="0"/>
          </a:p>
        </p:txBody>
      </p:sp>
      <p:sp>
        <p:nvSpPr>
          <p:cNvPr id="9" name="Text 6"/>
          <p:cNvSpPr/>
          <p:nvPr/>
        </p:nvSpPr>
        <p:spPr>
          <a:xfrm>
            <a:off x="530352" y="2157984"/>
            <a:ext cx="1753362"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 secular word — even Diana’s worshipers</a:t>
            </a:r>
            <a:endParaRPr lang="en-US" sz="1150" dirty="0"/>
          </a:p>
        </p:txBody>
      </p:sp>
      <p:sp>
        <p:nvSpPr>
          <p:cNvPr id="10" name="Text 7"/>
          <p:cNvSpPr/>
          <p:nvPr/>
        </p:nvSpPr>
        <p:spPr>
          <a:xfrm>
            <a:off x="530352" y="26791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19:32</a:t>
            </a:r>
            <a:endParaRPr lang="en-US" sz="900" dirty="0"/>
          </a:p>
        </p:txBody>
      </p:sp>
      <p:sp>
        <p:nvSpPr>
          <p:cNvPr id="11" name="Shape 8"/>
          <p:cNvSpPr/>
          <p:nvPr/>
        </p:nvSpPr>
        <p:spPr>
          <a:xfrm>
            <a:off x="2361438" y="200710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1874520"/>
          </a:xfrm>
          <a:prstGeom prst="roundRect">
            <a:avLst>
              <a:gd name="adj" fmla="val 2927"/>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Church universal</a:t>
            </a:r>
            <a:endParaRPr lang="en-US" sz="1150" dirty="0"/>
          </a:p>
        </p:txBody>
      </p:sp>
      <p:sp>
        <p:nvSpPr>
          <p:cNvPr id="16" name="Text 13"/>
          <p:cNvSpPr/>
          <p:nvPr/>
        </p:nvSpPr>
        <p:spPr>
          <a:xfrm>
            <a:off x="2640330" y="2157984"/>
            <a:ext cx="1753362"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“I will build My church” — Pentecost to Rapture</a:t>
            </a:r>
            <a:endParaRPr lang="en-US" sz="1150" dirty="0"/>
          </a:p>
        </p:txBody>
      </p:sp>
      <p:sp>
        <p:nvSpPr>
          <p:cNvPr id="17" name="Text 14"/>
          <p:cNvSpPr/>
          <p:nvPr/>
        </p:nvSpPr>
        <p:spPr>
          <a:xfrm>
            <a:off x="2640330" y="26791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Matt 16:18</a:t>
            </a:r>
            <a:endParaRPr lang="en-US" sz="900" dirty="0"/>
          </a:p>
        </p:txBody>
      </p:sp>
      <p:sp>
        <p:nvSpPr>
          <p:cNvPr id="18" name="Shape 15"/>
          <p:cNvSpPr/>
          <p:nvPr/>
        </p:nvSpPr>
        <p:spPr>
          <a:xfrm>
            <a:off x="4471416" y="200710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1874520"/>
          </a:xfrm>
          <a:prstGeom prst="roundRect">
            <a:avLst>
              <a:gd name="adj" fmla="val 2927"/>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Local church</a:t>
            </a:r>
            <a:endParaRPr lang="en-US" sz="1150" dirty="0"/>
          </a:p>
        </p:txBody>
      </p:sp>
      <p:sp>
        <p:nvSpPr>
          <p:cNvPr id="23" name="Text 20"/>
          <p:cNvSpPr/>
          <p:nvPr/>
        </p:nvSpPr>
        <p:spPr>
          <a:xfrm>
            <a:off x="4750308" y="2157984"/>
            <a:ext cx="1753362"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“Tell it to the church”</a:t>
            </a:r>
            <a:endParaRPr lang="en-US" sz="1150" dirty="0"/>
          </a:p>
        </p:txBody>
      </p:sp>
      <p:sp>
        <p:nvSpPr>
          <p:cNvPr id="24" name="Text 21"/>
          <p:cNvSpPr/>
          <p:nvPr/>
        </p:nvSpPr>
        <p:spPr>
          <a:xfrm>
            <a:off x="4750308" y="26791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Matt 18:17</a:t>
            </a:r>
            <a:endParaRPr lang="en-US" sz="900" dirty="0"/>
          </a:p>
        </p:txBody>
      </p:sp>
      <p:sp>
        <p:nvSpPr>
          <p:cNvPr id="25" name="Shape 22"/>
          <p:cNvSpPr/>
          <p:nvPr/>
        </p:nvSpPr>
        <p:spPr>
          <a:xfrm>
            <a:off x="6581394" y="200710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1874520"/>
          </a:xfrm>
          <a:prstGeom prst="roundRect">
            <a:avLst>
              <a:gd name="adj" fmla="val 2927"/>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Of the Thessalonians</a:t>
            </a:r>
            <a:endParaRPr lang="en-US" sz="1150" dirty="0"/>
          </a:p>
        </p:txBody>
      </p:sp>
      <p:sp>
        <p:nvSpPr>
          <p:cNvPr id="30" name="Text 27"/>
          <p:cNvSpPr/>
          <p:nvPr/>
        </p:nvSpPr>
        <p:spPr>
          <a:xfrm>
            <a:off x="6860286" y="2157984"/>
            <a:ext cx="1753362" cy="5212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Identified by its people, not a building</a:t>
            </a:r>
            <a:endParaRPr lang="en-US" sz="1150" dirty="0"/>
          </a:p>
        </p:txBody>
      </p:sp>
      <p:sp>
        <p:nvSpPr>
          <p:cNvPr id="31" name="Text 28"/>
          <p:cNvSpPr/>
          <p:nvPr/>
        </p:nvSpPr>
        <p:spPr>
          <a:xfrm>
            <a:off x="6860286" y="26791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ἐκκλησία · 1:1</a:t>
            </a:r>
            <a:endParaRPr lang="en-US" sz="900" dirty="0"/>
          </a:p>
        </p:txBody>
      </p:sp>
      <p:sp>
        <p:nvSpPr>
          <p:cNvPr id="32" name="Shape 29"/>
          <p:cNvSpPr/>
          <p:nvPr/>
        </p:nvSpPr>
        <p:spPr>
          <a:xfrm>
            <a:off x="457200" y="3246120"/>
            <a:ext cx="4023360" cy="566928"/>
          </a:xfrm>
          <a:prstGeom prst="rect">
            <a:avLst/>
          </a:prstGeom>
          <a:solidFill>
            <a:srgbClr val="2E5496"/>
          </a:solidFill>
          <a:ln w="12700">
            <a:solidFill>
              <a:srgbClr val="2E5496"/>
            </a:solidFill>
            <a:prstDash val="solid"/>
          </a:ln>
        </p:spPr>
      </p:sp>
      <p:sp>
        <p:nvSpPr>
          <p:cNvPr id="33" name="Text 30"/>
          <p:cNvSpPr/>
          <p:nvPr/>
        </p:nvSpPr>
        <p:spPr>
          <a:xfrm>
            <a:off x="548640" y="32918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God our Father</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ἐν · πατήρ</a:t>
            </a:r>
            <a:pPr indent="0" marL="0">
              <a:buNone/>
            </a:pPr>
            <a:r>
              <a:rPr lang="en-US" sz="850" dirty="0">
                <a:solidFill>
                  <a:srgbClr val="DCE4F2"/>
                </a:solidFill>
                <a:latin typeface="Arial" pitchFamily="34" charset="0"/>
                <a:ea typeface="Arial" pitchFamily="34" charset="-122"/>
                <a:cs typeface="Arial" pitchFamily="34" charset="-120"/>
              </a:rPr>
              <a:t>  in · Father</a:t>
            </a:r>
            <a:endParaRPr lang="en-US" sz="1200" dirty="0"/>
          </a:p>
        </p:txBody>
      </p:sp>
      <p:sp>
        <p:nvSpPr>
          <p:cNvPr id="34" name="Shape 31"/>
          <p:cNvSpPr/>
          <p:nvPr/>
        </p:nvSpPr>
        <p:spPr>
          <a:xfrm>
            <a:off x="457200" y="3813048"/>
            <a:ext cx="4023360" cy="804672"/>
          </a:xfrm>
          <a:prstGeom prst="rect">
            <a:avLst/>
          </a:prstGeom>
          <a:solidFill>
            <a:srgbClr val="F2F6FC"/>
          </a:solidFill>
          <a:ln w="9525">
            <a:solidFill>
              <a:srgbClr val="D5DCEA"/>
            </a:solidFill>
            <a:prstDash val="solid"/>
          </a:ln>
        </p:spPr>
      </p:sp>
      <p:sp>
        <p:nvSpPr>
          <p:cNvPr id="35" name="Text 32"/>
          <p:cNvSpPr/>
          <p:nvPr/>
        </p:nvSpPr>
        <p:spPr>
          <a:xfrm>
            <a:off x="548640" y="3886200"/>
            <a:ext cx="3840480" cy="676656"/>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Security, love, strength</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“our Father” — not just “the Father”</a:t>
            </a:r>
            <a:endParaRPr lang="en-US" sz="1200" dirty="0"/>
          </a:p>
        </p:txBody>
      </p:sp>
      <p:sp>
        <p:nvSpPr>
          <p:cNvPr id="36" name="Shape 33"/>
          <p:cNvSpPr/>
          <p:nvPr/>
        </p:nvSpPr>
        <p:spPr>
          <a:xfrm>
            <a:off x="4663440" y="3246120"/>
            <a:ext cx="4023360" cy="566928"/>
          </a:xfrm>
          <a:prstGeom prst="rect">
            <a:avLst/>
          </a:prstGeom>
          <a:solidFill>
            <a:srgbClr val="375623"/>
          </a:solidFill>
          <a:ln w="12700">
            <a:solidFill>
              <a:srgbClr val="375623"/>
            </a:solidFill>
            <a:prstDash val="solid"/>
          </a:ln>
        </p:spPr>
      </p:sp>
      <p:sp>
        <p:nvSpPr>
          <p:cNvPr id="37" name="Text 34"/>
          <p:cNvSpPr/>
          <p:nvPr/>
        </p:nvSpPr>
        <p:spPr>
          <a:xfrm>
            <a:off x="4754880" y="32918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And the Lord Jesus Christ</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κύριος · Ἰησοῦς · Χριστός</a:t>
            </a:r>
            <a:endParaRPr lang="en-US" sz="1200" dirty="0"/>
          </a:p>
        </p:txBody>
      </p:sp>
      <p:sp>
        <p:nvSpPr>
          <p:cNvPr id="38" name="Shape 35"/>
          <p:cNvSpPr/>
          <p:nvPr/>
        </p:nvSpPr>
        <p:spPr>
          <a:xfrm>
            <a:off x="4663440" y="3813048"/>
            <a:ext cx="4023360" cy="804672"/>
          </a:xfrm>
          <a:prstGeom prst="rect">
            <a:avLst/>
          </a:prstGeom>
          <a:solidFill>
            <a:srgbClr val="F2F6FC"/>
          </a:solidFill>
          <a:ln w="9525">
            <a:solidFill>
              <a:srgbClr val="D5DCEA"/>
            </a:solidFill>
            <a:prstDash val="solid"/>
          </a:ln>
        </p:spPr>
      </p:sp>
      <p:sp>
        <p:nvSpPr>
          <p:cNvPr id="39" name="Text 36"/>
          <p:cNvSpPr/>
          <p:nvPr/>
        </p:nvSpPr>
        <p:spPr>
          <a:xfrm>
            <a:off x="4754880" y="3886200"/>
            <a:ext cx="3840480" cy="676656"/>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Lord — deity · Jesus — deliverer</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Christ — Messiah, the Anointed One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Grace and peace — from one source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1:2 · C.2.d–e — The greeting and its source</a:t>
            </a:r>
            <a:endParaRPr lang="en-US" sz="1200" dirty="0"/>
          </a:p>
        </p:txBody>
      </p:sp>
      <p:sp>
        <p:nvSpPr>
          <p:cNvPr id="5" name="Shape 2"/>
          <p:cNvSpPr/>
          <p:nvPr/>
        </p:nvSpPr>
        <p:spPr>
          <a:xfrm>
            <a:off x="457200" y="1188720"/>
            <a:ext cx="2499360" cy="566928"/>
          </a:xfrm>
          <a:prstGeom prst="rect">
            <a:avLst/>
          </a:prstGeom>
          <a:solidFill>
            <a:srgbClr val="2E5496"/>
          </a:solidFill>
          <a:ln w="12700">
            <a:solidFill>
              <a:srgbClr val="2E5496"/>
            </a:solidFill>
            <a:prstDash val="solid"/>
          </a:ln>
        </p:spPr>
      </p:sp>
      <p:sp>
        <p:nvSpPr>
          <p:cNvPr id="6" name="Text 3"/>
          <p:cNvSpPr/>
          <p:nvPr/>
        </p:nvSpPr>
        <p:spPr>
          <a:xfrm>
            <a:off x="54864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Grace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χάρις</a:t>
            </a:r>
            <a:pPr indent="0" marL="0">
              <a:buNone/>
            </a:pPr>
            <a:r>
              <a:rPr lang="en-US" sz="850" dirty="0">
                <a:solidFill>
                  <a:srgbClr val="DCE4F2"/>
                </a:solidFill>
                <a:latin typeface="Arial" pitchFamily="34" charset="0"/>
                <a:ea typeface="Arial" pitchFamily="34" charset="-122"/>
                <a:cs typeface="Arial" pitchFamily="34" charset="-120"/>
              </a:rPr>
              <a:t>  charis · G5485</a:t>
            </a:r>
            <a:endParaRPr lang="en-US" sz="1200" dirty="0"/>
          </a:p>
        </p:txBody>
      </p:sp>
      <p:sp>
        <p:nvSpPr>
          <p:cNvPr id="7" name="Shape 4"/>
          <p:cNvSpPr/>
          <p:nvPr/>
        </p:nvSpPr>
        <p:spPr>
          <a:xfrm>
            <a:off x="457200" y="1755648"/>
            <a:ext cx="2499360" cy="1947672"/>
          </a:xfrm>
          <a:prstGeom prst="rect">
            <a:avLst/>
          </a:prstGeom>
          <a:solidFill>
            <a:srgbClr val="F2F6FC"/>
          </a:solidFill>
          <a:ln w="9525">
            <a:solidFill>
              <a:srgbClr val="D5DCEA"/>
            </a:solidFill>
            <a:prstDash val="solid"/>
          </a:ln>
        </p:spPr>
      </p:sp>
      <p:sp>
        <p:nvSpPr>
          <p:cNvPr id="8" name="Text 5"/>
          <p:cNvSpPr/>
          <p:nvPr/>
        </p:nvSpPr>
        <p:spPr>
          <a:xfrm>
            <a:off x="54864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just unmerited favor —</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favor in spite of demerit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We deserve judgment; He gives grace</a:t>
            </a:r>
            <a:endParaRPr lang="en-US" sz="1250" dirty="0"/>
          </a:p>
        </p:txBody>
      </p:sp>
      <p:sp>
        <p:nvSpPr>
          <p:cNvPr id="9" name="Shape 6"/>
          <p:cNvSpPr/>
          <p:nvPr/>
        </p:nvSpPr>
        <p:spPr>
          <a:xfrm>
            <a:off x="3020568" y="23271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566928"/>
          </a:xfrm>
          <a:prstGeom prst="rect">
            <a:avLst/>
          </a:prstGeom>
          <a:solidFill>
            <a:srgbClr val="2E5496"/>
          </a:solidFill>
          <a:ln w="12700">
            <a:solidFill>
              <a:srgbClr val="2E5496"/>
            </a:solidFill>
            <a:prstDash val="solid"/>
          </a:ln>
        </p:spPr>
      </p:sp>
      <p:sp>
        <p:nvSpPr>
          <p:cNvPr id="11" name="Text 8"/>
          <p:cNvSpPr/>
          <p:nvPr/>
        </p:nvSpPr>
        <p:spPr>
          <a:xfrm>
            <a:off x="341376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Peace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εἰρήνη</a:t>
            </a:r>
            <a:pPr indent="0" marL="0">
              <a:buNone/>
            </a:pPr>
            <a:r>
              <a:rPr lang="en-US" sz="850" dirty="0">
                <a:solidFill>
                  <a:srgbClr val="DCE4F2"/>
                </a:solidFill>
                <a:latin typeface="Arial" pitchFamily="34" charset="0"/>
                <a:ea typeface="Arial" pitchFamily="34" charset="-122"/>
                <a:cs typeface="Arial" pitchFamily="34" charset="-120"/>
              </a:rPr>
              <a:t>  eirēnē · G1515</a:t>
            </a:r>
            <a:endParaRPr lang="en-US" sz="1200" dirty="0"/>
          </a:p>
        </p:txBody>
      </p:sp>
      <p:sp>
        <p:nvSpPr>
          <p:cNvPr id="12" name="Shape 9"/>
          <p:cNvSpPr/>
          <p:nvPr/>
        </p:nvSpPr>
        <p:spPr>
          <a:xfrm>
            <a:off x="3322320" y="1755648"/>
            <a:ext cx="2499360" cy="1947672"/>
          </a:xfrm>
          <a:prstGeom prst="rect">
            <a:avLst/>
          </a:prstGeom>
          <a:solidFill>
            <a:srgbClr val="F2F6FC"/>
          </a:solidFill>
          <a:ln w="9525">
            <a:solidFill>
              <a:srgbClr val="D5DCEA"/>
            </a:solidFill>
            <a:prstDash val="solid"/>
          </a:ln>
        </p:spPr>
      </p:sp>
      <p:sp>
        <p:nvSpPr>
          <p:cNvPr id="13" name="Text 10"/>
          <p:cNvSpPr/>
          <p:nvPr/>
        </p:nvSpPr>
        <p:spPr>
          <a:xfrm>
            <a:off x="341376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Shalom: wholeness, welfare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Peace with God — settled at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peace of God — for daily trouble</a:t>
            </a:r>
            <a:endParaRPr lang="en-US" sz="1250" dirty="0"/>
          </a:p>
        </p:txBody>
      </p:sp>
      <p:sp>
        <p:nvSpPr>
          <p:cNvPr id="14" name="Shape 11"/>
          <p:cNvSpPr/>
          <p:nvPr/>
        </p:nvSpPr>
        <p:spPr>
          <a:xfrm>
            <a:off x="5885688" y="23271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566928"/>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From</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ἀπό</a:t>
            </a:r>
            <a:pPr indent="0" marL="0">
              <a:buNone/>
            </a:pPr>
            <a:r>
              <a:rPr lang="en-US" sz="850" dirty="0">
                <a:solidFill>
                  <a:srgbClr val="DCE4F2"/>
                </a:solidFill>
                <a:latin typeface="Arial" pitchFamily="34" charset="0"/>
                <a:ea typeface="Arial" pitchFamily="34" charset="-122"/>
                <a:cs typeface="Arial" pitchFamily="34" charset="-120"/>
              </a:rPr>
              <a:t>  apo · G575</a:t>
            </a:r>
            <a:endParaRPr lang="en-US" sz="1200" dirty="0"/>
          </a:p>
        </p:txBody>
      </p:sp>
      <p:sp>
        <p:nvSpPr>
          <p:cNvPr id="17" name="Shape 14"/>
          <p:cNvSpPr/>
          <p:nvPr/>
        </p:nvSpPr>
        <p:spPr>
          <a:xfrm>
            <a:off x="6187440" y="1755648"/>
            <a:ext cx="2499360" cy="1947672"/>
          </a:xfrm>
          <a:prstGeom prst="rect">
            <a:avLst/>
          </a:prstGeom>
          <a:solidFill>
            <a:srgbClr val="F2F6FC"/>
          </a:solidFill>
          <a:ln w="9525">
            <a:solidFill>
              <a:srgbClr val="D5DCEA"/>
            </a:solidFill>
            <a:prstDash val="solid"/>
          </a:ln>
        </p:spPr>
      </p:sp>
      <p:sp>
        <p:nvSpPr>
          <p:cNvPr id="18" name="Text 15"/>
          <p:cNvSpPr/>
          <p:nvPr/>
        </p:nvSpPr>
        <p:spPr>
          <a:xfrm>
            <a:off x="627888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One preposition governs both persons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Father and Son — one source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witness to Christ’s deity</a:t>
            </a:r>
            <a:endParaRPr lang="en-US" sz="1250" dirty="0"/>
          </a:p>
        </p:txBody>
      </p:sp>
      <p:sp>
        <p:nvSpPr>
          <p:cNvPr id="19" name="Shape 16"/>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20" name="Text 17"/>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Grace and peace frame the whole letter (1:2; 3:16, 18) — the persecution of chapter 1, the prophecy of chapter 2, and the correction of chapter 3.</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writes simply “Paul,” not “Paul the apostle.” Why does that matter here, and how does it compare with Galatians and Corinthians?</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How does the teacher define grace, and what does peace mean? Why does grace come before peace?</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Live at Your True Address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Write “in God our Father and the Lord Jesus Christ” on a card and keep it where you’ll see it each morning.</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Receive Favor in Spite of Demerit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Each day this week, thank God by name for one specific grace you did not deserve.</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Before any correction, Paul reminds a suffering church who it is — in God our Father and the Lord Jesus Christ, under grace and peace.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Thessalonians Study 1 — Introduction and Background: Charts</dc:title>
  <dc:subject>PptxGenJS Presentation</dc:subject>
  <dc:creator>The Gospel Vault</dc:creator>
  <cp:lastModifiedBy>The Gospel Vault</cp:lastModifiedBy>
  <cp:revision>1</cp:revision>
  <dcterms:created xsi:type="dcterms:W3CDTF">2026-10-30T06:34:07Z</dcterms:created>
  <dcterms:modified xsi:type="dcterms:W3CDTF">2026-10-30T06:34:07Z</dcterms:modified>
</cp:coreProperties>
</file>