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 am the worst waiter there is.” The outline has two parts: wait on the Lord (3:1–5) and wait for the Lord (3:6–12). Every chart stays within the commentary posted for this study, including its Study Notes; Greek words come from the study’s Greek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Use this map to show the group where this passage sits in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(Introduction and Outline): The Lord is coming — Paul said it; two thousand years later we say it. So what do we do while we wait? Two answers frame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(I.A.1–2 and From the Outline, with προσεύχομαι, τρέχω, ῥύομαι, ἄτοπος): Paul, who always prays for them, asks prayer for himself and his team — leaders need prayer. Ministry: that the Word may run (it has no feet — put legs under your prayers) and be glorified (believed and prized — the Bible on top of the stack); “just as it is with you” is a compliment and a command. We go where we can’t by giving and prayer. Misery: deliverance from men “out of place” (atopos) and actively harmful (ponēros). “Not all have faith.” Satan doesn’t bother those who don’t bother him — let’s start bothering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(I.B and Study Note, with πιστός, πονηρός, φυλάσσω): A play on words: “not all have faith (pistis) — but the Lord is faithful (pistos).” Great Is Thy Faithfulness — the college song the teacher prayed over every graduating class. He establishes you: stand on the promises, not sit on the premises — know the faith (Jude 3). Ryrie’s question: could you lead a dying man at an accident to the Lord? He guards you from the evil one — and from evil. And Paul is confident they are doing and will continue to do what he commanded.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(I.C.1–2, with κατευθύνω): The Lord directs (clears the path for) our hearts into the love of God — “God so loved the world” — so we can love the unlovely, even unlovely Christians. And into the patience of Christ: Philip (“Have I been with you so long?”), James and John (“shall we call down fire?”), and Peter — from a revelation of the Father to “Get behind Me, Satan.” Jesus kept patience with them until the job was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(II.A–B, with στέλλω, ἀτάκτως, μιμέομαι, ἐξουσία): The command comes in Jesus’ name and according to the apostles’ previous teaching. Withdraw (stand aloof) from any brother who will not work — not cannot. Paul’s example: integrity (“do as I do, because I do as I say,” 1 Cor 11:1), industry (night and day, not eating anyone’s bread free — “Forgive me this wrong!” 2 Cor 12:13), intention (he had the right to support, 1 Cor 9, but laid it aside as an example), intimation: “If anyone will not work, neither shall he 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(II.C–D and Study Note, with περιεργάζομαι, ἡσυχία): “We hear” — perhaps from Timothy or travelers through Corinth. They could work but would not, and the bigger problem: too much time on their hands, meddling and gossiping, interrupting those who were working. The pun: not busy at work (ergazomenous) but busybodies (periergazomenous). The solution: work in quietness and eat your own bread — taught in person, written in 1 Thessalonians 4:11, now written again: three witnesses. His mother’s Depression-era rule: “Eat what’s put before you, and let it stop your mouth.”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What does it mean for the Word to “run” and to be “glorified,” and how can we help it run where we cannot go? — Leader answer: The Word has no feet — it runs as fast as we carry it, so we put legs under our prayers. It is glorified when people believe it and prize it above every other book. Where we can’t go, we go by giving and prayer.  Q2: What was the real problem with those who would not work, and how did Paul’s example answer it? — Leader answer: They were able to work but would not, and they used their spare time as busybodies — meddling and gossiping. Paul worked night and day so as not to be a burden, even laying aside his right to support, so he could say, “Do as I do, because I do as I say.”  Applications: Put Legs Under Your Prayers — Choose one missionary your church supports and pray for them by name every day this week.  Work Quietly While You Wait — When tempted to comment on someone else’s affairs, turn that moment into a prayer for them instead.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2 Thessalonians · Study 6 of 7 · 2 Thessalonians 3:1–12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73168"/>
            <a:ext cx="68580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2 Thessalonians · Study 6 of 7 · 2 Thessalonians 3:1–12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2 Thessalonians · Study 6 of 7 · 2 Thessalonians 3:1–12 · Leader charts</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Serving While Waiting</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What do you do while you’re waiting? Wait on the Lord in prayer, and wait for the Lord in work — the Word must run, and idleness must not become meddling.</a:t>
            </a:r>
            <a:endParaRPr lang="en-US" sz="1500" dirty="0"/>
          </a:p>
        </p:txBody>
      </p:sp>
      <p:sp>
        <p:nvSpPr>
          <p:cNvPr id="5" name="Text 3"/>
          <p:cNvSpPr/>
          <p:nvPr/>
        </p:nvSpPr>
        <p:spPr>
          <a:xfrm>
            <a:off x="640080" y="4343400"/>
            <a:ext cx="7863840" cy="274320"/>
          </a:xfrm>
          <a:prstGeom prst="rect">
            <a:avLst/>
          </a:prstGeom>
          <a:noFill/>
          <a:ln/>
        </p:spPr>
        <p:txBody>
          <a:bodyPr wrap="square" lIns="0" tIns="0" rIns="0" bIns="0" rtlCol="0" anchor="ctr"/>
          <a:lstStyle/>
          <a:p>
            <a:pPr indent="0" marL="0">
              <a:buNone/>
            </a:pPr>
            <a:r>
              <a:rPr lang="en-US" sz="1000" dirty="0">
                <a:solidFill>
                  <a:srgbClr val="C9D5EE"/>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this study fits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 seven studies · this study highlighted</a:t>
            </a:r>
            <a:endParaRPr lang="en-US" sz="1200" dirty="0"/>
          </a:p>
        </p:txBody>
      </p:sp>
      <p:sp>
        <p:nvSpPr>
          <p:cNvPr id="5" name="Shape 2"/>
          <p:cNvSpPr/>
          <p:nvPr/>
        </p:nvSpPr>
        <p:spPr>
          <a:xfrm>
            <a:off x="457200" y="1188720"/>
            <a:ext cx="1954530" cy="1371600"/>
          </a:xfrm>
          <a:prstGeom prst="rect">
            <a:avLst/>
          </a:prstGeom>
          <a:solidFill>
            <a:srgbClr val="F2F6FC"/>
          </a:solidFill>
          <a:ln w="9525">
            <a:solidFill>
              <a:srgbClr val="D5DCEA"/>
            </a:solidFill>
            <a:prstDash val="solid"/>
          </a:ln>
        </p:spPr>
      </p:sp>
      <p:sp>
        <p:nvSpPr>
          <p:cNvPr id="6" name="Text 3"/>
          <p:cNvSpPr/>
          <p:nvPr/>
        </p:nvSpPr>
        <p:spPr>
          <a:xfrm>
            <a:off x="566928" y="1298448"/>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01  </a:t>
            </a:r>
            <a:pPr indent="0" marL="0">
              <a:buNone/>
            </a:pPr>
            <a:r>
              <a:rPr lang="en-US" sz="1050" b="1" dirty="0">
                <a:solidFill>
                  <a:srgbClr val="595959"/>
                </a:solidFill>
                <a:latin typeface="Arial" pitchFamily="34" charset="0"/>
                <a:ea typeface="Arial" pitchFamily="34" charset="-122"/>
                <a:cs typeface="Arial" pitchFamily="34" charset="-120"/>
              </a:rPr>
              <a:t>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Introduction and Background</a:t>
            </a:r>
            <a:endParaRPr lang="en-US" sz="1300" dirty="0"/>
          </a:p>
        </p:txBody>
      </p:sp>
      <p:sp>
        <p:nvSpPr>
          <p:cNvPr id="7" name="Shape 4"/>
          <p:cNvSpPr/>
          <p:nvPr/>
        </p:nvSpPr>
        <p:spPr>
          <a:xfrm>
            <a:off x="2548890" y="1188720"/>
            <a:ext cx="1954530" cy="1371600"/>
          </a:xfrm>
          <a:prstGeom prst="rect">
            <a:avLst/>
          </a:prstGeom>
          <a:solidFill>
            <a:srgbClr val="F2F6FC"/>
          </a:solidFill>
          <a:ln w="9525">
            <a:solidFill>
              <a:srgbClr val="D5DCEA"/>
            </a:solidFill>
            <a:prstDash val="solid"/>
          </a:ln>
        </p:spPr>
      </p:sp>
      <p:sp>
        <p:nvSpPr>
          <p:cNvPr id="8" name="Text 5"/>
          <p:cNvSpPr/>
          <p:nvPr/>
        </p:nvSpPr>
        <p:spPr>
          <a:xfrm>
            <a:off x="2658618" y="1298448"/>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02  </a:t>
            </a:r>
            <a:pPr indent="0" marL="0">
              <a:buNone/>
            </a:pPr>
            <a:r>
              <a:rPr lang="en-US" sz="1050" b="1" dirty="0">
                <a:solidFill>
                  <a:srgbClr val="595959"/>
                </a:solidFill>
                <a:latin typeface="Arial" pitchFamily="34" charset="0"/>
                <a:ea typeface="Arial" pitchFamily="34" charset="-122"/>
                <a:cs typeface="Arial" pitchFamily="34" charset="-120"/>
              </a:rPr>
              <a:t>1:3–12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Paul’s Admiration for the Thessalonians</a:t>
            </a:r>
            <a:endParaRPr lang="en-US" sz="1300" dirty="0"/>
          </a:p>
        </p:txBody>
      </p:sp>
      <p:sp>
        <p:nvSpPr>
          <p:cNvPr id="9" name="Shape 6"/>
          <p:cNvSpPr/>
          <p:nvPr/>
        </p:nvSpPr>
        <p:spPr>
          <a:xfrm>
            <a:off x="4640580" y="1188720"/>
            <a:ext cx="1954530" cy="1371600"/>
          </a:xfrm>
          <a:prstGeom prst="rect">
            <a:avLst/>
          </a:prstGeom>
          <a:solidFill>
            <a:srgbClr val="F2F6FC"/>
          </a:solidFill>
          <a:ln w="9525">
            <a:solidFill>
              <a:srgbClr val="D5DCEA"/>
            </a:solidFill>
            <a:prstDash val="solid"/>
          </a:ln>
        </p:spPr>
      </p:sp>
      <p:sp>
        <p:nvSpPr>
          <p:cNvPr id="10" name="Text 7"/>
          <p:cNvSpPr/>
          <p:nvPr/>
        </p:nvSpPr>
        <p:spPr>
          <a:xfrm>
            <a:off x="4750308" y="1298448"/>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03  </a:t>
            </a:r>
            <a:pPr indent="0" marL="0">
              <a:buNone/>
            </a:pPr>
            <a:r>
              <a:rPr lang="en-US" sz="1050" b="1" dirty="0">
                <a:solidFill>
                  <a:srgbClr val="595959"/>
                </a:solidFill>
                <a:latin typeface="Arial" pitchFamily="34" charset="0"/>
                <a:ea typeface="Arial" pitchFamily="34" charset="-122"/>
                <a:cs typeface="Arial" pitchFamily="34" charset="-120"/>
              </a:rPr>
              <a:t>2:1–5</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Confusion Concerning the Coming</a:t>
            </a:r>
            <a:endParaRPr lang="en-US" sz="1300" dirty="0"/>
          </a:p>
        </p:txBody>
      </p:sp>
      <p:sp>
        <p:nvSpPr>
          <p:cNvPr id="11" name="Shape 8"/>
          <p:cNvSpPr/>
          <p:nvPr/>
        </p:nvSpPr>
        <p:spPr>
          <a:xfrm>
            <a:off x="6732270" y="1188720"/>
            <a:ext cx="1954530" cy="1371600"/>
          </a:xfrm>
          <a:prstGeom prst="rect">
            <a:avLst/>
          </a:prstGeom>
          <a:solidFill>
            <a:srgbClr val="F2F6FC"/>
          </a:solidFill>
          <a:ln w="9525">
            <a:solidFill>
              <a:srgbClr val="D5DCEA"/>
            </a:solidFill>
            <a:prstDash val="solid"/>
          </a:ln>
        </p:spPr>
      </p:sp>
      <p:sp>
        <p:nvSpPr>
          <p:cNvPr id="12" name="Text 9"/>
          <p:cNvSpPr/>
          <p:nvPr/>
        </p:nvSpPr>
        <p:spPr>
          <a:xfrm>
            <a:off x="6841998" y="1298448"/>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04  </a:t>
            </a:r>
            <a:pPr indent="0" marL="0">
              <a:buNone/>
            </a:pPr>
            <a:r>
              <a:rPr lang="en-US" sz="1050" b="1" dirty="0">
                <a:solidFill>
                  <a:srgbClr val="595959"/>
                </a:solidFill>
                <a:latin typeface="Arial" pitchFamily="34" charset="0"/>
                <a:ea typeface="Arial" pitchFamily="34" charset="-122"/>
                <a:cs typeface="Arial" pitchFamily="34" charset="-120"/>
              </a:rPr>
              <a:t>2:6–12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Removal of the Restrainer</a:t>
            </a:r>
            <a:endParaRPr lang="en-US" sz="1300" dirty="0"/>
          </a:p>
        </p:txBody>
      </p:sp>
      <p:sp>
        <p:nvSpPr>
          <p:cNvPr id="13" name="Shape 10"/>
          <p:cNvSpPr/>
          <p:nvPr/>
        </p:nvSpPr>
        <p:spPr>
          <a:xfrm>
            <a:off x="457200" y="2761488"/>
            <a:ext cx="1954530" cy="1371600"/>
          </a:xfrm>
          <a:prstGeom prst="rect">
            <a:avLst/>
          </a:prstGeom>
          <a:solidFill>
            <a:srgbClr val="F2F6FC"/>
          </a:solidFill>
          <a:ln w="9525">
            <a:solidFill>
              <a:srgbClr val="D5DCEA"/>
            </a:solidFill>
            <a:prstDash val="solid"/>
          </a:ln>
        </p:spPr>
      </p:sp>
      <p:sp>
        <p:nvSpPr>
          <p:cNvPr id="14" name="Text 11"/>
          <p:cNvSpPr/>
          <p:nvPr/>
        </p:nvSpPr>
        <p:spPr>
          <a:xfrm>
            <a:off x="566928" y="2871216"/>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05  </a:t>
            </a:r>
            <a:pPr indent="0" marL="0">
              <a:buNone/>
            </a:pPr>
            <a:r>
              <a:rPr lang="en-US" sz="1050" b="1" dirty="0">
                <a:solidFill>
                  <a:srgbClr val="595959"/>
                </a:solidFill>
                <a:latin typeface="Arial" pitchFamily="34" charset="0"/>
                <a:ea typeface="Arial" pitchFamily="34" charset="-122"/>
                <a:cs typeface="Arial" pitchFamily="34" charset="-120"/>
              </a:rPr>
              <a:t>2:13–17</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Day of the Lord and Believers</a:t>
            </a:r>
            <a:endParaRPr lang="en-US" sz="1300" dirty="0"/>
          </a:p>
        </p:txBody>
      </p:sp>
      <p:sp>
        <p:nvSpPr>
          <p:cNvPr id="15" name="Shape 12"/>
          <p:cNvSpPr/>
          <p:nvPr/>
        </p:nvSpPr>
        <p:spPr>
          <a:xfrm>
            <a:off x="2548890" y="2761488"/>
            <a:ext cx="1954530" cy="1371600"/>
          </a:xfrm>
          <a:prstGeom prst="rect">
            <a:avLst/>
          </a:prstGeom>
          <a:solidFill>
            <a:srgbClr val="1F3864"/>
          </a:solidFill>
          <a:ln w="9525">
            <a:solidFill>
              <a:srgbClr val="1F3864"/>
            </a:solidFill>
            <a:prstDash val="solid"/>
          </a:ln>
        </p:spPr>
      </p:sp>
      <p:sp>
        <p:nvSpPr>
          <p:cNvPr id="16" name="Text 13"/>
          <p:cNvSpPr/>
          <p:nvPr/>
        </p:nvSpPr>
        <p:spPr>
          <a:xfrm>
            <a:off x="2658618" y="2871216"/>
            <a:ext cx="1735074" cy="1152144"/>
          </a:xfrm>
          <a:prstGeom prst="rect">
            <a:avLst/>
          </a:prstGeom>
          <a:noFill/>
          <a:ln/>
        </p:spPr>
        <p:txBody>
          <a:bodyPr wrap="square" lIns="0" tIns="0" rIns="0" bIns="0" rtlCol="0" anchor="t"/>
          <a:lstStyle/>
          <a:p>
            <a:pPr indent="0" marL="0">
              <a:buNone/>
            </a:pPr>
            <a:r>
              <a:rPr lang="en-US" sz="1300" b="1" dirty="0">
                <a:solidFill>
                  <a:srgbClr val="C9D5EE"/>
                </a:solidFill>
                <a:latin typeface="Arial" pitchFamily="34" charset="0"/>
                <a:ea typeface="Arial" pitchFamily="34" charset="-122"/>
                <a:cs typeface="Arial" pitchFamily="34" charset="-120"/>
              </a:rPr>
              <a:t>06  </a:t>
            </a:r>
            <a:pPr indent="0" marL="0">
              <a:buNone/>
            </a:pPr>
            <a:r>
              <a:rPr lang="en-US" sz="1050" b="1" dirty="0">
                <a:solidFill>
                  <a:srgbClr val="C9D5EE"/>
                </a:solidFill>
                <a:latin typeface="Arial" pitchFamily="34" charset="0"/>
                <a:ea typeface="Arial" pitchFamily="34" charset="-122"/>
                <a:cs typeface="Arial" pitchFamily="34" charset="-120"/>
              </a:rPr>
              <a:t>3:1–12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FFFFFF"/>
                </a:solidFill>
                <a:latin typeface="Arial" pitchFamily="34" charset="0"/>
                <a:ea typeface="Arial" pitchFamily="34" charset="-122"/>
                <a:cs typeface="Arial" pitchFamily="34" charset="-120"/>
              </a:rPr>
              <a:t>Serving While Waiting</a:t>
            </a:r>
            <a:endParaRPr lang="en-US" sz="1300" dirty="0"/>
          </a:p>
        </p:txBody>
      </p:sp>
      <p:sp>
        <p:nvSpPr>
          <p:cNvPr id="17" name="Shape 14"/>
          <p:cNvSpPr/>
          <p:nvPr/>
        </p:nvSpPr>
        <p:spPr>
          <a:xfrm>
            <a:off x="4640580" y="2761488"/>
            <a:ext cx="1954530" cy="1371600"/>
          </a:xfrm>
          <a:prstGeom prst="rect">
            <a:avLst/>
          </a:prstGeom>
          <a:solidFill>
            <a:srgbClr val="F2F6FC"/>
          </a:solidFill>
          <a:ln w="9525">
            <a:solidFill>
              <a:srgbClr val="D5DCEA"/>
            </a:solidFill>
            <a:prstDash val="solid"/>
          </a:ln>
        </p:spPr>
      </p:sp>
      <p:sp>
        <p:nvSpPr>
          <p:cNvPr id="18" name="Text 15"/>
          <p:cNvSpPr/>
          <p:nvPr/>
        </p:nvSpPr>
        <p:spPr>
          <a:xfrm>
            <a:off x="4750308" y="2871216"/>
            <a:ext cx="1735074"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07  </a:t>
            </a:r>
            <a:pPr indent="0" marL="0">
              <a:buNone/>
            </a:pPr>
            <a:r>
              <a:rPr lang="en-US" sz="1050" b="1" dirty="0">
                <a:solidFill>
                  <a:srgbClr val="595959"/>
                </a:solidFill>
                <a:latin typeface="Arial" pitchFamily="34" charset="0"/>
                <a:ea typeface="Arial" pitchFamily="34" charset="-122"/>
                <a:cs typeface="Arial" pitchFamily="34" charset="-120"/>
              </a:rPr>
              <a:t>3:13–18</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My Brother’s Keeper</a:t>
            </a:r>
            <a:endParaRPr lang="en-US" sz="1300" dirty="0"/>
          </a:p>
        </p:txBody>
      </p:sp>
      <p:sp>
        <p:nvSpPr>
          <p:cNvPr id="19" name="Shape 16"/>
          <p:cNvSpPr/>
          <p:nvPr/>
        </p:nvSpPr>
        <p:spPr>
          <a:xfrm>
            <a:off x="457200" y="4224528"/>
            <a:ext cx="8229600" cy="411480"/>
          </a:xfrm>
          <a:prstGeom prst="roundRect">
            <a:avLst>
              <a:gd name="adj" fmla="val 13333"/>
            </a:avLst>
          </a:prstGeom>
          <a:solidFill>
            <a:srgbClr val="1F3864"/>
          </a:solidFill>
          <a:ln w="12700">
            <a:solidFill>
              <a:srgbClr val="1F3864"/>
            </a:solidFill>
            <a:prstDash val="solid"/>
          </a:ln>
        </p:spPr>
      </p:sp>
      <p:sp>
        <p:nvSpPr>
          <p:cNvPr id="20" name="Text 17"/>
          <p:cNvSpPr/>
          <p:nvPr/>
        </p:nvSpPr>
        <p:spPr>
          <a:xfrm>
            <a:off x="621792" y="4224528"/>
            <a:ext cx="7900416" cy="411480"/>
          </a:xfrm>
          <a:prstGeom prst="rect">
            <a:avLst/>
          </a:prstGeom>
          <a:noFill/>
          <a:ln/>
        </p:spPr>
        <p:txBody>
          <a:bodyPr wrap="square" lIns="0" tIns="0" rIns="0" bIns="0" rtlCol="0" anchor="ctr"/>
          <a:lstStyle/>
          <a:p>
            <a:pPr indent="0" marL="0">
              <a:buNone/>
            </a:pPr>
            <a:r>
              <a:rPr lang="en-US" sz="1100" b="1" dirty="0">
                <a:solidFill>
                  <a:srgbClr val="C9D5EE"/>
                </a:solidFill>
                <a:latin typeface="Arial" pitchFamily="34" charset="0"/>
                <a:ea typeface="Arial" pitchFamily="34" charset="-122"/>
                <a:cs typeface="Arial" pitchFamily="34" charset="-120"/>
              </a:rPr>
              <a:t>Grace and peace frame the letter (1:2; 3:16–18):  </a:t>
            </a:r>
            <a:pPr indent="0" marL="0">
              <a:buNone/>
            </a:pPr>
            <a:r>
              <a:rPr lang="en-US" sz="1100" dirty="0">
                <a:solidFill>
                  <a:srgbClr val="FFFFFF"/>
                </a:solidFill>
                <a:latin typeface="Arial" pitchFamily="34" charset="0"/>
                <a:ea typeface="Arial" pitchFamily="34" charset="-122"/>
                <a:cs typeface="Arial" pitchFamily="34" charset="-120"/>
              </a:rPr>
              <a:t>persecution in chapter 1, prophecy in chapter 2, correction in chapter 3.</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Wait on the Lord — wait for the Lord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3:1–12 · Outline I–II</a:t>
            </a:r>
            <a:endParaRPr lang="en-US" sz="1200" dirty="0"/>
          </a:p>
        </p:txBody>
      </p:sp>
      <p:sp>
        <p:nvSpPr>
          <p:cNvPr id="5" name="Shape 2"/>
          <p:cNvSpPr/>
          <p:nvPr/>
        </p:nvSpPr>
        <p:spPr>
          <a:xfrm>
            <a:off x="457200" y="1188720"/>
            <a:ext cx="3931920" cy="365760"/>
          </a:xfrm>
          <a:prstGeom prst="rect">
            <a:avLst/>
          </a:prstGeom>
          <a:solidFill>
            <a:srgbClr val="2E5496"/>
          </a:solidFill>
          <a:ln w="12700">
            <a:solidFill>
              <a:srgbClr val="2E5496"/>
            </a:solidFill>
            <a:prstDash val="solid"/>
          </a:ln>
        </p:spPr>
      </p:sp>
      <p:sp>
        <p:nvSpPr>
          <p:cNvPr id="6" name="Text 3"/>
          <p:cNvSpPr/>
          <p:nvPr/>
        </p:nvSpPr>
        <p:spPr>
          <a:xfrm>
            <a:off x="54864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 · Wait on the Lord · 3:1–5</a:t>
            </a:r>
            <a:endParaRPr lang="en-US" sz="1200" dirty="0"/>
          </a:p>
        </p:txBody>
      </p:sp>
      <p:sp>
        <p:nvSpPr>
          <p:cNvPr id="7" name="Shape 4"/>
          <p:cNvSpPr/>
          <p:nvPr/>
        </p:nvSpPr>
        <p:spPr>
          <a:xfrm>
            <a:off x="457200" y="1554480"/>
            <a:ext cx="3931920" cy="2011680"/>
          </a:xfrm>
          <a:prstGeom prst="rect">
            <a:avLst/>
          </a:prstGeom>
          <a:solidFill>
            <a:srgbClr val="F2F6FC"/>
          </a:solidFill>
          <a:ln w="9525">
            <a:solidFill>
              <a:srgbClr val="D5DCEA"/>
            </a:solidFill>
            <a:prstDash val="solid"/>
          </a:ln>
        </p:spPr>
      </p:sp>
      <p:sp>
        <p:nvSpPr>
          <p:cNvPr id="8" name="Text 5"/>
          <p:cNvSpPr/>
          <p:nvPr/>
        </p:nvSpPr>
        <p:spPr>
          <a:xfrm>
            <a:off x="548640" y="1627632"/>
            <a:ext cx="3749040" cy="188366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content of the prayer — ministry and misery</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confidence of the prayer — the Lord is faithful</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consequences of the prayer — love and patience</a:t>
            </a:r>
            <a:endParaRPr lang="en-US" sz="1250" dirty="0"/>
          </a:p>
        </p:txBody>
      </p:sp>
      <p:sp>
        <p:nvSpPr>
          <p:cNvPr id="9" name="Shape 6"/>
          <p:cNvSpPr/>
          <p:nvPr/>
        </p:nvSpPr>
        <p:spPr>
          <a:xfrm>
            <a:off x="4754880" y="1188720"/>
            <a:ext cx="3931920" cy="365760"/>
          </a:xfrm>
          <a:prstGeom prst="rect">
            <a:avLst/>
          </a:prstGeom>
          <a:solidFill>
            <a:srgbClr val="375623"/>
          </a:solidFill>
          <a:ln w="12700">
            <a:solidFill>
              <a:srgbClr val="375623"/>
            </a:solidFill>
            <a:prstDash val="solid"/>
          </a:ln>
        </p:spPr>
      </p:sp>
      <p:sp>
        <p:nvSpPr>
          <p:cNvPr id="10" name="Text 7"/>
          <p:cNvSpPr/>
          <p:nvPr/>
        </p:nvSpPr>
        <p:spPr>
          <a:xfrm>
            <a:off x="4846320" y="12344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II · Wait for the Lord · 3:6–12</a:t>
            </a:r>
            <a:endParaRPr lang="en-US" sz="1200" dirty="0"/>
          </a:p>
        </p:txBody>
      </p:sp>
      <p:sp>
        <p:nvSpPr>
          <p:cNvPr id="11" name="Shape 8"/>
          <p:cNvSpPr/>
          <p:nvPr/>
        </p:nvSpPr>
        <p:spPr>
          <a:xfrm>
            <a:off x="4754880" y="1554480"/>
            <a:ext cx="3931920" cy="2011680"/>
          </a:xfrm>
          <a:prstGeom prst="rect">
            <a:avLst/>
          </a:prstGeom>
          <a:solidFill>
            <a:srgbClr val="F2F6FC"/>
          </a:solidFill>
          <a:ln w="9525">
            <a:solidFill>
              <a:srgbClr val="D5DCEA"/>
            </a:solidFill>
            <a:prstDash val="solid"/>
          </a:ln>
        </p:spPr>
      </p:sp>
      <p:sp>
        <p:nvSpPr>
          <p:cNvPr id="12" name="Text 9"/>
          <p:cNvSpPr/>
          <p:nvPr/>
        </p:nvSpPr>
        <p:spPr>
          <a:xfrm>
            <a:off x="4846320" y="1627632"/>
            <a:ext cx="3749040" cy="1883664"/>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exhortation — withdraw</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example — Paul’s own work</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explanation — busybodies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solution — work in quietness</a:t>
            </a:r>
            <a:endParaRPr lang="en-US" sz="1250" dirty="0"/>
          </a:p>
        </p:txBody>
      </p:sp>
      <p:sp>
        <p:nvSpPr>
          <p:cNvPr id="13" name="Text 10"/>
          <p:cNvSpPr/>
          <p:nvPr/>
        </p:nvSpPr>
        <p:spPr>
          <a:xfrm>
            <a:off x="4389120" y="219456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a:t>
            </a:r>
            <a:endParaRPr lang="en-US" sz="1100" dirty="0"/>
          </a:p>
        </p:txBody>
      </p:sp>
      <p:sp>
        <p:nvSpPr>
          <p:cNvPr id="14" name="Shape 11"/>
          <p:cNvSpPr/>
          <p:nvPr/>
        </p:nvSpPr>
        <p:spPr>
          <a:xfrm>
            <a:off x="457200" y="3794760"/>
            <a:ext cx="8229600" cy="777240"/>
          </a:xfrm>
          <a:prstGeom prst="roundRect">
            <a:avLst>
              <a:gd name="adj" fmla="val 7059"/>
            </a:avLst>
          </a:prstGeom>
          <a:solidFill>
            <a:srgbClr val="1F3864"/>
          </a:solidFill>
          <a:ln w="12700">
            <a:solidFill>
              <a:srgbClr val="1F3864"/>
            </a:solidFill>
            <a:prstDash val="solid"/>
          </a:ln>
        </p:spPr>
      </p:sp>
      <p:sp>
        <p:nvSpPr>
          <p:cNvPr id="15" name="Text 12"/>
          <p:cNvSpPr/>
          <p:nvPr/>
        </p:nvSpPr>
        <p:spPr>
          <a:xfrm>
            <a:off x="621792" y="3794760"/>
            <a:ext cx="7900416" cy="777240"/>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Trust and obey:  </a:t>
            </a:r>
            <a:pPr indent="0" marL="0">
              <a:buNone/>
            </a:pPr>
            <a:r>
              <a:rPr lang="en-US" sz="1200" dirty="0">
                <a:solidFill>
                  <a:srgbClr val="FFFFFF"/>
                </a:solidFill>
                <a:latin typeface="Arial" pitchFamily="34" charset="0"/>
                <a:ea typeface="Arial" pitchFamily="34" charset="-122"/>
                <a:cs typeface="Arial" pitchFamily="34" charset="-120"/>
              </a:rPr>
              <a:t>“Fear God and keep His commandments” (Eccl 12:13) — pray and trust; work and obey.</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“Pray for us”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3:1–2 · I.A — The content of the prayer</a:t>
            </a:r>
            <a:endParaRPr lang="en-US" sz="1200" dirty="0"/>
          </a:p>
        </p:txBody>
      </p:sp>
      <p:sp>
        <p:nvSpPr>
          <p:cNvPr id="5" name="Shape 2"/>
          <p:cNvSpPr/>
          <p:nvPr/>
        </p:nvSpPr>
        <p:spPr>
          <a:xfrm>
            <a:off x="457200" y="1188720"/>
            <a:ext cx="4023360" cy="566928"/>
          </a:xfrm>
          <a:prstGeom prst="rect">
            <a:avLst/>
          </a:prstGeom>
          <a:solidFill>
            <a:srgbClr val="2E5496"/>
          </a:solidFill>
          <a:ln w="12700">
            <a:solidFill>
              <a:srgbClr val="2E5496"/>
            </a:solidFill>
            <a:prstDash val="solid"/>
          </a:ln>
        </p:spPr>
      </p:sp>
      <p:sp>
        <p:nvSpPr>
          <p:cNvPr id="6" name="Text 3"/>
          <p:cNvSpPr/>
          <p:nvPr/>
        </p:nvSpPr>
        <p:spPr>
          <a:xfrm>
            <a:off x="548640" y="123444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Their ministry · v.1</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τρέχω</a:t>
            </a:r>
            <a:pPr indent="0" marL="0">
              <a:buNone/>
            </a:pPr>
            <a:r>
              <a:rPr lang="en-US" sz="850" dirty="0">
                <a:solidFill>
                  <a:srgbClr val="DCE4F2"/>
                </a:solidFill>
                <a:latin typeface="Arial" pitchFamily="34" charset="0"/>
                <a:ea typeface="Arial" pitchFamily="34" charset="-122"/>
                <a:cs typeface="Arial" pitchFamily="34" charset="-120"/>
              </a:rPr>
              <a:t>  run swiftly · G5143</a:t>
            </a:r>
            <a:endParaRPr lang="en-US" sz="1200" dirty="0"/>
          </a:p>
        </p:txBody>
      </p:sp>
      <p:sp>
        <p:nvSpPr>
          <p:cNvPr id="7" name="Shape 4"/>
          <p:cNvSpPr/>
          <p:nvPr/>
        </p:nvSpPr>
        <p:spPr>
          <a:xfrm>
            <a:off x="457200" y="1755648"/>
            <a:ext cx="4023360" cy="1947672"/>
          </a:xfrm>
          <a:prstGeom prst="rect">
            <a:avLst/>
          </a:prstGeom>
          <a:solidFill>
            <a:srgbClr val="F2F6FC"/>
          </a:solidFill>
          <a:ln w="9525">
            <a:solidFill>
              <a:srgbClr val="D5DCEA"/>
            </a:solidFill>
            <a:prstDash val="solid"/>
          </a:ln>
        </p:spPr>
      </p:sp>
      <p:sp>
        <p:nvSpPr>
          <p:cNvPr id="8" name="Text 5"/>
          <p:cNvSpPr/>
          <p:nvPr/>
        </p:nvSpPr>
        <p:spPr>
          <a:xfrm>
            <a:off x="548640" y="1828800"/>
            <a:ext cx="3840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That the Word may run — it has no feet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And be glorified — believed, prized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“Just as it is with you”</a:t>
            </a:r>
            <a:endParaRPr lang="en-US" sz="1250" dirty="0"/>
          </a:p>
        </p:txBody>
      </p:sp>
      <p:sp>
        <p:nvSpPr>
          <p:cNvPr id="9" name="Shape 6"/>
          <p:cNvSpPr/>
          <p:nvPr/>
        </p:nvSpPr>
        <p:spPr>
          <a:xfrm>
            <a:off x="4663440" y="1188720"/>
            <a:ext cx="4023360" cy="566928"/>
          </a:xfrm>
          <a:prstGeom prst="rect">
            <a:avLst/>
          </a:prstGeom>
          <a:solidFill>
            <a:srgbClr val="6B7280"/>
          </a:solidFill>
          <a:ln w="12700">
            <a:solidFill>
              <a:srgbClr val="6B7280"/>
            </a:solidFill>
            <a:prstDash val="solid"/>
          </a:ln>
        </p:spPr>
      </p:sp>
      <p:sp>
        <p:nvSpPr>
          <p:cNvPr id="10" name="Text 7"/>
          <p:cNvSpPr/>
          <p:nvPr/>
        </p:nvSpPr>
        <p:spPr>
          <a:xfrm>
            <a:off x="4754880" y="123444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Their misery · v.2</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ἄτοπος · πονηρός</a:t>
            </a:r>
            <a:pPr indent="0" marL="0">
              <a:buNone/>
            </a:pPr>
            <a:r>
              <a:rPr lang="en-US" sz="850" dirty="0">
                <a:solidFill>
                  <a:srgbClr val="DCE4F2"/>
                </a:solidFill>
                <a:latin typeface="Arial" pitchFamily="34" charset="0"/>
                <a:ea typeface="Arial" pitchFamily="34" charset="-122"/>
                <a:cs typeface="Arial" pitchFamily="34" charset="-120"/>
              </a:rPr>
              <a:t>  out of place · harmful</a:t>
            </a:r>
            <a:endParaRPr lang="en-US" sz="1200" dirty="0"/>
          </a:p>
        </p:txBody>
      </p:sp>
      <p:sp>
        <p:nvSpPr>
          <p:cNvPr id="11" name="Shape 8"/>
          <p:cNvSpPr/>
          <p:nvPr/>
        </p:nvSpPr>
        <p:spPr>
          <a:xfrm>
            <a:off x="4663440" y="1755648"/>
            <a:ext cx="4023360" cy="1947672"/>
          </a:xfrm>
          <a:prstGeom prst="rect">
            <a:avLst/>
          </a:prstGeom>
          <a:solidFill>
            <a:srgbClr val="F2F6FC"/>
          </a:solidFill>
          <a:ln w="9525">
            <a:solidFill>
              <a:srgbClr val="D5DCEA"/>
            </a:solidFill>
            <a:prstDash val="solid"/>
          </a:ln>
        </p:spPr>
      </p:sp>
      <p:sp>
        <p:nvSpPr>
          <p:cNvPr id="12" name="Text 9"/>
          <p:cNvSpPr/>
          <p:nvPr/>
        </p:nvSpPr>
        <p:spPr>
          <a:xfrm>
            <a:off x="4754880" y="1828800"/>
            <a:ext cx="3840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Deliverance from unreasonable, wicked men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“For not all have faith”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They oppose the gift and the giver</a:t>
            </a:r>
            <a:endParaRPr lang="en-US" sz="1250" dirty="0"/>
          </a:p>
        </p:txBody>
      </p:sp>
      <p:sp>
        <p:nvSpPr>
          <p:cNvPr id="13" name="Shape 10"/>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14" name="Text 11"/>
          <p:cNvSpPr/>
          <p:nvPr/>
        </p:nvSpPr>
        <p:spPr>
          <a:xfrm>
            <a:off x="621792" y="388620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Satan doesn’t bother those who don’t bother him. Let’s start bothering Satan — and that will be giving the Word.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“But the Lord is faithful”</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3:3–4 · I.B — The confidence of the prayer</a:t>
            </a:r>
            <a:endParaRPr lang="en-US" sz="1200" dirty="0"/>
          </a:p>
        </p:txBody>
      </p:sp>
      <p:sp>
        <p:nvSpPr>
          <p:cNvPr id="5" name="Shape 2"/>
          <p:cNvSpPr/>
          <p:nvPr/>
        </p:nvSpPr>
        <p:spPr>
          <a:xfrm>
            <a:off x="457200" y="1188720"/>
            <a:ext cx="2602992" cy="1920240"/>
          </a:xfrm>
          <a:prstGeom prst="roundRect">
            <a:avLst>
              <a:gd name="adj" fmla="val 2857"/>
            </a:avLst>
          </a:prstGeom>
          <a:solidFill>
            <a:srgbClr val="F2F6FC"/>
          </a:solidFill>
          <a:ln w="9525">
            <a:solidFill>
              <a:srgbClr val="D5DCEA"/>
            </a:solidFill>
            <a:prstDash val="solid"/>
          </a:ln>
        </p:spPr>
      </p:sp>
      <p:sp>
        <p:nvSpPr>
          <p:cNvPr id="6" name="Shape 3"/>
          <p:cNvSpPr/>
          <p:nvPr/>
        </p:nvSpPr>
        <p:spPr>
          <a:xfrm>
            <a:off x="1557528"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557528"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He will establish you</a:t>
            </a:r>
            <a:endParaRPr lang="en-US" sz="1150" dirty="0"/>
          </a:p>
        </p:txBody>
      </p:sp>
      <p:sp>
        <p:nvSpPr>
          <p:cNvPr id="9" name="Text 6"/>
          <p:cNvSpPr/>
          <p:nvPr/>
        </p:nvSpPr>
        <p:spPr>
          <a:xfrm>
            <a:off x="530352" y="2157984"/>
            <a:ext cx="2456688" cy="56692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Strengthened in the faith as you study His Book</a:t>
            </a:r>
            <a:endParaRPr lang="en-US" sz="1150" dirty="0"/>
          </a:p>
        </p:txBody>
      </p:sp>
      <p:sp>
        <p:nvSpPr>
          <p:cNvPr id="10" name="Text 7"/>
          <p:cNvSpPr/>
          <p:nvPr/>
        </p:nvSpPr>
        <p:spPr>
          <a:xfrm>
            <a:off x="530352" y="272491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v.3a</a:t>
            </a:r>
            <a:endParaRPr lang="en-US" sz="900" dirty="0"/>
          </a:p>
        </p:txBody>
      </p:sp>
      <p:sp>
        <p:nvSpPr>
          <p:cNvPr id="11" name="Shape 8"/>
          <p:cNvSpPr/>
          <p:nvPr/>
        </p:nvSpPr>
        <p:spPr>
          <a:xfrm>
            <a:off x="3064764" y="2029968"/>
            <a:ext cx="201168" cy="237744"/>
          </a:xfrm>
          <a:prstGeom prst="rightArrow">
            <a:avLst/>
          </a:prstGeom>
          <a:solidFill>
            <a:srgbClr val="6B7280"/>
          </a:solidFill>
          <a:ln w="12700">
            <a:solidFill>
              <a:srgbClr val="6B7280"/>
            </a:solidFill>
            <a:prstDash val="solid"/>
          </a:ln>
        </p:spPr>
      </p:sp>
      <p:sp>
        <p:nvSpPr>
          <p:cNvPr id="12" name="Shape 9"/>
          <p:cNvSpPr/>
          <p:nvPr/>
        </p:nvSpPr>
        <p:spPr>
          <a:xfrm>
            <a:off x="3270504" y="1188720"/>
            <a:ext cx="2602992" cy="1920240"/>
          </a:xfrm>
          <a:prstGeom prst="roundRect">
            <a:avLst>
              <a:gd name="adj" fmla="val 2857"/>
            </a:avLst>
          </a:prstGeom>
          <a:solidFill>
            <a:srgbClr val="F2F6FC"/>
          </a:solidFill>
          <a:ln w="9525">
            <a:solidFill>
              <a:srgbClr val="D5DCEA"/>
            </a:solidFill>
            <a:prstDash val="solid"/>
          </a:ln>
        </p:spPr>
      </p:sp>
      <p:sp>
        <p:nvSpPr>
          <p:cNvPr id="13" name="Shape 10"/>
          <p:cNvSpPr/>
          <p:nvPr/>
        </p:nvSpPr>
        <p:spPr>
          <a:xfrm>
            <a:off x="4370832"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3343656" y="1773936"/>
            <a:ext cx="2456688"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He will guard you</a:t>
            </a:r>
            <a:endParaRPr lang="en-US" sz="1150" dirty="0"/>
          </a:p>
        </p:txBody>
      </p:sp>
      <p:sp>
        <p:nvSpPr>
          <p:cNvPr id="16" name="Text 13"/>
          <p:cNvSpPr/>
          <p:nvPr/>
        </p:nvSpPr>
        <p:spPr>
          <a:xfrm>
            <a:off x="3343656" y="2157984"/>
            <a:ext cx="2456688" cy="56692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From the evil one — and from evil</a:t>
            </a:r>
            <a:endParaRPr lang="en-US" sz="1150" dirty="0"/>
          </a:p>
        </p:txBody>
      </p:sp>
      <p:sp>
        <p:nvSpPr>
          <p:cNvPr id="17" name="Text 14"/>
          <p:cNvSpPr/>
          <p:nvPr/>
        </p:nvSpPr>
        <p:spPr>
          <a:xfrm>
            <a:off x="3343656" y="2724912"/>
            <a:ext cx="2456688"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φυλάσσω · πονηρός · v.3b</a:t>
            </a:r>
            <a:endParaRPr lang="en-US" sz="900" dirty="0"/>
          </a:p>
        </p:txBody>
      </p:sp>
      <p:sp>
        <p:nvSpPr>
          <p:cNvPr id="18" name="Shape 15"/>
          <p:cNvSpPr/>
          <p:nvPr/>
        </p:nvSpPr>
        <p:spPr>
          <a:xfrm>
            <a:off x="5878068" y="2029968"/>
            <a:ext cx="201168" cy="237744"/>
          </a:xfrm>
          <a:prstGeom prst="rightArrow">
            <a:avLst/>
          </a:prstGeom>
          <a:solidFill>
            <a:srgbClr val="6B7280"/>
          </a:solidFill>
          <a:ln w="12700">
            <a:solidFill>
              <a:srgbClr val="6B7280"/>
            </a:solidFill>
            <a:prstDash val="solid"/>
          </a:ln>
        </p:spPr>
      </p:sp>
      <p:sp>
        <p:nvSpPr>
          <p:cNvPr id="19" name="Shape 16"/>
          <p:cNvSpPr/>
          <p:nvPr/>
        </p:nvSpPr>
        <p:spPr>
          <a:xfrm>
            <a:off x="6083808" y="1188720"/>
            <a:ext cx="2602992" cy="1920240"/>
          </a:xfrm>
          <a:prstGeom prst="roundRect">
            <a:avLst>
              <a:gd name="adj" fmla="val 2857"/>
            </a:avLst>
          </a:prstGeom>
          <a:solidFill>
            <a:srgbClr val="1F3864"/>
          </a:solidFill>
          <a:ln w="9525">
            <a:solidFill>
              <a:srgbClr val="1F3864"/>
            </a:solidFill>
            <a:prstDash val="solid"/>
          </a:ln>
        </p:spPr>
      </p:sp>
      <p:sp>
        <p:nvSpPr>
          <p:cNvPr id="20" name="Shape 17"/>
          <p:cNvSpPr/>
          <p:nvPr/>
        </p:nvSpPr>
        <p:spPr>
          <a:xfrm>
            <a:off x="7184136" y="1298448"/>
            <a:ext cx="402336" cy="402336"/>
          </a:xfrm>
          <a:prstGeom prst="ellipse">
            <a:avLst/>
          </a:prstGeom>
          <a:solidFill>
            <a:srgbClr val="FFFFFF"/>
          </a:solidFill>
          <a:ln w="12700">
            <a:solidFill>
              <a:srgbClr val="FFFFFF"/>
            </a:solidFill>
            <a:prstDash val="solid"/>
          </a:ln>
        </p:spPr>
      </p:sp>
      <p:sp>
        <p:nvSpPr>
          <p:cNvPr id="21" name="Text 18"/>
          <p:cNvSpPr/>
          <p:nvPr/>
        </p:nvSpPr>
        <p:spPr>
          <a:xfrm>
            <a:off x="7184136"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6156960" y="1773936"/>
            <a:ext cx="2456688"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You will do</a:t>
            </a:r>
            <a:endParaRPr lang="en-US" sz="1150" dirty="0"/>
          </a:p>
        </p:txBody>
      </p:sp>
      <p:sp>
        <p:nvSpPr>
          <p:cNvPr id="23" name="Text 20"/>
          <p:cNvSpPr/>
          <p:nvPr/>
        </p:nvSpPr>
        <p:spPr>
          <a:xfrm>
            <a:off x="6156960" y="2157984"/>
            <a:ext cx="2456688" cy="56692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What you are doing — and continue</a:t>
            </a:r>
            <a:endParaRPr lang="en-US" sz="1150" dirty="0"/>
          </a:p>
        </p:txBody>
      </p:sp>
      <p:sp>
        <p:nvSpPr>
          <p:cNvPr id="24" name="Text 21"/>
          <p:cNvSpPr/>
          <p:nvPr/>
        </p:nvSpPr>
        <p:spPr>
          <a:xfrm>
            <a:off x="6156960" y="2724912"/>
            <a:ext cx="2456688"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v.4</a:t>
            </a:r>
            <a:endParaRPr lang="en-US" sz="900" dirty="0"/>
          </a:p>
        </p:txBody>
      </p:sp>
      <p:sp>
        <p:nvSpPr>
          <p:cNvPr id="25" name="Shape 22"/>
          <p:cNvSpPr/>
          <p:nvPr/>
        </p:nvSpPr>
        <p:spPr>
          <a:xfrm>
            <a:off x="457200" y="3337560"/>
            <a:ext cx="8229600" cy="594360"/>
          </a:xfrm>
          <a:prstGeom prst="roundRect">
            <a:avLst>
              <a:gd name="adj" fmla="val 9231"/>
            </a:avLst>
          </a:prstGeom>
          <a:solidFill>
            <a:srgbClr val="1F3864"/>
          </a:solidFill>
          <a:ln w="12700">
            <a:solidFill>
              <a:srgbClr val="1F3864"/>
            </a:solidFill>
            <a:prstDash val="solid"/>
          </a:ln>
        </p:spPr>
      </p:sp>
      <p:sp>
        <p:nvSpPr>
          <p:cNvPr id="26" name="Text 23"/>
          <p:cNvSpPr/>
          <p:nvPr/>
        </p:nvSpPr>
        <p:spPr>
          <a:xfrm>
            <a:off x="621792" y="3337560"/>
            <a:ext cx="7900416" cy="594360"/>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pistis → pistos:  </a:t>
            </a:r>
            <a:pPr indent="0" marL="0">
              <a:buNone/>
            </a:pPr>
            <a:r>
              <a:rPr lang="en-US" sz="1200" dirty="0">
                <a:solidFill>
                  <a:srgbClr val="FFFFFF"/>
                </a:solidFill>
                <a:latin typeface="Arial" pitchFamily="34" charset="0"/>
                <a:ea typeface="Arial" pitchFamily="34" charset="-122"/>
                <a:cs typeface="Arial" pitchFamily="34" charset="-120"/>
              </a:rPr>
              <a:t>“not all have faith … but the Lord is faithful” (3:2–3)</a:t>
            </a:r>
            <a:endParaRPr lang="en-US" sz="1200" dirty="0"/>
          </a:p>
        </p:txBody>
      </p:sp>
      <p:sp>
        <p:nvSpPr>
          <p:cNvPr id="27" name="Shape 24"/>
          <p:cNvSpPr/>
          <p:nvPr/>
        </p:nvSpPr>
        <p:spPr>
          <a:xfrm>
            <a:off x="457200" y="4069080"/>
            <a:ext cx="8229600" cy="548640"/>
          </a:xfrm>
          <a:prstGeom prst="rect">
            <a:avLst/>
          </a:prstGeom>
          <a:solidFill>
            <a:srgbClr val="375623"/>
          </a:solidFill>
          <a:ln w="12700">
            <a:solidFill>
              <a:srgbClr val="375623"/>
            </a:solidFill>
            <a:prstDash val="solid"/>
          </a:ln>
        </p:spPr>
      </p:sp>
      <p:sp>
        <p:nvSpPr>
          <p:cNvPr id="28" name="Text 25"/>
          <p:cNvSpPr/>
          <p:nvPr/>
        </p:nvSpPr>
        <p:spPr>
          <a:xfrm>
            <a:off x="621792" y="4069080"/>
            <a:ext cx="7900416" cy="54864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Ryrie: could you stop at an accident and lead a dying man to the Lord? Know the faith — and stand in it.</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Into God’s love and Christ’s patience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3:5 · I.C — The consequences of the prayer</a:t>
            </a:r>
            <a:endParaRPr lang="en-US" sz="1200" dirty="0"/>
          </a:p>
        </p:txBody>
      </p:sp>
      <p:sp>
        <p:nvSpPr>
          <p:cNvPr id="5" name="Shape 2"/>
          <p:cNvSpPr/>
          <p:nvPr/>
        </p:nvSpPr>
        <p:spPr>
          <a:xfrm>
            <a:off x="457200" y="1188720"/>
            <a:ext cx="3383280" cy="566928"/>
          </a:xfrm>
          <a:prstGeom prst="rect">
            <a:avLst/>
          </a:prstGeom>
          <a:solidFill>
            <a:srgbClr val="2E5496"/>
          </a:solidFill>
          <a:ln w="12700">
            <a:solidFill>
              <a:srgbClr val="2E5496"/>
            </a:solidFill>
            <a:prstDash val="solid"/>
          </a:ln>
        </p:spPr>
      </p:sp>
      <p:sp>
        <p:nvSpPr>
          <p:cNvPr id="6" name="Text 3"/>
          <p:cNvSpPr/>
          <p:nvPr/>
        </p:nvSpPr>
        <p:spPr>
          <a:xfrm>
            <a:off x="548640" y="1234440"/>
            <a:ext cx="3200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love of God · 5a</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κατευθύνω</a:t>
            </a:r>
            <a:pPr indent="0" marL="0">
              <a:buNone/>
            </a:pPr>
            <a:r>
              <a:rPr lang="en-US" sz="850" dirty="0">
                <a:solidFill>
                  <a:srgbClr val="DCE4F2"/>
                </a:solidFill>
                <a:latin typeface="Arial" pitchFamily="34" charset="0"/>
                <a:ea typeface="Arial" pitchFamily="34" charset="-122"/>
                <a:cs typeface="Arial" pitchFamily="34" charset="-120"/>
              </a:rPr>
              <a:t>  direct · G2720</a:t>
            </a:r>
            <a:endParaRPr lang="en-US" sz="1200" dirty="0"/>
          </a:p>
        </p:txBody>
      </p:sp>
      <p:sp>
        <p:nvSpPr>
          <p:cNvPr id="7" name="Shape 4"/>
          <p:cNvSpPr/>
          <p:nvPr/>
        </p:nvSpPr>
        <p:spPr>
          <a:xfrm>
            <a:off x="457200" y="1755648"/>
            <a:ext cx="3383280" cy="2176272"/>
          </a:xfrm>
          <a:prstGeom prst="rect">
            <a:avLst/>
          </a:prstGeom>
          <a:solidFill>
            <a:srgbClr val="F2F6FC"/>
          </a:solidFill>
          <a:ln w="9525">
            <a:solidFill>
              <a:srgbClr val="D5DCEA"/>
            </a:solidFill>
            <a:prstDash val="solid"/>
          </a:ln>
        </p:spPr>
      </p:sp>
      <p:sp>
        <p:nvSpPr>
          <p:cNvPr id="8" name="Text 5"/>
          <p:cNvSpPr/>
          <p:nvPr/>
        </p:nvSpPr>
        <p:spPr>
          <a:xfrm>
            <a:off x="548640" y="1828800"/>
            <a:ext cx="3200400" cy="2048256"/>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“God so loved the world”</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Love for the unlovely</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Even unlovely Christians</a:t>
            </a:r>
            <a:endParaRPr lang="en-US" sz="1150" dirty="0"/>
          </a:p>
        </p:txBody>
      </p:sp>
      <p:sp>
        <p:nvSpPr>
          <p:cNvPr id="9" name="Text 6"/>
          <p:cNvSpPr/>
          <p:nvPr/>
        </p:nvSpPr>
        <p:spPr>
          <a:xfrm>
            <a:off x="4069080" y="1188720"/>
            <a:ext cx="4617720" cy="292608"/>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The patience of Christ · 5b</a:t>
            </a:r>
            <a:endParaRPr lang="en-US" sz="1200" dirty="0"/>
          </a:p>
        </p:txBody>
      </p:sp>
      <p:sp>
        <p:nvSpPr>
          <p:cNvPr id="10" name="Shape 7"/>
          <p:cNvSpPr/>
          <p:nvPr/>
        </p:nvSpPr>
        <p:spPr>
          <a:xfrm>
            <a:off x="4069080" y="1591056"/>
            <a:ext cx="384048" cy="384048"/>
          </a:xfrm>
          <a:prstGeom prst="ellipse">
            <a:avLst/>
          </a:prstGeom>
          <a:solidFill>
            <a:srgbClr val="2E5496"/>
          </a:solidFill>
          <a:ln w="12700">
            <a:solidFill>
              <a:srgbClr val="2E5496"/>
            </a:solidFill>
            <a:prstDash val="solid"/>
          </a:ln>
        </p:spPr>
      </p:sp>
      <p:sp>
        <p:nvSpPr>
          <p:cNvPr id="11" name="Text 8"/>
          <p:cNvSpPr/>
          <p:nvPr/>
        </p:nvSpPr>
        <p:spPr>
          <a:xfrm>
            <a:off x="4069080" y="15910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2" name="Text 9"/>
          <p:cNvSpPr/>
          <p:nvPr/>
        </p:nvSpPr>
        <p:spPr>
          <a:xfrm>
            <a:off x="4572000" y="1536192"/>
            <a:ext cx="4114800" cy="755904"/>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Philip — John 14:8–9</a:t>
            </a:r>
            <a:endParaRPr lang="en-US" sz="1150" dirty="0"/>
          </a:p>
          <a:p>
            <a:pPr indent="0" marL="0">
              <a:buNone/>
            </a:pPr>
            <a:r>
              <a:rPr lang="en-US" sz="1050" dirty="0">
                <a:solidFill>
                  <a:srgbClr val="262626"/>
                </a:solidFill>
                <a:latin typeface="Arial" pitchFamily="34" charset="0"/>
                <a:ea typeface="Arial" pitchFamily="34" charset="-122"/>
                <a:cs typeface="Arial" pitchFamily="34" charset="-120"/>
              </a:rPr>
              <a:t>“Have I been with you so long, and you still don’t know?”</a:t>
            </a:r>
            <a:endParaRPr lang="en-US" sz="1150" dirty="0"/>
          </a:p>
        </p:txBody>
      </p:sp>
      <p:sp>
        <p:nvSpPr>
          <p:cNvPr id="13" name="Shape 10"/>
          <p:cNvSpPr/>
          <p:nvPr/>
        </p:nvSpPr>
        <p:spPr>
          <a:xfrm>
            <a:off x="4069080" y="2383536"/>
            <a:ext cx="384048" cy="384048"/>
          </a:xfrm>
          <a:prstGeom prst="ellipse">
            <a:avLst/>
          </a:prstGeom>
          <a:solidFill>
            <a:srgbClr val="2E5496"/>
          </a:solidFill>
          <a:ln w="12700">
            <a:solidFill>
              <a:srgbClr val="2E5496"/>
            </a:solidFill>
            <a:prstDash val="solid"/>
          </a:ln>
        </p:spPr>
      </p:sp>
      <p:sp>
        <p:nvSpPr>
          <p:cNvPr id="14" name="Text 11"/>
          <p:cNvSpPr/>
          <p:nvPr/>
        </p:nvSpPr>
        <p:spPr>
          <a:xfrm>
            <a:off x="4069080" y="23835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2"/>
          <p:cNvSpPr/>
          <p:nvPr/>
        </p:nvSpPr>
        <p:spPr>
          <a:xfrm>
            <a:off x="4572000" y="2328672"/>
            <a:ext cx="4114800" cy="755904"/>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James and John</a:t>
            </a:r>
            <a:endParaRPr lang="en-US" sz="1150" dirty="0"/>
          </a:p>
          <a:p>
            <a:pPr indent="0" marL="0">
              <a:buNone/>
            </a:pPr>
            <a:r>
              <a:rPr lang="en-US" sz="1050" dirty="0">
                <a:solidFill>
                  <a:srgbClr val="262626"/>
                </a:solidFill>
                <a:latin typeface="Arial" pitchFamily="34" charset="0"/>
                <a:ea typeface="Arial" pitchFamily="34" charset="-122"/>
                <a:cs typeface="Arial" pitchFamily="34" charset="-120"/>
              </a:rPr>
              <a:t>The Sons of Thunder: “Shall we call down fire?”</a:t>
            </a:r>
            <a:endParaRPr lang="en-US" sz="1150" dirty="0"/>
          </a:p>
        </p:txBody>
      </p:sp>
      <p:sp>
        <p:nvSpPr>
          <p:cNvPr id="16" name="Shape 13"/>
          <p:cNvSpPr/>
          <p:nvPr/>
        </p:nvSpPr>
        <p:spPr>
          <a:xfrm>
            <a:off x="4069080" y="3176016"/>
            <a:ext cx="384048" cy="384048"/>
          </a:xfrm>
          <a:prstGeom prst="ellipse">
            <a:avLst/>
          </a:prstGeom>
          <a:solidFill>
            <a:srgbClr val="375623"/>
          </a:solidFill>
          <a:ln w="12700">
            <a:solidFill>
              <a:srgbClr val="375623"/>
            </a:solidFill>
            <a:prstDash val="solid"/>
          </a:ln>
        </p:spPr>
      </p:sp>
      <p:sp>
        <p:nvSpPr>
          <p:cNvPr id="17" name="Text 14"/>
          <p:cNvSpPr/>
          <p:nvPr/>
        </p:nvSpPr>
        <p:spPr>
          <a:xfrm>
            <a:off x="4069080" y="31760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5"/>
          <p:cNvSpPr/>
          <p:nvPr/>
        </p:nvSpPr>
        <p:spPr>
          <a:xfrm>
            <a:off x="4572000" y="3121152"/>
            <a:ext cx="4114800" cy="755904"/>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Peter — Matthew 16</a:t>
            </a:r>
            <a:endParaRPr lang="en-US" sz="1150" dirty="0"/>
          </a:p>
          <a:p>
            <a:pPr indent="0" marL="0">
              <a:buNone/>
            </a:pPr>
            <a:r>
              <a:rPr lang="en-US" sz="1050" dirty="0">
                <a:solidFill>
                  <a:srgbClr val="262626"/>
                </a:solidFill>
                <a:latin typeface="Arial" pitchFamily="34" charset="0"/>
                <a:ea typeface="Arial" pitchFamily="34" charset="-122"/>
                <a:cs typeface="Arial" pitchFamily="34" charset="-120"/>
              </a:rPr>
              <a:t>From a revelation from heaven to “Get behind Me, Satan!”</a:t>
            </a:r>
            <a:endParaRPr lang="en-US" sz="1150" dirty="0"/>
          </a:p>
        </p:txBody>
      </p:sp>
      <p:sp>
        <p:nvSpPr>
          <p:cNvPr id="19" name="Shape 16"/>
          <p:cNvSpPr/>
          <p:nvPr/>
        </p:nvSpPr>
        <p:spPr>
          <a:xfrm>
            <a:off x="457200" y="4069080"/>
            <a:ext cx="8229600" cy="548640"/>
          </a:xfrm>
          <a:prstGeom prst="roundRect">
            <a:avLst>
              <a:gd name="adj" fmla="val 10000"/>
            </a:avLst>
          </a:prstGeom>
          <a:solidFill>
            <a:srgbClr val="1F3864"/>
          </a:solidFill>
          <a:ln w="12700">
            <a:solidFill>
              <a:srgbClr val="1F3864"/>
            </a:solidFill>
            <a:prstDash val="solid"/>
          </a:ln>
        </p:spPr>
      </p:sp>
      <p:sp>
        <p:nvSpPr>
          <p:cNvPr id="20" name="Text 17"/>
          <p:cNvSpPr/>
          <p:nvPr/>
        </p:nvSpPr>
        <p:spPr>
          <a:xfrm>
            <a:off x="621792" y="4069080"/>
            <a:ext cx="7900416" cy="548640"/>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God’s love to love people, and Christ’s patience to work with them — until the good news gets passed on.</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Exhortation and example</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3:6–10 · II.A–B — Wait for the Lord</a:t>
            </a:r>
            <a:endParaRPr lang="en-US" sz="1200" dirty="0"/>
          </a:p>
        </p:txBody>
      </p:sp>
      <p:sp>
        <p:nvSpPr>
          <p:cNvPr id="5" name="Shape 2"/>
          <p:cNvSpPr/>
          <p:nvPr/>
        </p:nvSpPr>
        <p:spPr>
          <a:xfrm>
            <a:off x="457200" y="1188720"/>
            <a:ext cx="2615184" cy="1572768"/>
          </a:xfrm>
          <a:prstGeom prst="rect">
            <a:avLst/>
          </a:prstGeom>
          <a:solidFill>
            <a:srgbClr val="F2F6FC"/>
          </a:solidFill>
          <a:ln w="9525">
            <a:solidFill>
              <a:srgbClr val="D5DCEA"/>
            </a:solidFill>
            <a:prstDash val="solid"/>
          </a:ln>
        </p:spPr>
      </p:sp>
      <p:sp>
        <p:nvSpPr>
          <p:cNvPr id="6" name="Shape 3"/>
          <p:cNvSpPr/>
          <p:nvPr/>
        </p:nvSpPr>
        <p:spPr>
          <a:xfrm>
            <a:off x="594360" y="1325880"/>
            <a:ext cx="420624" cy="420624"/>
          </a:xfrm>
          <a:prstGeom prst="ellipse">
            <a:avLst/>
          </a:prstGeom>
          <a:solidFill>
            <a:srgbClr val="6B7280"/>
          </a:solidFill>
          <a:ln w="12700">
            <a:solidFill>
              <a:srgbClr val="6B7280"/>
            </a:solidFill>
            <a:prstDash val="solid"/>
          </a:ln>
        </p:spPr>
      </p:sp>
      <p:sp>
        <p:nvSpPr>
          <p:cNvPr id="7" name="Text 4"/>
          <p:cNvSpPr/>
          <p:nvPr/>
        </p:nvSpPr>
        <p:spPr>
          <a:xfrm>
            <a:off x="594360"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1115568"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The order · v.6</a:t>
            </a:r>
            <a:endParaRPr lang="en-US" sz="1200" dirty="0"/>
          </a:p>
        </p:txBody>
      </p:sp>
      <p:sp>
        <p:nvSpPr>
          <p:cNvPr id="9" name="Text 6"/>
          <p:cNvSpPr/>
          <p:nvPr/>
        </p:nvSpPr>
        <p:spPr>
          <a:xfrm>
            <a:off x="594360"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Withdraw from the brother who walks disorderly (στέλλω · ἀτάκτως)</a:t>
            </a:r>
            <a:endParaRPr lang="en-US" sz="1200" dirty="0"/>
          </a:p>
        </p:txBody>
      </p:sp>
      <p:sp>
        <p:nvSpPr>
          <p:cNvPr id="10" name="Shape 7"/>
          <p:cNvSpPr/>
          <p:nvPr/>
        </p:nvSpPr>
        <p:spPr>
          <a:xfrm>
            <a:off x="3264408" y="1188720"/>
            <a:ext cx="2615184" cy="1572768"/>
          </a:xfrm>
          <a:prstGeom prst="rect">
            <a:avLst/>
          </a:prstGeom>
          <a:solidFill>
            <a:srgbClr val="F2F6FC"/>
          </a:solidFill>
          <a:ln w="9525">
            <a:solidFill>
              <a:srgbClr val="D5DCEA"/>
            </a:solidFill>
            <a:prstDash val="solid"/>
          </a:ln>
        </p:spPr>
      </p:sp>
      <p:sp>
        <p:nvSpPr>
          <p:cNvPr id="11" name="Shape 8"/>
          <p:cNvSpPr/>
          <p:nvPr/>
        </p:nvSpPr>
        <p:spPr>
          <a:xfrm>
            <a:off x="3401568" y="1325880"/>
            <a:ext cx="420624" cy="420624"/>
          </a:xfrm>
          <a:prstGeom prst="ellipse">
            <a:avLst/>
          </a:prstGeom>
          <a:solidFill>
            <a:srgbClr val="2E5496"/>
          </a:solidFill>
          <a:ln w="12700">
            <a:solidFill>
              <a:srgbClr val="2E5496"/>
            </a:solidFill>
            <a:prstDash val="solid"/>
          </a:ln>
        </p:spPr>
      </p:sp>
      <p:sp>
        <p:nvSpPr>
          <p:cNvPr id="12" name="Text 9"/>
          <p:cNvSpPr/>
          <p:nvPr/>
        </p:nvSpPr>
        <p:spPr>
          <a:xfrm>
            <a:off x="3401568"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3" name="Text 10"/>
          <p:cNvSpPr/>
          <p:nvPr/>
        </p:nvSpPr>
        <p:spPr>
          <a:xfrm>
            <a:off x="3922776"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Integrity · v.7</a:t>
            </a:r>
            <a:endParaRPr lang="en-US" sz="1200" dirty="0"/>
          </a:p>
        </p:txBody>
      </p:sp>
      <p:sp>
        <p:nvSpPr>
          <p:cNvPr id="14" name="Text 11"/>
          <p:cNvSpPr/>
          <p:nvPr/>
        </p:nvSpPr>
        <p:spPr>
          <a:xfrm>
            <a:off x="3401568"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“Do as I do, because I do as I say” (μιμέομαι)</a:t>
            </a:r>
            <a:endParaRPr lang="en-US" sz="1200" dirty="0"/>
          </a:p>
        </p:txBody>
      </p:sp>
      <p:sp>
        <p:nvSpPr>
          <p:cNvPr id="15" name="Shape 12"/>
          <p:cNvSpPr/>
          <p:nvPr/>
        </p:nvSpPr>
        <p:spPr>
          <a:xfrm>
            <a:off x="6071616" y="1188720"/>
            <a:ext cx="2615184" cy="1572768"/>
          </a:xfrm>
          <a:prstGeom prst="rect">
            <a:avLst/>
          </a:prstGeom>
          <a:solidFill>
            <a:srgbClr val="F2F6FC"/>
          </a:solidFill>
          <a:ln w="9525">
            <a:solidFill>
              <a:srgbClr val="D5DCEA"/>
            </a:solidFill>
            <a:prstDash val="solid"/>
          </a:ln>
        </p:spPr>
      </p:sp>
      <p:sp>
        <p:nvSpPr>
          <p:cNvPr id="16" name="Shape 13"/>
          <p:cNvSpPr/>
          <p:nvPr/>
        </p:nvSpPr>
        <p:spPr>
          <a:xfrm>
            <a:off x="6208776" y="1325880"/>
            <a:ext cx="420624" cy="420624"/>
          </a:xfrm>
          <a:prstGeom prst="ellipse">
            <a:avLst/>
          </a:prstGeom>
          <a:solidFill>
            <a:srgbClr val="2E5496"/>
          </a:solidFill>
          <a:ln w="12700">
            <a:solidFill>
              <a:srgbClr val="2E5496"/>
            </a:solidFill>
            <a:prstDash val="solid"/>
          </a:ln>
        </p:spPr>
      </p:sp>
      <p:sp>
        <p:nvSpPr>
          <p:cNvPr id="17" name="Text 14"/>
          <p:cNvSpPr/>
          <p:nvPr/>
        </p:nvSpPr>
        <p:spPr>
          <a:xfrm>
            <a:off x="6208776" y="13258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18" name="Text 15"/>
          <p:cNvSpPr/>
          <p:nvPr/>
        </p:nvSpPr>
        <p:spPr>
          <a:xfrm>
            <a:off x="6729984" y="132588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Industry · v.8</a:t>
            </a:r>
            <a:endParaRPr lang="en-US" sz="1200" dirty="0"/>
          </a:p>
        </p:txBody>
      </p:sp>
      <p:sp>
        <p:nvSpPr>
          <p:cNvPr id="19" name="Text 16"/>
          <p:cNvSpPr/>
          <p:nvPr/>
        </p:nvSpPr>
        <p:spPr>
          <a:xfrm>
            <a:off x="6208776" y="182880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Night and day — no one’s bread free of charge</a:t>
            </a:r>
            <a:endParaRPr lang="en-US" sz="1200" dirty="0"/>
          </a:p>
        </p:txBody>
      </p:sp>
      <p:sp>
        <p:nvSpPr>
          <p:cNvPr id="20" name="Shape 17"/>
          <p:cNvSpPr/>
          <p:nvPr/>
        </p:nvSpPr>
        <p:spPr>
          <a:xfrm>
            <a:off x="457200" y="2926080"/>
            <a:ext cx="2615184" cy="1572768"/>
          </a:xfrm>
          <a:prstGeom prst="rect">
            <a:avLst/>
          </a:prstGeom>
          <a:solidFill>
            <a:srgbClr val="F2F6FC"/>
          </a:solidFill>
          <a:ln w="9525">
            <a:solidFill>
              <a:srgbClr val="D5DCEA"/>
            </a:solidFill>
            <a:prstDash val="solid"/>
          </a:ln>
        </p:spPr>
      </p:sp>
      <p:sp>
        <p:nvSpPr>
          <p:cNvPr id="21" name="Shape 18"/>
          <p:cNvSpPr/>
          <p:nvPr/>
        </p:nvSpPr>
        <p:spPr>
          <a:xfrm>
            <a:off x="594360" y="3063240"/>
            <a:ext cx="420624" cy="420624"/>
          </a:xfrm>
          <a:prstGeom prst="ellipse">
            <a:avLst/>
          </a:prstGeom>
          <a:solidFill>
            <a:srgbClr val="2E5496"/>
          </a:solidFill>
          <a:ln w="12700">
            <a:solidFill>
              <a:srgbClr val="2E5496"/>
            </a:solidFill>
            <a:prstDash val="solid"/>
          </a:ln>
        </p:spPr>
      </p:sp>
      <p:sp>
        <p:nvSpPr>
          <p:cNvPr id="22" name="Text 19"/>
          <p:cNvSpPr/>
          <p:nvPr/>
        </p:nvSpPr>
        <p:spPr>
          <a:xfrm>
            <a:off x="594360"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3" name="Text 20"/>
          <p:cNvSpPr/>
          <p:nvPr/>
        </p:nvSpPr>
        <p:spPr>
          <a:xfrm>
            <a:off x="1115568"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Intention · v.9</a:t>
            </a:r>
            <a:endParaRPr lang="en-US" sz="1200" dirty="0"/>
          </a:p>
        </p:txBody>
      </p:sp>
      <p:sp>
        <p:nvSpPr>
          <p:cNvPr id="24" name="Text 21"/>
          <p:cNvSpPr/>
          <p:nvPr/>
        </p:nvSpPr>
        <p:spPr>
          <a:xfrm>
            <a:off x="594360"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He had the right (ἐξουσία) — and laid it aside as an example</a:t>
            </a:r>
            <a:endParaRPr lang="en-US" sz="1200" dirty="0"/>
          </a:p>
        </p:txBody>
      </p:sp>
      <p:sp>
        <p:nvSpPr>
          <p:cNvPr id="25" name="Shape 22"/>
          <p:cNvSpPr/>
          <p:nvPr/>
        </p:nvSpPr>
        <p:spPr>
          <a:xfrm>
            <a:off x="3264408" y="2926080"/>
            <a:ext cx="2615184" cy="1572768"/>
          </a:xfrm>
          <a:prstGeom prst="rect">
            <a:avLst/>
          </a:prstGeom>
          <a:solidFill>
            <a:srgbClr val="F2F6FC"/>
          </a:solidFill>
          <a:ln w="9525">
            <a:solidFill>
              <a:srgbClr val="D5DCEA"/>
            </a:solidFill>
            <a:prstDash val="solid"/>
          </a:ln>
        </p:spPr>
      </p:sp>
      <p:sp>
        <p:nvSpPr>
          <p:cNvPr id="26" name="Shape 23"/>
          <p:cNvSpPr/>
          <p:nvPr/>
        </p:nvSpPr>
        <p:spPr>
          <a:xfrm>
            <a:off x="3401568" y="3063240"/>
            <a:ext cx="420624" cy="420624"/>
          </a:xfrm>
          <a:prstGeom prst="ellipse">
            <a:avLst/>
          </a:prstGeom>
          <a:solidFill>
            <a:srgbClr val="2E5496"/>
          </a:solidFill>
          <a:ln w="12700">
            <a:solidFill>
              <a:srgbClr val="2E5496"/>
            </a:solidFill>
            <a:prstDash val="solid"/>
          </a:ln>
        </p:spPr>
      </p:sp>
      <p:sp>
        <p:nvSpPr>
          <p:cNvPr id="27" name="Text 24"/>
          <p:cNvSpPr/>
          <p:nvPr/>
        </p:nvSpPr>
        <p:spPr>
          <a:xfrm>
            <a:off x="3401568"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28" name="Text 25"/>
          <p:cNvSpPr/>
          <p:nvPr/>
        </p:nvSpPr>
        <p:spPr>
          <a:xfrm>
            <a:off x="3922776"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Intimation · v.10</a:t>
            </a:r>
            <a:endParaRPr lang="en-US" sz="1200" dirty="0"/>
          </a:p>
        </p:txBody>
      </p:sp>
      <p:sp>
        <p:nvSpPr>
          <p:cNvPr id="29" name="Text 26"/>
          <p:cNvSpPr/>
          <p:nvPr/>
        </p:nvSpPr>
        <p:spPr>
          <a:xfrm>
            <a:off x="3401568"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“If anyone will not work, neither shall he eat”</a:t>
            </a:r>
            <a:endParaRPr lang="en-US" sz="1200" dirty="0"/>
          </a:p>
        </p:txBody>
      </p:sp>
      <p:sp>
        <p:nvSpPr>
          <p:cNvPr id="30" name="Shape 27"/>
          <p:cNvSpPr/>
          <p:nvPr/>
        </p:nvSpPr>
        <p:spPr>
          <a:xfrm>
            <a:off x="6071616" y="2926080"/>
            <a:ext cx="2615184" cy="1572768"/>
          </a:xfrm>
          <a:prstGeom prst="rect">
            <a:avLst/>
          </a:prstGeom>
          <a:solidFill>
            <a:srgbClr val="F2F6FC"/>
          </a:solidFill>
          <a:ln w="9525">
            <a:solidFill>
              <a:srgbClr val="D5DCEA"/>
            </a:solidFill>
            <a:prstDash val="solid"/>
          </a:ln>
        </p:spPr>
      </p:sp>
      <p:sp>
        <p:nvSpPr>
          <p:cNvPr id="31" name="Shape 28"/>
          <p:cNvSpPr/>
          <p:nvPr/>
        </p:nvSpPr>
        <p:spPr>
          <a:xfrm>
            <a:off x="6208776" y="3063240"/>
            <a:ext cx="420624" cy="420624"/>
          </a:xfrm>
          <a:prstGeom prst="ellipse">
            <a:avLst/>
          </a:prstGeom>
          <a:solidFill>
            <a:srgbClr val="375623"/>
          </a:solidFill>
          <a:ln w="12700">
            <a:solidFill>
              <a:srgbClr val="375623"/>
            </a:solidFill>
            <a:prstDash val="solid"/>
          </a:ln>
        </p:spPr>
      </p:sp>
      <p:sp>
        <p:nvSpPr>
          <p:cNvPr id="32" name="Text 29"/>
          <p:cNvSpPr/>
          <p:nvPr/>
        </p:nvSpPr>
        <p:spPr>
          <a:xfrm>
            <a:off x="6208776" y="306324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33" name="Text 30"/>
          <p:cNvSpPr/>
          <p:nvPr/>
        </p:nvSpPr>
        <p:spPr>
          <a:xfrm>
            <a:off x="6729984" y="3063240"/>
            <a:ext cx="1865376" cy="420624"/>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“Forgive me this wrong!”</a:t>
            </a:r>
            <a:endParaRPr lang="en-US" sz="1200" dirty="0"/>
          </a:p>
        </p:txBody>
      </p:sp>
      <p:sp>
        <p:nvSpPr>
          <p:cNvPr id="34" name="Text 31"/>
          <p:cNvSpPr/>
          <p:nvPr/>
        </p:nvSpPr>
        <p:spPr>
          <a:xfrm>
            <a:off x="6208776" y="3566160"/>
            <a:ext cx="2359152" cy="85953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Paul to Corinth: his one “fault” — he was no burden (2 Cor 12:13)</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Not busy at work — busybodies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3:11–12 · II.C–D — The explanation and the solution</a:t>
            </a:r>
            <a:endParaRPr lang="en-US" sz="1200" dirty="0"/>
          </a:p>
        </p:txBody>
      </p:sp>
      <p:sp>
        <p:nvSpPr>
          <p:cNvPr id="5" name="Shape 2"/>
          <p:cNvSpPr/>
          <p:nvPr/>
        </p:nvSpPr>
        <p:spPr>
          <a:xfrm>
            <a:off x="457200" y="1188720"/>
            <a:ext cx="3931920" cy="566928"/>
          </a:xfrm>
          <a:prstGeom prst="rect">
            <a:avLst/>
          </a:prstGeom>
          <a:solidFill>
            <a:srgbClr val="6B7280"/>
          </a:solidFill>
          <a:ln w="12700">
            <a:solidFill>
              <a:srgbClr val="6B7280"/>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problem · v.11</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περιεργάζομαι</a:t>
            </a:r>
            <a:pPr indent="0" marL="0">
              <a:buNone/>
            </a:pPr>
            <a:r>
              <a:rPr lang="en-US" sz="850" dirty="0">
                <a:solidFill>
                  <a:srgbClr val="DCE4F2"/>
                </a:solidFill>
                <a:latin typeface="Arial" pitchFamily="34" charset="0"/>
                <a:ea typeface="Arial" pitchFamily="34" charset="-122"/>
                <a:cs typeface="Arial" pitchFamily="34" charset="-120"/>
              </a:rPr>
              <a:t>  busybodies · G4020</a:t>
            </a:r>
            <a:endParaRPr lang="en-US" sz="1200" dirty="0"/>
          </a:p>
        </p:txBody>
      </p:sp>
      <p:sp>
        <p:nvSpPr>
          <p:cNvPr id="7" name="Shape 4"/>
          <p:cNvSpPr/>
          <p:nvPr/>
        </p:nvSpPr>
        <p:spPr>
          <a:xfrm>
            <a:off x="457200" y="1755648"/>
            <a:ext cx="3931920" cy="1810512"/>
          </a:xfrm>
          <a:prstGeom prst="rect">
            <a:avLst/>
          </a:prstGeom>
          <a:solidFill>
            <a:srgbClr val="F2F6FC"/>
          </a:solidFill>
          <a:ln w="9525">
            <a:solidFill>
              <a:srgbClr val="D5DCEA"/>
            </a:solidFill>
            <a:prstDash val="solid"/>
          </a:ln>
        </p:spPr>
      </p:sp>
      <p:sp>
        <p:nvSpPr>
          <p:cNvPr id="8" name="Text 5"/>
          <p:cNvSpPr/>
          <p:nvPr/>
        </p:nvSpPr>
        <p:spPr>
          <a:xfrm>
            <a:off x="548640" y="1828800"/>
            <a:ext cx="3749040" cy="16824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Able to work — but would not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Spare time turned into meddling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Interrupting those who were working</a:t>
            </a:r>
            <a:endParaRPr lang="en-US" sz="1250" dirty="0"/>
          </a:p>
        </p:txBody>
      </p:sp>
      <p:sp>
        <p:nvSpPr>
          <p:cNvPr id="9" name="Shape 6"/>
          <p:cNvSpPr/>
          <p:nvPr/>
        </p:nvSpPr>
        <p:spPr>
          <a:xfrm>
            <a:off x="4754880" y="1188720"/>
            <a:ext cx="3931920" cy="566928"/>
          </a:xfrm>
          <a:prstGeom prst="rect">
            <a:avLst/>
          </a:prstGeom>
          <a:solidFill>
            <a:srgbClr val="375623"/>
          </a:solidFill>
          <a:ln w="12700">
            <a:solidFill>
              <a:srgbClr val="375623"/>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solution · v.12</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ἡσυχία</a:t>
            </a:r>
            <a:pPr indent="0" marL="0">
              <a:buNone/>
            </a:pPr>
            <a:r>
              <a:rPr lang="en-US" sz="850" dirty="0">
                <a:solidFill>
                  <a:srgbClr val="DCE4F2"/>
                </a:solidFill>
                <a:latin typeface="Arial" pitchFamily="34" charset="0"/>
                <a:ea typeface="Arial" pitchFamily="34" charset="-122"/>
                <a:cs typeface="Arial" pitchFamily="34" charset="-120"/>
              </a:rPr>
              <a:t>  quietness · G2271</a:t>
            </a:r>
            <a:endParaRPr lang="en-US" sz="1200" dirty="0"/>
          </a:p>
        </p:txBody>
      </p:sp>
      <p:sp>
        <p:nvSpPr>
          <p:cNvPr id="11" name="Shape 8"/>
          <p:cNvSpPr/>
          <p:nvPr/>
        </p:nvSpPr>
        <p:spPr>
          <a:xfrm>
            <a:off x="4754880" y="1755648"/>
            <a:ext cx="3931920" cy="181051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6824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Work in quietness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Eat your own bread</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Said in person, in 1 Thess 4:11, and here</a:t>
            </a:r>
            <a:endParaRPr lang="en-US" sz="1250" dirty="0"/>
          </a:p>
        </p:txBody>
      </p:sp>
      <p:sp>
        <p:nvSpPr>
          <p:cNvPr id="13" name="Text 10"/>
          <p:cNvSpPr/>
          <p:nvPr/>
        </p:nvSpPr>
        <p:spPr>
          <a:xfrm>
            <a:off x="4389120" y="219456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794760"/>
            <a:ext cx="8229600" cy="777240"/>
          </a:xfrm>
          <a:prstGeom prst="roundRect">
            <a:avLst>
              <a:gd name="adj" fmla="val 7059"/>
            </a:avLst>
          </a:prstGeom>
          <a:solidFill>
            <a:srgbClr val="1F3864"/>
          </a:solidFill>
          <a:ln w="12700">
            <a:solidFill>
              <a:srgbClr val="1F3864"/>
            </a:solidFill>
            <a:prstDash val="solid"/>
          </a:ln>
        </p:spPr>
      </p:sp>
      <p:sp>
        <p:nvSpPr>
          <p:cNvPr id="15" name="Text 12"/>
          <p:cNvSpPr/>
          <p:nvPr/>
        </p:nvSpPr>
        <p:spPr>
          <a:xfrm>
            <a:off x="621792" y="3794760"/>
            <a:ext cx="7900416" cy="7772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“Eat what’s put before you, and let it stop your mouth.” — the teacher’s mother, to six children in the Depression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2 Thessalonians 3:1–12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What does it mean for the Word to “run” and to be “glorified,” and how can we help it run where we cannot go?</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What was the real problem with those who would not work, and how did Paul’s example answer it?</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Put Legs Under Your Prayers</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Choose one missionary your church supports and pray for them by name every day this week.</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Work Quietly While You Wait</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When tempted to comment on someone else’s affairs, turn that moment into a prayer for them instead.</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While we wait: pray that the Word runs, trust the faithful Lord, and work quietly — trust and obey.</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 Thessalonians Study 6 — Serving While Waiting: Charts</dc:title>
  <dc:subject>PptxGenJS Presentation</dc:subject>
  <dc:creator>The Gospel Vault</dc:creator>
  <cp:lastModifiedBy>The Gospel Vault</cp:lastModifiedBy>
  <cp:revision>1</cp:revision>
  <dcterms:created xsi:type="dcterms:W3CDTF">2026-10-30T06:34:07Z</dcterms:created>
  <dcterms:modified xsi:type="dcterms:W3CDTF">2026-10-30T06:34:07Z</dcterms:modified>
</cp:coreProperties>
</file>