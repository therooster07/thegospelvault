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This deck gathers every chart from the seven posted 2 Thessalonians studies in order. Each section opens with that study’s title slide and closes with its discussion questions, applications and summary line. Every chart stays within the commentary posted for its study; Greek words come from that study’s Greek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seven studies at a glance — passage, title and the one-line description posted for each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seven studies at a glance — passage, title and the one-line description posted for each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title slide carries the study’s proposition. Study 1 covers the background of the letter (Paul’s road to Thessalonica, Acts 15:36–18:11) and the greeting of 1:1–2. Every chart stays within the commentary posted for this study — the teacher’s text, the “From the Outline” boxes and the Study Notes — and Greek words come from the study’s Greek Word Study. Each slide’s notes name the commentary section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(B.1–6): Paul and Barnabas part ways; Paul chooses Silas. Timothy, “well spoken of” in Lystra and Iconium, joins the team. The Spirit closes doors until the Macedonian call at Troas. In Philippi the jailer asks “What must I do to be saved?” — and Paul’s answer is the gospel he preached in Thessalonica: “Believe on the Lord Jesus Christ.” Three Sabbaths in the synagogue (Acts 17:2) — but he was there longer. Then Berea, Athens and Corinth, where both letters were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(C.1.a–c and Study Notes): Just “Paul” — not “Paul the apostle,” as with the Galatians (doctrinal errors) and Corinthians (errors in conduct). Here he is their friend. Silvanus is the Latin form of Silas — a leading man of the Jerusalem church, a prophet, a Roman citizen, later Peter’s courier (1 Pet 5:12), and one of their founders. Timothy is the leader in training who had come back to stand with them (1 Thess 3:2,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(C.2.a–c, with ἐκκλησία, ἐν, πατήρ): Ekklēsia was a secular word for any assembly — even the worshipers of Diana (Acts 19:32). Jesus took it: the church universal (Matt 16:18) and the local church (Matt 18:17). This is a local church — “of the Thessalonians,” identified by its people. Its address is “in” God: security, love and strength. Study Note: 1 Thessalonians 1:1 says “the Father”; 2 Thessalonians 1:1 says “our Father” — a family word for a suffering church.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(C.2.d–e and Study Note, with χάρις, εἰρήνη, ἀπό): Grace is favor in spite of demerit — we deserve His fury and He gives grace. Peace (eirēnē; shalom) is wholeness, prosperity, welfare. One preposition, apo, governs both Father and Son — one fountain of blessing, a quiet witness to Christ’s deity. Grace comes first, then peace: peace with God is settled at faith (Rom 5:1); the peace wished here is the daily peace that guards the heart in trouble (Phil 4:7). The letter closes the same way (3:16,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Paul writes simply “Paul,” not “Paul the apostle.” Why does that matter here, and how does it compare with Galatians and Corinthians? — Leader answer: To the Galatians (doctrinal errors) and Corinthians (errors in conduct) Paul used his title because he needed to speak with authority. To the Thessalonians he is “Paul, their friend” — the plain name signals relationship and affection with a church that was doing well.  Q2: How does the teacher define grace, and what does peace mean? Why does grace come before peace? — Leader answer: Grace is “favor in spite of demerit”: we deserve His judgment, and He gives grace. Peace means wholeness, prosperity, welfare. Grace is the source; peace is the result. Peace with God is settled at faith (Rom 5:1); the greeting’s peace is the daily peace believers need in trouble.  Applications: Live at Your True Address — Write “in God our Father and the Lord Jesus Christ” on a card and keep it where you’ll see it each morning.  Receive Favor in Spite of Demerit — Each day this week, thank God by name for one specific grace you did not deserve.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outline has three parts: a word of undiluted praise (1:3–4), a word of undisputed promise (1:5–10) and a word of undefeated prayer (1:11–12). Every chart stays within the commentary posted for this study, including its Study Notes; Greek words come from the study’s Greek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(Opening and Outline): “What are we doing wrong? Our seats are empty.” Here is a church Paul admired — find out what it is and do it. Three words frame the passage: undiluted praise, undisputed promise (God is in control in every situation), and undefeated prayer.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(I.A–B, with ὀφείλω, ὑπεραυξάνω, πλεονάζω, ἕκαστος, καυχάομαι): “Bound” is the word for owing a debt — present tense, a standing obligation, repeated in 2:13. Growth: faith tested exceedingly grows exceedingly — the gym, the oak on the hilltop. Grace: love “of each one of you all” — the Shibe Park nickel: a nickel for everybody is one nickel; a nickel for each one is a fortune. Glory: Paul boasted of them to believers passing through Corinth.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(II.A.1–2 and Study Note, with ἔνδειγμα, καταξιόω): Their endurance is manifest evidence that God’s judgment is righteous. Every believer enters the kingdom — that is a promise; not every believer rules with Christ. Faithful sufferers are counted worthy (kataxioō — declared worthy, not made worthy) to rule, at the Judgment Seat of Christ — not a judgment for sin. The believer receives the reward; God receives the glory. And God is just to repay the persecutors: they are amateurs at troubling you; God is the professional.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(II.B–C and Study Notes, with ἄνεσις, ἀποκάλυψις, ὄλεθρος, αἰώνιος, ἐνδοξάζομαι): Rest — relief: not ceasing to resist, but resting in Jesus for the outcome. “God’s got your back.” Then the Second Coming, not the Rapture: He comes with His mighty angels, not for His saints. Two groups in v.8 (the repeated article): those who don’t know God and those who don’t obey the gospel. Everlasting punishment is as long as everlasting life (Matt 25:46); its essence is separation from His face (Constable). And He will be glorified in His saints — “in, not 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(II.C.1 and Study Note): The teacher reads 1:7–10 as the Second Coming: “revealed from heaven,” “with His mighty angels,” “in flaming fire taking vengeance” — all marks of the second phase. At His coming to the earth He defeats the Armageddon armies, judges living Israel (Ezek 20:33–38) and the living Gentiles — the sheep and the goats. (Commentary note: the posted text cites “Matthew 24:31 to 46”; the sheep-and-goats judgment is Matthew 25:31–46.)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(III.A–B, with ἀξιόω): “We also pray always” — to “our God,” theirs and ours. That God would count them worthy of the high calling: witnessing, accepting persecution — worthy in the Spirit’s power, commended at His coming (2 Tim 4:7–8). That the name of the Lord Jesus be glorified in them and they in Him. Glorify doesn’t mean make more glorious; it means make His glory more widely known. Stand 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Why was the Thessalonians’ faith growing “exceedingly,” and what illustrations does the teacher use? — Leader answer: Their faith was being tested — tested exceedingly, so growing exceedingly. Like exercising muscles at the gym (Heb 5:14) and like the oak on the hilltop made strong by the wind. “Faith that’s not tested is faith that’s not growing.”  Q2: How does the teacher explain being “counted worthy of the kingdom of God” (1:5)? — Leader answer: Every believer will enter the kingdom; not every believer will rule with Christ. Those who accept persecutions for Christ’s sake are counted worthy to rule — determined at the Judgment Seat of Christ, not a judgment for sin. The believer receives the reward; God receives the glory.  Applications: Welcome the Wind — Name one current trial in prayer each day this week and thank God for the faith He is building through it.  Rest — God’s Got Your Back — Memorize 2 Thessalonians 1:7a and pray it whenever pressure comes.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title slide paraphrases the study’s proposition. The commentary opens by distinguishing the Rapture and the Day of the Lord, then treats the confusion by apostates (2:1–2) and the correction by the apostle (2:3–5). Every chart stays within the commentary posted for this study, including its Study Notes; Greek words come from the study’s Greek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(Introduction A–C): The subject of 2:1 is “the coming of our Lord Jesus Christ and our gathering together to Him” — the Rapture (1 Thess 4:16–18). The Day of the Lord (1 Thess 5:1–3) is judgment (seven years) and blessing (a thousand years). The Rapture comes before the Day of the Lord but does not start it; the Day starts later, when the man of sin is revealed. The Rapture is often called the Day of Christ.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(I.A–B, with ἐρωτάω, σαλεύω, θροέω, ἐπιστολή, ἐνίστημι): “Brethren … we beseech you” — not a casual request. Don’t be shaken (tossed in mind — “all shook up”) or troubled (frightened in emotion — the root of “thrombosis”). The deception came three ways: a false spirit (test the spirits, 1 John 4:1), a fabricated prophecy (errors can occur in any gift), and a forged letter — which is why Paul signs every letter (3:17). Satan, the great deceiver, was behind all three. The claim: the Day has already come (perfect tense — already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(II.A.1–2, with ἀποστασία, ἀποκαλύπτω, ἀπώλεια): That Day cannot come until two things happen. The apostasy: a pervasive, global departure from the faith (Walvoord) — the church caving in, pictured by Laodicea (Rev 3); the raptured church is the true church, pictured by Philadelphia. Study Note: some pretribulationists take apostasia as “departure” — the Rapture itself; the teacher once taught that view. Either reading keeps the church out of the Day. Then the man of sin is revealed — when he makes the seven-year covenant with Israel (Dan 9:27). That starts the Tribulation.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(II.A.2.b and Conclusion list): The teacher’s list of names, printed on the back of his notes. He gets a lot of press in the Old Testament — “He’s coming, but not until we get out of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(II.A.2.b–d, with ὑπεραίρομαι, ναός): He opposes God; exalts himself above God; exalts himself above all gods — no other religion allowed; sits as God in the temple; shows himself as God. The “who” clause describes him — these things identify him; they are not things you must see before the Day begins. Sitting in the temple is halfway through the Tribulation. Antiochus Epiphanes (167 B.C.) — a pig on the altar and a statue of Zeus with his own face — is a God-ordained picture (Dan 11:31; Matt 24:15).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(II.B.1–3): A touch of sarcasm: “What was I doing when I taught you?” In three or four months Paul taught them prophecy — and they forgot the most important part: the church will not go through the Tribulation. It isn’t enough to sit for an hour and forget. Hear it, review it, teach it. Dr. S. Lewis Johnson: “You’ll know Greek when you teach it.” The Day of the Lord is for the Christ-rejecting world; the Day of Christ is for believers.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What three channels did the deception come through, and how should believers guard against each? — Leader answer: A false spirit — test the spirits (1 John 4:1). A fabricated prophecy, “by word” — errors can occur in any gift, even preaching. A forged letter “as if from us” — Paul signed every epistle (3:17). Behind all three was Satan, the great deceiver.  Q2: What two things must happen before the Day of the Lord can begin, and how will the man of sin be revealed? — Leader answer: The falling away — a pervasive, global departure of the church from the truth, pictured by Laodicea — and the revelation of the man of sin, when he makes a seven-year covenant with Israel (Dan 9:27). That event starts the Tribulation.  Applications: Test What You Hear — Take one prophecy claim you’ve heard and look up the passages yourself before accepting it.  Teach It to Keep It — Explain the difference between the Rapture and the Day of the Lord to a family member or friend this week.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commentary gives three reasons the Thessalonians could not be in the Day of the Lord — the apostasy, the revelation of the man of sin, and the removal of the Restrainer — then the present conflict (2:6–7), the prophetic climax (2:8–10) and the practical conclusion (2:11–12). Every chart stays within the commentary posted for this study, including its Study Notes; Greek words come from the study’s Greek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(Introduction B–D): The Day of the Lord starts with the Tribulation (7 years) and continues with the Millennium (1,000 years). Reason one: the great apostasy — worldwide and church-wide. Reason two: the man of sin revealed when he makes the seven-year covenant with Israel (Dan 9:24–27) — that starts Israel’s prophecy clock ticking again. He is on the earth before he is revealed as this man. Reason three: the Restrainer must be removed — today’s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 I.C and Study Note, with κατέχω): Verse 6 is neuter — “what is restraining”; verse 7 is masculine — “He who now restrains.” The neuter fits pneuma, a neuter noun; the masculine fits how Jesus spoke of the Spirit as “He” (John 14–16). The Restrainer must be strong enough to hold back Satan — only God can. Even Michael said only, “The Lord rebuke you” (Jude 9). Since Pentecost the Spirit indwells every believer and cannot leave him (John 14:16–17) — so when He is taken out of the way, the church goes with Him. Other suggestions (Rome, government, Paul, Michael) fail that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(I.B, with μυστήριον, ἀνομία, ἐνεργέω): A mystery is a new truth previously unknown, now revealed in this age (Constable). The church is a mystery; the Rapture is a mystery; and the lawlessness of the church age, empowered by Satan and headed up by the Antichrist, is a mystery. It is already at work (energeō) — the same root as “the working of Satan” (v.9) and “strong delusion,” literally a working of error (v.11).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(II.A–C, with ἄνομος, ἀναλίσκω, καταργέω, ἐπιφάνεια, σημεῖον, τέρας, ἀπάτη): When — revealed after the removal; the “whom” clause describes him; the Lord consumes him with the breath of His mouth and destroys him by the brightness of His coming — cast alive into the lake of fire (Rev 19:20). Who — empowered by Satan; signs and lying wonders to imitate the Messiah, whose credentials were His works. Today’s “wherever there are miracles, God is doing it” plays into his hands. Why — they did not receive the love of the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(II.A.2–3): The divine adversary, Jesus Christ, handles all three of the unholy trinity. The beast and the false prophet are cast alive into the lake of fire at the end of the Tribulation (Rev 19:20). A thousand years later, after Satan is released and his last rebellion is put down, he is cast into the lake of fire “where the beast and the false prophet are” — still there — tormented forever (Rev 20:10). “I looked at the last page: He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(III.A–C and Study Note, with πλάνη, ψεῦδος, κρίνω): God sends strong delusion — literally a working of error — so that they believe the lie: that the Antichrist is Messiah, is God. Condemnation is declared and deserved: they did not believe the truth (John 3:36; 5:27). Can those left behind still believe? Yes — the 144,000 and a great multitude (Rev 7:4, 9). But multitudes will follow the Antichrist, and taking the mark of the beast appears final (Rev 14:9–11). The teacher suggests the delusion may answer that decision, not one made before the Rapture — “just a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Why does the teacher identify the Restrainer as the Holy Spirit indwelling the church? — Leader answer: The Restrainer must be powerful enough to hold back Satan — only God can. Verse 6’s neuter fits pneuma; verse 7’s masculine fits how Jesus spoke of the Spirit as “He.” Since Pentecost the Spirit indwells every believer and cannot leave him, so when He is taken out of the way, the church goes with Him.  Q2: Why will the Antichrist work signs and wonders, and how does the teacher connect this to some miracle workers today? — Leader answer: To imitate Jesus, whose messiahship was known by His works; a false messiah must do the same, with power from Satan. Teachers today who say “wherever there are miracles, God is doing it” are preparing people to conclude the Antichrist is of God.  Applications: Don’t Be Impressed by the Show — When you hear a claim of the miraculous this week, ask first what it teaches about Jesus and the gospel.  Remember Who Wins — Read Revelation 19:11–20:10 and thank God specifically for each victory Christ wins.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The chapter moves from “not already in the Day of the Lord” (2:1–5), to the Day of the Lord and unbelievers (2:6–12), to the Day of the Lord and believers (2:13–17), which opens with “But.” Two parts: their position (2:13–14) and their practice (2:15–17). Every chart stays within the commentary posted for this study, including its Study Notes; Greek words come from the study’s Greek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(I.A–D): Situation — brothers of Paul, beloved by God (in contrast to the unbelievers, for whom Paul could give no thanks). Selection — the Father chose, the Spirit set apart, the believers believed. Salvation — deliverance. Glorification — called by the gospel to share Christ’s glory.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(I.B.1, From the Outline, with αἱρέομαι and ἀρχή): The teacher loves the doctrine of election and has written on it — “but not here.” The verb is haireomai: to pick or choose, even of picking fruit; elsewhere only Philippians 1:22 and Hebrews 11:25. The word for election is eklegomai (Eph 1:4). “From the beginning” can be any beginning — he takes it as the beginning of the gospel in Thessalonica. So he sees a choosing to escape the Tribulation, not election to eternal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(I.B.2, with ἁγιασμός): Past — a position: set apart to God the moment we believe. Present — a process: transformed through the Word and the Spirit (John 17:17; 2 Cor 3:18). Future — a prospect: “we shall be like Him” (1 John 3:2). Paul may have all three in mind, but mainly the past — the setting apart that placed us into the body of Christ.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(I.C.1–3 and Study Note, with σωτηρία): Translate “salvation” as deliverance and much misunderstanding clears up — but context decides from what. Spiritual (penalty, power, presence of sin); physical (healing); circumstances (Peter: “Lord, save me!” — he was already saved). Matthew 24:13 sits in the Olivet Discourse: physical deliverance through the Tribulation, not a condition for keeping eternal life (John 5:24). In 2:13, as in 1 Thessalonians 5:9, it is deliverance from the wrath of the Tribulation; a different meaning would only add to their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(II.A.1–2 and Study Note, with στήκω, κρατέω, παράδοσις): “Therefore” — a great theological truth, then: don’t sit down; stand up. Their problem stemmed from not holding what Paul taught them. Five steps so the truth doesn’t slip away. “Traditions” are not church or denominational traditions but what Paul taught by word and by letter — inspired, apostolic. Apostolicity equals canonicity; once the apostles were gone, the canon was closed (John 14:26; 16:13) — the teacher suggests as early as A.D. 70, at least by about 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(II.B.1–2, with παράκλησις, ἐλπίς, ἀγαθός, στηρίζω): The Son is named before the Father — the Son declared the Father (John 1:18). “Who has loved us” is singular — Father and Son, one God. God supplies “according to” His riches, not merely “out of” them (Phil 4:19). The Father gave His Son, the Son gave His life — no charge. Everlasting consolation that never runs out; a good hope — not in government or the Constitution, but in the return of the victorious Savior. And He establishes us in every good word and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How should we determine the meaning of “salvation,” and what does it mean in 2:13? — Leader answer: Salvation means deliverance, and context decides from what — the penalty, power or presence of sin; illness; dangerous circumstances (“Lord, save me!”). In 2:13, as in 1 Thessalonians 5:9, it is deliverance from the wrath of the Tribulation.  Q2: What five things does the teacher say we must do with the Word so that it does not slip away? — Leader answer: Hear it in the first place; make sure it is the Word of God (teachers should show you from Scripture); review it; believe it — if you believe it you’ll do it; and share it — you understand it better when you help someone else.  Applications: Read “Saved” in Context — Work through the handout passages this week, asking “saved from what?” for each one.  Five Steps to Holding the Word — Write down one truth, review it daily, and share it with one person before next week.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 am the worst waiter there is.” The outline has two parts: wait on the Lord (3:1–5) and wait for the Lord (3:6–12). Every chart stays within the commentary posted for this study, including its Study Notes; Greek words come from the study’s Greek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(Introduction and Outline): The Lord is coming — Paul said it; two thousand years later we say it. So what do we do while we wait? Two answers frame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(I.A.1–2 and From the Outline, with προσεύχομαι, τρέχω, ῥύομαι, ἄτοπος): Paul, who always prays for them, asks prayer for himself and his team — leaders need prayer. Ministry: that the Word may run (it has no feet — put legs under your prayers) and be glorified (believed and prized — the Bible on top of the stack); “just as it is with you” is a compliment and a command. We go where we can’t by giving and prayer. Misery: deliverance from men “out of place” (atopos) and actively harmful (ponēros). “Not all have faith.” Satan doesn’t bother those who don’t bother him — let’s start bothering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(I.B and Study Note, with πιστός, πονηρός, φυλάσσω): A play on words: “not all have faith (pistis) — but the Lord is faithful (pistos).” Great Is Thy Faithfulness — the college song the teacher prayed over every graduating class. He establishes you: stand on the promises, not sit on the premises — know the faith (Jude 3). Ryrie’s question: could you lead a dying man at an accident to the Lord? He guards you from the evil one — and from evil. And Paul is confident they are doing and will continue to do what he commanded.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(I.C.1–2, with κατευθύνω): The Lord directs (clears the path for) our hearts into the love of God — “God so loved the world” — so we can love the unlovely, even unlovely Christians. And into the patience of Christ: Philip (“Have I been with you so long?”), James and John (“shall we call down fire?”), and Peter — from a revelation of the Father to “Get behind Me, Satan.” Jesus kept patience with them until the job was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(II.A–B, with στέλλω, ἀτάκτως, μιμέομαι, ἐξουσία): The command comes in Jesus’ name and according to the apostles’ previous teaching. Withdraw (stand aloof) from any brother who will not work — not cannot. Paul’s example: integrity (“do as I do, because I do as I say,” 1 Cor 11:1), industry (night and day, not eating anyone’s bread free — “Forgive me this wrong!” 2 Cor 12:13), intention (he had the right to support, 1 Cor 9, but laid it aside as an example), intimation: “If anyone will not work, neither shall he 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(II.C–D and Study Note, with περιεργάζομαι, ἡσυχία): “We hear” — perhaps from Timothy or travelers through Corinth. They could work but would not, and the bigger problem: too much time on their hands, meddling and gossiping, interrupting those who were working. The pun: not busy at work (ergazomenous) but busybodies (periergazomenous). The solution: work in quietness and eat your own bread — taught in person, written in 1 Thessalonians 4:11, now written again: three witnesses. His mother’s Depression-era rule: “Eat what’s put before you, and let it stop your mouth.”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What does it mean for the Word to “run” and to be “glorified,” and how can we help it run where we cannot go? — Leader answer: The Word has no feet — it runs as fast as we carry it, so we put legs under our prayers. It is glorified when people believe it and prize it above every other book. Where we can’t go, we go by giving and prayer.  Q2: What was the real problem with those who would not work, and how did Paul’s example answer it? — Leader answer: They were able to work but would not, and they used their spare time as busybodies — meddling and gossiping. Paul worked night and day so as not to be a burden, even laying aside his right to support, so he could say, “Do as I do, because I do as I say.”  Applications: Put Legs Under Your Prayers — Choose one missionary your church supports and pray for them by name every day this week.  Work Quietly While You Wait — When tempted to comment on someone else’s affairs, turn that moment into a prayer for them instead.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Cain’s question in Genesis 4 — “Am I my brother’s keeper?” — is answered here: yes. The outline: Confirmation (3:13), Admonition (3:14–15), Benediction (3:16), Validation (3:17), Salutation (3:18). Every chart stays within the commentary posted for this study, including its Study Notes; Greek words come from the study’s Greek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(Outline): The letter’s close in one view. Confirmation for the faithful majority; admonition for the disobedient brother; benediction of peace; validation by Paul’s own hand; salutation of grace.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(Introduction B and I.A–B, with ἐκκακέω, καλοποιέω, ἀδελφός): Some were not working — “the Rapture’s near” — and meddling. Shouldn’t I help my brother? Yes — but make sure it is help, not enabling. “But as for you, brethren” — the faithful majority, working for their families and for the church. Don’t be weary — doing good (kalopoiountes). Even when you grow tired in doing good, don’t grow tired of doing good; the problem is never the good, only the circumstances. Keep on keeping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(II.A–B and Study Note, with ὑπακούω, σημειόω, συναναμίγνυμι, ἐντρέπω, ἐχθρός, νουθετέω): Paul’s epistle is God’s Word — Peter counted Paul’s letters with “the rest of the Scriptures” (2 Pet 3:15–16). Note that person; don’t keep company — “Can two walk together, unless they are agreed?” (Amos 3:3). The purpose is never destructive, always constructive: that he be ashamed, see his error, confess, be forgiven and restored. Not a foe — family. “When you’re here, you’re family.” Withdrawal concerns fellowship, not his eternal life — he is still called “brother.”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(II.B.2.b–c): The teacher’s steps before you approach an erring brother, then his approach. Ask permission. If he says yes, you may gain your brother; if no, take the next step of Matthew 18:15–17 — another brother with you. Galatians 6:1 gives the same spirit: restore such a one in gentleness.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(III.A–C and Study Note, with εἰρήνη): Peace with God — guaranteed by justification by faith (Rom 5:1). The peace of God — received when we bring our anxieties to Him (Phil 4:6–7): Peter asleep in prison (Acts 12), Paul calm in the storm (Acts 27). The God of peace — who will never leave a believer (Matt 28:20); Hebrews 13:5 piles up negatives (ou mē … oud’ ou mē), the strongest denial in NT Greek, as does John 10:28. “The Lord be with you all” — not only the good brothers; everybody.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(IV–V and Study Note, with ἀσπασμός, σημεῖον, χάρις): Paul dictated to a secretary (Tertius, Rom 16:22) and took the pen to sign (1 Cor 16:21; Col 4:18) — a sign in every epistle, the answer to the forged letter of 2:2. Perhaps because of his eyesight (Gal 4:15; 6:11). Then grace three ways: saving grace (Eph 2:8–9), sharing grace — giving (2 Cor 8:7), serving grace (Heb 12:28). The letter ends where it began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What is the difference between helping a brother and enabling him, and how does this connect to the idle Thessalonians? — Leader answer: Enabling is “helping” someone continue in what is wrong — like giving money that buys drugs. Some were enabling the idle brothers to keep not working and keep meddling. Real help may mean doing something distasteful, like withdrawing fellowship, so the brother sees his error.  Q2: What is the purpose of church discipline in 3:14–15? — Leader answer: Never destructive, always constructive: “that he may be ashamed,” realize his error, confess it, be forgiven and be helped back into fellowship. He is not counted as an enemy but admonished as a brother — in a way that does not turn him away.  Applications: Help, Don’t Enable — Ask the Lord whether any of your help has become enabling, and what real help would look like.  Never, Ever Alone — Each evening, write down one worry, pray it through Philippians 4:6–7, and leave it there.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(Study 1 Study Note and Study 7, Salutation): The letter opens with grace and peace (1:2) and closes the same way — “Now may the Lord of peace Himself give you peace always in every way” (3:16) and “The grace of our Lord Jesus Christ be with you all” (3:18). Grace and peace frame everything in between: the persecution of chapter 1, the prophecy of chapter 2, and the correction of chapter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2 Thessalonians · Charts from the 7 studies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73168"/>
            <a:ext cx="68580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2 Thessalonians · Charts from the 7 studies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Leader resource · all seven posted studies · NKJV</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2 Thessalonians: Charts from the Seven Studies</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Every chart from the seven 2 Thessalonians studies, in study order — one section per study, with leader notes on every slide.</a:t>
            </a:r>
            <a:endParaRPr lang="en-US" sz="1500" dirty="0"/>
          </a:p>
        </p:txBody>
      </p:sp>
      <p:sp>
        <p:nvSpPr>
          <p:cNvPr id="5" name="Text 3"/>
          <p:cNvSpPr/>
          <p:nvPr/>
        </p:nvSpPr>
        <p:spPr>
          <a:xfrm>
            <a:off x="640080" y="4343400"/>
            <a:ext cx="7863840" cy="274320"/>
          </a:xfrm>
          <a:prstGeom prst="rect">
            <a:avLst/>
          </a:prstGeom>
          <a:noFill/>
          <a:ln/>
        </p:spPr>
        <p:txBody>
          <a:bodyPr wrap="square" lIns="0" tIns="0" rIns="0" bIns="0" rtlCol="0" anchor="ctr"/>
          <a:lstStyle/>
          <a:p>
            <a:pPr indent="0" marL="0">
              <a:buNone/>
            </a:pPr>
            <a:r>
              <a:rPr lang="en-US" sz="1000" dirty="0">
                <a:solidFill>
                  <a:srgbClr val="C9D5EE"/>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series at a glance (1 of 2)</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Studies 1–4</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115568"/>
          <a:ext cx="8229600" cy="914400"/>
        </p:xfrm>
        <a:graphic>
          <a:graphicData uri="http://schemas.openxmlformats.org/drawingml/2006/table">
            <a:tbl>
              <a:tblPr/>
              <a:tblGrid>
                <a:gridCol w="411480"/>
                <a:gridCol w="960120"/>
                <a:gridCol w="2651760"/>
                <a:gridCol w="4206240"/>
              </a:tblGrid>
              <a:tr h="310896">
                <a:tc>
                  <a:txBody>
                    <a:bodyPr/>
                    <a:lstStyle/>
                    <a:p>
                      <a:pPr indent="0" marL="0">
                        <a:buNone/>
                      </a:pPr>
                      <a:r>
                        <a:rPr lang="en-US" sz="1050" b="1" dirty="0">
                          <a:solidFill>
                            <a:srgbClr val="FFFFFF"/>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Passage</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Title</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In brief</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r>
              <a:tr h="6400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1:1–2</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1F3864"/>
                          </a:solidFill>
                          <a:latin typeface="Arial" pitchFamily="34" charset="0"/>
                          <a:ea typeface="Arial" pitchFamily="34" charset="-122"/>
                          <a:cs typeface="Arial" pitchFamily="34" charset="-120"/>
                        </a:rPr>
                        <a:t>Introduction and Background</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The road to Thessalonica, the founding team, and a church that lives “in God our Father and the Lord Jesus Christ.”</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6400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1:3–12</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1F3864"/>
                          </a:solidFill>
                          <a:latin typeface="Arial" pitchFamily="34" charset="0"/>
                          <a:ea typeface="Arial" pitchFamily="34" charset="-122"/>
                          <a:cs typeface="Arial" pitchFamily="34" charset="-120"/>
                        </a:rPr>
                        <a:t>Paul’s Admiration for the Thessalonians</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A faith that grows exceedingly, a love that reaches each one, and a righteous Judge who will set things right.</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6400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2:1–5</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1F3864"/>
                          </a:solidFill>
                          <a:latin typeface="Arial" pitchFamily="34" charset="0"/>
                          <a:ea typeface="Arial" pitchFamily="34" charset="-122"/>
                          <a:cs typeface="Arial" pitchFamily="34" charset="-120"/>
                        </a:rPr>
                        <a:t>Confusion Concerning the Coming</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Shaken by a false spirit, word, and letter — Paul’s correction: the apostasy and the man of sin must come first.</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6400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2:6–12</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1F3864"/>
                          </a:solidFill>
                          <a:latin typeface="Arial" pitchFamily="34" charset="0"/>
                          <a:ea typeface="Arial" pitchFamily="34" charset="-122"/>
                          <a:cs typeface="Arial" pitchFamily="34" charset="-120"/>
                        </a:rPr>
                        <a:t>The Removal of the Restrainer</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The mystery of lawlessness, the Restrainer taken out of the way, and the lawless one destroyed at Christ’s coming.</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series at a glance (2 of 2)</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Studies 5–7</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15568"/>
          <a:ext cx="8229600" cy="914400"/>
        </p:xfrm>
        <a:graphic>
          <a:graphicData uri="http://schemas.openxmlformats.org/drawingml/2006/table">
            <a:tbl>
              <a:tblPr/>
              <a:tblGrid>
                <a:gridCol w="411480"/>
                <a:gridCol w="960120"/>
                <a:gridCol w="2651760"/>
                <a:gridCol w="4206240"/>
              </a:tblGrid>
              <a:tr h="310896">
                <a:tc>
                  <a:txBody>
                    <a:bodyPr/>
                    <a:lstStyle/>
                    <a:p>
                      <a:pPr indent="0" marL="0">
                        <a:buNone/>
                      </a:pPr>
                      <a:r>
                        <a:rPr lang="en-US" sz="1050" b="1" dirty="0">
                          <a:solidFill>
                            <a:srgbClr val="FFFFFF"/>
                          </a:solidFill>
                          <a:latin typeface="Arial" pitchFamily="34" charset="0"/>
                          <a:ea typeface="Arial" pitchFamily="34" charset="-122"/>
                          <a:cs typeface="Arial" pitchFamily="34" charset="-120"/>
                        </a:rPr>
                        <a:t>#</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Passage</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Title</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In brief</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r>
              <a:tr h="6400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2:13–17</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1F3864"/>
                          </a:solidFill>
                          <a:latin typeface="Arial" pitchFamily="34" charset="0"/>
                          <a:ea typeface="Arial" pitchFamily="34" charset="-122"/>
                          <a:cs typeface="Arial" pitchFamily="34" charset="-120"/>
                        </a:rPr>
                        <a:t>The Day of the Lord and Believers</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Chosen, set apart, and appointed to deliverance — so stand fast and hold the apostolic Word.</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6400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6</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3:1–12</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1F3864"/>
                          </a:solidFill>
                          <a:latin typeface="Arial" pitchFamily="34" charset="0"/>
                          <a:ea typeface="Arial" pitchFamily="34" charset="-122"/>
                          <a:cs typeface="Arial" pitchFamily="34" charset="-120"/>
                        </a:rPr>
                        <a:t>Serving While Waiting</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Wait on the Lord in prayer and wait for the Lord in work — the Word must run, and idleness must not become meddling.</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640080">
                <a:tc>
                  <a:txBody>
                    <a:bodyPr/>
                    <a:lstStyle/>
                    <a:p>
                      <a:pPr algn="ctr" indent="0" marL="0">
                        <a:buNone/>
                      </a:pPr>
                      <a:r>
                        <a:rPr lang="en-US" sz="1050" b="1" dirty="0">
                          <a:solidFill>
                            <a:srgbClr val="1F3864"/>
                          </a:solidFill>
                          <a:latin typeface="Arial" pitchFamily="34" charset="0"/>
                          <a:ea typeface="Arial" pitchFamily="34" charset="-122"/>
                          <a:cs typeface="Arial" pitchFamily="34" charset="-120"/>
                        </a:rPr>
                        <a:t>7</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3:13–18</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b="1" dirty="0">
                          <a:solidFill>
                            <a:srgbClr val="1F3864"/>
                          </a:solidFill>
                          <a:latin typeface="Arial" pitchFamily="34" charset="0"/>
                          <a:ea typeface="Arial" pitchFamily="34" charset="-122"/>
                          <a:cs typeface="Arial" pitchFamily="34" charset="-120"/>
                        </a:rPr>
                        <a:t>My Brother’s Keeper</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050" dirty="0">
                          <a:solidFill>
                            <a:srgbClr val="262626"/>
                          </a:solidFill>
                          <a:latin typeface="Arial" pitchFamily="34" charset="0"/>
                          <a:ea typeface="Arial" pitchFamily="34" charset="-122"/>
                          <a:cs typeface="Arial" pitchFamily="34" charset="-120"/>
                        </a:rPr>
                        <a:t>Am I my brother’s keeper? Don’t grow weary in doing good, admonish as family, and rest in the Lord of peace.</a:t>
                      </a:r>
                      <a:endParaRPr lang="en-US" sz="105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Study 1 of 7 · 2 Thessalonians 1:1–2</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Introduction and Background</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Before Paul says one word about persecution, prophecy, or correction, he reminds a young, suffering church where it came from and who it is — a church “in God our Father and the Lord Jesus Christ.”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road to Thessalonica</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B · The background geographically (Acts 15:36–18:11)</a:t>
            </a:r>
            <a:endParaRPr lang="en-US" sz="1200" dirty="0"/>
          </a:p>
        </p:txBody>
      </p:sp>
      <p:sp>
        <p:nvSpPr>
          <p:cNvPr id="5" name="Shape 2"/>
          <p:cNvSpPr/>
          <p:nvPr/>
        </p:nvSpPr>
        <p:spPr>
          <a:xfrm>
            <a:off x="457200" y="1188720"/>
            <a:ext cx="1477670" cy="2103120"/>
          </a:xfrm>
          <a:prstGeom prst="roundRect">
            <a:avLst>
              <a:gd name="adj" fmla="val 3713"/>
            </a:avLst>
          </a:prstGeom>
          <a:solidFill>
            <a:srgbClr val="F2F6FC"/>
          </a:solidFill>
          <a:ln w="9525">
            <a:solidFill>
              <a:srgbClr val="D5DCEA"/>
            </a:solidFill>
            <a:prstDash val="solid"/>
          </a:ln>
        </p:spPr>
      </p:sp>
      <p:sp>
        <p:nvSpPr>
          <p:cNvPr id="6" name="Shape 3"/>
          <p:cNvSpPr/>
          <p:nvPr/>
        </p:nvSpPr>
        <p:spPr>
          <a:xfrm>
            <a:off x="994867" y="1298448"/>
            <a:ext cx="402336" cy="402336"/>
          </a:xfrm>
          <a:prstGeom prst="ellipse">
            <a:avLst/>
          </a:prstGeom>
          <a:solidFill>
            <a:srgbClr val="2E5496"/>
          </a:solidFill>
          <a:ln w="12700">
            <a:solidFill>
              <a:srgbClr val="2E5496"/>
            </a:solidFill>
            <a:prstDash val="solid"/>
          </a:ln>
        </p:spPr>
      </p:sp>
      <p:sp>
        <p:nvSpPr>
          <p:cNvPr id="7" name="Text 4"/>
          <p:cNvSpPr/>
          <p:nvPr/>
        </p:nvSpPr>
        <p:spPr>
          <a:xfrm>
            <a:off x="99486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The team</a:t>
            </a:r>
            <a:endParaRPr lang="en-US" sz="1150" dirty="0"/>
          </a:p>
        </p:txBody>
      </p:sp>
      <p:sp>
        <p:nvSpPr>
          <p:cNvPr id="9" name="Text 6"/>
          <p:cNvSpPr/>
          <p:nvPr/>
        </p:nvSpPr>
        <p:spPr>
          <a:xfrm>
            <a:off x="530352"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Paul and Silas; Timothy joins at Lystra</a:t>
            </a:r>
            <a:endParaRPr lang="en-US" sz="1150" dirty="0"/>
          </a:p>
        </p:txBody>
      </p:sp>
      <p:sp>
        <p:nvSpPr>
          <p:cNvPr id="10" name="Text 7"/>
          <p:cNvSpPr/>
          <p:nvPr/>
        </p:nvSpPr>
        <p:spPr>
          <a:xfrm>
            <a:off x="530352"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Acts 15:36–16:3</a:t>
            </a:r>
            <a:endParaRPr lang="en-US" sz="900" dirty="0"/>
          </a:p>
        </p:txBody>
      </p:sp>
      <p:sp>
        <p:nvSpPr>
          <p:cNvPr id="11" name="Shape 8"/>
          <p:cNvSpPr/>
          <p:nvPr/>
        </p:nvSpPr>
        <p:spPr>
          <a:xfrm>
            <a:off x="1939442" y="2121408"/>
            <a:ext cx="201168" cy="237744"/>
          </a:xfrm>
          <a:prstGeom prst="rightArrow">
            <a:avLst/>
          </a:prstGeom>
          <a:solidFill>
            <a:srgbClr val="6B7280"/>
          </a:solidFill>
          <a:ln w="12700">
            <a:solidFill>
              <a:srgbClr val="6B7280"/>
            </a:solidFill>
            <a:prstDash val="solid"/>
          </a:ln>
        </p:spPr>
      </p:sp>
      <p:sp>
        <p:nvSpPr>
          <p:cNvPr id="12" name="Shape 9"/>
          <p:cNvSpPr/>
          <p:nvPr/>
        </p:nvSpPr>
        <p:spPr>
          <a:xfrm>
            <a:off x="2145182" y="1188720"/>
            <a:ext cx="1477670" cy="2103120"/>
          </a:xfrm>
          <a:prstGeom prst="roundRect">
            <a:avLst>
              <a:gd name="adj" fmla="val 3713"/>
            </a:avLst>
          </a:prstGeom>
          <a:solidFill>
            <a:srgbClr val="F2F6FC"/>
          </a:solidFill>
          <a:ln w="9525">
            <a:solidFill>
              <a:srgbClr val="D5DCEA"/>
            </a:solidFill>
            <a:prstDash val="solid"/>
          </a:ln>
        </p:spPr>
      </p:sp>
      <p:sp>
        <p:nvSpPr>
          <p:cNvPr id="13" name="Shape 10"/>
          <p:cNvSpPr/>
          <p:nvPr/>
        </p:nvSpPr>
        <p:spPr>
          <a:xfrm>
            <a:off x="2682850"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2682850"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218334"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Troas</a:t>
            </a:r>
            <a:endParaRPr lang="en-US" sz="1150" dirty="0"/>
          </a:p>
        </p:txBody>
      </p:sp>
      <p:sp>
        <p:nvSpPr>
          <p:cNvPr id="16" name="Text 13"/>
          <p:cNvSpPr/>
          <p:nvPr/>
        </p:nvSpPr>
        <p:spPr>
          <a:xfrm>
            <a:off x="2218334"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Doors closed — then the Macedonian call</a:t>
            </a:r>
            <a:endParaRPr lang="en-US" sz="1150" dirty="0"/>
          </a:p>
        </p:txBody>
      </p:sp>
      <p:sp>
        <p:nvSpPr>
          <p:cNvPr id="17" name="Text 14"/>
          <p:cNvSpPr/>
          <p:nvPr/>
        </p:nvSpPr>
        <p:spPr>
          <a:xfrm>
            <a:off x="2218334"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Acts 16:6–10</a:t>
            </a:r>
            <a:endParaRPr lang="en-US" sz="900" dirty="0"/>
          </a:p>
        </p:txBody>
      </p:sp>
      <p:sp>
        <p:nvSpPr>
          <p:cNvPr id="18" name="Shape 15"/>
          <p:cNvSpPr/>
          <p:nvPr/>
        </p:nvSpPr>
        <p:spPr>
          <a:xfrm>
            <a:off x="3627425" y="2121408"/>
            <a:ext cx="201168" cy="237744"/>
          </a:xfrm>
          <a:prstGeom prst="rightArrow">
            <a:avLst/>
          </a:prstGeom>
          <a:solidFill>
            <a:srgbClr val="6B7280"/>
          </a:solidFill>
          <a:ln w="12700">
            <a:solidFill>
              <a:srgbClr val="6B7280"/>
            </a:solidFill>
            <a:prstDash val="solid"/>
          </a:ln>
        </p:spPr>
      </p:sp>
      <p:sp>
        <p:nvSpPr>
          <p:cNvPr id="19" name="Shape 16"/>
          <p:cNvSpPr/>
          <p:nvPr/>
        </p:nvSpPr>
        <p:spPr>
          <a:xfrm>
            <a:off x="3833165" y="1188720"/>
            <a:ext cx="1477670" cy="2103120"/>
          </a:xfrm>
          <a:prstGeom prst="roundRect">
            <a:avLst>
              <a:gd name="adj" fmla="val 3713"/>
            </a:avLst>
          </a:prstGeom>
          <a:solidFill>
            <a:srgbClr val="F2F6FC"/>
          </a:solidFill>
          <a:ln w="9525">
            <a:solidFill>
              <a:srgbClr val="D5DCEA"/>
            </a:solidFill>
            <a:prstDash val="solid"/>
          </a:ln>
        </p:spPr>
      </p:sp>
      <p:sp>
        <p:nvSpPr>
          <p:cNvPr id="20" name="Shape 17"/>
          <p:cNvSpPr/>
          <p:nvPr/>
        </p:nvSpPr>
        <p:spPr>
          <a:xfrm>
            <a:off x="4370832"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3906317"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Philippi</a:t>
            </a:r>
            <a:endParaRPr lang="en-US" sz="1150" dirty="0"/>
          </a:p>
        </p:txBody>
      </p:sp>
      <p:sp>
        <p:nvSpPr>
          <p:cNvPr id="23" name="Text 20"/>
          <p:cNvSpPr/>
          <p:nvPr/>
        </p:nvSpPr>
        <p:spPr>
          <a:xfrm>
            <a:off x="3906317"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“Believe on the Lord Jesus Christ, and you will be saved”</a:t>
            </a:r>
            <a:endParaRPr lang="en-US" sz="1150" dirty="0"/>
          </a:p>
        </p:txBody>
      </p:sp>
      <p:sp>
        <p:nvSpPr>
          <p:cNvPr id="24" name="Text 21"/>
          <p:cNvSpPr/>
          <p:nvPr/>
        </p:nvSpPr>
        <p:spPr>
          <a:xfrm>
            <a:off x="3906317"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Acts 16:16–34</a:t>
            </a:r>
            <a:endParaRPr lang="en-US" sz="900" dirty="0"/>
          </a:p>
        </p:txBody>
      </p:sp>
      <p:sp>
        <p:nvSpPr>
          <p:cNvPr id="25" name="Shape 22"/>
          <p:cNvSpPr/>
          <p:nvPr/>
        </p:nvSpPr>
        <p:spPr>
          <a:xfrm>
            <a:off x="5315407" y="2121408"/>
            <a:ext cx="201168" cy="237744"/>
          </a:xfrm>
          <a:prstGeom prst="rightArrow">
            <a:avLst/>
          </a:prstGeom>
          <a:solidFill>
            <a:srgbClr val="6B7280"/>
          </a:solidFill>
          <a:ln w="12700">
            <a:solidFill>
              <a:srgbClr val="6B7280"/>
            </a:solidFill>
            <a:prstDash val="solid"/>
          </a:ln>
        </p:spPr>
      </p:sp>
      <p:sp>
        <p:nvSpPr>
          <p:cNvPr id="26" name="Shape 23"/>
          <p:cNvSpPr/>
          <p:nvPr/>
        </p:nvSpPr>
        <p:spPr>
          <a:xfrm>
            <a:off x="5521147" y="1188720"/>
            <a:ext cx="1477670" cy="2103120"/>
          </a:xfrm>
          <a:prstGeom prst="roundRect">
            <a:avLst>
              <a:gd name="adj" fmla="val 3713"/>
            </a:avLst>
          </a:prstGeom>
          <a:solidFill>
            <a:srgbClr val="1F3864"/>
          </a:solidFill>
          <a:ln w="9525">
            <a:solidFill>
              <a:srgbClr val="1F3864"/>
            </a:solidFill>
            <a:prstDash val="solid"/>
          </a:ln>
        </p:spPr>
      </p:sp>
      <p:sp>
        <p:nvSpPr>
          <p:cNvPr id="27" name="Shape 24"/>
          <p:cNvSpPr/>
          <p:nvPr/>
        </p:nvSpPr>
        <p:spPr>
          <a:xfrm>
            <a:off x="6058814" y="1298448"/>
            <a:ext cx="402336" cy="402336"/>
          </a:xfrm>
          <a:prstGeom prst="ellipse">
            <a:avLst/>
          </a:prstGeom>
          <a:solidFill>
            <a:srgbClr val="FFFFFF"/>
          </a:solidFill>
          <a:ln w="12700">
            <a:solidFill>
              <a:srgbClr val="FFFFFF"/>
            </a:solidFill>
            <a:prstDash val="solid"/>
          </a:ln>
        </p:spPr>
      </p:sp>
      <p:sp>
        <p:nvSpPr>
          <p:cNvPr id="28" name="Text 25"/>
          <p:cNvSpPr/>
          <p:nvPr/>
        </p:nvSpPr>
        <p:spPr>
          <a:xfrm>
            <a:off x="6058814"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5594299" y="1773936"/>
            <a:ext cx="133136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Thessalonica</a:t>
            </a:r>
            <a:endParaRPr lang="en-US" sz="1150" dirty="0"/>
          </a:p>
        </p:txBody>
      </p:sp>
      <p:sp>
        <p:nvSpPr>
          <p:cNvPr id="30" name="Text 27"/>
          <p:cNvSpPr/>
          <p:nvPr/>
        </p:nvSpPr>
        <p:spPr>
          <a:xfrm>
            <a:off x="5594299" y="2157984"/>
            <a:ext cx="1331366" cy="74980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Three Sabbaths in the synagogue — and more</a:t>
            </a:r>
            <a:endParaRPr lang="en-US" sz="1150" dirty="0"/>
          </a:p>
        </p:txBody>
      </p:sp>
      <p:sp>
        <p:nvSpPr>
          <p:cNvPr id="31" name="Text 28"/>
          <p:cNvSpPr/>
          <p:nvPr/>
        </p:nvSpPr>
        <p:spPr>
          <a:xfrm>
            <a:off x="5594299" y="2907792"/>
            <a:ext cx="1331366"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Acts 17:1–9</a:t>
            </a:r>
            <a:endParaRPr lang="en-US" sz="900" dirty="0"/>
          </a:p>
        </p:txBody>
      </p:sp>
      <p:sp>
        <p:nvSpPr>
          <p:cNvPr id="32" name="Shape 29"/>
          <p:cNvSpPr/>
          <p:nvPr/>
        </p:nvSpPr>
        <p:spPr>
          <a:xfrm>
            <a:off x="7003390" y="2121408"/>
            <a:ext cx="201168" cy="237744"/>
          </a:xfrm>
          <a:prstGeom prst="rightArrow">
            <a:avLst/>
          </a:prstGeom>
          <a:solidFill>
            <a:srgbClr val="6B7280"/>
          </a:solidFill>
          <a:ln w="12700">
            <a:solidFill>
              <a:srgbClr val="6B7280"/>
            </a:solidFill>
            <a:prstDash val="solid"/>
          </a:ln>
        </p:spPr>
      </p:sp>
      <p:sp>
        <p:nvSpPr>
          <p:cNvPr id="33" name="Shape 30"/>
          <p:cNvSpPr/>
          <p:nvPr/>
        </p:nvSpPr>
        <p:spPr>
          <a:xfrm>
            <a:off x="7209130" y="1188720"/>
            <a:ext cx="1477670" cy="2103120"/>
          </a:xfrm>
          <a:prstGeom prst="roundRect">
            <a:avLst>
              <a:gd name="adj" fmla="val 3713"/>
            </a:avLst>
          </a:prstGeom>
          <a:solidFill>
            <a:srgbClr val="F2F6FC"/>
          </a:solidFill>
          <a:ln w="9525">
            <a:solidFill>
              <a:srgbClr val="D5DCEA"/>
            </a:solidFill>
            <a:prstDash val="solid"/>
          </a:ln>
        </p:spPr>
      </p:sp>
      <p:sp>
        <p:nvSpPr>
          <p:cNvPr id="34" name="Shape 31"/>
          <p:cNvSpPr/>
          <p:nvPr/>
        </p:nvSpPr>
        <p:spPr>
          <a:xfrm>
            <a:off x="7746797" y="1298448"/>
            <a:ext cx="402336" cy="402336"/>
          </a:xfrm>
          <a:prstGeom prst="ellipse">
            <a:avLst/>
          </a:prstGeom>
          <a:solidFill>
            <a:srgbClr val="2E5496"/>
          </a:solidFill>
          <a:ln w="12700">
            <a:solidFill>
              <a:srgbClr val="2E5496"/>
            </a:solidFill>
            <a:prstDash val="solid"/>
          </a:ln>
        </p:spPr>
      </p:sp>
      <p:sp>
        <p:nvSpPr>
          <p:cNvPr id="35" name="Text 32"/>
          <p:cNvSpPr/>
          <p:nvPr/>
        </p:nvSpPr>
        <p:spPr>
          <a:xfrm>
            <a:off x="774679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36" name="Text 33"/>
          <p:cNvSpPr/>
          <p:nvPr/>
        </p:nvSpPr>
        <p:spPr>
          <a:xfrm>
            <a:off x="728228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Corinth</a:t>
            </a:r>
            <a:endParaRPr lang="en-US" sz="1150" dirty="0"/>
          </a:p>
        </p:txBody>
      </p:sp>
      <p:sp>
        <p:nvSpPr>
          <p:cNvPr id="37" name="Text 34"/>
          <p:cNvSpPr/>
          <p:nvPr/>
        </p:nvSpPr>
        <p:spPr>
          <a:xfrm>
            <a:off x="7282282" y="2157984"/>
            <a:ext cx="1331366"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Berea and Athens, then Corinth — where both letters were written</a:t>
            </a:r>
            <a:endParaRPr lang="en-US" sz="1150" dirty="0"/>
          </a:p>
        </p:txBody>
      </p:sp>
      <p:sp>
        <p:nvSpPr>
          <p:cNvPr id="38" name="Text 35"/>
          <p:cNvSpPr/>
          <p:nvPr/>
        </p:nvSpPr>
        <p:spPr>
          <a:xfrm>
            <a:off x="7282282" y="290779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Acts 17:10–18:11</a:t>
            </a:r>
            <a:endParaRPr lang="en-US" sz="900" dirty="0"/>
          </a:p>
        </p:txBody>
      </p:sp>
      <p:sp>
        <p:nvSpPr>
          <p:cNvPr id="39" name="Shape 36"/>
          <p:cNvSpPr/>
          <p:nvPr/>
        </p:nvSpPr>
        <p:spPr>
          <a:xfrm>
            <a:off x="457200" y="3474720"/>
            <a:ext cx="4023360" cy="365760"/>
          </a:xfrm>
          <a:prstGeom prst="rect">
            <a:avLst/>
          </a:prstGeom>
          <a:solidFill>
            <a:srgbClr val="2E5496"/>
          </a:solidFill>
          <a:ln w="12700">
            <a:solidFill>
              <a:srgbClr val="2E5496"/>
            </a:solidFill>
            <a:prstDash val="solid"/>
          </a:ln>
        </p:spPr>
      </p:sp>
      <p:sp>
        <p:nvSpPr>
          <p:cNvPr id="40" name="Text 37"/>
          <p:cNvSpPr/>
          <p:nvPr/>
        </p:nvSpPr>
        <p:spPr>
          <a:xfrm>
            <a:off x="548640" y="352044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What Paul taught new believers</a:t>
            </a:r>
            <a:endParaRPr lang="en-US" sz="1200" dirty="0"/>
          </a:p>
        </p:txBody>
      </p:sp>
      <p:sp>
        <p:nvSpPr>
          <p:cNvPr id="41" name="Shape 38"/>
          <p:cNvSpPr/>
          <p:nvPr/>
        </p:nvSpPr>
        <p:spPr>
          <a:xfrm>
            <a:off x="457200" y="3840480"/>
            <a:ext cx="4023360" cy="777240"/>
          </a:xfrm>
          <a:prstGeom prst="rect">
            <a:avLst/>
          </a:prstGeom>
          <a:solidFill>
            <a:srgbClr val="F2F6FC"/>
          </a:solidFill>
          <a:ln w="9525">
            <a:solidFill>
              <a:srgbClr val="D5DCEA"/>
            </a:solidFill>
            <a:prstDash val="solid"/>
          </a:ln>
        </p:spPr>
      </p:sp>
      <p:sp>
        <p:nvSpPr>
          <p:cNvPr id="42" name="Text 39"/>
          <p:cNvSpPr/>
          <p:nvPr/>
        </p:nvSpPr>
        <p:spPr>
          <a:xfrm>
            <a:off x="548640" y="3913632"/>
            <a:ext cx="3840480" cy="64922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Prophecy — “Jesus is coming”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And it strengthened them</a:t>
            </a:r>
            <a:endParaRPr lang="en-US" sz="1250" dirty="0"/>
          </a:p>
        </p:txBody>
      </p:sp>
      <p:sp>
        <p:nvSpPr>
          <p:cNvPr id="43" name="Shape 40"/>
          <p:cNvSpPr/>
          <p:nvPr/>
        </p:nvSpPr>
        <p:spPr>
          <a:xfrm>
            <a:off x="4663440" y="3474720"/>
            <a:ext cx="4023360" cy="365760"/>
          </a:xfrm>
          <a:prstGeom prst="rect">
            <a:avLst/>
          </a:prstGeom>
          <a:solidFill>
            <a:srgbClr val="375623"/>
          </a:solidFill>
          <a:ln w="12700">
            <a:solidFill>
              <a:srgbClr val="375623"/>
            </a:solidFill>
            <a:prstDash val="solid"/>
          </a:ln>
        </p:spPr>
      </p:sp>
      <p:sp>
        <p:nvSpPr>
          <p:cNvPr id="44" name="Text 41"/>
          <p:cNvSpPr/>
          <p:nvPr/>
        </p:nvSpPr>
        <p:spPr>
          <a:xfrm>
            <a:off x="4754880" y="352044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Why a second letter? · Study Note</a:t>
            </a:r>
            <a:endParaRPr lang="en-US" sz="1200" dirty="0"/>
          </a:p>
        </p:txBody>
      </p:sp>
      <p:sp>
        <p:nvSpPr>
          <p:cNvPr id="45" name="Shape 42"/>
          <p:cNvSpPr/>
          <p:nvPr/>
        </p:nvSpPr>
        <p:spPr>
          <a:xfrm>
            <a:off x="4663440" y="3840480"/>
            <a:ext cx="4023360" cy="777240"/>
          </a:xfrm>
          <a:prstGeom prst="rect">
            <a:avLst/>
          </a:prstGeom>
          <a:solidFill>
            <a:srgbClr val="F2F6FC"/>
          </a:solidFill>
          <a:ln w="9525">
            <a:solidFill>
              <a:srgbClr val="D5DCEA"/>
            </a:solidFill>
            <a:prstDash val="solid"/>
          </a:ln>
        </p:spPr>
      </p:sp>
      <p:sp>
        <p:nvSpPr>
          <p:cNvPr id="46" name="Text 43"/>
          <p:cNvSpPr/>
          <p:nvPr/>
        </p:nvSpPr>
        <p:spPr>
          <a:xfrm>
            <a:off x="4754880" y="3913632"/>
            <a:ext cx="3840480" cy="649224"/>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Persecution had intensified (1:4–7)</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A false claim the Day had come (2:1–2)</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Some had stopped working (3:6–12)</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men, one letter</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1:1a · C.1 — Paul and his companions</a:t>
            </a:r>
            <a:endParaRPr lang="en-US" sz="1200" dirty="0"/>
          </a:p>
        </p:txBody>
      </p:sp>
      <p:sp>
        <p:nvSpPr>
          <p:cNvPr id="5" name="Shape 2"/>
          <p:cNvSpPr/>
          <p:nvPr/>
        </p:nvSpPr>
        <p:spPr>
          <a:xfrm>
            <a:off x="457200" y="1188720"/>
            <a:ext cx="2621280" cy="566928"/>
          </a:xfrm>
          <a:prstGeom prst="rect">
            <a:avLst/>
          </a:prstGeom>
          <a:solidFill>
            <a:srgbClr val="1F3864"/>
          </a:solidFill>
          <a:ln w="12700">
            <a:solidFill>
              <a:srgbClr val="1F3864"/>
            </a:solidFill>
            <a:prstDash val="solid"/>
          </a:ln>
        </p:spPr>
      </p:sp>
      <p:sp>
        <p:nvSpPr>
          <p:cNvPr id="6" name="Text 3"/>
          <p:cNvSpPr/>
          <p:nvPr/>
        </p:nvSpPr>
        <p:spPr>
          <a:xfrm>
            <a:off x="54864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Paul</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Παῦλος</a:t>
            </a:r>
            <a:pPr indent="0" marL="0">
              <a:buNone/>
            </a:pPr>
            <a:r>
              <a:rPr lang="en-US" sz="850" dirty="0">
                <a:solidFill>
                  <a:srgbClr val="DCE4F2"/>
                </a:solidFill>
                <a:latin typeface="Arial" pitchFamily="34" charset="0"/>
                <a:ea typeface="Arial" pitchFamily="34" charset="-122"/>
                <a:cs typeface="Arial" pitchFamily="34" charset="-120"/>
              </a:rPr>
              <a:t>  G3972</a:t>
            </a:r>
            <a:endParaRPr lang="en-US" sz="1200" dirty="0"/>
          </a:p>
        </p:txBody>
      </p:sp>
      <p:sp>
        <p:nvSpPr>
          <p:cNvPr id="7" name="Shape 4"/>
          <p:cNvSpPr/>
          <p:nvPr/>
        </p:nvSpPr>
        <p:spPr>
          <a:xfrm>
            <a:off x="457200" y="1755648"/>
            <a:ext cx="2621280" cy="1993392"/>
          </a:xfrm>
          <a:prstGeom prst="rect">
            <a:avLst/>
          </a:prstGeom>
          <a:solidFill>
            <a:srgbClr val="F2F6FC"/>
          </a:solidFill>
          <a:ln w="9525">
            <a:solidFill>
              <a:srgbClr val="D5DCEA"/>
            </a:solidFill>
            <a:prstDash val="solid"/>
          </a:ln>
        </p:spPr>
      </p:sp>
      <p:sp>
        <p:nvSpPr>
          <p:cNvPr id="8" name="Text 5"/>
          <p:cNvSpPr/>
          <p:nvPr/>
        </p:nvSpPr>
        <p:spPr>
          <a:xfrm>
            <a:off x="548640" y="1828800"/>
            <a:ext cx="2438400" cy="18653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Just “Paul” — no title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Their friend, the one they loved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Contrast Galatians 1:1</a:t>
            </a:r>
            <a:endParaRPr lang="en-US" sz="1250" dirty="0"/>
          </a:p>
        </p:txBody>
      </p:sp>
      <p:sp>
        <p:nvSpPr>
          <p:cNvPr id="9" name="Shape 6"/>
          <p:cNvSpPr/>
          <p:nvPr/>
        </p:nvSpPr>
        <p:spPr>
          <a:xfrm>
            <a:off x="3261360" y="1188720"/>
            <a:ext cx="2621280" cy="566928"/>
          </a:xfrm>
          <a:prstGeom prst="rect">
            <a:avLst/>
          </a:prstGeom>
          <a:solidFill>
            <a:srgbClr val="2E5496"/>
          </a:solidFill>
          <a:ln w="12700">
            <a:solidFill>
              <a:srgbClr val="2E5496"/>
            </a:solidFill>
            <a:prstDash val="solid"/>
          </a:ln>
        </p:spPr>
      </p:sp>
      <p:sp>
        <p:nvSpPr>
          <p:cNvPr id="10" name="Text 7"/>
          <p:cNvSpPr/>
          <p:nvPr/>
        </p:nvSpPr>
        <p:spPr>
          <a:xfrm>
            <a:off x="335280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Silvanus</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Σιλουανός</a:t>
            </a:r>
            <a:pPr indent="0" marL="0">
              <a:buNone/>
            </a:pPr>
            <a:r>
              <a:rPr lang="en-US" sz="850" dirty="0">
                <a:solidFill>
                  <a:srgbClr val="DCE4F2"/>
                </a:solidFill>
                <a:latin typeface="Arial" pitchFamily="34" charset="0"/>
                <a:ea typeface="Arial" pitchFamily="34" charset="-122"/>
                <a:cs typeface="Arial" pitchFamily="34" charset="-120"/>
              </a:rPr>
              <a:t>  G4610</a:t>
            </a:r>
            <a:endParaRPr lang="en-US" sz="1200" dirty="0"/>
          </a:p>
        </p:txBody>
      </p:sp>
      <p:sp>
        <p:nvSpPr>
          <p:cNvPr id="11" name="Shape 8"/>
          <p:cNvSpPr/>
          <p:nvPr/>
        </p:nvSpPr>
        <p:spPr>
          <a:xfrm>
            <a:off x="3261360" y="1755648"/>
            <a:ext cx="2621280" cy="1993392"/>
          </a:xfrm>
          <a:prstGeom prst="rect">
            <a:avLst/>
          </a:prstGeom>
          <a:solidFill>
            <a:srgbClr val="F2F6FC"/>
          </a:solidFill>
          <a:ln w="9525">
            <a:solidFill>
              <a:srgbClr val="D5DCEA"/>
            </a:solidFill>
            <a:prstDash val="solid"/>
          </a:ln>
        </p:spPr>
      </p:sp>
      <p:sp>
        <p:nvSpPr>
          <p:cNvPr id="12" name="Text 9"/>
          <p:cNvSpPr/>
          <p:nvPr/>
        </p:nvSpPr>
        <p:spPr>
          <a:xfrm>
            <a:off x="3352800" y="1828800"/>
            <a:ext cx="2438400" cy="18653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senior member (Silas)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Jerusalem leader, prophet, Roman citizen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co-founder of this church</a:t>
            </a:r>
            <a:endParaRPr lang="en-US" sz="1250" dirty="0"/>
          </a:p>
        </p:txBody>
      </p:sp>
      <p:sp>
        <p:nvSpPr>
          <p:cNvPr id="13" name="Shape 10"/>
          <p:cNvSpPr/>
          <p:nvPr/>
        </p:nvSpPr>
        <p:spPr>
          <a:xfrm>
            <a:off x="6065520" y="1188720"/>
            <a:ext cx="2621280" cy="566928"/>
          </a:xfrm>
          <a:prstGeom prst="rect">
            <a:avLst/>
          </a:prstGeom>
          <a:solidFill>
            <a:srgbClr val="375623"/>
          </a:solidFill>
          <a:ln w="12700">
            <a:solidFill>
              <a:srgbClr val="375623"/>
            </a:solidFill>
            <a:prstDash val="solid"/>
          </a:ln>
        </p:spPr>
      </p:sp>
      <p:sp>
        <p:nvSpPr>
          <p:cNvPr id="14" name="Text 11"/>
          <p:cNvSpPr/>
          <p:nvPr/>
        </p:nvSpPr>
        <p:spPr>
          <a:xfrm>
            <a:off x="615696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Timothy</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Τιμόθεος</a:t>
            </a:r>
            <a:pPr indent="0" marL="0">
              <a:buNone/>
            </a:pPr>
            <a:r>
              <a:rPr lang="en-US" sz="850" dirty="0">
                <a:solidFill>
                  <a:srgbClr val="DCE4F2"/>
                </a:solidFill>
                <a:latin typeface="Arial" pitchFamily="34" charset="0"/>
                <a:ea typeface="Arial" pitchFamily="34" charset="-122"/>
                <a:cs typeface="Arial" pitchFamily="34" charset="-120"/>
              </a:rPr>
              <a:t>  G5095</a:t>
            </a:r>
            <a:endParaRPr lang="en-US" sz="1200" dirty="0"/>
          </a:p>
        </p:txBody>
      </p:sp>
      <p:sp>
        <p:nvSpPr>
          <p:cNvPr id="15" name="Shape 12"/>
          <p:cNvSpPr/>
          <p:nvPr/>
        </p:nvSpPr>
        <p:spPr>
          <a:xfrm>
            <a:off x="6065520" y="1755648"/>
            <a:ext cx="2621280" cy="1993392"/>
          </a:xfrm>
          <a:prstGeom prst="rect">
            <a:avLst/>
          </a:prstGeom>
          <a:solidFill>
            <a:srgbClr val="F2F6FC"/>
          </a:solidFill>
          <a:ln w="9525">
            <a:solidFill>
              <a:srgbClr val="D5DCEA"/>
            </a:solidFill>
            <a:prstDash val="solid"/>
          </a:ln>
        </p:spPr>
      </p:sp>
      <p:sp>
        <p:nvSpPr>
          <p:cNvPr id="16" name="Text 13"/>
          <p:cNvSpPr/>
          <p:nvPr/>
        </p:nvSpPr>
        <p:spPr>
          <a:xfrm>
            <a:off x="6156960" y="1828800"/>
            <a:ext cx="2438400" cy="18653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leader in training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Sent back to establish them (1 Thess 3:2)</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Later pastor at Ephesus</a:t>
            </a:r>
            <a:endParaRPr lang="en-US" sz="1250" dirty="0"/>
          </a:p>
        </p:txBody>
      </p:sp>
      <p:sp>
        <p:nvSpPr>
          <p:cNvPr id="17" name="Shape 14"/>
          <p:cNvSpPr/>
          <p:nvPr/>
        </p:nvSpPr>
        <p:spPr>
          <a:xfrm>
            <a:off x="457200" y="3931920"/>
            <a:ext cx="8229600" cy="685800"/>
          </a:xfrm>
          <a:prstGeom prst="roundRect">
            <a:avLst>
              <a:gd name="adj" fmla="val 8000"/>
            </a:avLst>
          </a:prstGeom>
          <a:solidFill>
            <a:srgbClr val="1F3864"/>
          </a:solidFill>
          <a:ln w="12700">
            <a:solidFill>
              <a:srgbClr val="1F3864"/>
            </a:solidFill>
            <a:prstDash val="solid"/>
          </a:ln>
        </p:spPr>
      </p:sp>
      <p:sp>
        <p:nvSpPr>
          <p:cNvPr id="18" name="Text 15"/>
          <p:cNvSpPr/>
          <p:nvPr/>
        </p:nvSpPr>
        <p:spPr>
          <a:xfrm>
            <a:off x="621792" y="3931920"/>
            <a:ext cx="7900416" cy="68580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Paul comes to this church as a friend, not as an authority enforcing correction.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church’s true address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1:1b · C.2.a–c — The church, in God our Father and the Lord Jesus Christ</a:t>
            </a:r>
            <a:endParaRPr lang="en-US" sz="1200" dirty="0"/>
          </a:p>
        </p:txBody>
      </p:sp>
      <p:sp>
        <p:nvSpPr>
          <p:cNvPr id="5" name="Shape 2"/>
          <p:cNvSpPr/>
          <p:nvPr/>
        </p:nvSpPr>
        <p:spPr>
          <a:xfrm>
            <a:off x="457200" y="1188720"/>
            <a:ext cx="1899666" cy="1874520"/>
          </a:xfrm>
          <a:prstGeom prst="roundRect">
            <a:avLst>
              <a:gd name="adj" fmla="val 2927"/>
            </a:avLst>
          </a:prstGeom>
          <a:solidFill>
            <a:srgbClr val="F2F6FC"/>
          </a:solidFill>
          <a:ln w="9525">
            <a:solidFill>
              <a:srgbClr val="D5DCEA"/>
            </a:solidFill>
            <a:prstDash val="solid"/>
          </a:ln>
        </p:spPr>
      </p:sp>
      <p:sp>
        <p:nvSpPr>
          <p:cNvPr id="6" name="Shape 3"/>
          <p:cNvSpPr/>
          <p:nvPr/>
        </p:nvSpPr>
        <p:spPr>
          <a:xfrm>
            <a:off x="1205865"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205865"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Any assembly</a:t>
            </a:r>
            <a:endParaRPr lang="en-US" sz="1150" dirty="0"/>
          </a:p>
        </p:txBody>
      </p:sp>
      <p:sp>
        <p:nvSpPr>
          <p:cNvPr id="9" name="Text 6"/>
          <p:cNvSpPr/>
          <p:nvPr/>
        </p:nvSpPr>
        <p:spPr>
          <a:xfrm>
            <a:off x="530352" y="2157984"/>
            <a:ext cx="1753362" cy="5212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A secular word — even Diana’s worshipers</a:t>
            </a:r>
            <a:endParaRPr lang="en-US" sz="1150" dirty="0"/>
          </a:p>
        </p:txBody>
      </p:sp>
      <p:sp>
        <p:nvSpPr>
          <p:cNvPr id="10" name="Text 7"/>
          <p:cNvSpPr/>
          <p:nvPr/>
        </p:nvSpPr>
        <p:spPr>
          <a:xfrm>
            <a:off x="530352" y="26791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Acts 19:32</a:t>
            </a:r>
            <a:endParaRPr lang="en-US" sz="900" dirty="0"/>
          </a:p>
        </p:txBody>
      </p:sp>
      <p:sp>
        <p:nvSpPr>
          <p:cNvPr id="11" name="Shape 8"/>
          <p:cNvSpPr/>
          <p:nvPr/>
        </p:nvSpPr>
        <p:spPr>
          <a:xfrm>
            <a:off x="2361438" y="2007108"/>
            <a:ext cx="201168" cy="237744"/>
          </a:xfrm>
          <a:prstGeom prst="rightArrow">
            <a:avLst/>
          </a:prstGeom>
          <a:solidFill>
            <a:srgbClr val="6B7280"/>
          </a:solidFill>
          <a:ln w="12700">
            <a:solidFill>
              <a:srgbClr val="6B7280"/>
            </a:solidFill>
            <a:prstDash val="solid"/>
          </a:ln>
        </p:spPr>
      </p:sp>
      <p:sp>
        <p:nvSpPr>
          <p:cNvPr id="12" name="Shape 9"/>
          <p:cNvSpPr/>
          <p:nvPr/>
        </p:nvSpPr>
        <p:spPr>
          <a:xfrm>
            <a:off x="2567178" y="1188720"/>
            <a:ext cx="1899666" cy="1874520"/>
          </a:xfrm>
          <a:prstGeom prst="roundRect">
            <a:avLst>
              <a:gd name="adj" fmla="val 2927"/>
            </a:avLst>
          </a:prstGeom>
          <a:solidFill>
            <a:srgbClr val="F2F6FC"/>
          </a:solidFill>
          <a:ln w="9525">
            <a:solidFill>
              <a:srgbClr val="D5DCEA"/>
            </a:solidFill>
            <a:prstDash val="solid"/>
          </a:ln>
        </p:spPr>
      </p:sp>
      <p:sp>
        <p:nvSpPr>
          <p:cNvPr id="13" name="Shape 10"/>
          <p:cNvSpPr/>
          <p:nvPr/>
        </p:nvSpPr>
        <p:spPr>
          <a:xfrm>
            <a:off x="3315843"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3315843"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640330"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Church universal</a:t>
            </a:r>
            <a:endParaRPr lang="en-US" sz="1150" dirty="0"/>
          </a:p>
        </p:txBody>
      </p:sp>
      <p:sp>
        <p:nvSpPr>
          <p:cNvPr id="16" name="Text 13"/>
          <p:cNvSpPr/>
          <p:nvPr/>
        </p:nvSpPr>
        <p:spPr>
          <a:xfrm>
            <a:off x="2640330" y="2157984"/>
            <a:ext cx="1753362" cy="5212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“I will build My church” — Pentecost to Rapture</a:t>
            </a:r>
            <a:endParaRPr lang="en-US" sz="1150" dirty="0"/>
          </a:p>
        </p:txBody>
      </p:sp>
      <p:sp>
        <p:nvSpPr>
          <p:cNvPr id="17" name="Text 14"/>
          <p:cNvSpPr/>
          <p:nvPr/>
        </p:nvSpPr>
        <p:spPr>
          <a:xfrm>
            <a:off x="2640330" y="26791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Matt 16:18</a:t>
            </a:r>
            <a:endParaRPr lang="en-US" sz="900" dirty="0"/>
          </a:p>
        </p:txBody>
      </p:sp>
      <p:sp>
        <p:nvSpPr>
          <p:cNvPr id="18" name="Shape 15"/>
          <p:cNvSpPr/>
          <p:nvPr/>
        </p:nvSpPr>
        <p:spPr>
          <a:xfrm>
            <a:off x="4471416" y="2007108"/>
            <a:ext cx="201168" cy="237744"/>
          </a:xfrm>
          <a:prstGeom prst="rightArrow">
            <a:avLst/>
          </a:prstGeom>
          <a:solidFill>
            <a:srgbClr val="6B7280"/>
          </a:solidFill>
          <a:ln w="12700">
            <a:solidFill>
              <a:srgbClr val="6B7280"/>
            </a:solidFill>
            <a:prstDash val="solid"/>
          </a:ln>
        </p:spPr>
      </p:sp>
      <p:sp>
        <p:nvSpPr>
          <p:cNvPr id="19" name="Shape 16"/>
          <p:cNvSpPr/>
          <p:nvPr/>
        </p:nvSpPr>
        <p:spPr>
          <a:xfrm>
            <a:off x="4677156" y="1188720"/>
            <a:ext cx="1899666" cy="1874520"/>
          </a:xfrm>
          <a:prstGeom prst="roundRect">
            <a:avLst>
              <a:gd name="adj" fmla="val 2927"/>
            </a:avLst>
          </a:prstGeom>
          <a:solidFill>
            <a:srgbClr val="F2F6FC"/>
          </a:solidFill>
          <a:ln w="9525">
            <a:solidFill>
              <a:srgbClr val="D5DCEA"/>
            </a:solidFill>
            <a:prstDash val="solid"/>
          </a:ln>
        </p:spPr>
      </p:sp>
      <p:sp>
        <p:nvSpPr>
          <p:cNvPr id="20" name="Shape 17"/>
          <p:cNvSpPr/>
          <p:nvPr/>
        </p:nvSpPr>
        <p:spPr>
          <a:xfrm>
            <a:off x="5425821"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5425821"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4750308"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Local church</a:t>
            </a:r>
            <a:endParaRPr lang="en-US" sz="1150" dirty="0"/>
          </a:p>
        </p:txBody>
      </p:sp>
      <p:sp>
        <p:nvSpPr>
          <p:cNvPr id="23" name="Text 20"/>
          <p:cNvSpPr/>
          <p:nvPr/>
        </p:nvSpPr>
        <p:spPr>
          <a:xfrm>
            <a:off x="4750308" y="2157984"/>
            <a:ext cx="1753362" cy="5212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“Tell it to the church”</a:t>
            </a:r>
            <a:endParaRPr lang="en-US" sz="1150" dirty="0"/>
          </a:p>
        </p:txBody>
      </p:sp>
      <p:sp>
        <p:nvSpPr>
          <p:cNvPr id="24" name="Text 21"/>
          <p:cNvSpPr/>
          <p:nvPr/>
        </p:nvSpPr>
        <p:spPr>
          <a:xfrm>
            <a:off x="4750308" y="26791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Matt 18:17</a:t>
            </a:r>
            <a:endParaRPr lang="en-US" sz="900" dirty="0"/>
          </a:p>
        </p:txBody>
      </p:sp>
      <p:sp>
        <p:nvSpPr>
          <p:cNvPr id="25" name="Shape 22"/>
          <p:cNvSpPr/>
          <p:nvPr/>
        </p:nvSpPr>
        <p:spPr>
          <a:xfrm>
            <a:off x="6581394" y="2007108"/>
            <a:ext cx="201168" cy="237744"/>
          </a:xfrm>
          <a:prstGeom prst="rightArrow">
            <a:avLst/>
          </a:prstGeom>
          <a:solidFill>
            <a:srgbClr val="6B7280"/>
          </a:solidFill>
          <a:ln w="12700">
            <a:solidFill>
              <a:srgbClr val="6B7280"/>
            </a:solidFill>
            <a:prstDash val="solid"/>
          </a:ln>
        </p:spPr>
      </p:sp>
      <p:sp>
        <p:nvSpPr>
          <p:cNvPr id="26" name="Shape 23"/>
          <p:cNvSpPr/>
          <p:nvPr/>
        </p:nvSpPr>
        <p:spPr>
          <a:xfrm>
            <a:off x="6787134" y="1188720"/>
            <a:ext cx="1899666" cy="1874520"/>
          </a:xfrm>
          <a:prstGeom prst="roundRect">
            <a:avLst>
              <a:gd name="adj" fmla="val 2927"/>
            </a:avLst>
          </a:prstGeom>
          <a:solidFill>
            <a:srgbClr val="1F3864"/>
          </a:solidFill>
          <a:ln w="9525">
            <a:solidFill>
              <a:srgbClr val="1F3864"/>
            </a:solidFill>
            <a:prstDash val="solid"/>
          </a:ln>
        </p:spPr>
      </p:sp>
      <p:sp>
        <p:nvSpPr>
          <p:cNvPr id="27" name="Shape 24"/>
          <p:cNvSpPr/>
          <p:nvPr/>
        </p:nvSpPr>
        <p:spPr>
          <a:xfrm>
            <a:off x="7535799" y="1298448"/>
            <a:ext cx="402336" cy="402336"/>
          </a:xfrm>
          <a:prstGeom prst="ellipse">
            <a:avLst/>
          </a:prstGeom>
          <a:solidFill>
            <a:srgbClr val="FFFFFF"/>
          </a:solidFill>
          <a:ln w="12700">
            <a:solidFill>
              <a:srgbClr val="FFFFFF"/>
            </a:solidFill>
            <a:prstDash val="solid"/>
          </a:ln>
        </p:spPr>
      </p:sp>
      <p:sp>
        <p:nvSpPr>
          <p:cNvPr id="28" name="Text 25"/>
          <p:cNvSpPr/>
          <p:nvPr/>
        </p:nvSpPr>
        <p:spPr>
          <a:xfrm>
            <a:off x="7535799"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6860286" y="1773936"/>
            <a:ext cx="1753362"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Of the Thessalonians</a:t>
            </a:r>
            <a:endParaRPr lang="en-US" sz="1150" dirty="0"/>
          </a:p>
        </p:txBody>
      </p:sp>
      <p:sp>
        <p:nvSpPr>
          <p:cNvPr id="30" name="Text 27"/>
          <p:cNvSpPr/>
          <p:nvPr/>
        </p:nvSpPr>
        <p:spPr>
          <a:xfrm>
            <a:off x="6860286" y="2157984"/>
            <a:ext cx="1753362" cy="52120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Identified by its people, not a building</a:t>
            </a:r>
            <a:endParaRPr lang="en-US" sz="1150" dirty="0"/>
          </a:p>
        </p:txBody>
      </p:sp>
      <p:sp>
        <p:nvSpPr>
          <p:cNvPr id="31" name="Text 28"/>
          <p:cNvSpPr/>
          <p:nvPr/>
        </p:nvSpPr>
        <p:spPr>
          <a:xfrm>
            <a:off x="6860286" y="2679192"/>
            <a:ext cx="1753362"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ἐκκλησία · 1:1</a:t>
            </a:r>
            <a:endParaRPr lang="en-US" sz="900" dirty="0"/>
          </a:p>
        </p:txBody>
      </p:sp>
      <p:sp>
        <p:nvSpPr>
          <p:cNvPr id="32" name="Shape 29"/>
          <p:cNvSpPr/>
          <p:nvPr/>
        </p:nvSpPr>
        <p:spPr>
          <a:xfrm>
            <a:off x="457200" y="3246120"/>
            <a:ext cx="4023360" cy="566928"/>
          </a:xfrm>
          <a:prstGeom prst="rect">
            <a:avLst/>
          </a:prstGeom>
          <a:solidFill>
            <a:srgbClr val="2E5496"/>
          </a:solidFill>
          <a:ln w="12700">
            <a:solidFill>
              <a:srgbClr val="2E5496"/>
            </a:solidFill>
            <a:prstDash val="solid"/>
          </a:ln>
        </p:spPr>
      </p:sp>
      <p:sp>
        <p:nvSpPr>
          <p:cNvPr id="33" name="Text 30"/>
          <p:cNvSpPr/>
          <p:nvPr/>
        </p:nvSpPr>
        <p:spPr>
          <a:xfrm>
            <a:off x="548640" y="329184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In God our Father</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ἐν · πατήρ</a:t>
            </a:r>
            <a:pPr indent="0" marL="0">
              <a:buNone/>
            </a:pPr>
            <a:r>
              <a:rPr lang="en-US" sz="850" dirty="0">
                <a:solidFill>
                  <a:srgbClr val="DCE4F2"/>
                </a:solidFill>
                <a:latin typeface="Arial" pitchFamily="34" charset="0"/>
                <a:ea typeface="Arial" pitchFamily="34" charset="-122"/>
                <a:cs typeface="Arial" pitchFamily="34" charset="-120"/>
              </a:rPr>
              <a:t>  in · Father</a:t>
            </a:r>
            <a:endParaRPr lang="en-US" sz="1200" dirty="0"/>
          </a:p>
        </p:txBody>
      </p:sp>
      <p:sp>
        <p:nvSpPr>
          <p:cNvPr id="34" name="Shape 31"/>
          <p:cNvSpPr/>
          <p:nvPr/>
        </p:nvSpPr>
        <p:spPr>
          <a:xfrm>
            <a:off x="457200" y="3813048"/>
            <a:ext cx="4023360" cy="804672"/>
          </a:xfrm>
          <a:prstGeom prst="rect">
            <a:avLst/>
          </a:prstGeom>
          <a:solidFill>
            <a:srgbClr val="F2F6FC"/>
          </a:solidFill>
          <a:ln w="9525">
            <a:solidFill>
              <a:srgbClr val="D5DCEA"/>
            </a:solidFill>
            <a:prstDash val="solid"/>
          </a:ln>
        </p:spPr>
      </p:sp>
      <p:sp>
        <p:nvSpPr>
          <p:cNvPr id="35" name="Text 32"/>
          <p:cNvSpPr/>
          <p:nvPr/>
        </p:nvSpPr>
        <p:spPr>
          <a:xfrm>
            <a:off x="548640" y="3886200"/>
            <a:ext cx="3840480" cy="676656"/>
          </a:xfrm>
          <a:prstGeom prst="rect">
            <a:avLst/>
          </a:prstGeom>
          <a:noFill/>
          <a:ln/>
        </p:spPr>
        <p:txBody>
          <a:bodyPr wrap="square" lIns="0" tIns="0" rIns="0" bIns="0" rtlCol="0" anchor="t"/>
          <a:lstStyle/>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Security, love, strength</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“our Father” — not just “the Father”</a:t>
            </a:r>
            <a:endParaRPr lang="en-US" sz="1200" dirty="0"/>
          </a:p>
        </p:txBody>
      </p:sp>
      <p:sp>
        <p:nvSpPr>
          <p:cNvPr id="36" name="Shape 33"/>
          <p:cNvSpPr/>
          <p:nvPr/>
        </p:nvSpPr>
        <p:spPr>
          <a:xfrm>
            <a:off x="4663440" y="3246120"/>
            <a:ext cx="4023360" cy="566928"/>
          </a:xfrm>
          <a:prstGeom prst="rect">
            <a:avLst/>
          </a:prstGeom>
          <a:solidFill>
            <a:srgbClr val="375623"/>
          </a:solidFill>
          <a:ln w="12700">
            <a:solidFill>
              <a:srgbClr val="375623"/>
            </a:solidFill>
            <a:prstDash val="solid"/>
          </a:ln>
        </p:spPr>
      </p:sp>
      <p:sp>
        <p:nvSpPr>
          <p:cNvPr id="37" name="Text 34"/>
          <p:cNvSpPr/>
          <p:nvPr/>
        </p:nvSpPr>
        <p:spPr>
          <a:xfrm>
            <a:off x="4754880" y="329184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And the Lord Jesus Christ</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κύριος · Ἰησοῦς · Χριστός</a:t>
            </a:r>
            <a:endParaRPr lang="en-US" sz="1200" dirty="0"/>
          </a:p>
        </p:txBody>
      </p:sp>
      <p:sp>
        <p:nvSpPr>
          <p:cNvPr id="38" name="Shape 35"/>
          <p:cNvSpPr/>
          <p:nvPr/>
        </p:nvSpPr>
        <p:spPr>
          <a:xfrm>
            <a:off x="4663440" y="3813048"/>
            <a:ext cx="4023360" cy="804672"/>
          </a:xfrm>
          <a:prstGeom prst="rect">
            <a:avLst/>
          </a:prstGeom>
          <a:solidFill>
            <a:srgbClr val="F2F6FC"/>
          </a:solidFill>
          <a:ln w="9525">
            <a:solidFill>
              <a:srgbClr val="D5DCEA"/>
            </a:solidFill>
            <a:prstDash val="solid"/>
          </a:ln>
        </p:spPr>
      </p:sp>
      <p:sp>
        <p:nvSpPr>
          <p:cNvPr id="39" name="Text 36"/>
          <p:cNvSpPr/>
          <p:nvPr/>
        </p:nvSpPr>
        <p:spPr>
          <a:xfrm>
            <a:off x="4754880" y="3886200"/>
            <a:ext cx="3840480" cy="676656"/>
          </a:xfrm>
          <a:prstGeom prst="rect">
            <a:avLst/>
          </a:prstGeom>
          <a:noFill/>
          <a:ln/>
        </p:spPr>
        <p:txBody>
          <a:bodyPr wrap="square" lIns="0" tIns="0" rIns="0" bIns="0" rtlCol="0" anchor="t"/>
          <a:lstStyle/>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Lord — deity · Jesus — deliverer</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Christ — Messiah, the Anointed One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Grace and peace — from one source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1:2 · C.2.d–e — The greeting and its source</a:t>
            </a:r>
            <a:endParaRPr lang="en-US" sz="1200" dirty="0"/>
          </a:p>
        </p:txBody>
      </p:sp>
      <p:sp>
        <p:nvSpPr>
          <p:cNvPr id="5" name="Shape 2"/>
          <p:cNvSpPr/>
          <p:nvPr/>
        </p:nvSpPr>
        <p:spPr>
          <a:xfrm>
            <a:off x="457200" y="1188720"/>
            <a:ext cx="2499360" cy="566928"/>
          </a:xfrm>
          <a:prstGeom prst="rect">
            <a:avLst/>
          </a:prstGeom>
          <a:solidFill>
            <a:srgbClr val="2E5496"/>
          </a:solidFill>
          <a:ln w="12700">
            <a:solidFill>
              <a:srgbClr val="2E5496"/>
            </a:solidFill>
            <a:prstDash val="solid"/>
          </a:ln>
        </p:spPr>
      </p:sp>
      <p:sp>
        <p:nvSpPr>
          <p:cNvPr id="6" name="Text 3"/>
          <p:cNvSpPr/>
          <p:nvPr/>
        </p:nvSpPr>
        <p:spPr>
          <a:xfrm>
            <a:off x="54864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Grace</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χάρις</a:t>
            </a:r>
            <a:pPr indent="0" marL="0">
              <a:buNone/>
            </a:pPr>
            <a:r>
              <a:rPr lang="en-US" sz="850" dirty="0">
                <a:solidFill>
                  <a:srgbClr val="DCE4F2"/>
                </a:solidFill>
                <a:latin typeface="Arial" pitchFamily="34" charset="0"/>
                <a:ea typeface="Arial" pitchFamily="34" charset="-122"/>
                <a:cs typeface="Arial" pitchFamily="34" charset="-120"/>
              </a:rPr>
              <a:t>  charis · G5485</a:t>
            </a:r>
            <a:endParaRPr lang="en-US" sz="1200" dirty="0"/>
          </a:p>
        </p:txBody>
      </p:sp>
      <p:sp>
        <p:nvSpPr>
          <p:cNvPr id="7" name="Shape 4"/>
          <p:cNvSpPr/>
          <p:nvPr/>
        </p:nvSpPr>
        <p:spPr>
          <a:xfrm>
            <a:off x="457200" y="1755648"/>
            <a:ext cx="2499360" cy="1947672"/>
          </a:xfrm>
          <a:prstGeom prst="rect">
            <a:avLst/>
          </a:prstGeom>
          <a:solidFill>
            <a:srgbClr val="F2F6FC"/>
          </a:solidFill>
          <a:ln w="9525">
            <a:solidFill>
              <a:srgbClr val="D5DCEA"/>
            </a:solidFill>
            <a:prstDash val="solid"/>
          </a:ln>
        </p:spPr>
      </p:sp>
      <p:sp>
        <p:nvSpPr>
          <p:cNvPr id="8" name="Text 5"/>
          <p:cNvSpPr/>
          <p:nvPr/>
        </p:nvSpPr>
        <p:spPr>
          <a:xfrm>
            <a:off x="548640" y="1828800"/>
            <a:ext cx="2316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Not just unmerited favor —</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favor in spite of demerit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We deserve judgment; He gives grace</a:t>
            </a:r>
            <a:endParaRPr lang="en-US" sz="1250" dirty="0"/>
          </a:p>
        </p:txBody>
      </p:sp>
      <p:sp>
        <p:nvSpPr>
          <p:cNvPr id="9" name="Shape 6"/>
          <p:cNvSpPr/>
          <p:nvPr/>
        </p:nvSpPr>
        <p:spPr>
          <a:xfrm>
            <a:off x="3020568" y="2327148"/>
            <a:ext cx="237744" cy="237744"/>
          </a:xfrm>
          <a:prstGeom prst="rightArrow">
            <a:avLst/>
          </a:prstGeom>
          <a:solidFill>
            <a:srgbClr val="6B7280"/>
          </a:solidFill>
          <a:ln w="12700">
            <a:solidFill>
              <a:srgbClr val="6B7280"/>
            </a:solidFill>
            <a:prstDash val="solid"/>
          </a:ln>
        </p:spPr>
      </p:sp>
      <p:sp>
        <p:nvSpPr>
          <p:cNvPr id="10" name="Shape 7"/>
          <p:cNvSpPr/>
          <p:nvPr/>
        </p:nvSpPr>
        <p:spPr>
          <a:xfrm>
            <a:off x="3322320" y="1188720"/>
            <a:ext cx="2499360" cy="566928"/>
          </a:xfrm>
          <a:prstGeom prst="rect">
            <a:avLst/>
          </a:prstGeom>
          <a:solidFill>
            <a:srgbClr val="2E5496"/>
          </a:solidFill>
          <a:ln w="12700">
            <a:solidFill>
              <a:srgbClr val="2E5496"/>
            </a:solidFill>
            <a:prstDash val="solid"/>
          </a:ln>
        </p:spPr>
      </p:sp>
      <p:sp>
        <p:nvSpPr>
          <p:cNvPr id="11" name="Text 8"/>
          <p:cNvSpPr/>
          <p:nvPr/>
        </p:nvSpPr>
        <p:spPr>
          <a:xfrm>
            <a:off x="341376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Peace</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εἰρήνη</a:t>
            </a:r>
            <a:pPr indent="0" marL="0">
              <a:buNone/>
            </a:pPr>
            <a:r>
              <a:rPr lang="en-US" sz="850" dirty="0">
                <a:solidFill>
                  <a:srgbClr val="DCE4F2"/>
                </a:solidFill>
                <a:latin typeface="Arial" pitchFamily="34" charset="0"/>
                <a:ea typeface="Arial" pitchFamily="34" charset="-122"/>
                <a:cs typeface="Arial" pitchFamily="34" charset="-120"/>
              </a:rPr>
              <a:t>  eirēnē · G1515</a:t>
            </a:r>
            <a:endParaRPr lang="en-US" sz="1200" dirty="0"/>
          </a:p>
        </p:txBody>
      </p:sp>
      <p:sp>
        <p:nvSpPr>
          <p:cNvPr id="12" name="Shape 9"/>
          <p:cNvSpPr/>
          <p:nvPr/>
        </p:nvSpPr>
        <p:spPr>
          <a:xfrm>
            <a:off x="3322320" y="1755648"/>
            <a:ext cx="2499360" cy="1947672"/>
          </a:xfrm>
          <a:prstGeom prst="rect">
            <a:avLst/>
          </a:prstGeom>
          <a:solidFill>
            <a:srgbClr val="F2F6FC"/>
          </a:solidFill>
          <a:ln w="9525">
            <a:solidFill>
              <a:srgbClr val="D5DCEA"/>
            </a:solidFill>
            <a:prstDash val="solid"/>
          </a:ln>
        </p:spPr>
      </p:sp>
      <p:sp>
        <p:nvSpPr>
          <p:cNvPr id="13" name="Text 10"/>
          <p:cNvSpPr/>
          <p:nvPr/>
        </p:nvSpPr>
        <p:spPr>
          <a:xfrm>
            <a:off x="3413760" y="1828800"/>
            <a:ext cx="2316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Shalom: wholeness, welfare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Peace with God — settled at faith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peace of God — for daily trouble</a:t>
            </a:r>
            <a:endParaRPr lang="en-US" sz="1250" dirty="0"/>
          </a:p>
        </p:txBody>
      </p:sp>
      <p:sp>
        <p:nvSpPr>
          <p:cNvPr id="14" name="Shape 11"/>
          <p:cNvSpPr/>
          <p:nvPr/>
        </p:nvSpPr>
        <p:spPr>
          <a:xfrm>
            <a:off x="5885688" y="2327148"/>
            <a:ext cx="237744" cy="237744"/>
          </a:xfrm>
          <a:prstGeom prst="rightArrow">
            <a:avLst/>
          </a:prstGeom>
          <a:solidFill>
            <a:srgbClr val="6B7280"/>
          </a:solidFill>
          <a:ln w="12700">
            <a:solidFill>
              <a:srgbClr val="6B7280"/>
            </a:solidFill>
            <a:prstDash val="solid"/>
          </a:ln>
        </p:spPr>
      </p:sp>
      <p:sp>
        <p:nvSpPr>
          <p:cNvPr id="15" name="Shape 12"/>
          <p:cNvSpPr/>
          <p:nvPr/>
        </p:nvSpPr>
        <p:spPr>
          <a:xfrm>
            <a:off x="6187440" y="1188720"/>
            <a:ext cx="2499360" cy="566928"/>
          </a:xfrm>
          <a:prstGeom prst="rect">
            <a:avLst/>
          </a:prstGeom>
          <a:solidFill>
            <a:srgbClr val="375623"/>
          </a:solidFill>
          <a:ln w="12700">
            <a:solidFill>
              <a:srgbClr val="375623"/>
            </a:solidFill>
            <a:prstDash val="solid"/>
          </a:ln>
        </p:spPr>
      </p:sp>
      <p:sp>
        <p:nvSpPr>
          <p:cNvPr id="16" name="Text 13"/>
          <p:cNvSpPr/>
          <p:nvPr/>
        </p:nvSpPr>
        <p:spPr>
          <a:xfrm>
            <a:off x="627888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From</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ἀπό</a:t>
            </a:r>
            <a:pPr indent="0" marL="0">
              <a:buNone/>
            </a:pPr>
            <a:r>
              <a:rPr lang="en-US" sz="850" dirty="0">
                <a:solidFill>
                  <a:srgbClr val="DCE4F2"/>
                </a:solidFill>
                <a:latin typeface="Arial" pitchFamily="34" charset="0"/>
                <a:ea typeface="Arial" pitchFamily="34" charset="-122"/>
                <a:cs typeface="Arial" pitchFamily="34" charset="-120"/>
              </a:rPr>
              <a:t>  apo · G575</a:t>
            </a:r>
            <a:endParaRPr lang="en-US" sz="1200" dirty="0"/>
          </a:p>
        </p:txBody>
      </p:sp>
      <p:sp>
        <p:nvSpPr>
          <p:cNvPr id="17" name="Shape 14"/>
          <p:cNvSpPr/>
          <p:nvPr/>
        </p:nvSpPr>
        <p:spPr>
          <a:xfrm>
            <a:off x="6187440" y="1755648"/>
            <a:ext cx="2499360" cy="1947672"/>
          </a:xfrm>
          <a:prstGeom prst="rect">
            <a:avLst/>
          </a:prstGeom>
          <a:solidFill>
            <a:srgbClr val="F2F6FC"/>
          </a:solidFill>
          <a:ln w="9525">
            <a:solidFill>
              <a:srgbClr val="D5DCEA"/>
            </a:solidFill>
            <a:prstDash val="solid"/>
          </a:ln>
        </p:spPr>
      </p:sp>
      <p:sp>
        <p:nvSpPr>
          <p:cNvPr id="18" name="Text 15"/>
          <p:cNvSpPr/>
          <p:nvPr/>
        </p:nvSpPr>
        <p:spPr>
          <a:xfrm>
            <a:off x="6278880" y="1828800"/>
            <a:ext cx="2316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One preposition governs both persons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Father and Son — one source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witness to Christ’s deity</a:t>
            </a:r>
            <a:endParaRPr lang="en-US" sz="1250" dirty="0"/>
          </a:p>
        </p:txBody>
      </p:sp>
      <p:sp>
        <p:nvSpPr>
          <p:cNvPr id="19" name="Shape 16"/>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20" name="Text 17"/>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Grace and peace frame the whole letter (1:2; 3:16, 18) — the persecution of chapter 1, the prophecy of chapter 2, and the correction of chapter 3.</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1:1–2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Paul writes simply “Paul,” not “Paul the apostle.” Why does that matter here, and how does it compare with Galatians and Corinthians?</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How does the teacher define grace, and what does peace mean? Why does grace come before peace?</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Live at Your True Address</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Write “in God our Father and the Lord Jesus Christ” on a card and keep it where you’ll see it each morning.</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Receive Favor in Spite of Demerit</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Each day this week, thank God by name for one specific grace you did not deserve.</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Before any correction, Paul reminds a suffering church who it is — in God our Father and the Lord Jesus Christ, under grace and peace.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Study 2 of 7 · 2 Thessalonians 1:3–12</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Paul’s Admiration for the Thessalonians</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A faith growing under testing, a love that reaches each one, endurance worth boasting about — and to such a church God gives an undisputed promise and Paul an undefeated prayer.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Praise, promise, prayer</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1:3–12 · Outline I–III</a:t>
            </a:r>
            <a:endParaRPr lang="en-US" sz="1200" dirty="0"/>
          </a:p>
        </p:txBody>
      </p:sp>
      <p:sp>
        <p:nvSpPr>
          <p:cNvPr id="5" name="Shape 2"/>
          <p:cNvSpPr/>
          <p:nvPr/>
        </p:nvSpPr>
        <p:spPr>
          <a:xfrm>
            <a:off x="457200" y="1188720"/>
            <a:ext cx="2499360" cy="365760"/>
          </a:xfrm>
          <a:prstGeom prst="rect">
            <a:avLst/>
          </a:prstGeom>
          <a:solidFill>
            <a:srgbClr val="2E5496"/>
          </a:solidFill>
          <a:ln w="12700">
            <a:solidFill>
              <a:srgbClr val="2E5496"/>
            </a:solidFill>
            <a:prstDash val="solid"/>
          </a:ln>
        </p:spPr>
      </p:sp>
      <p:sp>
        <p:nvSpPr>
          <p:cNvPr id="6" name="Text 3"/>
          <p:cNvSpPr/>
          <p:nvPr/>
        </p:nvSpPr>
        <p:spPr>
          <a:xfrm>
            <a:off x="54864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 · Undiluted praise · 3–4</a:t>
            </a:r>
            <a:endParaRPr lang="en-US" sz="1200" dirty="0"/>
          </a:p>
        </p:txBody>
      </p:sp>
      <p:sp>
        <p:nvSpPr>
          <p:cNvPr id="7" name="Shape 4"/>
          <p:cNvSpPr/>
          <p:nvPr/>
        </p:nvSpPr>
        <p:spPr>
          <a:xfrm>
            <a:off x="457200" y="1554480"/>
            <a:ext cx="2499360" cy="2148840"/>
          </a:xfrm>
          <a:prstGeom prst="rect">
            <a:avLst/>
          </a:prstGeom>
          <a:solidFill>
            <a:srgbClr val="F2F6FC"/>
          </a:solidFill>
          <a:ln w="9525">
            <a:solidFill>
              <a:srgbClr val="D5DCEA"/>
            </a:solidFill>
            <a:prstDash val="solid"/>
          </a:ln>
        </p:spPr>
      </p:sp>
      <p:sp>
        <p:nvSpPr>
          <p:cNvPr id="8" name="Text 5"/>
          <p:cNvSpPr/>
          <p:nvPr/>
        </p:nvSpPr>
        <p:spPr>
          <a:xfrm>
            <a:off x="548640" y="1627632"/>
            <a:ext cx="2316480" cy="202082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Bound to give thanks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For growth — faith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For grace — love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For glory — boasting</a:t>
            </a:r>
            <a:endParaRPr lang="en-US" sz="1250" dirty="0"/>
          </a:p>
        </p:txBody>
      </p:sp>
      <p:sp>
        <p:nvSpPr>
          <p:cNvPr id="9" name="Shape 6"/>
          <p:cNvSpPr/>
          <p:nvPr/>
        </p:nvSpPr>
        <p:spPr>
          <a:xfrm>
            <a:off x="3020568" y="2327148"/>
            <a:ext cx="237744" cy="237744"/>
          </a:xfrm>
          <a:prstGeom prst="rightArrow">
            <a:avLst/>
          </a:prstGeom>
          <a:solidFill>
            <a:srgbClr val="6B7280"/>
          </a:solidFill>
          <a:ln w="12700">
            <a:solidFill>
              <a:srgbClr val="6B7280"/>
            </a:solidFill>
            <a:prstDash val="solid"/>
          </a:ln>
        </p:spPr>
      </p:sp>
      <p:sp>
        <p:nvSpPr>
          <p:cNvPr id="10" name="Shape 7"/>
          <p:cNvSpPr/>
          <p:nvPr/>
        </p:nvSpPr>
        <p:spPr>
          <a:xfrm>
            <a:off x="3322320" y="1188720"/>
            <a:ext cx="2499360" cy="365760"/>
          </a:xfrm>
          <a:prstGeom prst="rect">
            <a:avLst/>
          </a:prstGeom>
          <a:solidFill>
            <a:srgbClr val="2E5496"/>
          </a:solidFill>
          <a:ln w="12700">
            <a:solidFill>
              <a:srgbClr val="2E5496"/>
            </a:solidFill>
            <a:prstDash val="solid"/>
          </a:ln>
        </p:spPr>
      </p:sp>
      <p:sp>
        <p:nvSpPr>
          <p:cNvPr id="11" name="Text 8"/>
          <p:cNvSpPr/>
          <p:nvPr/>
        </p:nvSpPr>
        <p:spPr>
          <a:xfrm>
            <a:off x="341376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II · Undisputed promise · 5–10</a:t>
            </a:r>
            <a:endParaRPr lang="en-US" sz="1200" dirty="0"/>
          </a:p>
        </p:txBody>
      </p:sp>
      <p:sp>
        <p:nvSpPr>
          <p:cNvPr id="12" name="Shape 9"/>
          <p:cNvSpPr/>
          <p:nvPr/>
        </p:nvSpPr>
        <p:spPr>
          <a:xfrm>
            <a:off x="3322320" y="1554480"/>
            <a:ext cx="2499360" cy="2148840"/>
          </a:xfrm>
          <a:prstGeom prst="rect">
            <a:avLst/>
          </a:prstGeom>
          <a:solidFill>
            <a:srgbClr val="F2F6FC"/>
          </a:solidFill>
          <a:ln w="9525">
            <a:solidFill>
              <a:srgbClr val="D5DCEA"/>
            </a:solidFill>
            <a:prstDash val="solid"/>
          </a:ln>
        </p:spPr>
      </p:sp>
      <p:sp>
        <p:nvSpPr>
          <p:cNvPr id="13" name="Text 10"/>
          <p:cNvSpPr/>
          <p:nvPr/>
        </p:nvSpPr>
        <p:spPr>
          <a:xfrm>
            <a:off x="3413760" y="1627632"/>
            <a:ext cx="2316480" cy="202082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proof: judgment of saints and sinners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present: rest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prospect: revelation, revenge, reward</a:t>
            </a:r>
            <a:endParaRPr lang="en-US" sz="1250" dirty="0"/>
          </a:p>
        </p:txBody>
      </p:sp>
      <p:sp>
        <p:nvSpPr>
          <p:cNvPr id="14" name="Shape 11"/>
          <p:cNvSpPr/>
          <p:nvPr/>
        </p:nvSpPr>
        <p:spPr>
          <a:xfrm>
            <a:off x="5885688" y="2327148"/>
            <a:ext cx="237744" cy="237744"/>
          </a:xfrm>
          <a:prstGeom prst="rightArrow">
            <a:avLst/>
          </a:prstGeom>
          <a:solidFill>
            <a:srgbClr val="6B7280"/>
          </a:solidFill>
          <a:ln w="12700">
            <a:solidFill>
              <a:srgbClr val="6B7280"/>
            </a:solidFill>
            <a:prstDash val="solid"/>
          </a:ln>
        </p:spPr>
      </p:sp>
      <p:sp>
        <p:nvSpPr>
          <p:cNvPr id="15" name="Shape 12"/>
          <p:cNvSpPr/>
          <p:nvPr/>
        </p:nvSpPr>
        <p:spPr>
          <a:xfrm>
            <a:off x="6187440" y="1188720"/>
            <a:ext cx="2499360" cy="365760"/>
          </a:xfrm>
          <a:prstGeom prst="rect">
            <a:avLst/>
          </a:prstGeom>
          <a:solidFill>
            <a:srgbClr val="375623"/>
          </a:solidFill>
          <a:ln w="12700">
            <a:solidFill>
              <a:srgbClr val="375623"/>
            </a:solidFill>
            <a:prstDash val="solid"/>
          </a:ln>
        </p:spPr>
      </p:sp>
      <p:sp>
        <p:nvSpPr>
          <p:cNvPr id="16" name="Text 13"/>
          <p:cNvSpPr/>
          <p:nvPr/>
        </p:nvSpPr>
        <p:spPr>
          <a:xfrm>
            <a:off x="627888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III · Undefeated prayer · 11–12</a:t>
            </a:r>
            <a:endParaRPr lang="en-US" sz="1200" dirty="0"/>
          </a:p>
        </p:txBody>
      </p:sp>
      <p:sp>
        <p:nvSpPr>
          <p:cNvPr id="17" name="Shape 14"/>
          <p:cNvSpPr/>
          <p:nvPr/>
        </p:nvSpPr>
        <p:spPr>
          <a:xfrm>
            <a:off x="6187440" y="1554480"/>
            <a:ext cx="2499360" cy="2148840"/>
          </a:xfrm>
          <a:prstGeom prst="rect">
            <a:avLst/>
          </a:prstGeom>
          <a:solidFill>
            <a:srgbClr val="F2F6FC"/>
          </a:solidFill>
          <a:ln w="9525">
            <a:solidFill>
              <a:srgbClr val="D5DCEA"/>
            </a:solidFill>
            <a:prstDash val="solid"/>
          </a:ln>
        </p:spPr>
      </p:sp>
      <p:sp>
        <p:nvSpPr>
          <p:cNvPr id="18" name="Text 15"/>
          <p:cNvSpPr/>
          <p:nvPr/>
        </p:nvSpPr>
        <p:spPr>
          <a:xfrm>
            <a:off x="6278880" y="1627632"/>
            <a:ext cx="2316480" cy="202082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Always, to our God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Counted worthy of the calling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His name glorified in you</a:t>
            </a:r>
            <a:endParaRPr lang="en-US" sz="1250" dirty="0"/>
          </a:p>
        </p:txBody>
      </p:sp>
      <p:sp>
        <p:nvSpPr>
          <p:cNvPr id="19" name="Shape 16"/>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20" name="Text 17"/>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What is the promise? God is in control. Every situation you find yourself in, God is in control.</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Why Paul was bound to give thanks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1:3–4 · I.A–B — A word of undiluted praise</a:t>
            </a:r>
            <a:endParaRPr lang="en-US" sz="1200" dirty="0"/>
          </a:p>
        </p:txBody>
      </p:sp>
      <p:sp>
        <p:nvSpPr>
          <p:cNvPr id="5" name="Shape 2"/>
          <p:cNvSpPr/>
          <p:nvPr/>
        </p:nvSpPr>
        <p:spPr>
          <a:xfrm>
            <a:off x="457200" y="1188720"/>
            <a:ext cx="2621280" cy="566928"/>
          </a:xfrm>
          <a:prstGeom prst="rect">
            <a:avLst/>
          </a:prstGeom>
          <a:solidFill>
            <a:srgbClr val="2E5496"/>
          </a:solidFill>
          <a:ln w="12700">
            <a:solidFill>
              <a:srgbClr val="2E5496"/>
            </a:solidFill>
            <a:prstDash val="solid"/>
          </a:ln>
        </p:spPr>
      </p:sp>
      <p:sp>
        <p:nvSpPr>
          <p:cNvPr id="6" name="Text 3"/>
          <p:cNvSpPr/>
          <p:nvPr/>
        </p:nvSpPr>
        <p:spPr>
          <a:xfrm>
            <a:off x="54864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For growth · 3b</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ὑπεραυξάνω</a:t>
            </a:r>
            <a:pPr indent="0" marL="0">
              <a:buNone/>
            </a:pPr>
            <a:r>
              <a:rPr lang="en-US" sz="850" dirty="0">
                <a:solidFill>
                  <a:srgbClr val="DCE4F2"/>
                </a:solidFill>
                <a:latin typeface="Arial" pitchFamily="34" charset="0"/>
                <a:ea typeface="Arial" pitchFamily="34" charset="-122"/>
                <a:cs typeface="Arial" pitchFamily="34" charset="-120"/>
              </a:rPr>
              <a:t>  grows exceedingly</a:t>
            </a:r>
            <a:endParaRPr lang="en-US" sz="1200" dirty="0"/>
          </a:p>
        </p:txBody>
      </p:sp>
      <p:sp>
        <p:nvSpPr>
          <p:cNvPr id="7" name="Shape 4"/>
          <p:cNvSpPr/>
          <p:nvPr/>
        </p:nvSpPr>
        <p:spPr>
          <a:xfrm>
            <a:off x="457200" y="1755648"/>
            <a:ext cx="2621280" cy="1947672"/>
          </a:xfrm>
          <a:prstGeom prst="rect">
            <a:avLst/>
          </a:prstGeom>
          <a:solidFill>
            <a:srgbClr val="F2F6FC"/>
          </a:solidFill>
          <a:ln w="9525">
            <a:solidFill>
              <a:srgbClr val="D5DCEA"/>
            </a:solidFill>
            <a:prstDash val="solid"/>
          </a:ln>
        </p:spPr>
      </p:sp>
      <p:sp>
        <p:nvSpPr>
          <p:cNvPr id="8" name="Text 5"/>
          <p:cNvSpPr/>
          <p:nvPr/>
        </p:nvSpPr>
        <p:spPr>
          <a:xfrm>
            <a:off x="54864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Tested exceedingly → growing exceedingly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Like muscles at the gym</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Like the oak in the wind</a:t>
            </a:r>
            <a:endParaRPr lang="en-US" sz="1250" dirty="0"/>
          </a:p>
        </p:txBody>
      </p:sp>
      <p:sp>
        <p:nvSpPr>
          <p:cNvPr id="9" name="Shape 6"/>
          <p:cNvSpPr/>
          <p:nvPr/>
        </p:nvSpPr>
        <p:spPr>
          <a:xfrm>
            <a:off x="3261360" y="1188720"/>
            <a:ext cx="2621280" cy="566928"/>
          </a:xfrm>
          <a:prstGeom prst="rect">
            <a:avLst/>
          </a:prstGeom>
          <a:solidFill>
            <a:srgbClr val="2E5496"/>
          </a:solidFill>
          <a:ln w="12700">
            <a:solidFill>
              <a:srgbClr val="2E5496"/>
            </a:solidFill>
            <a:prstDash val="solid"/>
          </a:ln>
        </p:spPr>
      </p:sp>
      <p:sp>
        <p:nvSpPr>
          <p:cNvPr id="10" name="Text 7"/>
          <p:cNvSpPr/>
          <p:nvPr/>
        </p:nvSpPr>
        <p:spPr>
          <a:xfrm>
            <a:off x="335280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For grace · 3c</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ἕκαστος</a:t>
            </a:r>
            <a:pPr indent="0" marL="0">
              <a:buNone/>
            </a:pPr>
            <a:r>
              <a:rPr lang="en-US" sz="850" dirty="0">
                <a:solidFill>
                  <a:srgbClr val="DCE4F2"/>
                </a:solidFill>
                <a:latin typeface="Arial" pitchFamily="34" charset="0"/>
                <a:ea typeface="Arial" pitchFamily="34" charset="-122"/>
                <a:cs typeface="Arial" pitchFamily="34" charset="-120"/>
              </a:rPr>
              <a:t>  each one · G1538</a:t>
            </a:r>
            <a:endParaRPr lang="en-US" sz="1200" dirty="0"/>
          </a:p>
        </p:txBody>
      </p:sp>
      <p:sp>
        <p:nvSpPr>
          <p:cNvPr id="11" name="Shape 8"/>
          <p:cNvSpPr/>
          <p:nvPr/>
        </p:nvSpPr>
        <p:spPr>
          <a:xfrm>
            <a:off x="3261360" y="1755648"/>
            <a:ext cx="2621280" cy="1947672"/>
          </a:xfrm>
          <a:prstGeom prst="rect">
            <a:avLst/>
          </a:prstGeom>
          <a:solidFill>
            <a:srgbClr val="F2F6FC"/>
          </a:solidFill>
          <a:ln w="9525">
            <a:solidFill>
              <a:srgbClr val="D5DCEA"/>
            </a:solidFill>
            <a:prstDash val="solid"/>
          </a:ln>
        </p:spPr>
      </p:sp>
      <p:sp>
        <p:nvSpPr>
          <p:cNvPr id="12" name="Text 9"/>
          <p:cNvSpPr/>
          <p:nvPr/>
        </p:nvSpPr>
        <p:spPr>
          <a:xfrm>
            <a:off x="335280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Love “of each one of you all”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nickel for each — not for everybody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Leave no one out</a:t>
            </a:r>
            <a:endParaRPr lang="en-US" sz="1250" dirty="0"/>
          </a:p>
        </p:txBody>
      </p:sp>
      <p:sp>
        <p:nvSpPr>
          <p:cNvPr id="13" name="Shape 10"/>
          <p:cNvSpPr/>
          <p:nvPr/>
        </p:nvSpPr>
        <p:spPr>
          <a:xfrm>
            <a:off x="6065520" y="1188720"/>
            <a:ext cx="2621280" cy="566928"/>
          </a:xfrm>
          <a:prstGeom prst="rect">
            <a:avLst/>
          </a:prstGeom>
          <a:solidFill>
            <a:srgbClr val="375623"/>
          </a:solidFill>
          <a:ln w="12700">
            <a:solidFill>
              <a:srgbClr val="375623"/>
            </a:solidFill>
            <a:prstDash val="solid"/>
          </a:ln>
        </p:spPr>
      </p:sp>
      <p:sp>
        <p:nvSpPr>
          <p:cNvPr id="14" name="Text 11"/>
          <p:cNvSpPr/>
          <p:nvPr/>
        </p:nvSpPr>
        <p:spPr>
          <a:xfrm>
            <a:off x="615696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For glory · 4</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καυχάομαι</a:t>
            </a:r>
            <a:pPr indent="0" marL="0">
              <a:buNone/>
            </a:pPr>
            <a:r>
              <a:rPr lang="en-US" sz="850" dirty="0">
                <a:solidFill>
                  <a:srgbClr val="DCE4F2"/>
                </a:solidFill>
                <a:latin typeface="Arial" pitchFamily="34" charset="0"/>
                <a:ea typeface="Arial" pitchFamily="34" charset="-122"/>
                <a:cs typeface="Arial" pitchFamily="34" charset="-120"/>
              </a:rPr>
              <a:t>  boast · G2744</a:t>
            </a:r>
            <a:endParaRPr lang="en-US" sz="1200" dirty="0"/>
          </a:p>
        </p:txBody>
      </p:sp>
      <p:sp>
        <p:nvSpPr>
          <p:cNvPr id="15" name="Shape 12"/>
          <p:cNvSpPr/>
          <p:nvPr/>
        </p:nvSpPr>
        <p:spPr>
          <a:xfrm>
            <a:off x="6065520" y="1755648"/>
            <a:ext cx="2621280" cy="1947672"/>
          </a:xfrm>
          <a:prstGeom prst="rect">
            <a:avLst/>
          </a:prstGeom>
          <a:solidFill>
            <a:srgbClr val="F2F6FC"/>
          </a:solidFill>
          <a:ln w="9525">
            <a:solidFill>
              <a:srgbClr val="D5DCEA"/>
            </a:solidFill>
            <a:prstDash val="solid"/>
          </a:ln>
        </p:spPr>
      </p:sp>
      <p:sp>
        <p:nvSpPr>
          <p:cNvPr id="16" name="Text 13"/>
          <p:cNvSpPr/>
          <p:nvPr/>
        </p:nvSpPr>
        <p:spPr>
          <a:xfrm>
            <a:off x="615696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Paul boasted of them at Corinth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Their patience and faith in persecution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Are we spreading the word?</a:t>
            </a:r>
            <a:endParaRPr lang="en-US" sz="1250" dirty="0"/>
          </a:p>
        </p:txBody>
      </p:sp>
      <p:sp>
        <p:nvSpPr>
          <p:cNvPr id="17" name="Shape 14"/>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18" name="Text 15"/>
          <p:cNvSpPr/>
          <p:nvPr/>
        </p:nvSpPr>
        <p:spPr>
          <a:xfrm>
            <a:off x="621792" y="3886200"/>
            <a:ext cx="7900416" cy="731520"/>
          </a:xfrm>
          <a:prstGeom prst="rect">
            <a:avLst/>
          </a:prstGeom>
          <a:noFill/>
          <a:ln/>
        </p:spPr>
        <p:txBody>
          <a:bodyPr wrap="square" lIns="0" tIns="0" rIns="0" bIns="0" rtlCol="0" anchor="ctr"/>
          <a:lstStyle/>
          <a:p>
            <a:pPr indent="0" marL="0">
              <a:buNone/>
            </a:pPr>
            <a:r>
              <a:rPr lang="en-US" sz="1400" b="1" dirty="0">
                <a:solidFill>
                  <a:srgbClr val="E4D6F7"/>
                </a:solidFill>
                <a:latin typeface="Arial" pitchFamily="34" charset="0"/>
                <a:ea typeface="Arial" pitchFamily="34" charset="-122"/>
                <a:cs typeface="Arial" pitchFamily="34" charset="-120"/>
              </a:rPr>
              <a:t>ὀφείλω  </a:t>
            </a:r>
            <a:pPr indent="0" marL="0">
              <a:buNone/>
            </a:pPr>
            <a:r>
              <a:rPr lang="en-US" sz="1200" dirty="0">
                <a:solidFill>
                  <a:srgbClr val="FFFFFF"/>
                </a:solidFill>
                <a:latin typeface="Arial" pitchFamily="34" charset="0"/>
                <a:ea typeface="Arial" pitchFamily="34" charset="-122"/>
                <a:cs typeface="Arial" pitchFamily="34" charset="-120"/>
              </a:rPr>
              <a:t>“we are bound” — a debt Paul owed God every time he thought of this church (again in 2:13)</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Entering the kingdom — and ruling in it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1:5–6 · II.A — The proof of the promise</a:t>
            </a:r>
            <a:endParaRPr lang="en-US" sz="1200" dirty="0"/>
          </a:p>
        </p:txBody>
      </p:sp>
      <p:sp>
        <p:nvSpPr>
          <p:cNvPr id="5" name="Shape 2"/>
          <p:cNvSpPr/>
          <p:nvPr/>
        </p:nvSpPr>
        <p:spPr>
          <a:xfrm>
            <a:off x="457200" y="1188720"/>
            <a:ext cx="3931920" cy="566928"/>
          </a:xfrm>
          <a:prstGeom prst="rect">
            <a:avLst/>
          </a:prstGeom>
          <a:solidFill>
            <a:srgbClr val="2E5496"/>
          </a:solidFill>
          <a:ln w="12700">
            <a:solidFill>
              <a:srgbClr val="2E5496"/>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Judgment of saints · v.5</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καταξιόω</a:t>
            </a:r>
            <a:pPr indent="0" marL="0">
              <a:buNone/>
            </a:pPr>
            <a:r>
              <a:rPr lang="en-US" sz="850" dirty="0">
                <a:solidFill>
                  <a:srgbClr val="DCE4F2"/>
                </a:solidFill>
                <a:latin typeface="Arial" pitchFamily="34" charset="0"/>
                <a:ea typeface="Arial" pitchFamily="34" charset="-122"/>
                <a:cs typeface="Arial" pitchFamily="34" charset="-120"/>
              </a:rPr>
              <a:t>  counted worthy · G2661</a:t>
            </a:r>
            <a:endParaRPr lang="en-US" sz="1200" dirty="0"/>
          </a:p>
        </p:txBody>
      </p:sp>
      <p:sp>
        <p:nvSpPr>
          <p:cNvPr id="7" name="Shape 4"/>
          <p:cNvSpPr/>
          <p:nvPr/>
        </p:nvSpPr>
        <p:spPr>
          <a:xfrm>
            <a:off x="457200" y="1755648"/>
            <a:ext cx="3931920" cy="1947672"/>
          </a:xfrm>
          <a:prstGeom prst="rect">
            <a:avLst/>
          </a:prstGeom>
          <a:solidFill>
            <a:srgbClr val="F2F6FC"/>
          </a:solidFill>
          <a:ln w="9525">
            <a:solidFill>
              <a:srgbClr val="D5DCEA"/>
            </a:solidFill>
            <a:prstDash val="solid"/>
          </a:ln>
        </p:spPr>
      </p:sp>
      <p:sp>
        <p:nvSpPr>
          <p:cNvPr id="8" name="Text 5"/>
          <p:cNvSpPr/>
          <p:nvPr/>
        </p:nvSpPr>
        <p:spPr>
          <a:xfrm>
            <a:off x="548640" y="1828800"/>
            <a:ext cx="374904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Every believer enters the kingdom (John 5:24)</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Faithful sufferers are counted worthy to rule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At the Judgment Seat of Christ — not for sin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believer gets the reward; God the glory</a:t>
            </a:r>
            <a:endParaRPr lang="en-US" sz="1250" dirty="0"/>
          </a:p>
        </p:txBody>
      </p:sp>
      <p:sp>
        <p:nvSpPr>
          <p:cNvPr id="9" name="Shape 6"/>
          <p:cNvSpPr/>
          <p:nvPr/>
        </p:nvSpPr>
        <p:spPr>
          <a:xfrm>
            <a:off x="4754880" y="1188720"/>
            <a:ext cx="3931920" cy="566928"/>
          </a:xfrm>
          <a:prstGeom prst="rect">
            <a:avLst/>
          </a:prstGeom>
          <a:solidFill>
            <a:srgbClr val="6B7280"/>
          </a:solidFill>
          <a:ln w="12700">
            <a:solidFill>
              <a:srgbClr val="6B7280"/>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Judgment of sinners · v.6</a:t>
            </a:r>
            <a:endParaRPr lang="en-US" sz="1200" dirty="0"/>
          </a:p>
        </p:txBody>
      </p:sp>
      <p:sp>
        <p:nvSpPr>
          <p:cNvPr id="11" name="Shape 8"/>
          <p:cNvSpPr/>
          <p:nvPr/>
        </p:nvSpPr>
        <p:spPr>
          <a:xfrm>
            <a:off x="4754880" y="1755648"/>
            <a:ext cx="3931920" cy="194767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God repays with tribulation those who trouble you</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They are amateurs; God is the professional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Meanwhile, give them the Word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Saul heard Stephen — and the Lord got him</a:t>
            </a:r>
            <a:endParaRPr lang="en-US" sz="1250" dirty="0"/>
          </a:p>
        </p:txBody>
      </p:sp>
      <p:sp>
        <p:nvSpPr>
          <p:cNvPr id="13" name="Text 10"/>
          <p:cNvSpPr/>
          <p:nvPr/>
        </p:nvSpPr>
        <p:spPr>
          <a:xfrm>
            <a:off x="4389120" y="226314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15" name="Text 12"/>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“If we endure, we shall also reign with Him” (2 Tim 2:12). Entrance is by faith alone; reigning is a reward for faithful endurance.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Rest now — revelation, revenge, reward to come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1:7–10 · II.B–C — The present and the prospect</a:t>
            </a:r>
            <a:endParaRPr lang="en-US" sz="1200" dirty="0"/>
          </a:p>
        </p:txBody>
      </p:sp>
      <p:sp>
        <p:nvSpPr>
          <p:cNvPr id="5" name="Shape 2"/>
          <p:cNvSpPr/>
          <p:nvPr/>
        </p:nvSpPr>
        <p:spPr>
          <a:xfrm>
            <a:off x="457200" y="1115568"/>
            <a:ext cx="777240" cy="566928"/>
          </a:xfrm>
          <a:prstGeom prst="rect">
            <a:avLst/>
          </a:prstGeom>
          <a:solidFill>
            <a:srgbClr val="2E5496"/>
          </a:solidFill>
          <a:ln w="12700">
            <a:solidFill>
              <a:srgbClr val="2E5496"/>
            </a:solidFill>
            <a:prstDash val="solid"/>
          </a:ln>
        </p:spPr>
      </p:sp>
      <p:sp>
        <p:nvSpPr>
          <p:cNvPr id="6" name="Text 3"/>
          <p:cNvSpPr/>
          <p:nvPr/>
        </p:nvSpPr>
        <p:spPr>
          <a:xfrm>
            <a:off x="457200" y="111556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v.7a</a:t>
            </a:r>
            <a:endParaRPr lang="en-US" sz="1100" dirty="0"/>
          </a:p>
        </p:txBody>
      </p:sp>
      <p:sp>
        <p:nvSpPr>
          <p:cNvPr id="7" name="Shape 4"/>
          <p:cNvSpPr/>
          <p:nvPr/>
        </p:nvSpPr>
        <p:spPr>
          <a:xfrm>
            <a:off x="1234440" y="1115568"/>
            <a:ext cx="7452360" cy="566928"/>
          </a:xfrm>
          <a:prstGeom prst="rect">
            <a:avLst/>
          </a:prstGeom>
          <a:solidFill>
            <a:srgbClr val="F2F6FC"/>
          </a:solidFill>
          <a:ln w="9525">
            <a:solidFill>
              <a:srgbClr val="D5DCEA"/>
            </a:solidFill>
            <a:prstDash val="solid"/>
          </a:ln>
        </p:spPr>
      </p:sp>
      <p:sp>
        <p:nvSpPr>
          <p:cNvPr id="8" name="Text 5"/>
          <p:cNvSpPr/>
          <p:nvPr/>
        </p:nvSpPr>
        <p:spPr>
          <a:xfrm>
            <a:off x="1344168" y="111556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Rest with us — relief: resting in Jesus for the outcome</a:t>
            </a:r>
            <a:endParaRPr lang="en-US" sz="1150" dirty="0"/>
          </a:p>
        </p:txBody>
      </p:sp>
      <p:sp>
        <p:nvSpPr>
          <p:cNvPr id="9" name="Text 6"/>
          <p:cNvSpPr/>
          <p:nvPr/>
        </p:nvSpPr>
        <p:spPr>
          <a:xfrm>
            <a:off x="5806440" y="111556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ἄνεσις</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relaxation, relief</a:t>
            </a:r>
            <a:endParaRPr lang="en-US" sz="1300" dirty="0"/>
          </a:p>
        </p:txBody>
      </p:sp>
      <p:sp>
        <p:nvSpPr>
          <p:cNvPr id="10" name="Shape 7"/>
          <p:cNvSpPr/>
          <p:nvPr/>
        </p:nvSpPr>
        <p:spPr>
          <a:xfrm>
            <a:off x="457200" y="1755648"/>
            <a:ext cx="777240" cy="566928"/>
          </a:xfrm>
          <a:prstGeom prst="rect">
            <a:avLst/>
          </a:prstGeom>
          <a:solidFill>
            <a:srgbClr val="2E5496"/>
          </a:solidFill>
          <a:ln w="12700">
            <a:solidFill>
              <a:srgbClr val="2E5496"/>
            </a:solidFill>
            <a:prstDash val="solid"/>
          </a:ln>
        </p:spPr>
      </p:sp>
      <p:sp>
        <p:nvSpPr>
          <p:cNvPr id="11" name="Text 8"/>
          <p:cNvSpPr/>
          <p:nvPr/>
        </p:nvSpPr>
        <p:spPr>
          <a:xfrm>
            <a:off x="457200" y="175564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v.7b</a:t>
            </a:r>
            <a:endParaRPr lang="en-US" sz="1100" dirty="0"/>
          </a:p>
        </p:txBody>
      </p:sp>
      <p:sp>
        <p:nvSpPr>
          <p:cNvPr id="12" name="Shape 9"/>
          <p:cNvSpPr/>
          <p:nvPr/>
        </p:nvSpPr>
        <p:spPr>
          <a:xfrm>
            <a:off x="1234440" y="1755648"/>
            <a:ext cx="7452360" cy="566928"/>
          </a:xfrm>
          <a:prstGeom prst="rect">
            <a:avLst/>
          </a:prstGeom>
          <a:solidFill>
            <a:srgbClr val="FFFFFF"/>
          </a:solidFill>
          <a:ln w="9525">
            <a:solidFill>
              <a:srgbClr val="D5DCEA"/>
            </a:solidFill>
            <a:prstDash val="solid"/>
          </a:ln>
        </p:spPr>
      </p:sp>
      <p:sp>
        <p:nvSpPr>
          <p:cNvPr id="13" name="Text 10"/>
          <p:cNvSpPr/>
          <p:nvPr/>
        </p:nvSpPr>
        <p:spPr>
          <a:xfrm>
            <a:off x="1344168" y="175564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Revealed from heaven with His mighty angels — the Second Coming</a:t>
            </a:r>
            <a:endParaRPr lang="en-US" sz="1150" dirty="0"/>
          </a:p>
        </p:txBody>
      </p:sp>
      <p:sp>
        <p:nvSpPr>
          <p:cNvPr id="14" name="Text 11"/>
          <p:cNvSpPr/>
          <p:nvPr/>
        </p:nvSpPr>
        <p:spPr>
          <a:xfrm>
            <a:off x="5806440" y="175564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ἀποκάλυψις</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a public unveiling</a:t>
            </a:r>
            <a:endParaRPr lang="en-US" sz="1300" dirty="0"/>
          </a:p>
        </p:txBody>
      </p:sp>
      <p:sp>
        <p:nvSpPr>
          <p:cNvPr id="15" name="Shape 12"/>
          <p:cNvSpPr/>
          <p:nvPr/>
        </p:nvSpPr>
        <p:spPr>
          <a:xfrm>
            <a:off x="457200" y="2395728"/>
            <a:ext cx="777240" cy="566928"/>
          </a:xfrm>
          <a:prstGeom prst="rect">
            <a:avLst/>
          </a:prstGeom>
          <a:solidFill>
            <a:srgbClr val="2E5496"/>
          </a:solidFill>
          <a:ln w="12700">
            <a:solidFill>
              <a:srgbClr val="2E5496"/>
            </a:solidFill>
            <a:prstDash val="solid"/>
          </a:ln>
        </p:spPr>
      </p:sp>
      <p:sp>
        <p:nvSpPr>
          <p:cNvPr id="16" name="Text 13"/>
          <p:cNvSpPr/>
          <p:nvPr/>
        </p:nvSpPr>
        <p:spPr>
          <a:xfrm>
            <a:off x="457200" y="239572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v.8</a:t>
            </a:r>
            <a:endParaRPr lang="en-US" sz="1100" dirty="0"/>
          </a:p>
        </p:txBody>
      </p:sp>
      <p:sp>
        <p:nvSpPr>
          <p:cNvPr id="17" name="Shape 14"/>
          <p:cNvSpPr/>
          <p:nvPr/>
        </p:nvSpPr>
        <p:spPr>
          <a:xfrm>
            <a:off x="1234440" y="2395728"/>
            <a:ext cx="7452360" cy="566928"/>
          </a:xfrm>
          <a:prstGeom prst="rect">
            <a:avLst/>
          </a:prstGeom>
          <a:solidFill>
            <a:srgbClr val="F2F6FC"/>
          </a:solidFill>
          <a:ln w="9525">
            <a:solidFill>
              <a:srgbClr val="D5DCEA"/>
            </a:solidFill>
            <a:prstDash val="solid"/>
          </a:ln>
        </p:spPr>
      </p:sp>
      <p:sp>
        <p:nvSpPr>
          <p:cNvPr id="18" name="Text 15"/>
          <p:cNvSpPr/>
          <p:nvPr/>
        </p:nvSpPr>
        <p:spPr>
          <a:xfrm>
            <a:off x="1344168" y="239572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Vengeance on those who don’t know God and don’t obey the gospel</a:t>
            </a:r>
            <a:endParaRPr lang="en-US" sz="1150" dirty="0"/>
          </a:p>
        </p:txBody>
      </p:sp>
      <p:sp>
        <p:nvSpPr>
          <p:cNvPr id="19" name="Text 16"/>
          <p:cNvSpPr/>
          <p:nvPr/>
        </p:nvSpPr>
        <p:spPr>
          <a:xfrm>
            <a:off x="5806440" y="239572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two groups, one outcome</a:t>
            </a:r>
            <a:endParaRPr lang="en-US" sz="1300" dirty="0"/>
          </a:p>
        </p:txBody>
      </p:sp>
      <p:sp>
        <p:nvSpPr>
          <p:cNvPr id="20" name="Shape 17"/>
          <p:cNvSpPr/>
          <p:nvPr/>
        </p:nvSpPr>
        <p:spPr>
          <a:xfrm>
            <a:off x="457200" y="3035808"/>
            <a:ext cx="777240" cy="566928"/>
          </a:xfrm>
          <a:prstGeom prst="rect">
            <a:avLst/>
          </a:prstGeom>
          <a:solidFill>
            <a:srgbClr val="2E5496"/>
          </a:solidFill>
          <a:ln w="12700">
            <a:solidFill>
              <a:srgbClr val="2E5496"/>
            </a:solidFill>
            <a:prstDash val="solid"/>
          </a:ln>
        </p:spPr>
      </p:sp>
      <p:sp>
        <p:nvSpPr>
          <p:cNvPr id="21" name="Text 18"/>
          <p:cNvSpPr/>
          <p:nvPr/>
        </p:nvSpPr>
        <p:spPr>
          <a:xfrm>
            <a:off x="457200" y="303580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v.9</a:t>
            </a:r>
            <a:endParaRPr lang="en-US" sz="1100" dirty="0"/>
          </a:p>
        </p:txBody>
      </p:sp>
      <p:sp>
        <p:nvSpPr>
          <p:cNvPr id="22" name="Shape 19"/>
          <p:cNvSpPr/>
          <p:nvPr/>
        </p:nvSpPr>
        <p:spPr>
          <a:xfrm>
            <a:off x="1234440" y="3035808"/>
            <a:ext cx="7452360" cy="566928"/>
          </a:xfrm>
          <a:prstGeom prst="rect">
            <a:avLst/>
          </a:prstGeom>
          <a:solidFill>
            <a:srgbClr val="FFFFFF"/>
          </a:solidFill>
          <a:ln w="9525">
            <a:solidFill>
              <a:srgbClr val="D5DCEA"/>
            </a:solidFill>
            <a:prstDash val="solid"/>
          </a:ln>
        </p:spPr>
      </p:sp>
      <p:sp>
        <p:nvSpPr>
          <p:cNvPr id="23" name="Text 20"/>
          <p:cNvSpPr/>
          <p:nvPr/>
        </p:nvSpPr>
        <p:spPr>
          <a:xfrm>
            <a:off x="1344168" y="303580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Everlasting destruction from the presence of the Lord</a:t>
            </a:r>
            <a:endParaRPr lang="en-US" sz="1150" dirty="0"/>
          </a:p>
        </p:txBody>
      </p:sp>
      <p:sp>
        <p:nvSpPr>
          <p:cNvPr id="24" name="Text 21"/>
          <p:cNvSpPr/>
          <p:nvPr/>
        </p:nvSpPr>
        <p:spPr>
          <a:xfrm>
            <a:off x="5806440" y="303580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ὄλεθρος · αἰώνιος</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as long as everlasting life</a:t>
            </a:r>
            <a:endParaRPr lang="en-US" sz="1300" dirty="0"/>
          </a:p>
        </p:txBody>
      </p:sp>
      <p:sp>
        <p:nvSpPr>
          <p:cNvPr id="25" name="Shape 22"/>
          <p:cNvSpPr/>
          <p:nvPr/>
        </p:nvSpPr>
        <p:spPr>
          <a:xfrm>
            <a:off x="457200" y="3675888"/>
            <a:ext cx="777240" cy="566928"/>
          </a:xfrm>
          <a:prstGeom prst="rect">
            <a:avLst/>
          </a:prstGeom>
          <a:solidFill>
            <a:srgbClr val="375623"/>
          </a:solidFill>
          <a:ln w="12700">
            <a:solidFill>
              <a:srgbClr val="375623"/>
            </a:solidFill>
            <a:prstDash val="solid"/>
          </a:ln>
        </p:spPr>
      </p:sp>
      <p:sp>
        <p:nvSpPr>
          <p:cNvPr id="26" name="Text 23"/>
          <p:cNvSpPr/>
          <p:nvPr/>
        </p:nvSpPr>
        <p:spPr>
          <a:xfrm>
            <a:off x="457200" y="367588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v.10</a:t>
            </a:r>
            <a:endParaRPr lang="en-US" sz="1100" dirty="0"/>
          </a:p>
        </p:txBody>
      </p:sp>
      <p:sp>
        <p:nvSpPr>
          <p:cNvPr id="27" name="Shape 24"/>
          <p:cNvSpPr/>
          <p:nvPr/>
        </p:nvSpPr>
        <p:spPr>
          <a:xfrm>
            <a:off x="1234440" y="3675888"/>
            <a:ext cx="7452360" cy="566928"/>
          </a:xfrm>
          <a:prstGeom prst="rect">
            <a:avLst/>
          </a:prstGeom>
          <a:solidFill>
            <a:srgbClr val="F2F6FC"/>
          </a:solidFill>
          <a:ln w="9525">
            <a:solidFill>
              <a:srgbClr val="D5DCEA"/>
            </a:solidFill>
            <a:prstDash val="solid"/>
          </a:ln>
        </p:spPr>
      </p:sp>
      <p:sp>
        <p:nvSpPr>
          <p:cNvPr id="28" name="Text 25"/>
          <p:cNvSpPr/>
          <p:nvPr/>
        </p:nvSpPr>
        <p:spPr>
          <a:xfrm>
            <a:off x="1344168" y="367588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Glorified in His saints, admired among all who believe</a:t>
            </a:r>
            <a:endParaRPr lang="en-US" sz="1150" dirty="0"/>
          </a:p>
        </p:txBody>
      </p:sp>
      <p:sp>
        <p:nvSpPr>
          <p:cNvPr id="29" name="Text 26"/>
          <p:cNvSpPr/>
          <p:nvPr/>
        </p:nvSpPr>
        <p:spPr>
          <a:xfrm>
            <a:off x="5806440" y="367588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ἐνδοξάζομαι</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in His saints — “in, not by”</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Coming for His saints — or with them?</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1:7–10 · Study Note — Rapture or Second Coming?</a:t>
            </a:r>
            <a:endParaRPr lang="en-US" sz="1200" dirty="0"/>
          </a:p>
        </p:txBody>
      </p:sp>
      <p:sp>
        <p:nvSpPr>
          <p:cNvPr id="5" name="Shape 2"/>
          <p:cNvSpPr/>
          <p:nvPr/>
        </p:nvSpPr>
        <p:spPr>
          <a:xfrm>
            <a:off x="457200" y="1188720"/>
            <a:ext cx="3931920" cy="365760"/>
          </a:xfrm>
          <a:prstGeom prst="rect">
            <a:avLst/>
          </a:prstGeom>
          <a:solidFill>
            <a:srgbClr val="2E5496"/>
          </a:solidFill>
          <a:ln w="12700">
            <a:solidFill>
              <a:srgbClr val="2E5496"/>
            </a:solidFill>
            <a:prstDash val="solid"/>
          </a:ln>
        </p:spPr>
      </p:sp>
      <p:sp>
        <p:nvSpPr>
          <p:cNvPr id="6" name="Text 3"/>
          <p:cNvSpPr/>
          <p:nvPr/>
        </p:nvSpPr>
        <p:spPr>
          <a:xfrm>
            <a:off x="54864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Rapture</a:t>
            </a:r>
            <a:endParaRPr lang="en-US" sz="1200" dirty="0"/>
          </a:p>
        </p:txBody>
      </p:sp>
      <p:sp>
        <p:nvSpPr>
          <p:cNvPr id="7" name="Shape 4"/>
          <p:cNvSpPr/>
          <p:nvPr/>
        </p:nvSpPr>
        <p:spPr>
          <a:xfrm>
            <a:off x="457200" y="1554480"/>
            <a:ext cx="3931920" cy="1874520"/>
          </a:xfrm>
          <a:prstGeom prst="rect">
            <a:avLst/>
          </a:prstGeom>
          <a:solidFill>
            <a:srgbClr val="F2F6FC"/>
          </a:solidFill>
          <a:ln w="9525">
            <a:solidFill>
              <a:srgbClr val="D5DCEA"/>
            </a:solidFill>
            <a:prstDash val="solid"/>
          </a:ln>
        </p:spPr>
      </p:sp>
      <p:sp>
        <p:nvSpPr>
          <p:cNvPr id="8" name="Text 5"/>
          <p:cNvSpPr/>
          <p:nvPr/>
        </p:nvSpPr>
        <p:spPr>
          <a:xfrm>
            <a:off x="548640" y="1627632"/>
            <a:ext cx="3749040" cy="174650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He comes for His saints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Meets them in the air (1 Thess 4:16–17)</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 judgment on the world mentioned</a:t>
            </a:r>
            <a:endParaRPr lang="en-US" sz="1250" dirty="0"/>
          </a:p>
        </p:txBody>
      </p:sp>
      <p:sp>
        <p:nvSpPr>
          <p:cNvPr id="9" name="Shape 6"/>
          <p:cNvSpPr/>
          <p:nvPr/>
        </p:nvSpPr>
        <p:spPr>
          <a:xfrm>
            <a:off x="4754880" y="1188720"/>
            <a:ext cx="3931920" cy="365760"/>
          </a:xfrm>
          <a:prstGeom prst="rect">
            <a:avLst/>
          </a:prstGeom>
          <a:solidFill>
            <a:srgbClr val="375623"/>
          </a:solidFill>
          <a:ln w="12700">
            <a:solidFill>
              <a:srgbClr val="375623"/>
            </a:solidFill>
            <a:prstDash val="solid"/>
          </a:ln>
        </p:spPr>
      </p:sp>
      <p:sp>
        <p:nvSpPr>
          <p:cNvPr id="10" name="Text 7"/>
          <p:cNvSpPr/>
          <p:nvPr/>
        </p:nvSpPr>
        <p:spPr>
          <a:xfrm>
            <a:off x="484632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Second Coming · 1:7–10</a:t>
            </a:r>
            <a:endParaRPr lang="en-US" sz="1200" dirty="0"/>
          </a:p>
        </p:txBody>
      </p:sp>
      <p:sp>
        <p:nvSpPr>
          <p:cNvPr id="11" name="Shape 8"/>
          <p:cNvSpPr/>
          <p:nvPr/>
        </p:nvSpPr>
        <p:spPr>
          <a:xfrm>
            <a:off x="4754880" y="1554480"/>
            <a:ext cx="3931920" cy="1874520"/>
          </a:xfrm>
          <a:prstGeom prst="rect">
            <a:avLst/>
          </a:prstGeom>
          <a:solidFill>
            <a:srgbClr val="F2F6FC"/>
          </a:solidFill>
          <a:ln w="9525">
            <a:solidFill>
              <a:srgbClr val="D5DCEA"/>
            </a:solidFill>
            <a:prstDash val="solid"/>
          </a:ln>
        </p:spPr>
      </p:sp>
      <p:sp>
        <p:nvSpPr>
          <p:cNvPr id="12" name="Text 9"/>
          <p:cNvSpPr/>
          <p:nvPr/>
        </p:nvSpPr>
        <p:spPr>
          <a:xfrm>
            <a:off x="4846320" y="1627632"/>
            <a:ext cx="3749040" cy="174650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He comes with His saints and mighty angels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To the earth, in flaming fire, in judgment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At the end of the Tribulation</a:t>
            </a:r>
            <a:endParaRPr lang="en-US" sz="1250" dirty="0"/>
          </a:p>
        </p:txBody>
      </p:sp>
      <p:sp>
        <p:nvSpPr>
          <p:cNvPr id="13" name="Text 10"/>
          <p:cNvSpPr/>
          <p:nvPr/>
        </p:nvSpPr>
        <p:spPr>
          <a:xfrm>
            <a:off x="4389120" y="212598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657600"/>
            <a:ext cx="8229600" cy="914400"/>
          </a:xfrm>
          <a:prstGeom prst="roundRect">
            <a:avLst>
              <a:gd name="adj" fmla="val 6000"/>
            </a:avLst>
          </a:prstGeom>
          <a:solidFill>
            <a:srgbClr val="1F3864"/>
          </a:solidFill>
          <a:ln w="12700">
            <a:solidFill>
              <a:srgbClr val="1F3864"/>
            </a:solidFill>
            <a:prstDash val="solid"/>
          </a:ln>
        </p:spPr>
      </p:sp>
      <p:sp>
        <p:nvSpPr>
          <p:cNvPr id="15" name="Text 12"/>
          <p:cNvSpPr/>
          <p:nvPr/>
        </p:nvSpPr>
        <p:spPr>
          <a:xfrm>
            <a:off x="621792" y="3657600"/>
            <a:ext cx="7900416" cy="91440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Believers on the earth will look at the church returning with Him and see Christ in us. We can’t make His name more glorious — but we can make His glory more well known.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A word of undefeated prayer</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1:11–12 · III.A–B — When and what Paul prayed</a:t>
            </a:r>
            <a:endParaRPr lang="en-US" sz="1200" dirty="0"/>
          </a:p>
        </p:txBody>
      </p:sp>
      <p:sp>
        <p:nvSpPr>
          <p:cNvPr id="5" name="Shape 2"/>
          <p:cNvSpPr/>
          <p:nvPr/>
        </p:nvSpPr>
        <p:spPr>
          <a:xfrm>
            <a:off x="457200" y="1188720"/>
            <a:ext cx="1899666" cy="2011680"/>
          </a:xfrm>
          <a:prstGeom prst="roundRect">
            <a:avLst>
              <a:gd name="adj" fmla="val 2888"/>
            </a:avLst>
          </a:prstGeom>
          <a:solidFill>
            <a:srgbClr val="F2F6FC"/>
          </a:solidFill>
          <a:ln w="9525">
            <a:solidFill>
              <a:srgbClr val="D5DCEA"/>
            </a:solidFill>
            <a:prstDash val="solid"/>
          </a:ln>
        </p:spPr>
      </p:sp>
      <p:sp>
        <p:nvSpPr>
          <p:cNvPr id="6" name="Shape 3"/>
          <p:cNvSpPr/>
          <p:nvPr/>
        </p:nvSpPr>
        <p:spPr>
          <a:xfrm>
            <a:off x="1205865"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205865"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Always</a:t>
            </a:r>
            <a:endParaRPr lang="en-US" sz="1150" dirty="0"/>
          </a:p>
        </p:txBody>
      </p:sp>
      <p:sp>
        <p:nvSpPr>
          <p:cNvPr id="9" name="Text 6"/>
          <p:cNvSpPr/>
          <p:nvPr/>
        </p:nvSpPr>
        <p:spPr>
          <a:xfrm>
            <a:off x="530352" y="2157984"/>
            <a:ext cx="1753362"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To our God — theirs and ours</a:t>
            </a:r>
            <a:endParaRPr lang="en-US" sz="1150" dirty="0"/>
          </a:p>
        </p:txBody>
      </p:sp>
      <p:sp>
        <p:nvSpPr>
          <p:cNvPr id="10" name="Text 7"/>
          <p:cNvSpPr/>
          <p:nvPr/>
        </p:nvSpPr>
        <p:spPr>
          <a:xfrm>
            <a:off x="530352" y="281635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v.11a</a:t>
            </a:r>
            <a:endParaRPr lang="en-US" sz="900" dirty="0"/>
          </a:p>
        </p:txBody>
      </p:sp>
      <p:sp>
        <p:nvSpPr>
          <p:cNvPr id="11" name="Shape 8"/>
          <p:cNvSpPr/>
          <p:nvPr/>
        </p:nvSpPr>
        <p:spPr>
          <a:xfrm>
            <a:off x="2361438" y="2075688"/>
            <a:ext cx="201168" cy="237744"/>
          </a:xfrm>
          <a:prstGeom prst="rightArrow">
            <a:avLst/>
          </a:prstGeom>
          <a:solidFill>
            <a:srgbClr val="6B7280"/>
          </a:solidFill>
          <a:ln w="12700">
            <a:solidFill>
              <a:srgbClr val="6B7280"/>
            </a:solidFill>
            <a:prstDash val="solid"/>
          </a:ln>
        </p:spPr>
      </p:sp>
      <p:sp>
        <p:nvSpPr>
          <p:cNvPr id="12" name="Shape 9"/>
          <p:cNvSpPr/>
          <p:nvPr/>
        </p:nvSpPr>
        <p:spPr>
          <a:xfrm>
            <a:off x="2567178" y="1188720"/>
            <a:ext cx="1899666" cy="2011680"/>
          </a:xfrm>
          <a:prstGeom prst="roundRect">
            <a:avLst>
              <a:gd name="adj" fmla="val 2888"/>
            </a:avLst>
          </a:prstGeom>
          <a:solidFill>
            <a:srgbClr val="F2F6FC"/>
          </a:solidFill>
          <a:ln w="9525">
            <a:solidFill>
              <a:srgbClr val="D5DCEA"/>
            </a:solidFill>
            <a:prstDash val="solid"/>
          </a:ln>
        </p:spPr>
      </p:sp>
      <p:sp>
        <p:nvSpPr>
          <p:cNvPr id="13" name="Shape 10"/>
          <p:cNvSpPr/>
          <p:nvPr/>
        </p:nvSpPr>
        <p:spPr>
          <a:xfrm>
            <a:off x="3315843"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3315843"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640330"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Counted worthy</a:t>
            </a:r>
            <a:endParaRPr lang="en-US" sz="1150" dirty="0"/>
          </a:p>
        </p:txBody>
      </p:sp>
      <p:sp>
        <p:nvSpPr>
          <p:cNvPr id="16" name="Text 13"/>
          <p:cNvSpPr/>
          <p:nvPr/>
        </p:nvSpPr>
        <p:spPr>
          <a:xfrm>
            <a:off x="2640330" y="2157984"/>
            <a:ext cx="1753362"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Of the high calling, in the Spirit’s power</a:t>
            </a:r>
            <a:endParaRPr lang="en-US" sz="1150" dirty="0"/>
          </a:p>
        </p:txBody>
      </p:sp>
      <p:sp>
        <p:nvSpPr>
          <p:cNvPr id="17" name="Text 14"/>
          <p:cNvSpPr/>
          <p:nvPr/>
        </p:nvSpPr>
        <p:spPr>
          <a:xfrm>
            <a:off x="2640330" y="281635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ἀξιόω · v.11b</a:t>
            </a:r>
            <a:endParaRPr lang="en-US" sz="900" dirty="0"/>
          </a:p>
        </p:txBody>
      </p:sp>
      <p:sp>
        <p:nvSpPr>
          <p:cNvPr id="18" name="Shape 15"/>
          <p:cNvSpPr/>
          <p:nvPr/>
        </p:nvSpPr>
        <p:spPr>
          <a:xfrm>
            <a:off x="4471416" y="2075688"/>
            <a:ext cx="201168" cy="237744"/>
          </a:xfrm>
          <a:prstGeom prst="rightArrow">
            <a:avLst/>
          </a:prstGeom>
          <a:solidFill>
            <a:srgbClr val="6B7280"/>
          </a:solidFill>
          <a:ln w="12700">
            <a:solidFill>
              <a:srgbClr val="6B7280"/>
            </a:solidFill>
            <a:prstDash val="solid"/>
          </a:ln>
        </p:spPr>
      </p:sp>
      <p:sp>
        <p:nvSpPr>
          <p:cNvPr id="19" name="Shape 16"/>
          <p:cNvSpPr/>
          <p:nvPr/>
        </p:nvSpPr>
        <p:spPr>
          <a:xfrm>
            <a:off x="4677156" y="1188720"/>
            <a:ext cx="1899666" cy="2011680"/>
          </a:xfrm>
          <a:prstGeom prst="roundRect">
            <a:avLst>
              <a:gd name="adj" fmla="val 2888"/>
            </a:avLst>
          </a:prstGeom>
          <a:solidFill>
            <a:srgbClr val="F2F6FC"/>
          </a:solidFill>
          <a:ln w="9525">
            <a:solidFill>
              <a:srgbClr val="D5DCEA"/>
            </a:solidFill>
            <a:prstDash val="solid"/>
          </a:ln>
        </p:spPr>
      </p:sp>
      <p:sp>
        <p:nvSpPr>
          <p:cNvPr id="20" name="Shape 17"/>
          <p:cNvSpPr/>
          <p:nvPr/>
        </p:nvSpPr>
        <p:spPr>
          <a:xfrm>
            <a:off x="5425821"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5425821"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4750308"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His name glorified</a:t>
            </a:r>
            <a:endParaRPr lang="en-US" sz="1150" dirty="0"/>
          </a:p>
        </p:txBody>
      </p:sp>
      <p:sp>
        <p:nvSpPr>
          <p:cNvPr id="23" name="Text 20"/>
          <p:cNvSpPr/>
          <p:nvPr/>
        </p:nvSpPr>
        <p:spPr>
          <a:xfrm>
            <a:off x="4750308" y="2157984"/>
            <a:ext cx="1753362"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In you, and you in Him</a:t>
            </a:r>
            <a:endParaRPr lang="en-US" sz="1150" dirty="0"/>
          </a:p>
        </p:txBody>
      </p:sp>
      <p:sp>
        <p:nvSpPr>
          <p:cNvPr id="24" name="Text 21"/>
          <p:cNvSpPr/>
          <p:nvPr/>
        </p:nvSpPr>
        <p:spPr>
          <a:xfrm>
            <a:off x="4750308" y="281635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v.12</a:t>
            </a:r>
            <a:endParaRPr lang="en-US" sz="900" dirty="0"/>
          </a:p>
        </p:txBody>
      </p:sp>
      <p:sp>
        <p:nvSpPr>
          <p:cNvPr id="25" name="Shape 22"/>
          <p:cNvSpPr/>
          <p:nvPr/>
        </p:nvSpPr>
        <p:spPr>
          <a:xfrm>
            <a:off x="6581394" y="2075688"/>
            <a:ext cx="201168" cy="237744"/>
          </a:xfrm>
          <a:prstGeom prst="rightArrow">
            <a:avLst/>
          </a:prstGeom>
          <a:solidFill>
            <a:srgbClr val="6B7280"/>
          </a:solidFill>
          <a:ln w="12700">
            <a:solidFill>
              <a:srgbClr val="6B7280"/>
            </a:solidFill>
            <a:prstDash val="solid"/>
          </a:ln>
        </p:spPr>
      </p:sp>
      <p:sp>
        <p:nvSpPr>
          <p:cNvPr id="26" name="Shape 23"/>
          <p:cNvSpPr/>
          <p:nvPr/>
        </p:nvSpPr>
        <p:spPr>
          <a:xfrm>
            <a:off x="6787134" y="1188720"/>
            <a:ext cx="1899666" cy="2011680"/>
          </a:xfrm>
          <a:prstGeom prst="roundRect">
            <a:avLst>
              <a:gd name="adj" fmla="val 2888"/>
            </a:avLst>
          </a:prstGeom>
          <a:solidFill>
            <a:srgbClr val="1F3864"/>
          </a:solidFill>
          <a:ln w="9525">
            <a:solidFill>
              <a:srgbClr val="1F3864"/>
            </a:solidFill>
            <a:prstDash val="solid"/>
          </a:ln>
        </p:spPr>
      </p:sp>
      <p:sp>
        <p:nvSpPr>
          <p:cNvPr id="27" name="Shape 24"/>
          <p:cNvSpPr/>
          <p:nvPr/>
        </p:nvSpPr>
        <p:spPr>
          <a:xfrm>
            <a:off x="7535799" y="1298448"/>
            <a:ext cx="402336" cy="402336"/>
          </a:xfrm>
          <a:prstGeom prst="ellipse">
            <a:avLst/>
          </a:prstGeom>
          <a:solidFill>
            <a:srgbClr val="FFFFFF"/>
          </a:solidFill>
          <a:ln w="12700">
            <a:solidFill>
              <a:srgbClr val="FFFFFF"/>
            </a:solidFill>
            <a:prstDash val="solid"/>
          </a:ln>
        </p:spPr>
      </p:sp>
      <p:sp>
        <p:nvSpPr>
          <p:cNvPr id="28" name="Text 25"/>
          <p:cNvSpPr/>
          <p:nvPr/>
        </p:nvSpPr>
        <p:spPr>
          <a:xfrm>
            <a:off x="7535799"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6860286" y="1773936"/>
            <a:ext cx="1753362"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Stand firm</a:t>
            </a:r>
            <a:endParaRPr lang="en-US" sz="1150" dirty="0"/>
          </a:p>
        </p:txBody>
      </p:sp>
      <p:sp>
        <p:nvSpPr>
          <p:cNvPr id="30" name="Text 27"/>
          <p:cNvSpPr/>
          <p:nvPr/>
        </p:nvSpPr>
        <p:spPr>
          <a:xfrm>
            <a:off x="6860286" y="2157984"/>
            <a:ext cx="1753362" cy="65836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Don’t run from affliction</a:t>
            </a:r>
            <a:endParaRPr lang="en-US" sz="1150" dirty="0"/>
          </a:p>
        </p:txBody>
      </p:sp>
      <p:sp>
        <p:nvSpPr>
          <p:cNvPr id="31" name="Text 28"/>
          <p:cNvSpPr/>
          <p:nvPr/>
        </p:nvSpPr>
        <p:spPr>
          <a:xfrm>
            <a:off x="6860286" y="2816352"/>
            <a:ext cx="1753362"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by grace</a:t>
            </a:r>
            <a:endParaRPr lang="en-US" sz="900" dirty="0"/>
          </a:p>
        </p:txBody>
      </p:sp>
      <p:sp>
        <p:nvSpPr>
          <p:cNvPr id="32" name="Shape 29"/>
          <p:cNvSpPr/>
          <p:nvPr/>
        </p:nvSpPr>
        <p:spPr>
          <a:xfrm>
            <a:off x="457200" y="3429000"/>
            <a:ext cx="8229600" cy="914400"/>
          </a:xfrm>
          <a:prstGeom prst="roundRect">
            <a:avLst>
              <a:gd name="adj" fmla="val 6000"/>
            </a:avLst>
          </a:prstGeom>
          <a:solidFill>
            <a:srgbClr val="1F3864"/>
          </a:solidFill>
          <a:ln w="12700">
            <a:solidFill>
              <a:srgbClr val="1F3864"/>
            </a:solidFill>
            <a:prstDash val="solid"/>
          </a:ln>
        </p:spPr>
      </p:sp>
      <p:sp>
        <p:nvSpPr>
          <p:cNvPr id="33" name="Text 30"/>
          <p:cNvSpPr/>
          <p:nvPr/>
        </p:nvSpPr>
        <p:spPr>
          <a:xfrm>
            <a:off x="621792" y="3429000"/>
            <a:ext cx="7900416" cy="91440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“What was true for the church at Thessalonica is certainly the standard for all of us” — a faithful life that honors His name as we look for His coming.</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1:3–12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Why was the Thessalonians’ faith growing “exceedingly,” and what illustrations does the teacher use?</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How does the teacher explain being “counted worthy of the kingdom of God” (1:5)?</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Welcome the Wind</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Name one current trial in prayer each day this week and thank God for the faith He is building through it.</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Rest — God’s Got Your Back</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Memorize 2 Thessalonians 1:7a and pray it whenever pressure comes.</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Tested faith grows, love reaches each one, God will set things right — so rest in Him and let His name be glorified in you.</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Study 3 of 7 · 2 Thessalonians 2:1–5</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Confusion Concerning the Coming</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Shaken by a false spirit, a fabricated prophecy and a forged letter, the Thessalonians feared the Day of the Lord had come. Paul’s correction: the apostasy and the man of sin must come first — and the antidote is to remember.</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Two days distinguished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Introduction · The Rapture and the Day of the Lord</a:t>
            </a:r>
            <a:endParaRPr lang="en-US" sz="1200" dirty="0"/>
          </a:p>
        </p:txBody>
      </p:sp>
      <p:sp>
        <p:nvSpPr>
          <p:cNvPr id="5" name="Shape 2"/>
          <p:cNvSpPr/>
          <p:nvPr/>
        </p:nvSpPr>
        <p:spPr>
          <a:xfrm>
            <a:off x="457200" y="1188720"/>
            <a:ext cx="3931920" cy="566928"/>
          </a:xfrm>
          <a:prstGeom prst="rect">
            <a:avLst/>
          </a:prstGeom>
          <a:solidFill>
            <a:srgbClr val="2E5496"/>
          </a:solidFill>
          <a:ln w="12700">
            <a:solidFill>
              <a:srgbClr val="2E5496"/>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Rapture — “the Day of Christ”</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παρουσία · ἐπισυναγωγή</a:t>
            </a:r>
            <a:pPr indent="0" marL="0">
              <a:buNone/>
            </a:pPr>
            <a:r>
              <a:rPr lang="en-US" sz="850" dirty="0">
                <a:solidFill>
                  <a:srgbClr val="DCE4F2"/>
                </a:solidFill>
                <a:latin typeface="Arial" pitchFamily="34" charset="0"/>
                <a:ea typeface="Arial" pitchFamily="34" charset="-122"/>
                <a:cs typeface="Arial" pitchFamily="34" charset="-120"/>
              </a:rPr>
              <a:t>  coming · gathering together</a:t>
            </a:r>
            <a:endParaRPr lang="en-US" sz="1200" dirty="0"/>
          </a:p>
        </p:txBody>
      </p:sp>
      <p:sp>
        <p:nvSpPr>
          <p:cNvPr id="7" name="Shape 4"/>
          <p:cNvSpPr/>
          <p:nvPr/>
        </p:nvSpPr>
        <p:spPr>
          <a:xfrm>
            <a:off x="457200" y="1755648"/>
            <a:ext cx="3931920" cy="1764792"/>
          </a:xfrm>
          <a:prstGeom prst="rect">
            <a:avLst/>
          </a:prstGeom>
          <a:solidFill>
            <a:srgbClr val="F2F6FC"/>
          </a:solidFill>
          <a:ln w="9525">
            <a:solidFill>
              <a:srgbClr val="D5DCEA"/>
            </a:solidFill>
            <a:prstDash val="solid"/>
          </a:ln>
        </p:spPr>
      </p:sp>
      <p:sp>
        <p:nvSpPr>
          <p:cNvPr id="8" name="Text 5"/>
          <p:cNvSpPr/>
          <p:nvPr/>
        </p:nvSpPr>
        <p:spPr>
          <a:xfrm>
            <a:off x="548640" y="1828800"/>
            <a:ext cx="374904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church taken out — in a moment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dead raised, the living caught up</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1 Thess 4:16–18</a:t>
            </a:r>
            <a:endParaRPr lang="en-US" sz="1250" dirty="0"/>
          </a:p>
        </p:txBody>
      </p:sp>
      <p:sp>
        <p:nvSpPr>
          <p:cNvPr id="9" name="Shape 6"/>
          <p:cNvSpPr/>
          <p:nvPr/>
        </p:nvSpPr>
        <p:spPr>
          <a:xfrm>
            <a:off x="4754880" y="1188720"/>
            <a:ext cx="3931920" cy="566928"/>
          </a:xfrm>
          <a:prstGeom prst="rect">
            <a:avLst/>
          </a:prstGeom>
          <a:solidFill>
            <a:srgbClr val="6B7280"/>
          </a:solidFill>
          <a:ln w="12700">
            <a:solidFill>
              <a:srgbClr val="6B7280"/>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Day of the Lord</a:t>
            </a:r>
            <a:endParaRPr lang="en-US" sz="1200" dirty="0"/>
          </a:p>
        </p:txBody>
      </p:sp>
      <p:sp>
        <p:nvSpPr>
          <p:cNvPr id="11" name="Shape 8"/>
          <p:cNvSpPr/>
          <p:nvPr/>
        </p:nvSpPr>
        <p:spPr>
          <a:xfrm>
            <a:off x="4754880" y="1755648"/>
            <a:ext cx="3931920" cy="176479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Judgment — seven years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Blessing — one thousand years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For the Christ-rejecting world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1 Thess 5:1–3</a:t>
            </a:r>
            <a:endParaRPr lang="en-US" sz="1250" dirty="0"/>
          </a:p>
        </p:txBody>
      </p:sp>
      <p:sp>
        <p:nvSpPr>
          <p:cNvPr id="13" name="Text 10"/>
          <p:cNvSpPr/>
          <p:nvPr/>
        </p:nvSpPr>
        <p:spPr>
          <a:xfrm>
            <a:off x="4389120" y="217170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749040"/>
            <a:ext cx="8229600" cy="822960"/>
          </a:xfrm>
          <a:prstGeom prst="roundRect">
            <a:avLst>
              <a:gd name="adj" fmla="val 6667"/>
            </a:avLst>
          </a:prstGeom>
          <a:solidFill>
            <a:srgbClr val="1F3864"/>
          </a:solidFill>
          <a:ln w="12700">
            <a:solidFill>
              <a:srgbClr val="1F3864"/>
            </a:solidFill>
            <a:prstDash val="solid"/>
          </a:ln>
        </p:spPr>
      </p:sp>
      <p:sp>
        <p:nvSpPr>
          <p:cNvPr id="15" name="Text 12"/>
          <p:cNvSpPr/>
          <p:nvPr/>
        </p:nvSpPr>
        <p:spPr>
          <a:xfrm>
            <a:off x="621792" y="3749040"/>
            <a:ext cx="7900416" cy="8229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The Rapture comes before the Day of the Lord — but it does not start it. The Day of the Lord starts later, when the man of sin is revealed.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channels of deception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2:1–2 · I — The confusion by apostates</a:t>
            </a:r>
            <a:endParaRPr lang="en-US" sz="1200" dirty="0"/>
          </a:p>
        </p:txBody>
      </p:sp>
      <p:sp>
        <p:nvSpPr>
          <p:cNvPr id="5" name="Shape 2"/>
          <p:cNvSpPr/>
          <p:nvPr/>
        </p:nvSpPr>
        <p:spPr>
          <a:xfrm>
            <a:off x="457200" y="1188720"/>
            <a:ext cx="2499360" cy="566928"/>
          </a:xfrm>
          <a:prstGeom prst="rect">
            <a:avLst/>
          </a:prstGeom>
          <a:solidFill>
            <a:srgbClr val="2E5496"/>
          </a:solidFill>
          <a:ln w="12700">
            <a:solidFill>
              <a:srgbClr val="2E5496"/>
            </a:solidFill>
            <a:prstDash val="solid"/>
          </a:ln>
        </p:spPr>
      </p:sp>
      <p:sp>
        <p:nvSpPr>
          <p:cNvPr id="6" name="Text 3"/>
          <p:cNvSpPr/>
          <p:nvPr/>
        </p:nvSpPr>
        <p:spPr>
          <a:xfrm>
            <a:off x="54864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By spirit</a:t>
            </a:r>
            <a:endParaRPr lang="en-US" sz="1200" dirty="0"/>
          </a:p>
        </p:txBody>
      </p:sp>
      <p:sp>
        <p:nvSpPr>
          <p:cNvPr id="7" name="Shape 4"/>
          <p:cNvSpPr/>
          <p:nvPr/>
        </p:nvSpPr>
        <p:spPr>
          <a:xfrm>
            <a:off x="457200" y="1755648"/>
            <a:ext cx="2499360" cy="1444752"/>
          </a:xfrm>
          <a:prstGeom prst="rect">
            <a:avLst/>
          </a:prstGeom>
          <a:solidFill>
            <a:srgbClr val="F2F6FC"/>
          </a:solidFill>
          <a:ln w="9525">
            <a:solidFill>
              <a:srgbClr val="D5DCEA"/>
            </a:solidFill>
            <a:prstDash val="solid"/>
          </a:ln>
        </p:spPr>
      </p:sp>
      <p:sp>
        <p:nvSpPr>
          <p:cNvPr id="8" name="Text 5"/>
          <p:cNvSpPr/>
          <p:nvPr/>
        </p:nvSpPr>
        <p:spPr>
          <a:xfrm>
            <a:off x="548640" y="1828800"/>
            <a:ext cx="2316480" cy="131673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false message in tongues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Test the spirits (1 John 4:1)</a:t>
            </a:r>
            <a:endParaRPr lang="en-US" sz="1250" dirty="0"/>
          </a:p>
        </p:txBody>
      </p:sp>
      <p:sp>
        <p:nvSpPr>
          <p:cNvPr id="9" name="Shape 6"/>
          <p:cNvSpPr/>
          <p:nvPr/>
        </p:nvSpPr>
        <p:spPr>
          <a:xfrm>
            <a:off x="3020568" y="2075688"/>
            <a:ext cx="237744" cy="237744"/>
          </a:xfrm>
          <a:prstGeom prst="rightArrow">
            <a:avLst/>
          </a:prstGeom>
          <a:solidFill>
            <a:srgbClr val="6B7280"/>
          </a:solidFill>
          <a:ln w="12700">
            <a:solidFill>
              <a:srgbClr val="6B7280"/>
            </a:solidFill>
            <a:prstDash val="solid"/>
          </a:ln>
        </p:spPr>
      </p:sp>
      <p:sp>
        <p:nvSpPr>
          <p:cNvPr id="10" name="Shape 7"/>
          <p:cNvSpPr/>
          <p:nvPr/>
        </p:nvSpPr>
        <p:spPr>
          <a:xfrm>
            <a:off x="3322320" y="1188720"/>
            <a:ext cx="2499360" cy="566928"/>
          </a:xfrm>
          <a:prstGeom prst="rect">
            <a:avLst/>
          </a:prstGeom>
          <a:solidFill>
            <a:srgbClr val="2E5496"/>
          </a:solidFill>
          <a:ln w="12700">
            <a:solidFill>
              <a:srgbClr val="2E5496"/>
            </a:solidFill>
            <a:prstDash val="solid"/>
          </a:ln>
        </p:spPr>
      </p:sp>
      <p:sp>
        <p:nvSpPr>
          <p:cNvPr id="11" name="Text 8"/>
          <p:cNvSpPr/>
          <p:nvPr/>
        </p:nvSpPr>
        <p:spPr>
          <a:xfrm>
            <a:off x="341376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By word</a:t>
            </a:r>
            <a:endParaRPr lang="en-US" sz="1200" dirty="0"/>
          </a:p>
        </p:txBody>
      </p:sp>
      <p:sp>
        <p:nvSpPr>
          <p:cNvPr id="12" name="Shape 9"/>
          <p:cNvSpPr/>
          <p:nvPr/>
        </p:nvSpPr>
        <p:spPr>
          <a:xfrm>
            <a:off x="3322320" y="1755648"/>
            <a:ext cx="2499360" cy="1444752"/>
          </a:xfrm>
          <a:prstGeom prst="rect">
            <a:avLst/>
          </a:prstGeom>
          <a:solidFill>
            <a:srgbClr val="F2F6FC"/>
          </a:solidFill>
          <a:ln w="9525">
            <a:solidFill>
              <a:srgbClr val="D5DCEA"/>
            </a:solidFill>
            <a:prstDash val="solid"/>
          </a:ln>
        </p:spPr>
      </p:sp>
      <p:sp>
        <p:nvSpPr>
          <p:cNvPr id="13" name="Text 10"/>
          <p:cNvSpPr/>
          <p:nvPr/>
        </p:nvSpPr>
        <p:spPr>
          <a:xfrm>
            <a:off x="3413760" y="1828800"/>
            <a:ext cx="2316480" cy="131673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fabricated prophecy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Errors can occur in any gift</a:t>
            </a:r>
            <a:endParaRPr lang="en-US" sz="1250" dirty="0"/>
          </a:p>
        </p:txBody>
      </p:sp>
      <p:sp>
        <p:nvSpPr>
          <p:cNvPr id="14" name="Shape 11"/>
          <p:cNvSpPr/>
          <p:nvPr/>
        </p:nvSpPr>
        <p:spPr>
          <a:xfrm>
            <a:off x="5885688" y="2075688"/>
            <a:ext cx="237744" cy="237744"/>
          </a:xfrm>
          <a:prstGeom prst="rightArrow">
            <a:avLst/>
          </a:prstGeom>
          <a:solidFill>
            <a:srgbClr val="6B7280"/>
          </a:solidFill>
          <a:ln w="12700">
            <a:solidFill>
              <a:srgbClr val="6B7280"/>
            </a:solidFill>
            <a:prstDash val="solid"/>
          </a:ln>
        </p:spPr>
      </p:sp>
      <p:sp>
        <p:nvSpPr>
          <p:cNvPr id="15" name="Shape 12"/>
          <p:cNvSpPr/>
          <p:nvPr/>
        </p:nvSpPr>
        <p:spPr>
          <a:xfrm>
            <a:off x="6187440" y="1188720"/>
            <a:ext cx="2499360" cy="566928"/>
          </a:xfrm>
          <a:prstGeom prst="rect">
            <a:avLst/>
          </a:prstGeom>
          <a:solidFill>
            <a:srgbClr val="6B7280"/>
          </a:solidFill>
          <a:ln w="12700">
            <a:solidFill>
              <a:srgbClr val="6B7280"/>
            </a:solidFill>
            <a:prstDash val="solid"/>
          </a:ln>
        </p:spPr>
      </p:sp>
      <p:sp>
        <p:nvSpPr>
          <p:cNvPr id="16" name="Text 13"/>
          <p:cNvSpPr/>
          <p:nvPr/>
        </p:nvSpPr>
        <p:spPr>
          <a:xfrm>
            <a:off x="627888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By letter</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ἐπιστολή</a:t>
            </a:r>
            <a:pPr indent="0" marL="0">
              <a:buNone/>
            </a:pPr>
            <a:r>
              <a:rPr lang="en-US" sz="850" dirty="0">
                <a:solidFill>
                  <a:srgbClr val="DCE4F2"/>
                </a:solidFill>
                <a:latin typeface="Arial" pitchFamily="34" charset="0"/>
                <a:ea typeface="Arial" pitchFamily="34" charset="-122"/>
                <a:cs typeface="Arial" pitchFamily="34" charset="-120"/>
              </a:rPr>
              <a:t>  letter · G1992</a:t>
            </a:r>
            <a:endParaRPr lang="en-US" sz="1200" dirty="0"/>
          </a:p>
        </p:txBody>
      </p:sp>
      <p:sp>
        <p:nvSpPr>
          <p:cNvPr id="17" name="Shape 14"/>
          <p:cNvSpPr/>
          <p:nvPr/>
        </p:nvSpPr>
        <p:spPr>
          <a:xfrm>
            <a:off x="6187440" y="1755648"/>
            <a:ext cx="2499360" cy="1444752"/>
          </a:xfrm>
          <a:prstGeom prst="rect">
            <a:avLst/>
          </a:prstGeom>
          <a:solidFill>
            <a:srgbClr val="F2F6FC"/>
          </a:solidFill>
          <a:ln w="9525">
            <a:solidFill>
              <a:srgbClr val="D5DCEA"/>
            </a:solidFill>
            <a:prstDash val="solid"/>
          </a:ln>
        </p:spPr>
      </p:sp>
      <p:sp>
        <p:nvSpPr>
          <p:cNvPr id="18" name="Text 15"/>
          <p:cNvSpPr/>
          <p:nvPr/>
        </p:nvSpPr>
        <p:spPr>
          <a:xfrm>
            <a:off x="6278880" y="1828800"/>
            <a:ext cx="2316480" cy="131673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Forged — “as if from us”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Paul signs every letter (3:17)</a:t>
            </a:r>
            <a:endParaRPr lang="en-US" sz="1250" dirty="0"/>
          </a:p>
        </p:txBody>
      </p:sp>
      <p:sp>
        <p:nvSpPr>
          <p:cNvPr id="19" name="Shape 16"/>
          <p:cNvSpPr/>
          <p:nvPr/>
        </p:nvSpPr>
        <p:spPr>
          <a:xfrm>
            <a:off x="457200" y="3383280"/>
            <a:ext cx="8229600" cy="594360"/>
          </a:xfrm>
          <a:prstGeom prst="roundRect">
            <a:avLst>
              <a:gd name="adj" fmla="val 9231"/>
            </a:avLst>
          </a:prstGeom>
          <a:solidFill>
            <a:srgbClr val="1F3864"/>
          </a:solidFill>
          <a:ln w="12700">
            <a:solidFill>
              <a:srgbClr val="1F3864"/>
            </a:solidFill>
            <a:prstDash val="solid"/>
          </a:ln>
        </p:spPr>
      </p:sp>
      <p:sp>
        <p:nvSpPr>
          <p:cNvPr id="20" name="Text 17"/>
          <p:cNvSpPr/>
          <p:nvPr/>
        </p:nvSpPr>
        <p:spPr>
          <a:xfrm>
            <a:off x="621792" y="3383280"/>
            <a:ext cx="7900416" cy="594360"/>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The claim · ἐνίστημι:  </a:t>
            </a:r>
            <a:pPr indent="0" marL="0">
              <a:buNone/>
            </a:pPr>
            <a:r>
              <a:rPr lang="en-US" sz="1200" dirty="0">
                <a:solidFill>
                  <a:srgbClr val="FFFFFF"/>
                </a:solidFill>
                <a:latin typeface="Arial" pitchFamily="34" charset="0"/>
                <a:ea typeface="Arial" pitchFamily="34" charset="-122"/>
                <a:cs typeface="Arial" pitchFamily="34" charset="-120"/>
              </a:rPr>
              <a:t>not that the Day was near, but that it was already here — “you missed the Rapture.”</a:t>
            </a:r>
            <a:endParaRPr lang="en-US" sz="1200" dirty="0"/>
          </a:p>
        </p:txBody>
      </p:sp>
      <p:sp>
        <p:nvSpPr>
          <p:cNvPr id="21" name="Shape 18"/>
          <p:cNvSpPr/>
          <p:nvPr/>
        </p:nvSpPr>
        <p:spPr>
          <a:xfrm>
            <a:off x="457200" y="4069080"/>
            <a:ext cx="8229600" cy="548640"/>
          </a:xfrm>
          <a:prstGeom prst="rect">
            <a:avLst/>
          </a:prstGeom>
          <a:solidFill>
            <a:srgbClr val="375623"/>
          </a:solidFill>
          <a:ln w="12700">
            <a:solidFill>
              <a:srgbClr val="375623"/>
            </a:solidFill>
            <a:prstDash val="solid"/>
          </a:ln>
        </p:spPr>
      </p:sp>
      <p:sp>
        <p:nvSpPr>
          <p:cNvPr id="22" name="Text 19"/>
          <p:cNvSpPr/>
          <p:nvPr/>
        </p:nvSpPr>
        <p:spPr>
          <a:xfrm>
            <a:off x="621792" y="4069080"/>
            <a:ext cx="7900416" cy="54864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Behind all three: Satan, the great deceiver. Don’t be shaken in mind (σαλεύω) or troubled in emotion (θροέω).</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What must come first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2:3–4 · II.A — The error of the deception</a:t>
            </a:r>
            <a:endParaRPr lang="en-US" sz="1200" dirty="0"/>
          </a:p>
        </p:txBody>
      </p:sp>
      <p:sp>
        <p:nvSpPr>
          <p:cNvPr id="5" name="Shape 2"/>
          <p:cNvSpPr/>
          <p:nvPr/>
        </p:nvSpPr>
        <p:spPr>
          <a:xfrm>
            <a:off x="457200" y="1188720"/>
            <a:ext cx="1899666" cy="2103120"/>
          </a:xfrm>
          <a:prstGeom prst="roundRect">
            <a:avLst>
              <a:gd name="adj" fmla="val 2888"/>
            </a:avLst>
          </a:prstGeom>
          <a:solidFill>
            <a:srgbClr val="F2F6FC"/>
          </a:solidFill>
          <a:ln w="9525">
            <a:solidFill>
              <a:srgbClr val="D5DCEA"/>
            </a:solidFill>
            <a:prstDash val="solid"/>
          </a:ln>
        </p:spPr>
      </p:sp>
      <p:sp>
        <p:nvSpPr>
          <p:cNvPr id="6" name="Shape 3"/>
          <p:cNvSpPr/>
          <p:nvPr/>
        </p:nvSpPr>
        <p:spPr>
          <a:xfrm>
            <a:off x="1205865"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205865"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The Rapture</a:t>
            </a:r>
            <a:endParaRPr lang="en-US" sz="1150" dirty="0"/>
          </a:p>
        </p:txBody>
      </p:sp>
      <p:sp>
        <p:nvSpPr>
          <p:cNvPr id="9" name="Text 6"/>
          <p:cNvSpPr/>
          <p:nvPr/>
        </p:nvSpPr>
        <p:spPr>
          <a:xfrm>
            <a:off x="530352" y="2157984"/>
            <a:ext cx="1753362"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The true church taken out — pictured by Philadelphia</a:t>
            </a:r>
            <a:endParaRPr lang="en-US" sz="1150" dirty="0"/>
          </a:p>
        </p:txBody>
      </p:sp>
      <p:sp>
        <p:nvSpPr>
          <p:cNvPr id="10" name="Text 7"/>
          <p:cNvSpPr/>
          <p:nvPr/>
        </p:nvSpPr>
        <p:spPr>
          <a:xfrm>
            <a:off x="530352" y="29077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Rev 3:7–13</a:t>
            </a:r>
            <a:endParaRPr lang="en-US" sz="900" dirty="0"/>
          </a:p>
        </p:txBody>
      </p:sp>
      <p:sp>
        <p:nvSpPr>
          <p:cNvPr id="11" name="Shape 8"/>
          <p:cNvSpPr/>
          <p:nvPr/>
        </p:nvSpPr>
        <p:spPr>
          <a:xfrm>
            <a:off x="2361438" y="2121408"/>
            <a:ext cx="201168" cy="237744"/>
          </a:xfrm>
          <a:prstGeom prst="rightArrow">
            <a:avLst/>
          </a:prstGeom>
          <a:solidFill>
            <a:srgbClr val="6B7280"/>
          </a:solidFill>
          <a:ln w="12700">
            <a:solidFill>
              <a:srgbClr val="6B7280"/>
            </a:solidFill>
            <a:prstDash val="solid"/>
          </a:ln>
        </p:spPr>
      </p:sp>
      <p:sp>
        <p:nvSpPr>
          <p:cNvPr id="12" name="Shape 9"/>
          <p:cNvSpPr/>
          <p:nvPr/>
        </p:nvSpPr>
        <p:spPr>
          <a:xfrm>
            <a:off x="2567178" y="1188720"/>
            <a:ext cx="1899666" cy="2103120"/>
          </a:xfrm>
          <a:prstGeom prst="roundRect">
            <a:avLst>
              <a:gd name="adj" fmla="val 2888"/>
            </a:avLst>
          </a:prstGeom>
          <a:solidFill>
            <a:srgbClr val="F2F6FC"/>
          </a:solidFill>
          <a:ln w="9525">
            <a:solidFill>
              <a:srgbClr val="D5DCEA"/>
            </a:solidFill>
            <a:prstDash val="solid"/>
          </a:ln>
        </p:spPr>
      </p:sp>
      <p:sp>
        <p:nvSpPr>
          <p:cNvPr id="13" name="Shape 10"/>
          <p:cNvSpPr/>
          <p:nvPr/>
        </p:nvSpPr>
        <p:spPr>
          <a:xfrm>
            <a:off x="3315843"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3315843"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640330"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The apostasy</a:t>
            </a:r>
            <a:endParaRPr lang="en-US" sz="1150" dirty="0"/>
          </a:p>
        </p:txBody>
      </p:sp>
      <p:sp>
        <p:nvSpPr>
          <p:cNvPr id="16" name="Text 13"/>
          <p:cNvSpPr/>
          <p:nvPr/>
        </p:nvSpPr>
        <p:spPr>
          <a:xfrm>
            <a:off x="2640330" y="2157984"/>
            <a:ext cx="1753362"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A pervasive, global departure from the faith</a:t>
            </a:r>
            <a:endParaRPr lang="en-US" sz="1150" dirty="0"/>
          </a:p>
        </p:txBody>
      </p:sp>
      <p:sp>
        <p:nvSpPr>
          <p:cNvPr id="17" name="Text 14"/>
          <p:cNvSpPr/>
          <p:nvPr/>
        </p:nvSpPr>
        <p:spPr>
          <a:xfrm>
            <a:off x="2640330" y="29077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ἀποστασία · Laodicea</a:t>
            </a:r>
            <a:endParaRPr lang="en-US" sz="900" dirty="0"/>
          </a:p>
        </p:txBody>
      </p:sp>
      <p:sp>
        <p:nvSpPr>
          <p:cNvPr id="18" name="Shape 15"/>
          <p:cNvSpPr/>
          <p:nvPr/>
        </p:nvSpPr>
        <p:spPr>
          <a:xfrm>
            <a:off x="4471416" y="2121408"/>
            <a:ext cx="201168" cy="237744"/>
          </a:xfrm>
          <a:prstGeom prst="rightArrow">
            <a:avLst/>
          </a:prstGeom>
          <a:solidFill>
            <a:srgbClr val="6B7280"/>
          </a:solidFill>
          <a:ln w="12700">
            <a:solidFill>
              <a:srgbClr val="6B7280"/>
            </a:solidFill>
            <a:prstDash val="solid"/>
          </a:ln>
        </p:spPr>
      </p:sp>
      <p:sp>
        <p:nvSpPr>
          <p:cNvPr id="19" name="Shape 16"/>
          <p:cNvSpPr/>
          <p:nvPr/>
        </p:nvSpPr>
        <p:spPr>
          <a:xfrm>
            <a:off x="4677156" y="1188720"/>
            <a:ext cx="1899666" cy="2103120"/>
          </a:xfrm>
          <a:prstGeom prst="roundRect">
            <a:avLst>
              <a:gd name="adj" fmla="val 2888"/>
            </a:avLst>
          </a:prstGeom>
          <a:solidFill>
            <a:srgbClr val="1F3864"/>
          </a:solidFill>
          <a:ln w="9525">
            <a:solidFill>
              <a:srgbClr val="1F3864"/>
            </a:solidFill>
            <a:prstDash val="solid"/>
          </a:ln>
        </p:spPr>
      </p:sp>
      <p:sp>
        <p:nvSpPr>
          <p:cNvPr id="20" name="Shape 17"/>
          <p:cNvSpPr/>
          <p:nvPr/>
        </p:nvSpPr>
        <p:spPr>
          <a:xfrm>
            <a:off x="5425821"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5425821"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4750308" y="1773936"/>
            <a:ext cx="1753362"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 man of sin revealed</a:t>
            </a:r>
            <a:endParaRPr lang="en-US" sz="1150" dirty="0"/>
          </a:p>
        </p:txBody>
      </p:sp>
      <p:sp>
        <p:nvSpPr>
          <p:cNvPr id="23" name="Text 20"/>
          <p:cNvSpPr/>
          <p:nvPr/>
        </p:nvSpPr>
        <p:spPr>
          <a:xfrm>
            <a:off x="4750308" y="2157984"/>
            <a:ext cx="1753362" cy="74980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He makes a seven-year covenant with Israel</a:t>
            </a:r>
            <a:endParaRPr lang="en-US" sz="1150" dirty="0"/>
          </a:p>
        </p:txBody>
      </p:sp>
      <p:sp>
        <p:nvSpPr>
          <p:cNvPr id="24" name="Text 21"/>
          <p:cNvSpPr/>
          <p:nvPr/>
        </p:nvSpPr>
        <p:spPr>
          <a:xfrm>
            <a:off x="4750308" y="2907792"/>
            <a:ext cx="1753362"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Dan 9:27</a:t>
            </a:r>
            <a:endParaRPr lang="en-US" sz="900" dirty="0"/>
          </a:p>
        </p:txBody>
      </p:sp>
      <p:sp>
        <p:nvSpPr>
          <p:cNvPr id="25" name="Shape 22"/>
          <p:cNvSpPr/>
          <p:nvPr/>
        </p:nvSpPr>
        <p:spPr>
          <a:xfrm>
            <a:off x="6581394" y="2121408"/>
            <a:ext cx="201168" cy="237744"/>
          </a:xfrm>
          <a:prstGeom prst="rightArrow">
            <a:avLst/>
          </a:prstGeom>
          <a:solidFill>
            <a:srgbClr val="6B7280"/>
          </a:solidFill>
          <a:ln w="12700">
            <a:solidFill>
              <a:srgbClr val="6B7280"/>
            </a:solidFill>
            <a:prstDash val="solid"/>
          </a:ln>
        </p:spPr>
      </p:sp>
      <p:sp>
        <p:nvSpPr>
          <p:cNvPr id="26" name="Shape 23"/>
          <p:cNvSpPr/>
          <p:nvPr/>
        </p:nvSpPr>
        <p:spPr>
          <a:xfrm>
            <a:off x="6787134" y="1188720"/>
            <a:ext cx="1899666" cy="2103120"/>
          </a:xfrm>
          <a:prstGeom prst="roundRect">
            <a:avLst>
              <a:gd name="adj" fmla="val 2888"/>
            </a:avLst>
          </a:prstGeom>
          <a:solidFill>
            <a:srgbClr val="F2F6FC"/>
          </a:solidFill>
          <a:ln w="9525">
            <a:solidFill>
              <a:srgbClr val="D5DCEA"/>
            </a:solidFill>
            <a:prstDash val="solid"/>
          </a:ln>
        </p:spPr>
      </p:sp>
      <p:sp>
        <p:nvSpPr>
          <p:cNvPr id="27" name="Shape 24"/>
          <p:cNvSpPr/>
          <p:nvPr/>
        </p:nvSpPr>
        <p:spPr>
          <a:xfrm>
            <a:off x="7535799" y="1298448"/>
            <a:ext cx="402336" cy="402336"/>
          </a:xfrm>
          <a:prstGeom prst="ellipse">
            <a:avLst/>
          </a:prstGeom>
          <a:solidFill>
            <a:srgbClr val="2E5496"/>
          </a:solidFill>
          <a:ln w="12700">
            <a:solidFill>
              <a:srgbClr val="2E5496"/>
            </a:solidFill>
            <a:prstDash val="solid"/>
          </a:ln>
        </p:spPr>
      </p:sp>
      <p:sp>
        <p:nvSpPr>
          <p:cNvPr id="28" name="Text 25"/>
          <p:cNvSpPr/>
          <p:nvPr/>
        </p:nvSpPr>
        <p:spPr>
          <a:xfrm>
            <a:off x="7535799"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6860286"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The Day of the Lord</a:t>
            </a:r>
            <a:endParaRPr lang="en-US" sz="1150" dirty="0"/>
          </a:p>
        </p:txBody>
      </p:sp>
      <p:sp>
        <p:nvSpPr>
          <p:cNvPr id="30" name="Text 27"/>
          <p:cNvSpPr/>
          <p:nvPr/>
        </p:nvSpPr>
        <p:spPr>
          <a:xfrm>
            <a:off x="6860286" y="2157984"/>
            <a:ext cx="1753362"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Seven years of Tribulation, then the Millennium</a:t>
            </a:r>
            <a:endParaRPr lang="en-US" sz="1150" dirty="0"/>
          </a:p>
        </p:txBody>
      </p:sp>
      <p:sp>
        <p:nvSpPr>
          <p:cNvPr id="31" name="Text 28"/>
          <p:cNvSpPr/>
          <p:nvPr/>
        </p:nvSpPr>
        <p:spPr>
          <a:xfrm>
            <a:off x="6860286" y="29077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2:3</a:t>
            </a:r>
            <a:endParaRPr lang="en-US" sz="900" dirty="0"/>
          </a:p>
        </p:txBody>
      </p:sp>
      <p:sp>
        <p:nvSpPr>
          <p:cNvPr id="32" name="Shape 29"/>
          <p:cNvSpPr/>
          <p:nvPr/>
        </p:nvSpPr>
        <p:spPr>
          <a:xfrm>
            <a:off x="457200" y="3520440"/>
            <a:ext cx="8229600" cy="1097280"/>
          </a:xfrm>
          <a:prstGeom prst="roundRect">
            <a:avLst>
              <a:gd name="adj" fmla="val 5000"/>
            </a:avLst>
          </a:prstGeom>
          <a:solidFill>
            <a:srgbClr val="1F3864"/>
          </a:solidFill>
          <a:ln w="12700">
            <a:solidFill>
              <a:srgbClr val="1F3864"/>
            </a:solidFill>
            <a:prstDash val="solid"/>
          </a:ln>
        </p:spPr>
      </p:sp>
      <p:sp>
        <p:nvSpPr>
          <p:cNvPr id="33" name="Text 30"/>
          <p:cNvSpPr/>
          <p:nvPr/>
        </p:nvSpPr>
        <p:spPr>
          <a:xfrm>
            <a:off x="621792" y="3520440"/>
            <a:ext cx="7900416" cy="1097280"/>
          </a:xfrm>
          <a:prstGeom prst="rect">
            <a:avLst/>
          </a:prstGeom>
          <a:noFill/>
          <a:ln/>
        </p:spPr>
        <p:txBody>
          <a:bodyPr wrap="square" lIns="0" tIns="0" rIns="0" bIns="0" rtlCol="0" anchor="ctr"/>
          <a:lstStyle/>
          <a:p>
            <a:pPr indent="0" marL="0">
              <a:buNone/>
            </a:pPr>
            <a:r>
              <a:rPr lang="en-US" sz="1150" b="1" dirty="0">
                <a:solidFill>
                  <a:srgbClr val="C9D5EE"/>
                </a:solidFill>
                <a:latin typeface="Arial" pitchFamily="34" charset="0"/>
                <a:ea typeface="Arial" pitchFamily="34" charset="-122"/>
                <a:cs typeface="Arial" pitchFamily="34" charset="-120"/>
              </a:rPr>
              <a:t>Walvoord:  </a:t>
            </a:r>
            <a:pPr indent="0" marL="0">
              <a:buNone/>
            </a:pPr>
            <a:r>
              <a:rPr lang="en-US" sz="1150" dirty="0">
                <a:solidFill>
                  <a:srgbClr val="FFFFFF"/>
                </a:solidFill>
                <a:latin typeface="Arial" pitchFamily="34" charset="0"/>
                <a:ea typeface="Arial" pitchFamily="34" charset="-122"/>
                <a:cs typeface="Arial" pitchFamily="34" charset="-120"/>
              </a:rPr>
              <a:t>“Paul was declaring that the Day of the Lord cannot come until first a pervasive, global departure from the faith.” Study Note: some pretribulationists read apostasia as the Rapture itself — either way, the church is not in that Day.</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man of sin: his aliases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Conclusion · Other names for the “son of perdition,” the final world dictator</a:t>
            </a:r>
            <a:endParaRPr lang="en-US" sz="1200" dirty="0"/>
          </a:p>
        </p:txBody>
      </p:sp>
      <p:sp>
        <p:nvSpPr>
          <p:cNvPr id="5" name="Shape 2"/>
          <p:cNvSpPr/>
          <p:nvPr/>
        </p:nvSpPr>
        <p:spPr>
          <a:xfrm>
            <a:off x="457200" y="1115568"/>
            <a:ext cx="777240" cy="566928"/>
          </a:xfrm>
          <a:prstGeom prst="rect">
            <a:avLst/>
          </a:prstGeom>
          <a:solidFill>
            <a:srgbClr val="2E5496"/>
          </a:solidFill>
          <a:ln w="12700">
            <a:solidFill>
              <a:srgbClr val="2E5496"/>
            </a:solidFill>
            <a:prstDash val="solid"/>
          </a:ln>
        </p:spPr>
      </p:sp>
      <p:sp>
        <p:nvSpPr>
          <p:cNvPr id="6" name="Text 3"/>
          <p:cNvSpPr/>
          <p:nvPr/>
        </p:nvSpPr>
        <p:spPr>
          <a:xfrm>
            <a:off x="457200" y="111556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Dan 7–9</a:t>
            </a:r>
            <a:endParaRPr lang="en-US" sz="1100" dirty="0"/>
          </a:p>
        </p:txBody>
      </p:sp>
      <p:sp>
        <p:nvSpPr>
          <p:cNvPr id="7" name="Shape 4"/>
          <p:cNvSpPr/>
          <p:nvPr/>
        </p:nvSpPr>
        <p:spPr>
          <a:xfrm>
            <a:off x="1234440" y="1115568"/>
            <a:ext cx="7452360" cy="566928"/>
          </a:xfrm>
          <a:prstGeom prst="rect">
            <a:avLst/>
          </a:prstGeom>
          <a:solidFill>
            <a:srgbClr val="F2F6FC"/>
          </a:solidFill>
          <a:ln w="9525">
            <a:solidFill>
              <a:srgbClr val="D5DCEA"/>
            </a:solidFill>
            <a:prstDash val="solid"/>
          </a:ln>
        </p:spPr>
      </p:sp>
      <p:sp>
        <p:nvSpPr>
          <p:cNvPr id="8" name="Text 5"/>
          <p:cNvSpPr/>
          <p:nvPr/>
        </p:nvSpPr>
        <p:spPr>
          <a:xfrm>
            <a:off x="1344168" y="111556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The little horn · a king of fierce countenance · the prince who is to come</a:t>
            </a:r>
            <a:endParaRPr lang="en-US" sz="1150" dirty="0"/>
          </a:p>
        </p:txBody>
      </p:sp>
      <p:sp>
        <p:nvSpPr>
          <p:cNvPr id="9" name="Text 6"/>
          <p:cNvSpPr/>
          <p:nvPr/>
        </p:nvSpPr>
        <p:spPr>
          <a:xfrm>
            <a:off x="5806440" y="111556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Dan 7:8; 8:23; 9:26</a:t>
            </a:r>
            <a:endParaRPr lang="en-US" sz="1300" dirty="0"/>
          </a:p>
        </p:txBody>
      </p:sp>
      <p:sp>
        <p:nvSpPr>
          <p:cNvPr id="10" name="Shape 7"/>
          <p:cNvSpPr/>
          <p:nvPr/>
        </p:nvSpPr>
        <p:spPr>
          <a:xfrm>
            <a:off x="457200" y="1755648"/>
            <a:ext cx="777240" cy="566928"/>
          </a:xfrm>
          <a:prstGeom prst="rect">
            <a:avLst/>
          </a:prstGeom>
          <a:solidFill>
            <a:srgbClr val="2E5496"/>
          </a:solidFill>
          <a:ln w="12700">
            <a:solidFill>
              <a:srgbClr val="2E5496"/>
            </a:solidFill>
            <a:prstDash val="solid"/>
          </a:ln>
        </p:spPr>
      </p:sp>
      <p:sp>
        <p:nvSpPr>
          <p:cNvPr id="11" name="Text 8"/>
          <p:cNvSpPr/>
          <p:nvPr/>
        </p:nvSpPr>
        <p:spPr>
          <a:xfrm>
            <a:off x="457200" y="175564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Dan 9–11</a:t>
            </a:r>
            <a:endParaRPr lang="en-US" sz="1100" dirty="0"/>
          </a:p>
        </p:txBody>
      </p:sp>
      <p:sp>
        <p:nvSpPr>
          <p:cNvPr id="12" name="Shape 9"/>
          <p:cNvSpPr/>
          <p:nvPr/>
        </p:nvSpPr>
        <p:spPr>
          <a:xfrm>
            <a:off x="1234440" y="1755648"/>
            <a:ext cx="7452360" cy="566928"/>
          </a:xfrm>
          <a:prstGeom prst="rect">
            <a:avLst/>
          </a:prstGeom>
          <a:solidFill>
            <a:srgbClr val="FFFFFF"/>
          </a:solidFill>
          <a:ln w="9525">
            <a:solidFill>
              <a:srgbClr val="D5DCEA"/>
            </a:solidFill>
            <a:prstDash val="solid"/>
          </a:ln>
        </p:spPr>
      </p:sp>
      <p:sp>
        <p:nvSpPr>
          <p:cNvPr id="13" name="Text 10"/>
          <p:cNvSpPr/>
          <p:nvPr/>
        </p:nvSpPr>
        <p:spPr>
          <a:xfrm>
            <a:off x="1344168" y="175564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The one who makes desolate · the willful king</a:t>
            </a:r>
            <a:endParaRPr lang="en-US" sz="1150" dirty="0"/>
          </a:p>
        </p:txBody>
      </p:sp>
      <p:sp>
        <p:nvSpPr>
          <p:cNvPr id="14" name="Text 11"/>
          <p:cNvSpPr/>
          <p:nvPr/>
        </p:nvSpPr>
        <p:spPr>
          <a:xfrm>
            <a:off x="5806440" y="175564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Dan 9:27; 11:36–45</a:t>
            </a:r>
            <a:endParaRPr lang="en-US" sz="1300" dirty="0"/>
          </a:p>
        </p:txBody>
      </p:sp>
      <p:sp>
        <p:nvSpPr>
          <p:cNvPr id="15" name="Shape 12"/>
          <p:cNvSpPr/>
          <p:nvPr/>
        </p:nvSpPr>
        <p:spPr>
          <a:xfrm>
            <a:off x="457200" y="2395728"/>
            <a:ext cx="777240" cy="566928"/>
          </a:xfrm>
          <a:prstGeom prst="rect">
            <a:avLst/>
          </a:prstGeom>
          <a:solidFill>
            <a:srgbClr val="2E5496"/>
          </a:solidFill>
          <a:ln w="12700">
            <a:solidFill>
              <a:srgbClr val="2E5496"/>
            </a:solidFill>
            <a:prstDash val="solid"/>
          </a:ln>
        </p:spPr>
      </p:sp>
      <p:sp>
        <p:nvSpPr>
          <p:cNvPr id="16" name="Text 13"/>
          <p:cNvSpPr/>
          <p:nvPr/>
        </p:nvSpPr>
        <p:spPr>
          <a:xfrm>
            <a:off x="457200" y="239572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Zech 11</a:t>
            </a:r>
            <a:endParaRPr lang="en-US" sz="1100" dirty="0"/>
          </a:p>
        </p:txBody>
      </p:sp>
      <p:sp>
        <p:nvSpPr>
          <p:cNvPr id="17" name="Shape 14"/>
          <p:cNvSpPr/>
          <p:nvPr/>
        </p:nvSpPr>
        <p:spPr>
          <a:xfrm>
            <a:off x="1234440" y="2395728"/>
            <a:ext cx="7452360" cy="566928"/>
          </a:xfrm>
          <a:prstGeom prst="rect">
            <a:avLst/>
          </a:prstGeom>
          <a:solidFill>
            <a:srgbClr val="F2F6FC"/>
          </a:solidFill>
          <a:ln w="9525">
            <a:solidFill>
              <a:srgbClr val="D5DCEA"/>
            </a:solidFill>
            <a:prstDash val="solid"/>
          </a:ln>
        </p:spPr>
      </p:sp>
      <p:sp>
        <p:nvSpPr>
          <p:cNvPr id="18" name="Text 15"/>
          <p:cNvSpPr/>
          <p:nvPr/>
        </p:nvSpPr>
        <p:spPr>
          <a:xfrm>
            <a:off x="1344168" y="239572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A foolish shepherd</a:t>
            </a:r>
            <a:endParaRPr lang="en-US" sz="1150" dirty="0"/>
          </a:p>
        </p:txBody>
      </p:sp>
      <p:sp>
        <p:nvSpPr>
          <p:cNvPr id="19" name="Text 16"/>
          <p:cNvSpPr/>
          <p:nvPr/>
        </p:nvSpPr>
        <p:spPr>
          <a:xfrm>
            <a:off x="5806440" y="239572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Zech 11:15–17</a:t>
            </a:r>
            <a:endParaRPr lang="en-US" sz="1300" dirty="0"/>
          </a:p>
        </p:txBody>
      </p:sp>
      <p:sp>
        <p:nvSpPr>
          <p:cNvPr id="20" name="Shape 17"/>
          <p:cNvSpPr/>
          <p:nvPr/>
        </p:nvSpPr>
        <p:spPr>
          <a:xfrm>
            <a:off x="457200" y="3035808"/>
            <a:ext cx="777240" cy="566928"/>
          </a:xfrm>
          <a:prstGeom prst="rect">
            <a:avLst/>
          </a:prstGeom>
          <a:solidFill>
            <a:srgbClr val="2E5496"/>
          </a:solidFill>
          <a:ln w="12700">
            <a:solidFill>
              <a:srgbClr val="2E5496"/>
            </a:solidFill>
            <a:prstDash val="solid"/>
          </a:ln>
        </p:spPr>
      </p:sp>
      <p:sp>
        <p:nvSpPr>
          <p:cNvPr id="21" name="Text 18"/>
          <p:cNvSpPr/>
          <p:nvPr/>
        </p:nvSpPr>
        <p:spPr>
          <a:xfrm>
            <a:off x="457200" y="303580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 Thess 2</a:t>
            </a:r>
            <a:endParaRPr lang="en-US" sz="1100" dirty="0"/>
          </a:p>
        </p:txBody>
      </p:sp>
      <p:sp>
        <p:nvSpPr>
          <p:cNvPr id="22" name="Shape 19"/>
          <p:cNvSpPr/>
          <p:nvPr/>
        </p:nvSpPr>
        <p:spPr>
          <a:xfrm>
            <a:off x="1234440" y="3035808"/>
            <a:ext cx="7452360" cy="566928"/>
          </a:xfrm>
          <a:prstGeom prst="rect">
            <a:avLst/>
          </a:prstGeom>
          <a:solidFill>
            <a:srgbClr val="FFFFFF"/>
          </a:solidFill>
          <a:ln w="9525">
            <a:solidFill>
              <a:srgbClr val="D5DCEA"/>
            </a:solidFill>
            <a:prstDash val="solid"/>
          </a:ln>
        </p:spPr>
      </p:sp>
      <p:sp>
        <p:nvSpPr>
          <p:cNvPr id="23" name="Text 20"/>
          <p:cNvSpPr/>
          <p:nvPr/>
        </p:nvSpPr>
        <p:spPr>
          <a:xfrm>
            <a:off x="1344168" y="303580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The man of sin · the son of perdition · the lawless (wicked) one</a:t>
            </a:r>
            <a:endParaRPr lang="en-US" sz="1150" dirty="0"/>
          </a:p>
        </p:txBody>
      </p:sp>
      <p:sp>
        <p:nvSpPr>
          <p:cNvPr id="24" name="Text 21"/>
          <p:cNvSpPr/>
          <p:nvPr/>
        </p:nvSpPr>
        <p:spPr>
          <a:xfrm>
            <a:off x="5806440" y="303580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ἁμαρτία · ἀπώλεια</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2:3, 8</a:t>
            </a:r>
            <a:endParaRPr lang="en-US" sz="1300" dirty="0"/>
          </a:p>
        </p:txBody>
      </p:sp>
      <p:sp>
        <p:nvSpPr>
          <p:cNvPr id="25" name="Shape 22"/>
          <p:cNvSpPr/>
          <p:nvPr/>
        </p:nvSpPr>
        <p:spPr>
          <a:xfrm>
            <a:off x="457200" y="3675888"/>
            <a:ext cx="777240" cy="566928"/>
          </a:xfrm>
          <a:prstGeom prst="rect">
            <a:avLst/>
          </a:prstGeom>
          <a:solidFill>
            <a:srgbClr val="375623"/>
          </a:solidFill>
          <a:ln w="12700">
            <a:solidFill>
              <a:srgbClr val="375623"/>
            </a:solidFill>
            <a:prstDash val="solid"/>
          </a:ln>
        </p:spPr>
      </p:sp>
      <p:sp>
        <p:nvSpPr>
          <p:cNvPr id="26" name="Text 23"/>
          <p:cNvSpPr/>
          <p:nvPr/>
        </p:nvSpPr>
        <p:spPr>
          <a:xfrm>
            <a:off x="457200" y="367588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Rev 6, 13</a:t>
            </a:r>
            <a:endParaRPr lang="en-US" sz="1100" dirty="0"/>
          </a:p>
        </p:txBody>
      </p:sp>
      <p:sp>
        <p:nvSpPr>
          <p:cNvPr id="27" name="Shape 24"/>
          <p:cNvSpPr/>
          <p:nvPr/>
        </p:nvSpPr>
        <p:spPr>
          <a:xfrm>
            <a:off x="1234440" y="3675888"/>
            <a:ext cx="7452360" cy="566928"/>
          </a:xfrm>
          <a:prstGeom prst="rect">
            <a:avLst/>
          </a:prstGeom>
          <a:solidFill>
            <a:srgbClr val="F2F6FC"/>
          </a:solidFill>
          <a:ln w="9525">
            <a:solidFill>
              <a:srgbClr val="D5DCEA"/>
            </a:solidFill>
            <a:prstDash val="solid"/>
          </a:ln>
        </p:spPr>
      </p:sp>
      <p:sp>
        <p:nvSpPr>
          <p:cNvPr id="28" name="Text 25"/>
          <p:cNvSpPr/>
          <p:nvPr/>
        </p:nvSpPr>
        <p:spPr>
          <a:xfrm>
            <a:off x="1344168" y="367588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The rider on the white horse · the beast out of the sea</a:t>
            </a:r>
            <a:endParaRPr lang="en-US" sz="1150" dirty="0"/>
          </a:p>
        </p:txBody>
      </p:sp>
      <p:sp>
        <p:nvSpPr>
          <p:cNvPr id="29" name="Text 26"/>
          <p:cNvSpPr/>
          <p:nvPr/>
        </p:nvSpPr>
        <p:spPr>
          <a:xfrm>
            <a:off x="5806440" y="367588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Rev 6:2; 13:1–2</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His agenda — revealed now, doing these things later</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2:4 · II.A.2.b–d — His description</a:t>
            </a:r>
            <a:endParaRPr lang="en-US" sz="1200" dirty="0"/>
          </a:p>
        </p:txBody>
      </p:sp>
      <p:sp>
        <p:nvSpPr>
          <p:cNvPr id="5" name="Shape 2"/>
          <p:cNvSpPr/>
          <p:nvPr/>
        </p:nvSpPr>
        <p:spPr>
          <a:xfrm>
            <a:off x="457200" y="1188720"/>
            <a:ext cx="2615184" cy="1572768"/>
          </a:xfrm>
          <a:prstGeom prst="rect">
            <a:avLst/>
          </a:prstGeom>
          <a:solidFill>
            <a:srgbClr val="F2F6FC"/>
          </a:solidFill>
          <a:ln w="9525">
            <a:solidFill>
              <a:srgbClr val="D5DCEA"/>
            </a:solidFill>
            <a:prstDash val="solid"/>
          </a:ln>
        </p:spPr>
      </p:sp>
      <p:sp>
        <p:nvSpPr>
          <p:cNvPr id="6" name="Shape 3"/>
          <p:cNvSpPr/>
          <p:nvPr/>
        </p:nvSpPr>
        <p:spPr>
          <a:xfrm>
            <a:off x="594360" y="1325880"/>
            <a:ext cx="420624" cy="420624"/>
          </a:xfrm>
          <a:prstGeom prst="ellipse">
            <a:avLst/>
          </a:prstGeom>
          <a:solidFill>
            <a:srgbClr val="2E5496"/>
          </a:solidFill>
          <a:ln w="12700">
            <a:solidFill>
              <a:srgbClr val="2E5496"/>
            </a:solidFill>
            <a:prstDash val="solid"/>
          </a:ln>
        </p:spPr>
      </p:sp>
      <p:sp>
        <p:nvSpPr>
          <p:cNvPr id="7" name="Text 4"/>
          <p:cNvSpPr/>
          <p:nvPr/>
        </p:nvSpPr>
        <p:spPr>
          <a:xfrm>
            <a:off x="594360"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1115568"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Opposes God</a:t>
            </a:r>
            <a:endParaRPr lang="en-US" sz="1200" dirty="0"/>
          </a:p>
        </p:txBody>
      </p:sp>
      <p:sp>
        <p:nvSpPr>
          <p:cNvPr id="9" name="Text 6"/>
          <p:cNvSpPr/>
          <p:nvPr/>
        </p:nvSpPr>
        <p:spPr>
          <a:xfrm>
            <a:off x="594360"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Against the true God, Jehovah</a:t>
            </a:r>
            <a:endParaRPr lang="en-US" sz="1200" dirty="0"/>
          </a:p>
        </p:txBody>
      </p:sp>
      <p:sp>
        <p:nvSpPr>
          <p:cNvPr id="10" name="Shape 7"/>
          <p:cNvSpPr/>
          <p:nvPr/>
        </p:nvSpPr>
        <p:spPr>
          <a:xfrm>
            <a:off x="3264408" y="1188720"/>
            <a:ext cx="2615184" cy="1572768"/>
          </a:xfrm>
          <a:prstGeom prst="rect">
            <a:avLst/>
          </a:prstGeom>
          <a:solidFill>
            <a:srgbClr val="F2F6FC"/>
          </a:solidFill>
          <a:ln w="9525">
            <a:solidFill>
              <a:srgbClr val="D5DCEA"/>
            </a:solidFill>
            <a:prstDash val="solid"/>
          </a:ln>
        </p:spPr>
      </p:sp>
      <p:sp>
        <p:nvSpPr>
          <p:cNvPr id="11" name="Shape 8"/>
          <p:cNvSpPr/>
          <p:nvPr/>
        </p:nvSpPr>
        <p:spPr>
          <a:xfrm>
            <a:off x="3401568" y="1325880"/>
            <a:ext cx="420624" cy="420624"/>
          </a:xfrm>
          <a:prstGeom prst="ellipse">
            <a:avLst/>
          </a:prstGeom>
          <a:solidFill>
            <a:srgbClr val="2E5496"/>
          </a:solidFill>
          <a:ln w="12700">
            <a:solidFill>
              <a:srgbClr val="2E5496"/>
            </a:solidFill>
            <a:prstDash val="solid"/>
          </a:ln>
        </p:spPr>
      </p:sp>
      <p:sp>
        <p:nvSpPr>
          <p:cNvPr id="12" name="Text 9"/>
          <p:cNvSpPr/>
          <p:nvPr/>
        </p:nvSpPr>
        <p:spPr>
          <a:xfrm>
            <a:off x="3401568"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3" name="Text 10"/>
          <p:cNvSpPr/>
          <p:nvPr/>
        </p:nvSpPr>
        <p:spPr>
          <a:xfrm>
            <a:off x="3922776"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Above God</a:t>
            </a:r>
            <a:endParaRPr lang="en-US" sz="1200" dirty="0"/>
          </a:p>
        </p:txBody>
      </p:sp>
      <p:sp>
        <p:nvSpPr>
          <p:cNvPr id="14" name="Text 11"/>
          <p:cNvSpPr/>
          <p:nvPr/>
        </p:nvSpPr>
        <p:spPr>
          <a:xfrm>
            <a:off x="3401568"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Claims the worship that belongs to Jehovah only</a:t>
            </a:r>
            <a:endParaRPr lang="en-US" sz="1200" dirty="0"/>
          </a:p>
        </p:txBody>
      </p:sp>
      <p:sp>
        <p:nvSpPr>
          <p:cNvPr id="15" name="Shape 12"/>
          <p:cNvSpPr/>
          <p:nvPr/>
        </p:nvSpPr>
        <p:spPr>
          <a:xfrm>
            <a:off x="6071616" y="1188720"/>
            <a:ext cx="2615184" cy="1572768"/>
          </a:xfrm>
          <a:prstGeom prst="rect">
            <a:avLst/>
          </a:prstGeom>
          <a:solidFill>
            <a:srgbClr val="F2F6FC"/>
          </a:solidFill>
          <a:ln w="9525">
            <a:solidFill>
              <a:srgbClr val="D5DCEA"/>
            </a:solidFill>
            <a:prstDash val="solid"/>
          </a:ln>
        </p:spPr>
      </p:sp>
      <p:sp>
        <p:nvSpPr>
          <p:cNvPr id="16" name="Shape 13"/>
          <p:cNvSpPr/>
          <p:nvPr/>
        </p:nvSpPr>
        <p:spPr>
          <a:xfrm>
            <a:off x="6208776" y="1325880"/>
            <a:ext cx="420624" cy="420624"/>
          </a:xfrm>
          <a:prstGeom prst="ellipse">
            <a:avLst/>
          </a:prstGeom>
          <a:solidFill>
            <a:srgbClr val="6B7280"/>
          </a:solidFill>
          <a:ln w="12700">
            <a:solidFill>
              <a:srgbClr val="6B7280"/>
            </a:solidFill>
            <a:prstDash val="solid"/>
          </a:ln>
        </p:spPr>
      </p:sp>
      <p:sp>
        <p:nvSpPr>
          <p:cNvPr id="17" name="Text 14"/>
          <p:cNvSpPr/>
          <p:nvPr/>
        </p:nvSpPr>
        <p:spPr>
          <a:xfrm>
            <a:off x="6208776"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18" name="Text 15"/>
          <p:cNvSpPr/>
          <p:nvPr/>
        </p:nvSpPr>
        <p:spPr>
          <a:xfrm>
            <a:off x="6729984"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Above all gods</a:t>
            </a:r>
            <a:endParaRPr lang="en-US" sz="1200" dirty="0"/>
          </a:p>
        </p:txBody>
      </p:sp>
      <p:sp>
        <p:nvSpPr>
          <p:cNvPr id="19" name="Text 16"/>
          <p:cNvSpPr/>
          <p:nvPr/>
        </p:nvSpPr>
        <p:spPr>
          <a:xfrm>
            <a:off x="6208776"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No other religion allowed — worship him or die</a:t>
            </a:r>
            <a:endParaRPr lang="en-US" sz="1200" dirty="0"/>
          </a:p>
        </p:txBody>
      </p:sp>
      <p:sp>
        <p:nvSpPr>
          <p:cNvPr id="20" name="Shape 17"/>
          <p:cNvSpPr/>
          <p:nvPr/>
        </p:nvSpPr>
        <p:spPr>
          <a:xfrm>
            <a:off x="457200" y="2926080"/>
            <a:ext cx="2615184" cy="1572768"/>
          </a:xfrm>
          <a:prstGeom prst="rect">
            <a:avLst/>
          </a:prstGeom>
          <a:solidFill>
            <a:srgbClr val="F2F6FC"/>
          </a:solidFill>
          <a:ln w="9525">
            <a:solidFill>
              <a:srgbClr val="D5DCEA"/>
            </a:solidFill>
            <a:prstDash val="solid"/>
          </a:ln>
        </p:spPr>
      </p:sp>
      <p:sp>
        <p:nvSpPr>
          <p:cNvPr id="21" name="Shape 18"/>
          <p:cNvSpPr/>
          <p:nvPr/>
        </p:nvSpPr>
        <p:spPr>
          <a:xfrm>
            <a:off x="594360" y="3063240"/>
            <a:ext cx="420624" cy="420624"/>
          </a:xfrm>
          <a:prstGeom prst="ellipse">
            <a:avLst/>
          </a:prstGeom>
          <a:solidFill>
            <a:srgbClr val="2E5496"/>
          </a:solidFill>
          <a:ln w="12700">
            <a:solidFill>
              <a:srgbClr val="2E5496"/>
            </a:solidFill>
            <a:prstDash val="solid"/>
          </a:ln>
        </p:spPr>
      </p:sp>
      <p:sp>
        <p:nvSpPr>
          <p:cNvPr id="22" name="Text 19"/>
          <p:cNvSpPr/>
          <p:nvPr/>
        </p:nvSpPr>
        <p:spPr>
          <a:xfrm>
            <a:off x="594360"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3" name="Text 20"/>
          <p:cNvSpPr/>
          <p:nvPr/>
        </p:nvSpPr>
        <p:spPr>
          <a:xfrm>
            <a:off x="1115568"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Sits in the temple</a:t>
            </a:r>
            <a:endParaRPr lang="en-US" sz="1200" dirty="0"/>
          </a:p>
        </p:txBody>
      </p:sp>
      <p:sp>
        <p:nvSpPr>
          <p:cNvPr id="24" name="Text 21"/>
          <p:cNvSpPr/>
          <p:nvPr/>
        </p:nvSpPr>
        <p:spPr>
          <a:xfrm>
            <a:off x="594360"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ναός — at the midpoint of the Tribulation (Dan 9:27)</a:t>
            </a:r>
            <a:endParaRPr lang="en-US" sz="1200" dirty="0"/>
          </a:p>
        </p:txBody>
      </p:sp>
      <p:sp>
        <p:nvSpPr>
          <p:cNvPr id="25" name="Shape 22"/>
          <p:cNvSpPr/>
          <p:nvPr/>
        </p:nvSpPr>
        <p:spPr>
          <a:xfrm>
            <a:off x="3264408" y="2926080"/>
            <a:ext cx="2615184" cy="1572768"/>
          </a:xfrm>
          <a:prstGeom prst="rect">
            <a:avLst/>
          </a:prstGeom>
          <a:solidFill>
            <a:srgbClr val="F2F6FC"/>
          </a:solidFill>
          <a:ln w="9525">
            <a:solidFill>
              <a:srgbClr val="D5DCEA"/>
            </a:solidFill>
            <a:prstDash val="solid"/>
          </a:ln>
        </p:spPr>
      </p:sp>
      <p:sp>
        <p:nvSpPr>
          <p:cNvPr id="26" name="Shape 23"/>
          <p:cNvSpPr/>
          <p:nvPr/>
        </p:nvSpPr>
        <p:spPr>
          <a:xfrm>
            <a:off x="3401568" y="3063240"/>
            <a:ext cx="420624" cy="420624"/>
          </a:xfrm>
          <a:prstGeom prst="ellipse">
            <a:avLst/>
          </a:prstGeom>
          <a:solidFill>
            <a:srgbClr val="2E5496"/>
          </a:solidFill>
          <a:ln w="12700">
            <a:solidFill>
              <a:srgbClr val="2E5496"/>
            </a:solidFill>
            <a:prstDash val="solid"/>
          </a:ln>
        </p:spPr>
      </p:sp>
      <p:sp>
        <p:nvSpPr>
          <p:cNvPr id="27" name="Text 24"/>
          <p:cNvSpPr/>
          <p:nvPr/>
        </p:nvSpPr>
        <p:spPr>
          <a:xfrm>
            <a:off x="3401568"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28" name="Text 25"/>
          <p:cNvSpPr/>
          <p:nvPr/>
        </p:nvSpPr>
        <p:spPr>
          <a:xfrm>
            <a:off x="3922776"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Shows himself God</a:t>
            </a:r>
            <a:endParaRPr lang="en-US" sz="1200" dirty="0"/>
          </a:p>
        </p:txBody>
      </p:sp>
      <p:sp>
        <p:nvSpPr>
          <p:cNvPr id="29" name="Text 26"/>
          <p:cNvSpPr/>
          <p:nvPr/>
        </p:nvSpPr>
        <p:spPr>
          <a:xfrm>
            <a:off x="3401568"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“I am God” — over the whole world</a:t>
            </a:r>
            <a:endParaRPr lang="en-US" sz="1200" dirty="0"/>
          </a:p>
        </p:txBody>
      </p:sp>
      <p:sp>
        <p:nvSpPr>
          <p:cNvPr id="30" name="Shape 27"/>
          <p:cNvSpPr/>
          <p:nvPr/>
        </p:nvSpPr>
        <p:spPr>
          <a:xfrm>
            <a:off x="6071616" y="2926080"/>
            <a:ext cx="2615184" cy="1572768"/>
          </a:xfrm>
          <a:prstGeom prst="rect">
            <a:avLst/>
          </a:prstGeom>
          <a:solidFill>
            <a:srgbClr val="F2F6FC"/>
          </a:solidFill>
          <a:ln w="9525">
            <a:solidFill>
              <a:srgbClr val="D5DCEA"/>
            </a:solidFill>
            <a:prstDash val="solid"/>
          </a:ln>
        </p:spPr>
      </p:sp>
      <p:sp>
        <p:nvSpPr>
          <p:cNvPr id="31" name="Shape 28"/>
          <p:cNvSpPr/>
          <p:nvPr/>
        </p:nvSpPr>
        <p:spPr>
          <a:xfrm>
            <a:off x="6208776" y="3063240"/>
            <a:ext cx="420624" cy="420624"/>
          </a:xfrm>
          <a:prstGeom prst="ellipse">
            <a:avLst/>
          </a:prstGeom>
          <a:solidFill>
            <a:srgbClr val="375623"/>
          </a:solidFill>
          <a:ln w="12700">
            <a:solidFill>
              <a:srgbClr val="375623"/>
            </a:solidFill>
            <a:prstDash val="solid"/>
          </a:ln>
        </p:spPr>
      </p:sp>
      <p:sp>
        <p:nvSpPr>
          <p:cNvPr id="32" name="Text 29"/>
          <p:cNvSpPr/>
          <p:nvPr/>
        </p:nvSpPr>
        <p:spPr>
          <a:xfrm>
            <a:off x="6208776"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33" name="Text 30"/>
          <p:cNvSpPr/>
          <p:nvPr/>
        </p:nvSpPr>
        <p:spPr>
          <a:xfrm>
            <a:off x="6729984"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 picture: 167 B.C.</a:t>
            </a:r>
            <a:endParaRPr lang="en-US" sz="1200" dirty="0"/>
          </a:p>
        </p:txBody>
      </p:sp>
      <p:sp>
        <p:nvSpPr>
          <p:cNvPr id="34" name="Text 31"/>
          <p:cNvSpPr/>
          <p:nvPr/>
        </p:nvSpPr>
        <p:spPr>
          <a:xfrm>
            <a:off x="6208776"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Antiochus Epiphanes set Zeus — with his own face — in the temple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“Do you not remember?”</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2:5 · II.B — The antidote for the deception</a:t>
            </a:r>
            <a:endParaRPr lang="en-US" sz="1200" dirty="0"/>
          </a:p>
        </p:txBody>
      </p:sp>
      <p:sp>
        <p:nvSpPr>
          <p:cNvPr id="5" name="Shape 2"/>
          <p:cNvSpPr/>
          <p:nvPr/>
        </p:nvSpPr>
        <p:spPr>
          <a:xfrm>
            <a:off x="457200" y="1188720"/>
            <a:ext cx="2602992" cy="1828800"/>
          </a:xfrm>
          <a:prstGeom prst="roundRect">
            <a:avLst>
              <a:gd name="adj" fmla="val 3000"/>
            </a:avLst>
          </a:prstGeom>
          <a:solidFill>
            <a:srgbClr val="F2F6FC"/>
          </a:solidFill>
          <a:ln w="9525">
            <a:solidFill>
              <a:srgbClr val="D5DCEA"/>
            </a:solidFill>
            <a:prstDash val="solid"/>
          </a:ln>
        </p:spPr>
      </p:sp>
      <p:sp>
        <p:nvSpPr>
          <p:cNvPr id="6" name="Shape 3"/>
          <p:cNvSpPr/>
          <p:nvPr/>
        </p:nvSpPr>
        <p:spPr>
          <a:xfrm>
            <a:off x="1557528"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557528"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Hear it</a:t>
            </a:r>
            <a:endParaRPr lang="en-US" sz="1150" dirty="0"/>
          </a:p>
        </p:txBody>
      </p:sp>
      <p:sp>
        <p:nvSpPr>
          <p:cNvPr id="9" name="Text 6"/>
          <p:cNvSpPr/>
          <p:nvPr/>
        </p:nvSpPr>
        <p:spPr>
          <a:xfrm>
            <a:off x="530352" y="2157984"/>
            <a:ext cx="2456688" cy="47548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Pay attention to what you hear</a:t>
            </a:r>
            <a:endParaRPr lang="en-US" sz="1150" dirty="0"/>
          </a:p>
        </p:txBody>
      </p:sp>
      <p:sp>
        <p:nvSpPr>
          <p:cNvPr id="10" name="Text 7"/>
          <p:cNvSpPr/>
          <p:nvPr/>
        </p:nvSpPr>
        <p:spPr>
          <a:xfrm>
            <a:off x="530352" y="263347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first</a:t>
            </a:r>
            <a:endParaRPr lang="en-US" sz="900" dirty="0"/>
          </a:p>
        </p:txBody>
      </p:sp>
      <p:sp>
        <p:nvSpPr>
          <p:cNvPr id="11" name="Shape 8"/>
          <p:cNvSpPr/>
          <p:nvPr/>
        </p:nvSpPr>
        <p:spPr>
          <a:xfrm>
            <a:off x="3064764" y="1984248"/>
            <a:ext cx="201168" cy="237744"/>
          </a:xfrm>
          <a:prstGeom prst="rightArrow">
            <a:avLst/>
          </a:prstGeom>
          <a:solidFill>
            <a:srgbClr val="6B7280"/>
          </a:solidFill>
          <a:ln w="12700">
            <a:solidFill>
              <a:srgbClr val="6B7280"/>
            </a:solidFill>
            <a:prstDash val="solid"/>
          </a:ln>
        </p:spPr>
      </p:sp>
      <p:sp>
        <p:nvSpPr>
          <p:cNvPr id="12" name="Shape 9"/>
          <p:cNvSpPr/>
          <p:nvPr/>
        </p:nvSpPr>
        <p:spPr>
          <a:xfrm>
            <a:off x="3270504" y="1188720"/>
            <a:ext cx="2602992" cy="1828800"/>
          </a:xfrm>
          <a:prstGeom prst="roundRect">
            <a:avLst>
              <a:gd name="adj" fmla="val 3000"/>
            </a:avLst>
          </a:prstGeom>
          <a:solidFill>
            <a:srgbClr val="F2F6FC"/>
          </a:solidFill>
          <a:ln w="9525">
            <a:solidFill>
              <a:srgbClr val="D5DCEA"/>
            </a:solidFill>
            <a:prstDash val="solid"/>
          </a:ln>
        </p:spPr>
      </p:sp>
      <p:sp>
        <p:nvSpPr>
          <p:cNvPr id="13" name="Shape 10"/>
          <p:cNvSpPr/>
          <p:nvPr/>
        </p:nvSpPr>
        <p:spPr>
          <a:xfrm>
            <a:off x="4370832"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3343656"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Review it</a:t>
            </a:r>
            <a:endParaRPr lang="en-US" sz="1150" dirty="0"/>
          </a:p>
        </p:txBody>
      </p:sp>
      <p:sp>
        <p:nvSpPr>
          <p:cNvPr id="16" name="Text 13"/>
          <p:cNvSpPr/>
          <p:nvPr/>
        </p:nvSpPr>
        <p:spPr>
          <a:xfrm>
            <a:off x="3343656" y="2157984"/>
            <a:ext cx="2456688" cy="47548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Think about it during the week</a:t>
            </a:r>
            <a:endParaRPr lang="en-US" sz="1150" dirty="0"/>
          </a:p>
        </p:txBody>
      </p:sp>
      <p:sp>
        <p:nvSpPr>
          <p:cNvPr id="17" name="Text 14"/>
          <p:cNvSpPr/>
          <p:nvPr/>
        </p:nvSpPr>
        <p:spPr>
          <a:xfrm>
            <a:off x="3343656" y="263347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often</a:t>
            </a:r>
            <a:endParaRPr lang="en-US" sz="900" dirty="0"/>
          </a:p>
        </p:txBody>
      </p:sp>
      <p:sp>
        <p:nvSpPr>
          <p:cNvPr id="18" name="Shape 15"/>
          <p:cNvSpPr/>
          <p:nvPr/>
        </p:nvSpPr>
        <p:spPr>
          <a:xfrm>
            <a:off x="5878068" y="1984248"/>
            <a:ext cx="201168" cy="237744"/>
          </a:xfrm>
          <a:prstGeom prst="rightArrow">
            <a:avLst/>
          </a:prstGeom>
          <a:solidFill>
            <a:srgbClr val="6B7280"/>
          </a:solidFill>
          <a:ln w="12700">
            <a:solidFill>
              <a:srgbClr val="6B7280"/>
            </a:solidFill>
            <a:prstDash val="solid"/>
          </a:ln>
        </p:spPr>
      </p:sp>
      <p:sp>
        <p:nvSpPr>
          <p:cNvPr id="19" name="Shape 16"/>
          <p:cNvSpPr/>
          <p:nvPr/>
        </p:nvSpPr>
        <p:spPr>
          <a:xfrm>
            <a:off x="6083808" y="1188720"/>
            <a:ext cx="2602992" cy="1828800"/>
          </a:xfrm>
          <a:prstGeom prst="roundRect">
            <a:avLst>
              <a:gd name="adj" fmla="val 3000"/>
            </a:avLst>
          </a:prstGeom>
          <a:solidFill>
            <a:srgbClr val="1F3864"/>
          </a:solidFill>
          <a:ln w="9525">
            <a:solidFill>
              <a:srgbClr val="1F3864"/>
            </a:solidFill>
            <a:prstDash val="solid"/>
          </a:ln>
        </p:spPr>
      </p:sp>
      <p:sp>
        <p:nvSpPr>
          <p:cNvPr id="20" name="Shape 17"/>
          <p:cNvSpPr/>
          <p:nvPr/>
        </p:nvSpPr>
        <p:spPr>
          <a:xfrm>
            <a:off x="7184136"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7184136"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6156960" y="1773936"/>
            <a:ext cx="2456688"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Teach it</a:t>
            </a:r>
            <a:endParaRPr lang="en-US" sz="1150" dirty="0"/>
          </a:p>
        </p:txBody>
      </p:sp>
      <p:sp>
        <p:nvSpPr>
          <p:cNvPr id="23" name="Text 20"/>
          <p:cNvSpPr/>
          <p:nvPr/>
        </p:nvSpPr>
        <p:spPr>
          <a:xfrm>
            <a:off x="6156960" y="2157984"/>
            <a:ext cx="2456688" cy="47548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Explain it to family and friends</a:t>
            </a:r>
            <a:endParaRPr lang="en-US" sz="1150" dirty="0"/>
          </a:p>
        </p:txBody>
      </p:sp>
      <p:sp>
        <p:nvSpPr>
          <p:cNvPr id="24" name="Text 21"/>
          <p:cNvSpPr/>
          <p:nvPr/>
        </p:nvSpPr>
        <p:spPr>
          <a:xfrm>
            <a:off x="6156960" y="2633472"/>
            <a:ext cx="2456688"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“you’ll know it when you teach it”</a:t>
            </a:r>
            <a:endParaRPr lang="en-US" sz="900" dirty="0"/>
          </a:p>
        </p:txBody>
      </p:sp>
      <p:sp>
        <p:nvSpPr>
          <p:cNvPr id="25" name="Shape 22"/>
          <p:cNvSpPr/>
          <p:nvPr/>
        </p:nvSpPr>
        <p:spPr>
          <a:xfrm>
            <a:off x="457200" y="3246120"/>
            <a:ext cx="8229600" cy="914400"/>
          </a:xfrm>
          <a:prstGeom prst="roundRect">
            <a:avLst>
              <a:gd name="adj" fmla="val 6000"/>
            </a:avLst>
          </a:prstGeom>
          <a:solidFill>
            <a:srgbClr val="1F3864"/>
          </a:solidFill>
          <a:ln w="12700">
            <a:solidFill>
              <a:srgbClr val="1F3864"/>
            </a:solidFill>
            <a:prstDash val="solid"/>
          </a:ln>
        </p:spPr>
      </p:sp>
      <p:sp>
        <p:nvSpPr>
          <p:cNvPr id="26" name="Text 23"/>
          <p:cNvSpPr/>
          <p:nvPr/>
        </p:nvSpPr>
        <p:spPr>
          <a:xfrm>
            <a:off x="621792" y="3246120"/>
            <a:ext cx="7900416" cy="91440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The antidote to every deception: remember, review, and teach what God has already said. You are not going into that Tribulation.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2:1–5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What three channels did the deception come through, and how should believers guard against each?</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What two things must happen before the Day of the Lord can begin, and how will the man of sin be revealed?</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Test What You Hear</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Take one prophecy claim you’ve heard and look up the passages yourself before accepting it.</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Teach It to Keep It</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Explain the difference between the Rapture and the Day of the Lord to a family member or friend this week.</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Don’t be shaken: the apostasy and the man of sin must come first — so remember, review and teach what God has said.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Study 4 of 7 · 2 Thessalonians 2:6–12</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The Removal of the Restrainer</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The apostasy, the man of sin — and a third thing must come first: the Restrainer taken out of the way. Then the lawless one is revealed, and the Lord Jesus destroys him at His coming. God is in control from beginning to end.</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reasons they were not in the Day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Introduction · A–D</a:t>
            </a:r>
            <a:endParaRPr lang="en-US" sz="1200" dirty="0"/>
          </a:p>
        </p:txBody>
      </p:sp>
      <p:sp>
        <p:nvSpPr>
          <p:cNvPr id="5" name="Shape 2"/>
          <p:cNvSpPr/>
          <p:nvPr/>
        </p:nvSpPr>
        <p:spPr>
          <a:xfrm>
            <a:off x="457200" y="1188720"/>
            <a:ext cx="2499360" cy="365760"/>
          </a:xfrm>
          <a:prstGeom prst="rect">
            <a:avLst/>
          </a:prstGeom>
          <a:solidFill>
            <a:srgbClr val="6B7280"/>
          </a:solidFill>
          <a:ln w="12700">
            <a:solidFill>
              <a:srgbClr val="6B7280"/>
            </a:solidFill>
            <a:prstDash val="solid"/>
          </a:ln>
        </p:spPr>
      </p:sp>
      <p:sp>
        <p:nvSpPr>
          <p:cNvPr id="6" name="Text 3"/>
          <p:cNvSpPr/>
          <p:nvPr/>
        </p:nvSpPr>
        <p:spPr>
          <a:xfrm>
            <a:off x="54864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1 · The apostasy</a:t>
            </a:r>
            <a:endParaRPr lang="en-US" sz="1200" dirty="0"/>
          </a:p>
        </p:txBody>
      </p:sp>
      <p:sp>
        <p:nvSpPr>
          <p:cNvPr id="7" name="Shape 4"/>
          <p:cNvSpPr/>
          <p:nvPr/>
        </p:nvSpPr>
        <p:spPr>
          <a:xfrm>
            <a:off x="457200" y="1554480"/>
            <a:ext cx="2499360" cy="1920240"/>
          </a:xfrm>
          <a:prstGeom prst="rect">
            <a:avLst/>
          </a:prstGeom>
          <a:solidFill>
            <a:srgbClr val="F2F6FC"/>
          </a:solidFill>
          <a:ln w="9525">
            <a:solidFill>
              <a:srgbClr val="D5DCEA"/>
            </a:solidFill>
            <a:prstDash val="solid"/>
          </a:ln>
        </p:spPr>
      </p:sp>
      <p:sp>
        <p:nvSpPr>
          <p:cNvPr id="8" name="Text 5"/>
          <p:cNvSpPr/>
          <p:nvPr/>
        </p:nvSpPr>
        <p:spPr>
          <a:xfrm>
            <a:off x="548640" y="1627632"/>
            <a:ext cx="2316480" cy="179222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falling away from the faith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Worldwide and church-wide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Studied in 2:3</a:t>
            </a:r>
            <a:endParaRPr lang="en-US" sz="1250" dirty="0"/>
          </a:p>
        </p:txBody>
      </p:sp>
      <p:sp>
        <p:nvSpPr>
          <p:cNvPr id="9" name="Shape 6"/>
          <p:cNvSpPr/>
          <p:nvPr/>
        </p:nvSpPr>
        <p:spPr>
          <a:xfrm>
            <a:off x="3020568" y="2212848"/>
            <a:ext cx="237744" cy="237744"/>
          </a:xfrm>
          <a:prstGeom prst="rightArrow">
            <a:avLst/>
          </a:prstGeom>
          <a:solidFill>
            <a:srgbClr val="6B7280"/>
          </a:solidFill>
          <a:ln w="12700">
            <a:solidFill>
              <a:srgbClr val="6B7280"/>
            </a:solidFill>
            <a:prstDash val="solid"/>
          </a:ln>
        </p:spPr>
      </p:sp>
      <p:sp>
        <p:nvSpPr>
          <p:cNvPr id="10" name="Shape 7"/>
          <p:cNvSpPr/>
          <p:nvPr/>
        </p:nvSpPr>
        <p:spPr>
          <a:xfrm>
            <a:off x="3322320" y="1188720"/>
            <a:ext cx="2499360" cy="365760"/>
          </a:xfrm>
          <a:prstGeom prst="rect">
            <a:avLst/>
          </a:prstGeom>
          <a:solidFill>
            <a:srgbClr val="2E5496"/>
          </a:solidFill>
          <a:ln w="12700">
            <a:solidFill>
              <a:srgbClr val="2E5496"/>
            </a:solidFill>
            <a:prstDash val="solid"/>
          </a:ln>
        </p:spPr>
      </p:sp>
      <p:sp>
        <p:nvSpPr>
          <p:cNvPr id="11" name="Text 8"/>
          <p:cNvSpPr/>
          <p:nvPr/>
        </p:nvSpPr>
        <p:spPr>
          <a:xfrm>
            <a:off x="341376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2 · The man of sin revealed</a:t>
            </a:r>
            <a:endParaRPr lang="en-US" sz="1200" dirty="0"/>
          </a:p>
        </p:txBody>
      </p:sp>
      <p:sp>
        <p:nvSpPr>
          <p:cNvPr id="12" name="Shape 9"/>
          <p:cNvSpPr/>
          <p:nvPr/>
        </p:nvSpPr>
        <p:spPr>
          <a:xfrm>
            <a:off x="3322320" y="1554480"/>
            <a:ext cx="2499360" cy="1920240"/>
          </a:xfrm>
          <a:prstGeom prst="rect">
            <a:avLst/>
          </a:prstGeom>
          <a:solidFill>
            <a:srgbClr val="F2F6FC"/>
          </a:solidFill>
          <a:ln w="9525">
            <a:solidFill>
              <a:srgbClr val="D5DCEA"/>
            </a:solidFill>
            <a:prstDash val="solid"/>
          </a:ln>
        </p:spPr>
      </p:sp>
      <p:sp>
        <p:nvSpPr>
          <p:cNvPr id="13" name="Text 10"/>
          <p:cNvSpPr/>
          <p:nvPr/>
        </p:nvSpPr>
        <p:spPr>
          <a:xfrm>
            <a:off x="3413760" y="1627632"/>
            <a:ext cx="2316480" cy="179222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seven-year covenant with Israel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Dan 9:27</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Israel’s prophecy clock restarts</a:t>
            </a:r>
            <a:endParaRPr lang="en-US" sz="1250" dirty="0"/>
          </a:p>
        </p:txBody>
      </p:sp>
      <p:sp>
        <p:nvSpPr>
          <p:cNvPr id="14" name="Shape 11"/>
          <p:cNvSpPr/>
          <p:nvPr/>
        </p:nvSpPr>
        <p:spPr>
          <a:xfrm>
            <a:off x="5885688" y="2212848"/>
            <a:ext cx="237744" cy="237744"/>
          </a:xfrm>
          <a:prstGeom prst="rightArrow">
            <a:avLst/>
          </a:prstGeom>
          <a:solidFill>
            <a:srgbClr val="6B7280"/>
          </a:solidFill>
          <a:ln w="12700">
            <a:solidFill>
              <a:srgbClr val="6B7280"/>
            </a:solidFill>
            <a:prstDash val="solid"/>
          </a:ln>
        </p:spPr>
      </p:sp>
      <p:sp>
        <p:nvSpPr>
          <p:cNvPr id="15" name="Shape 12"/>
          <p:cNvSpPr/>
          <p:nvPr/>
        </p:nvSpPr>
        <p:spPr>
          <a:xfrm>
            <a:off x="6187440" y="1188720"/>
            <a:ext cx="2499360" cy="365760"/>
          </a:xfrm>
          <a:prstGeom prst="rect">
            <a:avLst/>
          </a:prstGeom>
          <a:solidFill>
            <a:srgbClr val="375623"/>
          </a:solidFill>
          <a:ln w="12700">
            <a:solidFill>
              <a:srgbClr val="375623"/>
            </a:solidFill>
            <a:prstDash val="solid"/>
          </a:ln>
        </p:spPr>
      </p:sp>
      <p:sp>
        <p:nvSpPr>
          <p:cNvPr id="16" name="Text 13"/>
          <p:cNvSpPr/>
          <p:nvPr/>
        </p:nvSpPr>
        <p:spPr>
          <a:xfrm>
            <a:off x="627888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3 · The Restrainer removed</a:t>
            </a:r>
            <a:endParaRPr lang="en-US" sz="1200" dirty="0"/>
          </a:p>
        </p:txBody>
      </p:sp>
      <p:sp>
        <p:nvSpPr>
          <p:cNvPr id="17" name="Shape 14"/>
          <p:cNvSpPr/>
          <p:nvPr/>
        </p:nvSpPr>
        <p:spPr>
          <a:xfrm>
            <a:off x="6187440" y="1554480"/>
            <a:ext cx="2499360" cy="1920240"/>
          </a:xfrm>
          <a:prstGeom prst="rect">
            <a:avLst/>
          </a:prstGeom>
          <a:solidFill>
            <a:srgbClr val="F2F6FC"/>
          </a:solidFill>
          <a:ln w="9525">
            <a:solidFill>
              <a:srgbClr val="D5DCEA"/>
            </a:solidFill>
            <a:prstDash val="solid"/>
          </a:ln>
        </p:spPr>
      </p:sp>
      <p:sp>
        <p:nvSpPr>
          <p:cNvPr id="18" name="Text 15"/>
          <p:cNvSpPr/>
          <p:nvPr/>
        </p:nvSpPr>
        <p:spPr>
          <a:xfrm>
            <a:off x="6278880" y="1627632"/>
            <a:ext cx="2316480" cy="179222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“Until He is taken out of the way”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2:6–7</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Today’s study</a:t>
            </a:r>
            <a:endParaRPr lang="en-US" sz="1250" dirty="0"/>
          </a:p>
        </p:txBody>
      </p:sp>
      <p:sp>
        <p:nvSpPr>
          <p:cNvPr id="19" name="Shape 16"/>
          <p:cNvSpPr/>
          <p:nvPr/>
        </p:nvSpPr>
        <p:spPr>
          <a:xfrm>
            <a:off x="457200" y="3657600"/>
            <a:ext cx="8229600" cy="914400"/>
          </a:xfrm>
          <a:prstGeom prst="roundRect">
            <a:avLst>
              <a:gd name="adj" fmla="val 6000"/>
            </a:avLst>
          </a:prstGeom>
          <a:solidFill>
            <a:srgbClr val="1F3864"/>
          </a:solidFill>
          <a:ln w="12700">
            <a:solidFill>
              <a:srgbClr val="1F3864"/>
            </a:solidFill>
            <a:prstDash val="solid"/>
          </a:ln>
        </p:spPr>
      </p:sp>
      <p:sp>
        <p:nvSpPr>
          <p:cNvPr id="20" name="Text 17"/>
          <p:cNvSpPr/>
          <p:nvPr/>
        </p:nvSpPr>
        <p:spPr>
          <a:xfrm>
            <a:off x="621792" y="3657600"/>
            <a:ext cx="7900416" cy="91440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“Do you not remember that when I was with you I told you these things?” (2:5) — Paul expected them to remember what he taught them. And why not?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Who is the Restrainer?</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2:6–7 · I.A and I.C — A force and a person</a:t>
            </a:r>
            <a:endParaRPr lang="en-US" sz="1200" dirty="0"/>
          </a:p>
        </p:txBody>
      </p:sp>
      <p:sp>
        <p:nvSpPr>
          <p:cNvPr id="5" name="Shape 2"/>
          <p:cNvSpPr/>
          <p:nvPr/>
        </p:nvSpPr>
        <p:spPr>
          <a:xfrm>
            <a:off x="457200" y="1188720"/>
            <a:ext cx="3931920" cy="566928"/>
          </a:xfrm>
          <a:prstGeom prst="rect">
            <a:avLst/>
          </a:prstGeom>
          <a:solidFill>
            <a:srgbClr val="2E5496"/>
          </a:solidFill>
          <a:ln w="12700">
            <a:solidFill>
              <a:srgbClr val="2E5496"/>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v.6 — “what is restraining”</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τὸ κατέχον</a:t>
            </a:r>
            <a:pPr indent="0" marL="0">
              <a:buNone/>
            </a:pPr>
            <a:r>
              <a:rPr lang="en-US" sz="850" dirty="0">
                <a:solidFill>
                  <a:srgbClr val="DCE4F2"/>
                </a:solidFill>
                <a:latin typeface="Arial" pitchFamily="34" charset="0"/>
                <a:ea typeface="Arial" pitchFamily="34" charset="-122"/>
                <a:cs typeface="Arial" pitchFamily="34" charset="-120"/>
              </a:rPr>
              <a:t>  neuter</a:t>
            </a:r>
            <a:endParaRPr lang="en-US" sz="1200" dirty="0"/>
          </a:p>
        </p:txBody>
      </p:sp>
      <p:sp>
        <p:nvSpPr>
          <p:cNvPr id="7" name="Shape 4"/>
          <p:cNvSpPr/>
          <p:nvPr/>
        </p:nvSpPr>
        <p:spPr>
          <a:xfrm>
            <a:off x="457200" y="1755648"/>
            <a:ext cx="3931920" cy="1764792"/>
          </a:xfrm>
          <a:prstGeom prst="rect">
            <a:avLst/>
          </a:prstGeom>
          <a:solidFill>
            <a:srgbClr val="F2F6FC"/>
          </a:solidFill>
          <a:ln w="9525">
            <a:solidFill>
              <a:srgbClr val="D5DCEA"/>
            </a:solidFill>
            <a:prstDash val="solid"/>
          </a:ln>
        </p:spPr>
      </p:sp>
      <p:sp>
        <p:nvSpPr>
          <p:cNvPr id="8" name="Text 5"/>
          <p:cNvSpPr/>
          <p:nvPr/>
        </p:nvSpPr>
        <p:spPr>
          <a:xfrm>
            <a:off x="548640" y="1828800"/>
            <a:ext cx="374904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force — a “what”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Fits pneuma, a neuter noun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Must be strong enough to hold back Satan</a:t>
            </a:r>
            <a:endParaRPr lang="en-US" sz="1250" dirty="0"/>
          </a:p>
        </p:txBody>
      </p:sp>
      <p:sp>
        <p:nvSpPr>
          <p:cNvPr id="9" name="Shape 6"/>
          <p:cNvSpPr/>
          <p:nvPr/>
        </p:nvSpPr>
        <p:spPr>
          <a:xfrm>
            <a:off x="4754880" y="1188720"/>
            <a:ext cx="3931920" cy="566928"/>
          </a:xfrm>
          <a:prstGeom prst="rect">
            <a:avLst/>
          </a:prstGeom>
          <a:solidFill>
            <a:srgbClr val="375623"/>
          </a:solidFill>
          <a:ln w="12700">
            <a:solidFill>
              <a:srgbClr val="375623"/>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v.7 — “He who now restrains”</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ὁ κατέχων</a:t>
            </a:r>
            <a:pPr indent="0" marL="0">
              <a:buNone/>
            </a:pPr>
            <a:r>
              <a:rPr lang="en-US" sz="850" dirty="0">
                <a:solidFill>
                  <a:srgbClr val="DCE4F2"/>
                </a:solidFill>
                <a:latin typeface="Arial" pitchFamily="34" charset="0"/>
                <a:ea typeface="Arial" pitchFamily="34" charset="-122"/>
                <a:cs typeface="Arial" pitchFamily="34" charset="-120"/>
              </a:rPr>
              <a:t>  masculine</a:t>
            </a:r>
            <a:endParaRPr lang="en-US" sz="1200" dirty="0"/>
          </a:p>
        </p:txBody>
      </p:sp>
      <p:sp>
        <p:nvSpPr>
          <p:cNvPr id="11" name="Shape 8"/>
          <p:cNvSpPr/>
          <p:nvPr/>
        </p:nvSpPr>
        <p:spPr>
          <a:xfrm>
            <a:off x="4754880" y="1755648"/>
            <a:ext cx="3931920" cy="176479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person — a “He”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As Jesus spoke of the Spirit (John 14–16)</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Indwells the church until removed</a:t>
            </a:r>
            <a:endParaRPr lang="en-US" sz="1250" dirty="0"/>
          </a:p>
        </p:txBody>
      </p:sp>
      <p:sp>
        <p:nvSpPr>
          <p:cNvPr id="13" name="Text 10"/>
          <p:cNvSpPr/>
          <p:nvPr/>
        </p:nvSpPr>
        <p:spPr>
          <a:xfrm>
            <a:off x="4389120" y="217170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a:t>
            </a:r>
            <a:endParaRPr lang="en-US" sz="1100" dirty="0"/>
          </a:p>
        </p:txBody>
      </p:sp>
      <p:sp>
        <p:nvSpPr>
          <p:cNvPr id="14" name="Shape 11"/>
          <p:cNvSpPr/>
          <p:nvPr/>
        </p:nvSpPr>
        <p:spPr>
          <a:xfrm>
            <a:off x="457200" y="3749040"/>
            <a:ext cx="8229600" cy="868680"/>
          </a:xfrm>
          <a:prstGeom prst="roundRect">
            <a:avLst>
              <a:gd name="adj" fmla="val 6316"/>
            </a:avLst>
          </a:prstGeom>
          <a:solidFill>
            <a:srgbClr val="1F3864"/>
          </a:solidFill>
          <a:ln w="12700">
            <a:solidFill>
              <a:srgbClr val="1F3864"/>
            </a:solidFill>
            <a:prstDash val="solid"/>
          </a:ln>
        </p:spPr>
      </p:sp>
      <p:sp>
        <p:nvSpPr>
          <p:cNvPr id="15" name="Text 12"/>
          <p:cNvSpPr/>
          <p:nvPr/>
        </p:nvSpPr>
        <p:spPr>
          <a:xfrm>
            <a:off x="621792" y="3749040"/>
            <a:ext cx="7900416" cy="86868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The Spirit cannot leave a believer (“forever,” John 14:16). If the Restrainer is taken out of the way, the church is taken out with Him.</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mystery of lawlessness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2:7a · I.B — The demonic activity</a:t>
            </a:r>
            <a:endParaRPr lang="en-US" sz="1200" dirty="0"/>
          </a:p>
        </p:txBody>
      </p:sp>
      <p:sp>
        <p:nvSpPr>
          <p:cNvPr id="5" name="Shape 2"/>
          <p:cNvSpPr/>
          <p:nvPr/>
        </p:nvSpPr>
        <p:spPr>
          <a:xfrm>
            <a:off x="457200" y="1188720"/>
            <a:ext cx="2602992" cy="1737360"/>
          </a:xfrm>
          <a:prstGeom prst="roundRect">
            <a:avLst>
              <a:gd name="adj" fmla="val 3158"/>
            </a:avLst>
          </a:prstGeom>
          <a:solidFill>
            <a:srgbClr val="F2F6FC"/>
          </a:solidFill>
          <a:ln w="9525">
            <a:solidFill>
              <a:srgbClr val="D5DCEA"/>
            </a:solidFill>
            <a:prstDash val="solid"/>
          </a:ln>
        </p:spPr>
      </p:sp>
      <p:sp>
        <p:nvSpPr>
          <p:cNvPr id="6" name="Shape 3"/>
          <p:cNvSpPr/>
          <p:nvPr/>
        </p:nvSpPr>
        <p:spPr>
          <a:xfrm>
            <a:off x="1557528"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557528"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The church</a:t>
            </a:r>
            <a:endParaRPr lang="en-US" sz="1150" dirty="0"/>
          </a:p>
        </p:txBody>
      </p:sp>
      <p:sp>
        <p:nvSpPr>
          <p:cNvPr id="9" name="Text 6"/>
          <p:cNvSpPr/>
          <p:nvPr/>
        </p:nvSpPr>
        <p:spPr>
          <a:xfrm>
            <a:off x="530352" y="2157984"/>
            <a:ext cx="2456688" cy="38404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A mystery</a:t>
            </a:r>
            <a:endParaRPr lang="en-US" sz="1150" dirty="0"/>
          </a:p>
        </p:txBody>
      </p:sp>
      <p:sp>
        <p:nvSpPr>
          <p:cNvPr id="10" name="Text 7"/>
          <p:cNvSpPr/>
          <p:nvPr/>
        </p:nvSpPr>
        <p:spPr>
          <a:xfrm>
            <a:off x="530352" y="254203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Rom 16:25 · Eph 5:32</a:t>
            </a:r>
            <a:endParaRPr lang="en-US" sz="900" dirty="0"/>
          </a:p>
        </p:txBody>
      </p:sp>
      <p:sp>
        <p:nvSpPr>
          <p:cNvPr id="11" name="Shape 8"/>
          <p:cNvSpPr/>
          <p:nvPr/>
        </p:nvSpPr>
        <p:spPr>
          <a:xfrm>
            <a:off x="3064764" y="1938528"/>
            <a:ext cx="201168" cy="237744"/>
          </a:xfrm>
          <a:prstGeom prst="rightArrow">
            <a:avLst/>
          </a:prstGeom>
          <a:solidFill>
            <a:srgbClr val="6B7280"/>
          </a:solidFill>
          <a:ln w="12700">
            <a:solidFill>
              <a:srgbClr val="6B7280"/>
            </a:solidFill>
            <a:prstDash val="solid"/>
          </a:ln>
        </p:spPr>
      </p:sp>
      <p:sp>
        <p:nvSpPr>
          <p:cNvPr id="12" name="Shape 9"/>
          <p:cNvSpPr/>
          <p:nvPr/>
        </p:nvSpPr>
        <p:spPr>
          <a:xfrm>
            <a:off x="3270504" y="1188720"/>
            <a:ext cx="2602992" cy="1737360"/>
          </a:xfrm>
          <a:prstGeom prst="roundRect">
            <a:avLst>
              <a:gd name="adj" fmla="val 3158"/>
            </a:avLst>
          </a:prstGeom>
          <a:solidFill>
            <a:srgbClr val="F2F6FC"/>
          </a:solidFill>
          <a:ln w="9525">
            <a:solidFill>
              <a:srgbClr val="D5DCEA"/>
            </a:solidFill>
            <a:prstDash val="solid"/>
          </a:ln>
        </p:spPr>
      </p:sp>
      <p:sp>
        <p:nvSpPr>
          <p:cNvPr id="13" name="Shape 10"/>
          <p:cNvSpPr/>
          <p:nvPr/>
        </p:nvSpPr>
        <p:spPr>
          <a:xfrm>
            <a:off x="4370832"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3343656"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The Rapture</a:t>
            </a:r>
            <a:endParaRPr lang="en-US" sz="1150" dirty="0"/>
          </a:p>
        </p:txBody>
      </p:sp>
      <p:sp>
        <p:nvSpPr>
          <p:cNvPr id="16" name="Text 13"/>
          <p:cNvSpPr/>
          <p:nvPr/>
        </p:nvSpPr>
        <p:spPr>
          <a:xfrm>
            <a:off x="3343656" y="2157984"/>
            <a:ext cx="2456688" cy="38404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A mystery</a:t>
            </a:r>
            <a:endParaRPr lang="en-US" sz="1150" dirty="0"/>
          </a:p>
        </p:txBody>
      </p:sp>
      <p:sp>
        <p:nvSpPr>
          <p:cNvPr id="17" name="Text 14"/>
          <p:cNvSpPr/>
          <p:nvPr/>
        </p:nvSpPr>
        <p:spPr>
          <a:xfrm>
            <a:off x="3343656" y="254203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1 Cor 15:51</a:t>
            </a:r>
            <a:endParaRPr lang="en-US" sz="900" dirty="0"/>
          </a:p>
        </p:txBody>
      </p:sp>
      <p:sp>
        <p:nvSpPr>
          <p:cNvPr id="18" name="Shape 15"/>
          <p:cNvSpPr/>
          <p:nvPr/>
        </p:nvSpPr>
        <p:spPr>
          <a:xfrm>
            <a:off x="5878068" y="1938528"/>
            <a:ext cx="201168" cy="237744"/>
          </a:xfrm>
          <a:prstGeom prst="rightArrow">
            <a:avLst/>
          </a:prstGeom>
          <a:solidFill>
            <a:srgbClr val="6B7280"/>
          </a:solidFill>
          <a:ln w="12700">
            <a:solidFill>
              <a:srgbClr val="6B7280"/>
            </a:solidFill>
            <a:prstDash val="solid"/>
          </a:ln>
        </p:spPr>
      </p:sp>
      <p:sp>
        <p:nvSpPr>
          <p:cNvPr id="19" name="Shape 16"/>
          <p:cNvSpPr/>
          <p:nvPr/>
        </p:nvSpPr>
        <p:spPr>
          <a:xfrm>
            <a:off x="6083808" y="1188720"/>
            <a:ext cx="2602992" cy="1737360"/>
          </a:xfrm>
          <a:prstGeom prst="roundRect">
            <a:avLst>
              <a:gd name="adj" fmla="val 3158"/>
            </a:avLst>
          </a:prstGeom>
          <a:solidFill>
            <a:srgbClr val="1F3864"/>
          </a:solidFill>
          <a:ln w="9525">
            <a:solidFill>
              <a:srgbClr val="1F3864"/>
            </a:solidFill>
            <a:prstDash val="solid"/>
          </a:ln>
        </p:spPr>
      </p:sp>
      <p:sp>
        <p:nvSpPr>
          <p:cNvPr id="20" name="Shape 17"/>
          <p:cNvSpPr/>
          <p:nvPr/>
        </p:nvSpPr>
        <p:spPr>
          <a:xfrm>
            <a:off x="7184136"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7184136"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6156960" y="1773936"/>
            <a:ext cx="2456688"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Lawlessness</a:t>
            </a:r>
            <a:endParaRPr lang="en-US" sz="1150" dirty="0"/>
          </a:p>
        </p:txBody>
      </p:sp>
      <p:sp>
        <p:nvSpPr>
          <p:cNvPr id="23" name="Text 20"/>
          <p:cNvSpPr/>
          <p:nvPr/>
        </p:nvSpPr>
        <p:spPr>
          <a:xfrm>
            <a:off x="6156960" y="2157984"/>
            <a:ext cx="2456688" cy="38404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A mystery — already at work</a:t>
            </a:r>
            <a:endParaRPr lang="en-US" sz="1150" dirty="0"/>
          </a:p>
        </p:txBody>
      </p:sp>
      <p:sp>
        <p:nvSpPr>
          <p:cNvPr id="24" name="Text 21"/>
          <p:cNvSpPr/>
          <p:nvPr/>
        </p:nvSpPr>
        <p:spPr>
          <a:xfrm>
            <a:off x="6156960" y="2542032"/>
            <a:ext cx="2456688"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μυστήριον · ἀνομία · 2:7</a:t>
            </a:r>
            <a:endParaRPr lang="en-US" sz="900" dirty="0"/>
          </a:p>
        </p:txBody>
      </p:sp>
      <p:sp>
        <p:nvSpPr>
          <p:cNvPr id="25" name="Shape 22"/>
          <p:cNvSpPr/>
          <p:nvPr/>
        </p:nvSpPr>
        <p:spPr>
          <a:xfrm>
            <a:off x="457200" y="3108960"/>
            <a:ext cx="4023360" cy="566928"/>
          </a:xfrm>
          <a:prstGeom prst="rect">
            <a:avLst/>
          </a:prstGeom>
          <a:solidFill>
            <a:srgbClr val="2E5496"/>
          </a:solidFill>
          <a:ln w="12700">
            <a:solidFill>
              <a:srgbClr val="2E5496"/>
            </a:solidFill>
            <a:prstDash val="solid"/>
          </a:ln>
        </p:spPr>
      </p:sp>
      <p:sp>
        <p:nvSpPr>
          <p:cNvPr id="26" name="Text 23"/>
          <p:cNvSpPr/>
          <p:nvPr/>
        </p:nvSpPr>
        <p:spPr>
          <a:xfrm>
            <a:off x="548640" y="315468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Already at work</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ἐνεργέω</a:t>
            </a:r>
            <a:pPr indent="0" marL="0">
              <a:buNone/>
            </a:pPr>
            <a:r>
              <a:rPr lang="en-US" sz="850" dirty="0">
                <a:solidFill>
                  <a:srgbClr val="DCE4F2"/>
                </a:solidFill>
                <a:latin typeface="Arial" pitchFamily="34" charset="0"/>
                <a:ea typeface="Arial" pitchFamily="34" charset="-122"/>
                <a:cs typeface="Arial" pitchFamily="34" charset="-120"/>
              </a:rPr>
              <a:t>  G1754</a:t>
            </a:r>
            <a:endParaRPr lang="en-US" sz="1200" dirty="0"/>
          </a:p>
        </p:txBody>
      </p:sp>
      <p:sp>
        <p:nvSpPr>
          <p:cNvPr id="27" name="Shape 24"/>
          <p:cNvSpPr/>
          <p:nvPr/>
        </p:nvSpPr>
        <p:spPr>
          <a:xfrm>
            <a:off x="457200" y="3675888"/>
            <a:ext cx="4023360" cy="941832"/>
          </a:xfrm>
          <a:prstGeom prst="rect">
            <a:avLst/>
          </a:prstGeom>
          <a:solidFill>
            <a:srgbClr val="F2F6FC"/>
          </a:solidFill>
          <a:ln w="9525">
            <a:solidFill>
              <a:srgbClr val="D5DCEA"/>
            </a:solidFill>
            <a:prstDash val="solid"/>
          </a:ln>
        </p:spPr>
      </p:sp>
      <p:sp>
        <p:nvSpPr>
          <p:cNvPr id="28" name="Text 25"/>
          <p:cNvSpPr/>
          <p:nvPr/>
        </p:nvSpPr>
        <p:spPr>
          <a:xfrm>
            <a:off x="548640" y="3749040"/>
            <a:ext cx="3840480" cy="813816"/>
          </a:xfrm>
          <a:prstGeom prst="rect">
            <a:avLst/>
          </a:prstGeom>
          <a:noFill/>
          <a:ln/>
        </p:spPr>
        <p:txBody>
          <a:bodyPr wrap="square" lIns="0" tIns="0" rIns="0" bIns="0" rtlCol="0" anchor="t"/>
          <a:lstStyle/>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Satan’s power operating now</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Same root in v.9 and v.11</a:t>
            </a:r>
            <a:endParaRPr lang="en-US" sz="1200" dirty="0"/>
          </a:p>
        </p:txBody>
      </p:sp>
      <p:sp>
        <p:nvSpPr>
          <p:cNvPr id="29" name="Shape 26"/>
          <p:cNvSpPr/>
          <p:nvPr/>
        </p:nvSpPr>
        <p:spPr>
          <a:xfrm>
            <a:off x="4663440" y="3108960"/>
            <a:ext cx="4023360" cy="365760"/>
          </a:xfrm>
          <a:prstGeom prst="rect">
            <a:avLst/>
          </a:prstGeom>
          <a:solidFill>
            <a:srgbClr val="375623"/>
          </a:solidFill>
          <a:ln w="12700">
            <a:solidFill>
              <a:srgbClr val="375623"/>
            </a:solidFill>
            <a:prstDash val="solid"/>
          </a:ln>
        </p:spPr>
      </p:sp>
      <p:sp>
        <p:nvSpPr>
          <p:cNvPr id="30" name="Text 27"/>
          <p:cNvSpPr/>
          <p:nvPr/>
        </p:nvSpPr>
        <p:spPr>
          <a:xfrm>
            <a:off x="4754880" y="315468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Only God can restrain it</a:t>
            </a:r>
            <a:endParaRPr lang="en-US" sz="1200" dirty="0"/>
          </a:p>
        </p:txBody>
      </p:sp>
      <p:sp>
        <p:nvSpPr>
          <p:cNvPr id="31" name="Shape 28"/>
          <p:cNvSpPr/>
          <p:nvPr/>
        </p:nvSpPr>
        <p:spPr>
          <a:xfrm>
            <a:off x="4663440" y="3474720"/>
            <a:ext cx="4023360" cy="1143000"/>
          </a:xfrm>
          <a:prstGeom prst="rect">
            <a:avLst/>
          </a:prstGeom>
          <a:solidFill>
            <a:srgbClr val="F2F6FC"/>
          </a:solidFill>
          <a:ln w="9525">
            <a:solidFill>
              <a:srgbClr val="D5DCEA"/>
            </a:solidFill>
            <a:prstDash val="solid"/>
          </a:ln>
        </p:spPr>
      </p:sp>
      <p:sp>
        <p:nvSpPr>
          <p:cNvPr id="32" name="Text 29"/>
          <p:cNvSpPr/>
          <p:nvPr/>
        </p:nvSpPr>
        <p:spPr>
          <a:xfrm>
            <a:off x="4754880" y="3547872"/>
            <a:ext cx="3840480" cy="1014984"/>
          </a:xfrm>
          <a:prstGeom prst="rect">
            <a:avLst/>
          </a:prstGeom>
          <a:noFill/>
          <a:ln/>
        </p:spPr>
        <p:txBody>
          <a:bodyPr wrap="square" lIns="0" tIns="0" rIns="0" bIns="0" rtlCol="0" anchor="t"/>
          <a:lstStyle/>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Satan is the mightiest angel</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Michael: “The Lord rebuke you” (Jude 9)</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When, who, why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2:8–10 · II — The prophetic climax</a:t>
            </a:r>
            <a:endParaRPr lang="en-US" sz="1200" dirty="0"/>
          </a:p>
        </p:txBody>
      </p:sp>
      <p:sp>
        <p:nvSpPr>
          <p:cNvPr id="5" name="Shape 2"/>
          <p:cNvSpPr/>
          <p:nvPr/>
        </p:nvSpPr>
        <p:spPr>
          <a:xfrm>
            <a:off x="457200" y="1188720"/>
            <a:ext cx="2621280" cy="566928"/>
          </a:xfrm>
          <a:prstGeom prst="rect">
            <a:avLst/>
          </a:prstGeom>
          <a:solidFill>
            <a:srgbClr val="2E5496"/>
          </a:solidFill>
          <a:ln w="12700">
            <a:solidFill>
              <a:srgbClr val="2E5496"/>
            </a:solidFill>
            <a:prstDash val="solid"/>
          </a:ln>
        </p:spPr>
      </p:sp>
      <p:sp>
        <p:nvSpPr>
          <p:cNvPr id="6" name="Text 3"/>
          <p:cNvSpPr/>
          <p:nvPr/>
        </p:nvSpPr>
        <p:spPr>
          <a:xfrm>
            <a:off x="54864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When · v.8</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ἐπιφάνεια</a:t>
            </a:r>
            <a:pPr indent="0" marL="0">
              <a:buNone/>
            </a:pPr>
            <a:r>
              <a:rPr lang="en-US" sz="850" dirty="0">
                <a:solidFill>
                  <a:srgbClr val="DCE4F2"/>
                </a:solidFill>
                <a:latin typeface="Arial" pitchFamily="34" charset="0"/>
                <a:ea typeface="Arial" pitchFamily="34" charset="-122"/>
                <a:cs typeface="Arial" pitchFamily="34" charset="-120"/>
              </a:rPr>
              <a:t>  brightness of His coming</a:t>
            </a:r>
            <a:endParaRPr lang="en-US" sz="1200" dirty="0"/>
          </a:p>
        </p:txBody>
      </p:sp>
      <p:sp>
        <p:nvSpPr>
          <p:cNvPr id="7" name="Shape 4"/>
          <p:cNvSpPr/>
          <p:nvPr/>
        </p:nvSpPr>
        <p:spPr>
          <a:xfrm>
            <a:off x="457200" y="1755648"/>
            <a:ext cx="2621280" cy="1947672"/>
          </a:xfrm>
          <a:prstGeom prst="rect">
            <a:avLst/>
          </a:prstGeom>
          <a:solidFill>
            <a:srgbClr val="F2F6FC"/>
          </a:solidFill>
          <a:ln w="9525">
            <a:solidFill>
              <a:srgbClr val="D5DCEA"/>
            </a:solidFill>
            <a:prstDash val="solid"/>
          </a:ln>
        </p:spPr>
      </p:sp>
      <p:sp>
        <p:nvSpPr>
          <p:cNvPr id="8" name="Text 5"/>
          <p:cNvSpPr/>
          <p:nvPr/>
        </p:nvSpPr>
        <p:spPr>
          <a:xfrm>
            <a:off x="54864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Revealed after the removal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Consumed by the breath of His mouth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Destroyed at Christ’s coming</a:t>
            </a:r>
            <a:endParaRPr lang="en-US" sz="1250" dirty="0"/>
          </a:p>
        </p:txBody>
      </p:sp>
      <p:sp>
        <p:nvSpPr>
          <p:cNvPr id="9" name="Shape 6"/>
          <p:cNvSpPr/>
          <p:nvPr/>
        </p:nvSpPr>
        <p:spPr>
          <a:xfrm>
            <a:off x="3261360" y="1188720"/>
            <a:ext cx="2621280" cy="566928"/>
          </a:xfrm>
          <a:prstGeom prst="rect">
            <a:avLst/>
          </a:prstGeom>
          <a:solidFill>
            <a:srgbClr val="6B7280"/>
          </a:solidFill>
          <a:ln w="12700">
            <a:solidFill>
              <a:srgbClr val="6B7280"/>
            </a:solidFill>
            <a:prstDash val="solid"/>
          </a:ln>
        </p:spPr>
      </p:sp>
      <p:sp>
        <p:nvSpPr>
          <p:cNvPr id="10" name="Text 7"/>
          <p:cNvSpPr/>
          <p:nvPr/>
        </p:nvSpPr>
        <p:spPr>
          <a:xfrm>
            <a:off x="335280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Who · vv.9–10a</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σημεῖον · τέρας</a:t>
            </a:r>
            <a:pPr indent="0" marL="0">
              <a:buNone/>
            </a:pPr>
            <a:r>
              <a:rPr lang="en-US" sz="850" dirty="0">
                <a:solidFill>
                  <a:srgbClr val="DCE4F2"/>
                </a:solidFill>
                <a:latin typeface="Arial" pitchFamily="34" charset="0"/>
                <a:ea typeface="Arial" pitchFamily="34" charset="-122"/>
                <a:cs typeface="Arial" pitchFamily="34" charset="-120"/>
              </a:rPr>
              <a:t>  signs · wonders</a:t>
            </a:r>
            <a:endParaRPr lang="en-US" sz="1200" dirty="0"/>
          </a:p>
        </p:txBody>
      </p:sp>
      <p:sp>
        <p:nvSpPr>
          <p:cNvPr id="11" name="Shape 8"/>
          <p:cNvSpPr/>
          <p:nvPr/>
        </p:nvSpPr>
        <p:spPr>
          <a:xfrm>
            <a:off x="3261360" y="1755648"/>
            <a:ext cx="2621280" cy="1947672"/>
          </a:xfrm>
          <a:prstGeom prst="rect">
            <a:avLst/>
          </a:prstGeom>
          <a:solidFill>
            <a:srgbClr val="F2F6FC"/>
          </a:solidFill>
          <a:ln w="9525">
            <a:solidFill>
              <a:srgbClr val="D5DCEA"/>
            </a:solidFill>
            <a:prstDash val="solid"/>
          </a:ln>
        </p:spPr>
      </p:sp>
      <p:sp>
        <p:nvSpPr>
          <p:cNvPr id="12" name="Text 9"/>
          <p:cNvSpPr/>
          <p:nvPr/>
        </p:nvSpPr>
        <p:spPr>
          <a:xfrm>
            <a:off x="335280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According to the working of Satan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Lying wonders imitate the Messiah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Deceiving those who perish</a:t>
            </a:r>
            <a:endParaRPr lang="en-US" sz="1250" dirty="0"/>
          </a:p>
        </p:txBody>
      </p:sp>
      <p:sp>
        <p:nvSpPr>
          <p:cNvPr id="13" name="Shape 10"/>
          <p:cNvSpPr/>
          <p:nvPr/>
        </p:nvSpPr>
        <p:spPr>
          <a:xfrm>
            <a:off x="6065520" y="1188720"/>
            <a:ext cx="2621280" cy="566928"/>
          </a:xfrm>
          <a:prstGeom prst="rect">
            <a:avLst/>
          </a:prstGeom>
          <a:solidFill>
            <a:srgbClr val="375623"/>
          </a:solidFill>
          <a:ln w="12700">
            <a:solidFill>
              <a:srgbClr val="375623"/>
            </a:solidFill>
            <a:prstDash val="solid"/>
          </a:ln>
        </p:spPr>
      </p:sp>
      <p:sp>
        <p:nvSpPr>
          <p:cNvPr id="14" name="Text 11"/>
          <p:cNvSpPr/>
          <p:nvPr/>
        </p:nvSpPr>
        <p:spPr>
          <a:xfrm>
            <a:off x="615696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Why · v.10b</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ἀπάτη</a:t>
            </a:r>
            <a:pPr indent="0" marL="0">
              <a:buNone/>
            </a:pPr>
            <a:r>
              <a:rPr lang="en-US" sz="850" dirty="0">
                <a:solidFill>
                  <a:srgbClr val="DCE4F2"/>
                </a:solidFill>
                <a:latin typeface="Arial" pitchFamily="34" charset="0"/>
                <a:ea typeface="Arial" pitchFamily="34" charset="-122"/>
                <a:cs typeface="Arial" pitchFamily="34" charset="-120"/>
              </a:rPr>
              <a:t>  deception · G539</a:t>
            </a:r>
            <a:endParaRPr lang="en-US" sz="1200" dirty="0"/>
          </a:p>
        </p:txBody>
      </p:sp>
      <p:sp>
        <p:nvSpPr>
          <p:cNvPr id="15" name="Shape 12"/>
          <p:cNvSpPr/>
          <p:nvPr/>
        </p:nvSpPr>
        <p:spPr>
          <a:xfrm>
            <a:off x="6065520" y="1755648"/>
            <a:ext cx="2621280" cy="1947672"/>
          </a:xfrm>
          <a:prstGeom prst="rect">
            <a:avLst/>
          </a:prstGeom>
          <a:solidFill>
            <a:srgbClr val="F2F6FC"/>
          </a:solidFill>
          <a:ln w="9525">
            <a:solidFill>
              <a:srgbClr val="D5DCEA"/>
            </a:solidFill>
            <a:prstDash val="solid"/>
          </a:ln>
        </p:spPr>
      </p:sp>
      <p:sp>
        <p:nvSpPr>
          <p:cNvPr id="16" name="Text 13"/>
          <p:cNvSpPr/>
          <p:nvPr/>
        </p:nvSpPr>
        <p:spPr>
          <a:xfrm>
            <a:off x="615696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“They did not receive the love of the truth”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They traded the cross for the show</a:t>
            </a:r>
            <a:endParaRPr lang="en-US" sz="1250" dirty="0"/>
          </a:p>
        </p:txBody>
      </p:sp>
      <p:sp>
        <p:nvSpPr>
          <p:cNvPr id="17" name="Shape 14"/>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18" name="Text 15"/>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Verse 8 is his whole career in three lines: he comes up, he rebels, he is thrown into the lake of fire.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God wins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2:8 · II.A.2–3 — Revelation 19:20 and 20:10</a:t>
            </a:r>
            <a:endParaRPr lang="en-US" sz="1200" dirty="0"/>
          </a:p>
        </p:txBody>
      </p:sp>
      <p:sp>
        <p:nvSpPr>
          <p:cNvPr id="5" name="Shape 2"/>
          <p:cNvSpPr/>
          <p:nvPr/>
        </p:nvSpPr>
        <p:spPr>
          <a:xfrm>
            <a:off x="457200" y="1188720"/>
            <a:ext cx="1899666" cy="2103120"/>
          </a:xfrm>
          <a:prstGeom prst="roundRect">
            <a:avLst>
              <a:gd name="adj" fmla="val 2888"/>
            </a:avLst>
          </a:prstGeom>
          <a:solidFill>
            <a:srgbClr val="F2F6FC"/>
          </a:solidFill>
          <a:ln w="9525">
            <a:solidFill>
              <a:srgbClr val="D5DCEA"/>
            </a:solidFill>
            <a:prstDash val="solid"/>
          </a:ln>
        </p:spPr>
      </p:sp>
      <p:sp>
        <p:nvSpPr>
          <p:cNvPr id="6" name="Shape 3"/>
          <p:cNvSpPr/>
          <p:nvPr/>
        </p:nvSpPr>
        <p:spPr>
          <a:xfrm>
            <a:off x="1205865"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205865"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Revealed</a:t>
            </a:r>
            <a:endParaRPr lang="en-US" sz="1150" dirty="0"/>
          </a:p>
        </p:txBody>
      </p:sp>
      <p:sp>
        <p:nvSpPr>
          <p:cNvPr id="9" name="Text 6"/>
          <p:cNvSpPr/>
          <p:nvPr/>
        </p:nvSpPr>
        <p:spPr>
          <a:xfrm>
            <a:off x="530352" y="2157984"/>
            <a:ext cx="1753362"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After the Restrainer is removed</a:t>
            </a:r>
            <a:endParaRPr lang="en-US" sz="1150" dirty="0"/>
          </a:p>
        </p:txBody>
      </p:sp>
      <p:sp>
        <p:nvSpPr>
          <p:cNvPr id="10" name="Text 7"/>
          <p:cNvSpPr/>
          <p:nvPr/>
        </p:nvSpPr>
        <p:spPr>
          <a:xfrm>
            <a:off x="530352" y="29077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2:8a</a:t>
            </a:r>
            <a:endParaRPr lang="en-US" sz="900" dirty="0"/>
          </a:p>
        </p:txBody>
      </p:sp>
      <p:sp>
        <p:nvSpPr>
          <p:cNvPr id="11" name="Shape 8"/>
          <p:cNvSpPr/>
          <p:nvPr/>
        </p:nvSpPr>
        <p:spPr>
          <a:xfrm>
            <a:off x="2361438" y="2121408"/>
            <a:ext cx="201168" cy="237744"/>
          </a:xfrm>
          <a:prstGeom prst="rightArrow">
            <a:avLst/>
          </a:prstGeom>
          <a:solidFill>
            <a:srgbClr val="6B7280"/>
          </a:solidFill>
          <a:ln w="12700">
            <a:solidFill>
              <a:srgbClr val="6B7280"/>
            </a:solidFill>
            <a:prstDash val="solid"/>
          </a:ln>
        </p:spPr>
      </p:sp>
      <p:sp>
        <p:nvSpPr>
          <p:cNvPr id="12" name="Shape 9"/>
          <p:cNvSpPr/>
          <p:nvPr/>
        </p:nvSpPr>
        <p:spPr>
          <a:xfrm>
            <a:off x="2567178" y="1188720"/>
            <a:ext cx="1899666" cy="2103120"/>
          </a:xfrm>
          <a:prstGeom prst="roundRect">
            <a:avLst>
              <a:gd name="adj" fmla="val 2888"/>
            </a:avLst>
          </a:prstGeom>
          <a:solidFill>
            <a:srgbClr val="F2F6FC"/>
          </a:solidFill>
          <a:ln w="9525">
            <a:solidFill>
              <a:srgbClr val="D5DCEA"/>
            </a:solidFill>
            <a:prstDash val="solid"/>
          </a:ln>
        </p:spPr>
      </p:sp>
      <p:sp>
        <p:nvSpPr>
          <p:cNvPr id="13" name="Shape 10"/>
          <p:cNvSpPr/>
          <p:nvPr/>
        </p:nvSpPr>
        <p:spPr>
          <a:xfrm>
            <a:off x="3315843"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3315843"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640330"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His career</a:t>
            </a:r>
            <a:endParaRPr lang="en-US" sz="1150" dirty="0"/>
          </a:p>
        </p:txBody>
      </p:sp>
      <p:sp>
        <p:nvSpPr>
          <p:cNvPr id="16" name="Text 13"/>
          <p:cNvSpPr/>
          <p:nvPr/>
        </p:nvSpPr>
        <p:spPr>
          <a:xfrm>
            <a:off x="2640330" y="2157984"/>
            <a:ext cx="1753362"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Empowered by Satan, worshiped by the perishing</a:t>
            </a:r>
            <a:endParaRPr lang="en-US" sz="1150" dirty="0"/>
          </a:p>
        </p:txBody>
      </p:sp>
      <p:sp>
        <p:nvSpPr>
          <p:cNvPr id="17" name="Text 14"/>
          <p:cNvSpPr/>
          <p:nvPr/>
        </p:nvSpPr>
        <p:spPr>
          <a:xfrm>
            <a:off x="2640330" y="29077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the Tribulation</a:t>
            </a:r>
            <a:endParaRPr lang="en-US" sz="900" dirty="0"/>
          </a:p>
        </p:txBody>
      </p:sp>
      <p:sp>
        <p:nvSpPr>
          <p:cNvPr id="18" name="Shape 15"/>
          <p:cNvSpPr/>
          <p:nvPr/>
        </p:nvSpPr>
        <p:spPr>
          <a:xfrm>
            <a:off x="4471416" y="2121408"/>
            <a:ext cx="201168" cy="237744"/>
          </a:xfrm>
          <a:prstGeom prst="rightArrow">
            <a:avLst/>
          </a:prstGeom>
          <a:solidFill>
            <a:srgbClr val="6B7280"/>
          </a:solidFill>
          <a:ln w="12700">
            <a:solidFill>
              <a:srgbClr val="6B7280"/>
            </a:solidFill>
            <a:prstDash val="solid"/>
          </a:ln>
        </p:spPr>
      </p:sp>
      <p:sp>
        <p:nvSpPr>
          <p:cNvPr id="19" name="Shape 16"/>
          <p:cNvSpPr/>
          <p:nvPr/>
        </p:nvSpPr>
        <p:spPr>
          <a:xfrm>
            <a:off x="4677156" y="1188720"/>
            <a:ext cx="1899666" cy="2103120"/>
          </a:xfrm>
          <a:prstGeom prst="roundRect">
            <a:avLst>
              <a:gd name="adj" fmla="val 2888"/>
            </a:avLst>
          </a:prstGeom>
          <a:solidFill>
            <a:srgbClr val="1F3864"/>
          </a:solidFill>
          <a:ln w="9525">
            <a:solidFill>
              <a:srgbClr val="1F3864"/>
            </a:solidFill>
            <a:prstDash val="solid"/>
          </a:ln>
        </p:spPr>
      </p:sp>
      <p:sp>
        <p:nvSpPr>
          <p:cNvPr id="20" name="Shape 17"/>
          <p:cNvSpPr/>
          <p:nvPr/>
        </p:nvSpPr>
        <p:spPr>
          <a:xfrm>
            <a:off x="5425821"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5425821"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4750308" y="1773936"/>
            <a:ext cx="1753362"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Cast alive</a:t>
            </a:r>
            <a:endParaRPr lang="en-US" sz="1150" dirty="0"/>
          </a:p>
        </p:txBody>
      </p:sp>
      <p:sp>
        <p:nvSpPr>
          <p:cNvPr id="23" name="Text 20"/>
          <p:cNvSpPr/>
          <p:nvPr/>
        </p:nvSpPr>
        <p:spPr>
          <a:xfrm>
            <a:off x="4750308" y="2157984"/>
            <a:ext cx="1753362" cy="74980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The beast and the false prophet into the lake of fire</a:t>
            </a:r>
            <a:endParaRPr lang="en-US" sz="1150" dirty="0"/>
          </a:p>
        </p:txBody>
      </p:sp>
      <p:sp>
        <p:nvSpPr>
          <p:cNvPr id="24" name="Text 21"/>
          <p:cNvSpPr/>
          <p:nvPr/>
        </p:nvSpPr>
        <p:spPr>
          <a:xfrm>
            <a:off x="4750308" y="2907792"/>
            <a:ext cx="1753362"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Rev 19:20</a:t>
            </a:r>
            <a:endParaRPr lang="en-US" sz="900" dirty="0"/>
          </a:p>
        </p:txBody>
      </p:sp>
      <p:sp>
        <p:nvSpPr>
          <p:cNvPr id="25" name="Shape 22"/>
          <p:cNvSpPr/>
          <p:nvPr/>
        </p:nvSpPr>
        <p:spPr>
          <a:xfrm>
            <a:off x="6581394" y="2121408"/>
            <a:ext cx="201168" cy="237744"/>
          </a:xfrm>
          <a:prstGeom prst="rightArrow">
            <a:avLst/>
          </a:prstGeom>
          <a:solidFill>
            <a:srgbClr val="6B7280"/>
          </a:solidFill>
          <a:ln w="12700">
            <a:solidFill>
              <a:srgbClr val="6B7280"/>
            </a:solidFill>
            <a:prstDash val="solid"/>
          </a:ln>
        </p:spPr>
      </p:sp>
      <p:sp>
        <p:nvSpPr>
          <p:cNvPr id="26" name="Shape 23"/>
          <p:cNvSpPr/>
          <p:nvPr/>
        </p:nvSpPr>
        <p:spPr>
          <a:xfrm>
            <a:off x="6787134" y="1188720"/>
            <a:ext cx="1899666" cy="2103120"/>
          </a:xfrm>
          <a:prstGeom prst="roundRect">
            <a:avLst>
              <a:gd name="adj" fmla="val 2888"/>
            </a:avLst>
          </a:prstGeom>
          <a:solidFill>
            <a:srgbClr val="1F3864"/>
          </a:solidFill>
          <a:ln w="9525">
            <a:solidFill>
              <a:srgbClr val="1F3864"/>
            </a:solidFill>
            <a:prstDash val="solid"/>
          </a:ln>
        </p:spPr>
      </p:sp>
      <p:sp>
        <p:nvSpPr>
          <p:cNvPr id="27" name="Shape 24"/>
          <p:cNvSpPr/>
          <p:nvPr/>
        </p:nvSpPr>
        <p:spPr>
          <a:xfrm>
            <a:off x="7535799" y="1298448"/>
            <a:ext cx="402336" cy="402336"/>
          </a:xfrm>
          <a:prstGeom prst="ellipse">
            <a:avLst/>
          </a:prstGeom>
          <a:solidFill>
            <a:srgbClr val="FFFFFF"/>
          </a:solidFill>
          <a:ln w="12700">
            <a:solidFill>
              <a:srgbClr val="FFFFFF"/>
            </a:solidFill>
            <a:prstDash val="solid"/>
          </a:ln>
        </p:spPr>
      </p:sp>
      <p:sp>
        <p:nvSpPr>
          <p:cNvPr id="28" name="Text 25"/>
          <p:cNvSpPr/>
          <p:nvPr/>
        </p:nvSpPr>
        <p:spPr>
          <a:xfrm>
            <a:off x="7535799"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6860286" y="1773936"/>
            <a:ext cx="1753362"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1,000 years later</a:t>
            </a:r>
            <a:endParaRPr lang="en-US" sz="1150" dirty="0"/>
          </a:p>
        </p:txBody>
      </p:sp>
      <p:sp>
        <p:nvSpPr>
          <p:cNvPr id="30" name="Text 27"/>
          <p:cNvSpPr/>
          <p:nvPr/>
        </p:nvSpPr>
        <p:spPr>
          <a:xfrm>
            <a:off x="6860286" y="2157984"/>
            <a:ext cx="1753362" cy="74980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Satan joins them — “where the beast and false prophet are”</a:t>
            </a:r>
            <a:endParaRPr lang="en-US" sz="1150" dirty="0"/>
          </a:p>
        </p:txBody>
      </p:sp>
      <p:sp>
        <p:nvSpPr>
          <p:cNvPr id="31" name="Text 28"/>
          <p:cNvSpPr/>
          <p:nvPr/>
        </p:nvSpPr>
        <p:spPr>
          <a:xfrm>
            <a:off x="6860286" y="2907792"/>
            <a:ext cx="1753362"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Rev 20:10</a:t>
            </a:r>
            <a:endParaRPr lang="en-US" sz="900" dirty="0"/>
          </a:p>
        </p:txBody>
      </p:sp>
      <p:sp>
        <p:nvSpPr>
          <p:cNvPr id="32" name="Shape 29"/>
          <p:cNvSpPr/>
          <p:nvPr/>
        </p:nvSpPr>
        <p:spPr>
          <a:xfrm>
            <a:off x="457200" y="3520440"/>
            <a:ext cx="8229600" cy="777240"/>
          </a:xfrm>
          <a:prstGeom prst="roundRect">
            <a:avLst>
              <a:gd name="adj" fmla="val 7059"/>
            </a:avLst>
          </a:prstGeom>
          <a:solidFill>
            <a:srgbClr val="1F3864"/>
          </a:solidFill>
          <a:ln w="12700">
            <a:solidFill>
              <a:srgbClr val="1F3864"/>
            </a:solidFill>
            <a:prstDash val="solid"/>
          </a:ln>
        </p:spPr>
      </p:sp>
      <p:sp>
        <p:nvSpPr>
          <p:cNvPr id="33" name="Text 30"/>
          <p:cNvSpPr/>
          <p:nvPr/>
        </p:nvSpPr>
        <p:spPr>
          <a:xfrm>
            <a:off x="621792" y="3520440"/>
            <a:ext cx="7900416" cy="7772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“I looked at the last page: He wins. And we’re winning with Him.”</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Delusion, damnation — and a question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2:11–12 · III — The practical conclusion</a:t>
            </a:r>
            <a:endParaRPr lang="en-US" sz="1200" dirty="0"/>
          </a:p>
        </p:txBody>
      </p:sp>
      <p:sp>
        <p:nvSpPr>
          <p:cNvPr id="5" name="Shape 2"/>
          <p:cNvSpPr/>
          <p:nvPr/>
        </p:nvSpPr>
        <p:spPr>
          <a:xfrm>
            <a:off x="457200" y="1188720"/>
            <a:ext cx="3931920" cy="566928"/>
          </a:xfrm>
          <a:prstGeom prst="rect">
            <a:avLst/>
          </a:prstGeom>
          <a:solidFill>
            <a:srgbClr val="6B7280"/>
          </a:solidFill>
          <a:ln w="12700">
            <a:solidFill>
              <a:srgbClr val="6B7280"/>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Delusion and damnation</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πλάνη · ψεῦδος</a:t>
            </a:r>
            <a:pPr indent="0" marL="0">
              <a:buNone/>
            </a:pPr>
            <a:r>
              <a:rPr lang="en-US" sz="850" dirty="0">
                <a:solidFill>
                  <a:srgbClr val="DCE4F2"/>
                </a:solidFill>
                <a:latin typeface="Arial" pitchFamily="34" charset="0"/>
                <a:ea typeface="Arial" pitchFamily="34" charset="-122"/>
                <a:cs typeface="Arial" pitchFamily="34" charset="-120"/>
              </a:rPr>
              <a:t>  delusion · the lie</a:t>
            </a:r>
            <a:endParaRPr lang="en-US" sz="1200" dirty="0"/>
          </a:p>
        </p:txBody>
      </p:sp>
      <p:sp>
        <p:nvSpPr>
          <p:cNvPr id="7" name="Shape 4"/>
          <p:cNvSpPr/>
          <p:nvPr/>
        </p:nvSpPr>
        <p:spPr>
          <a:xfrm>
            <a:off x="457200" y="1755648"/>
            <a:ext cx="3931920" cy="1810512"/>
          </a:xfrm>
          <a:prstGeom prst="rect">
            <a:avLst/>
          </a:prstGeom>
          <a:solidFill>
            <a:srgbClr val="F2F6FC"/>
          </a:solidFill>
          <a:ln w="9525">
            <a:solidFill>
              <a:srgbClr val="D5DCEA"/>
            </a:solidFill>
            <a:prstDash val="solid"/>
          </a:ln>
        </p:spPr>
      </p:sp>
      <p:sp>
        <p:nvSpPr>
          <p:cNvPr id="8" name="Text 5"/>
          <p:cNvSpPr/>
          <p:nvPr/>
        </p:nvSpPr>
        <p:spPr>
          <a:xfrm>
            <a:off x="548640" y="1828800"/>
            <a:ext cx="3749040" cy="16824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Strong delusion — a working of error</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They believe the lie: the Antichrist is God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Condemned — declared and deserved</a:t>
            </a:r>
            <a:endParaRPr lang="en-US" sz="1250" dirty="0"/>
          </a:p>
        </p:txBody>
      </p:sp>
      <p:sp>
        <p:nvSpPr>
          <p:cNvPr id="9" name="Shape 6"/>
          <p:cNvSpPr/>
          <p:nvPr/>
        </p:nvSpPr>
        <p:spPr>
          <a:xfrm>
            <a:off x="4754880" y="1188720"/>
            <a:ext cx="3931920" cy="566928"/>
          </a:xfrm>
          <a:prstGeom prst="rect">
            <a:avLst/>
          </a:prstGeom>
          <a:solidFill>
            <a:srgbClr val="375623"/>
          </a:solidFill>
          <a:ln w="12700">
            <a:solidFill>
              <a:srgbClr val="375623"/>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Can those left behind believe?</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“a great multitude”</a:t>
            </a:r>
            <a:pPr indent="0" marL="0">
              <a:buNone/>
            </a:pPr>
            <a:r>
              <a:rPr lang="en-US" sz="850" dirty="0">
                <a:solidFill>
                  <a:srgbClr val="DCE4F2"/>
                </a:solidFill>
                <a:latin typeface="Arial" pitchFamily="34" charset="0"/>
                <a:ea typeface="Arial" pitchFamily="34" charset="-122"/>
                <a:cs typeface="Arial" pitchFamily="34" charset="-120"/>
              </a:rPr>
              <a:t>  Rev 7:9</a:t>
            </a:r>
            <a:endParaRPr lang="en-US" sz="1200" dirty="0"/>
          </a:p>
        </p:txBody>
      </p:sp>
      <p:sp>
        <p:nvSpPr>
          <p:cNvPr id="11" name="Shape 8"/>
          <p:cNvSpPr/>
          <p:nvPr/>
        </p:nvSpPr>
        <p:spPr>
          <a:xfrm>
            <a:off x="4754880" y="1755648"/>
            <a:ext cx="3931920" cy="181051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6824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Yes — the 144,000 and a great multitude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But many take the mark — no turning back</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Eternal life is always by faith in Christ</a:t>
            </a:r>
            <a:endParaRPr lang="en-US" sz="1250" dirty="0"/>
          </a:p>
        </p:txBody>
      </p:sp>
      <p:sp>
        <p:nvSpPr>
          <p:cNvPr id="13" name="Text 10"/>
          <p:cNvSpPr/>
          <p:nvPr/>
        </p:nvSpPr>
        <p:spPr>
          <a:xfrm>
            <a:off x="4389120" y="219456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794760"/>
            <a:ext cx="8229600" cy="777240"/>
          </a:xfrm>
          <a:prstGeom prst="roundRect">
            <a:avLst>
              <a:gd name="adj" fmla="val 7059"/>
            </a:avLst>
          </a:prstGeom>
          <a:solidFill>
            <a:srgbClr val="1F3864"/>
          </a:solidFill>
          <a:ln w="12700">
            <a:solidFill>
              <a:srgbClr val="1F3864"/>
            </a:solidFill>
            <a:prstDash val="solid"/>
          </a:ln>
        </p:spPr>
      </p:sp>
      <p:sp>
        <p:nvSpPr>
          <p:cNvPr id="15" name="Text 12"/>
          <p:cNvSpPr/>
          <p:nvPr/>
        </p:nvSpPr>
        <p:spPr>
          <a:xfrm>
            <a:off x="621792" y="3794760"/>
            <a:ext cx="7900416" cy="7772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All rejection of Christ’s offer of eternal life — offered at the cost of His own life — deserves eternal punishment. All judgment is given to the Son (John 5:27).</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2:6–12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Why does the teacher identify the Restrainer as the Holy Spirit indwelling the church?</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Why will the Antichrist work signs and wonders, and how does the teacher connect this to some miracle workers today?</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Don’t Be Impressed by the Show</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When you hear a claim of the miraculous this week, ask first what it teaches about Jesus and the gospel.</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Remember Who Wins</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Read Revelation 19:11–20:10 and thank God specifically for each victory Christ wins.</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The Spirit in the church holds back lawlessness until He is taken out of the way — and then Christ destroys the lawless one. He wins.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Study 5 of 7 · 2 Thessalonians 2:13–17</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The Day of the Lord and Believers</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In contrast to the unbelievers who will face the Day of the Lord, believers are loved, chosen, set apart and appointed to deliverance — so stand fast and hold the apostolic Word.</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Their position — 2:13–14</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2:13–14 · I.A–D</a:t>
            </a:r>
            <a:endParaRPr lang="en-US" sz="1200" dirty="0"/>
          </a:p>
        </p:txBody>
      </p:sp>
      <p:sp>
        <p:nvSpPr>
          <p:cNvPr id="5" name="Shape 2"/>
          <p:cNvSpPr/>
          <p:nvPr/>
        </p:nvSpPr>
        <p:spPr>
          <a:xfrm>
            <a:off x="457200" y="1188720"/>
            <a:ext cx="1783080" cy="566928"/>
          </a:xfrm>
          <a:prstGeom prst="rect">
            <a:avLst/>
          </a:prstGeom>
          <a:solidFill>
            <a:srgbClr val="2E5496"/>
          </a:solidFill>
          <a:ln w="12700">
            <a:solidFill>
              <a:srgbClr val="2E5496"/>
            </a:solidFill>
            <a:prstDash val="solid"/>
          </a:ln>
        </p:spPr>
      </p:sp>
      <p:sp>
        <p:nvSpPr>
          <p:cNvPr id="6" name="Text 3"/>
          <p:cNvSpPr/>
          <p:nvPr/>
        </p:nvSpPr>
        <p:spPr>
          <a:xfrm>
            <a:off x="548640" y="1234440"/>
            <a:ext cx="16002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Situation · 13a</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ἀγαπάω</a:t>
            </a:r>
            <a:pPr indent="0" marL="0">
              <a:buNone/>
            </a:pPr>
            <a:r>
              <a:rPr lang="en-US" sz="850" dirty="0">
                <a:solidFill>
                  <a:srgbClr val="DCE4F2"/>
                </a:solidFill>
                <a:latin typeface="Arial" pitchFamily="34" charset="0"/>
                <a:ea typeface="Arial" pitchFamily="34" charset="-122"/>
                <a:cs typeface="Arial" pitchFamily="34" charset="-120"/>
              </a:rPr>
              <a:t>  beloved</a:t>
            </a:r>
            <a:endParaRPr lang="en-US" sz="1200" dirty="0"/>
          </a:p>
        </p:txBody>
      </p:sp>
      <p:sp>
        <p:nvSpPr>
          <p:cNvPr id="7" name="Shape 4"/>
          <p:cNvSpPr/>
          <p:nvPr/>
        </p:nvSpPr>
        <p:spPr>
          <a:xfrm>
            <a:off x="457200" y="1755648"/>
            <a:ext cx="1783080" cy="1810512"/>
          </a:xfrm>
          <a:prstGeom prst="rect">
            <a:avLst/>
          </a:prstGeom>
          <a:solidFill>
            <a:srgbClr val="F2F6FC"/>
          </a:solidFill>
          <a:ln w="9525">
            <a:solidFill>
              <a:srgbClr val="D5DCEA"/>
            </a:solidFill>
            <a:prstDash val="solid"/>
          </a:ln>
        </p:spPr>
      </p:sp>
      <p:sp>
        <p:nvSpPr>
          <p:cNvPr id="8" name="Text 5"/>
          <p:cNvSpPr/>
          <p:nvPr/>
        </p:nvSpPr>
        <p:spPr>
          <a:xfrm>
            <a:off x="548640" y="1828800"/>
            <a:ext cx="1600200" cy="1682496"/>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Brothers of Paul</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Beloved by the Lord</a:t>
            </a:r>
            <a:endParaRPr lang="en-US" sz="1150" dirty="0"/>
          </a:p>
        </p:txBody>
      </p:sp>
      <p:sp>
        <p:nvSpPr>
          <p:cNvPr id="9" name="Shape 6"/>
          <p:cNvSpPr/>
          <p:nvPr/>
        </p:nvSpPr>
        <p:spPr>
          <a:xfrm>
            <a:off x="2304288" y="2258568"/>
            <a:ext cx="237744" cy="237744"/>
          </a:xfrm>
          <a:prstGeom prst="rightArrow">
            <a:avLst/>
          </a:prstGeom>
          <a:solidFill>
            <a:srgbClr val="6B7280"/>
          </a:solidFill>
          <a:ln w="12700">
            <a:solidFill>
              <a:srgbClr val="6B7280"/>
            </a:solidFill>
            <a:prstDash val="solid"/>
          </a:ln>
        </p:spPr>
      </p:sp>
      <p:sp>
        <p:nvSpPr>
          <p:cNvPr id="10" name="Shape 7"/>
          <p:cNvSpPr/>
          <p:nvPr/>
        </p:nvSpPr>
        <p:spPr>
          <a:xfrm>
            <a:off x="2606040" y="1188720"/>
            <a:ext cx="1783080" cy="566928"/>
          </a:xfrm>
          <a:prstGeom prst="rect">
            <a:avLst/>
          </a:prstGeom>
          <a:solidFill>
            <a:srgbClr val="2E5496"/>
          </a:solidFill>
          <a:ln w="12700">
            <a:solidFill>
              <a:srgbClr val="2E5496"/>
            </a:solidFill>
            <a:prstDash val="solid"/>
          </a:ln>
        </p:spPr>
      </p:sp>
      <p:sp>
        <p:nvSpPr>
          <p:cNvPr id="11" name="Text 8"/>
          <p:cNvSpPr/>
          <p:nvPr/>
        </p:nvSpPr>
        <p:spPr>
          <a:xfrm>
            <a:off x="2697480" y="1234440"/>
            <a:ext cx="16002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Selection · 13b</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αἱρέομαι</a:t>
            </a:r>
            <a:pPr indent="0" marL="0">
              <a:buNone/>
            </a:pPr>
            <a:r>
              <a:rPr lang="en-US" sz="850" dirty="0">
                <a:solidFill>
                  <a:srgbClr val="DCE4F2"/>
                </a:solidFill>
                <a:latin typeface="Arial" pitchFamily="34" charset="0"/>
                <a:ea typeface="Arial" pitchFamily="34" charset="-122"/>
                <a:cs typeface="Arial" pitchFamily="34" charset="-120"/>
              </a:rPr>
              <a:t>  chose</a:t>
            </a:r>
            <a:endParaRPr lang="en-US" sz="1200" dirty="0"/>
          </a:p>
        </p:txBody>
      </p:sp>
      <p:sp>
        <p:nvSpPr>
          <p:cNvPr id="12" name="Shape 9"/>
          <p:cNvSpPr/>
          <p:nvPr/>
        </p:nvSpPr>
        <p:spPr>
          <a:xfrm>
            <a:off x="2606040" y="1755648"/>
            <a:ext cx="1783080" cy="1810512"/>
          </a:xfrm>
          <a:prstGeom prst="rect">
            <a:avLst/>
          </a:prstGeom>
          <a:solidFill>
            <a:srgbClr val="F2F6FC"/>
          </a:solidFill>
          <a:ln w="9525">
            <a:solidFill>
              <a:srgbClr val="D5DCEA"/>
            </a:solidFill>
            <a:prstDash val="solid"/>
          </a:ln>
        </p:spPr>
      </p:sp>
      <p:sp>
        <p:nvSpPr>
          <p:cNvPr id="13" name="Text 10"/>
          <p:cNvSpPr/>
          <p:nvPr/>
        </p:nvSpPr>
        <p:spPr>
          <a:xfrm>
            <a:off x="2697480" y="1828800"/>
            <a:ext cx="1600200" cy="1682496"/>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The Father chose</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The Spirit set apart</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They believed the truth</a:t>
            </a:r>
            <a:endParaRPr lang="en-US" sz="1150" dirty="0"/>
          </a:p>
        </p:txBody>
      </p:sp>
      <p:sp>
        <p:nvSpPr>
          <p:cNvPr id="14" name="Shape 11"/>
          <p:cNvSpPr/>
          <p:nvPr/>
        </p:nvSpPr>
        <p:spPr>
          <a:xfrm>
            <a:off x="4453128" y="2258568"/>
            <a:ext cx="237744" cy="237744"/>
          </a:xfrm>
          <a:prstGeom prst="rightArrow">
            <a:avLst/>
          </a:prstGeom>
          <a:solidFill>
            <a:srgbClr val="6B7280"/>
          </a:solidFill>
          <a:ln w="12700">
            <a:solidFill>
              <a:srgbClr val="6B7280"/>
            </a:solidFill>
            <a:prstDash val="solid"/>
          </a:ln>
        </p:spPr>
      </p:sp>
      <p:sp>
        <p:nvSpPr>
          <p:cNvPr id="15" name="Shape 12"/>
          <p:cNvSpPr/>
          <p:nvPr/>
        </p:nvSpPr>
        <p:spPr>
          <a:xfrm>
            <a:off x="4754880" y="1188720"/>
            <a:ext cx="1783080" cy="566928"/>
          </a:xfrm>
          <a:prstGeom prst="rect">
            <a:avLst/>
          </a:prstGeom>
          <a:solidFill>
            <a:srgbClr val="2E5496"/>
          </a:solidFill>
          <a:ln w="12700">
            <a:solidFill>
              <a:srgbClr val="2E5496"/>
            </a:solidFill>
            <a:prstDash val="solid"/>
          </a:ln>
        </p:spPr>
      </p:sp>
      <p:sp>
        <p:nvSpPr>
          <p:cNvPr id="16" name="Text 13"/>
          <p:cNvSpPr/>
          <p:nvPr/>
        </p:nvSpPr>
        <p:spPr>
          <a:xfrm>
            <a:off x="4846320" y="1234440"/>
            <a:ext cx="16002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Salvation · 13c</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σωτηρία</a:t>
            </a:r>
            <a:pPr indent="0" marL="0">
              <a:buNone/>
            </a:pPr>
            <a:r>
              <a:rPr lang="en-US" sz="850" dirty="0">
                <a:solidFill>
                  <a:srgbClr val="DCE4F2"/>
                </a:solidFill>
                <a:latin typeface="Arial" pitchFamily="34" charset="0"/>
                <a:ea typeface="Arial" pitchFamily="34" charset="-122"/>
                <a:cs typeface="Arial" pitchFamily="34" charset="-120"/>
              </a:rPr>
              <a:t>  deliverance</a:t>
            </a:r>
            <a:endParaRPr lang="en-US" sz="1200" dirty="0"/>
          </a:p>
        </p:txBody>
      </p:sp>
      <p:sp>
        <p:nvSpPr>
          <p:cNvPr id="17" name="Shape 14"/>
          <p:cNvSpPr/>
          <p:nvPr/>
        </p:nvSpPr>
        <p:spPr>
          <a:xfrm>
            <a:off x="4754880" y="1755648"/>
            <a:ext cx="1783080" cy="1810512"/>
          </a:xfrm>
          <a:prstGeom prst="rect">
            <a:avLst/>
          </a:prstGeom>
          <a:solidFill>
            <a:srgbClr val="F2F6FC"/>
          </a:solidFill>
          <a:ln w="9525">
            <a:solidFill>
              <a:srgbClr val="D5DCEA"/>
            </a:solidFill>
            <a:prstDash val="solid"/>
          </a:ln>
        </p:spPr>
      </p:sp>
      <p:sp>
        <p:nvSpPr>
          <p:cNvPr id="18" name="Text 15"/>
          <p:cNvSpPr/>
          <p:nvPr/>
        </p:nvSpPr>
        <p:spPr>
          <a:xfrm>
            <a:off x="4846320" y="1828800"/>
            <a:ext cx="1600200" cy="1682496"/>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Deliverance — here, from the wrath of the Tribulation</a:t>
            </a:r>
            <a:endParaRPr lang="en-US" sz="1150" dirty="0"/>
          </a:p>
        </p:txBody>
      </p:sp>
      <p:sp>
        <p:nvSpPr>
          <p:cNvPr id="19" name="Shape 16"/>
          <p:cNvSpPr/>
          <p:nvPr/>
        </p:nvSpPr>
        <p:spPr>
          <a:xfrm>
            <a:off x="6601968" y="2258568"/>
            <a:ext cx="237744" cy="237744"/>
          </a:xfrm>
          <a:prstGeom prst="rightArrow">
            <a:avLst/>
          </a:prstGeom>
          <a:solidFill>
            <a:srgbClr val="6B7280"/>
          </a:solidFill>
          <a:ln w="12700">
            <a:solidFill>
              <a:srgbClr val="6B7280"/>
            </a:solidFill>
            <a:prstDash val="solid"/>
          </a:ln>
        </p:spPr>
      </p:sp>
      <p:sp>
        <p:nvSpPr>
          <p:cNvPr id="20" name="Shape 17"/>
          <p:cNvSpPr/>
          <p:nvPr/>
        </p:nvSpPr>
        <p:spPr>
          <a:xfrm>
            <a:off x="6903720" y="1188720"/>
            <a:ext cx="1783080" cy="566928"/>
          </a:xfrm>
          <a:prstGeom prst="rect">
            <a:avLst/>
          </a:prstGeom>
          <a:solidFill>
            <a:srgbClr val="375623"/>
          </a:solidFill>
          <a:ln w="12700">
            <a:solidFill>
              <a:srgbClr val="375623"/>
            </a:solidFill>
            <a:prstDash val="solid"/>
          </a:ln>
        </p:spPr>
      </p:sp>
      <p:sp>
        <p:nvSpPr>
          <p:cNvPr id="21" name="Text 18"/>
          <p:cNvSpPr/>
          <p:nvPr/>
        </p:nvSpPr>
        <p:spPr>
          <a:xfrm>
            <a:off x="6995160" y="1234440"/>
            <a:ext cx="16002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Glorification · 14</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περιποίησις</a:t>
            </a:r>
            <a:pPr indent="0" marL="0">
              <a:buNone/>
            </a:pPr>
            <a:r>
              <a:rPr lang="en-US" sz="850" dirty="0">
                <a:solidFill>
                  <a:srgbClr val="DCE4F2"/>
                </a:solidFill>
                <a:latin typeface="Arial" pitchFamily="34" charset="0"/>
                <a:ea typeface="Arial" pitchFamily="34" charset="-122"/>
                <a:cs typeface="Arial" pitchFamily="34" charset="-120"/>
              </a:rPr>
              <a:t>  obtaining</a:t>
            </a:r>
            <a:endParaRPr lang="en-US" sz="1200" dirty="0"/>
          </a:p>
        </p:txBody>
      </p:sp>
      <p:sp>
        <p:nvSpPr>
          <p:cNvPr id="22" name="Shape 19"/>
          <p:cNvSpPr/>
          <p:nvPr/>
        </p:nvSpPr>
        <p:spPr>
          <a:xfrm>
            <a:off x="6903720" y="1755648"/>
            <a:ext cx="1783080" cy="1810512"/>
          </a:xfrm>
          <a:prstGeom prst="rect">
            <a:avLst/>
          </a:prstGeom>
          <a:solidFill>
            <a:srgbClr val="F2F6FC"/>
          </a:solidFill>
          <a:ln w="9525">
            <a:solidFill>
              <a:srgbClr val="D5DCEA"/>
            </a:solidFill>
            <a:prstDash val="solid"/>
          </a:ln>
        </p:spPr>
      </p:sp>
      <p:sp>
        <p:nvSpPr>
          <p:cNvPr id="23" name="Text 20"/>
          <p:cNvSpPr/>
          <p:nvPr/>
        </p:nvSpPr>
        <p:spPr>
          <a:xfrm>
            <a:off x="6995160" y="1828800"/>
            <a:ext cx="1600200" cy="1682496"/>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Called by “our gospel”</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To share Christ’s glory</a:t>
            </a:r>
            <a:endParaRPr lang="en-US" sz="1150" dirty="0"/>
          </a:p>
        </p:txBody>
      </p:sp>
      <p:sp>
        <p:nvSpPr>
          <p:cNvPr id="24" name="Shape 21"/>
          <p:cNvSpPr/>
          <p:nvPr/>
        </p:nvSpPr>
        <p:spPr>
          <a:xfrm>
            <a:off x="457200" y="3749040"/>
            <a:ext cx="8229600" cy="868680"/>
          </a:xfrm>
          <a:prstGeom prst="roundRect">
            <a:avLst>
              <a:gd name="adj" fmla="val 6316"/>
            </a:avLst>
          </a:prstGeom>
          <a:solidFill>
            <a:srgbClr val="1F3864"/>
          </a:solidFill>
          <a:ln w="12700">
            <a:solidFill>
              <a:srgbClr val="1F3864"/>
            </a:solidFill>
            <a:prstDash val="solid"/>
          </a:ln>
        </p:spPr>
      </p:sp>
      <p:sp>
        <p:nvSpPr>
          <p:cNvPr id="25" name="Text 22"/>
          <p:cNvSpPr/>
          <p:nvPr/>
        </p:nvSpPr>
        <p:spPr>
          <a:xfrm>
            <a:off x="621792" y="3749040"/>
            <a:ext cx="7900416" cy="86868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“But” (2:13) — they are going to be in it; not you. Verse 12: condemned who did not believe the truth. Verse 13: you believed the truth.</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“God … chose you” — which word?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2:13b · I.B.1 — The Father chose</a:t>
            </a:r>
            <a:endParaRPr lang="en-US" sz="1200" dirty="0"/>
          </a:p>
        </p:txBody>
      </p:sp>
      <p:sp>
        <p:nvSpPr>
          <p:cNvPr id="5" name="Shape 2"/>
          <p:cNvSpPr/>
          <p:nvPr/>
        </p:nvSpPr>
        <p:spPr>
          <a:xfrm>
            <a:off x="457200" y="1188720"/>
            <a:ext cx="3931920" cy="566928"/>
          </a:xfrm>
          <a:prstGeom prst="rect">
            <a:avLst/>
          </a:prstGeom>
          <a:solidFill>
            <a:srgbClr val="2E5496"/>
          </a:solidFill>
          <a:ln w="12700">
            <a:solidFill>
              <a:srgbClr val="2E5496"/>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2 Thess 2:13 — haireomai</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αἱρέομαι</a:t>
            </a:r>
            <a:pPr indent="0" marL="0">
              <a:buNone/>
            </a:pPr>
            <a:r>
              <a:rPr lang="en-US" sz="850" dirty="0">
                <a:solidFill>
                  <a:srgbClr val="DCE4F2"/>
                </a:solidFill>
                <a:latin typeface="Arial" pitchFamily="34" charset="0"/>
                <a:ea typeface="Arial" pitchFamily="34" charset="-122"/>
                <a:cs typeface="Arial" pitchFamily="34" charset="-120"/>
              </a:rPr>
              <a:t>  to pick, choose · G138</a:t>
            </a:r>
            <a:endParaRPr lang="en-US" sz="1200" dirty="0"/>
          </a:p>
        </p:txBody>
      </p:sp>
      <p:sp>
        <p:nvSpPr>
          <p:cNvPr id="7" name="Shape 4"/>
          <p:cNvSpPr/>
          <p:nvPr/>
        </p:nvSpPr>
        <p:spPr>
          <a:xfrm>
            <a:off x="457200" y="1755648"/>
            <a:ext cx="3931920" cy="1947672"/>
          </a:xfrm>
          <a:prstGeom prst="rect">
            <a:avLst/>
          </a:prstGeom>
          <a:solidFill>
            <a:srgbClr val="F2F6FC"/>
          </a:solidFill>
          <a:ln w="9525">
            <a:solidFill>
              <a:srgbClr val="D5DCEA"/>
            </a:solidFill>
            <a:prstDash val="solid"/>
          </a:ln>
        </p:spPr>
      </p:sp>
      <p:sp>
        <p:nvSpPr>
          <p:cNvPr id="8" name="Text 5"/>
          <p:cNvSpPr/>
          <p:nvPr/>
        </p:nvSpPr>
        <p:spPr>
          <a:xfrm>
            <a:off x="548640" y="1828800"/>
            <a:ext cx="374904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Used of picking fruit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Elsewhere only Phil 1:22; Heb 11:25</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“From the beginning” of the gospel there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Chosen to escape the Tribulation</a:t>
            </a:r>
            <a:endParaRPr lang="en-US" sz="1250" dirty="0"/>
          </a:p>
        </p:txBody>
      </p:sp>
      <p:sp>
        <p:nvSpPr>
          <p:cNvPr id="9" name="Shape 6"/>
          <p:cNvSpPr/>
          <p:nvPr/>
        </p:nvSpPr>
        <p:spPr>
          <a:xfrm>
            <a:off x="4754880" y="1188720"/>
            <a:ext cx="3931920" cy="566928"/>
          </a:xfrm>
          <a:prstGeom prst="rect">
            <a:avLst/>
          </a:prstGeom>
          <a:solidFill>
            <a:srgbClr val="6B7280"/>
          </a:solidFill>
          <a:ln w="12700">
            <a:solidFill>
              <a:srgbClr val="6B7280"/>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Ephesians 1:4 — eklegomai</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ἐξελέξατο</a:t>
            </a:r>
            <a:pPr indent="0" marL="0">
              <a:buNone/>
            </a:pPr>
            <a:r>
              <a:rPr lang="en-US" sz="850" dirty="0">
                <a:solidFill>
                  <a:srgbClr val="DCE4F2"/>
                </a:solidFill>
                <a:latin typeface="Arial" pitchFamily="34" charset="0"/>
                <a:ea typeface="Arial" pitchFamily="34" charset="-122"/>
                <a:cs typeface="Arial" pitchFamily="34" charset="-120"/>
              </a:rPr>
              <a:t>  He chose us · election</a:t>
            </a:r>
            <a:endParaRPr lang="en-US" sz="1200" dirty="0"/>
          </a:p>
        </p:txBody>
      </p:sp>
      <p:sp>
        <p:nvSpPr>
          <p:cNvPr id="11" name="Shape 8"/>
          <p:cNvSpPr/>
          <p:nvPr/>
        </p:nvSpPr>
        <p:spPr>
          <a:xfrm>
            <a:off x="4754880" y="1755648"/>
            <a:ext cx="3931920" cy="194767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“Before the foundation of the world”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Choosing to eternal life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teacher still holds it firmly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 but doesn’t see it here</a:t>
            </a:r>
            <a:endParaRPr lang="en-US" sz="1250" dirty="0"/>
          </a:p>
        </p:txBody>
      </p:sp>
      <p:sp>
        <p:nvSpPr>
          <p:cNvPr id="13" name="Text 10"/>
          <p:cNvSpPr/>
          <p:nvPr/>
        </p:nvSpPr>
        <p:spPr>
          <a:xfrm>
            <a:off x="4389120" y="226314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15" name="Text 12"/>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The Father chose, the Holy Spirit conferred (“sanctification by the Spirit”), and the Thessalonians concurred (“belief in the truth”).</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Three tenses of sanctification</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2:13 · I.B.2 — “through sanctification by the Spirit”</a:t>
            </a:r>
            <a:endParaRPr lang="en-US" sz="1200" dirty="0"/>
          </a:p>
        </p:txBody>
      </p:sp>
      <p:sp>
        <p:nvSpPr>
          <p:cNvPr id="5" name="Shape 2"/>
          <p:cNvSpPr/>
          <p:nvPr/>
        </p:nvSpPr>
        <p:spPr>
          <a:xfrm>
            <a:off x="457200" y="1188720"/>
            <a:ext cx="2602992" cy="1965960"/>
          </a:xfrm>
          <a:prstGeom prst="roundRect">
            <a:avLst>
              <a:gd name="adj" fmla="val 2791"/>
            </a:avLst>
          </a:prstGeom>
          <a:solidFill>
            <a:srgbClr val="1F3864"/>
          </a:solidFill>
          <a:ln w="9525">
            <a:solidFill>
              <a:srgbClr val="1F3864"/>
            </a:solidFill>
            <a:prstDash val="solid"/>
          </a:ln>
        </p:spPr>
      </p:sp>
      <p:sp>
        <p:nvSpPr>
          <p:cNvPr id="6" name="Shape 3"/>
          <p:cNvSpPr/>
          <p:nvPr/>
        </p:nvSpPr>
        <p:spPr>
          <a:xfrm>
            <a:off x="1557528" y="1298448"/>
            <a:ext cx="402336" cy="402336"/>
          </a:xfrm>
          <a:prstGeom prst="ellipse">
            <a:avLst/>
          </a:prstGeom>
          <a:solidFill>
            <a:srgbClr val="FFFFFF"/>
          </a:solidFill>
          <a:ln w="12700">
            <a:solidFill>
              <a:srgbClr val="FFFFFF"/>
            </a:solidFill>
            <a:prstDash val="solid"/>
          </a:ln>
        </p:spPr>
      </p:sp>
      <p:sp>
        <p:nvSpPr>
          <p:cNvPr id="7" name="Text 4"/>
          <p:cNvSpPr/>
          <p:nvPr/>
        </p:nvSpPr>
        <p:spPr>
          <a:xfrm>
            <a:off x="1557528"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2456688"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Past — a position</a:t>
            </a:r>
            <a:endParaRPr lang="en-US" sz="1150" dirty="0"/>
          </a:p>
        </p:txBody>
      </p:sp>
      <p:sp>
        <p:nvSpPr>
          <p:cNvPr id="9" name="Text 6"/>
          <p:cNvSpPr/>
          <p:nvPr/>
        </p:nvSpPr>
        <p:spPr>
          <a:xfrm>
            <a:off x="530352" y="2157984"/>
            <a:ext cx="2456688" cy="61264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Set apart to God the moment we believe</a:t>
            </a:r>
            <a:endParaRPr lang="en-US" sz="1150" dirty="0"/>
          </a:p>
        </p:txBody>
      </p:sp>
      <p:sp>
        <p:nvSpPr>
          <p:cNvPr id="10" name="Text 7"/>
          <p:cNvSpPr/>
          <p:nvPr/>
        </p:nvSpPr>
        <p:spPr>
          <a:xfrm>
            <a:off x="530352" y="2770632"/>
            <a:ext cx="2456688"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Paul’s main point here</a:t>
            </a:r>
            <a:endParaRPr lang="en-US" sz="900" dirty="0"/>
          </a:p>
        </p:txBody>
      </p:sp>
      <p:sp>
        <p:nvSpPr>
          <p:cNvPr id="11" name="Shape 8"/>
          <p:cNvSpPr/>
          <p:nvPr/>
        </p:nvSpPr>
        <p:spPr>
          <a:xfrm>
            <a:off x="3064764" y="2052828"/>
            <a:ext cx="201168" cy="237744"/>
          </a:xfrm>
          <a:prstGeom prst="rightArrow">
            <a:avLst/>
          </a:prstGeom>
          <a:solidFill>
            <a:srgbClr val="6B7280"/>
          </a:solidFill>
          <a:ln w="12700">
            <a:solidFill>
              <a:srgbClr val="6B7280"/>
            </a:solidFill>
            <a:prstDash val="solid"/>
          </a:ln>
        </p:spPr>
      </p:sp>
      <p:sp>
        <p:nvSpPr>
          <p:cNvPr id="12" name="Shape 9"/>
          <p:cNvSpPr/>
          <p:nvPr/>
        </p:nvSpPr>
        <p:spPr>
          <a:xfrm>
            <a:off x="3270504" y="1188720"/>
            <a:ext cx="2602992" cy="1965960"/>
          </a:xfrm>
          <a:prstGeom prst="roundRect">
            <a:avLst>
              <a:gd name="adj" fmla="val 2791"/>
            </a:avLst>
          </a:prstGeom>
          <a:solidFill>
            <a:srgbClr val="F2F6FC"/>
          </a:solidFill>
          <a:ln w="9525">
            <a:solidFill>
              <a:srgbClr val="D5DCEA"/>
            </a:solidFill>
            <a:prstDash val="solid"/>
          </a:ln>
        </p:spPr>
      </p:sp>
      <p:sp>
        <p:nvSpPr>
          <p:cNvPr id="13" name="Shape 10"/>
          <p:cNvSpPr/>
          <p:nvPr/>
        </p:nvSpPr>
        <p:spPr>
          <a:xfrm>
            <a:off x="4370832"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3343656"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Present — a process</a:t>
            </a:r>
            <a:endParaRPr lang="en-US" sz="1150" dirty="0"/>
          </a:p>
        </p:txBody>
      </p:sp>
      <p:sp>
        <p:nvSpPr>
          <p:cNvPr id="16" name="Text 13"/>
          <p:cNvSpPr/>
          <p:nvPr/>
        </p:nvSpPr>
        <p:spPr>
          <a:xfrm>
            <a:off x="3343656" y="2157984"/>
            <a:ext cx="2456688" cy="61264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Transformed by the Word and the Spirit</a:t>
            </a:r>
            <a:endParaRPr lang="en-US" sz="1150" dirty="0"/>
          </a:p>
        </p:txBody>
      </p:sp>
      <p:sp>
        <p:nvSpPr>
          <p:cNvPr id="17" name="Text 14"/>
          <p:cNvSpPr/>
          <p:nvPr/>
        </p:nvSpPr>
        <p:spPr>
          <a:xfrm>
            <a:off x="3343656" y="277063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John 17:17 · 2 Cor 3:18</a:t>
            </a:r>
            <a:endParaRPr lang="en-US" sz="900" dirty="0"/>
          </a:p>
        </p:txBody>
      </p:sp>
      <p:sp>
        <p:nvSpPr>
          <p:cNvPr id="18" name="Shape 15"/>
          <p:cNvSpPr/>
          <p:nvPr/>
        </p:nvSpPr>
        <p:spPr>
          <a:xfrm>
            <a:off x="5878068" y="2052828"/>
            <a:ext cx="201168" cy="237744"/>
          </a:xfrm>
          <a:prstGeom prst="rightArrow">
            <a:avLst/>
          </a:prstGeom>
          <a:solidFill>
            <a:srgbClr val="6B7280"/>
          </a:solidFill>
          <a:ln w="12700">
            <a:solidFill>
              <a:srgbClr val="6B7280"/>
            </a:solidFill>
            <a:prstDash val="solid"/>
          </a:ln>
        </p:spPr>
      </p:sp>
      <p:sp>
        <p:nvSpPr>
          <p:cNvPr id="19" name="Shape 16"/>
          <p:cNvSpPr/>
          <p:nvPr/>
        </p:nvSpPr>
        <p:spPr>
          <a:xfrm>
            <a:off x="6083808" y="1188720"/>
            <a:ext cx="2602992" cy="1965960"/>
          </a:xfrm>
          <a:prstGeom prst="roundRect">
            <a:avLst>
              <a:gd name="adj" fmla="val 2791"/>
            </a:avLst>
          </a:prstGeom>
          <a:solidFill>
            <a:srgbClr val="F2F6FC"/>
          </a:solidFill>
          <a:ln w="9525">
            <a:solidFill>
              <a:srgbClr val="D5DCEA"/>
            </a:solidFill>
            <a:prstDash val="solid"/>
          </a:ln>
        </p:spPr>
      </p:sp>
      <p:sp>
        <p:nvSpPr>
          <p:cNvPr id="20" name="Shape 17"/>
          <p:cNvSpPr/>
          <p:nvPr/>
        </p:nvSpPr>
        <p:spPr>
          <a:xfrm>
            <a:off x="7184136"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7184136"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6156960"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Future — a prospect</a:t>
            </a:r>
            <a:endParaRPr lang="en-US" sz="1150" dirty="0"/>
          </a:p>
        </p:txBody>
      </p:sp>
      <p:sp>
        <p:nvSpPr>
          <p:cNvPr id="23" name="Text 20"/>
          <p:cNvSpPr/>
          <p:nvPr/>
        </p:nvSpPr>
        <p:spPr>
          <a:xfrm>
            <a:off x="6156960" y="2157984"/>
            <a:ext cx="2456688" cy="61264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“We shall be like Him”</a:t>
            </a:r>
            <a:endParaRPr lang="en-US" sz="1150" dirty="0"/>
          </a:p>
        </p:txBody>
      </p:sp>
      <p:sp>
        <p:nvSpPr>
          <p:cNvPr id="24" name="Text 21"/>
          <p:cNvSpPr/>
          <p:nvPr/>
        </p:nvSpPr>
        <p:spPr>
          <a:xfrm>
            <a:off x="6156960" y="277063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1 John 3:2</a:t>
            </a:r>
            <a:endParaRPr lang="en-US" sz="900" dirty="0"/>
          </a:p>
        </p:txBody>
      </p:sp>
      <p:sp>
        <p:nvSpPr>
          <p:cNvPr id="25" name="Shape 22"/>
          <p:cNvSpPr/>
          <p:nvPr/>
        </p:nvSpPr>
        <p:spPr>
          <a:xfrm>
            <a:off x="457200" y="3383280"/>
            <a:ext cx="8229600" cy="594360"/>
          </a:xfrm>
          <a:prstGeom prst="roundRect">
            <a:avLst>
              <a:gd name="adj" fmla="val 9231"/>
            </a:avLst>
          </a:prstGeom>
          <a:solidFill>
            <a:srgbClr val="1F3864"/>
          </a:solidFill>
          <a:ln w="12700">
            <a:solidFill>
              <a:srgbClr val="1F3864"/>
            </a:solidFill>
            <a:prstDash val="solid"/>
          </a:ln>
        </p:spPr>
      </p:sp>
      <p:sp>
        <p:nvSpPr>
          <p:cNvPr id="26" name="Text 23"/>
          <p:cNvSpPr/>
          <p:nvPr/>
        </p:nvSpPr>
        <p:spPr>
          <a:xfrm>
            <a:off x="621792" y="3383280"/>
            <a:ext cx="7900416" cy="594360"/>
          </a:xfrm>
          <a:prstGeom prst="rect">
            <a:avLst/>
          </a:prstGeom>
          <a:noFill/>
          <a:ln/>
        </p:spPr>
        <p:txBody>
          <a:bodyPr wrap="square" lIns="0" tIns="0" rIns="0" bIns="0" rtlCol="0" anchor="ctr"/>
          <a:lstStyle/>
          <a:p>
            <a:pPr indent="0" marL="0">
              <a:buNone/>
            </a:pPr>
            <a:r>
              <a:rPr lang="en-US" sz="1400" b="1" dirty="0">
                <a:solidFill>
                  <a:srgbClr val="E4D6F7"/>
                </a:solidFill>
                <a:latin typeface="Arial" pitchFamily="34" charset="0"/>
                <a:ea typeface="Arial" pitchFamily="34" charset="-122"/>
                <a:cs typeface="Arial" pitchFamily="34" charset="-120"/>
              </a:rPr>
              <a:t>ἁγιασμός  </a:t>
            </a:r>
            <a:pPr indent="0" marL="0">
              <a:buNone/>
            </a:pPr>
            <a:r>
              <a:rPr lang="en-US" sz="1150" dirty="0">
                <a:solidFill>
                  <a:srgbClr val="FFFFFF"/>
                </a:solidFill>
                <a:latin typeface="Arial" pitchFamily="34" charset="0"/>
                <a:ea typeface="Arial" pitchFamily="34" charset="-122"/>
                <a:cs typeface="Arial" pitchFamily="34" charset="-120"/>
              </a:rPr>
              <a:t>sanctification — here mainly the positional setting apart by the Spirit</a:t>
            </a:r>
            <a:endParaRPr lang="en-US" sz="1150" dirty="0"/>
          </a:p>
        </p:txBody>
      </p:sp>
      <p:sp>
        <p:nvSpPr>
          <p:cNvPr id="27" name="Shape 24"/>
          <p:cNvSpPr/>
          <p:nvPr/>
        </p:nvSpPr>
        <p:spPr>
          <a:xfrm>
            <a:off x="457200" y="4114800"/>
            <a:ext cx="8229600" cy="502920"/>
          </a:xfrm>
          <a:prstGeom prst="rect">
            <a:avLst/>
          </a:prstGeom>
          <a:solidFill>
            <a:srgbClr val="375623"/>
          </a:solidFill>
          <a:ln w="12700">
            <a:solidFill>
              <a:srgbClr val="375623"/>
            </a:solidFill>
            <a:prstDash val="solid"/>
          </a:ln>
        </p:spPr>
      </p:sp>
      <p:sp>
        <p:nvSpPr>
          <p:cNvPr id="28" name="Text 25"/>
          <p:cNvSpPr/>
          <p:nvPr/>
        </p:nvSpPr>
        <p:spPr>
          <a:xfrm>
            <a:off x="621792" y="4114800"/>
            <a:ext cx="7900416" cy="50292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Paul may have all three in mind — but mainly our past sanctification, which placed us into the body of Christ.</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Salvation means deliverance — from what?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2:13c · I.C — Their salvation</a:t>
            </a:r>
            <a:endParaRPr lang="en-US" sz="1200" dirty="0"/>
          </a:p>
        </p:txBody>
      </p:sp>
      <p:sp>
        <p:nvSpPr>
          <p:cNvPr id="5" name="Shape 2"/>
          <p:cNvSpPr/>
          <p:nvPr/>
        </p:nvSpPr>
        <p:spPr>
          <a:xfrm>
            <a:off x="457200" y="1188720"/>
            <a:ext cx="2615184" cy="1572768"/>
          </a:xfrm>
          <a:prstGeom prst="rect">
            <a:avLst/>
          </a:prstGeom>
          <a:solidFill>
            <a:srgbClr val="F2F6FC"/>
          </a:solidFill>
          <a:ln w="9525">
            <a:solidFill>
              <a:srgbClr val="D5DCEA"/>
            </a:solidFill>
            <a:prstDash val="solid"/>
          </a:ln>
        </p:spPr>
      </p:sp>
      <p:sp>
        <p:nvSpPr>
          <p:cNvPr id="6" name="Shape 3"/>
          <p:cNvSpPr/>
          <p:nvPr/>
        </p:nvSpPr>
        <p:spPr>
          <a:xfrm>
            <a:off x="594360" y="1325880"/>
            <a:ext cx="420624" cy="420624"/>
          </a:xfrm>
          <a:prstGeom prst="ellipse">
            <a:avLst/>
          </a:prstGeom>
          <a:solidFill>
            <a:srgbClr val="2E5496"/>
          </a:solidFill>
          <a:ln w="12700">
            <a:solidFill>
              <a:srgbClr val="2E5496"/>
            </a:solidFill>
            <a:prstDash val="solid"/>
          </a:ln>
        </p:spPr>
      </p:sp>
      <p:sp>
        <p:nvSpPr>
          <p:cNvPr id="7" name="Text 4"/>
          <p:cNvSpPr/>
          <p:nvPr/>
        </p:nvSpPr>
        <p:spPr>
          <a:xfrm>
            <a:off x="594360"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1115568"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Spiritual</a:t>
            </a:r>
            <a:endParaRPr lang="en-US" sz="1200" dirty="0"/>
          </a:p>
        </p:txBody>
      </p:sp>
      <p:sp>
        <p:nvSpPr>
          <p:cNvPr id="9" name="Text 6"/>
          <p:cNvSpPr/>
          <p:nvPr/>
        </p:nvSpPr>
        <p:spPr>
          <a:xfrm>
            <a:off x="594360"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From sin’s penalty, power and presence</a:t>
            </a:r>
            <a:endParaRPr lang="en-US" sz="1200" dirty="0"/>
          </a:p>
        </p:txBody>
      </p:sp>
      <p:sp>
        <p:nvSpPr>
          <p:cNvPr id="10" name="Shape 7"/>
          <p:cNvSpPr/>
          <p:nvPr/>
        </p:nvSpPr>
        <p:spPr>
          <a:xfrm>
            <a:off x="3264408" y="1188720"/>
            <a:ext cx="2615184" cy="1572768"/>
          </a:xfrm>
          <a:prstGeom prst="rect">
            <a:avLst/>
          </a:prstGeom>
          <a:solidFill>
            <a:srgbClr val="F2F6FC"/>
          </a:solidFill>
          <a:ln w="9525">
            <a:solidFill>
              <a:srgbClr val="D5DCEA"/>
            </a:solidFill>
            <a:prstDash val="solid"/>
          </a:ln>
        </p:spPr>
      </p:sp>
      <p:sp>
        <p:nvSpPr>
          <p:cNvPr id="11" name="Shape 8"/>
          <p:cNvSpPr/>
          <p:nvPr/>
        </p:nvSpPr>
        <p:spPr>
          <a:xfrm>
            <a:off x="3401568" y="1325880"/>
            <a:ext cx="420624" cy="420624"/>
          </a:xfrm>
          <a:prstGeom prst="ellipse">
            <a:avLst/>
          </a:prstGeom>
          <a:solidFill>
            <a:srgbClr val="2E5496"/>
          </a:solidFill>
          <a:ln w="12700">
            <a:solidFill>
              <a:srgbClr val="2E5496"/>
            </a:solidFill>
            <a:prstDash val="solid"/>
          </a:ln>
        </p:spPr>
      </p:sp>
      <p:sp>
        <p:nvSpPr>
          <p:cNvPr id="12" name="Text 9"/>
          <p:cNvSpPr/>
          <p:nvPr/>
        </p:nvSpPr>
        <p:spPr>
          <a:xfrm>
            <a:off x="3401568"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3" name="Text 10"/>
          <p:cNvSpPr/>
          <p:nvPr/>
        </p:nvSpPr>
        <p:spPr>
          <a:xfrm>
            <a:off x="3922776"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Physical</a:t>
            </a:r>
            <a:endParaRPr lang="en-US" sz="1200" dirty="0"/>
          </a:p>
        </p:txBody>
      </p:sp>
      <p:sp>
        <p:nvSpPr>
          <p:cNvPr id="14" name="Text 11"/>
          <p:cNvSpPr/>
          <p:nvPr/>
        </p:nvSpPr>
        <p:spPr>
          <a:xfrm>
            <a:off x="3401568"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“They were healed” — delivered from blindness, lameness</a:t>
            </a:r>
            <a:endParaRPr lang="en-US" sz="1200" dirty="0"/>
          </a:p>
        </p:txBody>
      </p:sp>
      <p:sp>
        <p:nvSpPr>
          <p:cNvPr id="15" name="Shape 12"/>
          <p:cNvSpPr/>
          <p:nvPr/>
        </p:nvSpPr>
        <p:spPr>
          <a:xfrm>
            <a:off x="6071616" y="1188720"/>
            <a:ext cx="2615184" cy="1572768"/>
          </a:xfrm>
          <a:prstGeom prst="rect">
            <a:avLst/>
          </a:prstGeom>
          <a:solidFill>
            <a:srgbClr val="F2F6FC"/>
          </a:solidFill>
          <a:ln w="9525">
            <a:solidFill>
              <a:srgbClr val="D5DCEA"/>
            </a:solidFill>
            <a:prstDash val="solid"/>
          </a:ln>
        </p:spPr>
      </p:sp>
      <p:sp>
        <p:nvSpPr>
          <p:cNvPr id="16" name="Shape 13"/>
          <p:cNvSpPr/>
          <p:nvPr/>
        </p:nvSpPr>
        <p:spPr>
          <a:xfrm>
            <a:off x="6208776" y="1325880"/>
            <a:ext cx="420624" cy="420624"/>
          </a:xfrm>
          <a:prstGeom prst="ellipse">
            <a:avLst/>
          </a:prstGeom>
          <a:solidFill>
            <a:srgbClr val="2E5496"/>
          </a:solidFill>
          <a:ln w="12700">
            <a:solidFill>
              <a:srgbClr val="2E5496"/>
            </a:solidFill>
            <a:prstDash val="solid"/>
          </a:ln>
        </p:spPr>
      </p:sp>
      <p:sp>
        <p:nvSpPr>
          <p:cNvPr id="17" name="Text 14"/>
          <p:cNvSpPr/>
          <p:nvPr/>
        </p:nvSpPr>
        <p:spPr>
          <a:xfrm>
            <a:off x="6208776"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18" name="Text 15"/>
          <p:cNvSpPr/>
          <p:nvPr/>
        </p:nvSpPr>
        <p:spPr>
          <a:xfrm>
            <a:off x="6729984"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Circumstances</a:t>
            </a:r>
            <a:endParaRPr lang="en-US" sz="1200" dirty="0"/>
          </a:p>
        </p:txBody>
      </p:sp>
      <p:sp>
        <p:nvSpPr>
          <p:cNvPr id="19" name="Text 16"/>
          <p:cNvSpPr/>
          <p:nvPr/>
        </p:nvSpPr>
        <p:spPr>
          <a:xfrm>
            <a:off x="6208776"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Peter sinking: “Lord, save me!” (Matt 14:30)</a:t>
            </a:r>
            <a:endParaRPr lang="en-US" sz="1200" dirty="0"/>
          </a:p>
        </p:txBody>
      </p:sp>
      <p:sp>
        <p:nvSpPr>
          <p:cNvPr id="20" name="Shape 17"/>
          <p:cNvSpPr/>
          <p:nvPr/>
        </p:nvSpPr>
        <p:spPr>
          <a:xfrm>
            <a:off x="457200" y="2926080"/>
            <a:ext cx="2615184" cy="1572768"/>
          </a:xfrm>
          <a:prstGeom prst="rect">
            <a:avLst/>
          </a:prstGeom>
          <a:solidFill>
            <a:srgbClr val="F2F6FC"/>
          </a:solidFill>
          <a:ln w="9525">
            <a:solidFill>
              <a:srgbClr val="D5DCEA"/>
            </a:solidFill>
            <a:prstDash val="solid"/>
          </a:ln>
        </p:spPr>
      </p:sp>
      <p:sp>
        <p:nvSpPr>
          <p:cNvPr id="21" name="Shape 18"/>
          <p:cNvSpPr/>
          <p:nvPr/>
        </p:nvSpPr>
        <p:spPr>
          <a:xfrm>
            <a:off x="594360" y="3063240"/>
            <a:ext cx="420624" cy="420624"/>
          </a:xfrm>
          <a:prstGeom prst="ellipse">
            <a:avLst/>
          </a:prstGeom>
          <a:solidFill>
            <a:srgbClr val="6B7280"/>
          </a:solidFill>
          <a:ln w="12700">
            <a:solidFill>
              <a:srgbClr val="6B7280"/>
            </a:solidFill>
            <a:prstDash val="solid"/>
          </a:ln>
        </p:spPr>
      </p:sp>
      <p:sp>
        <p:nvSpPr>
          <p:cNvPr id="22" name="Text 19"/>
          <p:cNvSpPr/>
          <p:nvPr/>
        </p:nvSpPr>
        <p:spPr>
          <a:xfrm>
            <a:off x="594360"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3" name="Text 20"/>
          <p:cNvSpPr/>
          <p:nvPr/>
        </p:nvSpPr>
        <p:spPr>
          <a:xfrm>
            <a:off x="1115568"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Matthew 24:13</a:t>
            </a:r>
            <a:endParaRPr lang="en-US" sz="1200" dirty="0"/>
          </a:p>
        </p:txBody>
      </p:sp>
      <p:sp>
        <p:nvSpPr>
          <p:cNvPr id="24" name="Text 21"/>
          <p:cNvSpPr/>
          <p:nvPr/>
        </p:nvSpPr>
        <p:spPr>
          <a:xfrm>
            <a:off x="594360"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Enduring through the Tribulation — not keeping eternal life</a:t>
            </a:r>
            <a:endParaRPr lang="en-US" sz="1200" dirty="0"/>
          </a:p>
        </p:txBody>
      </p:sp>
      <p:sp>
        <p:nvSpPr>
          <p:cNvPr id="25" name="Shape 22"/>
          <p:cNvSpPr/>
          <p:nvPr/>
        </p:nvSpPr>
        <p:spPr>
          <a:xfrm>
            <a:off x="3264408" y="2926080"/>
            <a:ext cx="2615184" cy="1572768"/>
          </a:xfrm>
          <a:prstGeom prst="rect">
            <a:avLst/>
          </a:prstGeom>
          <a:solidFill>
            <a:srgbClr val="F2F6FC"/>
          </a:solidFill>
          <a:ln w="9525">
            <a:solidFill>
              <a:srgbClr val="D5DCEA"/>
            </a:solidFill>
            <a:prstDash val="solid"/>
          </a:ln>
        </p:spPr>
      </p:sp>
      <p:sp>
        <p:nvSpPr>
          <p:cNvPr id="26" name="Shape 23"/>
          <p:cNvSpPr/>
          <p:nvPr/>
        </p:nvSpPr>
        <p:spPr>
          <a:xfrm>
            <a:off x="3401568" y="3063240"/>
            <a:ext cx="420624" cy="420624"/>
          </a:xfrm>
          <a:prstGeom prst="ellipse">
            <a:avLst/>
          </a:prstGeom>
          <a:solidFill>
            <a:srgbClr val="7030A0"/>
          </a:solidFill>
          <a:ln w="12700">
            <a:solidFill>
              <a:srgbClr val="7030A0"/>
            </a:solidFill>
            <a:prstDash val="solid"/>
          </a:ln>
        </p:spPr>
      </p:sp>
      <p:sp>
        <p:nvSpPr>
          <p:cNvPr id="27" name="Text 24"/>
          <p:cNvSpPr/>
          <p:nvPr/>
        </p:nvSpPr>
        <p:spPr>
          <a:xfrm>
            <a:off x="3401568"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28" name="Text 25"/>
          <p:cNvSpPr/>
          <p:nvPr/>
        </p:nvSpPr>
        <p:spPr>
          <a:xfrm>
            <a:off x="3922776"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1 Thess 5:9</a:t>
            </a:r>
            <a:endParaRPr lang="en-US" sz="1200" dirty="0"/>
          </a:p>
        </p:txBody>
      </p:sp>
      <p:sp>
        <p:nvSpPr>
          <p:cNvPr id="29" name="Text 26"/>
          <p:cNvSpPr/>
          <p:nvPr/>
        </p:nvSpPr>
        <p:spPr>
          <a:xfrm>
            <a:off x="3401568"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“Not appointed to wrath, but to obtain salvation”</a:t>
            </a:r>
            <a:endParaRPr lang="en-US" sz="1200" dirty="0"/>
          </a:p>
        </p:txBody>
      </p:sp>
      <p:sp>
        <p:nvSpPr>
          <p:cNvPr id="30" name="Shape 27"/>
          <p:cNvSpPr/>
          <p:nvPr/>
        </p:nvSpPr>
        <p:spPr>
          <a:xfrm>
            <a:off x="6071616" y="2926080"/>
            <a:ext cx="2615184" cy="1572768"/>
          </a:xfrm>
          <a:prstGeom prst="rect">
            <a:avLst/>
          </a:prstGeom>
          <a:solidFill>
            <a:srgbClr val="F2F6FC"/>
          </a:solidFill>
          <a:ln w="9525">
            <a:solidFill>
              <a:srgbClr val="D5DCEA"/>
            </a:solidFill>
            <a:prstDash val="solid"/>
          </a:ln>
        </p:spPr>
      </p:sp>
      <p:sp>
        <p:nvSpPr>
          <p:cNvPr id="31" name="Shape 28"/>
          <p:cNvSpPr/>
          <p:nvPr/>
        </p:nvSpPr>
        <p:spPr>
          <a:xfrm>
            <a:off x="6208776" y="3063240"/>
            <a:ext cx="420624" cy="420624"/>
          </a:xfrm>
          <a:prstGeom prst="ellipse">
            <a:avLst/>
          </a:prstGeom>
          <a:solidFill>
            <a:srgbClr val="375623"/>
          </a:solidFill>
          <a:ln w="12700">
            <a:solidFill>
              <a:srgbClr val="375623"/>
            </a:solidFill>
            <a:prstDash val="solid"/>
          </a:ln>
        </p:spPr>
      </p:sp>
      <p:sp>
        <p:nvSpPr>
          <p:cNvPr id="32" name="Text 29"/>
          <p:cNvSpPr/>
          <p:nvPr/>
        </p:nvSpPr>
        <p:spPr>
          <a:xfrm>
            <a:off x="6208776"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33" name="Text 30"/>
          <p:cNvSpPr/>
          <p:nvPr/>
        </p:nvSpPr>
        <p:spPr>
          <a:xfrm>
            <a:off x="6729984"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Here · 2:13</a:t>
            </a:r>
            <a:endParaRPr lang="en-US" sz="1200" dirty="0"/>
          </a:p>
        </p:txBody>
      </p:sp>
      <p:sp>
        <p:nvSpPr>
          <p:cNvPr id="34" name="Text 31"/>
          <p:cNvSpPr/>
          <p:nvPr/>
        </p:nvSpPr>
        <p:spPr>
          <a:xfrm>
            <a:off x="6208776"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Deliverance from the wrath of the Tribulation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Stand fast and hold the Word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2:15 · II.A — Our responsibility</a:t>
            </a:r>
            <a:endParaRPr lang="en-US" sz="1200" dirty="0"/>
          </a:p>
        </p:txBody>
      </p:sp>
      <p:sp>
        <p:nvSpPr>
          <p:cNvPr id="5" name="Shape 2"/>
          <p:cNvSpPr/>
          <p:nvPr/>
        </p:nvSpPr>
        <p:spPr>
          <a:xfrm>
            <a:off x="457200" y="1188720"/>
            <a:ext cx="1477670" cy="1920240"/>
          </a:xfrm>
          <a:prstGeom prst="roundRect">
            <a:avLst>
              <a:gd name="adj" fmla="val 3713"/>
            </a:avLst>
          </a:prstGeom>
          <a:solidFill>
            <a:srgbClr val="F2F6FC"/>
          </a:solidFill>
          <a:ln w="9525">
            <a:solidFill>
              <a:srgbClr val="D5DCEA"/>
            </a:solidFill>
            <a:prstDash val="solid"/>
          </a:ln>
        </p:spPr>
      </p:sp>
      <p:sp>
        <p:nvSpPr>
          <p:cNvPr id="6" name="Shape 3"/>
          <p:cNvSpPr/>
          <p:nvPr/>
        </p:nvSpPr>
        <p:spPr>
          <a:xfrm>
            <a:off x="994867" y="1298448"/>
            <a:ext cx="402336" cy="402336"/>
          </a:xfrm>
          <a:prstGeom prst="ellipse">
            <a:avLst/>
          </a:prstGeom>
          <a:solidFill>
            <a:srgbClr val="2E5496"/>
          </a:solidFill>
          <a:ln w="12700">
            <a:solidFill>
              <a:srgbClr val="2E5496"/>
            </a:solidFill>
            <a:prstDash val="solid"/>
          </a:ln>
        </p:spPr>
      </p:sp>
      <p:sp>
        <p:nvSpPr>
          <p:cNvPr id="7" name="Text 4"/>
          <p:cNvSpPr/>
          <p:nvPr/>
        </p:nvSpPr>
        <p:spPr>
          <a:xfrm>
            <a:off x="99486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Hear it</a:t>
            </a:r>
            <a:endParaRPr lang="en-US" sz="1150" dirty="0"/>
          </a:p>
        </p:txBody>
      </p:sp>
      <p:sp>
        <p:nvSpPr>
          <p:cNvPr id="9" name="Text 6"/>
          <p:cNvSpPr/>
          <p:nvPr/>
        </p:nvSpPr>
        <p:spPr>
          <a:xfrm>
            <a:off x="530352" y="2157984"/>
            <a:ext cx="1331366" cy="5669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No daydreaming</a:t>
            </a:r>
            <a:endParaRPr lang="en-US" sz="1150" dirty="0"/>
          </a:p>
        </p:txBody>
      </p:sp>
      <p:sp>
        <p:nvSpPr>
          <p:cNvPr id="10" name="Text 7"/>
          <p:cNvSpPr/>
          <p:nvPr/>
        </p:nvSpPr>
        <p:spPr>
          <a:xfrm>
            <a:off x="530352" y="272491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first</a:t>
            </a:r>
            <a:endParaRPr lang="en-US" sz="900" dirty="0"/>
          </a:p>
        </p:txBody>
      </p:sp>
      <p:sp>
        <p:nvSpPr>
          <p:cNvPr id="11" name="Shape 8"/>
          <p:cNvSpPr/>
          <p:nvPr/>
        </p:nvSpPr>
        <p:spPr>
          <a:xfrm>
            <a:off x="1939442" y="2029968"/>
            <a:ext cx="201168" cy="237744"/>
          </a:xfrm>
          <a:prstGeom prst="rightArrow">
            <a:avLst/>
          </a:prstGeom>
          <a:solidFill>
            <a:srgbClr val="6B7280"/>
          </a:solidFill>
          <a:ln w="12700">
            <a:solidFill>
              <a:srgbClr val="6B7280"/>
            </a:solidFill>
            <a:prstDash val="solid"/>
          </a:ln>
        </p:spPr>
      </p:sp>
      <p:sp>
        <p:nvSpPr>
          <p:cNvPr id="12" name="Shape 9"/>
          <p:cNvSpPr/>
          <p:nvPr/>
        </p:nvSpPr>
        <p:spPr>
          <a:xfrm>
            <a:off x="2145182" y="1188720"/>
            <a:ext cx="1477670" cy="1920240"/>
          </a:xfrm>
          <a:prstGeom prst="roundRect">
            <a:avLst>
              <a:gd name="adj" fmla="val 3713"/>
            </a:avLst>
          </a:prstGeom>
          <a:solidFill>
            <a:srgbClr val="F2F6FC"/>
          </a:solidFill>
          <a:ln w="9525">
            <a:solidFill>
              <a:srgbClr val="D5DCEA"/>
            </a:solidFill>
            <a:prstDash val="solid"/>
          </a:ln>
        </p:spPr>
      </p:sp>
      <p:sp>
        <p:nvSpPr>
          <p:cNvPr id="13" name="Shape 10"/>
          <p:cNvSpPr/>
          <p:nvPr/>
        </p:nvSpPr>
        <p:spPr>
          <a:xfrm>
            <a:off x="2682850"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2682850"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218334"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Check it</a:t>
            </a:r>
            <a:endParaRPr lang="en-US" sz="1150" dirty="0"/>
          </a:p>
        </p:txBody>
      </p:sp>
      <p:sp>
        <p:nvSpPr>
          <p:cNvPr id="16" name="Text 13"/>
          <p:cNvSpPr/>
          <p:nvPr/>
        </p:nvSpPr>
        <p:spPr>
          <a:xfrm>
            <a:off x="2218334" y="2157984"/>
            <a:ext cx="1331366" cy="5669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Make sure it’s the Word of God</a:t>
            </a:r>
            <a:endParaRPr lang="en-US" sz="1150" dirty="0"/>
          </a:p>
        </p:txBody>
      </p:sp>
      <p:sp>
        <p:nvSpPr>
          <p:cNvPr id="17" name="Text 14"/>
          <p:cNvSpPr/>
          <p:nvPr/>
        </p:nvSpPr>
        <p:spPr>
          <a:xfrm>
            <a:off x="2218334" y="272491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“show me”</a:t>
            </a:r>
            <a:endParaRPr lang="en-US" sz="900" dirty="0"/>
          </a:p>
        </p:txBody>
      </p:sp>
      <p:sp>
        <p:nvSpPr>
          <p:cNvPr id="18" name="Shape 15"/>
          <p:cNvSpPr/>
          <p:nvPr/>
        </p:nvSpPr>
        <p:spPr>
          <a:xfrm>
            <a:off x="3627425" y="2029968"/>
            <a:ext cx="201168" cy="237744"/>
          </a:xfrm>
          <a:prstGeom prst="rightArrow">
            <a:avLst/>
          </a:prstGeom>
          <a:solidFill>
            <a:srgbClr val="6B7280"/>
          </a:solidFill>
          <a:ln w="12700">
            <a:solidFill>
              <a:srgbClr val="6B7280"/>
            </a:solidFill>
            <a:prstDash val="solid"/>
          </a:ln>
        </p:spPr>
      </p:sp>
      <p:sp>
        <p:nvSpPr>
          <p:cNvPr id="19" name="Shape 16"/>
          <p:cNvSpPr/>
          <p:nvPr/>
        </p:nvSpPr>
        <p:spPr>
          <a:xfrm>
            <a:off x="3833165" y="1188720"/>
            <a:ext cx="1477670" cy="1920240"/>
          </a:xfrm>
          <a:prstGeom prst="roundRect">
            <a:avLst>
              <a:gd name="adj" fmla="val 3713"/>
            </a:avLst>
          </a:prstGeom>
          <a:solidFill>
            <a:srgbClr val="F2F6FC"/>
          </a:solidFill>
          <a:ln w="9525">
            <a:solidFill>
              <a:srgbClr val="D5DCEA"/>
            </a:solidFill>
            <a:prstDash val="solid"/>
          </a:ln>
        </p:spPr>
      </p:sp>
      <p:sp>
        <p:nvSpPr>
          <p:cNvPr id="20" name="Shape 17"/>
          <p:cNvSpPr/>
          <p:nvPr/>
        </p:nvSpPr>
        <p:spPr>
          <a:xfrm>
            <a:off x="4370832"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3906317"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Review it</a:t>
            </a:r>
            <a:endParaRPr lang="en-US" sz="1150" dirty="0"/>
          </a:p>
        </p:txBody>
      </p:sp>
      <p:sp>
        <p:nvSpPr>
          <p:cNvPr id="23" name="Text 20"/>
          <p:cNvSpPr/>
          <p:nvPr/>
        </p:nvSpPr>
        <p:spPr>
          <a:xfrm>
            <a:off x="3906317" y="2157984"/>
            <a:ext cx="1331366" cy="859536"/>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Get it in your head</a:t>
            </a:r>
            <a:endParaRPr lang="en-US" sz="1150" dirty="0"/>
          </a:p>
        </p:txBody>
      </p:sp>
      <p:sp>
        <p:nvSpPr>
          <p:cNvPr id="24" name="Shape 21"/>
          <p:cNvSpPr/>
          <p:nvPr/>
        </p:nvSpPr>
        <p:spPr>
          <a:xfrm>
            <a:off x="5315407" y="2029968"/>
            <a:ext cx="201168" cy="237744"/>
          </a:xfrm>
          <a:prstGeom prst="rightArrow">
            <a:avLst/>
          </a:prstGeom>
          <a:solidFill>
            <a:srgbClr val="6B7280"/>
          </a:solidFill>
          <a:ln w="12700">
            <a:solidFill>
              <a:srgbClr val="6B7280"/>
            </a:solidFill>
            <a:prstDash val="solid"/>
          </a:ln>
        </p:spPr>
      </p:sp>
      <p:sp>
        <p:nvSpPr>
          <p:cNvPr id="25" name="Shape 22"/>
          <p:cNvSpPr/>
          <p:nvPr/>
        </p:nvSpPr>
        <p:spPr>
          <a:xfrm>
            <a:off x="5521147" y="1188720"/>
            <a:ext cx="1477670" cy="1920240"/>
          </a:xfrm>
          <a:prstGeom prst="roundRect">
            <a:avLst>
              <a:gd name="adj" fmla="val 3713"/>
            </a:avLst>
          </a:prstGeom>
          <a:solidFill>
            <a:srgbClr val="F2F6FC"/>
          </a:solidFill>
          <a:ln w="9525">
            <a:solidFill>
              <a:srgbClr val="D5DCEA"/>
            </a:solidFill>
            <a:prstDash val="solid"/>
          </a:ln>
        </p:spPr>
      </p:sp>
      <p:sp>
        <p:nvSpPr>
          <p:cNvPr id="26" name="Shape 23"/>
          <p:cNvSpPr/>
          <p:nvPr/>
        </p:nvSpPr>
        <p:spPr>
          <a:xfrm>
            <a:off x="6058814" y="1298448"/>
            <a:ext cx="402336" cy="402336"/>
          </a:xfrm>
          <a:prstGeom prst="ellipse">
            <a:avLst/>
          </a:prstGeom>
          <a:solidFill>
            <a:srgbClr val="2E5496"/>
          </a:solidFill>
          <a:ln w="12700">
            <a:solidFill>
              <a:srgbClr val="2E5496"/>
            </a:solidFill>
            <a:prstDash val="solid"/>
          </a:ln>
        </p:spPr>
      </p:sp>
      <p:sp>
        <p:nvSpPr>
          <p:cNvPr id="27" name="Text 24"/>
          <p:cNvSpPr/>
          <p:nvPr/>
        </p:nvSpPr>
        <p:spPr>
          <a:xfrm>
            <a:off x="6058814"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8" name="Text 25"/>
          <p:cNvSpPr/>
          <p:nvPr/>
        </p:nvSpPr>
        <p:spPr>
          <a:xfrm>
            <a:off x="5594299"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Believe it</a:t>
            </a:r>
            <a:endParaRPr lang="en-US" sz="1150" dirty="0"/>
          </a:p>
        </p:txBody>
      </p:sp>
      <p:sp>
        <p:nvSpPr>
          <p:cNvPr id="29" name="Text 26"/>
          <p:cNvSpPr/>
          <p:nvPr/>
        </p:nvSpPr>
        <p:spPr>
          <a:xfrm>
            <a:off x="5594299" y="2157984"/>
            <a:ext cx="1331366" cy="859536"/>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If you believe it, you’ll do it</a:t>
            </a:r>
            <a:endParaRPr lang="en-US" sz="1150" dirty="0"/>
          </a:p>
        </p:txBody>
      </p:sp>
      <p:sp>
        <p:nvSpPr>
          <p:cNvPr id="30" name="Shape 27"/>
          <p:cNvSpPr/>
          <p:nvPr/>
        </p:nvSpPr>
        <p:spPr>
          <a:xfrm>
            <a:off x="7003390" y="2029968"/>
            <a:ext cx="201168" cy="237744"/>
          </a:xfrm>
          <a:prstGeom prst="rightArrow">
            <a:avLst/>
          </a:prstGeom>
          <a:solidFill>
            <a:srgbClr val="6B7280"/>
          </a:solidFill>
          <a:ln w="12700">
            <a:solidFill>
              <a:srgbClr val="6B7280"/>
            </a:solidFill>
            <a:prstDash val="solid"/>
          </a:ln>
        </p:spPr>
      </p:sp>
      <p:sp>
        <p:nvSpPr>
          <p:cNvPr id="31" name="Shape 28"/>
          <p:cNvSpPr/>
          <p:nvPr/>
        </p:nvSpPr>
        <p:spPr>
          <a:xfrm>
            <a:off x="7209130" y="1188720"/>
            <a:ext cx="1477670" cy="1920240"/>
          </a:xfrm>
          <a:prstGeom prst="roundRect">
            <a:avLst>
              <a:gd name="adj" fmla="val 3713"/>
            </a:avLst>
          </a:prstGeom>
          <a:solidFill>
            <a:srgbClr val="1F3864"/>
          </a:solidFill>
          <a:ln w="9525">
            <a:solidFill>
              <a:srgbClr val="1F3864"/>
            </a:solidFill>
            <a:prstDash val="solid"/>
          </a:ln>
        </p:spPr>
      </p:sp>
      <p:sp>
        <p:nvSpPr>
          <p:cNvPr id="32" name="Shape 29"/>
          <p:cNvSpPr/>
          <p:nvPr/>
        </p:nvSpPr>
        <p:spPr>
          <a:xfrm>
            <a:off x="7746797" y="1298448"/>
            <a:ext cx="402336" cy="402336"/>
          </a:xfrm>
          <a:prstGeom prst="ellipse">
            <a:avLst/>
          </a:prstGeom>
          <a:solidFill>
            <a:srgbClr val="FFFFFF"/>
          </a:solidFill>
          <a:ln w="12700">
            <a:solidFill>
              <a:srgbClr val="FFFFFF"/>
            </a:solidFill>
            <a:prstDash val="solid"/>
          </a:ln>
        </p:spPr>
      </p:sp>
      <p:sp>
        <p:nvSpPr>
          <p:cNvPr id="33" name="Text 30"/>
          <p:cNvSpPr/>
          <p:nvPr/>
        </p:nvSpPr>
        <p:spPr>
          <a:xfrm>
            <a:off x="7746797"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E</a:t>
            </a:r>
            <a:endParaRPr lang="en-US" sz="1300" dirty="0"/>
          </a:p>
        </p:txBody>
      </p:sp>
      <p:sp>
        <p:nvSpPr>
          <p:cNvPr id="34" name="Text 31"/>
          <p:cNvSpPr/>
          <p:nvPr/>
        </p:nvSpPr>
        <p:spPr>
          <a:xfrm>
            <a:off x="7282282" y="1773936"/>
            <a:ext cx="133136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Share it</a:t>
            </a:r>
            <a:endParaRPr lang="en-US" sz="1150" dirty="0"/>
          </a:p>
        </p:txBody>
      </p:sp>
      <p:sp>
        <p:nvSpPr>
          <p:cNvPr id="35" name="Text 32"/>
          <p:cNvSpPr/>
          <p:nvPr/>
        </p:nvSpPr>
        <p:spPr>
          <a:xfrm>
            <a:off x="7282282" y="2157984"/>
            <a:ext cx="1331366" cy="859536"/>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You understand it better when you help someone else</a:t>
            </a:r>
            <a:endParaRPr lang="en-US" sz="1150" dirty="0"/>
          </a:p>
        </p:txBody>
      </p:sp>
      <p:sp>
        <p:nvSpPr>
          <p:cNvPr id="36" name="Shape 33"/>
          <p:cNvSpPr/>
          <p:nvPr/>
        </p:nvSpPr>
        <p:spPr>
          <a:xfrm>
            <a:off x="457200" y="3291840"/>
            <a:ext cx="4023360" cy="566928"/>
          </a:xfrm>
          <a:prstGeom prst="rect">
            <a:avLst/>
          </a:prstGeom>
          <a:solidFill>
            <a:srgbClr val="2E5496"/>
          </a:solidFill>
          <a:ln w="12700">
            <a:solidFill>
              <a:srgbClr val="2E5496"/>
            </a:solidFill>
            <a:prstDash val="solid"/>
          </a:ln>
        </p:spPr>
      </p:sp>
      <p:sp>
        <p:nvSpPr>
          <p:cNvPr id="37" name="Text 34"/>
          <p:cNvSpPr/>
          <p:nvPr/>
        </p:nvSpPr>
        <p:spPr>
          <a:xfrm>
            <a:off x="548640" y="333756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Hold the traditions</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παράδοσις</a:t>
            </a:r>
            <a:pPr indent="0" marL="0">
              <a:buNone/>
            </a:pPr>
            <a:r>
              <a:rPr lang="en-US" sz="850" dirty="0">
                <a:solidFill>
                  <a:srgbClr val="DCE4F2"/>
                </a:solidFill>
                <a:latin typeface="Arial" pitchFamily="34" charset="0"/>
                <a:ea typeface="Arial" pitchFamily="34" charset="-122"/>
                <a:cs typeface="Arial" pitchFamily="34" charset="-120"/>
              </a:rPr>
              <a:t>  G3862</a:t>
            </a:r>
            <a:endParaRPr lang="en-US" sz="1200" dirty="0"/>
          </a:p>
        </p:txBody>
      </p:sp>
      <p:sp>
        <p:nvSpPr>
          <p:cNvPr id="38" name="Shape 35"/>
          <p:cNvSpPr/>
          <p:nvPr/>
        </p:nvSpPr>
        <p:spPr>
          <a:xfrm>
            <a:off x="457200" y="3858768"/>
            <a:ext cx="4023360" cy="758952"/>
          </a:xfrm>
          <a:prstGeom prst="rect">
            <a:avLst/>
          </a:prstGeom>
          <a:solidFill>
            <a:srgbClr val="F2F6FC"/>
          </a:solidFill>
          <a:ln w="9525">
            <a:solidFill>
              <a:srgbClr val="D5DCEA"/>
            </a:solidFill>
            <a:prstDash val="solid"/>
          </a:ln>
        </p:spPr>
      </p:sp>
      <p:sp>
        <p:nvSpPr>
          <p:cNvPr id="39" name="Text 36"/>
          <p:cNvSpPr/>
          <p:nvPr/>
        </p:nvSpPr>
        <p:spPr>
          <a:xfrm>
            <a:off x="548640" y="3931920"/>
            <a:ext cx="3840480" cy="630936"/>
          </a:xfrm>
          <a:prstGeom prst="rect">
            <a:avLst/>
          </a:prstGeom>
          <a:noFill/>
          <a:ln/>
        </p:spPr>
        <p:txBody>
          <a:bodyPr wrap="square" lIns="0" tIns="0" rIns="0" bIns="0" rtlCol="0" anchor="t"/>
          <a:lstStyle/>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By word — what Paul taught in person</a:t>
            </a:r>
            <a:endParaRPr lang="en-US" sz="1200" dirty="0"/>
          </a:p>
          <a:p>
            <a:pPr marL="127000" indent="-127000">
              <a:spcAft>
                <a:spcPts val="300"/>
              </a:spcAft>
              <a:buSzPct val="100000"/>
              <a:buChar char="•"/>
            </a:pPr>
            <a:r>
              <a:rPr lang="en-US" sz="1200" dirty="0">
                <a:solidFill>
                  <a:srgbClr val="262626"/>
                </a:solidFill>
                <a:latin typeface="Arial" pitchFamily="34" charset="0"/>
                <a:ea typeface="Arial" pitchFamily="34" charset="-122"/>
                <a:cs typeface="Arial" pitchFamily="34" charset="-120"/>
              </a:rPr>
              <a:t>By epistle — what he wrote</a:t>
            </a:r>
            <a:endParaRPr lang="en-US" sz="1200" dirty="0"/>
          </a:p>
        </p:txBody>
      </p:sp>
      <p:sp>
        <p:nvSpPr>
          <p:cNvPr id="40" name="Shape 37"/>
          <p:cNvSpPr/>
          <p:nvPr/>
        </p:nvSpPr>
        <p:spPr>
          <a:xfrm>
            <a:off x="4663440" y="3291840"/>
            <a:ext cx="4023360" cy="365760"/>
          </a:xfrm>
          <a:prstGeom prst="rect">
            <a:avLst/>
          </a:prstGeom>
          <a:solidFill>
            <a:srgbClr val="375623"/>
          </a:solidFill>
          <a:ln w="12700">
            <a:solidFill>
              <a:srgbClr val="375623"/>
            </a:solidFill>
            <a:prstDash val="solid"/>
          </a:ln>
        </p:spPr>
      </p:sp>
      <p:sp>
        <p:nvSpPr>
          <p:cNvPr id="41" name="Text 38"/>
          <p:cNvSpPr/>
          <p:nvPr/>
        </p:nvSpPr>
        <p:spPr>
          <a:xfrm>
            <a:off x="4754880" y="333756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Apostolicity = canonicity</a:t>
            </a:r>
            <a:endParaRPr lang="en-US" sz="1200" dirty="0"/>
          </a:p>
        </p:txBody>
      </p:sp>
      <p:sp>
        <p:nvSpPr>
          <p:cNvPr id="42" name="Shape 39"/>
          <p:cNvSpPr/>
          <p:nvPr/>
        </p:nvSpPr>
        <p:spPr>
          <a:xfrm>
            <a:off x="4663440" y="3657600"/>
            <a:ext cx="4023360" cy="960120"/>
          </a:xfrm>
          <a:prstGeom prst="rect">
            <a:avLst/>
          </a:prstGeom>
          <a:solidFill>
            <a:srgbClr val="F2F6FC"/>
          </a:solidFill>
          <a:ln w="9525">
            <a:solidFill>
              <a:srgbClr val="D5DCEA"/>
            </a:solidFill>
            <a:prstDash val="solid"/>
          </a:ln>
        </p:spPr>
      </p:sp>
      <p:sp>
        <p:nvSpPr>
          <p:cNvPr id="43" name="Text 40"/>
          <p:cNvSpPr/>
          <p:nvPr/>
        </p:nvSpPr>
        <p:spPr>
          <a:xfrm>
            <a:off x="4754880" y="3730752"/>
            <a:ext cx="3840480" cy="832104"/>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When the apostles were gone, the canon was closed</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John 14:26; 16:13</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Our resources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2:16–17 · II.B — Their source and content</a:t>
            </a:r>
            <a:endParaRPr lang="en-US" sz="1200" dirty="0"/>
          </a:p>
        </p:txBody>
      </p:sp>
      <p:sp>
        <p:nvSpPr>
          <p:cNvPr id="5" name="Shape 2"/>
          <p:cNvSpPr/>
          <p:nvPr/>
        </p:nvSpPr>
        <p:spPr>
          <a:xfrm>
            <a:off x="457200" y="1188720"/>
            <a:ext cx="2621280" cy="566928"/>
          </a:xfrm>
          <a:prstGeom prst="rect">
            <a:avLst/>
          </a:prstGeom>
          <a:solidFill>
            <a:srgbClr val="2E5496"/>
          </a:solidFill>
          <a:ln w="12700">
            <a:solidFill>
              <a:srgbClr val="2E5496"/>
            </a:solidFill>
            <a:prstDash val="solid"/>
          </a:ln>
        </p:spPr>
      </p:sp>
      <p:sp>
        <p:nvSpPr>
          <p:cNvPr id="6" name="Text 3"/>
          <p:cNvSpPr/>
          <p:nvPr/>
        </p:nvSpPr>
        <p:spPr>
          <a:xfrm>
            <a:off x="54864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source · 16a</a:t>
            </a:r>
            <a:endParaRPr lang="en-US" sz="1200" dirty="0"/>
          </a:p>
        </p:txBody>
      </p:sp>
      <p:sp>
        <p:nvSpPr>
          <p:cNvPr id="7" name="Shape 4"/>
          <p:cNvSpPr/>
          <p:nvPr/>
        </p:nvSpPr>
        <p:spPr>
          <a:xfrm>
            <a:off x="457200" y="1755648"/>
            <a:ext cx="2621280" cy="1947672"/>
          </a:xfrm>
          <a:prstGeom prst="rect">
            <a:avLst/>
          </a:prstGeom>
          <a:solidFill>
            <a:srgbClr val="F2F6FC"/>
          </a:solidFill>
          <a:ln w="9525">
            <a:solidFill>
              <a:srgbClr val="D5DCEA"/>
            </a:solidFill>
            <a:prstDash val="solid"/>
          </a:ln>
        </p:spPr>
      </p:sp>
      <p:sp>
        <p:nvSpPr>
          <p:cNvPr id="8" name="Text 5"/>
          <p:cNvSpPr/>
          <p:nvPr/>
        </p:nvSpPr>
        <p:spPr>
          <a:xfrm>
            <a:off x="54864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“Our Lord Jesus Christ Himself, and our God and Father”</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“Who” — singular: one God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According to His riches (Phil 4:19)</a:t>
            </a:r>
            <a:endParaRPr lang="en-US" sz="1250" dirty="0"/>
          </a:p>
        </p:txBody>
      </p:sp>
      <p:sp>
        <p:nvSpPr>
          <p:cNvPr id="9" name="Shape 6"/>
          <p:cNvSpPr/>
          <p:nvPr/>
        </p:nvSpPr>
        <p:spPr>
          <a:xfrm>
            <a:off x="3261360" y="1188720"/>
            <a:ext cx="2621280" cy="566928"/>
          </a:xfrm>
          <a:prstGeom prst="rect">
            <a:avLst/>
          </a:prstGeom>
          <a:solidFill>
            <a:srgbClr val="2E5496"/>
          </a:solidFill>
          <a:ln w="12700">
            <a:solidFill>
              <a:srgbClr val="2E5496"/>
            </a:solidFill>
            <a:prstDash val="solid"/>
          </a:ln>
        </p:spPr>
      </p:sp>
      <p:sp>
        <p:nvSpPr>
          <p:cNvPr id="10" name="Text 7"/>
          <p:cNvSpPr/>
          <p:nvPr/>
        </p:nvSpPr>
        <p:spPr>
          <a:xfrm>
            <a:off x="335280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God’s love · 16b</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παράκλησις · ἐλπίς</a:t>
            </a:r>
            <a:pPr indent="0" marL="0">
              <a:buNone/>
            </a:pPr>
            <a:r>
              <a:rPr lang="en-US" sz="850" dirty="0">
                <a:solidFill>
                  <a:srgbClr val="DCE4F2"/>
                </a:solidFill>
                <a:latin typeface="Arial" pitchFamily="34" charset="0"/>
                <a:ea typeface="Arial" pitchFamily="34" charset="-122"/>
                <a:cs typeface="Arial" pitchFamily="34" charset="-120"/>
              </a:rPr>
              <a:t>  consolation · hope</a:t>
            </a:r>
            <a:endParaRPr lang="en-US" sz="1200" dirty="0"/>
          </a:p>
        </p:txBody>
      </p:sp>
      <p:sp>
        <p:nvSpPr>
          <p:cNvPr id="11" name="Shape 8"/>
          <p:cNvSpPr/>
          <p:nvPr/>
        </p:nvSpPr>
        <p:spPr>
          <a:xfrm>
            <a:off x="3261360" y="1755648"/>
            <a:ext cx="2621280" cy="1947672"/>
          </a:xfrm>
          <a:prstGeom prst="rect">
            <a:avLst/>
          </a:prstGeom>
          <a:solidFill>
            <a:srgbClr val="F2F6FC"/>
          </a:solidFill>
          <a:ln w="9525">
            <a:solidFill>
              <a:srgbClr val="D5DCEA"/>
            </a:solidFill>
            <a:prstDash val="solid"/>
          </a:ln>
        </p:spPr>
      </p:sp>
      <p:sp>
        <p:nvSpPr>
          <p:cNvPr id="12" name="Text 9"/>
          <p:cNvSpPr/>
          <p:nvPr/>
        </p:nvSpPr>
        <p:spPr>
          <a:xfrm>
            <a:off x="335280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Everlasting consolation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good hope, by grace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 charge</a:t>
            </a:r>
            <a:endParaRPr lang="en-US" sz="1250" dirty="0"/>
          </a:p>
        </p:txBody>
      </p:sp>
      <p:sp>
        <p:nvSpPr>
          <p:cNvPr id="13" name="Shape 10"/>
          <p:cNvSpPr/>
          <p:nvPr/>
        </p:nvSpPr>
        <p:spPr>
          <a:xfrm>
            <a:off x="6065520" y="1188720"/>
            <a:ext cx="2621280" cy="566928"/>
          </a:xfrm>
          <a:prstGeom prst="rect">
            <a:avLst/>
          </a:prstGeom>
          <a:solidFill>
            <a:srgbClr val="375623"/>
          </a:solidFill>
          <a:ln w="12700">
            <a:solidFill>
              <a:srgbClr val="375623"/>
            </a:solidFill>
            <a:prstDash val="solid"/>
          </a:ln>
        </p:spPr>
      </p:sp>
      <p:sp>
        <p:nvSpPr>
          <p:cNvPr id="14" name="Text 11"/>
          <p:cNvSpPr/>
          <p:nvPr/>
        </p:nvSpPr>
        <p:spPr>
          <a:xfrm>
            <a:off x="6156960" y="1234440"/>
            <a:ext cx="2438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God’s life · 17</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στηρίζω</a:t>
            </a:r>
            <a:pPr indent="0" marL="0">
              <a:buNone/>
            </a:pPr>
            <a:r>
              <a:rPr lang="en-US" sz="850" dirty="0">
                <a:solidFill>
                  <a:srgbClr val="DCE4F2"/>
                </a:solidFill>
                <a:latin typeface="Arial" pitchFamily="34" charset="0"/>
                <a:ea typeface="Arial" pitchFamily="34" charset="-122"/>
                <a:cs typeface="Arial" pitchFamily="34" charset="-120"/>
              </a:rPr>
              <a:t>  establish · G4741</a:t>
            </a:r>
            <a:endParaRPr lang="en-US" sz="1200" dirty="0"/>
          </a:p>
        </p:txBody>
      </p:sp>
      <p:sp>
        <p:nvSpPr>
          <p:cNvPr id="15" name="Shape 12"/>
          <p:cNvSpPr/>
          <p:nvPr/>
        </p:nvSpPr>
        <p:spPr>
          <a:xfrm>
            <a:off x="6065520" y="1755648"/>
            <a:ext cx="2621280" cy="1947672"/>
          </a:xfrm>
          <a:prstGeom prst="rect">
            <a:avLst/>
          </a:prstGeom>
          <a:solidFill>
            <a:srgbClr val="F2F6FC"/>
          </a:solidFill>
          <a:ln w="9525">
            <a:solidFill>
              <a:srgbClr val="D5DCEA"/>
            </a:solidFill>
            <a:prstDash val="solid"/>
          </a:ln>
        </p:spPr>
      </p:sp>
      <p:sp>
        <p:nvSpPr>
          <p:cNvPr id="16" name="Text 13"/>
          <p:cNvSpPr/>
          <p:nvPr/>
        </p:nvSpPr>
        <p:spPr>
          <a:xfrm>
            <a:off x="6156960" y="1828800"/>
            <a:ext cx="243840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Comforts your hearts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Establishes you in every good word and work</a:t>
            </a:r>
            <a:endParaRPr lang="en-US" sz="1250" dirty="0"/>
          </a:p>
        </p:txBody>
      </p:sp>
      <p:sp>
        <p:nvSpPr>
          <p:cNvPr id="17" name="Shape 14"/>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18" name="Text 15"/>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Your hope is not in this government or the Constitution. Your hope is in the Lord — a good hope that assures you of the return of your victorious Savior.</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2:13–17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How should we determine the meaning of “salvation,” and what does it mean in 2:13?</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What five things does the teacher say we must do with the Word so that it does not slip away?</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Read “Saved” in Context</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Work through the handout passages this week, asking “saved from what?” for each one.</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Five Steps to Holding the Word</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Write down one truth, review it daily, and share it with one person before next week.</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Loved, chosen, set apart and appointed to deliverance — so stand fast, hold the Word, and draw on His love, comfort and good hope.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Study 6 of 7 · 2 Thessalonians 3:1–12</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Serving While Waiting</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What do you do while you’re waiting? Wait on the Lord in prayer, and wait for the Lord in work — the Word must run, and idleness must not become meddling.</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Wait on the Lord — wait for the Lord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3:1–12 · Outline I–II</a:t>
            </a:r>
            <a:endParaRPr lang="en-US" sz="1200" dirty="0"/>
          </a:p>
        </p:txBody>
      </p:sp>
      <p:sp>
        <p:nvSpPr>
          <p:cNvPr id="5" name="Shape 2"/>
          <p:cNvSpPr/>
          <p:nvPr/>
        </p:nvSpPr>
        <p:spPr>
          <a:xfrm>
            <a:off x="457200" y="1188720"/>
            <a:ext cx="3931920" cy="365760"/>
          </a:xfrm>
          <a:prstGeom prst="rect">
            <a:avLst/>
          </a:prstGeom>
          <a:solidFill>
            <a:srgbClr val="2E5496"/>
          </a:solidFill>
          <a:ln w="12700">
            <a:solidFill>
              <a:srgbClr val="2E5496"/>
            </a:solidFill>
            <a:prstDash val="solid"/>
          </a:ln>
        </p:spPr>
      </p:sp>
      <p:sp>
        <p:nvSpPr>
          <p:cNvPr id="6" name="Text 3"/>
          <p:cNvSpPr/>
          <p:nvPr/>
        </p:nvSpPr>
        <p:spPr>
          <a:xfrm>
            <a:off x="54864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 · Wait on the Lord · 3:1–5</a:t>
            </a:r>
            <a:endParaRPr lang="en-US" sz="1200" dirty="0"/>
          </a:p>
        </p:txBody>
      </p:sp>
      <p:sp>
        <p:nvSpPr>
          <p:cNvPr id="7" name="Shape 4"/>
          <p:cNvSpPr/>
          <p:nvPr/>
        </p:nvSpPr>
        <p:spPr>
          <a:xfrm>
            <a:off x="457200" y="1554480"/>
            <a:ext cx="3931920" cy="2011680"/>
          </a:xfrm>
          <a:prstGeom prst="rect">
            <a:avLst/>
          </a:prstGeom>
          <a:solidFill>
            <a:srgbClr val="F2F6FC"/>
          </a:solidFill>
          <a:ln w="9525">
            <a:solidFill>
              <a:srgbClr val="D5DCEA"/>
            </a:solidFill>
            <a:prstDash val="solid"/>
          </a:ln>
        </p:spPr>
      </p:sp>
      <p:sp>
        <p:nvSpPr>
          <p:cNvPr id="8" name="Text 5"/>
          <p:cNvSpPr/>
          <p:nvPr/>
        </p:nvSpPr>
        <p:spPr>
          <a:xfrm>
            <a:off x="548640" y="1627632"/>
            <a:ext cx="3749040" cy="188366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content of the prayer — ministry and misery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confidence of the prayer — the Lord is faithful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consequences of the prayer — love and patience</a:t>
            </a:r>
            <a:endParaRPr lang="en-US" sz="1250" dirty="0"/>
          </a:p>
        </p:txBody>
      </p:sp>
      <p:sp>
        <p:nvSpPr>
          <p:cNvPr id="9" name="Shape 6"/>
          <p:cNvSpPr/>
          <p:nvPr/>
        </p:nvSpPr>
        <p:spPr>
          <a:xfrm>
            <a:off x="4754880" y="1188720"/>
            <a:ext cx="3931920" cy="365760"/>
          </a:xfrm>
          <a:prstGeom prst="rect">
            <a:avLst/>
          </a:prstGeom>
          <a:solidFill>
            <a:srgbClr val="375623"/>
          </a:solidFill>
          <a:ln w="12700">
            <a:solidFill>
              <a:srgbClr val="375623"/>
            </a:solidFill>
            <a:prstDash val="solid"/>
          </a:ln>
        </p:spPr>
      </p:sp>
      <p:sp>
        <p:nvSpPr>
          <p:cNvPr id="10" name="Text 7"/>
          <p:cNvSpPr/>
          <p:nvPr/>
        </p:nvSpPr>
        <p:spPr>
          <a:xfrm>
            <a:off x="484632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II · Wait for the Lord · 3:6–12</a:t>
            </a:r>
            <a:endParaRPr lang="en-US" sz="1200" dirty="0"/>
          </a:p>
        </p:txBody>
      </p:sp>
      <p:sp>
        <p:nvSpPr>
          <p:cNvPr id="11" name="Shape 8"/>
          <p:cNvSpPr/>
          <p:nvPr/>
        </p:nvSpPr>
        <p:spPr>
          <a:xfrm>
            <a:off x="4754880" y="1554480"/>
            <a:ext cx="3931920" cy="2011680"/>
          </a:xfrm>
          <a:prstGeom prst="rect">
            <a:avLst/>
          </a:prstGeom>
          <a:solidFill>
            <a:srgbClr val="F2F6FC"/>
          </a:solidFill>
          <a:ln w="9525">
            <a:solidFill>
              <a:srgbClr val="D5DCEA"/>
            </a:solidFill>
            <a:prstDash val="solid"/>
          </a:ln>
        </p:spPr>
      </p:sp>
      <p:sp>
        <p:nvSpPr>
          <p:cNvPr id="12" name="Text 9"/>
          <p:cNvSpPr/>
          <p:nvPr/>
        </p:nvSpPr>
        <p:spPr>
          <a:xfrm>
            <a:off x="4846320" y="1627632"/>
            <a:ext cx="3749040" cy="188366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exhortation — withdraw</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example — Paul’s own work</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explanation — busybodies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solution — work in quietness</a:t>
            </a:r>
            <a:endParaRPr lang="en-US" sz="1250" dirty="0"/>
          </a:p>
        </p:txBody>
      </p:sp>
      <p:sp>
        <p:nvSpPr>
          <p:cNvPr id="13" name="Text 10"/>
          <p:cNvSpPr/>
          <p:nvPr/>
        </p:nvSpPr>
        <p:spPr>
          <a:xfrm>
            <a:off x="4389120" y="219456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a:t>
            </a:r>
            <a:endParaRPr lang="en-US" sz="1100" dirty="0"/>
          </a:p>
        </p:txBody>
      </p:sp>
      <p:sp>
        <p:nvSpPr>
          <p:cNvPr id="14" name="Shape 11"/>
          <p:cNvSpPr/>
          <p:nvPr/>
        </p:nvSpPr>
        <p:spPr>
          <a:xfrm>
            <a:off x="457200" y="3794760"/>
            <a:ext cx="8229600" cy="777240"/>
          </a:xfrm>
          <a:prstGeom prst="roundRect">
            <a:avLst>
              <a:gd name="adj" fmla="val 7059"/>
            </a:avLst>
          </a:prstGeom>
          <a:solidFill>
            <a:srgbClr val="1F3864"/>
          </a:solidFill>
          <a:ln w="12700">
            <a:solidFill>
              <a:srgbClr val="1F3864"/>
            </a:solidFill>
            <a:prstDash val="solid"/>
          </a:ln>
        </p:spPr>
      </p:sp>
      <p:sp>
        <p:nvSpPr>
          <p:cNvPr id="15" name="Text 12"/>
          <p:cNvSpPr/>
          <p:nvPr/>
        </p:nvSpPr>
        <p:spPr>
          <a:xfrm>
            <a:off x="621792" y="3794760"/>
            <a:ext cx="7900416" cy="777240"/>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Trust and obey:  </a:t>
            </a:r>
            <a:pPr indent="0" marL="0">
              <a:buNone/>
            </a:pPr>
            <a:r>
              <a:rPr lang="en-US" sz="1200" dirty="0">
                <a:solidFill>
                  <a:srgbClr val="FFFFFF"/>
                </a:solidFill>
                <a:latin typeface="Arial" pitchFamily="34" charset="0"/>
                <a:ea typeface="Arial" pitchFamily="34" charset="-122"/>
                <a:cs typeface="Arial" pitchFamily="34" charset="-120"/>
              </a:rPr>
              <a:t>“Fear God and keep His commandments” (Eccl 12:13) — pray and trust; work and obey.</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“Pray for us”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3:1–2 · I.A — The content of the prayer</a:t>
            </a:r>
            <a:endParaRPr lang="en-US" sz="1200" dirty="0"/>
          </a:p>
        </p:txBody>
      </p:sp>
      <p:sp>
        <p:nvSpPr>
          <p:cNvPr id="5" name="Shape 2"/>
          <p:cNvSpPr/>
          <p:nvPr/>
        </p:nvSpPr>
        <p:spPr>
          <a:xfrm>
            <a:off x="457200" y="1188720"/>
            <a:ext cx="4023360" cy="566928"/>
          </a:xfrm>
          <a:prstGeom prst="rect">
            <a:avLst/>
          </a:prstGeom>
          <a:solidFill>
            <a:srgbClr val="2E5496"/>
          </a:solidFill>
          <a:ln w="12700">
            <a:solidFill>
              <a:srgbClr val="2E5496"/>
            </a:solidFill>
            <a:prstDash val="solid"/>
          </a:ln>
        </p:spPr>
      </p:sp>
      <p:sp>
        <p:nvSpPr>
          <p:cNvPr id="6" name="Text 3"/>
          <p:cNvSpPr/>
          <p:nvPr/>
        </p:nvSpPr>
        <p:spPr>
          <a:xfrm>
            <a:off x="548640" y="123444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Their ministry · v.1</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τρέχω</a:t>
            </a:r>
            <a:pPr indent="0" marL="0">
              <a:buNone/>
            </a:pPr>
            <a:r>
              <a:rPr lang="en-US" sz="850" dirty="0">
                <a:solidFill>
                  <a:srgbClr val="DCE4F2"/>
                </a:solidFill>
                <a:latin typeface="Arial" pitchFamily="34" charset="0"/>
                <a:ea typeface="Arial" pitchFamily="34" charset="-122"/>
                <a:cs typeface="Arial" pitchFamily="34" charset="-120"/>
              </a:rPr>
              <a:t>  run swiftly · G5143</a:t>
            </a:r>
            <a:endParaRPr lang="en-US" sz="1200" dirty="0"/>
          </a:p>
        </p:txBody>
      </p:sp>
      <p:sp>
        <p:nvSpPr>
          <p:cNvPr id="7" name="Shape 4"/>
          <p:cNvSpPr/>
          <p:nvPr/>
        </p:nvSpPr>
        <p:spPr>
          <a:xfrm>
            <a:off x="457200" y="1755648"/>
            <a:ext cx="4023360" cy="1947672"/>
          </a:xfrm>
          <a:prstGeom prst="rect">
            <a:avLst/>
          </a:prstGeom>
          <a:solidFill>
            <a:srgbClr val="F2F6FC"/>
          </a:solidFill>
          <a:ln w="9525">
            <a:solidFill>
              <a:srgbClr val="D5DCEA"/>
            </a:solidFill>
            <a:prstDash val="solid"/>
          </a:ln>
        </p:spPr>
      </p:sp>
      <p:sp>
        <p:nvSpPr>
          <p:cNvPr id="8" name="Text 5"/>
          <p:cNvSpPr/>
          <p:nvPr/>
        </p:nvSpPr>
        <p:spPr>
          <a:xfrm>
            <a:off x="548640" y="1828800"/>
            <a:ext cx="3840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That the Word may run — it has no feet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And be glorified — believed, prized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“Just as it is with you”</a:t>
            </a:r>
            <a:endParaRPr lang="en-US" sz="1250" dirty="0"/>
          </a:p>
        </p:txBody>
      </p:sp>
      <p:sp>
        <p:nvSpPr>
          <p:cNvPr id="9" name="Shape 6"/>
          <p:cNvSpPr/>
          <p:nvPr/>
        </p:nvSpPr>
        <p:spPr>
          <a:xfrm>
            <a:off x="4663440" y="1188720"/>
            <a:ext cx="4023360" cy="566928"/>
          </a:xfrm>
          <a:prstGeom prst="rect">
            <a:avLst/>
          </a:prstGeom>
          <a:solidFill>
            <a:srgbClr val="6B7280"/>
          </a:solidFill>
          <a:ln w="12700">
            <a:solidFill>
              <a:srgbClr val="6B7280"/>
            </a:solidFill>
            <a:prstDash val="solid"/>
          </a:ln>
        </p:spPr>
      </p:sp>
      <p:sp>
        <p:nvSpPr>
          <p:cNvPr id="10" name="Text 7"/>
          <p:cNvSpPr/>
          <p:nvPr/>
        </p:nvSpPr>
        <p:spPr>
          <a:xfrm>
            <a:off x="4754880" y="123444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Their misery · v.2</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ἄτοπος · πονηρός</a:t>
            </a:r>
            <a:pPr indent="0" marL="0">
              <a:buNone/>
            </a:pPr>
            <a:r>
              <a:rPr lang="en-US" sz="850" dirty="0">
                <a:solidFill>
                  <a:srgbClr val="DCE4F2"/>
                </a:solidFill>
                <a:latin typeface="Arial" pitchFamily="34" charset="0"/>
                <a:ea typeface="Arial" pitchFamily="34" charset="-122"/>
                <a:cs typeface="Arial" pitchFamily="34" charset="-120"/>
              </a:rPr>
              <a:t>  out of place · harmful</a:t>
            </a:r>
            <a:endParaRPr lang="en-US" sz="1200" dirty="0"/>
          </a:p>
        </p:txBody>
      </p:sp>
      <p:sp>
        <p:nvSpPr>
          <p:cNvPr id="11" name="Shape 8"/>
          <p:cNvSpPr/>
          <p:nvPr/>
        </p:nvSpPr>
        <p:spPr>
          <a:xfrm>
            <a:off x="4663440" y="1755648"/>
            <a:ext cx="4023360" cy="1947672"/>
          </a:xfrm>
          <a:prstGeom prst="rect">
            <a:avLst/>
          </a:prstGeom>
          <a:solidFill>
            <a:srgbClr val="F2F6FC"/>
          </a:solidFill>
          <a:ln w="9525">
            <a:solidFill>
              <a:srgbClr val="D5DCEA"/>
            </a:solidFill>
            <a:prstDash val="solid"/>
          </a:ln>
        </p:spPr>
      </p:sp>
      <p:sp>
        <p:nvSpPr>
          <p:cNvPr id="12" name="Text 9"/>
          <p:cNvSpPr/>
          <p:nvPr/>
        </p:nvSpPr>
        <p:spPr>
          <a:xfrm>
            <a:off x="4754880" y="1828800"/>
            <a:ext cx="3840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Deliverance from unreasonable, wicked men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“For not all have faith”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They oppose the gift and the giver</a:t>
            </a:r>
            <a:endParaRPr lang="en-US" sz="1250" dirty="0"/>
          </a:p>
        </p:txBody>
      </p:sp>
      <p:sp>
        <p:nvSpPr>
          <p:cNvPr id="13" name="Shape 10"/>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14" name="Text 11"/>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Satan doesn’t bother those who don’t bother him. Let’s start bothering Satan — and that will be giving the Word.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“But the Lord is faithful”</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3:3–4 · I.B — The confidence of the prayer</a:t>
            </a:r>
            <a:endParaRPr lang="en-US" sz="1200" dirty="0"/>
          </a:p>
        </p:txBody>
      </p:sp>
      <p:sp>
        <p:nvSpPr>
          <p:cNvPr id="5" name="Shape 2"/>
          <p:cNvSpPr/>
          <p:nvPr/>
        </p:nvSpPr>
        <p:spPr>
          <a:xfrm>
            <a:off x="457200" y="1188720"/>
            <a:ext cx="2602992" cy="1920240"/>
          </a:xfrm>
          <a:prstGeom prst="roundRect">
            <a:avLst>
              <a:gd name="adj" fmla="val 2857"/>
            </a:avLst>
          </a:prstGeom>
          <a:solidFill>
            <a:srgbClr val="F2F6FC"/>
          </a:solidFill>
          <a:ln w="9525">
            <a:solidFill>
              <a:srgbClr val="D5DCEA"/>
            </a:solidFill>
            <a:prstDash val="solid"/>
          </a:ln>
        </p:spPr>
      </p:sp>
      <p:sp>
        <p:nvSpPr>
          <p:cNvPr id="6" name="Shape 3"/>
          <p:cNvSpPr/>
          <p:nvPr/>
        </p:nvSpPr>
        <p:spPr>
          <a:xfrm>
            <a:off x="1557528"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557528"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He will establish you</a:t>
            </a:r>
            <a:endParaRPr lang="en-US" sz="1150" dirty="0"/>
          </a:p>
        </p:txBody>
      </p:sp>
      <p:sp>
        <p:nvSpPr>
          <p:cNvPr id="9" name="Text 6"/>
          <p:cNvSpPr/>
          <p:nvPr/>
        </p:nvSpPr>
        <p:spPr>
          <a:xfrm>
            <a:off x="530352" y="2157984"/>
            <a:ext cx="2456688" cy="5669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Strengthened in the faith as you study His Book</a:t>
            </a:r>
            <a:endParaRPr lang="en-US" sz="1150" dirty="0"/>
          </a:p>
        </p:txBody>
      </p:sp>
      <p:sp>
        <p:nvSpPr>
          <p:cNvPr id="10" name="Text 7"/>
          <p:cNvSpPr/>
          <p:nvPr/>
        </p:nvSpPr>
        <p:spPr>
          <a:xfrm>
            <a:off x="530352" y="272491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v.3a</a:t>
            </a:r>
            <a:endParaRPr lang="en-US" sz="900" dirty="0"/>
          </a:p>
        </p:txBody>
      </p:sp>
      <p:sp>
        <p:nvSpPr>
          <p:cNvPr id="11" name="Shape 8"/>
          <p:cNvSpPr/>
          <p:nvPr/>
        </p:nvSpPr>
        <p:spPr>
          <a:xfrm>
            <a:off x="3064764" y="2029968"/>
            <a:ext cx="201168" cy="237744"/>
          </a:xfrm>
          <a:prstGeom prst="rightArrow">
            <a:avLst/>
          </a:prstGeom>
          <a:solidFill>
            <a:srgbClr val="6B7280"/>
          </a:solidFill>
          <a:ln w="12700">
            <a:solidFill>
              <a:srgbClr val="6B7280"/>
            </a:solidFill>
            <a:prstDash val="solid"/>
          </a:ln>
        </p:spPr>
      </p:sp>
      <p:sp>
        <p:nvSpPr>
          <p:cNvPr id="12" name="Shape 9"/>
          <p:cNvSpPr/>
          <p:nvPr/>
        </p:nvSpPr>
        <p:spPr>
          <a:xfrm>
            <a:off x="3270504" y="1188720"/>
            <a:ext cx="2602992" cy="1920240"/>
          </a:xfrm>
          <a:prstGeom prst="roundRect">
            <a:avLst>
              <a:gd name="adj" fmla="val 2857"/>
            </a:avLst>
          </a:prstGeom>
          <a:solidFill>
            <a:srgbClr val="F2F6FC"/>
          </a:solidFill>
          <a:ln w="9525">
            <a:solidFill>
              <a:srgbClr val="D5DCEA"/>
            </a:solidFill>
            <a:prstDash val="solid"/>
          </a:ln>
        </p:spPr>
      </p:sp>
      <p:sp>
        <p:nvSpPr>
          <p:cNvPr id="13" name="Shape 10"/>
          <p:cNvSpPr/>
          <p:nvPr/>
        </p:nvSpPr>
        <p:spPr>
          <a:xfrm>
            <a:off x="4370832"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3343656"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He will guard you</a:t>
            </a:r>
            <a:endParaRPr lang="en-US" sz="1150" dirty="0"/>
          </a:p>
        </p:txBody>
      </p:sp>
      <p:sp>
        <p:nvSpPr>
          <p:cNvPr id="16" name="Text 13"/>
          <p:cNvSpPr/>
          <p:nvPr/>
        </p:nvSpPr>
        <p:spPr>
          <a:xfrm>
            <a:off x="3343656" y="2157984"/>
            <a:ext cx="2456688" cy="5669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From the evil one — and from evil</a:t>
            </a:r>
            <a:endParaRPr lang="en-US" sz="1150" dirty="0"/>
          </a:p>
        </p:txBody>
      </p:sp>
      <p:sp>
        <p:nvSpPr>
          <p:cNvPr id="17" name="Text 14"/>
          <p:cNvSpPr/>
          <p:nvPr/>
        </p:nvSpPr>
        <p:spPr>
          <a:xfrm>
            <a:off x="3343656" y="272491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φυλάσσω · πονηρός · v.3b</a:t>
            </a:r>
            <a:endParaRPr lang="en-US" sz="900" dirty="0"/>
          </a:p>
        </p:txBody>
      </p:sp>
      <p:sp>
        <p:nvSpPr>
          <p:cNvPr id="18" name="Shape 15"/>
          <p:cNvSpPr/>
          <p:nvPr/>
        </p:nvSpPr>
        <p:spPr>
          <a:xfrm>
            <a:off x="5878068" y="2029968"/>
            <a:ext cx="201168" cy="237744"/>
          </a:xfrm>
          <a:prstGeom prst="rightArrow">
            <a:avLst/>
          </a:prstGeom>
          <a:solidFill>
            <a:srgbClr val="6B7280"/>
          </a:solidFill>
          <a:ln w="12700">
            <a:solidFill>
              <a:srgbClr val="6B7280"/>
            </a:solidFill>
            <a:prstDash val="solid"/>
          </a:ln>
        </p:spPr>
      </p:sp>
      <p:sp>
        <p:nvSpPr>
          <p:cNvPr id="19" name="Shape 16"/>
          <p:cNvSpPr/>
          <p:nvPr/>
        </p:nvSpPr>
        <p:spPr>
          <a:xfrm>
            <a:off x="6083808" y="1188720"/>
            <a:ext cx="2602992" cy="1920240"/>
          </a:xfrm>
          <a:prstGeom prst="roundRect">
            <a:avLst>
              <a:gd name="adj" fmla="val 2857"/>
            </a:avLst>
          </a:prstGeom>
          <a:solidFill>
            <a:srgbClr val="1F3864"/>
          </a:solidFill>
          <a:ln w="9525">
            <a:solidFill>
              <a:srgbClr val="1F3864"/>
            </a:solidFill>
            <a:prstDash val="solid"/>
          </a:ln>
        </p:spPr>
      </p:sp>
      <p:sp>
        <p:nvSpPr>
          <p:cNvPr id="20" name="Shape 17"/>
          <p:cNvSpPr/>
          <p:nvPr/>
        </p:nvSpPr>
        <p:spPr>
          <a:xfrm>
            <a:off x="7184136"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7184136"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6156960" y="1773936"/>
            <a:ext cx="2456688"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You will do</a:t>
            </a:r>
            <a:endParaRPr lang="en-US" sz="1150" dirty="0"/>
          </a:p>
        </p:txBody>
      </p:sp>
      <p:sp>
        <p:nvSpPr>
          <p:cNvPr id="23" name="Text 20"/>
          <p:cNvSpPr/>
          <p:nvPr/>
        </p:nvSpPr>
        <p:spPr>
          <a:xfrm>
            <a:off x="6156960" y="2157984"/>
            <a:ext cx="2456688" cy="56692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What you are doing — and continue</a:t>
            </a:r>
            <a:endParaRPr lang="en-US" sz="1150" dirty="0"/>
          </a:p>
        </p:txBody>
      </p:sp>
      <p:sp>
        <p:nvSpPr>
          <p:cNvPr id="24" name="Text 21"/>
          <p:cNvSpPr/>
          <p:nvPr/>
        </p:nvSpPr>
        <p:spPr>
          <a:xfrm>
            <a:off x="6156960" y="2724912"/>
            <a:ext cx="2456688"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v.4</a:t>
            </a:r>
            <a:endParaRPr lang="en-US" sz="900" dirty="0"/>
          </a:p>
        </p:txBody>
      </p:sp>
      <p:sp>
        <p:nvSpPr>
          <p:cNvPr id="25" name="Shape 22"/>
          <p:cNvSpPr/>
          <p:nvPr/>
        </p:nvSpPr>
        <p:spPr>
          <a:xfrm>
            <a:off x="457200" y="3337560"/>
            <a:ext cx="8229600" cy="594360"/>
          </a:xfrm>
          <a:prstGeom prst="roundRect">
            <a:avLst>
              <a:gd name="adj" fmla="val 9231"/>
            </a:avLst>
          </a:prstGeom>
          <a:solidFill>
            <a:srgbClr val="1F3864"/>
          </a:solidFill>
          <a:ln w="12700">
            <a:solidFill>
              <a:srgbClr val="1F3864"/>
            </a:solidFill>
            <a:prstDash val="solid"/>
          </a:ln>
        </p:spPr>
      </p:sp>
      <p:sp>
        <p:nvSpPr>
          <p:cNvPr id="26" name="Text 23"/>
          <p:cNvSpPr/>
          <p:nvPr/>
        </p:nvSpPr>
        <p:spPr>
          <a:xfrm>
            <a:off x="621792" y="3337560"/>
            <a:ext cx="7900416" cy="594360"/>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pistis → pistos:  </a:t>
            </a:r>
            <a:pPr indent="0" marL="0">
              <a:buNone/>
            </a:pPr>
            <a:r>
              <a:rPr lang="en-US" sz="1200" dirty="0">
                <a:solidFill>
                  <a:srgbClr val="FFFFFF"/>
                </a:solidFill>
                <a:latin typeface="Arial" pitchFamily="34" charset="0"/>
                <a:ea typeface="Arial" pitchFamily="34" charset="-122"/>
                <a:cs typeface="Arial" pitchFamily="34" charset="-120"/>
              </a:rPr>
              <a:t>“not all have faith … but the Lord is faithful” (3:2–3)</a:t>
            </a:r>
            <a:endParaRPr lang="en-US" sz="1200" dirty="0"/>
          </a:p>
        </p:txBody>
      </p:sp>
      <p:sp>
        <p:nvSpPr>
          <p:cNvPr id="27" name="Shape 24"/>
          <p:cNvSpPr/>
          <p:nvPr/>
        </p:nvSpPr>
        <p:spPr>
          <a:xfrm>
            <a:off x="457200" y="4069080"/>
            <a:ext cx="8229600" cy="548640"/>
          </a:xfrm>
          <a:prstGeom prst="rect">
            <a:avLst/>
          </a:prstGeom>
          <a:solidFill>
            <a:srgbClr val="375623"/>
          </a:solidFill>
          <a:ln w="12700">
            <a:solidFill>
              <a:srgbClr val="375623"/>
            </a:solidFill>
            <a:prstDash val="solid"/>
          </a:ln>
        </p:spPr>
      </p:sp>
      <p:sp>
        <p:nvSpPr>
          <p:cNvPr id="28" name="Text 25"/>
          <p:cNvSpPr/>
          <p:nvPr/>
        </p:nvSpPr>
        <p:spPr>
          <a:xfrm>
            <a:off x="621792" y="4069080"/>
            <a:ext cx="7900416" cy="54864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Ryrie: could you stop at an accident and lead a dying man to the Lord? Know the faith — and stand in it.</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Into God’s love and Christ’s patience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3:5 · I.C — The consequences of the prayer</a:t>
            </a:r>
            <a:endParaRPr lang="en-US" sz="1200" dirty="0"/>
          </a:p>
        </p:txBody>
      </p:sp>
      <p:sp>
        <p:nvSpPr>
          <p:cNvPr id="5" name="Shape 2"/>
          <p:cNvSpPr/>
          <p:nvPr/>
        </p:nvSpPr>
        <p:spPr>
          <a:xfrm>
            <a:off x="457200" y="1188720"/>
            <a:ext cx="3383280" cy="566928"/>
          </a:xfrm>
          <a:prstGeom prst="rect">
            <a:avLst/>
          </a:prstGeom>
          <a:solidFill>
            <a:srgbClr val="2E5496"/>
          </a:solidFill>
          <a:ln w="12700">
            <a:solidFill>
              <a:srgbClr val="2E5496"/>
            </a:solidFill>
            <a:prstDash val="solid"/>
          </a:ln>
        </p:spPr>
      </p:sp>
      <p:sp>
        <p:nvSpPr>
          <p:cNvPr id="6" name="Text 3"/>
          <p:cNvSpPr/>
          <p:nvPr/>
        </p:nvSpPr>
        <p:spPr>
          <a:xfrm>
            <a:off x="548640" y="1234440"/>
            <a:ext cx="3200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love of God · 5a</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κατευθύνω</a:t>
            </a:r>
            <a:pPr indent="0" marL="0">
              <a:buNone/>
            </a:pPr>
            <a:r>
              <a:rPr lang="en-US" sz="850" dirty="0">
                <a:solidFill>
                  <a:srgbClr val="DCE4F2"/>
                </a:solidFill>
                <a:latin typeface="Arial" pitchFamily="34" charset="0"/>
                <a:ea typeface="Arial" pitchFamily="34" charset="-122"/>
                <a:cs typeface="Arial" pitchFamily="34" charset="-120"/>
              </a:rPr>
              <a:t>  direct · G2720</a:t>
            </a:r>
            <a:endParaRPr lang="en-US" sz="1200" dirty="0"/>
          </a:p>
        </p:txBody>
      </p:sp>
      <p:sp>
        <p:nvSpPr>
          <p:cNvPr id="7" name="Shape 4"/>
          <p:cNvSpPr/>
          <p:nvPr/>
        </p:nvSpPr>
        <p:spPr>
          <a:xfrm>
            <a:off x="457200" y="1755648"/>
            <a:ext cx="3383280" cy="2176272"/>
          </a:xfrm>
          <a:prstGeom prst="rect">
            <a:avLst/>
          </a:prstGeom>
          <a:solidFill>
            <a:srgbClr val="F2F6FC"/>
          </a:solidFill>
          <a:ln w="9525">
            <a:solidFill>
              <a:srgbClr val="D5DCEA"/>
            </a:solidFill>
            <a:prstDash val="solid"/>
          </a:ln>
        </p:spPr>
      </p:sp>
      <p:sp>
        <p:nvSpPr>
          <p:cNvPr id="8" name="Text 5"/>
          <p:cNvSpPr/>
          <p:nvPr/>
        </p:nvSpPr>
        <p:spPr>
          <a:xfrm>
            <a:off x="548640" y="1828800"/>
            <a:ext cx="3200400" cy="2048256"/>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“God so loved the world”</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Love for the unlovely</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Even unlovely Christians</a:t>
            </a:r>
            <a:endParaRPr lang="en-US" sz="1150" dirty="0"/>
          </a:p>
        </p:txBody>
      </p:sp>
      <p:sp>
        <p:nvSpPr>
          <p:cNvPr id="9" name="Text 6"/>
          <p:cNvSpPr/>
          <p:nvPr/>
        </p:nvSpPr>
        <p:spPr>
          <a:xfrm>
            <a:off x="4069080" y="1188720"/>
            <a:ext cx="4617720" cy="292608"/>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The patience of Christ · 5b</a:t>
            </a:r>
            <a:endParaRPr lang="en-US" sz="1200" dirty="0"/>
          </a:p>
        </p:txBody>
      </p:sp>
      <p:sp>
        <p:nvSpPr>
          <p:cNvPr id="10" name="Shape 7"/>
          <p:cNvSpPr/>
          <p:nvPr/>
        </p:nvSpPr>
        <p:spPr>
          <a:xfrm>
            <a:off x="4069080" y="1591056"/>
            <a:ext cx="384048" cy="384048"/>
          </a:xfrm>
          <a:prstGeom prst="ellipse">
            <a:avLst/>
          </a:prstGeom>
          <a:solidFill>
            <a:srgbClr val="2E5496"/>
          </a:solidFill>
          <a:ln w="12700">
            <a:solidFill>
              <a:srgbClr val="2E5496"/>
            </a:solidFill>
            <a:prstDash val="solid"/>
          </a:ln>
        </p:spPr>
      </p:sp>
      <p:sp>
        <p:nvSpPr>
          <p:cNvPr id="11" name="Text 8"/>
          <p:cNvSpPr/>
          <p:nvPr/>
        </p:nvSpPr>
        <p:spPr>
          <a:xfrm>
            <a:off x="4069080" y="15910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2" name="Text 9"/>
          <p:cNvSpPr/>
          <p:nvPr/>
        </p:nvSpPr>
        <p:spPr>
          <a:xfrm>
            <a:off x="4572000" y="1536192"/>
            <a:ext cx="4114800" cy="755904"/>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Philip — John 14:8–9</a:t>
            </a:r>
            <a:endParaRPr lang="en-US" sz="1150" dirty="0"/>
          </a:p>
          <a:p>
            <a:pPr indent="0" marL="0">
              <a:buNone/>
            </a:pPr>
            <a:r>
              <a:rPr lang="en-US" sz="1050" dirty="0">
                <a:solidFill>
                  <a:srgbClr val="262626"/>
                </a:solidFill>
                <a:latin typeface="Arial" pitchFamily="34" charset="0"/>
                <a:ea typeface="Arial" pitchFamily="34" charset="-122"/>
                <a:cs typeface="Arial" pitchFamily="34" charset="-120"/>
              </a:rPr>
              <a:t>“Have I been with you so long, and you still don’t know?”</a:t>
            </a:r>
            <a:endParaRPr lang="en-US" sz="1150" dirty="0"/>
          </a:p>
        </p:txBody>
      </p:sp>
      <p:sp>
        <p:nvSpPr>
          <p:cNvPr id="13" name="Shape 10"/>
          <p:cNvSpPr/>
          <p:nvPr/>
        </p:nvSpPr>
        <p:spPr>
          <a:xfrm>
            <a:off x="4069080" y="2383536"/>
            <a:ext cx="384048" cy="384048"/>
          </a:xfrm>
          <a:prstGeom prst="ellipse">
            <a:avLst/>
          </a:prstGeom>
          <a:solidFill>
            <a:srgbClr val="2E5496"/>
          </a:solidFill>
          <a:ln w="12700">
            <a:solidFill>
              <a:srgbClr val="2E5496"/>
            </a:solidFill>
            <a:prstDash val="solid"/>
          </a:ln>
        </p:spPr>
      </p:sp>
      <p:sp>
        <p:nvSpPr>
          <p:cNvPr id="14" name="Text 11"/>
          <p:cNvSpPr/>
          <p:nvPr/>
        </p:nvSpPr>
        <p:spPr>
          <a:xfrm>
            <a:off x="4069080" y="23835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2"/>
          <p:cNvSpPr/>
          <p:nvPr/>
        </p:nvSpPr>
        <p:spPr>
          <a:xfrm>
            <a:off x="4572000" y="2328672"/>
            <a:ext cx="4114800" cy="755904"/>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James and John</a:t>
            </a:r>
            <a:endParaRPr lang="en-US" sz="1150" dirty="0"/>
          </a:p>
          <a:p>
            <a:pPr indent="0" marL="0">
              <a:buNone/>
            </a:pPr>
            <a:r>
              <a:rPr lang="en-US" sz="1050" dirty="0">
                <a:solidFill>
                  <a:srgbClr val="262626"/>
                </a:solidFill>
                <a:latin typeface="Arial" pitchFamily="34" charset="0"/>
                <a:ea typeface="Arial" pitchFamily="34" charset="-122"/>
                <a:cs typeface="Arial" pitchFamily="34" charset="-120"/>
              </a:rPr>
              <a:t>The Sons of Thunder: “Shall we call down fire?”</a:t>
            </a:r>
            <a:endParaRPr lang="en-US" sz="1150" dirty="0"/>
          </a:p>
        </p:txBody>
      </p:sp>
      <p:sp>
        <p:nvSpPr>
          <p:cNvPr id="16" name="Shape 13"/>
          <p:cNvSpPr/>
          <p:nvPr/>
        </p:nvSpPr>
        <p:spPr>
          <a:xfrm>
            <a:off x="4069080" y="3176016"/>
            <a:ext cx="384048" cy="384048"/>
          </a:xfrm>
          <a:prstGeom prst="ellipse">
            <a:avLst/>
          </a:prstGeom>
          <a:solidFill>
            <a:srgbClr val="375623"/>
          </a:solidFill>
          <a:ln w="12700">
            <a:solidFill>
              <a:srgbClr val="375623"/>
            </a:solidFill>
            <a:prstDash val="solid"/>
          </a:ln>
        </p:spPr>
      </p:sp>
      <p:sp>
        <p:nvSpPr>
          <p:cNvPr id="17" name="Text 14"/>
          <p:cNvSpPr/>
          <p:nvPr/>
        </p:nvSpPr>
        <p:spPr>
          <a:xfrm>
            <a:off x="4069080" y="31760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5"/>
          <p:cNvSpPr/>
          <p:nvPr/>
        </p:nvSpPr>
        <p:spPr>
          <a:xfrm>
            <a:off x="4572000" y="3121152"/>
            <a:ext cx="4114800" cy="755904"/>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Peter — Matthew 16</a:t>
            </a:r>
            <a:endParaRPr lang="en-US" sz="1150" dirty="0"/>
          </a:p>
          <a:p>
            <a:pPr indent="0" marL="0">
              <a:buNone/>
            </a:pPr>
            <a:r>
              <a:rPr lang="en-US" sz="1050" dirty="0">
                <a:solidFill>
                  <a:srgbClr val="262626"/>
                </a:solidFill>
                <a:latin typeface="Arial" pitchFamily="34" charset="0"/>
                <a:ea typeface="Arial" pitchFamily="34" charset="-122"/>
                <a:cs typeface="Arial" pitchFamily="34" charset="-120"/>
              </a:rPr>
              <a:t>From a revelation from heaven to “Get behind Me, Satan!”</a:t>
            </a:r>
            <a:endParaRPr lang="en-US" sz="1150" dirty="0"/>
          </a:p>
        </p:txBody>
      </p:sp>
      <p:sp>
        <p:nvSpPr>
          <p:cNvPr id="19" name="Shape 16"/>
          <p:cNvSpPr/>
          <p:nvPr/>
        </p:nvSpPr>
        <p:spPr>
          <a:xfrm>
            <a:off x="457200" y="4069080"/>
            <a:ext cx="8229600" cy="548640"/>
          </a:xfrm>
          <a:prstGeom prst="roundRect">
            <a:avLst>
              <a:gd name="adj" fmla="val 10000"/>
            </a:avLst>
          </a:prstGeom>
          <a:solidFill>
            <a:srgbClr val="1F3864"/>
          </a:solidFill>
          <a:ln w="12700">
            <a:solidFill>
              <a:srgbClr val="1F3864"/>
            </a:solidFill>
            <a:prstDash val="solid"/>
          </a:ln>
        </p:spPr>
      </p:sp>
      <p:sp>
        <p:nvSpPr>
          <p:cNvPr id="20" name="Text 17"/>
          <p:cNvSpPr/>
          <p:nvPr/>
        </p:nvSpPr>
        <p:spPr>
          <a:xfrm>
            <a:off x="621792" y="4069080"/>
            <a:ext cx="7900416" cy="54864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God’s love to love people, and Christ’s patience to work with them — until the good news gets passed on.</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Exhortation and example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3:6–10 · II.A–B — Wait for the Lord</a:t>
            </a:r>
            <a:endParaRPr lang="en-US" sz="1200" dirty="0"/>
          </a:p>
        </p:txBody>
      </p:sp>
      <p:sp>
        <p:nvSpPr>
          <p:cNvPr id="5" name="Shape 2"/>
          <p:cNvSpPr/>
          <p:nvPr/>
        </p:nvSpPr>
        <p:spPr>
          <a:xfrm>
            <a:off x="457200" y="1188720"/>
            <a:ext cx="2615184" cy="1572768"/>
          </a:xfrm>
          <a:prstGeom prst="rect">
            <a:avLst/>
          </a:prstGeom>
          <a:solidFill>
            <a:srgbClr val="F2F6FC"/>
          </a:solidFill>
          <a:ln w="9525">
            <a:solidFill>
              <a:srgbClr val="D5DCEA"/>
            </a:solidFill>
            <a:prstDash val="solid"/>
          </a:ln>
        </p:spPr>
      </p:sp>
      <p:sp>
        <p:nvSpPr>
          <p:cNvPr id="6" name="Shape 3"/>
          <p:cNvSpPr/>
          <p:nvPr/>
        </p:nvSpPr>
        <p:spPr>
          <a:xfrm>
            <a:off x="594360" y="1325880"/>
            <a:ext cx="420624" cy="420624"/>
          </a:xfrm>
          <a:prstGeom prst="ellipse">
            <a:avLst/>
          </a:prstGeom>
          <a:solidFill>
            <a:srgbClr val="6B7280"/>
          </a:solidFill>
          <a:ln w="12700">
            <a:solidFill>
              <a:srgbClr val="6B7280"/>
            </a:solidFill>
            <a:prstDash val="solid"/>
          </a:ln>
        </p:spPr>
      </p:sp>
      <p:sp>
        <p:nvSpPr>
          <p:cNvPr id="7" name="Text 4"/>
          <p:cNvSpPr/>
          <p:nvPr/>
        </p:nvSpPr>
        <p:spPr>
          <a:xfrm>
            <a:off x="594360"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1115568"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The order · v.6</a:t>
            </a:r>
            <a:endParaRPr lang="en-US" sz="1200" dirty="0"/>
          </a:p>
        </p:txBody>
      </p:sp>
      <p:sp>
        <p:nvSpPr>
          <p:cNvPr id="9" name="Text 6"/>
          <p:cNvSpPr/>
          <p:nvPr/>
        </p:nvSpPr>
        <p:spPr>
          <a:xfrm>
            <a:off x="594360"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Withdraw from the brother who walks disorderly (στέλλω · ἀτάκτως)</a:t>
            </a:r>
            <a:endParaRPr lang="en-US" sz="1200" dirty="0"/>
          </a:p>
        </p:txBody>
      </p:sp>
      <p:sp>
        <p:nvSpPr>
          <p:cNvPr id="10" name="Shape 7"/>
          <p:cNvSpPr/>
          <p:nvPr/>
        </p:nvSpPr>
        <p:spPr>
          <a:xfrm>
            <a:off x="3264408" y="1188720"/>
            <a:ext cx="2615184" cy="1572768"/>
          </a:xfrm>
          <a:prstGeom prst="rect">
            <a:avLst/>
          </a:prstGeom>
          <a:solidFill>
            <a:srgbClr val="F2F6FC"/>
          </a:solidFill>
          <a:ln w="9525">
            <a:solidFill>
              <a:srgbClr val="D5DCEA"/>
            </a:solidFill>
            <a:prstDash val="solid"/>
          </a:ln>
        </p:spPr>
      </p:sp>
      <p:sp>
        <p:nvSpPr>
          <p:cNvPr id="11" name="Shape 8"/>
          <p:cNvSpPr/>
          <p:nvPr/>
        </p:nvSpPr>
        <p:spPr>
          <a:xfrm>
            <a:off x="3401568" y="1325880"/>
            <a:ext cx="420624" cy="420624"/>
          </a:xfrm>
          <a:prstGeom prst="ellipse">
            <a:avLst/>
          </a:prstGeom>
          <a:solidFill>
            <a:srgbClr val="2E5496"/>
          </a:solidFill>
          <a:ln w="12700">
            <a:solidFill>
              <a:srgbClr val="2E5496"/>
            </a:solidFill>
            <a:prstDash val="solid"/>
          </a:ln>
        </p:spPr>
      </p:sp>
      <p:sp>
        <p:nvSpPr>
          <p:cNvPr id="12" name="Text 9"/>
          <p:cNvSpPr/>
          <p:nvPr/>
        </p:nvSpPr>
        <p:spPr>
          <a:xfrm>
            <a:off x="3401568"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3" name="Text 10"/>
          <p:cNvSpPr/>
          <p:nvPr/>
        </p:nvSpPr>
        <p:spPr>
          <a:xfrm>
            <a:off x="3922776"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Integrity · v.7</a:t>
            </a:r>
            <a:endParaRPr lang="en-US" sz="1200" dirty="0"/>
          </a:p>
        </p:txBody>
      </p:sp>
      <p:sp>
        <p:nvSpPr>
          <p:cNvPr id="14" name="Text 11"/>
          <p:cNvSpPr/>
          <p:nvPr/>
        </p:nvSpPr>
        <p:spPr>
          <a:xfrm>
            <a:off x="3401568"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“Do as I do, because I do as I say” (μιμέομαι)</a:t>
            </a:r>
            <a:endParaRPr lang="en-US" sz="1200" dirty="0"/>
          </a:p>
        </p:txBody>
      </p:sp>
      <p:sp>
        <p:nvSpPr>
          <p:cNvPr id="15" name="Shape 12"/>
          <p:cNvSpPr/>
          <p:nvPr/>
        </p:nvSpPr>
        <p:spPr>
          <a:xfrm>
            <a:off x="6071616" y="1188720"/>
            <a:ext cx="2615184" cy="1572768"/>
          </a:xfrm>
          <a:prstGeom prst="rect">
            <a:avLst/>
          </a:prstGeom>
          <a:solidFill>
            <a:srgbClr val="F2F6FC"/>
          </a:solidFill>
          <a:ln w="9525">
            <a:solidFill>
              <a:srgbClr val="D5DCEA"/>
            </a:solidFill>
            <a:prstDash val="solid"/>
          </a:ln>
        </p:spPr>
      </p:sp>
      <p:sp>
        <p:nvSpPr>
          <p:cNvPr id="16" name="Shape 13"/>
          <p:cNvSpPr/>
          <p:nvPr/>
        </p:nvSpPr>
        <p:spPr>
          <a:xfrm>
            <a:off x="6208776" y="1325880"/>
            <a:ext cx="420624" cy="420624"/>
          </a:xfrm>
          <a:prstGeom prst="ellipse">
            <a:avLst/>
          </a:prstGeom>
          <a:solidFill>
            <a:srgbClr val="2E5496"/>
          </a:solidFill>
          <a:ln w="12700">
            <a:solidFill>
              <a:srgbClr val="2E5496"/>
            </a:solidFill>
            <a:prstDash val="solid"/>
          </a:ln>
        </p:spPr>
      </p:sp>
      <p:sp>
        <p:nvSpPr>
          <p:cNvPr id="17" name="Text 14"/>
          <p:cNvSpPr/>
          <p:nvPr/>
        </p:nvSpPr>
        <p:spPr>
          <a:xfrm>
            <a:off x="6208776"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18" name="Text 15"/>
          <p:cNvSpPr/>
          <p:nvPr/>
        </p:nvSpPr>
        <p:spPr>
          <a:xfrm>
            <a:off x="6729984"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Industry · v.8</a:t>
            </a:r>
            <a:endParaRPr lang="en-US" sz="1200" dirty="0"/>
          </a:p>
        </p:txBody>
      </p:sp>
      <p:sp>
        <p:nvSpPr>
          <p:cNvPr id="19" name="Text 16"/>
          <p:cNvSpPr/>
          <p:nvPr/>
        </p:nvSpPr>
        <p:spPr>
          <a:xfrm>
            <a:off x="6208776"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Night and day — no one’s bread free of charge</a:t>
            </a:r>
            <a:endParaRPr lang="en-US" sz="1200" dirty="0"/>
          </a:p>
        </p:txBody>
      </p:sp>
      <p:sp>
        <p:nvSpPr>
          <p:cNvPr id="20" name="Shape 17"/>
          <p:cNvSpPr/>
          <p:nvPr/>
        </p:nvSpPr>
        <p:spPr>
          <a:xfrm>
            <a:off x="457200" y="2926080"/>
            <a:ext cx="2615184" cy="1572768"/>
          </a:xfrm>
          <a:prstGeom prst="rect">
            <a:avLst/>
          </a:prstGeom>
          <a:solidFill>
            <a:srgbClr val="F2F6FC"/>
          </a:solidFill>
          <a:ln w="9525">
            <a:solidFill>
              <a:srgbClr val="D5DCEA"/>
            </a:solidFill>
            <a:prstDash val="solid"/>
          </a:ln>
        </p:spPr>
      </p:sp>
      <p:sp>
        <p:nvSpPr>
          <p:cNvPr id="21" name="Shape 18"/>
          <p:cNvSpPr/>
          <p:nvPr/>
        </p:nvSpPr>
        <p:spPr>
          <a:xfrm>
            <a:off x="594360" y="3063240"/>
            <a:ext cx="420624" cy="420624"/>
          </a:xfrm>
          <a:prstGeom prst="ellipse">
            <a:avLst/>
          </a:prstGeom>
          <a:solidFill>
            <a:srgbClr val="2E5496"/>
          </a:solidFill>
          <a:ln w="12700">
            <a:solidFill>
              <a:srgbClr val="2E5496"/>
            </a:solidFill>
            <a:prstDash val="solid"/>
          </a:ln>
        </p:spPr>
      </p:sp>
      <p:sp>
        <p:nvSpPr>
          <p:cNvPr id="22" name="Text 19"/>
          <p:cNvSpPr/>
          <p:nvPr/>
        </p:nvSpPr>
        <p:spPr>
          <a:xfrm>
            <a:off x="594360"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3" name="Text 20"/>
          <p:cNvSpPr/>
          <p:nvPr/>
        </p:nvSpPr>
        <p:spPr>
          <a:xfrm>
            <a:off x="1115568"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Intention · v.9</a:t>
            </a:r>
            <a:endParaRPr lang="en-US" sz="1200" dirty="0"/>
          </a:p>
        </p:txBody>
      </p:sp>
      <p:sp>
        <p:nvSpPr>
          <p:cNvPr id="24" name="Text 21"/>
          <p:cNvSpPr/>
          <p:nvPr/>
        </p:nvSpPr>
        <p:spPr>
          <a:xfrm>
            <a:off x="594360"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He had the right (ἐξουσία) — and laid it aside as an example</a:t>
            </a:r>
            <a:endParaRPr lang="en-US" sz="1200" dirty="0"/>
          </a:p>
        </p:txBody>
      </p:sp>
      <p:sp>
        <p:nvSpPr>
          <p:cNvPr id="25" name="Shape 22"/>
          <p:cNvSpPr/>
          <p:nvPr/>
        </p:nvSpPr>
        <p:spPr>
          <a:xfrm>
            <a:off x="3264408" y="2926080"/>
            <a:ext cx="2615184" cy="1572768"/>
          </a:xfrm>
          <a:prstGeom prst="rect">
            <a:avLst/>
          </a:prstGeom>
          <a:solidFill>
            <a:srgbClr val="F2F6FC"/>
          </a:solidFill>
          <a:ln w="9525">
            <a:solidFill>
              <a:srgbClr val="D5DCEA"/>
            </a:solidFill>
            <a:prstDash val="solid"/>
          </a:ln>
        </p:spPr>
      </p:sp>
      <p:sp>
        <p:nvSpPr>
          <p:cNvPr id="26" name="Shape 23"/>
          <p:cNvSpPr/>
          <p:nvPr/>
        </p:nvSpPr>
        <p:spPr>
          <a:xfrm>
            <a:off x="3401568" y="3063240"/>
            <a:ext cx="420624" cy="420624"/>
          </a:xfrm>
          <a:prstGeom prst="ellipse">
            <a:avLst/>
          </a:prstGeom>
          <a:solidFill>
            <a:srgbClr val="2E5496"/>
          </a:solidFill>
          <a:ln w="12700">
            <a:solidFill>
              <a:srgbClr val="2E5496"/>
            </a:solidFill>
            <a:prstDash val="solid"/>
          </a:ln>
        </p:spPr>
      </p:sp>
      <p:sp>
        <p:nvSpPr>
          <p:cNvPr id="27" name="Text 24"/>
          <p:cNvSpPr/>
          <p:nvPr/>
        </p:nvSpPr>
        <p:spPr>
          <a:xfrm>
            <a:off x="3401568"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28" name="Text 25"/>
          <p:cNvSpPr/>
          <p:nvPr/>
        </p:nvSpPr>
        <p:spPr>
          <a:xfrm>
            <a:off x="3922776"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Intimation · v.10</a:t>
            </a:r>
            <a:endParaRPr lang="en-US" sz="1200" dirty="0"/>
          </a:p>
        </p:txBody>
      </p:sp>
      <p:sp>
        <p:nvSpPr>
          <p:cNvPr id="29" name="Text 26"/>
          <p:cNvSpPr/>
          <p:nvPr/>
        </p:nvSpPr>
        <p:spPr>
          <a:xfrm>
            <a:off x="3401568"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“If anyone will not work, neither shall he eat”</a:t>
            </a:r>
            <a:endParaRPr lang="en-US" sz="1200" dirty="0"/>
          </a:p>
        </p:txBody>
      </p:sp>
      <p:sp>
        <p:nvSpPr>
          <p:cNvPr id="30" name="Shape 27"/>
          <p:cNvSpPr/>
          <p:nvPr/>
        </p:nvSpPr>
        <p:spPr>
          <a:xfrm>
            <a:off x="6071616" y="2926080"/>
            <a:ext cx="2615184" cy="1572768"/>
          </a:xfrm>
          <a:prstGeom prst="rect">
            <a:avLst/>
          </a:prstGeom>
          <a:solidFill>
            <a:srgbClr val="F2F6FC"/>
          </a:solidFill>
          <a:ln w="9525">
            <a:solidFill>
              <a:srgbClr val="D5DCEA"/>
            </a:solidFill>
            <a:prstDash val="solid"/>
          </a:ln>
        </p:spPr>
      </p:sp>
      <p:sp>
        <p:nvSpPr>
          <p:cNvPr id="31" name="Shape 28"/>
          <p:cNvSpPr/>
          <p:nvPr/>
        </p:nvSpPr>
        <p:spPr>
          <a:xfrm>
            <a:off x="6208776" y="3063240"/>
            <a:ext cx="420624" cy="420624"/>
          </a:xfrm>
          <a:prstGeom prst="ellipse">
            <a:avLst/>
          </a:prstGeom>
          <a:solidFill>
            <a:srgbClr val="375623"/>
          </a:solidFill>
          <a:ln w="12700">
            <a:solidFill>
              <a:srgbClr val="375623"/>
            </a:solidFill>
            <a:prstDash val="solid"/>
          </a:ln>
        </p:spPr>
      </p:sp>
      <p:sp>
        <p:nvSpPr>
          <p:cNvPr id="32" name="Text 29"/>
          <p:cNvSpPr/>
          <p:nvPr/>
        </p:nvSpPr>
        <p:spPr>
          <a:xfrm>
            <a:off x="6208776"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33" name="Text 30"/>
          <p:cNvSpPr/>
          <p:nvPr/>
        </p:nvSpPr>
        <p:spPr>
          <a:xfrm>
            <a:off x="6729984"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“Forgive me this wrong!”</a:t>
            </a:r>
            <a:endParaRPr lang="en-US" sz="1200" dirty="0"/>
          </a:p>
        </p:txBody>
      </p:sp>
      <p:sp>
        <p:nvSpPr>
          <p:cNvPr id="34" name="Text 31"/>
          <p:cNvSpPr/>
          <p:nvPr/>
        </p:nvSpPr>
        <p:spPr>
          <a:xfrm>
            <a:off x="6208776"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Paul to Corinth: his one “fault” — he was no burden (2 Cor 12:13)</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Not busy at work — busybodies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3:11–12 · II.C–D — The explanation and the solution</a:t>
            </a:r>
            <a:endParaRPr lang="en-US" sz="1200" dirty="0"/>
          </a:p>
        </p:txBody>
      </p:sp>
      <p:sp>
        <p:nvSpPr>
          <p:cNvPr id="5" name="Shape 2"/>
          <p:cNvSpPr/>
          <p:nvPr/>
        </p:nvSpPr>
        <p:spPr>
          <a:xfrm>
            <a:off x="457200" y="1188720"/>
            <a:ext cx="3931920" cy="566928"/>
          </a:xfrm>
          <a:prstGeom prst="rect">
            <a:avLst/>
          </a:prstGeom>
          <a:solidFill>
            <a:srgbClr val="6B7280"/>
          </a:solidFill>
          <a:ln w="12700">
            <a:solidFill>
              <a:srgbClr val="6B7280"/>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problem · v.11</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περιεργάζομαι</a:t>
            </a:r>
            <a:pPr indent="0" marL="0">
              <a:buNone/>
            </a:pPr>
            <a:r>
              <a:rPr lang="en-US" sz="850" dirty="0">
                <a:solidFill>
                  <a:srgbClr val="DCE4F2"/>
                </a:solidFill>
                <a:latin typeface="Arial" pitchFamily="34" charset="0"/>
                <a:ea typeface="Arial" pitchFamily="34" charset="-122"/>
                <a:cs typeface="Arial" pitchFamily="34" charset="-120"/>
              </a:rPr>
              <a:t>  busybodies · G4020</a:t>
            </a:r>
            <a:endParaRPr lang="en-US" sz="1200" dirty="0"/>
          </a:p>
        </p:txBody>
      </p:sp>
      <p:sp>
        <p:nvSpPr>
          <p:cNvPr id="7" name="Shape 4"/>
          <p:cNvSpPr/>
          <p:nvPr/>
        </p:nvSpPr>
        <p:spPr>
          <a:xfrm>
            <a:off x="457200" y="1755648"/>
            <a:ext cx="3931920" cy="1810512"/>
          </a:xfrm>
          <a:prstGeom prst="rect">
            <a:avLst/>
          </a:prstGeom>
          <a:solidFill>
            <a:srgbClr val="F2F6FC"/>
          </a:solidFill>
          <a:ln w="9525">
            <a:solidFill>
              <a:srgbClr val="D5DCEA"/>
            </a:solidFill>
            <a:prstDash val="solid"/>
          </a:ln>
        </p:spPr>
      </p:sp>
      <p:sp>
        <p:nvSpPr>
          <p:cNvPr id="8" name="Text 5"/>
          <p:cNvSpPr/>
          <p:nvPr/>
        </p:nvSpPr>
        <p:spPr>
          <a:xfrm>
            <a:off x="548640" y="1828800"/>
            <a:ext cx="3749040" cy="16824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Able to work — but would not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Spare time turned into meddling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Interrupting those who were working</a:t>
            </a:r>
            <a:endParaRPr lang="en-US" sz="1250" dirty="0"/>
          </a:p>
        </p:txBody>
      </p:sp>
      <p:sp>
        <p:nvSpPr>
          <p:cNvPr id="9" name="Shape 6"/>
          <p:cNvSpPr/>
          <p:nvPr/>
        </p:nvSpPr>
        <p:spPr>
          <a:xfrm>
            <a:off x="4754880" y="1188720"/>
            <a:ext cx="3931920" cy="566928"/>
          </a:xfrm>
          <a:prstGeom prst="rect">
            <a:avLst/>
          </a:prstGeom>
          <a:solidFill>
            <a:srgbClr val="375623"/>
          </a:solidFill>
          <a:ln w="12700">
            <a:solidFill>
              <a:srgbClr val="375623"/>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solution · v.12</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ἡσυχία</a:t>
            </a:r>
            <a:pPr indent="0" marL="0">
              <a:buNone/>
            </a:pPr>
            <a:r>
              <a:rPr lang="en-US" sz="850" dirty="0">
                <a:solidFill>
                  <a:srgbClr val="DCE4F2"/>
                </a:solidFill>
                <a:latin typeface="Arial" pitchFamily="34" charset="0"/>
                <a:ea typeface="Arial" pitchFamily="34" charset="-122"/>
                <a:cs typeface="Arial" pitchFamily="34" charset="-120"/>
              </a:rPr>
              <a:t>  quietness · G2271</a:t>
            </a:r>
            <a:endParaRPr lang="en-US" sz="1200" dirty="0"/>
          </a:p>
        </p:txBody>
      </p:sp>
      <p:sp>
        <p:nvSpPr>
          <p:cNvPr id="11" name="Shape 8"/>
          <p:cNvSpPr/>
          <p:nvPr/>
        </p:nvSpPr>
        <p:spPr>
          <a:xfrm>
            <a:off x="4754880" y="1755648"/>
            <a:ext cx="3931920" cy="181051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6824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Work in quietness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Eat your own bread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Said in person, in 1 Thess 4:11, and here</a:t>
            </a:r>
            <a:endParaRPr lang="en-US" sz="1250" dirty="0"/>
          </a:p>
        </p:txBody>
      </p:sp>
      <p:sp>
        <p:nvSpPr>
          <p:cNvPr id="13" name="Text 10"/>
          <p:cNvSpPr/>
          <p:nvPr/>
        </p:nvSpPr>
        <p:spPr>
          <a:xfrm>
            <a:off x="4389120" y="219456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794760"/>
            <a:ext cx="8229600" cy="777240"/>
          </a:xfrm>
          <a:prstGeom prst="roundRect">
            <a:avLst>
              <a:gd name="adj" fmla="val 7059"/>
            </a:avLst>
          </a:prstGeom>
          <a:solidFill>
            <a:srgbClr val="1F3864"/>
          </a:solidFill>
          <a:ln w="12700">
            <a:solidFill>
              <a:srgbClr val="1F3864"/>
            </a:solidFill>
            <a:prstDash val="solid"/>
          </a:ln>
        </p:spPr>
      </p:sp>
      <p:sp>
        <p:nvSpPr>
          <p:cNvPr id="15" name="Text 12"/>
          <p:cNvSpPr/>
          <p:nvPr/>
        </p:nvSpPr>
        <p:spPr>
          <a:xfrm>
            <a:off x="621792" y="3794760"/>
            <a:ext cx="7900416" cy="7772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“Eat what’s put before you, and let it stop your mouth.” — the teacher’s mother, to six children in the Depression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3:1–12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What does it mean for the Word to “run” and to be “glorified,” and how can we help it run where we cannot go?</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What was the real problem with those who would not work, and how did Paul’s example answer it?</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Put Legs Under Your Prayers</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Choose one missionary your church supports and pray for them by name every day this week.</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Work Quietly While You Wait</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When tempted to comment on someone else’s affairs, turn that moment into a prayer for them instead.</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While we wait: pray that the Word runs, trust the faithful Lord, and work quietly — trust and obey.</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Study 7 of 7 · 2 Thessalonians 3:13–18</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My Brother’s Keeper</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Am I my brother’s keeper? Yes. Don’t grow weary in doing good, admonish the disobedient brother as family — and rest in the Lord of peace and the grace of our Lord Jesus Christ.</a:t>
            </a:r>
            <a:endParaRPr 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Five closing words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3:13–18 · Outline I–V</a:t>
            </a:r>
            <a:endParaRPr lang="en-US" sz="1200" dirty="0"/>
          </a:p>
        </p:txBody>
      </p:sp>
      <p:sp>
        <p:nvSpPr>
          <p:cNvPr id="5" name="Shape 2"/>
          <p:cNvSpPr/>
          <p:nvPr/>
        </p:nvSpPr>
        <p:spPr>
          <a:xfrm>
            <a:off x="457200" y="1188720"/>
            <a:ext cx="2615184" cy="1572768"/>
          </a:xfrm>
          <a:prstGeom prst="rect">
            <a:avLst/>
          </a:prstGeom>
          <a:solidFill>
            <a:srgbClr val="F2F6FC"/>
          </a:solidFill>
          <a:ln w="9525">
            <a:solidFill>
              <a:srgbClr val="D5DCEA"/>
            </a:solidFill>
            <a:prstDash val="solid"/>
          </a:ln>
        </p:spPr>
      </p:sp>
      <p:sp>
        <p:nvSpPr>
          <p:cNvPr id="6" name="Shape 3"/>
          <p:cNvSpPr/>
          <p:nvPr/>
        </p:nvSpPr>
        <p:spPr>
          <a:xfrm>
            <a:off x="594360" y="1325880"/>
            <a:ext cx="420624" cy="420624"/>
          </a:xfrm>
          <a:prstGeom prst="ellipse">
            <a:avLst/>
          </a:prstGeom>
          <a:solidFill>
            <a:srgbClr val="2E5496"/>
          </a:solidFill>
          <a:ln w="12700">
            <a:solidFill>
              <a:srgbClr val="2E5496"/>
            </a:solidFill>
            <a:prstDash val="solid"/>
          </a:ln>
        </p:spPr>
      </p:sp>
      <p:sp>
        <p:nvSpPr>
          <p:cNvPr id="7" name="Text 4"/>
          <p:cNvSpPr/>
          <p:nvPr/>
        </p:nvSpPr>
        <p:spPr>
          <a:xfrm>
            <a:off x="594360"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1115568"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Confirmation · v.13</a:t>
            </a:r>
            <a:endParaRPr lang="en-US" sz="1200" dirty="0"/>
          </a:p>
        </p:txBody>
      </p:sp>
      <p:sp>
        <p:nvSpPr>
          <p:cNvPr id="9" name="Text 6"/>
          <p:cNvSpPr/>
          <p:nvPr/>
        </p:nvSpPr>
        <p:spPr>
          <a:xfrm>
            <a:off x="594360"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“Do not grow weary in doing good”</a:t>
            </a:r>
            <a:endParaRPr lang="en-US" sz="1200" dirty="0"/>
          </a:p>
        </p:txBody>
      </p:sp>
      <p:sp>
        <p:nvSpPr>
          <p:cNvPr id="10" name="Shape 7"/>
          <p:cNvSpPr/>
          <p:nvPr/>
        </p:nvSpPr>
        <p:spPr>
          <a:xfrm>
            <a:off x="3264408" y="1188720"/>
            <a:ext cx="2615184" cy="1572768"/>
          </a:xfrm>
          <a:prstGeom prst="rect">
            <a:avLst/>
          </a:prstGeom>
          <a:solidFill>
            <a:srgbClr val="F2F6FC"/>
          </a:solidFill>
          <a:ln w="9525">
            <a:solidFill>
              <a:srgbClr val="D5DCEA"/>
            </a:solidFill>
            <a:prstDash val="solid"/>
          </a:ln>
        </p:spPr>
      </p:sp>
      <p:sp>
        <p:nvSpPr>
          <p:cNvPr id="11" name="Shape 8"/>
          <p:cNvSpPr/>
          <p:nvPr/>
        </p:nvSpPr>
        <p:spPr>
          <a:xfrm>
            <a:off x="3401568" y="1325880"/>
            <a:ext cx="420624" cy="420624"/>
          </a:xfrm>
          <a:prstGeom prst="ellipse">
            <a:avLst/>
          </a:prstGeom>
          <a:solidFill>
            <a:srgbClr val="2E5496"/>
          </a:solidFill>
          <a:ln w="12700">
            <a:solidFill>
              <a:srgbClr val="2E5496"/>
            </a:solidFill>
            <a:prstDash val="solid"/>
          </a:ln>
        </p:spPr>
      </p:sp>
      <p:sp>
        <p:nvSpPr>
          <p:cNvPr id="12" name="Text 9"/>
          <p:cNvSpPr/>
          <p:nvPr/>
        </p:nvSpPr>
        <p:spPr>
          <a:xfrm>
            <a:off x="3401568"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3" name="Text 10"/>
          <p:cNvSpPr/>
          <p:nvPr/>
        </p:nvSpPr>
        <p:spPr>
          <a:xfrm>
            <a:off x="3922776"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Admonition · vv.14–15</a:t>
            </a:r>
            <a:endParaRPr lang="en-US" sz="1200" dirty="0"/>
          </a:p>
        </p:txBody>
      </p:sp>
      <p:sp>
        <p:nvSpPr>
          <p:cNvPr id="14" name="Text 11"/>
          <p:cNvSpPr/>
          <p:nvPr/>
        </p:nvSpPr>
        <p:spPr>
          <a:xfrm>
            <a:off x="3401568"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Note him, withdraw — but admonish him as a brother</a:t>
            </a:r>
            <a:endParaRPr lang="en-US" sz="1200" dirty="0"/>
          </a:p>
        </p:txBody>
      </p:sp>
      <p:sp>
        <p:nvSpPr>
          <p:cNvPr id="15" name="Shape 12"/>
          <p:cNvSpPr/>
          <p:nvPr/>
        </p:nvSpPr>
        <p:spPr>
          <a:xfrm>
            <a:off x="6071616" y="1188720"/>
            <a:ext cx="2615184" cy="1572768"/>
          </a:xfrm>
          <a:prstGeom prst="rect">
            <a:avLst/>
          </a:prstGeom>
          <a:solidFill>
            <a:srgbClr val="F2F6FC"/>
          </a:solidFill>
          <a:ln w="9525">
            <a:solidFill>
              <a:srgbClr val="D5DCEA"/>
            </a:solidFill>
            <a:prstDash val="solid"/>
          </a:ln>
        </p:spPr>
      </p:sp>
      <p:sp>
        <p:nvSpPr>
          <p:cNvPr id="16" name="Shape 13"/>
          <p:cNvSpPr/>
          <p:nvPr/>
        </p:nvSpPr>
        <p:spPr>
          <a:xfrm>
            <a:off x="6208776" y="1325880"/>
            <a:ext cx="420624" cy="420624"/>
          </a:xfrm>
          <a:prstGeom prst="ellipse">
            <a:avLst/>
          </a:prstGeom>
          <a:solidFill>
            <a:srgbClr val="2E5496"/>
          </a:solidFill>
          <a:ln w="12700">
            <a:solidFill>
              <a:srgbClr val="2E5496"/>
            </a:solidFill>
            <a:prstDash val="solid"/>
          </a:ln>
        </p:spPr>
      </p:sp>
      <p:sp>
        <p:nvSpPr>
          <p:cNvPr id="17" name="Text 14"/>
          <p:cNvSpPr/>
          <p:nvPr/>
        </p:nvSpPr>
        <p:spPr>
          <a:xfrm>
            <a:off x="6208776"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18" name="Text 15"/>
          <p:cNvSpPr/>
          <p:nvPr/>
        </p:nvSpPr>
        <p:spPr>
          <a:xfrm>
            <a:off x="6729984"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Benediction · v.16</a:t>
            </a:r>
            <a:endParaRPr lang="en-US" sz="1200" dirty="0"/>
          </a:p>
        </p:txBody>
      </p:sp>
      <p:sp>
        <p:nvSpPr>
          <p:cNvPr id="19" name="Text 16"/>
          <p:cNvSpPr/>
          <p:nvPr/>
        </p:nvSpPr>
        <p:spPr>
          <a:xfrm>
            <a:off x="6208776"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“The Lord of peace Himself give you peace always”</a:t>
            </a:r>
            <a:endParaRPr lang="en-US" sz="1200" dirty="0"/>
          </a:p>
        </p:txBody>
      </p:sp>
      <p:sp>
        <p:nvSpPr>
          <p:cNvPr id="20" name="Shape 17"/>
          <p:cNvSpPr/>
          <p:nvPr/>
        </p:nvSpPr>
        <p:spPr>
          <a:xfrm>
            <a:off x="457200" y="2926080"/>
            <a:ext cx="2615184" cy="1572768"/>
          </a:xfrm>
          <a:prstGeom prst="rect">
            <a:avLst/>
          </a:prstGeom>
          <a:solidFill>
            <a:srgbClr val="F2F6FC"/>
          </a:solidFill>
          <a:ln w="9525">
            <a:solidFill>
              <a:srgbClr val="D5DCEA"/>
            </a:solidFill>
            <a:prstDash val="solid"/>
          </a:ln>
        </p:spPr>
      </p:sp>
      <p:sp>
        <p:nvSpPr>
          <p:cNvPr id="21" name="Shape 18"/>
          <p:cNvSpPr/>
          <p:nvPr/>
        </p:nvSpPr>
        <p:spPr>
          <a:xfrm>
            <a:off x="594360" y="3063240"/>
            <a:ext cx="420624" cy="420624"/>
          </a:xfrm>
          <a:prstGeom prst="ellipse">
            <a:avLst/>
          </a:prstGeom>
          <a:solidFill>
            <a:srgbClr val="2E5496"/>
          </a:solidFill>
          <a:ln w="12700">
            <a:solidFill>
              <a:srgbClr val="2E5496"/>
            </a:solidFill>
            <a:prstDash val="solid"/>
          </a:ln>
        </p:spPr>
      </p:sp>
      <p:sp>
        <p:nvSpPr>
          <p:cNvPr id="22" name="Text 19"/>
          <p:cNvSpPr/>
          <p:nvPr/>
        </p:nvSpPr>
        <p:spPr>
          <a:xfrm>
            <a:off x="594360"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3" name="Text 20"/>
          <p:cNvSpPr/>
          <p:nvPr/>
        </p:nvSpPr>
        <p:spPr>
          <a:xfrm>
            <a:off x="1115568"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Validation · v.17</a:t>
            </a:r>
            <a:endParaRPr lang="en-US" sz="1200" dirty="0"/>
          </a:p>
        </p:txBody>
      </p:sp>
      <p:sp>
        <p:nvSpPr>
          <p:cNvPr id="24" name="Text 21"/>
          <p:cNvSpPr/>
          <p:nvPr/>
        </p:nvSpPr>
        <p:spPr>
          <a:xfrm>
            <a:off x="594360"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“With my own hand, which is a sign in every epistle”</a:t>
            </a:r>
            <a:endParaRPr lang="en-US" sz="1200" dirty="0"/>
          </a:p>
        </p:txBody>
      </p:sp>
      <p:sp>
        <p:nvSpPr>
          <p:cNvPr id="25" name="Shape 22"/>
          <p:cNvSpPr/>
          <p:nvPr/>
        </p:nvSpPr>
        <p:spPr>
          <a:xfrm>
            <a:off x="3264408" y="2926080"/>
            <a:ext cx="2615184" cy="1572768"/>
          </a:xfrm>
          <a:prstGeom prst="rect">
            <a:avLst/>
          </a:prstGeom>
          <a:solidFill>
            <a:srgbClr val="F2F6FC"/>
          </a:solidFill>
          <a:ln w="9525">
            <a:solidFill>
              <a:srgbClr val="D5DCEA"/>
            </a:solidFill>
            <a:prstDash val="solid"/>
          </a:ln>
        </p:spPr>
      </p:sp>
      <p:sp>
        <p:nvSpPr>
          <p:cNvPr id="26" name="Shape 23"/>
          <p:cNvSpPr/>
          <p:nvPr/>
        </p:nvSpPr>
        <p:spPr>
          <a:xfrm>
            <a:off x="3401568" y="3063240"/>
            <a:ext cx="420624" cy="420624"/>
          </a:xfrm>
          <a:prstGeom prst="ellipse">
            <a:avLst/>
          </a:prstGeom>
          <a:solidFill>
            <a:srgbClr val="375623"/>
          </a:solidFill>
          <a:ln w="12700">
            <a:solidFill>
              <a:srgbClr val="375623"/>
            </a:solidFill>
            <a:prstDash val="solid"/>
          </a:ln>
        </p:spPr>
      </p:sp>
      <p:sp>
        <p:nvSpPr>
          <p:cNvPr id="27" name="Text 24"/>
          <p:cNvSpPr/>
          <p:nvPr/>
        </p:nvSpPr>
        <p:spPr>
          <a:xfrm>
            <a:off x="3401568"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28" name="Text 25"/>
          <p:cNvSpPr/>
          <p:nvPr/>
        </p:nvSpPr>
        <p:spPr>
          <a:xfrm>
            <a:off x="3922776"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Salutation · v.18</a:t>
            </a:r>
            <a:endParaRPr lang="en-US" sz="1200" dirty="0"/>
          </a:p>
        </p:txBody>
      </p:sp>
      <p:sp>
        <p:nvSpPr>
          <p:cNvPr id="29" name="Text 26"/>
          <p:cNvSpPr/>
          <p:nvPr/>
        </p:nvSpPr>
        <p:spPr>
          <a:xfrm>
            <a:off x="3401568"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“The grace of our Lord Jesus Christ be with you all”</a:t>
            </a:r>
            <a:endParaRPr lang="en-US" sz="1200" dirty="0"/>
          </a:p>
        </p:txBody>
      </p:sp>
      <p:sp>
        <p:nvSpPr>
          <p:cNvPr id="30" name="Shape 27"/>
          <p:cNvSpPr/>
          <p:nvPr/>
        </p:nvSpPr>
        <p:spPr>
          <a:xfrm>
            <a:off x="6071616" y="2926080"/>
            <a:ext cx="2615184" cy="1572768"/>
          </a:xfrm>
          <a:prstGeom prst="rect">
            <a:avLst/>
          </a:prstGeom>
          <a:solidFill>
            <a:srgbClr val="F2F6FC"/>
          </a:solidFill>
          <a:ln w="9525">
            <a:solidFill>
              <a:srgbClr val="D5DCEA"/>
            </a:solidFill>
            <a:prstDash val="solid"/>
          </a:ln>
        </p:spPr>
      </p:sp>
      <p:sp>
        <p:nvSpPr>
          <p:cNvPr id="31" name="Shape 28"/>
          <p:cNvSpPr/>
          <p:nvPr/>
        </p:nvSpPr>
        <p:spPr>
          <a:xfrm>
            <a:off x="6208776" y="3063240"/>
            <a:ext cx="420624" cy="420624"/>
          </a:xfrm>
          <a:prstGeom prst="ellipse">
            <a:avLst/>
          </a:prstGeom>
          <a:solidFill>
            <a:srgbClr val="1F3864"/>
          </a:solidFill>
          <a:ln w="12700">
            <a:solidFill>
              <a:srgbClr val="1F3864"/>
            </a:solidFill>
            <a:prstDash val="solid"/>
          </a:ln>
        </p:spPr>
      </p:sp>
      <p:sp>
        <p:nvSpPr>
          <p:cNvPr id="32" name="Text 29"/>
          <p:cNvSpPr/>
          <p:nvPr/>
        </p:nvSpPr>
        <p:spPr>
          <a:xfrm>
            <a:off x="6208776"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33" name="Text 30"/>
          <p:cNvSpPr/>
          <p:nvPr/>
        </p:nvSpPr>
        <p:spPr>
          <a:xfrm>
            <a:off x="6729984"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Yes</a:t>
            </a:r>
            <a:endParaRPr lang="en-US" sz="1200" dirty="0"/>
          </a:p>
        </p:txBody>
      </p:sp>
      <p:sp>
        <p:nvSpPr>
          <p:cNvPr id="34" name="Text 31"/>
          <p:cNvSpPr/>
          <p:nvPr/>
        </p:nvSpPr>
        <p:spPr>
          <a:xfrm>
            <a:off x="6208776"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I am my brother’s keeper — and my sister’s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Help, don’t enable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Introduction and I · Confirmation — 3:13</a:t>
            </a:r>
            <a:endParaRPr lang="en-US" sz="1200" dirty="0"/>
          </a:p>
        </p:txBody>
      </p:sp>
      <p:sp>
        <p:nvSpPr>
          <p:cNvPr id="5" name="Shape 2"/>
          <p:cNvSpPr/>
          <p:nvPr/>
        </p:nvSpPr>
        <p:spPr>
          <a:xfrm>
            <a:off x="457200" y="1188720"/>
            <a:ext cx="3931920" cy="566928"/>
          </a:xfrm>
          <a:prstGeom prst="rect">
            <a:avLst/>
          </a:prstGeom>
          <a:solidFill>
            <a:srgbClr val="6B7280"/>
          </a:solidFill>
          <a:ln w="12700">
            <a:solidFill>
              <a:srgbClr val="6B7280"/>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Enabling</a:t>
            </a:r>
            <a:endParaRPr lang="en-US" sz="1200" dirty="0"/>
          </a:p>
        </p:txBody>
      </p:sp>
      <p:sp>
        <p:nvSpPr>
          <p:cNvPr id="7" name="Shape 4"/>
          <p:cNvSpPr/>
          <p:nvPr/>
        </p:nvSpPr>
        <p:spPr>
          <a:xfrm>
            <a:off x="457200" y="1755648"/>
            <a:ext cx="3931920" cy="1764792"/>
          </a:xfrm>
          <a:prstGeom prst="rect">
            <a:avLst/>
          </a:prstGeom>
          <a:solidFill>
            <a:srgbClr val="F2F6FC"/>
          </a:solidFill>
          <a:ln w="9525">
            <a:solidFill>
              <a:srgbClr val="D5DCEA"/>
            </a:solidFill>
            <a:prstDash val="solid"/>
          </a:ln>
        </p:spPr>
      </p:sp>
      <p:sp>
        <p:nvSpPr>
          <p:cNvPr id="8" name="Text 5"/>
          <p:cNvSpPr/>
          <p:nvPr/>
        </p:nvSpPr>
        <p:spPr>
          <a:xfrm>
            <a:off x="548640" y="1828800"/>
            <a:ext cx="374904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“Helping” someone keep doing wrong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Like money that buys drugs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Some fed the idle and their meddling</a:t>
            </a:r>
            <a:endParaRPr lang="en-US" sz="1250" dirty="0"/>
          </a:p>
        </p:txBody>
      </p:sp>
      <p:sp>
        <p:nvSpPr>
          <p:cNvPr id="9" name="Shape 6"/>
          <p:cNvSpPr/>
          <p:nvPr/>
        </p:nvSpPr>
        <p:spPr>
          <a:xfrm>
            <a:off x="4754880" y="1188720"/>
            <a:ext cx="3931920" cy="566928"/>
          </a:xfrm>
          <a:prstGeom prst="rect">
            <a:avLst/>
          </a:prstGeom>
          <a:solidFill>
            <a:srgbClr val="375623"/>
          </a:solidFill>
          <a:ln w="12700">
            <a:solidFill>
              <a:srgbClr val="375623"/>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Helping</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καλοποιέω</a:t>
            </a:r>
            <a:pPr indent="0" marL="0">
              <a:buNone/>
            </a:pPr>
            <a:r>
              <a:rPr lang="en-US" sz="850" dirty="0">
                <a:solidFill>
                  <a:srgbClr val="DCE4F2"/>
                </a:solidFill>
                <a:latin typeface="Arial" pitchFamily="34" charset="0"/>
                <a:ea typeface="Arial" pitchFamily="34" charset="-122"/>
                <a:cs typeface="Arial" pitchFamily="34" charset="-120"/>
              </a:rPr>
              <a:t>  doing good · G2569</a:t>
            </a:r>
            <a:endParaRPr lang="en-US" sz="1200" dirty="0"/>
          </a:p>
        </p:txBody>
      </p:sp>
      <p:sp>
        <p:nvSpPr>
          <p:cNvPr id="11" name="Shape 8"/>
          <p:cNvSpPr/>
          <p:nvPr/>
        </p:nvSpPr>
        <p:spPr>
          <a:xfrm>
            <a:off x="4754880" y="1755648"/>
            <a:ext cx="3931920" cy="176479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63677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Work and care for your family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Do the work of the church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Don’t grow weary (ἐκκακέω)</a:t>
            </a:r>
            <a:endParaRPr lang="en-US" sz="1250" dirty="0"/>
          </a:p>
        </p:txBody>
      </p:sp>
      <p:sp>
        <p:nvSpPr>
          <p:cNvPr id="13" name="Text 10"/>
          <p:cNvSpPr/>
          <p:nvPr/>
        </p:nvSpPr>
        <p:spPr>
          <a:xfrm>
            <a:off x="4389120" y="217170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749040"/>
            <a:ext cx="8229600" cy="822960"/>
          </a:xfrm>
          <a:prstGeom prst="roundRect">
            <a:avLst>
              <a:gd name="adj" fmla="val 6667"/>
            </a:avLst>
          </a:prstGeom>
          <a:solidFill>
            <a:srgbClr val="1F3864"/>
          </a:solidFill>
          <a:ln w="12700">
            <a:solidFill>
              <a:srgbClr val="1F3864"/>
            </a:solidFill>
            <a:prstDash val="solid"/>
          </a:ln>
        </p:spPr>
      </p:sp>
      <p:sp>
        <p:nvSpPr>
          <p:cNvPr id="15" name="Text 12"/>
          <p:cNvSpPr/>
          <p:nvPr/>
        </p:nvSpPr>
        <p:spPr>
          <a:xfrm>
            <a:off x="621792" y="3749040"/>
            <a:ext cx="7900416" cy="8229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Even when you grow tired in doing good, don’t grow tired of doing good. Keep on keeping on.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Withdraw — but as family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3:14–15 · II — Admonition</a:t>
            </a:r>
            <a:endParaRPr lang="en-US" sz="1200" dirty="0"/>
          </a:p>
        </p:txBody>
      </p:sp>
      <p:sp>
        <p:nvSpPr>
          <p:cNvPr id="5" name="Shape 2"/>
          <p:cNvSpPr/>
          <p:nvPr/>
        </p:nvSpPr>
        <p:spPr>
          <a:xfrm>
            <a:off x="457200" y="1188720"/>
            <a:ext cx="1899666" cy="2103120"/>
          </a:xfrm>
          <a:prstGeom prst="roundRect">
            <a:avLst>
              <a:gd name="adj" fmla="val 2888"/>
            </a:avLst>
          </a:prstGeom>
          <a:solidFill>
            <a:srgbClr val="F2F6FC"/>
          </a:solidFill>
          <a:ln w="9525">
            <a:solidFill>
              <a:srgbClr val="D5DCEA"/>
            </a:solidFill>
            <a:prstDash val="solid"/>
          </a:ln>
        </p:spPr>
      </p:sp>
      <p:sp>
        <p:nvSpPr>
          <p:cNvPr id="6" name="Shape 3"/>
          <p:cNvSpPr/>
          <p:nvPr/>
        </p:nvSpPr>
        <p:spPr>
          <a:xfrm>
            <a:off x="1205865"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205865"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Note him</a:t>
            </a:r>
            <a:endParaRPr lang="en-US" sz="1150" dirty="0"/>
          </a:p>
        </p:txBody>
      </p:sp>
      <p:sp>
        <p:nvSpPr>
          <p:cNvPr id="9" name="Text 6"/>
          <p:cNvSpPr/>
          <p:nvPr/>
        </p:nvSpPr>
        <p:spPr>
          <a:xfrm>
            <a:off x="530352" y="2157984"/>
            <a:ext cx="1753362"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Don’t disobey the epistle — it is God’s Word</a:t>
            </a:r>
            <a:endParaRPr lang="en-US" sz="1150" dirty="0"/>
          </a:p>
        </p:txBody>
      </p:sp>
      <p:sp>
        <p:nvSpPr>
          <p:cNvPr id="10" name="Text 7"/>
          <p:cNvSpPr/>
          <p:nvPr/>
        </p:nvSpPr>
        <p:spPr>
          <a:xfrm>
            <a:off x="530352" y="29077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σημειόω · v.14a</a:t>
            </a:r>
            <a:endParaRPr lang="en-US" sz="900" dirty="0"/>
          </a:p>
        </p:txBody>
      </p:sp>
      <p:sp>
        <p:nvSpPr>
          <p:cNvPr id="11" name="Shape 8"/>
          <p:cNvSpPr/>
          <p:nvPr/>
        </p:nvSpPr>
        <p:spPr>
          <a:xfrm>
            <a:off x="2361438" y="2121408"/>
            <a:ext cx="201168" cy="237744"/>
          </a:xfrm>
          <a:prstGeom prst="rightArrow">
            <a:avLst/>
          </a:prstGeom>
          <a:solidFill>
            <a:srgbClr val="6B7280"/>
          </a:solidFill>
          <a:ln w="12700">
            <a:solidFill>
              <a:srgbClr val="6B7280"/>
            </a:solidFill>
            <a:prstDash val="solid"/>
          </a:ln>
        </p:spPr>
      </p:sp>
      <p:sp>
        <p:nvSpPr>
          <p:cNvPr id="12" name="Shape 9"/>
          <p:cNvSpPr/>
          <p:nvPr/>
        </p:nvSpPr>
        <p:spPr>
          <a:xfrm>
            <a:off x="2567178" y="1188720"/>
            <a:ext cx="1899666" cy="2103120"/>
          </a:xfrm>
          <a:prstGeom prst="roundRect">
            <a:avLst>
              <a:gd name="adj" fmla="val 2888"/>
            </a:avLst>
          </a:prstGeom>
          <a:solidFill>
            <a:srgbClr val="F2F6FC"/>
          </a:solidFill>
          <a:ln w="9525">
            <a:solidFill>
              <a:srgbClr val="D5DCEA"/>
            </a:solidFill>
            <a:prstDash val="solid"/>
          </a:ln>
        </p:spPr>
      </p:sp>
      <p:sp>
        <p:nvSpPr>
          <p:cNvPr id="13" name="Shape 10"/>
          <p:cNvSpPr/>
          <p:nvPr/>
        </p:nvSpPr>
        <p:spPr>
          <a:xfrm>
            <a:off x="3315843"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3315843"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640330"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Withdraw</a:t>
            </a:r>
            <a:endParaRPr lang="en-US" sz="1150" dirty="0"/>
          </a:p>
        </p:txBody>
      </p:sp>
      <p:sp>
        <p:nvSpPr>
          <p:cNvPr id="16" name="Text 13"/>
          <p:cNvSpPr/>
          <p:nvPr/>
        </p:nvSpPr>
        <p:spPr>
          <a:xfrm>
            <a:off x="2640330" y="2157984"/>
            <a:ext cx="1753362"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“Can two walk together unless they are agreed?”</a:t>
            </a:r>
            <a:endParaRPr lang="en-US" sz="1150" dirty="0"/>
          </a:p>
        </p:txBody>
      </p:sp>
      <p:sp>
        <p:nvSpPr>
          <p:cNvPr id="17" name="Text 14"/>
          <p:cNvSpPr/>
          <p:nvPr/>
        </p:nvSpPr>
        <p:spPr>
          <a:xfrm>
            <a:off x="2640330" y="29077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συναναμίγνυμι · Amos 3:3</a:t>
            </a:r>
            <a:endParaRPr lang="en-US" sz="900" dirty="0"/>
          </a:p>
        </p:txBody>
      </p:sp>
      <p:sp>
        <p:nvSpPr>
          <p:cNvPr id="18" name="Shape 15"/>
          <p:cNvSpPr/>
          <p:nvPr/>
        </p:nvSpPr>
        <p:spPr>
          <a:xfrm>
            <a:off x="4471416" y="2121408"/>
            <a:ext cx="201168" cy="237744"/>
          </a:xfrm>
          <a:prstGeom prst="rightArrow">
            <a:avLst/>
          </a:prstGeom>
          <a:solidFill>
            <a:srgbClr val="6B7280"/>
          </a:solidFill>
          <a:ln w="12700">
            <a:solidFill>
              <a:srgbClr val="6B7280"/>
            </a:solidFill>
            <a:prstDash val="solid"/>
          </a:ln>
        </p:spPr>
      </p:sp>
      <p:sp>
        <p:nvSpPr>
          <p:cNvPr id="19" name="Shape 16"/>
          <p:cNvSpPr/>
          <p:nvPr/>
        </p:nvSpPr>
        <p:spPr>
          <a:xfrm>
            <a:off x="4677156" y="1188720"/>
            <a:ext cx="1899666" cy="2103120"/>
          </a:xfrm>
          <a:prstGeom prst="roundRect">
            <a:avLst>
              <a:gd name="adj" fmla="val 2888"/>
            </a:avLst>
          </a:prstGeom>
          <a:solidFill>
            <a:srgbClr val="F2F6FC"/>
          </a:solidFill>
          <a:ln w="9525">
            <a:solidFill>
              <a:srgbClr val="D5DCEA"/>
            </a:solidFill>
            <a:prstDash val="solid"/>
          </a:ln>
        </p:spPr>
      </p:sp>
      <p:sp>
        <p:nvSpPr>
          <p:cNvPr id="20" name="Shape 17"/>
          <p:cNvSpPr/>
          <p:nvPr/>
        </p:nvSpPr>
        <p:spPr>
          <a:xfrm>
            <a:off x="5425821"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5425821"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4750308"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That he be ashamed</a:t>
            </a:r>
            <a:endParaRPr lang="en-US" sz="1150" dirty="0"/>
          </a:p>
        </p:txBody>
      </p:sp>
      <p:sp>
        <p:nvSpPr>
          <p:cNvPr id="23" name="Text 20"/>
          <p:cNvSpPr/>
          <p:nvPr/>
        </p:nvSpPr>
        <p:spPr>
          <a:xfrm>
            <a:off x="4750308" y="2157984"/>
            <a:ext cx="1753362"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Constructive, never destructive</a:t>
            </a:r>
            <a:endParaRPr lang="en-US" sz="1150" dirty="0"/>
          </a:p>
        </p:txBody>
      </p:sp>
      <p:sp>
        <p:nvSpPr>
          <p:cNvPr id="24" name="Text 21"/>
          <p:cNvSpPr/>
          <p:nvPr/>
        </p:nvSpPr>
        <p:spPr>
          <a:xfrm>
            <a:off x="4750308" y="29077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ἐντρέπω · v.14c</a:t>
            </a:r>
            <a:endParaRPr lang="en-US" sz="900" dirty="0"/>
          </a:p>
        </p:txBody>
      </p:sp>
      <p:sp>
        <p:nvSpPr>
          <p:cNvPr id="25" name="Shape 22"/>
          <p:cNvSpPr/>
          <p:nvPr/>
        </p:nvSpPr>
        <p:spPr>
          <a:xfrm>
            <a:off x="6581394" y="2121408"/>
            <a:ext cx="201168" cy="237744"/>
          </a:xfrm>
          <a:prstGeom prst="rightArrow">
            <a:avLst/>
          </a:prstGeom>
          <a:solidFill>
            <a:srgbClr val="6B7280"/>
          </a:solidFill>
          <a:ln w="12700">
            <a:solidFill>
              <a:srgbClr val="6B7280"/>
            </a:solidFill>
            <a:prstDash val="solid"/>
          </a:ln>
        </p:spPr>
      </p:sp>
      <p:sp>
        <p:nvSpPr>
          <p:cNvPr id="26" name="Shape 23"/>
          <p:cNvSpPr/>
          <p:nvPr/>
        </p:nvSpPr>
        <p:spPr>
          <a:xfrm>
            <a:off x="6787134" y="1188720"/>
            <a:ext cx="1899666" cy="2103120"/>
          </a:xfrm>
          <a:prstGeom prst="roundRect">
            <a:avLst>
              <a:gd name="adj" fmla="val 2888"/>
            </a:avLst>
          </a:prstGeom>
          <a:solidFill>
            <a:srgbClr val="1F3864"/>
          </a:solidFill>
          <a:ln w="9525">
            <a:solidFill>
              <a:srgbClr val="1F3864"/>
            </a:solidFill>
            <a:prstDash val="solid"/>
          </a:ln>
        </p:spPr>
      </p:sp>
      <p:sp>
        <p:nvSpPr>
          <p:cNvPr id="27" name="Shape 24"/>
          <p:cNvSpPr/>
          <p:nvPr/>
        </p:nvSpPr>
        <p:spPr>
          <a:xfrm>
            <a:off x="7535799" y="1298448"/>
            <a:ext cx="402336" cy="402336"/>
          </a:xfrm>
          <a:prstGeom prst="ellipse">
            <a:avLst/>
          </a:prstGeom>
          <a:solidFill>
            <a:srgbClr val="FFFFFF"/>
          </a:solidFill>
          <a:ln w="12700">
            <a:solidFill>
              <a:srgbClr val="FFFFFF"/>
            </a:solidFill>
            <a:prstDash val="solid"/>
          </a:ln>
        </p:spPr>
      </p:sp>
      <p:sp>
        <p:nvSpPr>
          <p:cNvPr id="28" name="Text 25"/>
          <p:cNvSpPr/>
          <p:nvPr/>
        </p:nvSpPr>
        <p:spPr>
          <a:xfrm>
            <a:off x="7535799"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6860286" y="1773936"/>
            <a:ext cx="1753362"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Admonish as a brother</a:t>
            </a:r>
            <a:endParaRPr lang="en-US" sz="1150" dirty="0"/>
          </a:p>
        </p:txBody>
      </p:sp>
      <p:sp>
        <p:nvSpPr>
          <p:cNvPr id="30" name="Text 27"/>
          <p:cNvSpPr/>
          <p:nvPr/>
        </p:nvSpPr>
        <p:spPr>
          <a:xfrm>
            <a:off x="6860286" y="2157984"/>
            <a:ext cx="1753362" cy="74980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Not an enemy — family</a:t>
            </a:r>
            <a:endParaRPr lang="en-US" sz="1150" dirty="0"/>
          </a:p>
        </p:txBody>
      </p:sp>
      <p:sp>
        <p:nvSpPr>
          <p:cNvPr id="31" name="Text 28"/>
          <p:cNvSpPr/>
          <p:nvPr/>
        </p:nvSpPr>
        <p:spPr>
          <a:xfrm>
            <a:off x="6860286" y="2907792"/>
            <a:ext cx="1753362"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νουθετέω · v.15</a:t>
            </a:r>
            <a:endParaRPr lang="en-US" sz="900" dirty="0"/>
          </a:p>
        </p:txBody>
      </p:sp>
      <p:sp>
        <p:nvSpPr>
          <p:cNvPr id="32" name="Shape 29"/>
          <p:cNvSpPr/>
          <p:nvPr/>
        </p:nvSpPr>
        <p:spPr>
          <a:xfrm>
            <a:off x="457200" y="3520440"/>
            <a:ext cx="8229600" cy="1097280"/>
          </a:xfrm>
          <a:prstGeom prst="roundRect">
            <a:avLst>
              <a:gd name="adj" fmla="val 5000"/>
            </a:avLst>
          </a:prstGeom>
          <a:solidFill>
            <a:srgbClr val="1F3864"/>
          </a:solidFill>
          <a:ln w="12700">
            <a:solidFill>
              <a:srgbClr val="1F3864"/>
            </a:solidFill>
            <a:prstDash val="solid"/>
          </a:ln>
        </p:spPr>
      </p:sp>
      <p:sp>
        <p:nvSpPr>
          <p:cNvPr id="33" name="Text 30"/>
          <p:cNvSpPr/>
          <p:nvPr/>
        </p:nvSpPr>
        <p:spPr>
          <a:xfrm>
            <a:off x="621792" y="3520440"/>
            <a:ext cx="7900416" cy="109728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He is still a “brother” (3:6, 15). Withdrawal addresses his fellowship, not his eternal life — relationship is settled at faith; fellowship is restored by confession (1 John 1:9).</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“Brother Horatio …”</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3:15b · II.B.2 — Counsel him as family</a:t>
            </a:r>
            <a:endParaRPr lang="en-US" sz="1200" dirty="0"/>
          </a:p>
        </p:txBody>
      </p:sp>
      <p:sp>
        <p:nvSpPr>
          <p:cNvPr id="5" name="Shape 2"/>
          <p:cNvSpPr/>
          <p:nvPr/>
        </p:nvSpPr>
        <p:spPr>
          <a:xfrm>
            <a:off x="457200" y="1188720"/>
            <a:ext cx="3291840" cy="365760"/>
          </a:xfrm>
          <a:prstGeom prst="rect">
            <a:avLst/>
          </a:prstGeom>
          <a:solidFill>
            <a:srgbClr val="2E5496"/>
          </a:solidFill>
          <a:ln w="12700">
            <a:solidFill>
              <a:srgbClr val="2E5496"/>
            </a:solidFill>
            <a:prstDash val="solid"/>
          </a:ln>
        </p:spPr>
      </p:sp>
      <p:sp>
        <p:nvSpPr>
          <p:cNvPr id="6" name="Text 3"/>
          <p:cNvSpPr/>
          <p:nvPr/>
        </p:nvSpPr>
        <p:spPr>
          <a:xfrm>
            <a:off x="548640" y="1234440"/>
            <a:ext cx="310896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Before you go</a:t>
            </a:r>
            <a:endParaRPr lang="en-US" sz="1200" dirty="0"/>
          </a:p>
        </p:txBody>
      </p:sp>
      <p:sp>
        <p:nvSpPr>
          <p:cNvPr id="7" name="Shape 4"/>
          <p:cNvSpPr/>
          <p:nvPr/>
        </p:nvSpPr>
        <p:spPr>
          <a:xfrm>
            <a:off x="457200" y="1554480"/>
            <a:ext cx="3291840" cy="2423160"/>
          </a:xfrm>
          <a:prstGeom prst="rect">
            <a:avLst/>
          </a:prstGeom>
          <a:solidFill>
            <a:srgbClr val="F2F6FC"/>
          </a:solidFill>
          <a:ln w="9525">
            <a:solidFill>
              <a:srgbClr val="D5DCEA"/>
            </a:solidFill>
            <a:prstDash val="solid"/>
          </a:ln>
        </p:spPr>
      </p:sp>
      <p:sp>
        <p:nvSpPr>
          <p:cNvPr id="8" name="Text 5"/>
          <p:cNvSpPr/>
          <p:nvPr/>
        </p:nvSpPr>
        <p:spPr>
          <a:xfrm>
            <a:off x="548640" y="1627632"/>
            <a:ext cx="3108960" cy="2295144"/>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The Lord lays it on your heart</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You’re convinced it’s your assignment</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You have prayed hard</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He gives you a clear path</a:t>
            </a:r>
            <a:endParaRPr lang="en-US" sz="1150" dirty="0"/>
          </a:p>
        </p:txBody>
      </p:sp>
      <p:sp>
        <p:nvSpPr>
          <p:cNvPr id="9" name="Text 6"/>
          <p:cNvSpPr/>
          <p:nvPr/>
        </p:nvSpPr>
        <p:spPr>
          <a:xfrm>
            <a:off x="3977640" y="1188720"/>
            <a:ext cx="4709160" cy="292608"/>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When you go</a:t>
            </a:r>
            <a:endParaRPr lang="en-US" sz="1200" dirty="0"/>
          </a:p>
        </p:txBody>
      </p:sp>
      <p:sp>
        <p:nvSpPr>
          <p:cNvPr id="10" name="Shape 7"/>
          <p:cNvSpPr/>
          <p:nvPr/>
        </p:nvSpPr>
        <p:spPr>
          <a:xfrm>
            <a:off x="3977640" y="1591056"/>
            <a:ext cx="384048" cy="384048"/>
          </a:xfrm>
          <a:prstGeom prst="ellipse">
            <a:avLst/>
          </a:prstGeom>
          <a:solidFill>
            <a:srgbClr val="2E5496"/>
          </a:solidFill>
          <a:ln w="12700">
            <a:solidFill>
              <a:srgbClr val="2E5496"/>
            </a:solidFill>
            <a:prstDash val="solid"/>
          </a:ln>
        </p:spPr>
      </p:sp>
      <p:sp>
        <p:nvSpPr>
          <p:cNvPr id="11" name="Text 8"/>
          <p:cNvSpPr/>
          <p:nvPr/>
        </p:nvSpPr>
        <p:spPr>
          <a:xfrm>
            <a:off x="3977640" y="15910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2" name="Text 9"/>
          <p:cNvSpPr/>
          <p:nvPr/>
        </p:nvSpPr>
        <p:spPr>
          <a:xfrm>
            <a:off x="4480560" y="1536192"/>
            <a:ext cx="4206240" cy="771144"/>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“Brother Horatio, we’re brothers.”</a:t>
            </a:r>
            <a:endParaRPr lang="en-US" sz="1150" dirty="0"/>
          </a:p>
          <a:p>
            <a:pPr indent="0" marL="0">
              <a:buNone/>
            </a:pPr>
            <a:r>
              <a:rPr lang="en-US" sz="1050" dirty="0">
                <a:solidFill>
                  <a:srgbClr val="262626"/>
                </a:solidFill>
                <a:latin typeface="Arial" pitchFamily="34" charset="0"/>
                <a:ea typeface="Arial" pitchFamily="34" charset="-122"/>
                <a:cs typeface="Arial" pitchFamily="34" charset="-120"/>
              </a:rPr>
              <a:t>Children of God — start with the relationship</a:t>
            </a:r>
            <a:endParaRPr lang="en-US" sz="1150" dirty="0"/>
          </a:p>
        </p:txBody>
      </p:sp>
      <p:sp>
        <p:nvSpPr>
          <p:cNvPr id="13" name="Shape 10"/>
          <p:cNvSpPr/>
          <p:nvPr/>
        </p:nvSpPr>
        <p:spPr>
          <a:xfrm>
            <a:off x="3977640" y="2398776"/>
            <a:ext cx="384048" cy="384048"/>
          </a:xfrm>
          <a:prstGeom prst="ellipse">
            <a:avLst/>
          </a:prstGeom>
          <a:solidFill>
            <a:srgbClr val="2E5496"/>
          </a:solidFill>
          <a:ln w="12700">
            <a:solidFill>
              <a:srgbClr val="2E5496"/>
            </a:solidFill>
            <a:prstDash val="solid"/>
          </a:ln>
        </p:spPr>
      </p:sp>
      <p:sp>
        <p:nvSpPr>
          <p:cNvPr id="14" name="Text 11"/>
          <p:cNvSpPr/>
          <p:nvPr/>
        </p:nvSpPr>
        <p:spPr>
          <a:xfrm>
            <a:off x="3977640" y="2398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2"/>
          <p:cNvSpPr/>
          <p:nvPr/>
        </p:nvSpPr>
        <p:spPr>
          <a:xfrm>
            <a:off x="4480560" y="2343912"/>
            <a:ext cx="4206240" cy="771144"/>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“I’m concerned about you …”</a:t>
            </a:r>
            <a:endParaRPr lang="en-US" sz="1150" dirty="0"/>
          </a:p>
          <a:p>
            <a:pPr indent="0" marL="0">
              <a:buNone/>
            </a:pPr>
            <a:r>
              <a:rPr lang="en-US" sz="1050" dirty="0">
                <a:solidFill>
                  <a:srgbClr val="262626"/>
                </a:solidFill>
                <a:latin typeface="Arial" pitchFamily="34" charset="0"/>
                <a:ea typeface="Arial" pitchFamily="34" charset="-122"/>
                <a:cs typeface="Arial" pitchFamily="34" charset="-120"/>
              </a:rPr>
              <a:t>Then name the area — name the offense</a:t>
            </a:r>
            <a:endParaRPr lang="en-US" sz="1150" dirty="0"/>
          </a:p>
        </p:txBody>
      </p:sp>
      <p:sp>
        <p:nvSpPr>
          <p:cNvPr id="16" name="Shape 13"/>
          <p:cNvSpPr/>
          <p:nvPr/>
        </p:nvSpPr>
        <p:spPr>
          <a:xfrm>
            <a:off x="3977640" y="3206496"/>
            <a:ext cx="384048" cy="384048"/>
          </a:xfrm>
          <a:prstGeom prst="ellipse">
            <a:avLst/>
          </a:prstGeom>
          <a:solidFill>
            <a:srgbClr val="375623"/>
          </a:solidFill>
          <a:ln w="12700">
            <a:solidFill>
              <a:srgbClr val="375623"/>
            </a:solidFill>
            <a:prstDash val="solid"/>
          </a:ln>
        </p:spPr>
      </p:sp>
      <p:sp>
        <p:nvSpPr>
          <p:cNvPr id="17" name="Text 14"/>
          <p:cNvSpPr/>
          <p:nvPr/>
        </p:nvSpPr>
        <p:spPr>
          <a:xfrm>
            <a:off x="3977640" y="3206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5"/>
          <p:cNvSpPr/>
          <p:nvPr/>
        </p:nvSpPr>
        <p:spPr>
          <a:xfrm>
            <a:off x="4480560" y="3151632"/>
            <a:ext cx="4206240" cy="771144"/>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“May I show you in the Word?”</a:t>
            </a:r>
            <a:endParaRPr lang="en-US" sz="1150" dirty="0"/>
          </a:p>
          <a:p>
            <a:pPr indent="0" marL="0">
              <a:buNone/>
            </a:pPr>
            <a:r>
              <a:rPr lang="en-US" sz="1050" dirty="0">
                <a:solidFill>
                  <a:srgbClr val="262626"/>
                </a:solidFill>
                <a:latin typeface="Arial" pitchFamily="34" charset="0"/>
                <a:ea typeface="Arial" pitchFamily="34" charset="-122"/>
                <a:cs typeface="Arial" pitchFamily="34" charset="-120"/>
              </a:rPr>
              <a:t>Ask permission; if no, take the next step (Matt 18)</a:t>
            </a:r>
            <a:endParaRPr lang="en-US" sz="1150" dirty="0"/>
          </a:p>
        </p:txBody>
      </p:sp>
      <p:sp>
        <p:nvSpPr>
          <p:cNvPr id="19" name="Shape 16"/>
          <p:cNvSpPr/>
          <p:nvPr/>
        </p:nvSpPr>
        <p:spPr>
          <a:xfrm>
            <a:off x="457200" y="4114800"/>
            <a:ext cx="8229600" cy="502920"/>
          </a:xfrm>
          <a:prstGeom prst="roundRect">
            <a:avLst>
              <a:gd name="adj" fmla="val 10909"/>
            </a:avLst>
          </a:prstGeom>
          <a:solidFill>
            <a:srgbClr val="1F3864"/>
          </a:solidFill>
          <a:ln w="12700">
            <a:solidFill>
              <a:srgbClr val="1F3864"/>
            </a:solidFill>
            <a:prstDash val="solid"/>
          </a:ln>
        </p:spPr>
      </p:sp>
      <p:sp>
        <p:nvSpPr>
          <p:cNvPr id="20" name="Text 17"/>
          <p:cNvSpPr/>
          <p:nvPr/>
        </p:nvSpPr>
        <p:spPr>
          <a:xfrm>
            <a:off x="621792" y="4114800"/>
            <a:ext cx="7900416" cy="50292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“Make sure I don’t get to be an enemy by the way I handle the job the Lord gave me.”</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Peace three ways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3:16 · III — Benediction</a:t>
            </a:r>
            <a:endParaRPr lang="en-US" sz="1200" dirty="0"/>
          </a:p>
        </p:txBody>
      </p:sp>
      <p:sp>
        <p:nvSpPr>
          <p:cNvPr id="5" name="Shape 2"/>
          <p:cNvSpPr/>
          <p:nvPr/>
        </p:nvSpPr>
        <p:spPr>
          <a:xfrm>
            <a:off x="457200" y="1188720"/>
            <a:ext cx="2499360" cy="365760"/>
          </a:xfrm>
          <a:prstGeom prst="rect">
            <a:avLst/>
          </a:prstGeom>
          <a:solidFill>
            <a:srgbClr val="2E5496"/>
          </a:solidFill>
          <a:ln w="12700">
            <a:solidFill>
              <a:srgbClr val="2E5496"/>
            </a:solidFill>
            <a:prstDash val="solid"/>
          </a:ln>
        </p:spPr>
      </p:sp>
      <p:sp>
        <p:nvSpPr>
          <p:cNvPr id="6" name="Text 3"/>
          <p:cNvSpPr/>
          <p:nvPr/>
        </p:nvSpPr>
        <p:spPr>
          <a:xfrm>
            <a:off x="54864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Peace with God</a:t>
            </a:r>
            <a:endParaRPr lang="en-US" sz="1200" dirty="0"/>
          </a:p>
        </p:txBody>
      </p:sp>
      <p:sp>
        <p:nvSpPr>
          <p:cNvPr id="7" name="Shape 4"/>
          <p:cNvSpPr/>
          <p:nvPr/>
        </p:nvSpPr>
        <p:spPr>
          <a:xfrm>
            <a:off x="457200" y="1554480"/>
            <a:ext cx="2499360" cy="2011680"/>
          </a:xfrm>
          <a:prstGeom prst="rect">
            <a:avLst/>
          </a:prstGeom>
          <a:solidFill>
            <a:srgbClr val="F2F6FC"/>
          </a:solidFill>
          <a:ln w="9525">
            <a:solidFill>
              <a:srgbClr val="D5DCEA"/>
            </a:solidFill>
            <a:prstDash val="solid"/>
          </a:ln>
        </p:spPr>
      </p:sp>
      <p:sp>
        <p:nvSpPr>
          <p:cNvPr id="8" name="Text 5"/>
          <p:cNvSpPr/>
          <p:nvPr/>
        </p:nvSpPr>
        <p:spPr>
          <a:xfrm>
            <a:off x="548640" y="1627632"/>
            <a:ext cx="2316480" cy="188366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Justified by faith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Settled and guaranteed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Rom 5:1</a:t>
            </a:r>
            <a:endParaRPr lang="en-US" sz="1250" dirty="0"/>
          </a:p>
        </p:txBody>
      </p:sp>
      <p:sp>
        <p:nvSpPr>
          <p:cNvPr id="9" name="Shape 6"/>
          <p:cNvSpPr/>
          <p:nvPr/>
        </p:nvSpPr>
        <p:spPr>
          <a:xfrm>
            <a:off x="3020568" y="2258568"/>
            <a:ext cx="237744" cy="237744"/>
          </a:xfrm>
          <a:prstGeom prst="rightArrow">
            <a:avLst/>
          </a:prstGeom>
          <a:solidFill>
            <a:srgbClr val="6B7280"/>
          </a:solidFill>
          <a:ln w="12700">
            <a:solidFill>
              <a:srgbClr val="6B7280"/>
            </a:solidFill>
            <a:prstDash val="solid"/>
          </a:ln>
        </p:spPr>
      </p:sp>
      <p:sp>
        <p:nvSpPr>
          <p:cNvPr id="10" name="Shape 7"/>
          <p:cNvSpPr/>
          <p:nvPr/>
        </p:nvSpPr>
        <p:spPr>
          <a:xfrm>
            <a:off x="3322320" y="1188720"/>
            <a:ext cx="2499360" cy="365760"/>
          </a:xfrm>
          <a:prstGeom prst="rect">
            <a:avLst/>
          </a:prstGeom>
          <a:solidFill>
            <a:srgbClr val="2E5496"/>
          </a:solidFill>
          <a:ln w="12700">
            <a:solidFill>
              <a:srgbClr val="2E5496"/>
            </a:solidFill>
            <a:prstDash val="solid"/>
          </a:ln>
        </p:spPr>
      </p:sp>
      <p:sp>
        <p:nvSpPr>
          <p:cNvPr id="11" name="Text 8"/>
          <p:cNvSpPr/>
          <p:nvPr/>
        </p:nvSpPr>
        <p:spPr>
          <a:xfrm>
            <a:off x="341376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peace of God</a:t>
            </a:r>
            <a:endParaRPr lang="en-US" sz="1200" dirty="0"/>
          </a:p>
        </p:txBody>
      </p:sp>
      <p:sp>
        <p:nvSpPr>
          <p:cNvPr id="12" name="Shape 9"/>
          <p:cNvSpPr/>
          <p:nvPr/>
        </p:nvSpPr>
        <p:spPr>
          <a:xfrm>
            <a:off x="3322320" y="1554480"/>
            <a:ext cx="2499360" cy="2011680"/>
          </a:xfrm>
          <a:prstGeom prst="rect">
            <a:avLst/>
          </a:prstGeom>
          <a:solidFill>
            <a:srgbClr val="F2F6FC"/>
          </a:solidFill>
          <a:ln w="9525">
            <a:solidFill>
              <a:srgbClr val="D5DCEA"/>
            </a:solidFill>
            <a:prstDash val="solid"/>
          </a:ln>
        </p:spPr>
      </p:sp>
      <p:sp>
        <p:nvSpPr>
          <p:cNvPr id="13" name="Text 10"/>
          <p:cNvSpPr/>
          <p:nvPr/>
        </p:nvSpPr>
        <p:spPr>
          <a:xfrm>
            <a:off x="3413760" y="1627632"/>
            <a:ext cx="2316480" cy="188366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Be anxious for nothing — pray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Peter asleep in prison (Acts 12)</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Phil 4:6–7</a:t>
            </a:r>
            <a:endParaRPr lang="en-US" sz="1250" dirty="0"/>
          </a:p>
        </p:txBody>
      </p:sp>
      <p:sp>
        <p:nvSpPr>
          <p:cNvPr id="14" name="Shape 11"/>
          <p:cNvSpPr/>
          <p:nvPr/>
        </p:nvSpPr>
        <p:spPr>
          <a:xfrm>
            <a:off x="5885688" y="2258568"/>
            <a:ext cx="237744" cy="237744"/>
          </a:xfrm>
          <a:prstGeom prst="rightArrow">
            <a:avLst/>
          </a:prstGeom>
          <a:solidFill>
            <a:srgbClr val="6B7280"/>
          </a:solidFill>
          <a:ln w="12700">
            <a:solidFill>
              <a:srgbClr val="6B7280"/>
            </a:solidFill>
            <a:prstDash val="solid"/>
          </a:ln>
        </p:spPr>
      </p:sp>
      <p:sp>
        <p:nvSpPr>
          <p:cNvPr id="15" name="Shape 12"/>
          <p:cNvSpPr/>
          <p:nvPr/>
        </p:nvSpPr>
        <p:spPr>
          <a:xfrm>
            <a:off x="6187440" y="1188720"/>
            <a:ext cx="2499360" cy="365760"/>
          </a:xfrm>
          <a:prstGeom prst="rect">
            <a:avLst/>
          </a:prstGeom>
          <a:solidFill>
            <a:srgbClr val="375623"/>
          </a:solidFill>
          <a:ln w="12700">
            <a:solidFill>
              <a:srgbClr val="375623"/>
            </a:solidFill>
            <a:prstDash val="solid"/>
          </a:ln>
        </p:spPr>
      </p:sp>
      <p:sp>
        <p:nvSpPr>
          <p:cNvPr id="16" name="Text 13"/>
          <p:cNvSpPr/>
          <p:nvPr/>
        </p:nvSpPr>
        <p:spPr>
          <a:xfrm>
            <a:off x="6278880" y="1234440"/>
            <a:ext cx="2316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God of peace</a:t>
            </a:r>
            <a:endParaRPr lang="en-US" sz="1200" dirty="0"/>
          </a:p>
        </p:txBody>
      </p:sp>
      <p:sp>
        <p:nvSpPr>
          <p:cNvPr id="17" name="Shape 14"/>
          <p:cNvSpPr/>
          <p:nvPr/>
        </p:nvSpPr>
        <p:spPr>
          <a:xfrm>
            <a:off x="6187440" y="1554480"/>
            <a:ext cx="2499360" cy="2011680"/>
          </a:xfrm>
          <a:prstGeom prst="rect">
            <a:avLst/>
          </a:prstGeom>
          <a:solidFill>
            <a:srgbClr val="F2F6FC"/>
          </a:solidFill>
          <a:ln w="9525">
            <a:solidFill>
              <a:srgbClr val="D5DCEA"/>
            </a:solidFill>
            <a:prstDash val="solid"/>
          </a:ln>
        </p:spPr>
      </p:sp>
      <p:sp>
        <p:nvSpPr>
          <p:cNvPr id="18" name="Text 15"/>
          <p:cNvSpPr/>
          <p:nvPr/>
        </p:nvSpPr>
        <p:spPr>
          <a:xfrm>
            <a:off x="6278880" y="1627632"/>
            <a:ext cx="2316480" cy="188366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“I will never leave you” — Heb 13:5</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With you always — Matt 28:20</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“With you all”</a:t>
            </a:r>
            <a:endParaRPr lang="en-US" sz="1250" dirty="0"/>
          </a:p>
        </p:txBody>
      </p:sp>
      <p:sp>
        <p:nvSpPr>
          <p:cNvPr id="19" name="Shape 16"/>
          <p:cNvSpPr/>
          <p:nvPr/>
        </p:nvSpPr>
        <p:spPr>
          <a:xfrm>
            <a:off x="457200" y="3749040"/>
            <a:ext cx="8229600" cy="868680"/>
          </a:xfrm>
          <a:prstGeom prst="roundRect">
            <a:avLst>
              <a:gd name="adj" fmla="val 6316"/>
            </a:avLst>
          </a:prstGeom>
          <a:solidFill>
            <a:srgbClr val="1F3864"/>
          </a:solidFill>
          <a:ln w="12700">
            <a:solidFill>
              <a:srgbClr val="1F3864"/>
            </a:solidFill>
            <a:prstDash val="solid"/>
          </a:ln>
        </p:spPr>
      </p:sp>
      <p:sp>
        <p:nvSpPr>
          <p:cNvPr id="20" name="Text 17"/>
          <p:cNvSpPr/>
          <p:nvPr/>
        </p:nvSpPr>
        <p:spPr>
          <a:xfrm>
            <a:off x="621792" y="3749040"/>
            <a:ext cx="7900416" cy="868680"/>
          </a:xfrm>
          <a:prstGeom prst="rect">
            <a:avLst/>
          </a:prstGeom>
          <a:noFill/>
          <a:ln/>
        </p:spPr>
        <p:txBody>
          <a:bodyPr wrap="square" lIns="0" tIns="0" rIns="0" bIns="0" rtlCol="0" anchor="ctr"/>
          <a:lstStyle/>
          <a:p>
            <a:pPr indent="0" marL="0">
              <a:buNone/>
            </a:pPr>
            <a:r>
              <a:rPr lang="en-US" sz="1400" b="1" dirty="0">
                <a:solidFill>
                  <a:srgbClr val="E4D6F7"/>
                </a:solidFill>
                <a:latin typeface="Arial" pitchFamily="34" charset="0"/>
                <a:ea typeface="Arial" pitchFamily="34" charset="-122"/>
                <a:cs typeface="Arial" pitchFamily="34" charset="-120"/>
              </a:rPr>
              <a:t>εἰρήνη  </a:t>
            </a:r>
            <a:pPr indent="0" marL="0">
              <a:buNone/>
            </a:pPr>
            <a:r>
              <a:rPr lang="en-US" sz="1200" dirty="0">
                <a:solidFill>
                  <a:srgbClr val="FFFFFF"/>
                </a:solidFill>
                <a:latin typeface="Arial" pitchFamily="34" charset="0"/>
                <a:ea typeface="Arial" pitchFamily="34" charset="-122"/>
                <a:cs typeface="Arial" pitchFamily="34" charset="-120"/>
              </a:rPr>
              <a:t>Peace with God is guaranteed. The peace of God is something we ask for — we let our requests be known to Him, and leave it there.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Signed by hand — sealed with grace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3:17–18 · IV–V — Validation and salutation</a:t>
            </a:r>
            <a:endParaRPr lang="en-US" sz="1200" dirty="0"/>
          </a:p>
        </p:txBody>
      </p:sp>
      <p:sp>
        <p:nvSpPr>
          <p:cNvPr id="5" name="Shape 2"/>
          <p:cNvSpPr/>
          <p:nvPr/>
        </p:nvSpPr>
        <p:spPr>
          <a:xfrm>
            <a:off x="457200" y="1188720"/>
            <a:ext cx="3931920" cy="566928"/>
          </a:xfrm>
          <a:prstGeom prst="rect">
            <a:avLst/>
          </a:prstGeom>
          <a:solidFill>
            <a:srgbClr val="2E5496"/>
          </a:solidFill>
          <a:ln w="12700">
            <a:solidFill>
              <a:srgbClr val="2E5496"/>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Validation · v.17</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ἀσπασμός · σημεῖον</a:t>
            </a:r>
            <a:pPr indent="0" marL="0">
              <a:buNone/>
            </a:pPr>
            <a:r>
              <a:rPr lang="en-US" sz="850" dirty="0">
                <a:solidFill>
                  <a:srgbClr val="DCE4F2"/>
                </a:solidFill>
                <a:latin typeface="Arial" pitchFamily="34" charset="0"/>
                <a:ea typeface="Arial" pitchFamily="34" charset="-122"/>
                <a:cs typeface="Arial" pitchFamily="34" charset="-120"/>
              </a:rPr>
              <a:t>  salutation · sign</a:t>
            </a:r>
            <a:endParaRPr lang="en-US" sz="1200" dirty="0"/>
          </a:p>
        </p:txBody>
      </p:sp>
      <p:sp>
        <p:nvSpPr>
          <p:cNvPr id="7" name="Shape 4"/>
          <p:cNvSpPr/>
          <p:nvPr/>
        </p:nvSpPr>
        <p:spPr>
          <a:xfrm>
            <a:off x="457200" y="1755648"/>
            <a:ext cx="3931920" cy="1810512"/>
          </a:xfrm>
          <a:prstGeom prst="rect">
            <a:avLst/>
          </a:prstGeom>
          <a:solidFill>
            <a:srgbClr val="F2F6FC"/>
          </a:solidFill>
          <a:ln w="9525">
            <a:solidFill>
              <a:srgbClr val="D5DCEA"/>
            </a:solidFill>
            <a:prstDash val="solid"/>
          </a:ln>
        </p:spPr>
      </p:sp>
      <p:sp>
        <p:nvSpPr>
          <p:cNvPr id="8" name="Text 5"/>
          <p:cNvSpPr/>
          <p:nvPr/>
        </p:nvSpPr>
        <p:spPr>
          <a:xfrm>
            <a:off x="548640" y="1828800"/>
            <a:ext cx="3749040" cy="16824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Paul signs with his own hand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 sign in every epistle”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test against the forged letter (2:2)</a:t>
            </a:r>
            <a:endParaRPr lang="en-US" sz="1250" dirty="0"/>
          </a:p>
        </p:txBody>
      </p:sp>
      <p:sp>
        <p:nvSpPr>
          <p:cNvPr id="9" name="Shape 6"/>
          <p:cNvSpPr/>
          <p:nvPr/>
        </p:nvSpPr>
        <p:spPr>
          <a:xfrm>
            <a:off x="4754880" y="1188720"/>
            <a:ext cx="3931920" cy="566928"/>
          </a:xfrm>
          <a:prstGeom prst="rect">
            <a:avLst/>
          </a:prstGeom>
          <a:solidFill>
            <a:srgbClr val="375623"/>
          </a:solidFill>
          <a:ln w="12700">
            <a:solidFill>
              <a:srgbClr val="375623"/>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Salutation · v.18</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χάρις</a:t>
            </a:r>
            <a:pPr indent="0" marL="0">
              <a:buNone/>
            </a:pPr>
            <a:r>
              <a:rPr lang="en-US" sz="850" dirty="0">
                <a:solidFill>
                  <a:srgbClr val="DCE4F2"/>
                </a:solidFill>
                <a:latin typeface="Arial" pitchFamily="34" charset="0"/>
                <a:ea typeface="Arial" pitchFamily="34" charset="-122"/>
                <a:cs typeface="Arial" pitchFamily="34" charset="-120"/>
              </a:rPr>
              <a:t>  grace · G5485</a:t>
            </a:r>
            <a:endParaRPr lang="en-US" sz="1200" dirty="0"/>
          </a:p>
        </p:txBody>
      </p:sp>
      <p:sp>
        <p:nvSpPr>
          <p:cNvPr id="11" name="Shape 8"/>
          <p:cNvSpPr/>
          <p:nvPr/>
        </p:nvSpPr>
        <p:spPr>
          <a:xfrm>
            <a:off x="4754880" y="1755648"/>
            <a:ext cx="3931920" cy="181051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6824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Saving grace — Eph 2:8–9</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Sharing grace — 2 Cor 8:7</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Serving grace — Heb 12:28</a:t>
            </a:r>
            <a:endParaRPr lang="en-US" sz="1250" dirty="0"/>
          </a:p>
        </p:txBody>
      </p:sp>
      <p:sp>
        <p:nvSpPr>
          <p:cNvPr id="13" name="Text 10"/>
          <p:cNvSpPr/>
          <p:nvPr/>
        </p:nvSpPr>
        <p:spPr>
          <a:xfrm>
            <a:off x="4389120" y="219456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794760"/>
            <a:ext cx="8229600" cy="777240"/>
          </a:xfrm>
          <a:prstGeom prst="roundRect">
            <a:avLst>
              <a:gd name="adj" fmla="val 7059"/>
            </a:avLst>
          </a:prstGeom>
          <a:solidFill>
            <a:srgbClr val="1F3864"/>
          </a:solidFill>
          <a:ln w="12700">
            <a:solidFill>
              <a:srgbClr val="1F3864"/>
            </a:solidFill>
            <a:prstDash val="solid"/>
          </a:ln>
        </p:spPr>
      </p:sp>
      <p:sp>
        <p:nvSpPr>
          <p:cNvPr id="15" name="Text 12"/>
          <p:cNvSpPr/>
          <p:nvPr/>
        </p:nvSpPr>
        <p:spPr>
          <a:xfrm>
            <a:off x="621792" y="3794760"/>
            <a:ext cx="7900416" cy="7772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Am I my brother’s keeper? Yes — and he is my brother, not my enemy. The grace of our Lord Jesus Christ be with you all.</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3:13–18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What is the difference between helping a brother and enabling him, and how does this connect to the idle Thessalonians?</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What is the purpose of church discipline in 3:14–15?</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Help, Don’t Enable</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Ask the Lord whether any of your help has become enabling, and what real help would look like.</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Never, Ever Alone</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Each evening, write down one worry, pray it through Philippians 4:6–7, and leave it there.</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Yes, I am my brother’s keeper — keep doing good, restore him as family, and rest in the Lord of peace and His grace.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Conclusion · 2 Thessalonians 1–3</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Grace at the beginning, grace at the end</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A suffering church reminded who it is, steadied about the coming of the Lord, and taught to serve while it waits — framed from first to last by grace and peace. “The grace of our Lord Jesus Christ be with you all.”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 Thessalonians: Charts from the Seven Studies</dc:title>
  <dc:subject>PptxGenJS Presentation</dc:subject>
  <dc:creator>The Gospel Vault</dc:creator>
  <cp:lastModifiedBy>The Gospel Vault</cp:lastModifiedBy>
  <cp:revision>1</cp:revision>
  <dcterms:created xsi:type="dcterms:W3CDTF">2026-10-30T06:34:07Z</dcterms:created>
  <dcterms:modified xsi:type="dcterms:W3CDTF">2026-10-30T06:34:07Z</dcterms:modified>
</cp:coreProperties>
</file>