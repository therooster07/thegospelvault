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chapter moves from “not already in the Day of the Lord” (2:1–5), to the Day of the Lord and unbelievers (2:6–12), to the Day of the Lord and believers (2:13–17), which opens with “But.” Two parts: their position (2:13–14) and their practice (2:15–17). Every chart stays within the commentary posted for this study, including its Study Notes;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(I.A–D): Situation — brothers of Paul, beloved by God (in contrast to the unbelievers, for whom Paul could give no thanks). Selection — the Father chose, the Spirit set apart, the believers believed. Salvation — deliverance. Glorification — called by the gospel to share Christ’s glory.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(I.B.1, From the Outline, with αἱρέομαι and ἀρχή): The teacher loves the doctrine of election and has written on it — “but not here.” The verb is haireomai: to pick or choose, even of picking fruit; elsewhere only Philippians 1:22 and Hebrews 11:25. The word for election is eklegomai (Eph 1:4). “From the beginning” can be any beginning — he takes it as the beginning of the gospel in Thessalonica. So he sees a choosing to escape the Tribulation, not election to eternal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(I.B.2, with ἁγιασμός): Past — a position: set apart to God the moment we believe. Present — a process: transformed through the Word and the Spirit (John 17:17; 2 Cor 3:18). Future — a prospect: “we shall be like Him” (1 John 3:2). Paul may have all three in mind, but mainly the past — the setting apart that placed us into the body of Christ.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(I.C.1–3 and Study Note, with σωτηρία): Translate “salvation” as deliverance and much misunderstanding clears up — but context decides from what. Spiritual (penalty, power, presence of sin); physical (healing); circumstances (Peter: “Lord, save me!” — he was already saved). Matthew 24:13 sits in the Olivet Discourse: physical deliverance through the Tribulation, not a condition for keeping eternal life (John 5:24). In 2:13, as in 1 Thessalonians 5:9, it is deliverance from the wrath of the Tribulation; a different meaning would only add to their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(II.A.1–2 and Study Note, with στήκω, κρατέω, παράδοσις): “Therefore” — a great theological truth, then: don’t sit down; stand up. Their problem stemmed from not holding what Paul taught them. Five steps so the truth doesn’t slip away. “Traditions” are not church or denominational traditions but what Paul taught by word and by letter — inspired, apostolic. Apostolicity equals canonicity; once the apostles were gone, the canon was closed (John 14:26; 16:13) — the teacher suggests as early as A.D. 70, at least by about 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(II.B.1–2, with παράκλησις, ἐλπίς, ἀγαθός, στηρίζω): The Son is named before the Father — the Son declared the Father (John 1:18). “Who has loved us” is singular — Father and Son, one God. God supplies “according to” His riches, not merely “out of” them (Phil 4:19). The Father gave His Son, the Son gave His life — no charge. Everlasting consolation that never runs out; a good hope — not in government or the Constitution, but in the return of the victorious Savior. And He establishes us in every good word and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How should we determine the meaning of “salvation,” and what does it mean in 2:13? — Leader answer: Salvation means deliverance, and context decides from what — the penalty, power or presence of sin; illness; dangerous circumstances (“Lord, save me!”). In 2:13, as in 1 Thessalonians 5:9, it is deliverance from the wrath of the Tribulation.  Q2: What five things does the teacher say we must do with the Word so that it does not slip away? — Leader answer: Hear it in the first place; make sure it is the Word of God (teachers should show you from Scripture); review it; believe it — if you believe it you’ll do it; and share it — you understand it better when you help someone else.  Applications: Read “Saved” in Context — Work through the handout passages this week, asking “saved from what?” for each one.  Five Steps to Holding the Word — Write down one truth, review it daily, and share it with one person before next week.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2 Thessalonians · Study 5 of 7 · 2 Thessalonians 2:13–17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73168"/>
            <a:ext cx="68580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2 Thessalonians · Study 5 of 7 · 2 Thessalonians 2:13–17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2 Thessalonians · Study 5 of 7 · 2 Thessalonians 2:13–17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The Day of the Lord and Believers</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In contrast to the unbelievers who will face the Day of the Lord, believers are loved, chosen, set apart and appointed to deliverance — so stand fast and hold the apostolic Word.</a:t>
            </a:r>
            <a:endParaRPr lang="en-US" sz="1500" dirty="0"/>
          </a:p>
        </p:txBody>
      </p:sp>
      <p:sp>
        <p:nvSpPr>
          <p:cNvPr id="5" name="Text 3"/>
          <p:cNvSpPr/>
          <p:nvPr/>
        </p:nvSpPr>
        <p:spPr>
          <a:xfrm>
            <a:off x="640080" y="4343400"/>
            <a:ext cx="7863840" cy="274320"/>
          </a:xfrm>
          <a:prstGeom prst="rect">
            <a:avLst/>
          </a:prstGeom>
          <a:noFill/>
          <a:ln/>
        </p:spPr>
        <p:txBody>
          <a:bodyPr wrap="square" lIns="0" tIns="0" rIns="0" bIns="0" rtlCol="0" anchor="ctr"/>
          <a:lstStyle/>
          <a:p>
            <a:pPr indent="0" marL="0">
              <a:buNone/>
            </a:pPr>
            <a:r>
              <a:rPr lang="en-US" sz="1000" dirty="0">
                <a:solidFill>
                  <a:srgbClr val="C9D5EE"/>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 seven studies · this study highlighted</a:t>
            </a:r>
            <a:endParaRPr lang="en-US" sz="1200" dirty="0"/>
          </a:p>
        </p:txBody>
      </p:sp>
      <p:sp>
        <p:nvSpPr>
          <p:cNvPr id="5" name="Shape 2"/>
          <p:cNvSpPr/>
          <p:nvPr/>
        </p:nvSpPr>
        <p:spPr>
          <a:xfrm>
            <a:off x="457200" y="1188720"/>
            <a:ext cx="1954530" cy="1371600"/>
          </a:xfrm>
          <a:prstGeom prst="rect">
            <a:avLst/>
          </a:prstGeom>
          <a:solidFill>
            <a:srgbClr val="F2F6FC"/>
          </a:solidFill>
          <a:ln w="9525">
            <a:solidFill>
              <a:srgbClr val="D5DCEA"/>
            </a:solidFill>
            <a:prstDash val="solid"/>
          </a:ln>
        </p:spPr>
      </p:sp>
      <p:sp>
        <p:nvSpPr>
          <p:cNvPr id="6" name="Text 3"/>
          <p:cNvSpPr/>
          <p:nvPr/>
        </p:nvSpPr>
        <p:spPr>
          <a:xfrm>
            <a:off x="56692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01  </a:t>
            </a:r>
            <a:pPr indent="0" marL="0">
              <a:buNone/>
            </a:pPr>
            <a:r>
              <a:rPr lang="en-US" sz="1050" b="1" dirty="0">
                <a:solidFill>
                  <a:srgbClr val="595959"/>
                </a:solidFill>
                <a:latin typeface="Arial" pitchFamily="34" charset="0"/>
                <a:ea typeface="Arial" pitchFamily="34" charset="-122"/>
                <a:cs typeface="Arial" pitchFamily="34" charset="-120"/>
              </a:rPr>
              <a:t>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Introduction and Background</a:t>
            </a:r>
            <a:endParaRPr lang="en-US" sz="1300" dirty="0"/>
          </a:p>
        </p:txBody>
      </p:sp>
      <p:sp>
        <p:nvSpPr>
          <p:cNvPr id="7" name="Shape 4"/>
          <p:cNvSpPr/>
          <p:nvPr/>
        </p:nvSpPr>
        <p:spPr>
          <a:xfrm>
            <a:off x="2548890" y="1188720"/>
            <a:ext cx="1954530" cy="1371600"/>
          </a:xfrm>
          <a:prstGeom prst="rect">
            <a:avLst/>
          </a:prstGeom>
          <a:solidFill>
            <a:srgbClr val="F2F6FC"/>
          </a:solidFill>
          <a:ln w="9525">
            <a:solidFill>
              <a:srgbClr val="D5DCEA"/>
            </a:solidFill>
            <a:prstDash val="solid"/>
          </a:ln>
        </p:spPr>
      </p:sp>
      <p:sp>
        <p:nvSpPr>
          <p:cNvPr id="8" name="Text 5"/>
          <p:cNvSpPr/>
          <p:nvPr/>
        </p:nvSpPr>
        <p:spPr>
          <a:xfrm>
            <a:off x="265861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02  </a:t>
            </a:r>
            <a:pPr indent="0" marL="0">
              <a:buNone/>
            </a:pPr>
            <a:r>
              <a:rPr lang="en-US" sz="1050" b="1" dirty="0">
                <a:solidFill>
                  <a:srgbClr val="595959"/>
                </a:solidFill>
                <a:latin typeface="Arial" pitchFamily="34" charset="0"/>
                <a:ea typeface="Arial" pitchFamily="34" charset="-122"/>
                <a:cs typeface="Arial" pitchFamily="34" charset="-120"/>
              </a:rPr>
              <a:t>1:3–12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Paul’s Admiration for the Thessalonians</a:t>
            </a:r>
            <a:endParaRPr lang="en-US" sz="1300" dirty="0"/>
          </a:p>
        </p:txBody>
      </p:sp>
      <p:sp>
        <p:nvSpPr>
          <p:cNvPr id="9" name="Shape 6"/>
          <p:cNvSpPr/>
          <p:nvPr/>
        </p:nvSpPr>
        <p:spPr>
          <a:xfrm>
            <a:off x="4640580" y="1188720"/>
            <a:ext cx="1954530" cy="1371600"/>
          </a:xfrm>
          <a:prstGeom prst="rect">
            <a:avLst/>
          </a:prstGeom>
          <a:solidFill>
            <a:srgbClr val="F2F6FC"/>
          </a:solidFill>
          <a:ln w="9525">
            <a:solidFill>
              <a:srgbClr val="D5DCEA"/>
            </a:solidFill>
            <a:prstDash val="solid"/>
          </a:ln>
        </p:spPr>
      </p:sp>
      <p:sp>
        <p:nvSpPr>
          <p:cNvPr id="10" name="Text 7"/>
          <p:cNvSpPr/>
          <p:nvPr/>
        </p:nvSpPr>
        <p:spPr>
          <a:xfrm>
            <a:off x="475030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03  </a:t>
            </a:r>
            <a:pPr indent="0" marL="0">
              <a:buNone/>
            </a:pPr>
            <a:r>
              <a:rPr lang="en-US" sz="1050" b="1" dirty="0">
                <a:solidFill>
                  <a:srgbClr val="595959"/>
                </a:solidFill>
                <a:latin typeface="Arial" pitchFamily="34" charset="0"/>
                <a:ea typeface="Arial" pitchFamily="34" charset="-122"/>
                <a:cs typeface="Arial" pitchFamily="34" charset="-120"/>
              </a:rPr>
              <a:t>2:1–5</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Confusion Concerning the Coming</a:t>
            </a:r>
            <a:endParaRPr lang="en-US" sz="1300" dirty="0"/>
          </a:p>
        </p:txBody>
      </p:sp>
      <p:sp>
        <p:nvSpPr>
          <p:cNvPr id="11" name="Shape 8"/>
          <p:cNvSpPr/>
          <p:nvPr/>
        </p:nvSpPr>
        <p:spPr>
          <a:xfrm>
            <a:off x="6732270" y="1188720"/>
            <a:ext cx="1954530" cy="1371600"/>
          </a:xfrm>
          <a:prstGeom prst="rect">
            <a:avLst/>
          </a:prstGeom>
          <a:solidFill>
            <a:srgbClr val="F2F6FC"/>
          </a:solidFill>
          <a:ln w="9525">
            <a:solidFill>
              <a:srgbClr val="D5DCEA"/>
            </a:solidFill>
            <a:prstDash val="solid"/>
          </a:ln>
        </p:spPr>
      </p:sp>
      <p:sp>
        <p:nvSpPr>
          <p:cNvPr id="12" name="Text 9"/>
          <p:cNvSpPr/>
          <p:nvPr/>
        </p:nvSpPr>
        <p:spPr>
          <a:xfrm>
            <a:off x="684199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04  </a:t>
            </a:r>
            <a:pPr indent="0" marL="0">
              <a:buNone/>
            </a:pPr>
            <a:r>
              <a:rPr lang="en-US" sz="1050" b="1" dirty="0">
                <a:solidFill>
                  <a:srgbClr val="595959"/>
                </a:solidFill>
                <a:latin typeface="Arial" pitchFamily="34" charset="0"/>
                <a:ea typeface="Arial" pitchFamily="34" charset="-122"/>
                <a:cs typeface="Arial" pitchFamily="34" charset="-120"/>
              </a:rPr>
              <a:t>2:6–12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Removal of the Restrainer</a:t>
            </a:r>
            <a:endParaRPr lang="en-US" sz="1300" dirty="0"/>
          </a:p>
        </p:txBody>
      </p:sp>
      <p:sp>
        <p:nvSpPr>
          <p:cNvPr id="13" name="Shape 10"/>
          <p:cNvSpPr/>
          <p:nvPr/>
        </p:nvSpPr>
        <p:spPr>
          <a:xfrm>
            <a:off x="457200" y="2761488"/>
            <a:ext cx="1954530" cy="1371600"/>
          </a:xfrm>
          <a:prstGeom prst="rect">
            <a:avLst/>
          </a:prstGeom>
          <a:solidFill>
            <a:srgbClr val="1F3864"/>
          </a:solidFill>
          <a:ln w="9525">
            <a:solidFill>
              <a:srgbClr val="1F3864"/>
            </a:solidFill>
            <a:prstDash val="solid"/>
          </a:ln>
        </p:spPr>
      </p:sp>
      <p:sp>
        <p:nvSpPr>
          <p:cNvPr id="14" name="Text 11"/>
          <p:cNvSpPr/>
          <p:nvPr/>
        </p:nvSpPr>
        <p:spPr>
          <a:xfrm>
            <a:off x="566928" y="2871216"/>
            <a:ext cx="1735074" cy="1152144"/>
          </a:xfrm>
          <a:prstGeom prst="rect">
            <a:avLst/>
          </a:prstGeom>
          <a:noFill/>
          <a:ln/>
        </p:spPr>
        <p:txBody>
          <a:bodyPr wrap="square" lIns="0" tIns="0" rIns="0" bIns="0" rtlCol="0" anchor="t"/>
          <a:lstStyle/>
          <a:p>
            <a:pPr indent="0" marL="0">
              <a:buNone/>
            </a:pPr>
            <a:r>
              <a:rPr lang="en-US" sz="1300" b="1" dirty="0">
                <a:solidFill>
                  <a:srgbClr val="C9D5EE"/>
                </a:solidFill>
                <a:latin typeface="Arial" pitchFamily="34" charset="0"/>
                <a:ea typeface="Arial" pitchFamily="34" charset="-122"/>
                <a:cs typeface="Arial" pitchFamily="34" charset="-120"/>
              </a:rPr>
              <a:t>05  </a:t>
            </a:r>
            <a:pPr indent="0" marL="0">
              <a:buNone/>
            </a:pPr>
            <a:r>
              <a:rPr lang="en-US" sz="1050" b="1" dirty="0">
                <a:solidFill>
                  <a:srgbClr val="C9D5EE"/>
                </a:solidFill>
                <a:latin typeface="Arial" pitchFamily="34" charset="0"/>
                <a:ea typeface="Arial" pitchFamily="34" charset="-122"/>
                <a:cs typeface="Arial" pitchFamily="34" charset="-120"/>
              </a:rPr>
              <a:t>2:13–17</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FFFFFF"/>
                </a:solidFill>
                <a:latin typeface="Arial" pitchFamily="34" charset="0"/>
                <a:ea typeface="Arial" pitchFamily="34" charset="-122"/>
                <a:cs typeface="Arial" pitchFamily="34" charset="-120"/>
              </a:rPr>
              <a:t>The Day of the Lord and Believers</a:t>
            </a:r>
            <a:endParaRPr lang="en-US" sz="1300" dirty="0"/>
          </a:p>
        </p:txBody>
      </p:sp>
      <p:sp>
        <p:nvSpPr>
          <p:cNvPr id="15" name="Shape 12"/>
          <p:cNvSpPr/>
          <p:nvPr/>
        </p:nvSpPr>
        <p:spPr>
          <a:xfrm>
            <a:off x="2548890" y="2761488"/>
            <a:ext cx="1954530" cy="1371600"/>
          </a:xfrm>
          <a:prstGeom prst="rect">
            <a:avLst/>
          </a:prstGeom>
          <a:solidFill>
            <a:srgbClr val="F2F6FC"/>
          </a:solidFill>
          <a:ln w="9525">
            <a:solidFill>
              <a:srgbClr val="D5DCEA"/>
            </a:solidFill>
            <a:prstDash val="solid"/>
          </a:ln>
        </p:spPr>
      </p:sp>
      <p:sp>
        <p:nvSpPr>
          <p:cNvPr id="16" name="Text 13"/>
          <p:cNvSpPr/>
          <p:nvPr/>
        </p:nvSpPr>
        <p:spPr>
          <a:xfrm>
            <a:off x="2658618" y="2871216"/>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06  </a:t>
            </a:r>
            <a:pPr indent="0" marL="0">
              <a:buNone/>
            </a:pPr>
            <a:r>
              <a:rPr lang="en-US" sz="1050" b="1" dirty="0">
                <a:solidFill>
                  <a:srgbClr val="595959"/>
                </a:solidFill>
                <a:latin typeface="Arial" pitchFamily="34" charset="0"/>
                <a:ea typeface="Arial" pitchFamily="34" charset="-122"/>
                <a:cs typeface="Arial" pitchFamily="34" charset="-120"/>
              </a:rPr>
              <a:t>3:1–12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Serving While Waiting</a:t>
            </a:r>
            <a:endParaRPr lang="en-US" sz="1300" dirty="0"/>
          </a:p>
        </p:txBody>
      </p:sp>
      <p:sp>
        <p:nvSpPr>
          <p:cNvPr id="17" name="Shape 14"/>
          <p:cNvSpPr/>
          <p:nvPr/>
        </p:nvSpPr>
        <p:spPr>
          <a:xfrm>
            <a:off x="4640580" y="2761488"/>
            <a:ext cx="1954530" cy="1371600"/>
          </a:xfrm>
          <a:prstGeom prst="rect">
            <a:avLst/>
          </a:prstGeom>
          <a:solidFill>
            <a:srgbClr val="F2F6FC"/>
          </a:solidFill>
          <a:ln w="9525">
            <a:solidFill>
              <a:srgbClr val="D5DCEA"/>
            </a:solidFill>
            <a:prstDash val="solid"/>
          </a:ln>
        </p:spPr>
      </p:sp>
      <p:sp>
        <p:nvSpPr>
          <p:cNvPr id="18" name="Text 15"/>
          <p:cNvSpPr/>
          <p:nvPr/>
        </p:nvSpPr>
        <p:spPr>
          <a:xfrm>
            <a:off x="4750308" y="2871216"/>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07  </a:t>
            </a:r>
            <a:pPr indent="0" marL="0">
              <a:buNone/>
            </a:pPr>
            <a:r>
              <a:rPr lang="en-US" sz="1050" b="1" dirty="0">
                <a:solidFill>
                  <a:srgbClr val="595959"/>
                </a:solidFill>
                <a:latin typeface="Arial" pitchFamily="34" charset="0"/>
                <a:ea typeface="Arial" pitchFamily="34" charset="-122"/>
                <a:cs typeface="Arial" pitchFamily="34" charset="-120"/>
              </a:rPr>
              <a:t>3:13–18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My Brother’s Keeper</a:t>
            </a:r>
            <a:endParaRPr lang="en-US" sz="1300" dirty="0"/>
          </a:p>
        </p:txBody>
      </p:sp>
      <p:sp>
        <p:nvSpPr>
          <p:cNvPr id="19" name="Shape 16"/>
          <p:cNvSpPr/>
          <p:nvPr/>
        </p:nvSpPr>
        <p:spPr>
          <a:xfrm>
            <a:off x="457200" y="4224528"/>
            <a:ext cx="8229600" cy="411480"/>
          </a:xfrm>
          <a:prstGeom prst="roundRect">
            <a:avLst>
              <a:gd name="adj" fmla="val 13333"/>
            </a:avLst>
          </a:prstGeom>
          <a:solidFill>
            <a:srgbClr val="1F3864"/>
          </a:solidFill>
          <a:ln w="12700">
            <a:solidFill>
              <a:srgbClr val="1F3864"/>
            </a:solidFill>
            <a:prstDash val="solid"/>
          </a:ln>
        </p:spPr>
      </p:sp>
      <p:sp>
        <p:nvSpPr>
          <p:cNvPr id="20" name="Text 17"/>
          <p:cNvSpPr/>
          <p:nvPr/>
        </p:nvSpPr>
        <p:spPr>
          <a:xfrm>
            <a:off x="621792" y="4224528"/>
            <a:ext cx="7900416" cy="411480"/>
          </a:xfrm>
          <a:prstGeom prst="rect">
            <a:avLst/>
          </a:prstGeom>
          <a:noFill/>
          <a:ln/>
        </p:spPr>
        <p:txBody>
          <a:bodyPr wrap="square" lIns="0" tIns="0" rIns="0" bIns="0" rtlCol="0" anchor="ctr"/>
          <a:lstStyle/>
          <a:p>
            <a:pPr indent="0" marL="0">
              <a:buNone/>
            </a:pPr>
            <a:r>
              <a:rPr lang="en-US" sz="1100" b="1" dirty="0">
                <a:solidFill>
                  <a:srgbClr val="C9D5EE"/>
                </a:solidFill>
                <a:latin typeface="Arial" pitchFamily="34" charset="0"/>
                <a:ea typeface="Arial" pitchFamily="34" charset="-122"/>
                <a:cs typeface="Arial" pitchFamily="34" charset="-120"/>
              </a:rPr>
              <a:t>Grace and peace frame the letter (1:2; 3:16–18):  </a:t>
            </a:r>
            <a:pPr indent="0" marL="0">
              <a:buNone/>
            </a:pPr>
            <a:r>
              <a:rPr lang="en-US" sz="1100" dirty="0">
                <a:solidFill>
                  <a:srgbClr val="FFFFFF"/>
                </a:solidFill>
                <a:latin typeface="Arial" pitchFamily="34" charset="0"/>
                <a:ea typeface="Arial" pitchFamily="34" charset="-122"/>
                <a:cs typeface="Arial" pitchFamily="34" charset="-120"/>
              </a:rPr>
              <a:t>persecution in chapter 1, prophecy in chapter 2, correction in chapter 3.</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Their position — 2:13–14</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2:13–14 · I.A–D</a:t>
            </a:r>
            <a:endParaRPr lang="en-US" sz="1200" dirty="0"/>
          </a:p>
        </p:txBody>
      </p:sp>
      <p:sp>
        <p:nvSpPr>
          <p:cNvPr id="5" name="Shape 2"/>
          <p:cNvSpPr/>
          <p:nvPr/>
        </p:nvSpPr>
        <p:spPr>
          <a:xfrm>
            <a:off x="457200" y="1188720"/>
            <a:ext cx="1783080" cy="566928"/>
          </a:xfrm>
          <a:prstGeom prst="rect">
            <a:avLst/>
          </a:prstGeom>
          <a:solidFill>
            <a:srgbClr val="2E5496"/>
          </a:solidFill>
          <a:ln w="12700">
            <a:solidFill>
              <a:srgbClr val="2E5496"/>
            </a:solidFill>
            <a:prstDash val="solid"/>
          </a:ln>
        </p:spPr>
      </p:sp>
      <p:sp>
        <p:nvSpPr>
          <p:cNvPr id="6" name="Text 3"/>
          <p:cNvSpPr/>
          <p:nvPr/>
        </p:nvSpPr>
        <p:spPr>
          <a:xfrm>
            <a:off x="548640" y="1234440"/>
            <a:ext cx="16002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Situation · 13a</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ἀγαπάω</a:t>
            </a:r>
            <a:pPr indent="0" marL="0">
              <a:buNone/>
            </a:pPr>
            <a:r>
              <a:rPr lang="en-US" sz="850" dirty="0">
                <a:solidFill>
                  <a:srgbClr val="DCE4F2"/>
                </a:solidFill>
                <a:latin typeface="Arial" pitchFamily="34" charset="0"/>
                <a:ea typeface="Arial" pitchFamily="34" charset="-122"/>
                <a:cs typeface="Arial" pitchFamily="34" charset="-120"/>
              </a:rPr>
              <a:t>  beloved</a:t>
            </a:r>
            <a:endParaRPr lang="en-US" sz="1200" dirty="0"/>
          </a:p>
        </p:txBody>
      </p:sp>
      <p:sp>
        <p:nvSpPr>
          <p:cNvPr id="7" name="Shape 4"/>
          <p:cNvSpPr/>
          <p:nvPr/>
        </p:nvSpPr>
        <p:spPr>
          <a:xfrm>
            <a:off x="457200" y="1755648"/>
            <a:ext cx="1783080" cy="1810512"/>
          </a:xfrm>
          <a:prstGeom prst="rect">
            <a:avLst/>
          </a:prstGeom>
          <a:solidFill>
            <a:srgbClr val="F2F6FC"/>
          </a:solidFill>
          <a:ln w="9525">
            <a:solidFill>
              <a:srgbClr val="D5DCEA"/>
            </a:solidFill>
            <a:prstDash val="solid"/>
          </a:ln>
        </p:spPr>
      </p:sp>
      <p:sp>
        <p:nvSpPr>
          <p:cNvPr id="8" name="Text 5"/>
          <p:cNvSpPr/>
          <p:nvPr/>
        </p:nvSpPr>
        <p:spPr>
          <a:xfrm>
            <a:off x="548640" y="1828800"/>
            <a:ext cx="1600200" cy="1682496"/>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Brothers of Paul</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Beloved by the Lord</a:t>
            </a:r>
            <a:endParaRPr lang="en-US" sz="1150" dirty="0"/>
          </a:p>
        </p:txBody>
      </p:sp>
      <p:sp>
        <p:nvSpPr>
          <p:cNvPr id="9" name="Shape 6"/>
          <p:cNvSpPr/>
          <p:nvPr/>
        </p:nvSpPr>
        <p:spPr>
          <a:xfrm>
            <a:off x="2304288" y="2258568"/>
            <a:ext cx="237744" cy="237744"/>
          </a:xfrm>
          <a:prstGeom prst="rightArrow">
            <a:avLst/>
          </a:prstGeom>
          <a:solidFill>
            <a:srgbClr val="6B7280"/>
          </a:solidFill>
          <a:ln w="12700">
            <a:solidFill>
              <a:srgbClr val="6B7280"/>
            </a:solidFill>
            <a:prstDash val="solid"/>
          </a:ln>
        </p:spPr>
      </p:sp>
      <p:sp>
        <p:nvSpPr>
          <p:cNvPr id="10" name="Shape 7"/>
          <p:cNvSpPr/>
          <p:nvPr/>
        </p:nvSpPr>
        <p:spPr>
          <a:xfrm>
            <a:off x="2606040" y="1188720"/>
            <a:ext cx="1783080" cy="566928"/>
          </a:xfrm>
          <a:prstGeom prst="rect">
            <a:avLst/>
          </a:prstGeom>
          <a:solidFill>
            <a:srgbClr val="2E5496"/>
          </a:solidFill>
          <a:ln w="12700">
            <a:solidFill>
              <a:srgbClr val="2E5496"/>
            </a:solidFill>
            <a:prstDash val="solid"/>
          </a:ln>
        </p:spPr>
      </p:sp>
      <p:sp>
        <p:nvSpPr>
          <p:cNvPr id="11" name="Text 8"/>
          <p:cNvSpPr/>
          <p:nvPr/>
        </p:nvSpPr>
        <p:spPr>
          <a:xfrm>
            <a:off x="2697480" y="1234440"/>
            <a:ext cx="16002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Selection · 13b</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αἱρέομαι</a:t>
            </a:r>
            <a:pPr indent="0" marL="0">
              <a:buNone/>
            </a:pPr>
            <a:r>
              <a:rPr lang="en-US" sz="850" dirty="0">
                <a:solidFill>
                  <a:srgbClr val="DCE4F2"/>
                </a:solidFill>
                <a:latin typeface="Arial" pitchFamily="34" charset="0"/>
                <a:ea typeface="Arial" pitchFamily="34" charset="-122"/>
                <a:cs typeface="Arial" pitchFamily="34" charset="-120"/>
              </a:rPr>
              <a:t>  chose</a:t>
            </a:r>
            <a:endParaRPr lang="en-US" sz="1200" dirty="0"/>
          </a:p>
        </p:txBody>
      </p:sp>
      <p:sp>
        <p:nvSpPr>
          <p:cNvPr id="12" name="Shape 9"/>
          <p:cNvSpPr/>
          <p:nvPr/>
        </p:nvSpPr>
        <p:spPr>
          <a:xfrm>
            <a:off x="2606040" y="1755648"/>
            <a:ext cx="1783080" cy="1810512"/>
          </a:xfrm>
          <a:prstGeom prst="rect">
            <a:avLst/>
          </a:prstGeom>
          <a:solidFill>
            <a:srgbClr val="F2F6FC"/>
          </a:solidFill>
          <a:ln w="9525">
            <a:solidFill>
              <a:srgbClr val="D5DCEA"/>
            </a:solidFill>
            <a:prstDash val="solid"/>
          </a:ln>
        </p:spPr>
      </p:sp>
      <p:sp>
        <p:nvSpPr>
          <p:cNvPr id="13" name="Text 10"/>
          <p:cNvSpPr/>
          <p:nvPr/>
        </p:nvSpPr>
        <p:spPr>
          <a:xfrm>
            <a:off x="2697480" y="1828800"/>
            <a:ext cx="1600200" cy="1682496"/>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The Father chose</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The Spirit set apart</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They believed the truth</a:t>
            </a:r>
            <a:endParaRPr lang="en-US" sz="1150" dirty="0"/>
          </a:p>
        </p:txBody>
      </p:sp>
      <p:sp>
        <p:nvSpPr>
          <p:cNvPr id="14" name="Shape 11"/>
          <p:cNvSpPr/>
          <p:nvPr/>
        </p:nvSpPr>
        <p:spPr>
          <a:xfrm>
            <a:off x="4453128" y="2258568"/>
            <a:ext cx="237744" cy="237744"/>
          </a:xfrm>
          <a:prstGeom prst="rightArrow">
            <a:avLst/>
          </a:prstGeom>
          <a:solidFill>
            <a:srgbClr val="6B7280"/>
          </a:solidFill>
          <a:ln w="12700">
            <a:solidFill>
              <a:srgbClr val="6B7280"/>
            </a:solidFill>
            <a:prstDash val="solid"/>
          </a:ln>
        </p:spPr>
      </p:sp>
      <p:sp>
        <p:nvSpPr>
          <p:cNvPr id="15" name="Shape 12"/>
          <p:cNvSpPr/>
          <p:nvPr/>
        </p:nvSpPr>
        <p:spPr>
          <a:xfrm>
            <a:off x="4754880" y="1188720"/>
            <a:ext cx="1783080" cy="566928"/>
          </a:xfrm>
          <a:prstGeom prst="rect">
            <a:avLst/>
          </a:prstGeom>
          <a:solidFill>
            <a:srgbClr val="2E5496"/>
          </a:solidFill>
          <a:ln w="12700">
            <a:solidFill>
              <a:srgbClr val="2E5496"/>
            </a:solidFill>
            <a:prstDash val="solid"/>
          </a:ln>
        </p:spPr>
      </p:sp>
      <p:sp>
        <p:nvSpPr>
          <p:cNvPr id="16" name="Text 13"/>
          <p:cNvSpPr/>
          <p:nvPr/>
        </p:nvSpPr>
        <p:spPr>
          <a:xfrm>
            <a:off x="4846320" y="1234440"/>
            <a:ext cx="16002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Salvation · 13c</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σωτηρία</a:t>
            </a:r>
            <a:pPr indent="0" marL="0">
              <a:buNone/>
            </a:pPr>
            <a:r>
              <a:rPr lang="en-US" sz="850" dirty="0">
                <a:solidFill>
                  <a:srgbClr val="DCE4F2"/>
                </a:solidFill>
                <a:latin typeface="Arial" pitchFamily="34" charset="0"/>
                <a:ea typeface="Arial" pitchFamily="34" charset="-122"/>
                <a:cs typeface="Arial" pitchFamily="34" charset="-120"/>
              </a:rPr>
              <a:t>  deliverance</a:t>
            </a:r>
            <a:endParaRPr lang="en-US" sz="1200" dirty="0"/>
          </a:p>
        </p:txBody>
      </p:sp>
      <p:sp>
        <p:nvSpPr>
          <p:cNvPr id="17" name="Shape 14"/>
          <p:cNvSpPr/>
          <p:nvPr/>
        </p:nvSpPr>
        <p:spPr>
          <a:xfrm>
            <a:off x="4754880" y="1755648"/>
            <a:ext cx="1783080" cy="1810512"/>
          </a:xfrm>
          <a:prstGeom prst="rect">
            <a:avLst/>
          </a:prstGeom>
          <a:solidFill>
            <a:srgbClr val="F2F6FC"/>
          </a:solidFill>
          <a:ln w="9525">
            <a:solidFill>
              <a:srgbClr val="D5DCEA"/>
            </a:solidFill>
            <a:prstDash val="solid"/>
          </a:ln>
        </p:spPr>
      </p:sp>
      <p:sp>
        <p:nvSpPr>
          <p:cNvPr id="18" name="Text 15"/>
          <p:cNvSpPr/>
          <p:nvPr/>
        </p:nvSpPr>
        <p:spPr>
          <a:xfrm>
            <a:off x="4846320" y="1828800"/>
            <a:ext cx="1600200" cy="1682496"/>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Deliverance — here, from the wrath of the Tribulation</a:t>
            </a:r>
            <a:endParaRPr lang="en-US" sz="1150" dirty="0"/>
          </a:p>
        </p:txBody>
      </p:sp>
      <p:sp>
        <p:nvSpPr>
          <p:cNvPr id="19" name="Shape 16"/>
          <p:cNvSpPr/>
          <p:nvPr/>
        </p:nvSpPr>
        <p:spPr>
          <a:xfrm>
            <a:off x="6601968" y="2258568"/>
            <a:ext cx="237744" cy="237744"/>
          </a:xfrm>
          <a:prstGeom prst="rightArrow">
            <a:avLst/>
          </a:prstGeom>
          <a:solidFill>
            <a:srgbClr val="6B7280"/>
          </a:solidFill>
          <a:ln w="12700">
            <a:solidFill>
              <a:srgbClr val="6B7280"/>
            </a:solidFill>
            <a:prstDash val="solid"/>
          </a:ln>
        </p:spPr>
      </p:sp>
      <p:sp>
        <p:nvSpPr>
          <p:cNvPr id="20" name="Shape 17"/>
          <p:cNvSpPr/>
          <p:nvPr/>
        </p:nvSpPr>
        <p:spPr>
          <a:xfrm>
            <a:off x="6903720" y="1188720"/>
            <a:ext cx="1783080" cy="566928"/>
          </a:xfrm>
          <a:prstGeom prst="rect">
            <a:avLst/>
          </a:prstGeom>
          <a:solidFill>
            <a:srgbClr val="375623"/>
          </a:solidFill>
          <a:ln w="12700">
            <a:solidFill>
              <a:srgbClr val="375623"/>
            </a:solidFill>
            <a:prstDash val="solid"/>
          </a:ln>
        </p:spPr>
      </p:sp>
      <p:sp>
        <p:nvSpPr>
          <p:cNvPr id="21" name="Text 18"/>
          <p:cNvSpPr/>
          <p:nvPr/>
        </p:nvSpPr>
        <p:spPr>
          <a:xfrm>
            <a:off x="6995160" y="1234440"/>
            <a:ext cx="16002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Glorification · 14</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περιποίησις</a:t>
            </a:r>
            <a:pPr indent="0" marL="0">
              <a:buNone/>
            </a:pPr>
            <a:r>
              <a:rPr lang="en-US" sz="850" dirty="0">
                <a:solidFill>
                  <a:srgbClr val="DCE4F2"/>
                </a:solidFill>
                <a:latin typeface="Arial" pitchFamily="34" charset="0"/>
                <a:ea typeface="Arial" pitchFamily="34" charset="-122"/>
                <a:cs typeface="Arial" pitchFamily="34" charset="-120"/>
              </a:rPr>
              <a:t>  obtaining</a:t>
            </a:r>
            <a:endParaRPr lang="en-US" sz="1200" dirty="0"/>
          </a:p>
        </p:txBody>
      </p:sp>
      <p:sp>
        <p:nvSpPr>
          <p:cNvPr id="22" name="Shape 19"/>
          <p:cNvSpPr/>
          <p:nvPr/>
        </p:nvSpPr>
        <p:spPr>
          <a:xfrm>
            <a:off x="6903720" y="1755648"/>
            <a:ext cx="1783080" cy="1810512"/>
          </a:xfrm>
          <a:prstGeom prst="rect">
            <a:avLst/>
          </a:prstGeom>
          <a:solidFill>
            <a:srgbClr val="F2F6FC"/>
          </a:solidFill>
          <a:ln w="9525">
            <a:solidFill>
              <a:srgbClr val="D5DCEA"/>
            </a:solidFill>
            <a:prstDash val="solid"/>
          </a:ln>
        </p:spPr>
      </p:sp>
      <p:sp>
        <p:nvSpPr>
          <p:cNvPr id="23" name="Text 20"/>
          <p:cNvSpPr/>
          <p:nvPr/>
        </p:nvSpPr>
        <p:spPr>
          <a:xfrm>
            <a:off x="6995160" y="1828800"/>
            <a:ext cx="1600200" cy="1682496"/>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Called by “our gospel”</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To share Christ’s glory</a:t>
            </a:r>
            <a:endParaRPr lang="en-US" sz="1150" dirty="0"/>
          </a:p>
        </p:txBody>
      </p:sp>
      <p:sp>
        <p:nvSpPr>
          <p:cNvPr id="24" name="Shape 21"/>
          <p:cNvSpPr/>
          <p:nvPr/>
        </p:nvSpPr>
        <p:spPr>
          <a:xfrm>
            <a:off x="457200" y="3749040"/>
            <a:ext cx="8229600" cy="868680"/>
          </a:xfrm>
          <a:prstGeom prst="roundRect">
            <a:avLst>
              <a:gd name="adj" fmla="val 6316"/>
            </a:avLst>
          </a:prstGeom>
          <a:solidFill>
            <a:srgbClr val="1F3864"/>
          </a:solidFill>
          <a:ln w="12700">
            <a:solidFill>
              <a:srgbClr val="1F3864"/>
            </a:solidFill>
            <a:prstDash val="solid"/>
          </a:ln>
        </p:spPr>
      </p:sp>
      <p:sp>
        <p:nvSpPr>
          <p:cNvPr id="25" name="Text 22"/>
          <p:cNvSpPr/>
          <p:nvPr/>
        </p:nvSpPr>
        <p:spPr>
          <a:xfrm>
            <a:off x="621792" y="3749040"/>
            <a:ext cx="7900416" cy="86868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“But” (2:13) — they are going to be in it; not you. Verse 12: condemned who did not believe the truth. Verse 13: you believed the truth.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“God … chose you” — which word?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2:13b · I.B.1 — The Father chose</a:t>
            </a:r>
            <a:endParaRPr lang="en-US" sz="1200" dirty="0"/>
          </a:p>
        </p:txBody>
      </p:sp>
      <p:sp>
        <p:nvSpPr>
          <p:cNvPr id="5" name="Shape 2"/>
          <p:cNvSpPr/>
          <p:nvPr/>
        </p:nvSpPr>
        <p:spPr>
          <a:xfrm>
            <a:off x="457200" y="1188720"/>
            <a:ext cx="3931920" cy="566928"/>
          </a:xfrm>
          <a:prstGeom prst="rect">
            <a:avLst/>
          </a:prstGeom>
          <a:solidFill>
            <a:srgbClr val="2E5496"/>
          </a:solidFill>
          <a:ln w="12700">
            <a:solidFill>
              <a:srgbClr val="2E5496"/>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2 Thess 2:13 — haireomai</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αἱρέομαι</a:t>
            </a:r>
            <a:pPr indent="0" marL="0">
              <a:buNone/>
            </a:pPr>
            <a:r>
              <a:rPr lang="en-US" sz="850" dirty="0">
                <a:solidFill>
                  <a:srgbClr val="DCE4F2"/>
                </a:solidFill>
                <a:latin typeface="Arial" pitchFamily="34" charset="0"/>
                <a:ea typeface="Arial" pitchFamily="34" charset="-122"/>
                <a:cs typeface="Arial" pitchFamily="34" charset="-120"/>
              </a:rPr>
              <a:t>  to pick, choose · G138</a:t>
            </a:r>
            <a:endParaRPr lang="en-US" sz="1200" dirty="0"/>
          </a:p>
        </p:txBody>
      </p:sp>
      <p:sp>
        <p:nvSpPr>
          <p:cNvPr id="7" name="Shape 4"/>
          <p:cNvSpPr/>
          <p:nvPr/>
        </p:nvSpPr>
        <p:spPr>
          <a:xfrm>
            <a:off x="457200" y="1755648"/>
            <a:ext cx="3931920" cy="1947672"/>
          </a:xfrm>
          <a:prstGeom prst="rect">
            <a:avLst/>
          </a:prstGeom>
          <a:solidFill>
            <a:srgbClr val="F2F6FC"/>
          </a:solidFill>
          <a:ln w="9525">
            <a:solidFill>
              <a:srgbClr val="D5DCEA"/>
            </a:solidFill>
            <a:prstDash val="solid"/>
          </a:ln>
        </p:spPr>
      </p:sp>
      <p:sp>
        <p:nvSpPr>
          <p:cNvPr id="8" name="Text 5"/>
          <p:cNvSpPr/>
          <p:nvPr/>
        </p:nvSpPr>
        <p:spPr>
          <a:xfrm>
            <a:off x="548640" y="1828800"/>
            <a:ext cx="374904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Used of picking fruit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Elsewhere only Phil 1:22; Heb 11:25</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“From the beginning” of the gospel there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Chosen to escape the Tribulation</a:t>
            </a:r>
            <a:endParaRPr lang="en-US" sz="1250" dirty="0"/>
          </a:p>
        </p:txBody>
      </p:sp>
      <p:sp>
        <p:nvSpPr>
          <p:cNvPr id="9" name="Shape 6"/>
          <p:cNvSpPr/>
          <p:nvPr/>
        </p:nvSpPr>
        <p:spPr>
          <a:xfrm>
            <a:off x="4754880" y="1188720"/>
            <a:ext cx="3931920" cy="566928"/>
          </a:xfrm>
          <a:prstGeom prst="rect">
            <a:avLst/>
          </a:prstGeom>
          <a:solidFill>
            <a:srgbClr val="6B7280"/>
          </a:solidFill>
          <a:ln w="12700">
            <a:solidFill>
              <a:srgbClr val="6B7280"/>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Ephesians 1:4 — eklegomai</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ἐξελέξατο</a:t>
            </a:r>
            <a:pPr indent="0" marL="0">
              <a:buNone/>
            </a:pPr>
            <a:r>
              <a:rPr lang="en-US" sz="850" dirty="0">
                <a:solidFill>
                  <a:srgbClr val="DCE4F2"/>
                </a:solidFill>
                <a:latin typeface="Arial" pitchFamily="34" charset="0"/>
                <a:ea typeface="Arial" pitchFamily="34" charset="-122"/>
                <a:cs typeface="Arial" pitchFamily="34" charset="-120"/>
              </a:rPr>
              <a:t>  He chose us · election</a:t>
            </a:r>
            <a:endParaRPr lang="en-US" sz="1200" dirty="0"/>
          </a:p>
        </p:txBody>
      </p:sp>
      <p:sp>
        <p:nvSpPr>
          <p:cNvPr id="11" name="Shape 8"/>
          <p:cNvSpPr/>
          <p:nvPr/>
        </p:nvSpPr>
        <p:spPr>
          <a:xfrm>
            <a:off x="4754880" y="1755648"/>
            <a:ext cx="3931920" cy="194767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“Before the foundation of the world”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Choosing to eternal life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teacher still holds it firmly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 but doesn’t see it here</a:t>
            </a:r>
            <a:endParaRPr lang="en-US" sz="1250" dirty="0"/>
          </a:p>
        </p:txBody>
      </p:sp>
      <p:sp>
        <p:nvSpPr>
          <p:cNvPr id="13" name="Text 10"/>
          <p:cNvSpPr/>
          <p:nvPr/>
        </p:nvSpPr>
        <p:spPr>
          <a:xfrm>
            <a:off x="4389120" y="226314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15" name="Text 12"/>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 Father chose, the Holy Spirit conferred (“sanctification by the Spirit”), and the Thessalonians concurred (“belief in the truth”).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tenses of sanctification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2:13 · I.B.2 — “through sanctification by the Spirit”</a:t>
            </a:r>
            <a:endParaRPr lang="en-US" sz="1200" dirty="0"/>
          </a:p>
        </p:txBody>
      </p:sp>
      <p:sp>
        <p:nvSpPr>
          <p:cNvPr id="5" name="Shape 2"/>
          <p:cNvSpPr/>
          <p:nvPr/>
        </p:nvSpPr>
        <p:spPr>
          <a:xfrm>
            <a:off x="457200" y="1188720"/>
            <a:ext cx="2602992" cy="1965960"/>
          </a:xfrm>
          <a:prstGeom prst="roundRect">
            <a:avLst>
              <a:gd name="adj" fmla="val 2791"/>
            </a:avLst>
          </a:prstGeom>
          <a:solidFill>
            <a:srgbClr val="1F3864"/>
          </a:solidFill>
          <a:ln w="9525">
            <a:solidFill>
              <a:srgbClr val="1F3864"/>
            </a:solidFill>
            <a:prstDash val="solid"/>
          </a:ln>
        </p:spPr>
      </p:sp>
      <p:sp>
        <p:nvSpPr>
          <p:cNvPr id="6" name="Shape 3"/>
          <p:cNvSpPr/>
          <p:nvPr/>
        </p:nvSpPr>
        <p:spPr>
          <a:xfrm>
            <a:off x="1557528" y="1298448"/>
            <a:ext cx="402336" cy="402336"/>
          </a:xfrm>
          <a:prstGeom prst="ellipse">
            <a:avLst/>
          </a:prstGeom>
          <a:solidFill>
            <a:srgbClr val="FFFFFF"/>
          </a:solidFill>
          <a:ln w="12700">
            <a:solidFill>
              <a:srgbClr val="FFFFFF"/>
            </a:solidFill>
            <a:prstDash val="solid"/>
          </a:ln>
        </p:spPr>
      </p:sp>
      <p:sp>
        <p:nvSpPr>
          <p:cNvPr id="7" name="Text 4"/>
          <p:cNvSpPr/>
          <p:nvPr/>
        </p:nvSpPr>
        <p:spPr>
          <a:xfrm>
            <a:off x="1557528"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2456688"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Past — a position</a:t>
            </a:r>
            <a:endParaRPr lang="en-US" sz="1150" dirty="0"/>
          </a:p>
        </p:txBody>
      </p:sp>
      <p:sp>
        <p:nvSpPr>
          <p:cNvPr id="9" name="Text 6"/>
          <p:cNvSpPr/>
          <p:nvPr/>
        </p:nvSpPr>
        <p:spPr>
          <a:xfrm>
            <a:off x="530352" y="2157984"/>
            <a:ext cx="2456688" cy="61264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Set apart to God the moment we believe</a:t>
            </a:r>
            <a:endParaRPr lang="en-US" sz="1150" dirty="0"/>
          </a:p>
        </p:txBody>
      </p:sp>
      <p:sp>
        <p:nvSpPr>
          <p:cNvPr id="10" name="Text 7"/>
          <p:cNvSpPr/>
          <p:nvPr/>
        </p:nvSpPr>
        <p:spPr>
          <a:xfrm>
            <a:off x="530352" y="2770632"/>
            <a:ext cx="2456688"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Paul’s main point here</a:t>
            </a:r>
            <a:endParaRPr lang="en-US" sz="900" dirty="0"/>
          </a:p>
        </p:txBody>
      </p:sp>
      <p:sp>
        <p:nvSpPr>
          <p:cNvPr id="11" name="Shape 8"/>
          <p:cNvSpPr/>
          <p:nvPr/>
        </p:nvSpPr>
        <p:spPr>
          <a:xfrm>
            <a:off x="3064764" y="2052828"/>
            <a:ext cx="201168" cy="237744"/>
          </a:xfrm>
          <a:prstGeom prst="rightArrow">
            <a:avLst/>
          </a:prstGeom>
          <a:solidFill>
            <a:srgbClr val="6B7280"/>
          </a:solidFill>
          <a:ln w="12700">
            <a:solidFill>
              <a:srgbClr val="6B7280"/>
            </a:solidFill>
            <a:prstDash val="solid"/>
          </a:ln>
        </p:spPr>
      </p:sp>
      <p:sp>
        <p:nvSpPr>
          <p:cNvPr id="12" name="Shape 9"/>
          <p:cNvSpPr/>
          <p:nvPr/>
        </p:nvSpPr>
        <p:spPr>
          <a:xfrm>
            <a:off x="3270504" y="1188720"/>
            <a:ext cx="2602992" cy="1965960"/>
          </a:xfrm>
          <a:prstGeom prst="roundRect">
            <a:avLst>
              <a:gd name="adj" fmla="val 2791"/>
            </a:avLst>
          </a:prstGeom>
          <a:solidFill>
            <a:srgbClr val="F2F6FC"/>
          </a:solidFill>
          <a:ln w="9525">
            <a:solidFill>
              <a:srgbClr val="D5DCEA"/>
            </a:solidFill>
            <a:prstDash val="solid"/>
          </a:ln>
        </p:spPr>
      </p:sp>
      <p:sp>
        <p:nvSpPr>
          <p:cNvPr id="13" name="Shape 10"/>
          <p:cNvSpPr/>
          <p:nvPr/>
        </p:nvSpPr>
        <p:spPr>
          <a:xfrm>
            <a:off x="4370832"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3343656"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Present — a process</a:t>
            </a:r>
            <a:endParaRPr lang="en-US" sz="1150" dirty="0"/>
          </a:p>
        </p:txBody>
      </p:sp>
      <p:sp>
        <p:nvSpPr>
          <p:cNvPr id="16" name="Text 13"/>
          <p:cNvSpPr/>
          <p:nvPr/>
        </p:nvSpPr>
        <p:spPr>
          <a:xfrm>
            <a:off x="3343656" y="2157984"/>
            <a:ext cx="2456688" cy="6126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Transformed by the Word and the Spirit</a:t>
            </a:r>
            <a:endParaRPr lang="en-US" sz="1150" dirty="0"/>
          </a:p>
        </p:txBody>
      </p:sp>
      <p:sp>
        <p:nvSpPr>
          <p:cNvPr id="17" name="Text 14"/>
          <p:cNvSpPr/>
          <p:nvPr/>
        </p:nvSpPr>
        <p:spPr>
          <a:xfrm>
            <a:off x="3343656" y="277063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John 17:17 · 2 Cor 3:18</a:t>
            </a:r>
            <a:endParaRPr lang="en-US" sz="900" dirty="0"/>
          </a:p>
        </p:txBody>
      </p:sp>
      <p:sp>
        <p:nvSpPr>
          <p:cNvPr id="18" name="Shape 15"/>
          <p:cNvSpPr/>
          <p:nvPr/>
        </p:nvSpPr>
        <p:spPr>
          <a:xfrm>
            <a:off x="5878068" y="2052828"/>
            <a:ext cx="201168" cy="237744"/>
          </a:xfrm>
          <a:prstGeom prst="rightArrow">
            <a:avLst/>
          </a:prstGeom>
          <a:solidFill>
            <a:srgbClr val="6B7280"/>
          </a:solidFill>
          <a:ln w="12700">
            <a:solidFill>
              <a:srgbClr val="6B7280"/>
            </a:solidFill>
            <a:prstDash val="solid"/>
          </a:ln>
        </p:spPr>
      </p:sp>
      <p:sp>
        <p:nvSpPr>
          <p:cNvPr id="19" name="Shape 16"/>
          <p:cNvSpPr/>
          <p:nvPr/>
        </p:nvSpPr>
        <p:spPr>
          <a:xfrm>
            <a:off x="6083808" y="1188720"/>
            <a:ext cx="2602992" cy="1965960"/>
          </a:xfrm>
          <a:prstGeom prst="roundRect">
            <a:avLst>
              <a:gd name="adj" fmla="val 2791"/>
            </a:avLst>
          </a:prstGeom>
          <a:solidFill>
            <a:srgbClr val="F2F6FC"/>
          </a:solidFill>
          <a:ln w="9525">
            <a:solidFill>
              <a:srgbClr val="D5DCEA"/>
            </a:solidFill>
            <a:prstDash val="solid"/>
          </a:ln>
        </p:spPr>
      </p:sp>
      <p:sp>
        <p:nvSpPr>
          <p:cNvPr id="20" name="Shape 17"/>
          <p:cNvSpPr/>
          <p:nvPr/>
        </p:nvSpPr>
        <p:spPr>
          <a:xfrm>
            <a:off x="7184136"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7184136"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6156960"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Future — a prospect</a:t>
            </a:r>
            <a:endParaRPr lang="en-US" sz="1150" dirty="0"/>
          </a:p>
        </p:txBody>
      </p:sp>
      <p:sp>
        <p:nvSpPr>
          <p:cNvPr id="23" name="Text 20"/>
          <p:cNvSpPr/>
          <p:nvPr/>
        </p:nvSpPr>
        <p:spPr>
          <a:xfrm>
            <a:off x="6156960" y="2157984"/>
            <a:ext cx="2456688" cy="6126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“We shall be like Him”</a:t>
            </a:r>
            <a:endParaRPr lang="en-US" sz="1150" dirty="0"/>
          </a:p>
        </p:txBody>
      </p:sp>
      <p:sp>
        <p:nvSpPr>
          <p:cNvPr id="24" name="Text 21"/>
          <p:cNvSpPr/>
          <p:nvPr/>
        </p:nvSpPr>
        <p:spPr>
          <a:xfrm>
            <a:off x="6156960" y="277063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1 John 3:2</a:t>
            </a:r>
            <a:endParaRPr lang="en-US" sz="900" dirty="0"/>
          </a:p>
        </p:txBody>
      </p:sp>
      <p:sp>
        <p:nvSpPr>
          <p:cNvPr id="25" name="Shape 22"/>
          <p:cNvSpPr/>
          <p:nvPr/>
        </p:nvSpPr>
        <p:spPr>
          <a:xfrm>
            <a:off x="457200" y="3383280"/>
            <a:ext cx="8229600" cy="594360"/>
          </a:xfrm>
          <a:prstGeom prst="roundRect">
            <a:avLst>
              <a:gd name="adj" fmla="val 9231"/>
            </a:avLst>
          </a:prstGeom>
          <a:solidFill>
            <a:srgbClr val="1F3864"/>
          </a:solidFill>
          <a:ln w="12700">
            <a:solidFill>
              <a:srgbClr val="1F3864"/>
            </a:solidFill>
            <a:prstDash val="solid"/>
          </a:ln>
        </p:spPr>
      </p:sp>
      <p:sp>
        <p:nvSpPr>
          <p:cNvPr id="26" name="Text 23"/>
          <p:cNvSpPr/>
          <p:nvPr/>
        </p:nvSpPr>
        <p:spPr>
          <a:xfrm>
            <a:off x="621792" y="3383280"/>
            <a:ext cx="7900416" cy="594360"/>
          </a:xfrm>
          <a:prstGeom prst="rect">
            <a:avLst/>
          </a:prstGeom>
          <a:noFill/>
          <a:ln/>
        </p:spPr>
        <p:txBody>
          <a:bodyPr wrap="square" lIns="0" tIns="0" rIns="0" bIns="0" rtlCol="0" anchor="ctr"/>
          <a:lstStyle/>
          <a:p>
            <a:pPr indent="0" marL="0">
              <a:buNone/>
            </a:pPr>
            <a:r>
              <a:rPr lang="en-US" sz="1400" b="1" dirty="0">
                <a:solidFill>
                  <a:srgbClr val="E4D6F7"/>
                </a:solidFill>
                <a:latin typeface="Arial" pitchFamily="34" charset="0"/>
                <a:ea typeface="Arial" pitchFamily="34" charset="-122"/>
                <a:cs typeface="Arial" pitchFamily="34" charset="-120"/>
              </a:rPr>
              <a:t>ἁγιασμός  </a:t>
            </a:r>
            <a:pPr indent="0" marL="0">
              <a:buNone/>
            </a:pPr>
            <a:r>
              <a:rPr lang="en-US" sz="1150" dirty="0">
                <a:solidFill>
                  <a:srgbClr val="FFFFFF"/>
                </a:solidFill>
                <a:latin typeface="Arial" pitchFamily="34" charset="0"/>
                <a:ea typeface="Arial" pitchFamily="34" charset="-122"/>
                <a:cs typeface="Arial" pitchFamily="34" charset="-120"/>
              </a:rPr>
              <a:t>sanctification — here mainly the positional setting apart by the Spirit</a:t>
            </a:r>
            <a:endParaRPr lang="en-US" sz="1150" dirty="0"/>
          </a:p>
        </p:txBody>
      </p:sp>
      <p:sp>
        <p:nvSpPr>
          <p:cNvPr id="27" name="Shape 24"/>
          <p:cNvSpPr/>
          <p:nvPr/>
        </p:nvSpPr>
        <p:spPr>
          <a:xfrm>
            <a:off x="457200" y="4114800"/>
            <a:ext cx="8229600" cy="502920"/>
          </a:xfrm>
          <a:prstGeom prst="rect">
            <a:avLst/>
          </a:prstGeom>
          <a:solidFill>
            <a:srgbClr val="375623"/>
          </a:solidFill>
          <a:ln w="12700">
            <a:solidFill>
              <a:srgbClr val="375623"/>
            </a:solidFill>
            <a:prstDash val="solid"/>
          </a:ln>
        </p:spPr>
      </p:sp>
      <p:sp>
        <p:nvSpPr>
          <p:cNvPr id="28" name="Text 25"/>
          <p:cNvSpPr/>
          <p:nvPr/>
        </p:nvSpPr>
        <p:spPr>
          <a:xfrm>
            <a:off x="621792" y="4114800"/>
            <a:ext cx="7900416" cy="50292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Paul may have all three in mind — but mainly our past sanctification, which placed us into the body of Christ.</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Salvation means deliverance — from what?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2:13c · I.C — Their salvation</a:t>
            </a:r>
            <a:endParaRPr lang="en-US" sz="1200" dirty="0"/>
          </a:p>
        </p:txBody>
      </p:sp>
      <p:sp>
        <p:nvSpPr>
          <p:cNvPr id="5" name="Shape 2"/>
          <p:cNvSpPr/>
          <p:nvPr/>
        </p:nvSpPr>
        <p:spPr>
          <a:xfrm>
            <a:off x="457200" y="1188720"/>
            <a:ext cx="2615184" cy="1572768"/>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2E5496"/>
          </a:solidFill>
          <a:ln w="12700">
            <a:solidFill>
              <a:srgbClr val="2E5496"/>
            </a:solidFill>
            <a:prstDash val="solid"/>
          </a:ln>
        </p:spPr>
      </p:sp>
      <p:sp>
        <p:nvSpPr>
          <p:cNvPr id="7" name="Text 4"/>
          <p:cNvSpPr/>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1115568"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Spiritual</a:t>
            </a:r>
            <a:endParaRPr lang="en-US" sz="1200" dirty="0"/>
          </a:p>
        </p:txBody>
      </p:sp>
      <p:sp>
        <p:nvSpPr>
          <p:cNvPr id="9" name="Text 6"/>
          <p:cNvSpPr/>
          <p:nvPr/>
        </p:nvSpPr>
        <p:spPr>
          <a:xfrm>
            <a:off x="594360"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From sin’s penalty, power and presence</a:t>
            </a:r>
            <a:endParaRPr lang="en-US" sz="1200" dirty="0"/>
          </a:p>
        </p:txBody>
      </p:sp>
      <p:sp>
        <p:nvSpPr>
          <p:cNvPr id="10" name="Shape 7"/>
          <p:cNvSpPr/>
          <p:nvPr/>
        </p:nvSpPr>
        <p:spPr>
          <a:xfrm>
            <a:off x="3264408" y="1188720"/>
            <a:ext cx="2615184" cy="1572768"/>
          </a:xfrm>
          <a:prstGeom prst="rect">
            <a:avLst/>
          </a:prstGeom>
          <a:solidFill>
            <a:srgbClr val="F2F6FC"/>
          </a:solidFill>
          <a:ln w="9525">
            <a:solidFill>
              <a:srgbClr val="D5DCEA"/>
            </a:solidFill>
            <a:prstDash val="solid"/>
          </a:ln>
        </p:spPr>
      </p:sp>
      <p:sp>
        <p:nvSpPr>
          <p:cNvPr id="11" name="Shape 8"/>
          <p:cNvSpPr/>
          <p:nvPr/>
        </p:nvSpPr>
        <p:spPr>
          <a:xfrm>
            <a:off x="3401568" y="1325880"/>
            <a:ext cx="420624" cy="420624"/>
          </a:xfrm>
          <a:prstGeom prst="ellipse">
            <a:avLst/>
          </a:prstGeom>
          <a:solidFill>
            <a:srgbClr val="2E5496"/>
          </a:solidFill>
          <a:ln w="12700">
            <a:solidFill>
              <a:srgbClr val="2E5496"/>
            </a:solidFill>
            <a:prstDash val="solid"/>
          </a:ln>
        </p:spPr>
      </p:sp>
      <p:sp>
        <p:nvSpPr>
          <p:cNvPr id="12" name="Text 9"/>
          <p:cNvSpPr/>
          <p:nvPr/>
        </p:nvSpPr>
        <p:spPr>
          <a:xfrm>
            <a:off x="3401568"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p:nvPr/>
        </p:nvSpPr>
        <p:spPr>
          <a:xfrm>
            <a:off x="3922776"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Physical</a:t>
            </a:r>
            <a:endParaRPr lang="en-US" sz="1200" dirty="0"/>
          </a:p>
        </p:txBody>
      </p:sp>
      <p:sp>
        <p:nvSpPr>
          <p:cNvPr id="14" name="Text 11"/>
          <p:cNvSpPr/>
          <p:nvPr/>
        </p:nvSpPr>
        <p:spPr>
          <a:xfrm>
            <a:off x="3401568"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“They were healed” — delivered from blindness, lameness</a:t>
            </a:r>
            <a:endParaRPr lang="en-US" sz="1200" dirty="0"/>
          </a:p>
        </p:txBody>
      </p:sp>
      <p:sp>
        <p:nvSpPr>
          <p:cNvPr id="15" name="Shape 12"/>
          <p:cNvSpPr/>
          <p:nvPr/>
        </p:nvSpPr>
        <p:spPr>
          <a:xfrm>
            <a:off x="6071616" y="1188720"/>
            <a:ext cx="2615184" cy="1572768"/>
          </a:xfrm>
          <a:prstGeom prst="rect">
            <a:avLst/>
          </a:prstGeom>
          <a:solidFill>
            <a:srgbClr val="F2F6FC"/>
          </a:solidFill>
          <a:ln w="9525">
            <a:solidFill>
              <a:srgbClr val="D5DCEA"/>
            </a:solidFill>
            <a:prstDash val="solid"/>
          </a:ln>
        </p:spPr>
      </p:sp>
      <p:sp>
        <p:nvSpPr>
          <p:cNvPr id="16" name="Shape 13"/>
          <p:cNvSpPr/>
          <p:nvPr/>
        </p:nvSpPr>
        <p:spPr>
          <a:xfrm>
            <a:off x="6208776" y="1325880"/>
            <a:ext cx="420624" cy="420624"/>
          </a:xfrm>
          <a:prstGeom prst="ellipse">
            <a:avLst/>
          </a:prstGeom>
          <a:solidFill>
            <a:srgbClr val="2E5496"/>
          </a:solidFill>
          <a:ln w="12700">
            <a:solidFill>
              <a:srgbClr val="2E5496"/>
            </a:solidFill>
            <a:prstDash val="solid"/>
          </a:ln>
        </p:spPr>
      </p:sp>
      <p:sp>
        <p:nvSpPr>
          <p:cNvPr id="17" name="Text 14"/>
          <p:cNvSpPr/>
          <p:nvPr/>
        </p:nvSpPr>
        <p:spPr>
          <a:xfrm>
            <a:off x="6208776"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p:nvPr/>
        </p:nvSpPr>
        <p:spPr>
          <a:xfrm>
            <a:off x="6729984"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Circumstances</a:t>
            </a:r>
            <a:endParaRPr lang="en-US" sz="1200" dirty="0"/>
          </a:p>
        </p:txBody>
      </p:sp>
      <p:sp>
        <p:nvSpPr>
          <p:cNvPr id="19" name="Text 16"/>
          <p:cNvSpPr/>
          <p:nvPr/>
        </p:nvSpPr>
        <p:spPr>
          <a:xfrm>
            <a:off x="6208776"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Peter sinking: “Lord, save me!” (Matt 14:30)</a:t>
            </a:r>
            <a:endParaRPr lang="en-US" sz="1200" dirty="0"/>
          </a:p>
        </p:txBody>
      </p:sp>
      <p:sp>
        <p:nvSpPr>
          <p:cNvPr id="20" name="Shape 17"/>
          <p:cNvSpPr/>
          <p:nvPr/>
        </p:nvSpPr>
        <p:spPr>
          <a:xfrm>
            <a:off x="457200" y="2926080"/>
            <a:ext cx="2615184" cy="1572768"/>
          </a:xfrm>
          <a:prstGeom prst="rect">
            <a:avLst/>
          </a:prstGeom>
          <a:solidFill>
            <a:srgbClr val="F2F6FC"/>
          </a:solidFill>
          <a:ln w="9525">
            <a:solidFill>
              <a:srgbClr val="D5DCEA"/>
            </a:solidFill>
            <a:prstDash val="solid"/>
          </a:ln>
        </p:spPr>
      </p:sp>
      <p:sp>
        <p:nvSpPr>
          <p:cNvPr id="21" name="Shape 18"/>
          <p:cNvSpPr/>
          <p:nvPr/>
        </p:nvSpPr>
        <p:spPr>
          <a:xfrm>
            <a:off x="594360" y="3063240"/>
            <a:ext cx="420624" cy="420624"/>
          </a:xfrm>
          <a:prstGeom prst="ellipse">
            <a:avLst/>
          </a:prstGeom>
          <a:solidFill>
            <a:srgbClr val="6B7280"/>
          </a:solidFill>
          <a:ln w="12700">
            <a:solidFill>
              <a:srgbClr val="6B7280"/>
            </a:solidFill>
            <a:prstDash val="solid"/>
          </a:ln>
        </p:spPr>
      </p:sp>
      <p:sp>
        <p:nvSpPr>
          <p:cNvPr id="22" name="Text 19"/>
          <p:cNvSpPr/>
          <p:nvPr/>
        </p:nvSpPr>
        <p:spPr>
          <a:xfrm>
            <a:off x="594360"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p:nvPr/>
        </p:nvSpPr>
        <p:spPr>
          <a:xfrm>
            <a:off x="1115568"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Matthew 24:13</a:t>
            </a:r>
            <a:endParaRPr lang="en-US" sz="1200" dirty="0"/>
          </a:p>
        </p:txBody>
      </p:sp>
      <p:sp>
        <p:nvSpPr>
          <p:cNvPr id="24" name="Text 21"/>
          <p:cNvSpPr/>
          <p:nvPr/>
        </p:nvSpPr>
        <p:spPr>
          <a:xfrm>
            <a:off x="594360"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Enduring through the Tribulation — not keeping eternal life</a:t>
            </a:r>
            <a:endParaRPr lang="en-US" sz="1200" dirty="0"/>
          </a:p>
        </p:txBody>
      </p:sp>
      <p:sp>
        <p:nvSpPr>
          <p:cNvPr id="25" name="Shape 22"/>
          <p:cNvSpPr/>
          <p:nvPr/>
        </p:nvSpPr>
        <p:spPr>
          <a:xfrm>
            <a:off x="3264408" y="2926080"/>
            <a:ext cx="2615184" cy="1572768"/>
          </a:xfrm>
          <a:prstGeom prst="rect">
            <a:avLst/>
          </a:prstGeom>
          <a:solidFill>
            <a:srgbClr val="F2F6FC"/>
          </a:solidFill>
          <a:ln w="9525">
            <a:solidFill>
              <a:srgbClr val="D5DCEA"/>
            </a:solidFill>
            <a:prstDash val="solid"/>
          </a:ln>
        </p:spPr>
      </p:sp>
      <p:sp>
        <p:nvSpPr>
          <p:cNvPr id="26" name="Shape 23"/>
          <p:cNvSpPr/>
          <p:nvPr/>
        </p:nvSpPr>
        <p:spPr>
          <a:xfrm>
            <a:off x="3401568" y="3063240"/>
            <a:ext cx="420624" cy="420624"/>
          </a:xfrm>
          <a:prstGeom prst="ellipse">
            <a:avLst/>
          </a:prstGeom>
          <a:solidFill>
            <a:srgbClr val="7030A0"/>
          </a:solidFill>
          <a:ln w="12700">
            <a:solidFill>
              <a:srgbClr val="7030A0"/>
            </a:solidFill>
            <a:prstDash val="solid"/>
          </a:ln>
        </p:spPr>
      </p:sp>
      <p:sp>
        <p:nvSpPr>
          <p:cNvPr id="27" name="Text 24"/>
          <p:cNvSpPr/>
          <p:nvPr/>
        </p:nvSpPr>
        <p:spPr>
          <a:xfrm>
            <a:off x="3401568"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28" name="Text 25"/>
          <p:cNvSpPr/>
          <p:nvPr/>
        </p:nvSpPr>
        <p:spPr>
          <a:xfrm>
            <a:off x="3922776"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1 Thess 5:9</a:t>
            </a:r>
            <a:endParaRPr lang="en-US" sz="1200" dirty="0"/>
          </a:p>
        </p:txBody>
      </p:sp>
      <p:sp>
        <p:nvSpPr>
          <p:cNvPr id="29" name="Text 26"/>
          <p:cNvSpPr/>
          <p:nvPr/>
        </p:nvSpPr>
        <p:spPr>
          <a:xfrm>
            <a:off x="3401568"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“Not appointed to wrath, but to obtain salvation”</a:t>
            </a:r>
            <a:endParaRPr lang="en-US" sz="1200" dirty="0"/>
          </a:p>
        </p:txBody>
      </p:sp>
      <p:sp>
        <p:nvSpPr>
          <p:cNvPr id="30" name="Shape 27"/>
          <p:cNvSpPr/>
          <p:nvPr/>
        </p:nvSpPr>
        <p:spPr>
          <a:xfrm>
            <a:off x="6071616" y="2926080"/>
            <a:ext cx="2615184" cy="1572768"/>
          </a:xfrm>
          <a:prstGeom prst="rect">
            <a:avLst/>
          </a:prstGeom>
          <a:solidFill>
            <a:srgbClr val="F2F6FC"/>
          </a:solidFill>
          <a:ln w="9525">
            <a:solidFill>
              <a:srgbClr val="D5DCEA"/>
            </a:solidFill>
            <a:prstDash val="solid"/>
          </a:ln>
        </p:spPr>
      </p:sp>
      <p:sp>
        <p:nvSpPr>
          <p:cNvPr id="31" name="Shape 28"/>
          <p:cNvSpPr/>
          <p:nvPr/>
        </p:nvSpPr>
        <p:spPr>
          <a:xfrm>
            <a:off x="6208776" y="3063240"/>
            <a:ext cx="420624" cy="420624"/>
          </a:xfrm>
          <a:prstGeom prst="ellipse">
            <a:avLst/>
          </a:prstGeom>
          <a:solidFill>
            <a:srgbClr val="375623"/>
          </a:solidFill>
          <a:ln w="12700">
            <a:solidFill>
              <a:srgbClr val="375623"/>
            </a:solidFill>
            <a:prstDash val="solid"/>
          </a:ln>
        </p:spPr>
      </p:sp>
      <p:sp>
        <p:nvSpPr>
          <p:cNvPr id="32" name="Text 29"/>
          <p:cNvSpPr/>
          <p:nvPr/>
        </p:nvSpPr>
        <p:spPr>
          <a:xfrm>
            <a:off x="6208776"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3" name="Text 30"/>
          <p:cNvSpPr/>
          <p:nvPr/>
        </p:nvSpPr>
        <p:spPr>
          <a:xfrm>
            <a:off x="6729984"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Here · 2:13</a:t>
            </a:r>
            <a:endParaRPr lang="en-US" sz="1200" dirty="0"/>
          </a:p>
        </p:txBody>
      </p:sp>
      <p:sp>
        <p:nvSpPr>
          <p:cNvPr id="34" name="Text 31"/>
          <p:cNvSpPr/>
          <p:nvPr/>
        </p:nvSpPr>
        <p:spPr>
          <a:xfrm>
            <a:off x="6208776"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Deliverance from the wrath of the Tribulation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Stand fast and hold the Word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2:15 · II.A — Our responsibility</a:t>
            </a:r>
            <a:endParaRPr lang="en-US" sz="1200" dirty="0"/>
          </a:p>
        </p:txBody>
      </p:sp>
      <p:sp>
        <p:nvSpPr>
          <p:cNvPr id="5" name="Shape 2"/>
          <p:cNvSpPr/>
          <p:nvPr/>
        </p:nvSpPr>
        <p:spPr>
          <a:xfrm>
            <a:off x="457200" y="1188720"/>
            <a:ext cx="1477670" cy="1920240"/>
          </a:xfrm>
          <a:prstGeom prst="roundRect">
            <a:avLst>
              <a:gd name="adj" fmla="val 3713"/>
            </a:avLst>
          </a:prstGeom>
          <a:solidFill>
            <a:srgbClr val="F2F6FC"/>
          </a:solidFill>
          <a:ln w="9525">
            <a:solidFill>
              <a:srgbClr val="D5DCEA"/>
            </a:solidFill>
            <a:prstDash val="solid"/>
          </a:ln>
        </p:spPr>
      </p:sp>
      <p:sp>
        <p:nvSpPr>
          <p:cNvPr id="6" name="Shape 3"/>
          <p:cNvSpPr/>
          <p:nvPr/>
        </p:nvSpPr>
        <p:spPr>
          <a:xfrm>
            <a:off x="994867" y="1298448"/>
            <a:ext cx="402336" cy="402336"/>
          </a:xfrm>
          <a:prstGeom prst="ellipse">
            <a:avLst/>
          </a:prstGeom>
          <a:solidFill>
            <a:srgbClr val="2E5496"/>
          </a:solidFill>
          <a:ln w="12700">
            <a:solidFill>
              <a:srgbClr val="2E5496"/>
            </a:solidFill>
            <a:prstDash val="solid"/>
          </a:ln>
        </p:spPr>
      </p:sp>
      <p:sp>
        <p:nvSpPr>
          <p:cNvPr id="7" name="Text 4"/>
          <p:cNvSpPr/>
          <p:nvPr/>
        </p:nvSpPr>
        <p:spPr>
          <a:xfrm>
            <a:off x="99486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Hear it</a:t>
            </a:r>
            <a:endParaRPr lang="en-US" sz="1150" dirty="0"/>
          </a:p>
        </p:txBody>
      </p:sp>
      <p:sp>
        <p:nvSpPr>
          <p:cNvPr id="9" name="Text 6"/>
          <p:cNvSpPr/>
          <p:nvPr/>
        </p:nvSpPr>
        <p:spPr>
          <a:xfrm>
            <a:off x="530352" y="2157984"/>
            <a:ext cx="1331366" cy="5669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No daydreaming</a:t>
            </a:r>
            <a:endParaRPr lang="en-US" sz="1150" dirty="0"/>
          </a:p>
        </p:txBody>
      </p:sp>
      <p:sp>
        <p:nvSpPr>
          <p:cNvPr id="10" name="Text 7"/>
          <p:cNvSpPr/>
          <p:nvPr/>
        </p:nvSpPr>
        <p:spPr>
          <a:xfrm>
            <a:off x="530352" y="272491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first</a:t>
            </a:r>
            <a:endParaRPr lang="en-US" sz="900" dirty="0"/>
          </a:p>
        </p:txBody>
      </p:sp>
      <p:sp>
        <p:nvSpPr>
          <p:cNvPr id="11" name="Shape 8"/>
          <p:cNvSpPr/>
          <p:nvPr/>
        </p:nvSpPr>
        <p:spPr>
          <a:xfrm>
            <a:off x="1939442" y="2029968"/>
            <a:ext cx="201168" cy="237744"/>
          </a:xfrm>
          <a:prstGeom prst="rightArrow">
            <a:avLst/>
          </a:prstGeom>
          <a:solidFill>
            <a:srgbClr val="6B7280"/>
          </a:solidFill>
          <a:ln w="12700">
            <a:solidFill>
              <a:srgbClr val="6B7280"/>
            </a:solidFill>
            <a:prstDash val="solid"/>
          </a:ln>
        </p:spPr>
      </p:sp>
      <p:sp>
        <p:nvSpPr>
          <p:cNvPr id="12" name="Shape 9"/>
          <p:cNvSpPr/>
          <p:nvPr/>
        </p:nvSpPr>
        <p:spPr>
          <a:xfrm>
            <a:off x="2145182" y="1188720"/>
            <a:ext cx="1477670" cy="1920240"/>
          </a:xfrm>
          <a:prstGeom prst="roundRect">
            <a:avLst>
              <a:gd name="adj" fmla="val 3713"/>
            </a:avLst>
          </a:prstGeom>
          <a:solidFill>
            <a:srgbClr val="F2F6FC"/>
          </a:solidFill>
          <a:ln w="9525">
            <a:solidFill>
              <a:srgbClr val="D5DCEA"/>
            </a:solidFill>
            <a:prstDash val="solid"/>
          </a:ln>
        </p:spPr>
      </p:sp>
      <p:sp>
        <p:nvSpPr>
          <p:cNvPr id="13" name="Shape 10"/>
          <p:cNvSpPr/>
          <p:nvPr/>
        </p:nvSpPr>
        <p:spPr>
          <a:xfrm>
            <a:off x="2682850"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268285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218334"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Check it</a:t>
            </a:r>
            <a:endParaRPr lang="en-US" sz="1150" dirty="0"/>
          </a:p>
        </p:txBody>
      </p:sp>
      <p:sp>
        <p:nvSpPr>
          <p:cNvPr id="16" name="Text 13"/>
          <p:cNvSpPr/>
          <p:nvPr/>
        </p:nvSpPr>
        <p:spPr>
          <a:xfrm>
            <a:off x="2218334" y="2157984"/>
            <a:ext cx="1331366" cy="5669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Make sure it’s the Word of God</a:t>
            </a:r>
            <a:endParaRPr lang="en-US" sz="1150" dirty="0"/>
          </a:p>
        </p:txBody>
      </p:sp>
      <p:sp>
        <p:nvSpPr>
          <p:cNvPr id="17" name="Text 14"/>
          <p:cNvSpPr/>
          <p:nvPr/>
        </p:nvSpPr>
        <p:spPr>
          <a:xfrm>
            <a:off x="2218334" y="272491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“show me”</a:t>
            </a:r>
            <a:endParaRPr lang="en-US" sz="900" dirty="0"/>
          </a:p>
        </p:txBody>
      </p:sp>
      <p:sp>
        <p:nvSpPr>
          <p:cNvPr id="18" name="Shape 15"/>
          <p:cNvSpPr/>
          <p:nvPr/>
        </p:nvSpPr>
        <p:spPr>
          <a:xfrm>
            <a:off x="3627425" y="202996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3165" y="1188720"/>
            <a:ext cx="1477670" cy="1920240"/>
          </a:xfrm>
          <a:prstGeom prst="roundRect">
            <a:avLst>
              <a:gd name="adj" fmla="val 3713"/>
            </a:avLst>
          </a:prstGeom>
          <a:solidFill>
            <a:srgbClr val="F2F6FC"/>
          </a:solidFill>
          <a:ln w="9525">
            <a:solidFill>
              <a:srgbClr val="D5DCEA"/>
            </a:solidFill>
            <a:prstDash val="solid"/>
          </a:ln>
        </p:spPr>
      </p:sp>
      <p:sp>
        <p:nvSpPr>
          <p:cNvPr id="20" name="Shape 17"/>
          <p:cNvSpPr/>
          <p:nvPr/>
        </p:nvSpPr>
        <p:spPr>
          <a:xfrm>
            <a:off x="4370832"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3906317"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Review it</a:t>
            </a:r>
            <a:endParaRPr lang="en-US" sz="1150" dirty="0"/>
          </a:p>
        </p:txBody>
      </p:sp>
      <p:sp>
        <p:nvSpPr>
          <p:cNvPr id="23" name="Text 20"/>
          <p:cNvSpPr/>
          <p:nvPr/>
        </p:nvSpPr>
        <p:spPr>
          <a:xfrm>
            <a:off x="3906317" y="2157984"/>
            <a:ext cx="1331366" cy="859536"/>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Get it in your head</a:t>
            </a:r>
            <a:endParaRPr lang="en-US" sz="1150" dirty="0"/>
          </a:p>
        </p:txBody>
      </p:sp>
      <p:sp>
        <p:nvSpPr>
          <p:cNvPr id="24" name="Shape 21"/>
          <p:cNvSpPr/>
          <p:nvPr/>
        </p:nvSpPr>
        <p:spPr>
          <a:xfrm>
            <a:off x="5315407" y="2029968"/>
            <a:ext cx="201168" cy="237744"/>
          </a:xfrm>
          <a:prstGeom prst="rightArrow">
            <a:avLst/>
          </a:prstGeom>
          <a:solidFill>
            <a:srgbClr val="6B7280"/>
          </a:solidFill>
          <a:ln w="12700">
            <a:solidFill>
              <a:srgbClr val="6B7280"/>
            </a:solidFill>
            <a:prstDash val="solid"/>
          </a:ln>
        </p:spPr>
      </p:sp>
      <p:sp>
        <p:nvSpPr>
          <p:cNvPr id="25" name="Shape 22"/>
          <p:cNvSpPr/>
          <p:nvPr/>
        </p:nvSpPr>
        <p:spPr>
          <a:xfrm>
            <a:off x="5521147" y="1188720"/>
            <a:ext cx="1477670" cy="1920240"/>
          </a:xfrm>
          <a:prstGeom prst="roundRect">
            <a:avLst>
              <a:gd name="adj" fmla="val 3713"/>
            </a:avLst>
          </a:prstGeom>
          <a:solidFill>
            <a:srgbClr val="F2F6FC"/>
          </a:solidFill>
          <a:ln w="9525">
            <a:solidFill>
              <a:srgbClr val="D5DCEA"/>
            </a:solidFill>
            <a:prstDash val="solid"/>
          </a:ln>
        </p:spPr>
      </p:sp>
      <p:sp>
        <p:nvSpPr>
          <p:cNvPr id="26" name="Shape 23"/>
          <p:cNvSpPr/>
          <p:nvPr/>
        </p:nvSpPr>
        <p:spPr>
          <a:xfrm>
            <a:off x="6058814" y="1298448"/>
            <a:ext cx="402336" cy="402336"/>
          </a:xfrm>
          <a:prstGeom prst="ellipse">
            <a:avLst/>
          </a:prstGeom>
          <a:solidFill>
            <a:srgbClr val="2E5496"/>
          </a:solidFill>
          <a:ln w="12700">
            <a:solidFill>
              <a:srgbClr val="2E5496"/>
            </a:solidFill>
            <a:prstDash val="solid"/>
          </a:ln>
        </p:spPr>
      </p:sp>
      <p:sp>
        <p:nvSpPr>
          <p:cNvPr id="27" name="Text 24"/>
          <p:cNvSpPr/>
          <p:nvPr/>
        </p:nvSpPr>
        <p:spPr>
          <a:xfrm>
            <a:off x="6058814"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8" name="Text 25"/>
          <p:cNvSpPr/>
          <p:nvPr/>
        </p:nvSpPr>
        <p:spPr>
          <a:xfrm>
            <a:off x="5594299"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Believe it</a:t>
            </a:r>
            <a:endParaRPr lang="en-US" sz="1150" dirty="0"/>
          </a:p>
        </p:txBody>
      </p:sp>
      <p:sp>
        <p:nvSpPr>
          <p:cNvPr id="29" name="Text 26"/>
          <p:cNvSpPr/>
          <p:nvPr/>
        </p:nvSpPr>
        <p:spPr>
          <a:xfrm>
            <a:off x="5594299" y="2157984"/>
            <a:ext cx="1331366" cy="859536"/>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If you believe it, you’ll do it</a:t>
            </a:r>
            <a:endParaRPr lang="en-US" sz="1150" dirty="0"/>
          </a:p>
        </p:txBody>
      </p:sp>
      <p:sp>
        <p:nvSpPr>
          <p:cNvPr id="30" name="Shape 27"/>
          <p:cNvSpPr/>
          <p:nvPr/>
        </p:nvSpPr>
        <p:spPr>
          <a:xfrm>
            <a:off x="7003390" y="2029968"/>
            <a:ext cx="201168" cy="237744"/>
          </a:xfrm>
          <a:prstGeom prst="rightArrow">
            <a:avLst/>
          </a:prstGeom>
          <a:solidFill>
            <a:srgbClr val="6B7280"/>
          </a:solidFill>
          <a:ln w="12700">
            <a:solidFill>
              <a:srgbClr val="6B7280"/>
            </a:solidFill>
            <a:prstDash val="solid"/>
          </a:ln>
        </p:spPr>
      </p:sp>
      <p:sp>
        <p:nvSpPr>
          <p:cNvPr id="31" name="Shape 28"/>
          <p:cNvSpPr/>
          <p:nvPr/>
        </p:nvSpPr>
        <p:spPr>
          <a:xfrm>
            <a:off x="7209130" y="1188720"/>
            <a:ext cx="1477670" cy="1920240"/>
          </a:xfrm>
          <a:prstGeom prst="roundRect">
            <a:avLst>
              <a:gd name="adj" fmla="val 3713"/>
            </a:avLst>
          </a:prstGeom>
          <a:solidFill>
            <a:srgbClr val="1F3864"/>
          </a:solidFill>
          <a:ln w="9525">
            <a:solidFill>
              <a:srgbClr val="1F3864"/>
            </a:solidFill>
            <a:prstDash val="solid"/>
          </a:ln>
        </p:spPr>
      </p:sp>
      <p:sp>
        <p:nvSpPr>
          <p:cNvPr id="32" name="Shape 29"/>
          <p:cNvSpPr/>
          <p:nvPr/>
        </p:nvSpPr>
        <p:spPr>
          <a:xfrm>
            <a:off x="7746797" y="1298448"/>
            <a:ext cx="402336" cy="402336"/>
          </a:xfrm>
          <a:prstGeom prst="ellipse">
            <a:avLst/>
          </a:prstGeom>
          <a:solidFill>
            <a:srgbClr val="FFFFFF"/>
          </a:solidFill>
          <a:ln w="12700">
            <a:solidFill>
              <a:srgbClr val="FFFFFF"/>
            </a:solidFill>
            <a:prstDash val="solid"/>
          </a:ln>
        </p:spPr>
      </p:sp>
      <p:sp>
        <p:nvSpPr>
          <p:cNvPr id="33" name="Text 30"/>
          <p:cNvSpPr/>
          <p:nvPr/>
        </p:nvSpPr>
        <p:spPr>
          <a:xfrm>
            <a:off x="7746797"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E</a:t>
            </a:r>
            <a:endParaRPr lang="en-US" sz="1300" dirty="0"/>
          </a:p>
        </p:txBody>
      </p:sp>
      <p:sp>
        <p:nvSpPr>
          <p:cNvPr id="34" name="Text 31"/>
          <p:cNvSpPr/>
          <p:nvPr/>
        </p:nvSpPr>
        <p:spPr>
          <a:xfrm>
            <a:off x="7282282" y="1773936"/>
            <a:ext cx="133136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Share it</a:t>
            </a:r>
            <a:endParaRPr lang="en-US" sz="1150" dirty="0"/>
          </a:p>
        </p:txBody>
      </p:sp>
      <p:sp>
        <p:nvSpPr>
          <p:cNvPr id="35" name="Text 32"/>
          <p:cNvSpPr/>
          <p:nvPr/>
        </p:nvSpPr>
        <p:spPr>
          <a:xfrm>
            <a:off x="7282282" y="2157984"/>
            <a:ext cx="1331366" cy="859536"/>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You understand it better when you help someone else</a:t>
            </a:r>
            <a:endParaRPr lang="en-US" sz="1150" dirty="0"/>
          </a:p>
        </p:txBody>
      </p:sp>
      <p:sp>
        <p:nvSpPr>
          <p:cNvPr id="36" name="Shape 33"/>
          <p:cNvSpPr/>
          <p:nvPr/>
        </p:nvSpPr>
        <p:spPr>
          <a:xfrm>
            <a:off x="457200" y="3291840"/>
            <a:ext cx="4023360" cy="566928"/>
          </a:xfrm>
          <a:prstGeom prst="rect">
            <a:avLst/>
          </a:prstGeom>
          <a:solidFill>
            <a:srgbClr val="2E5496"/>
          </a:solidFill>
          <a:ln w="12700">
            <a:solidFill>
              <a:srgbClr val="2E5496"/>
            </a:solidFill>
            <a:prstDash val="solid"/>
          </a:ln>
        </p:spPr>
      </p:sp>
      <p:sp>
        <p:nvSpPr>
          <p:cNvPr id="37" name="Text 34"/>
          <p:cNvSpPr/>
          <p:nvPr/>
        </p:nvSpPr>
        <p:spPr>
          <a:xfrm>
            <a:off x="548640" y="333756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Hold the traditions</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παράδοσις</a:t>
            </a:r>
            <a:pPr indent="0" marL="0">
              <a:buNone/>
            </a:pPr>
            <a:r>
              <a:rPr lang="en-US" sz="850" dirty="0">
                <a:solidFill>
                  <a:srgbClr val="DCE4F2"/>
                </a:solidFill>
                <a:latin typeface="Arial" pitchFamily="34" charset="0"/>
                <a:ea typeface="Arial" pitchFamily="34" charset="-122"/>
                <a:cs typeface="Arial" pitchFamily="34" charset="-120"/>
              </a:rPr>
              <a:t>  G3862</a:t>
            </a:r>
            <a:endParaRPr lang="en-US" sz="1200" dirty="0"/>
          </a:p>
        </p:txBody>
      </p:sp>
      <p:sp>
        <p:nvSpPr>
          <p:cNvPr id="38" name="Shape 35"/>
          <p:cNvSpPr/>
          <p:nvPr/>
        </p:nvSpPr>
        <p:spPr>
          <a:xfrm>
            <a:off x="457200" y="3858768"/>
            <a:ext cx="4023360" cy="758952"/>
          </a:xfrm>
          <a:prstGeom prst="rect">
            <a:avLst/>
          </a:prstGeom>
          <a:solidFill>
            <a:srgbClr val="F2F6FC"/>
          </a:solidFill>
          <a:ln w="9525">
            <a:solidFill>
              <a:srgbClr val="D5DCEA"/>
            </a:solidFill>
            <a:prstDash val="solid"/>
          </a:ln>
        </p:spPr>
      </p:sp>
      <p:sp>
        <p:nvSpPr>
          <p:cNvPr id="39" name="Text 36"/>
          <p:cNvSpPr/>
          <p:nvPr/>
        </p:nvSpPr>
        <p:spPr>
          <a:xfrm>
            <a:off x="548640" y="3931920"/>
            <a:ext cx="3840480" cy="630936"/>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By word — what Paul taught in person</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By epistle — what he wrote</a:t>
            </a:r>
            <a:endParaRPr lang="en-US" sz="1200" dirty="0"/>
          </a:p>
        </p:txBody>
      </p:sp>
      <p:sp>
        <p:nvSpPr>
          <p:cNvPr id="40" name="Shape 37"/>
          <p:cNvSpPr/>
          <p:nvPr/>
        </p:nvSpPr>
        <p:spPr>
          <a:xfrm>
            <a:off x="4663440" y="3291840"/>
            <a:ext cx="4023360" cy="365760"/>
          </a:xfrm>
          <a:prstGeom prst="rect">
            <a:avLst/>
          </a:prstGeom>
          <a:solidFill>
            <a:srgbClr val="375623"/>
          </a:solidFill>
          <a:ln w="12700">
            <a:solidFill>
              <a:srgbClr val="375623"/>
            </a:solidFill>
            <a:prstDash val="solid"/>
          </a:ln>
        </p:spPr>
      </p:sp>
      <p:sp>
        <p:nvSpPr>
          <p:cNvPr id="41" name="Text 38"/>
          <p:cNvSpPr/>
          <p:nvPr/>
        </p:nvSpPr>
        <p:spPr>
          <a:xfrm>
            <a:off x="4754880" y="333756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Apostolicity = canonicity</a:t>
            </a:r>
            <a:endParaRPr lang="en-US" sz="1200" dirty="0"/>
          </a:p>
        </p:txBody>
      </p:sp>
      <p:sp>
        <p:nvSpPr>
          <p:cNvPr id="42" name="Shape 39"/>
          <p:cNvSpPr/>
          <p:nvPr/>
        </p:nvSpPr>
        <p:spPr>
          <a:xfrm>
            <a:off x="4663440" y="3657600"/>
            <a:ext cx="4023360" cy="960120"/>
          </a:xfrm>
          <a:prstGeom prst="rect">
            <a:avLst/>
          </a:prstGeom>
          <a:solidFill>
            <a:srgbClr val="F2F6FC"/>
          </a:solidFill>
          <a:ln w="9525">
            <a:solidFill>
              <a:srgbClr val="D5DCEA"/>
            </a:solidFill>
            <a:prstDash val="solid"/>
          </a:ln>
        </p:spPr>
      </p:sp>
      <p:sp>
        <p:nvSpPr>
          <p:cNvPr id="43" name="Text 40"/>
          <p:cNvSpPr/>
          <p:nvPr/>
        </p:nvSpPr>
        <p:spPr>
          <a:xfrm>
            <a:off x="4754880" y="3730752"/>
            <a:ext cx="3840480" cy="832104"/>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When the apostles were gone, the canon was closed</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John 14:26; 16:13</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Our resources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2:16–17 · II.B — Their source and content</a:t>
            </a:r>
            <a:endParaRPr lang="en-US" sz="1200" dirty="0"/>
          </a:p>
        </p:txBody>
      </p:sp>
      <p:sp>
        <p:nvSpPr>
          <p:cNvPr id="5" name="Shape 2"/>
          <p:cNvSpPr/>
          <p:nvPr/>
        </p:nvSpPr>
        <p:spPr>
          <a:xfrm>
            <a:off x="457200" y="1188720"/>
            <a:ext cx="2621280" cy="566928"/>
          </a:xfrm>
          <a:prstGeom prst="rect">
            <a:avLst/>
          </a:prstGeom>
          <a:solidFill>
            <a:srgbClr val="2E5496"/>
          </a:solidFill>
          <a:ln w="12700">
            <a:solidFill>
              <a:srgbClr val="2E5496"/>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source · 16a</a:t>
            </a:r>
            <a:endParaRPr lang="en-US" sz="1200" dirty="0"/>
          </a:p>
        </p:txBody>
      </p:sp>
      <p:sp>
        <p:nvSpPr>
          <p:cNvPr id="7" name="Shape 4"/>
          <p:cNvSpPr/>
          <p:nvPr/>
        </p:nvSpPr>
        <p:spPr>
          <a:xfrm>
            <a:off x="457200" y="1755648"/>
            <a:ext cx="2621280" cy="1947672"/>
          </a:xfrm>
          <a:prstGeom prst="rect">
            <a:avLst/>
          </a:prstGeom>
          <a:solidFill>
            <a:srgbClr val="F2F6FC"/>
          </a:solidFill>
          <a:ln w="9525">
            <a:solidFill>
              <a:srgbClr val="D5DCEA"/>
            </a:solidFill>
            <a:prstDash val="solid"/>
          </a:ln>
        </p:spPr>
      </p:sp>
      <p:sp>
        <p:nvSpPr>
          <p:cNvPr id="8" name="Text 5"/>
          <p:cNvSpPr/>
          <p:nvPr/>
        </p:nvSpPr>
        <p:spPr>
          <a:xfrm>
            <a:off x="54864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“Our Lord Jesus Christ Himself, and our God and Father”</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“Who” — singular: one God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According to His riches (Phil 4:19)</a:t>
            </a:r>
            <a:endParaRPr lang="en-US" sz="1250" dirty="0"/>
          </a:p>
        </p:txBody>
      </p:sp>
      <p:sp>
        <p:nvSpPr>
          <p:cNvPr id="9" name="Shape 6"/>
          <p:cNvSpPr/>
          <p:nvPr/>
        </p:nvSpPr>
        <p:spPr>
          <a:xfrm>
            <a:off x="3261360" y="1188720"/>
            <a:ext cx="2621280" cy="566928"/>
          </a:xfrm>
          <a:prstGeom prst="rect">
            <a:avLst/>
          </a:prstGeom>
          <a:solidFill>
            <a:srgbClr val="2E5496"/>
          </a:solidFill>
          <a:ln w="12700">
            <a:solidFill>
              <a:srgbClr val="2E5496"/>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God’s love · 16b</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παράκλησις · ἐλπίς</a:t>
            </a:r>
            <a:pPr indent="0" marL="0">
              <a:buNone/>
            </a:pPr>
            <a:r>
              <a:rPr lang="en-US" sz="850" dirty="0">
                <a:solidFill>
                  <a:srgbClr val="DCE4F2"/>
                </a:solidFill>
                <a:latin typeface="Arial" pitchFamily="34" charset="0"/>
                <a:ea typeface="Arial" pitchFamily="34" charset="-122"/>
                <a:cs typeface="Arial" pitchFamily="34" charset="-120"/>
              </a:rPr>
              <a:t>  consolation · hope</a:t>
            </a:r>
            <a:endParaRPr lang="en-US" sz="1200" dirty="0"/>
          </a:p>
        </p:txBody>
      </p:sp>
      <p:sp>
        <p:nvSpPr>
          <p:cNvPr id="11" name="Shape 8"/>
          <p:cNvSpPr/>
          <p:nvPr/>
        </p:nvSpPr>
        <p:spPr>
          <a:xfrm>
            <a:off x="3261360" y="1755648"/>
            <a:ext cx="2621280" cy="194767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Everlasting consolation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good hope, by grace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 charge</a:t>
            </a:r>
            <a:endParaRPr lang="en-US" sz="1250" dirty="0"/>
          </a:p>
        </p:txBody>
      </p:sp>
      <p:sp>
        <p:nvSpPr>
          <p:cNvPr id="13" name="Shape 10"/>
          <p:cNvSpPr/>
          <p:nvPr/>
        </p:nvSpPr>
        <p:spPr>
          <a:xfrm>
            <a:off x="6065520" y="1188720"/>
            <a:ext cx="2621280" cy="566928"/>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God’s life · 17</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στηρίζω</a:t>
            </a:r>
            <a:pPr indent="0" marL="0">
              <a:buNone/>
            </a:pPr>
            <a:r>
              <a:rPr lang="en-US" sz="850" dirty="0">
                <a:solidFill>
                  <a:srgbClr val="DCE4F2"/>
                </a:solidFill>
                <a:latin typeface="Arial" pitchFamily="34" charset="0"/>
                <a:ea typeface="Arial" pitchFamily="34" charset="-122"/>
                <a:cs typeface="Arial" pitchFamily="34" charset="-120"/>
              </a:rPr>
              <a:t>  establish · G4741</a:t>
            </a:r>
            <a:endParaRPr lang="en-US" sz="1200" dirty="0"/>
          </a:p>
        </p:txBody>
      </p:sp>
      <p:sp>
        <p:nvSpPr>
          <p:cNvPr id="15" name="Shape 12"/>
          <p:cNvSpPr/>
          <p:nvPr/>
        </p:nvSpPr>
        <p:spPr>
          <a:xfrm>
            <a:off x="6065520" y="1755648"/>
            <a:ext cx="2621280" cy="194767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Comforts your hearts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Establishes you in every good word and work</a:t>
            </a:r>
            <a:endParaRPr lang="en-US" sz="1250" dirty="0"/>
          </a:p>
        </p:txBody>
      </p:sp>
      <p:sp>
        <p:nvSpPr>
          <p:cNvPr id="17" name="Shape 14"/>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18" name="Text 15"/>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Your hope is not in this government or the Constitution. Your hope is in the Lord — a good hope that assures you of the return of your victorious Savior.</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2:13–17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How should we determine the meaning of “salvation,” and what does it mean in 2:13?</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What five things does the teacher say we must do with the Word so that it does not slip away?</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Read “Saved” in Context</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Work through the handout passages this week, asking “saved from what?” for each one.</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Five Steps to Holding the Word</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Write down one truth, review it daily, and share it with one person before next week.</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Loved, chosen, set apart and appointed to deliverance — so stand fast, hold the Word, and draw on His love, comfort and good hope.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 Thessalonians Study 5 — The Day of the Lord and Believers: Charts</dc:title>
  <dc:subject>PptxGenJS Presentation</dc:subject>
  <dc:creator>The Gospel Vault</dc:creator>
  <cp:lastModifiedBy>The Gospel Vault</cp:lastModifiedBy>
  <cp:revision>1</cp:revision>
  <dcterms:created xsi:type="dcterms:W3CDTF">2026-10-30T06:34:07Z</dcterms:created>
  <dcterms:modified xsi:type="dcterms:W3CDTF">2026-10-30T06:34:07Z</dcterms:modified>
</cp:coreProperties>
</file>