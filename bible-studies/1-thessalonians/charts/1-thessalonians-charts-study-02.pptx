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Leader notes: The title slide carries the study’s proposition. The commentary shows the gospel from three angles — in person (1:6–7), in proclamation (1:8–9) and in prospect (1:10). Every chart stays within the commentary posted for this study; Greek words come from the study’s Greek Word Study. Each slide’s notes name the commentary section behind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Leader notes: Use this map to show the group where this passage sits in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Leader notes (Introduction and Conclusion): The commentary’s frame for the whole passage. Remind the group how young this church was — perhaps only three or four weeks of Paul’s preaching before a riot drove him out — yet Paul writes as though it were already a landmark. “God does not wait for maturity before He produces something worth celebrating.” Note: Study 1’s commentary stresses that Paul stayed longer than the three synagogue Sabbaths; both studies agree his time there was short.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Leader notes (I.A.1–2 and I.B, with μιμηταί and τύπον): “Followers” is mimētai — mimic, imitate. That only works if Paul had something worth imitating: “For to me, to live is Christ.” Following Paul was following the Lord, because Paul ordered his life around making Christ visible — as Christ made the Father visible (Heb 1:3; John 14:9). Then the Thessalonians became a typos — a die or mold — for believers across two provinces. The test of every human example: does it point people past itself to Christ?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Leader notes (I.A.3–4, with θλίψει and χαρᾶς πνεύματος ἁγίου): Paul doesn’t romanticize what it cost. They knew Philippi, and the mob that stormed Jason’s house. They “received” the word — a deliberate welcome — knowing what answering it would cost. Yet they received it “with joy of the Holy Spirit”: not joy despite the affliction, but joy from the Spirit inside it. Joy is fruit (Gal 5:22), and fruit doesn’t depend on the weather. Give the group the commentary’s test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Leader notes (II.A–B, with ἐξήχηται): Exēchētai — related to “echo,” the only NT occurrence, perfect tense: the sound is still ringing. An echo composes nothing new; it faithfully repeats what it received and carries it where the original voice couldn’t reach. Thessalonica sat on the Via Egnatia, the great Roman road between East and West, with a busy harbor — a built-in distribution network. By the time Paul reached Corinth, the Thessalonians’ testimony had arrived first. Ask: where are our crossroads?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Leader notes (II.C, with ἐπεστρέψατε, εἰδώλων, δουλεύειν): Notice the order: turned to God, from idols — the turning toward a living, true God is what made the turning from idols happen. The verse ends “to serve the living and true God” — the language of discipleship, not of receiving eternal life. The commentary warns against reading turning from idols as a precondition of salvation: eternal life is received the moment a person believes. They turned from idols because they had been saved. Don’t confuse description with condition.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Leader notes (III.A–C, with ἀναμένειν and ὀργῆς): Rapture — “to wait for His Son from heaven,” with no sign attached (John 14:3); the church is not Israel and the Rapture is not the Second Coming. Resurrection — the hinge the whole hope swings on. Rescue — rhyomenon, present tense with future force: deliverance from the wrath to come, which in its usage here is the tribulation, not hell. Use the Christmas-decorations illustration: signs of the Second Coming tell us the Rapture is near because it always comes first.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Leader notes (from the posted Study Questions and Application sections): Q1: Verse 9 says they “turned to God from idols to serve the living and true God.” Why does the order matter, and why is turning from idols not the condition for salvation? — Leader answer: The verse ends in “to serve” — the language of discipleship, not of receiving eternal life. Turning to God is the saving response of faith; serving Him and turning from idols naturally follow, not prerequisites.  Q2: The Thessalonians waited for Christ with no sign attached (1:10). How does a signless, any-moment hope change the way a believer lives day to day? — Leader answer: Reinforce the Rapture/Second Coming distinction and the Christmas/Thanksgiving illustration, then push past head-knowledge: what would change this week if each person lived as though Christ could come today?  Applications: Become Someone Worth Imitating — Name one person who may be imitating you, and have one honest conversation about following Christ, not just you.  Live Ready, Not Anxious — Choose one responsibility you’d want to be found tending if Christ returned this week, and give it deliberate attention.  Close by reading the summary line aloud.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4" name="Text 0"/>
          <p:cNvSpPr/>
          <p:nvPr/>
        </p:nvSpPr>
        <p:spPr>
          <a:xfrm>
            <a:off x="457200" y="477316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Thessalonians · Study 2 of 10 · 1 Thessalonians 1:6–10 · The Gospel Vault · NKJV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1097280"/>
            <a:ext cx="786384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dirty="0">
                <a:solidFill>
                  <a:srgbClr val="C9D5EE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508760"/>
            <a:ext cx="786384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40080" y="2743200"/>
            <a:ext cx="758952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500" i="1" dirty="0">
                <a:solidFill>
                  <a:srgbClr val="E6ECF7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1500" dirty="0"/>
          </a:p>
        </p:txBody>
      </p:sp>
      <p:sp>
        <p:nvSpPr>
          <p:cNvPr id="5" name="Text 0"/>
          <p:cNvSpPr/>
          <p:nvPr/>
        </p:nvSpPr>
        <p:spPr>
          <a:xfrm>
            <a:off x="640080" y="477316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EBB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Thessalonians · Study 2 of 10 · 1 Thessalonians 1:6–10 · The Gospel Vault · NKJV</a:t>
            </a:r>
            <a:endParaRPr lang="en-US" sz="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10972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5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Thessalonians · Study 2 of 10 · 1 Thessalonians 1:6–10 · Leader charts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50876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Many Faces of the Gospel</a:t>
            </a:r>
            <a:endParaRPr lang="en-US" sz="3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40080" y="2743200"/>
            <a:ext cx="7589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6EC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gospel, once truly received, becomes visible in a transformed life, unstoppable in its spread, and certain in its future hope — leaving no room for a merely private, silent, or present-tense faith.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43434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5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Dr. C. Norman Sellers, ThD · SellersBibleInstitute.com · used by permission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this study fits</a:t>
            </a:r>
            <a:endParaRPr lang="en-US" sz="2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Thessalonians · ten studies · this study highlighted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457200" y="1188720"/>
            <a:ext cx="1536192" cy="1371600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66928" y="1298448"/>
            <a:ext cx="1316736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E5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</a:t>
            </a:r>
            <a:pPr indent="0" marL="0">
              <a:buNone/>
            </a:pPr>
            <a:r>
              <a:rPr lang="en-US" sz="105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1:1–5</a:t>
            </a:r>
            <a:endParaRPr lang="en-US" sz="1300" dirty="0"/>
          </a:p>
          <a:p>
            <a:pPr indent="0" marL="0">
              <a:buNone/>
            </a:pPr>
            <a:r>
              <a:rPr lang="en-US" sz="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Introduction to the Thessalonian Church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2130552" y="1188720"/>
            <a:ext cx="1536192" cy="1371600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240280" y="1298448"/>
            <a:ext cx="1316736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9D5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</a:t>
            </a:r>
            <a:pPr indent="0" marL="0">
              <a:buNone/>
            </a:pPr>
            <a:r>
              <a:rPr lang="en-US" sz="1050" b="1" dirty="0">
                <a:solidFill>
                  <a:srgbClr val="C9D5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1:6–10</a:t>
            </a:r>
            <a:endParaRPr lang="en-US" sz="1300" dirty="0"/>
          </a:p>
          <a:p>
            <a:pPr indent="0" marL="0">
              <a:buNone/>
            </a:pPr>
            <a:r>
              <a:rPr lang="en-US" sz="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Many Faces of the Gospel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803904" y="1188720"/>
            <a:ext cx="1536192" cy="1371600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913632" y="1298448"/>
            <a:ext cx="1316736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E5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</a:t>
            </a:r>
            <a:pPr indent="0" marL="0">
              <a:buNone/>
            </a:pPr>
            <a:r>
              <a:rPr lang="en-US" sz="105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2:1–12</a:t>
            </a:r>
            <a:endParaRPr lang="en-US" sz="1300" dirty="0"/>
          </a:p>
          <a:p>
            <a:pPr indent="0" marL="0">
              <a:buNone/>
            </a:pPr>
            <a:r>
              <a:rPr lang="en-US" sz="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Delivering the Gospel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477256" y="1188720"/>
            <a:ext cx="1536192" cy="1371600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586984" y="1298448"/>
            <a:ext cx="1316736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E5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</a:t>
            </a:r>
            <a:pPr indent="0" marL="0">
              <a:buNone/>
            </a:pPr>
            <a:r>
              <a:rPr lang="en-US" sz="105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2:13–20</a:t>
            </a:r>
            <a:endParaRPr lang="en-US" sz="1300" dirty="0"/>
          </a:p>
          <a:p>
            <a:pPr indent="0" marL="0">
              <a:buNone/>
            </a:pPr>
            <a:r>
              <a:rPr lang="en-US" sz="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Successful Life of Service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7150608" y="1188720"/>
            <a:ext cx="1536192" cy="1371600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260336" y="1298448"/>
            <a:ext cx="1316736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E5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</a:t>
            </a:r>
            <a:pPr indent="0" marL="0">
              <a:buNone/>
            </a:pPr>
            <a:r>
              <a:rPr lang="en-US" sz="105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3:1–13</a:t>
            </a:r>
            <a:endParaRPr lang="en-US" sz="1300" dirty="0"/>
          </a:p>
          <a:p>
            <a:pPr indent="0" marL="0">
              <a:buNone/>
            </a:pPr>
            <a:r>
              <a:rPr lang="en-US" sz="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Facing Tribulation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57200" y="2761488"/>
            <a:ext cx="1536192" cy="1371600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66928" y="2871216"/>
            <a:ext cx="1316736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E5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</a:t>
            </a:r>
            <a:pPr indent="0" marL="0">
              <a:buNone/>
            </a:pPr>
            <a:r>
              <a:rPr lang="en-US" sz="105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4:1–12</a:t>
            </a:r>
            <a:endParaRPr lang="en-US" sz="1300" dirty="0"/>
          </a:p>
          <a:p>
            <a:pPr indent="0" marL="0">
              <a:buNone/>
            </a:pPr>
            <a:r>
              <a:rPr lang="en-US" sz="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Life That Pleases God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2130552" y="2761488"/>
            <a:ext cx="1536192" cy="1371600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240280" y="2871216"/>
            <a:ext cx="1316736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E5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 </a:t>
            </a:r>
            <a:pPr indent="0" marL="0">
              <a:buNone/>
            </a:pPr>
            <a:r>
              <a:rPr lang="en-US" sz="105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4:13–18</a:t>
            </a:r>
            <a:endParaRPr lang="en-US" sz="1300" dirty="0"/>
          </a:p>
          <a:p>
            <a:pPr indent="0" marL="0">
              <a:buNone/>
            </a:pPr>
            <a:r>
              <a:rPr lang="en-US" sz="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Rapture of the Church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3803904" y="2761488"/>
            <a:ext cx="1536192" cy="1371600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913632" y="2871216"/>
            <a:ext cx="1316736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E5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 </a:t>
            </a:r>
            <a:pPr indent="0" marL="0">
              <a:buNone/>
            </a:pPr>
            <a:r>
              <a:rPr lang="en-US" sz="105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5:1–11</a:t>
            </a:r>
            <a:endParaRPr lang="en-US" sz="1300" dirty="0"/>
          </a:p>
          <a:p>
            <a:pPr indent="0" marL="0">
              <a:buNone/>
            </a:pPr>
            <a:r>
              <a:rPr lang="en-US" sz="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Coming of the Lord: A Purifying Hope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5477256" y="2761488"/>
            <a:ext cx="1536192" cy="1371600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586984" y="2871216"/>
            <a:ext cx="1316736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E5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 </a:t>
            </a:r>
            <a:pPr indent="0" marL="0">
              <a:buNone/>
            </a:pPr>
            <a:r>
              <a:rPr lang="en-US" sz="105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5:12–22</a:t>
            </a:r>
            <a:endParaRPr lang="en-US" sz="1300" dirty="0"/>
          </a:p>
          <a:p>
            <a:pPr indent="0" marL="0">
              <a:buNone/>
            </a:pPr>
            <a:r>
              <a:rPr lang="en-US" sz="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Coming of the Lord: Exhortations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7150608" y="2761488"/>
            <a:ext cx="1536192" cy="1371600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260336" y="2871216"/>
            <a:ext cx="1316736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E5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 </a:t>
            </a:r>
            <a:pPr indent="0" marL="0">
              <a:buNone/>
            </a:pPr>
            <a:r>
              <a:rPr lang="en-US" sz="105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5:23–28</a:t>
            </a:r>
            <a:endParaRPr lang="en-US" sz="1300" dirty="0"/>
          </a:p>
          <a:p>
            <a:pPr indent="0" marL="0">
              <a:buNone/>
            </a:pPr>
            <a:r>
              <a:rPr lang="en-US" sz="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’Til We Meet Again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457200" y="4224528"/>
            <a:ext cx="8229600" cy="411480"/>
          </a:xfrm>
          <a:prstGeom prst="roundRect">
            <a:avLst>
              <a:gd name="adj" fmla="val 13333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21792" y="4224528"/>
            <a:ext cx="79004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D5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“Finally” (4:1) marks the hinge: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chapters 1–3 lay the foundation; chapters 4–5 turn that theology into life.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faces of one gospel</a:t>
            </a:r>
            <a:endParaRPr lang="en-US" sz="2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Thessalonians 1:6–10 · Outline I–III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457200" y="1188720"/>
            <a:ext cx="2499360" cy="365760"/>
          </a:xfrm>
          <a:prstGeom prst="rect">
            <a:avLst/>
          </a:prstGeom>
          <a:solidFill>
            <a:srgbClr val="2E5496"/>
          </a:solidFill>
          <a:ln w="12700">
            <a:solidFill>
              <a:srgbClr val="2E549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1234440"/>
            <a:ext cx="231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person · 1:6–7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57200" y="1554480"/>
            <a:ext cx="2499360" cy="2057400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" y="1627632"/>
            <a:ext cx="2316480" cy="1929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imitated Paul — and the Lord</a:t>
            </a:r>
            <a:endParaRPr lang="en-US" sz="12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Received the word in much affliction</a:t>
            </a:r>
            <a:endParaRPr lang="en-US" sz="12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joy of the Holy Spirit</a:t>
            </a:r>
            <a:endParaRPr lang="en-US" sz="12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Became an example to others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3020568" y="2281428"/>
            <a:ext cx="237744" cy="237744"/>
          </a:xfrm>
          <a:prstGeom prst="rightArrow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322320" y="1188720"/>
            <a:ext cx="2499360" cy="365760"/>
          </a:xfrm>
          <a:prstGeom prst="rect">
            <a:avLst/>
          </a:prstGeom>
          <a:solidFill>
            <a:srgbClr val="2E5496"/>
          </a:solidFill>
          <a:ln w="12700">
            <a:solidFill>
              <a:srgbClr val="2E549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413760" y="1234440"/>
            <a:ext cx="231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proclamation · 1:8–9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322320" y="1554480"/>
            <a:ext cx="2499360" cy="2057400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413760" y="1627632"/>
            <a:ext cx="2316480" cy="1929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word “sounded forth” — an echo</a:t>
            </a:r>
            <a:endParaRPr lang="en-US" sz="12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Macedonia, Achaia, every place</a:t>
            </a:r>
            <a:endParaRPr lang="en-US" sz="12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Turned to God from idols</a:t>
            </a:r>
            <a:endParaRPr lang="en-US" sz="12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serve the living and true God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885688" y="2281428"/>
            <a:ext cx="237744" cy="237744"/>
          </a:xfrm>
          <a:prstGeom prst="rightArrow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187440" y="1188720"/>
            <a:ext cx="2499360" cy="365760"/>
          </a:xfrm>
          <a:prstGeom prst="rect">
            <a:avLst/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78880" y="1234440"/>
            <a:ext cx="231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prospect · 1:10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187440" y="1554480"/>
            <a:ext cx="2499360" cy="2057400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278880" y="1627632"/>
            <a:ext cx="2316480" cy="1929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Rapture — wait for His Son from heaven</a:t>
            </a:r>
            <a:endParaRPr lang="en-US" sz="12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Resurrection — whom He raised</a:t>
            </a:r>
            <a:endParaRPr lang="en-US" sz="12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Rescue — from the wrath to come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457200" y="3794760"/>
            <a:ext cx="8229600" cy="6858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21792" y="3794760"/>
            <a:ext cx="79004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life worth imitating, a testimony that echoes, a hope that waits. God does not wait for maturity before He produces something worth celebrating.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chain of imitation</a:t>
            </a:r>
            <a:endParaRPr lang="en-US" sz="2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Thessalonians 1:6–7 · I.A–B — What they determined and demonstrated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457200" y="1188720"/>
            <a:ext cx="1899666" cy="2011680"/>
          </a:xfrm>
          <a:prstGeom prst="roundRect">
            <a:avLst>
              <a:gd name="adj" fmla="val 2888"/>
            </a:avLst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205865" y="1298448"/>
            <a:ext cx="402336" cy="402336"/>
          </a:xfrm>
          <a:prstGeom prst="ellipse">
            <a:avLst/>
          </a:prstGeom>
          <a:solidFill>
            <a:srgbClr val="2E5496"/>
          </a:solidFill>
          <a:ln w="12700">
            <a:solidFill>
              <a:srgbClr val="2E549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205865" y="12984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30352" y="1773936"/>
            <a:ext cx="175336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Christ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530352" y="2157984"/>
            <a:ext cx="175336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exact image of the Father (Heb 1:3)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530352" y="2816352"/>
            <a:ext cx="175336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supreme example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2361438" y="2075688"/>
            <a:ext cx="201168" cy="237744"/>
          </a:xfrm>
          <a:prstGeom prst="rightArrow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567178" y="1188720"/>
            <a:ext cx="1899666" cy="2011680"/>
          </a:xfrm>
          <a:prstGeom prst="roundRect">
            <a:avLst>
              <a:gd name="adj" fmla="val 2888"/>
            </a:avLst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315843" y="1298448"/>
            <a:ext cx="402336" cy="402336"/>
          </a:xfrm>
          <a:prstGeom prst="ellipse">
            <a:avLst/>
          </a:prstGeom>
          <a:solidFill>
            <a:srgbClr val="2E5496"/>
          </a:solidFill>
          <a:ln w="12700">
            <a:solidFill>
              <a:srgbClr val="2E549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315843" y="12984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2640330" y="1773936"/>
            <a:ext cx="175336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Paul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2640330" y="2157984"/>
            <a:ext cx="175336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“For to me, to live is Christ”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2640330" y="2816352"/>
            <a:ext cx="175336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life on display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4471416" y="2075688"/>
            <a:ext cx="201168" cy="237744"/>
          </a:xfrm>
          <a:prstGeom prst="rightArrow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677156" y="1188720"/>
            <a:ext cx="1899666" cy="2011680"/>
          </a:xfrm>
          <a:prstGeom prst="roundRect">
            <a:avLst>
              <a:gd name="adj" fmla="val 2888"/>
            </a:avLst>
          </a:prstGeom>
          <a:solidFill>
            <a:srgbClr val="1F3864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425821" y="1298448"/>
            <a:ext cx="402336" cy="4023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425821" y="12984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4750308" y="1773936"/>
            <a:ext cx="175336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Thessalonica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4750308" y="2157984"/>
            <a:ext cx="175336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Imitators of Paul and of the Lord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4750308" y="2816352"/>
            <a:ext cx="175336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DCE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μιμηταί · v.6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6581394" y="2075688"/>
            <a:ext cx="201168" cy="237744"/>
          </a:xfrm>
          <a:prstGeom prst="rightArrow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787134" y="1188720"/>
            <a:ext cx="1899666" cy="2011680"/>
          </a:xfrm>
          <a:prstGeom prst="roundRect">
            <a:avLst>
              <a:gd name="adj" fmla="val 2888"/>
            </a:avLst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535799" y="1298448"/>
            <a:ext cx="402336" cy="402336"/>
          </a:xfrm>
          <a:prstGeom prst="ellipse">
            <a:avLst/>
          </a:prstGeom>
          <a:solidFill>
            <a:srgbClr val="2E5496"/>
          </a:solidFill>
          <a:ln w="12700">
            <a:solidFill>
              <a:srgbClr val="2E5496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535799" y="12984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6860286" y="1773936"/>
            <a:ext cx="175336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Macedonia &amp; Achaia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6860286" y="2157984"/>
            <a:ext cx="175336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pattern stamped and reproduced</a:t>
            </a:r>
            <a:endParaRPr lang="en-US" sz="1150" dirty="0"/>
          </a:p>
        </p:txBody>
      </p:sp>
      <p:sp>
        <p:nvSpPr>
          <p:cNvPr id="31" name="Text 28"/>
          <p:cNvSpPr/>
          <p:nvPr/>
        </p:nvSpPr>
        <p:spPr>
          <a:xfrm>
            <a:off x="6860286" y="2816352"/>
            <a:ext cx="175336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τύπον · v.7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457200" y="3383280"/>
            <a:ext cx="4023360" cy="365760"/>
          </a:xfrm>
          <a:prstGeom prst="rect">
            <a:avLst/>
          </a:prstGeom>
          <a:solidFill>
            <a:srgbClr val="2E5496"/>
          </a:solidFill>
          <a:ln w="12700">
            <a:solidFill>
              <a:srgbClr val="2E5496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48640" y="34290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“Imitate me, just as I imitate Christ”</a:t>
            </a:r>
            <a:endParaRPr lang="en-US" sz="1200" dirty="0"/>
          </a:p>
        </p:txBody>
      </p:sp>
      <p:sp>
        <p:nvSpPr>
          <p:cNvPr id="34" name="Shape 31"/>
          <p:cNvSpPr/>
          <p:nvPr/>
        </p:nvSpPr>
        <p:spPr>
          <a:xfrm>
            <a:off x="457200" y="3749040"/>
            <a:ext cx="4023360" cy="868680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548640" y="3822192"/>
            <a:ext cx="384048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Cor 11:1 — the chain always ends in Christ</a:t>
            </a:r>
            <a:endParaRPr lang="en-US" sz="12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Paul was a signpost, never the destination</a:t>
            </a:r>
            <a:endParaRPr lang="en-US" sz="1250" dirty="0"/>
          </a:p>
        </p:txBody>
      </p:sp>
      <p:sp>
        <p:nvSpPr>
          <p:cNvPr id="36" name="Shape 33"/>
          <p:cNvSpPr/>
          <p:nvPr/>
        </p:nvSpPr>
        <p:spPr>
          <a:xfrm>
            <a:off x="4663440" y="3383280"/>
            <a:ext cx="4023360" cy="365760"/>
          </a:xfrm>
          <a:prstGeom prst="rect">
            <a:avLst/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4754880" y="34290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Discipleship is caught as much as taught</a:t>
            </a:r>
            <a:endParaRPr lang="en-US" sz="1200" dirty="0"/>
          </a:p>
        </p:txBody>
      </p:sp>
      <p:sp>
        <p:nvSpPr>
          <p:cNvPr id="38" name="Shape 35"/>
          <p:cNvSpPr/>
          <p:nvPr/>
        </p:nvSpPr>
        <p:spPr>
          <a:xfrm>
            <a:off x="4663440" y="3749040"/>
            <a:ext cx="4023360" cy="868680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4754880" y="3822192"/>
            <a:ext cx="384048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Someone may be imitating you right now</a:t>
            </a:r>
            <a:endParaRPr lang="en-US" sz="12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Would it draw them nearer to Christ?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Joy in much affliction</a:t>
            </a:r>
            <a:endParaRPr lang="en-US" sz="2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Thessalonians 1:6 · I.A.3–4 — Persecution eclipsed by joy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457200" y="1188720"/>
            <a:ext cx="3931920" cy="566928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1234440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Happiness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57200" y="1755648"/>
            <a:ext cx="3931920" cy="1673352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" y="1828800"/>
            <a:ext cx="3749040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Depends on what happens to you</a:t>
            </a:r>
            <a:endParaRPr lang="en-US" sz="12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 circumstances to cooperate</a:t>
            </a:r>
            <a:endParaRPr lang="en-US" sz="12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 survive the climate of affliction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754880" y="1188720"/>
            <a:ext cx="3931920" cy="566928"/>
          </a:xfrm>
          <a:prstGeom prst="rect">
            <a:avLst/>
          </a:prstGeom>
          <a:solidFill>
            <a:srgbClr val="2E5496"/>
          </a:solidFill>
          <a:ln w="12700">
            <a:solidFill>
              <a:srgbClr val="2E549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846320" y="1234440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Joy of the Holy Spirit</a:t>
            </a:r>
            <a:endParaRPr lang="en-US" sz="1200" dirty="0"/>
          </a:p>
          <a:p>
            <a:pPr indent="0" marL="0">
              <a:buNone/>
            </a:pPr>
            <a:r>
              <a:rPr lang="en-US" sz="1300" b="1" dirty="0">
                <a:solidFill>
                  <a:srgbClr val="E4D6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χαρᾶς πνεύματος ἁγίου</a:t>
            </a:r>
            <a:pPr indent="0" marL="0">
              <a:buNone/>
            </a:pPr>
            <a:r>
              <a:rPr lang="en-US" sz="850" dirty="0">
                <a:solidFill>
                  <a:srgbClr val="DCE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genitive of source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754880" y="1755648"/>
            <a:ext cx="3931920" cy="1673352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846320" y="1828800"/>
            <a:ext cx="3749040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Rooted in God — the Spirit is its source</a:t>
            </a:r>
            <a:endParaRPr lang="en-US" sz="12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Fruit of the Spirit (Gal 5:22)</a:t>
            </a:r>
            <a:endParaRPr lang="en-US" sz="12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Grows inside affliction (θλίψει)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4389120" y="21259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57200" y="3657600"/>
            <a:ext cx="8229600" cy="868680"/>
          </a:xfrm>
          <a:prstGeom prst="roundRect">
            <a:avLst>
              <a:gd name="adj" fmla="val 6316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1792" y="3657600"/>
            <a:ext cx="79004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D5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test: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“Was God glorified in this?” If yes — or if you know you were walking in obedience — you have the joy of the Holy Spirit, whatever it cost you.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word sounded forth</a:t>
            </a:r>
            <a:endParaRPr lang="en-US" sz="2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Thessalonians 1:8–9a · II.A–B — The realm and reach of their witness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457200" y="1188720"/>
            <a:ext cx="1899666" cy="1965960"/>
          </a:xfrm>
          <a:prstGeom prst="roundRect">
            <a:avLst>
              <a:gd name="adj" fmla="val 2888"/>
            </a:avLst>
          </a:prstGeom>
          <a:solidFill>
            <a:srgbClr val="1F3864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205865" y="1298448"/>
            <a:ext cx="402336" cy="4023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205865" y="12984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30352" y="1773936"/>
            <a:ext cx="175336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Thessalonica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530352" y="2157984"/>
            <a:ext cx="175336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the Via Egnatia, with a busy harbor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530352" y="2770632"/>
            <a:ext cx="175336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DCE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crossroads of the empire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2361438" y="2052828"/>
            <a:ext cx="201168" cy="237744"/>
          </a:xfrm>
          <a:prstGeom prst="rightArrow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567178" y="1188720"/>
            <a:ext cx="1899666" cy="1965960"/>
          </a:xfrm>
          <a:prstGeom prst="roundRect">
            <a:avLst>
              <a:gd name="adj" fmla="val 2888"/>
            </a:avLst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315843" y="1298448"/>
            <a:ext cx="402336" cy="402336"/>
          </a:xfrm>
          <a:prstGeom prst="ellipse">
            <a:avLst/>
          </a:prstGeom>
          <a:solidFill>
            <a:srgbClr val="2E5496"/>
          </a:solidFill>
          <a:ln w="12700">
            <a:solidFill>
              <a:srgbClr val="2E549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315843" y="12984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2640330" y="1773936"/>
            <a:ext cx="175336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Macedonia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2640330" y="2157984"/>
            <a:ext cx="175336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Philippi, Amphipolis, Apollonia, Berea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2640330" y="2770632"/>
            <a:ext cx="175336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northern province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4471416" y="2052828"/>
            <a:ext cx="201168" cy="237744"/>
          </a:xfrm>
          <a:prstGeom prst="rightArrow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677156" y="1188720"/>
            <a:ext cx="1899666" cy="1965960"/>
          </a:xfrm>
          <a:prstGeom prst="roundRect">
            <a:avLst>
              <a:gd name="adj" fmla="val 2888"/>
            </a:avLst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425821" y="1298448"/>
            <a:ext cx="402336" cy="402336"/>
          </a:xfrm>
          <a:prstGeom prst="ellipse">
            <a:avLst/>
          </a:prstGeom>
          <a:solidFill>
            <a:srgbClr val="2E5496"/>
          </a:solidFill>
          <a:ln w="12700">
            <a:solidFill>
              <a:srgbClr val="2E549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425821" y="12984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4750308" y="1773936"/>
            <a:ext cx="175336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Achaia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4750308" y="2157984"/>
            <a:ext cx="175336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Corinth and the south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4750308" y="2770632"/>
            <a:ext cx="175336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Paul writes from Corinth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6581394" y="2052828"/>
            <a:ext cx="201168" cy="237744"/>
          </a:xfrm>
          <a:prstGeom prst="rightArrow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787134" y="1188720"/>
            <a:ext cx="1899666" cy="1965960"/>
          </a:xfrm>
          <a:prstGeom prst="roundRect">
            <a:avLst>
              <a:gd name="adj" fmla="val 2888"/>
            </a:avLst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535799" y="1298448"/>
            <a:ext cx="402336" cy="402336"/>
          </a:xfrm>
          <a:prstGeom prst="ellipse">
            <a:avLst/>
          </a:prstGeom>
          <a:solidFill>
            <a:srgbClr val="2E5496"/>
          </a:solidFill>
          <a:ln w="12700">
            <a:solidFill>
              <a:srgbClr val="2E5496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535799" y="12984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6860286" y="1773936"/>
            <a:ext cx="175336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place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6860286" y="2157984"/>
            <a:ext cx="175336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“We do not need to say anything”</a:t>
            </a:r>
            <a:endParaRPr lang="en-US" sz="1150" dirty="0"/>
          </a:p>
        </p:txBody>
      </p:sp>
      <p:sp>
        <p:nvSpPr>
          <p:cNvPr id="31" name="Text 28"/>
          <p:cNvSpPr/>
          <p:nvPr/>
        </p:nvSpPr>
        <p:spPr>
          <a:xfrm>
            <a:off x="6860286" y="2770632"/>
            <a:ext cx="175336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v.8b–9a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457200" y="3337560"/>
            <a:ext cx="8229600" cy="548640"/>
          </a:xfrm>
          <a:prstGeom prst="roundRect">
            <a:avLst>
              <a:gd name="adj" fmla="val 10000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21792" y="3337560"/>
            <a:ext cx="79004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4D6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ἐξήχηται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 sounded forth — an echo still ringing (perfect tense)</a:t>
            </a:r>
            <a:endParaRPr lang="en-US" sz="1200" dirty="0"/>
          </a:p>
        </p:txBody>
      </p:sp>
      <p:sp>
        <p:nvSpPr>
          <p:cNvPr id="34" name="Shape 31"/>
          <p:cNvSpPr/>
          <p:nvPr/>
        </p:nvSpPr>
        <p:spPr>
          <a:xfrm>
            <a:off x="457200" y="3977640"/>
            <a:ext cx="8229600" cy="640080"/>
          </a:xfrm>
          <a:prstGeom prst="rect">
            <a:avLst/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21792" y="3977640"/>
            <a:ext cx="79004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echo doesn’t need to be louder than the original sound to carry it further — only faithful to it.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“You turned to God from idols to serve”</a:t>
            </a:r>
            <a:endParaRPr lang="en-US" sz="2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Thessalonians 1:9b · II.C — The results of their witness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457200" y="1188720"/>
            <a:ext cx="3931920" cy="566928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1234440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common misreading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57200" y="1755648"/>
            <a:ext cx="3931920" cy="1719072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" y="1828800"/>
            <a:ext cx="3749040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Turning from idols was the condition for salvation</a:t>
            </a:r>
            <a:endParaRPr lang="en-US" sz="12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up first, then qualify for grace</a:t>
            </a:r>
            <a:endParaRPr lang="en-US" sz="12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one still wrestling with an idol could have assurance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754880" y="1188720"/>
            <a:ext cx="3931920" cy="566928"/>
          </a:xfrm>
          <a:prstGeom prst="rect">
            <a:avLst/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846320" y="1234440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verse says  ✓</a:t>
            </a:r>
            <a:endParaRPr lang="en-US" sz="1200" dirty="0"/>
          </a:p>
          <a:p>
            <a:pPr indent="0" marL="0">
              <a:buNone/>
            </a:pPr>
            <a:r>
              <a:rPr lang="en-US" sz="1300" b="1" dirty="0">
                <a:solidFill>
                  <a:srgbClr val="E4D6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ἐπεστρέψατε → δουλεύειν</a:t>
            </a:r>
            <a:pPr indent="0" marL="0">
              <a:buNone/>
            </a:pPr>
            <a:r>
              <a:rPr lang="en-US" sz="850" dirty="0">
                <a:solidFill>
                  <a:srgbClr val="DCE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turned → to serve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754880" y="1755648"/>
            <a:ext cx="3931920" cy="1719072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846320" y="1828800"/>
            <a:ext cx="3749040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Turned to God — living and true</a:t>
            </a:r>
            <a:endParaRPr lang="en-US" sz="12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idols — what followed necessarily</a:t>
            </a:r>
            <a:endParaRPr lang="en-US" sz="12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serve — the fruit of salvation, not its price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4389120" y="2148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57200" y="3703320"/>
            <a:ext cx="8229600" cy="822960"/>
          </a:xfrm>
          <a:prstGeom prst="roundRect">
            <a:avLst>
              <a:gd name="adj" fmla="val 6667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1792" y="3703320"/>
            <a:ext cx="79004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didn’t turn from idols to be saved. They turned from idols because they had been saved. Don’t confuse description with condition.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Rapture · Resurrection · Rescue</a:t>
            </a:r>
            <a:endParaRPr lang="en-US" sz="2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Thessalonians 1:10 · III.A–C — The gospel in prospect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457200" y="1188720"/>
            <a:ext cx="2499360" cy="566928"/>
          </a:xfrm>
          <a:prstGeom prst="rect">
            <a:avLst/>
          </a:prstGeom>
          <a:solidFill>
            <a:srgbClr val="2E5496"/>
          </a:solidFill>
          <a:ln w="12700">
            <a:solidFill>
              <a:srgbClr val="2E549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1234440"/>
            <a:ext cx="2316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Rapture · 10a</a:t>
            </a:r>
            <a:endParaRPr lang="en-US" sz="1200" dirty="0"/>
          </a:p>
          <a:p>
            <a:pPr indent="0" marL="0">
              <a:buNone/>
            </a:pPr>
            <a:r>
              <a:rPr lang="en-US" sz="1300" b="1" dirty="0">
                <a:solidFill>
                  <a:srgbClr val="E4D6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ἀναμένειν</a:t>
            </a:r>
            <a:pPr indent="0" marL="0">
              <a:buNone/>
            </a:pPr>
            <a:r>
              <a:rPr lang="en-US" sz="850" dirty="0">
                <a:solidFill>
                  <a:srgbClr val="DCE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to wait for · G362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57200" y="1755648"/>
            <a:ext cx="2499360" cy="1764792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" y="1828800"/>
            <a:ext cx="2316480" cy="1636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“His Son from heaven”</a:t>
            </a:r>
            <a:endParaRPr lang="en-US" sz="12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sign attached (John 14:3)</a:t>
            </a:r>
            <a:endParaRPr lang="en-US" sz="12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 tense: a lifestyle of readiness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3020568" y="2235708"/>
            <a:ext cx="237744" cy="237744"/>
          </a:xfrm>
          <a:prstGeom prst="rightArrow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322320" y="1188720"/>
            <a:ext cx="2499360" cy="566928"/>
          </a:xfrm>
          <a:prstGeom prst="rect">
            <a:avLst/>
          </a:prstGeom>
          <a:solidFill>
            <a:srgbClr val="2E5496"/>
          </a:solidFill>
          <a:ln w="12700">
            <a:solidFill>
              <a:srgbClr val="2E549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413760" y="1234440"/>
            <a:ext cx="2316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Resurrection · 10b</a:t>
            </a:r>
            <a:endParaRPr lang="en-US" sz="1200" dirty="0"/>
          </a:p>
          <a:p>
            <a:pPr indent="0" marL="0">
              <a:buNone/>
            </a:pPr>
            <a:r>
              <a:rPr lang="en-US" sz="1300" b="1" dirty="0">
                <a:solidFill>
                  <a:srgbClr val="E4D6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“whom He raised”</a:t>
            </a:r>
            <a:pPr indent="0" marL="0">
              <a:buNone/>
            </a:pPr>
            <a:r>
              <a:rPr lang="en-US" sz="850" dirty="0">
                <a:solidFill>
                  <a:srgbClr val="DCE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from the dead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322320" y="1755648"/>
            <a:ext cx="2499360" cy="1764792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413760" y="1828800"/>
            <a:ext cx="2316480" cy="1636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 that the “living God” is living</a:t>
            </a:r>
            <a:endParaRPr lang="en-US" sz="12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hinge the whole hope swings on</a:t>
            </a:r>
            <a:endParaRPr lang="en-US" sz="12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aspiration — inheritance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885688" y="2235708"/>
            <a:ext cx="237744" cy="237744"/>
          </a:xfrm>
          <a:prstGeom prst="rightArrow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187440" y="1188720"/>
            <a:ext cx="2499360" cy="566928"/>
          </a:xfrm>
          <a:prstGeom prst="rect">
            <a:avLst/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78880" y="1234440"/>
            <a:ext cx="2316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Rescue · 10c</a:t>
            </a:r>
            <a:endParaRPr lang="en-US" sz="1200" dirty="0"/>
          </a:p>
          <a:p>
            <a:pPr indent="0" marL="0">
              <a:buNone/>
            </a:pPr>
            <a:r>
              <a:rPr lang="en-US" sz="1300" b="1" dirty="0">
                <a:solidFill>
                  <a:srgbClr val="E4D6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ὀργῆς</a:t>
            </a:r>
            <a:pPr indent="0" marL="0">
              <a:buNone/>
            </a:pPr>
            <a:r>
              <a:rPr lang="en-US" sz="850" dirty="0">
                <a:solidFill>
                  <a:srgbClr val="DCE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wrath · G3709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187440" y="1755648"/>
            <a:ext cx="2499360" cy="1764792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278880" y="1828800"/>
            <a:ext cx="2316480" cy="1636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“Who delivers us from the wrath to come”</a:t>
            </a:r>
            <a:endParaRPr lang="en-US" sz="12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earthly outpouring — the tribulation</a:t>
            </a:r>
            <a:endParaRPr lang="en-US" sz="12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Removed before it, not through it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457200" y="3703320"/>
            <a:ext cx="8229600" cy="868680"/>
          </a:xfrm>
          <a:prstGeom prst="roundRect">
            <a:avLst>
              <a:gd name="adj" fmla="val 6316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21792" y="3703320"/>
            <a:ext cx="79004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Christmas decorations in November tell you Thanksgiving is close — because Thanksgiving always comes first. Signs of the Second Coming tell us the Rapture is close.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 and apply</a:t>
            </a:r>
            <a:endParaRPr lang="en-US" sz="2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Thessalonians 1:6–10 · from the study's posted questions and applications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457200" y="1115568"/>
            <a:ext cx="4023360" cy="384048"/>
          </a:xfrm>
          <a:prstGeom prst="rect">
            <a:avLst/>
          </a:prstGeom>
          <a:solidFill>
            <a:srgbClr val="2E5496"/>
          </a:solidFill>
          <a:ln w="12700">
            <a:solidFill>
              <a:srgbClr val="2E549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66928" y="1115568"/>
            <a:ext cx="3803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57200" y="1499616"/>
            <a:ext cx="4023360" cy="2359152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663440" y="1115568"/>
            <a:ext cx="4023360" cy="384048"/>
          </a:xfrm>
          <a:prstGeom prst="rect">
            <a:avLst/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773168" y="1115568"/>
            <a:ext cx="3803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663440" y="1499616"/>
            <a:ext cx="4023360" cy="2359152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66928" y="1636776"/>
            <a:ext cx="347472" cy="347472"/>
          </a:xfrm>
          <a:prstGeom prst="ellipse">
            <a:avLst/>
          </a:prstGeom>
          <a:solidFill>
            <a:srgbClr val="2E5496"/>
          </a:solidFill>
          <a:ln w="12700">
            <a:solidFill>
              <a:srgbClr val="2E549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66928" y="16367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005840" y="1591056"/>
            <a:ext cx="336499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Verse 9 says they “turned to God from idols to serve the living and true God.” Why does the order matter, and why is turning from idols not the condition for salvation?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66928" y="2724912"/>
            <a:ext cx="347472" cy="347472"/>
          </a:xfrm>
          <a:prstGeom prst="ellipse">
            <a:avLst/>
          </a:prstGeom>
          <a:solidFill>
            <a:srgbClr val="2E5496"/>
          </a:solidFill>
          <a:ln w="12700">
            <a:solidFill>
              <a:srgbClr val="2E549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66928" y="27249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005840" y="2679192"/>
            <a:ext cx="336499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Thessalonians waited for Christ with no sign attached (1:10). How does a signless, any-moment hope change the way a believer lives day to day?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4791456" y="1591056"/>
            <a:ext cx="3767328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Become Someone Worth Imitating</a:t>
            </a:r>
            <a:endParaRPr lang="en-US" sz="125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one person who may be imitating you, and have one honest conversation about following Christ, not just you.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4791456" y="2679192"/>
            <a:ext cx="3767328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Ready, Not Anxious</a:t>
            </a:r>
            <a:endParaRPr lang="en-US" sz="125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one responsibility you’d want to be found tending if Christ returned this week, and give it deliberate attention.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457200" y="4023360"/>
            <a:ext cx="8229600" cy="566928"/>
          </a:xfrm>
          <a:prstGeom prst="roundRect">
            <a:avLst>
              <a:gd name="adj" fmla="val 9677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21792" y="4023360"/>
            <a:ext cx="79004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D5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one line: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the gospel so it is worth imitating, speak it so it echoes past you, and wait for the Son who is coming.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 Thessalonians Study 2 — The Many Faces of the Gospel: Charts</dc:title>
  <dc:subject>PptxGenJS Presentation</dc:subject>
  <dc:creator>The Gospel Vault</dc:creator>
  <cp:lastModifiedBy>The Gospel Vault</cp:lastModifiedBy>
  <cp:revision>1</cp:revision>
  <dcterms:created xsi:type="dcterms:W3CDTF">2026-10-30T06:22:48Z</dcterms:created>
  <dcterms:modified xsi:type="dcterms:W3CDTF">2026-10-30T06:22:48Z</dcterms:modified>
</cp:coreProperties>
</file>