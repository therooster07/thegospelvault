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“We’ll see you later — here, there, or in the air.” The outline gives six parting words: Mediation (v.23), Declaration (v.24), Application (v.25), Reception (v.26), Exhortation (v.27) and Benediction (v.28). Every chart stays within the commentary posted for this study; Greek words come from the study’s Greek Word Study. This study’s posted questions carry no leader answer boxes, so the closing slide’s notes point to the commentary sections that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(I–VI): The whole farewell at a glance. Pray for us — three words, the shortest request Paul makes; many local leaders are unpaid and work full-time jobs besides. The holy kiss — the key word is holy (the “holy no-no” story): whatever the greeting, nobody leaves unrecognized. Paul puts the leaders under oath to read the letter to everyone; there was only one copy. And grace closes the letter as it opened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with ἁγιάσαι): Sanctify means to set apart for God, and the commentary finds all three aspects in 1 John 3:2–3. Past — positional: we are His children, saints in His sight (“I’m Saint John the Baptist”). Promised — when He is revealed we shall be like Him: not becoming God, but like Him in holiness and freedom from sin. Present — the ongoing process Paul emphasizes in verse 23. The aorist views sanctification as a completed whole; the optative marks it as prayer, not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 with ὁλοτελεῖς, πνεῦμα, ψυχή, σῶμα): “Wholly” — holoteleis — appears only here in the New Testament, from two words: complete and end. He will sanctify you completely to the end. The whole person: spirit — the vertical, communion with God (only human beings have it); soul — the horizontal, our relationships with others; body — the instrument of both. No dimension falls outside sanctification. Quote Walvoord.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 with πιστός and καλῶν): Paul has just asked God to sanctify us completely; the answer to the obvious concern follows at once. We cannot sanctify ourselves — but we can and must make ourselves available. Kalōn is present tense: God is the one continuously calling, not merely the one who called once. Philippians 2:12–13 — He works in your “willer” and your “doer.” We will not be totally sanctified in this life, but we should be moving toward it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(VI, with χάρις): The letter opened with grace (1:1) and closes with grace (5:28); everything between happens inside the envelope of God’s undeserved favor. God did not need to create us. When a third of the angels sinned, they were cast out with no provision for salvation — they saw His power and justice, never His grace. When man fell, God sacrificed His own Son. Grace begins, sustains and completes the Christian life. Close the series: so long, Paul — here, there, or in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commentary finds three aspects of sanctification in 1 John 3:2–3 — past, promised and present. How does holding all three prevent thinking we are already perfect — or that we must make ourselves perfect? — Leader pointer: Commentary I.A–C: positionally we are already set apart and saints; the promised aspect waits for seeing Him; the present aspect is a process God works as we make ourselves available. Not perfect yet — and not self-made.  Q2: The letter begins with grace (1:1) and ends with grace (5:28). How does grace as the frame shape how we read every command and correction in between? — Leader pointer: Commentary VI and the χάρις entry: everything Paul calls for happens inside the envelope of God’s undeserved favor. The commands are grace in action, not conditions for earning acceptance — grace begins, sustains and completes the Christian life.  Applications: Make Yourself Available — Name the one area where you’ve been pulling back from God, take one step of yielding, and tell someone.  Live from Grace — Not toward It — As a group, write one sentence: what God has done among you through 1 Thessalonians. Post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10 of 10 · 1 Thessalonians 5:23–28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10 of 10 · 1 Thessalonians 5:23–28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10 of 10 · 1 Thessalonians 5:23–28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’Til We Meet Again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Paul’s farewell is not merely a closing — it is a benediction, a commission, and a promise: the God who called you is faithful, and He will finish what He started in you.</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F2F6FC"/>
          </a:solidFill>
          <a:ln w="9525">
            <a:solidFill>
              <a:srgbClr val="D5DCEA"/>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F2F6FC"/>
          </a:solidFill>
          <a:ln w="9525">
            <a:solidFill>
              <a:srgbClr val="D5DCEA"/>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F2F6FC"/>
          </a:solidFill>
          <a:ln w="9525">
            <a:solidFill>
              <a:srgbClr val="D5DCEA"/>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F2F6FC"/>
          </a:solidFill>
          <a:ln w="9525">
            <a:solidFill>
              <a:srgbClr val="D5DCEA"/>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F2F6FC"/>
          </a:solidFill>
          <a:ln w="9525">
            <a:solidFill>
              <a:srgbClr val="D5DCEA"/>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F2F6FC"/>
          </a:solidFill>
          <a:ln w="9525">
            <a:solidFill>
              <a:srgbClr val="D5DCEA"/>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09  </a:t>
            </a:r>
            <a:pPr indent="0" marL="0">
              <a:buNone/>
            </a:pPr>
            <a:r>
              <a:rPr lang="en-US" sz="1050" b="1" dirty="0">
                <a:solidFill>
                  <a:srgbClr val="595959"/>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1F3864"/>
          </a:solidFill>
          <a:ln w="9525">
            <a:solidFill>
              <a:srgbClr val="1F3864"/>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10  </a:t>
            </a:r>
            <a:pPr indent="0" marL="0">
              <a:buNone/>
            </a:pPr>
            <a:r>
              <a:rPr lang="en-US" sz="1050" b="1" dirty="0">
                <a:solidFill>
                  <a:srgbClr val="C9D5EE"/>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Six parting words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5:23–28 · Outline I–VI</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Mediation · v.23</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“May the God of peace Himself sanctify you completely”</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Declaration · v.24</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who calls you is faithful, who also will do it”</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Application · v.25</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“Brethren, pray for us” — three words</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Reception · v.26</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 holy greeting — nobody leaves unrecognized</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Exhortation · v.27</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Read to all — the Word must reach everyone (ἐνορκίζω)</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Benediction · v.28</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grace of our Lord Jesus Christ be with you”</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aspects of sanctification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 · I.A–C — from 1 John 3:2–3</a:t>
            </a:r>
            <a:endParaRPr lang="en-US" sz="1200" dirty="0"/>
          </a:p>
        </p:txBody>
      </p:sp>
      <p:sp>
        <p:nvSpPr>
          <p:cNvPr id="5" name="Shape 2"/>
          <p:cNvSpPr/>
          <p:nvPr/>
        </p:nvSpPr>
        <p:spPr>
          <a:xfrm>
            <a:off x="457200" y="1188720"/>
            <a:ext cx="2602992" cy="2057400"/>
          </a:xfrm>
          <a:prstGeom prst="roundRect">
            <a:avLst>
              <a:gd name="adj" fmla="val 2667"/>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Our past</a:t>
            </a:r>
            <a:endParaRPr lang="en-US" sz="1150" dirty="0"/>
          </a:p>
        </p:txBody>
      </p:sp>
      <p:sp>
        <p:nvSpPr>
          <p:cNvPr id="9" name="Text 6"/>
          <p:cNvSpPr/>
          <p:nvPr/>
        </p:nvSpPr>
        <p:spPr>
          <a:xfrm>
            <a:off x="530352" y="2157984"/>
            <a:ext cx="2456688"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“Now we are children of God” — positional, permanent</a:t>
            </a:r>
            <a:endParaRPr lang="en-US" sz="1150" dirty="0"/>
          </a:p>
        </p:txBody>
      </p:sp>
      <p:sp>
        <p:nvSpPr>
          <p:cNvPr id="10" name="Text 7"/>
          <p:cNvSpPr/>
          <p:nvPr/>
        </p:nvSpPr>
        <p:spPr>
          <a:xfrm>
            <a:off x="530352" y="286207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John 3:2a</a:t>
            </a:r>
            <a:endParaRPr lang="en-US" sz="900" dirty="0"/>
          </a:p>
        </p:txBody>
      </p:sp>
      <p:sp>
        <p:nvSpPr>
          <p:cNvPr id="11" name="Shape 8"/>
          <p:cNvSpPr/>
          <p:nvPr/>
        </p:nvSpPr>
        <p:spPr>
          <a:xfrm>
            <a:off x="3064764" y="209854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2057400"/>
          </a:xfrm>
          <a:prstGeom prst="roundRect">
            <a:avLst>
              <a:gd name="adj" fmla="val 2667"/>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Our promised</a:t>
            </a:r>
            <a:endParaRPr lang="en-US" sz="1150" dirty="0"/>
          </a:p>
        </p:txBody>
      </p:sp>
      <p:sp>
        <p:nvSpPr>
          <p:cNvPr id="16" name="Text 13"/>
          <p:cNvSpPr/>
          <p:nvPr/>
        </p:nvSpPr>
        <p:spPr>
          <a:xfrm>
            <a:off x="3343656" y="2157984"/>
            <a:ext cx="2456688"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shall be like Him, for we shall see Him as He is”</a:t>
            </a:r>
            <a:endParaRPr lang="en-US" sz="1150" dirty="0"/>
          </a:p>
        </p:txBody>
      </p:sp>
      <p:sp>
        <p:nvSpPr>
          <p:cNvPr id="17" name="Text 14"/>
          <p:cNvSpPr/>
          <p:nvPr/>
        </p:nvSpPr>
        <p:spPr>
          <a:xfrm>
            <a:off x="3343656" y="286207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John 3:2b</a:t>
            </a:r>
            <a:endParaRPr lang="en-US" sz="900" dirty="0"/>
          </a:p>
        </p:txBody>
      </p:sp>
      <p:sp>
        <p:nvSpPr>
          <p:cNvPr id="18" name="Shape 15"/>
          <p:cNvSpPr/>
          <p:nvPr/>
        </p:nvSpPr>
        <p:spPr>
          <a:xfrm>
            <a:off x="5878068" y="209854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2057400"/>
          </a:xfrm>
          <a:prstGeom prst="roundRect">
            <a:avLst>
              <a:gd name="adj" fmla="val 2667"/>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Our present</a:t>
            </a:r>
            <a:endParaRPr lang="en-US" sz="1150" dirty="0"/>
          </a:p>
        </p:txBody>
      </p:sp>
      <p:sp>
        <p:nvSpPr>
          <p:cNvPr id="23" name="Text 20"/>
          <p:cNvSpPr/>
          <p:nvPr/>
        </p:nvSpPr>
        <p:spPr>
          <a:xfrm>
            <a:off x="6156960" y="2157984"/>
            <a:ext cx="2456688" cy="70408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“Everyone who has this hope … purifies himself”</a:t>
            </a:r>
            <a:endParaRPr lang="en-US" sz="1150" dirty="0"/>
          </a:p>
        </p:txBody>
      </p:sp>
      <p:sp>
        <p:nvSpPr>
          <p:cNvPr id="24" name="Text 21"/>
          <p:cNvSpPr/>
          <p:nvPr/>
        </p:nvSpPr>
        <p:spPr>
          <a:xfrm>
            <a:off x="6156960" y="286207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1 John 3:3 · Paul’s emphasis</a:t>
            </a:r>
            <a:endParaRPr lang="en-US" sz="900" dirty="0"/>
          </a:p>
        </p:txBody>
      </p:sp>
      <p:sp>
        <p:nvSpPr>
          <p:cNvPr id="25" name="Shape 22"/>
          <p:cNvSpPr/>
          <p:nvPr/>
        </p:nvSpPr>
        <p:spPr>
          <a:xfrm>
            <a:off x="457200" y="3429000"/>
            <a:ext cx="8229600" cy="548640"/>
          </a:xfrm>
          <a:prstGeom prst="roundRect">
            <a:avLst>
              <a:gd name="adj" fmla="val 10000"/>
            </a:avLst>
          </a:prstGeom>
          <a:solidFill>
            <a:srgbClr val="1F3864"/>
          </a:solidFill>
          <a:ln w="12700">
            <a:solidFill>
              <a:srgbClr val="1F3864"/>
            </a:solidFill>
            <a:prstDash val="solid"/>
          </a:ln>
        </p:spPr>
      </p:sp>
      <p:sp>
        <p:nvSpPr>
          <p:cNvPr id="26" name="Text 23"/>
          <p:cNvSpPr/>
          <p:nvPr/>
        </p:nvSpPr>
        <p:spPr>
          <a:xfrm>
            <a:off x="621792" y="3429000"/>
            <a:ext cx="7900416" cy="54864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ἁγιάσαι  </a:t>
            </a:r>
            <a:pPr indent="0" marL="0">
              <a:buNone/>
            </a:pPr>
            <a:r>
              <a:rPr lang="en-US" sz="1150" dirty="0">
                <a:solidFill>
                  <a:srgbClr val="FFFFFF"/>
                </a:solidFill>
                <a:latin typeface="Arial" pitchFamily="34" charset="0"/>
                <a:ea typeface="Arial" pitchFamily="34" charset="-122"/>
                <a:cs typeface="Arial" pitchFamily="34" charset="-120"/>
              </a:rPr>
              <a:t>to sanctify — aorist: the work seen whole · optative: a prayer, not a prediction</a:t>
            </a:r>
            <a:endParaRPr lang="en-US" sz="1150" dirty="0"/>
          </a:p>
        </p:txBody>
      </p:sp>
      <p:sp>
        <p:nvSpPr>
          <p:cNvPr id="27" name="Shape 24"/>
          <p:cNvSpPr/>
          <p:nvPr/>
        </p:nvSpPr>
        <p:spPr>
          <a:xfrm>
            <a:off x="457200" y="4114800"/>
            <a:ext cx="8229600" cy="502920"/>
          </a:xfrm>
          <a:prstGeom prst="rect">
            <a:avLst/>
          </a:prstGeom>
          <a:solidFill>
            <a:srgbClr val="375623"/>
          </a:solidFill>
          <a:ln w="12700">
            <a:solidFill>
              <a:srgbClr val="375623"/>
            </a:solidFill>
            <a:prstDash val="solid"/>
          </a:ln>
        </p:spPr>
      </p:sp>
      <p:sp>
        <p:nvSpPr>
          <p:cNvPr id="28" name="Text 25"/>
          <p:cNvSpPr/>
          <p:nvPr/>
        </p:nvSpPr>
        <p:spPr>
          <a:xfrm>
            <a:off x="621792" y="4114800"/>
            <a:ext cx="7900416" cy="5029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Can we see Jesus now? Yes — on the pages of Scripture. Beholding Him, we are being transformed (2 Cor 3:18).</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Spirit, soul and body — wholly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 · I.C — Our present sanctification</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Spirit — vertical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πνεῦμα</a:t>
            </a:r>
            <a:pPr indent="0" marL="0">
              <a:buNone/>
            </a:pPr>
            <a:r>
              <a:rPr lang="en-US" sz="850" dirty="0">
                <a:solidFill>
                  <a:srgbClr val="DCE4F2"/>
                </a:solidFill>
                <a:latin typeface="Arial" pitchFamily="34" charset="0"/>
                <a:ea typeface="Arial" pitchFamily="34" charset="-122"/>
                <a:cs typeface="Arial" pitchFamily="34" charset="-120"/>
              </a:rPr>
              <a:t>  pneuma · G4151</a:t>
            </a:r>
            <a:endParaRPr lang="en-US" sz="1200" dirty="0"/>
          </a:p>
        </p:txBody>
      </p:sp>
      <p:sp>
        <p:nvSpPr>
          <p:cNvPr id="7" name="Shape 4"/>
          <p:cNvSpPr/>
          <p:nvPr/>
        </p:nvSpPr>
        <p:spPr>
          <a:xfrm>
            <a:off x="457200" y="1755648"/>
            <a:ext cx="2621280" cy="1536192"/>
          </a:xfrm>
          <a:prstGeom prst="rect">
            <a:avLst/>
          </a:prstGeom>
          <a:solidFill>
            <a:srgbClr val="F2F6FC"/>
          </a:solidFill>
          <a:ln w="9525">
            <a:solidFill>
              <a:srgbClr val="D5DCEA"/>
            </a:solidFill>
            <a:prstDash val="solid"/>
          </a:ln>
        </p:spPr>
      </p:sp>
      <p:sp>
        <p:nvSpPr>
          <p:cNvPr id="8" name="Text 5"/>
          <p:cNvSpPr/>
          <p:nvPr/>
        </p:nvSpPr>
        <p:spPr>
          <a:xfrm>
            <a:off x="54864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part that communicates with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Only human beings have it</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Soul — horizontal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ψυχή</a:t>
            </a:r>
            <a:pPr indent="0" marL="0">
              <a:buNone/>
            </a:pPr>
            <a:r>
              <a:rPr lang="en-US" sz="850" dirty="0">
                <a:solidFill>
                  <a:srgbClr val="DCE4F2"/>
                </a:solidFill>
                <a:latin typeface="Arial" pitchFamily="34" charset="0"/>
                <a:ea typeface="Arial" pitchFamily="34" charset="-122"/>
                <a:cs typeface="Arial" pitchFamily="34" charset="-120"/>
              </a:rPr>
              <a:t>  psychē · G5590</a:t>
            </a:r>
            <a:endParaRPr lang="en-US" sz="1200" dirty="0"/>
          </a:p>
        </p:txBody>
      </p:sp>
      <p:sp>
        <p:nvSpPr>
          <p:cNvPr id="11" name="Shape 8"/>
          <p:cNvSpPr/>
          <p:nvPr/>
        </p:nvSpPr>
        <p:spPr>
          <a:xfrm>
            <a:off x="3261360" y="1755648"/>
            <a:ext cx="2621280" cy="153619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Our relationships with others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How we love, serve and carry one another</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Body — the instrument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σῶμα</a:t>
            </a:r>
            <a:pPr indent="0" marL="0">
              <a:buNone/>
            </a:pPr>
            <a:r>
              <a:rPr lang="en-US" sz="850" dirty="0">
                <a:solidFill>
                  <a:srgbClr val="DCE4F2"/>
                </a:solidFill>
                <a:latin typeface="Arial" pitchFamily="34" charset="0"/>
                <a:ea typeface="Arial" pitchFamily="34" charset="-122"/>
                <a:cs typeface="Arial" pitchFamily="34" charset="-120"/>
              </a:rPr>
              <a:t>  sōma · G4983</a:t>
            </a:r>
            <a:endParaRPr lang="en-US" sz="1200" dirty="0"/>
          </a:p>
        </p:txBody>
      </p:sp>
      <p:sp>
        <p:nvSpPr>
          <p:cNvPr id="15" name="Shape 12"/>
          <p:cNvSpPr/>
          <p:nvPr/>
        </p:nvSpPr>
        <p:spPr>
          <a:xfrm>
            <a:off x="6065520" y="1755648"/>
            <a:ext cx="2621280" cy="153619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means by which we do it 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Sanctified to God, used by God</a:t>
            </a:r>
            <a:endParaRPr lang="en-US" sz="1250" dirty="0"/>
          </a:p>
        </p:txBody>
      </p:sp>
      <p:sp>
        <p:nvSpPr>
          <p:cNvPr id="17" name="Shape 14"/>
          <p:cNvSpPr/>
          <p:nvPr/>
        </p:nvSpPr>
        <p:spPr>
          <a:xfrm>
            <a:off x="457200" y="3474720"/>
            <a:ext cx="8229600" cy="502920"/>
          </a:xfrm>
          <a:prstGeom prst="roundRect">
            <a:avLst>
              <a:gd name="adj" fmla="val 10909"/>
            </a:avLst>
          </a:prstGeom>
          <a:solidFill>
            <a:srgbClr val="1F3864"/>
          </a:solidFill>
          <a:ln w="12700">
            <a:solidFill>
              <a:srgbClr val="1F3864"/>
            </a:solidFill>
            <a:prstDash val="solid"/>
          </a:ln>
        </p:spPr>
      </p:sp>
      <p:sp>
        <p:nvSpPr>
          <p:cNvPr id="18" name="Text 15"/>
          <p:cNvSpPr/>
          <p:nvPr/>
        </p:nvSpPr>
        <p:spPr>
          <a:xfrm>
            <a:off x="621792" y="3474720"/>
            <a:ext cx="7900416" cy="50292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ὁλοτελεῖς  </a:t>
            </a:r>
            <a:pPr indent="0" marL="0">
              <a:buNone/>
            </a:pPr>
            <a:r>
              <a:rPr lang="en-US" sz="1150" dirty="0">
                <a:solidFill>
                  <a:srgbClr val="FFFFFF"/>
                </a:solidFill>
                <a:latin typeface="Arial" pitchFamily="34" charset="0"/>
                <a:ea typeface="Arial" pitchFamily="34" charset="-122"/>
                <a:cs typeface="Arial" pitchFamily="34" charset="-120"/>
              </a:rPr>
              <a:t>wholly — “completely to the end” · found only here in the New Testament</a:t>
            </a:r>
            <a:endParaRPr lang="en-US" sz="1150" dirty="0"/>
          </a:p>
        </p:txBody>
      </p:sp>
      <p:sp>
        <p:nvSpPr>
          <p:cNvPr id="19" name="Shape 16"/>
          <p:cNvSpPr/>
          <p:nvPr/>
        </p:nvSpPr>
        <p:spPr>
          <a:xfrm>
            <a:off x="457200" y="4114800"/>
            <a:ext cx="8229600" cy="502920"/>
          </a:xfrm>
          <a:prstGeom prst="rect">
            <a:avLst/>
          </a:prstGeom>
          <a:solidFill>
            <a:srgbClr val="2E5496"/>
          </a:solidFill>
          <a:ln w="12700">
            <a:solidFill>
              <a:srgbClr val="2E5496"/>
            </a:solidFill>
            <a:prstDash val="solid"/>
          </a:ln>
        </p:spPr>
      </p:sp>
      <p:sp>
        <p:nvSpPr>
          <p:cNvPr id="20" name="Text 17"/>
          <p:cNvSpPr/>
          <p:nvPr/>
        </p:nvSpPr>
        <p:spPr>
          <a:xfrm>
            <a:off x="621792" y="4114800"/>
            <a:ext cx="7900416" cy="5029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Walvoord: “Our physical bodies, our spiritual or intellectual life, and our psychological or natural life are all part of this sanctification process.”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“He who calls you is faithful”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5:24 · II — A parting declaration</a:t>
            </a:r>
            <a:endParaRPr lang="en-US" sz="1200" dirty="0"/>
          </a:p>
        </p:txBody>
      </p:sp>
      <p:sp>
        <p:nvSpPr>
          <p:cNvPr id="5" name="Shape 2"/>
          <p:cNvSpPr/>
          <p:nvPr/>
        </p:nvSpPr>
        <p:spPr>
          <a:xfrm>
            <a:off x="457200" y="1188720"/>
            <a:ext cx="2499360" cy="566928"/>
          </a:xfrm>
          <a:prstGeom prst="rect">
            <a:avLst/>
          </a:prstGeom>
          <a:solidFill>
            <a:srgbClr val="6B7280"/>
          </a:solidFill>
          <a:ln w="12700">
            <a:solidFill>
              <a:srgbClr val="6B7280"/>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we cannot do</a:t>
            </a:r>
            <a:endParaRPr lang="en-US" sz="1200" dirty="0"/>
          </a:p>
        </p:txBody>
      </p:sp>
      <p:sp>
        <p:nvSpPr>
          <p:cNvPr id="7" name="Shape 4"/>
          <p:cNvSpPr/>
          <p:nvPr/>
        </p:nvSpPr>
        <p:spPr>
          <a:xfrm>
            <a:off x="457200" y="1755648"/>
            <a:ext cx="2499360" cy="1719072"/>
          </a:xfrm>
          <a:prstGeom prst="rect">
            <a:avLst/>
          </a:prstGeom>
          <a:solidFill>
            <a:srgbClr val="F2F6FC"/>
          </a:solidFill>
          <a:ln w="9525">
            <a:solidFill>
              <a:srgbClr val="D5DCEA"/>
            </a:solidFill>
            <a:prstDash val="solid"/>
          </a:ln>
        </p:spPr>
      </p:sp>
      <p:sp>
        <p:nvSpPr>
          <p:cNvPr id="8" name="Text 5"/>
          <p:cNvSpPr/>
          <p:nvPr/>
        </p:nvSpPr>
        <p:spPr>
          <a:xfrm>
            <a:off x="548640" y="1828800"/>
            <a:ext cx="231648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Sanctify ourselves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 totally sanctified in this life</a:t>
            </a:r>
            <a:endParaRPr lang="en-US" sz="1250" dirty="0"/>
          </a:p>
        </p:txBody>
      </p:sp>
      <p:sp>
        <p:nvSpPr>
          <p:cNvPr id="9" name="Shape 6"/>
          <p:cNvSpPr/>
          <p:nvPr/>
        </p:nvSpPr>
        <p:spPr>
          <a:xfrm>
            <a:off x="3020568" y="22128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God does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πιστός · καλῶν</a:t>
            </a:r>
            <a:pPr indent="0" marL="0">
              <a:buNone/>
            </a:pPr>
            <a:r>
              <a:rPr lang="en-US" sz="850" dirty="0">
                <a:solidFill>
                  <a:srgbClr val="DCE4F2"/>
                </a:solidFill>
                <a:latin typeface="Arial" pitchFamily="34" charset="0"/>
                <a:ea typeface="Arial" pitchFamily="34" charset="-122"/>
                <a:cs typeface="Arial" pitchFamily="34" charset="-120"/>
              </a:rPr>
              <a:t>  faithful · calling</a:t>
            </a:r>
            <a:endParaRPr lang="en-US" sz="1200" dirty="0"/>
          </a:p>
        </p:txBody>
      </p:sp>
      <p:sp>
        <p:nvSpPr>
          <p:cNvPr id="12" name="Shape 9"/>
          <p:cNvSpPr/>
          <p:nvPr/>
        </p:nvSpPr>
        <p:spPr>
          <a:xfrm>
            <a:off x="3322320" y="1755648"/>
            <a:ext cx="2499360" cy="17190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is faithful — covenant dependability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keeps calling (present tense)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will do it</a:t>
            </a:r>
            <a:endParaRPr lang="en-US" sz="1250" dirty="0"/>
          </a:p>
        </p:txBody>
      </p:sp>
      <p:sp>
        <p:nvSpPr>
          <p:cNvPr id="14" name="Shape 11"/>
          <p:cNvSpPr/>
          <p:nvPr/>
        </p:nvSpPr>
        <p:spPr>
          <a:xfrm>
            <a:off x="5885688" y="22128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we must do</a:t>
            </a:r>
            <a:endParaRPr lang="en-US" sz="1200" dirty="0"/>
          </a:p>
        </p:txBody>
      </p:sp>
      <p:sp>
        <p:nvSpPr>
          <p:cNvPr id="17" name="Shape 14"/>
          <p:cNvSpPr/>
          <p:nvPr/>
        </p:nvSpPr>
        <p:spPr>
          <a:xfrm>
            <a:off x="6187440" y="1755648"/>
            <a:ext cx="2499360" cy="17190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5910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Make ourselves available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Stop resisting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Behold Him in the Word (2 Cor 3:18)</a:t>
            </a:r>
            <a:endParaRPr lang="en-US" sz="1250" dirty="0"/>
          </a:p>
        </p:txBody>
      </p:sp>
      <p:sp>
        <p:nvSpPr>
          <p:cNvPr id="19" name="Shape 16"/>
          <p:cNvSpPr/>
          <p:nvPr/>
        </p:nvSpPr>
        <p:spPr>
          <a:xfrm>
            <a:off x="457200" y="3657600"/>
            <a:ext cx="8229600" cy="914400"/>
          </a:xfrm>
          <a:prstGeom prst="roundRect">
            <a:avLst>
              <a:gd name="adj" fmla="val 6000"/>
            </a:avLst>
          </a:prstGeom>
          <a:solidFill>
            <a:srgbClr val="1F3864"/>
          </a:solidFill>
          <a:ln w="12700">
            <a:solidFill>
              <a:srgbClr val="1F3864"/>
            </a:solidFill>
            <a:prstDash val="solid"/>
          </a:ln>
        </p:spPr>
      </p:sp>
      <p:sp>
        <p:nvSpPr>
          <p:cNvPr id="20" name="Text 17"/>
          <p:cNvSpPr/>
          <p:nvPr/>
        </p:nvSpPr>
        <p:spPr>
          <a:xfrm>
            <a:off x="621792" y="3657600"/>
            <a:ext cx="7900416" cy="9144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Philippians 2:12–13:  </a:t>
            </a:r>
            <a:pPr indent="0" marL="0">
              <a:buNone/>
            </a:pPr>
            <a:r>
              <a:rPr lang="en-US" sz="1200" dirty="0">
                <a:solidFill>
                  <a:srgbClr val="FFFFFF"/>
                </a:solidFill>
                <a:latin typeface="Arial" pitchFamily="34" charset="0"/>
                <a:ea typeface="Arial" pitchFamily="34" charset="-122"/>
                <a:cs typeface="Arial" pitchFamily="34" charset="-120"/>
              </a:rPr>
              <a:t>“It is God who works in you both to will and to do for His good pleasure.” He makes your willer will and your doer do.</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at both ends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 and 5:28 · VI — A parting benediction</a:t>
            </a:r>
            <a:endParaRPr lang="en-US" sz="1200" dirty="0"/>
          </a:p>
        </p:txBody>
      </p:sp>
      <p:sp>
        <p:nvSpPr>
          <p:cNvPr id="5" name="Shape 2"/>
          <p:cNvSpPr/>
          <p:nvPr/>
        </p:nvSpPr>
        <p:spPr>
          <a:xfrm>
            <a:off x="457200" y="1188720"/>
            <a:ext cx="1899666" cy="2011680"/>
          </a:xfrm>
          <a:prstGeom prst="roundRect">
            <a:avLst>
              <a:gd name="adj" fmla="val 2888"/>
            </a:avLst>
          </a:prstGeom>
          <a:solidFill>
            <a:srgbClr val="1F3864"/>
          </a:solidFill>
          <a:ln w="9525">
            <a:solidFill>
              <a:srgbClr val="1F3864"/>
            </a:solidFill>
            <a:prstDash val="solid"/>
          </a:ln>
        </p:spPr>
      </p:sp>
      <p:sp>
        <p:nvSpPr>
          <p:cNvPr id="6" name="Shape 3"/>
          <p:cNvSpPr/>
          <p:nvPr/>
        </p:nvSpPr>
        <p:spPr>
          <a:xfrm>
            <a:off x="1205865" y="1298448"/>
            <a:ext cx="402336" cy="402336"/>
          </a:xfrm>
          <a:prstGeom prst="ellipse">
            <a:avLst/>
          </a:prstGeom>
          <a:solidFill>
            <a:srgbClr val="FFFFFF"/>
          </a:solidFill>
          <a:ln w="12700">
            <a:solidFill>
              <a:srgbClr val="FFFFFF"/>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1:1</a:t>
            </a:r>
            <a:endParaRPr lang="en-US" sz="1150" dirty="0"/>
          </a:p>
        </p:txBody>
      </p:sp>
      <p:sp>
        <p:nvSpPr>
          <p:cNvPr id="9" name="Text 6"/>
          <p:cNvSpPr/>
          <p:nvPr/>
        </p:nvSpPr>
        <p:spPr>
          <a:xfrm>
            <a:off x="530352"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“Grace to you and peace”</a:t>
            </a:r>
            <a:endParaRPr lang="en-US" sz="1150" dirty="0"/>
          </a:p>
        </p:txBody>
      </p:sp>
      <p:sp>
        <p:nvSpPr>
          <p:cNvPr id="10" name="Text 7"/>
          <p:cNvSpPr/>
          <p:nvPr/>
        </p:nvSpPr>
        <p:spPr>
          <a:xfrm>
            <a:off x="530352"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the first word</a:t>
            </a:r>
            <a:endParaRPr lang="en-US" sz="900" dirty="0"/>
          </a:p>
        </p:txBody>
      </p:sp>
      <p:sp>
        <p:nvSpPr>
          <p:cNvPr id="11" name="Shape 8"/>
          <p:cNvSpPr/>
          <p:nvPr/>
        </p:nvSpPr>
        <p:spPr>
          <a:xfrm>
            <a:off x="236143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01168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Chapters 1–3</a:t>
            </a:r>
            <a:endParaRPr lang="en-US" sz="1150" dirty="0"/>
          </a:p>
        </p:txBody>
      </p:sp>
      <p:sp>
        <p:nvSpPr>
          <p:cNvPr id="16" name="Text 13"/>
          <p:cNvSpPr/>
          <p:nvPr/>
        </p:nvSpPr>
        <p:spPr>
          <a:xfrm>
            <a:off x="2640330"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What God has done among them</a:t>
            </a:r>
            <a:endParaRPr lang="en-US" sz="1150" dirty="0"/>
          </a:p>
        </p:txBody>
      </p:sp>
      <p:sp>
        <p:nvSpPr>
          <p:cNvPr id="17" name="Text 14"/>
          <p:cNvSpPr/>
          <p:nvPr/>
        </p:nvSpPr>
        <p:spPr>
          <a:xfrm>
            <a:off x="2640330"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inside the envelope</a:t>
            </a:r>
            <a:endParaRPr lang="en-US" sz="900" dirty="0"/>
          </a:p>
        </p:txBody>
      </p:sp>
      <p:sp>
        <p:nvSpPr>
          <p:cNvPr id="18" name="Shape 15"/>
          <p:cNvSpPr/>
          <p:nvPr/>
        </p:nvSpPr>
        <p:spPr>
          <a:xfrm>
            <a:off x="447141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01168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Chapters 4–5</a:t>
            </a:r>
            <a:endParaRPr lang="en-US" sz="1150" dirty="0"/>
          </a:p>
        </p:txBody>
      </p:sp>
      <p:sp>
        <p:nvSpPr>
          <p:cNvPr id="23" name="Text 20"/>
          <p:cNvSpPr/>
          <p:nvPr/>
        </p:nvSpPr>
        <p:spPr>
          <a:xfrm>
            <a:off x="4750308"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Commands, corrections, calls to holiness</a:t>
            </a:r>
            <a:endParaRPr lang="en-US" sz="1150" dirty="0"/>
          </a:p>
        </p:txBody>
      </p:sp>
      <p:sp>
        <p:nvSpPr>
          <p:cNvPr id="24" name="Text 21"/>
          <p:cNvSpPr/>
          <p:nvPr/>
        </p:nvSpPr>
        <p:spPr>
          <a:xfrm>
            <a:off x="4750308"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grace in action</a:t>
            </a:r>
            <a:endParaRPr lang="en-US" sz="900" dirty="0"/>
          </a:p>
        </p:txBody>
      </p:sp>
      <p:sp>
        <p:nvSpPr>
          <p:cNvPr id="25" name="Shape 22"/>
          <p:cNvSpPr/>
          <p:nvPr/>
        </p:nvSpPr>
        <p:spPr>
          <a:xfrm>
            <a:off x="658139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01168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5:28</a:t>
            </a:r>
            <a:endParaRPr lang="en-US" sz="1150" dirty="0"/>
          </a:p>
        </p:txBody>
      </p:sp>
      <p:sp>
        <p:nvSpPr>
          <p:cNvPr id="30" name="Text 27"/>
          <p:cNvSpPr/>
          <p:nvPr/>
        </p:nvSpPr>
        <p:spPr>
          <a:xfrm>
            <a:off x="6860286"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“The grace of our Lord Jesus Christ be with you”</a:t>
            </a:r>
            <a:endParaRPr lang="en-US" sz="1150" dirty="0"/>
          </a:p>
        </p:txBody>
      </p:sp>
      <p:sp>
        <p:nvSpPr>
          <p:cNvPr id="31" name="Text 28"/>
          <p:cNvSpPr/>
          <p:nvPr/>
        </p:nvSpPr>
        <p:spPr>
          <a:xfrm>
            <a:off x="6860286"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the last word</a:t>
            </a:r>
            <a:endParaRPr lang="en-US" sz="900" dirty="0"/>
          </a:p>
        </p:txBody>
      </p:sp>
      <p:sp>
        <p:nvSpPr>
          <p:cNvPr id="32" name="Shape 29"/>
          <p:cNvSpPr/>
          <p:nvPr/>
        </p:nvSpPr>
        <p:spPr>
          <a:xfrm>
            <a:off x="457200" y="3383280"/>
            <a:ext cx="3931920" cy="365760"/>
          </a:xfrm>
          <a:prstGeom prst="rect">
            <a:avLst/>
          </a:prstGeom>
          <a:solidFill>
            <a:srgbClr val="6B7280"/>
          </a:solidFill>
          <a:ln w="12700">
            <a:solidFill>
              <a:srgbClr val="6B7280"/>
            </a:solidFill>
            <a:prstDash val="solid"/>
          </a:ln>
        </p:spPr>
      </p:sp>
      <p:sp>
        <p:nvSpPr>
          <p:cNvPr id="33" name="Text 30"/>
          <p:cNvSpPr/>
          <p:nvPr/>
        </p:nvSpPr>
        <p:spPr>
          <a:xfrm>
            <a:off x="548640" y="342900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angels who sinned</a:t>
            </a:r>
            <a:endParaRPr lang="en-US" sz="1200" dirty="0"/>
          </a:p>
        </p:txBody>
      </p:sp>
      <p:sp>
        <p:nvSpPr>
          <p:cNvPr id="34" name="Shape 31"/>
          <p:cNvSpPr/>
          <p:nvPr/>
        </p:nvSpPr>
        <p:spPr>
          <a:xfrm>
            <a:off x="457200" y="3749040"/>
            <a:ext cx="3931920" cy="868680"/>
          </a:xfrm>
          <a:prstGeom prst="rect">
            <a:avLst/>
          </a:prstGeom>
          <a:solidFill>
            <a:srgbClr val="F2F6FC"/>
          </a:solidFill>
          <a:ln w="9525">
            <a:solidFill>
              <a:srgbClr val="D5DCEA"/>
            </a:solidFill>
            <a:prstDash val="solid"/>
          </a:ln>
        </p:spPr>
      </p:sp>
      <p:sp>
        <p:nvSpPr>
          <p:cNvPr id="35" name="Text 32"/>
          <p:cNvSpPr/>
          <p:nvPr/>
        </p:nvSpPr>
        <p:spPr>
          <a:xfrm>
            <a:off x="548640" y="3822192"/>
            <a:ext cx="3749040" cy="740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Saw God’s power and justice — never His grace</a:t>
            </a:r>
            <a:endParaRPr lang="en-US" sz="1250" dirty="0"/>
          </a:p>
        </p:txBody>
      </p:sp>
      <p:sp>
        <p:nvSpPr>
          <p:cNvPr id="36" name="Shape 33"/>
          <p:cNvSpPr/>
          <p:nvPr/>
        </p:nvSpPr>
        <p:spPr>
          <a:xfrm>
            <a:off x="4754880" y="3383280"/>
            <a:ext cx="3931920" cy="365760"/>
          </a:xfrm>
          <a:prstGeom prst="rect">
            <a:avLst/>
          </a:prstGeom>
          <a:solidFill>
            <a:srgbClr val="375623"/>
          </a:solidFill>
          <a:ln w="12700">
            <a:solidFill>
              <a:srgbClr val="375623"/>
            </a:solidFill>
            <a:prstDash val="solid"/>
          </a:ln>
        </p:spPr>
      </p:sp>
      <p:sp>
        <p:nvSpPr>
          <p:cNvPr id="37" name="Text 34"/>
          <p:cNvSpPr/>
          <p:nvPr/>
        </p:nvSpPr>
        <p:spPr>
          <a:xfrm>
            <a:off x="4846320" y="342900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Fallen man</a:t>
            </a:r>
            <a:endParaRPr lang="en-US" sz="1200" dirty="0"/>
          </a:p>
        </p:txBody>
      </p:sp>
      <p:sp>
        <p:nvSpPr>
          <p:cNvPr id="38" name="Shape 35"/>
          <p:cNvSpPr/>
          <p:nvPr/>
        </p:nvSpPr>
        <p:spPr>
          <a:xfrm>
            <a:off x="4754880" y="3749040"/>
            <a:ext cx="3931920" cy="868680"/>
          </a:xfrm>
          <a:prstGeom prst="rect">
            <a:avLst/>
          </a:prstGeom>
          <a:solidFill>
            <a:srgbClr val="F2F6FC"/>
          </a:solidFill>
          <a:ln w="9525">
            <a:solidFill>
              <a:srgbClr val="D5DCEA"/>
            </a:solidFill>
            <a:prstDash val="solid"/>
          </a:ln>
        </p:spPr>
      </p:sp>
      <p:sp>
        <p:nvSpPr>
          <p:cNvPr id="39" name="Text 36"/>
          <p:cNvSpPr/>
          <p:nvPr/>
        </p:nvSpPr>
        <p:spPr>
          <a:xfrm>
            <a:off x="4846320" y="3822192"/>
            <a:ext cx="3749040" cy="740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 sacrificed His own Son — grace</a:t>
            </a:r>
            <a:endParaRPr lang="en-US" sz="1250" dirty="0"/>
          </a:p>
        </p:txBody>
      </p:sp>
      <p:sp>
        <p:nvSpPr>
          <p:cNvPr id="40" name="Text 37"/>
          <p:cNvSpPr/>
          <p:nvPr/>
        </p:nvSpPr>
        <p:spPr>
          <a:xfrm>
            <a:off x="4389120" y="381762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5:23–28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commentary finds three aspects of sanctification in 1 John 3:2–3 — past, promised and present. How does holding all three prevent thinking we are already perfect — or that we must make ourselves perfect?</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letter begins with grace (1:1) and ends with grace (5:28). How does grace as the frame shape how we read every command and correction in between?</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Make Yourself Available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the one area where you’ve been pulling back from God, take one step of yielding, and tell someone.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from Grace — Not toward 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As a group, write one sentence: what God has done among you through 1 Thessalonians. Post it.</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He who calls you is faithful and will do it — grace at the start, grace at the end. Here, there, or in the air.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10 — ’Til We Meet Again: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