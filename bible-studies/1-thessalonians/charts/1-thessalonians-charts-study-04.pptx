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commentary has three movements — the success of Paul’s converts (2:13–14), the sin of Paul’s countrymen (2:15–16), and the sureness of Paul’s crown (2:17–20).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Three movements, one theme: what a successful life of service looks like. The success of the converts is measured in faithfulness under fire, not comfort. The countrymen show what opposing the gospel looks like. The crown shows what Paul was living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(I.A.1–2, with δέχομαι and ἐνεργέω): The Thessalonians had no Bible to hold up; they heard Paul and believed it as the Word of God — verbally and plenarily inspired, every word and every part. A word from men can be debated, modified or ignored; the Word of God demands a response. Then “effectively works” — present tense. Paul isn’t only talking about salvation but discipleship: the Word shaping, correcting, strengthening and maturing the believer for a lifetime.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(I.B.1–2, with μιμητής and συμφυλέτης): Paul is not holding up the Judean churches as models of piety. He is saying the consequences of receiving the gospel were the same: they were persecuted; you are persecuted. And the persecution came from their own countrymen — the most painful opposition is from those closest to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(II.A–E): Paul speaks with unusual directness about the Jewish leadership. Provocation — the Romans drove the nails, but the leaders demanded the crucifixion; and they killed their prophets (Isaiah, by tradition, sawn in two). Presumption — two thousand years of privilege, yet they did not please God. Perversity — a chosen people that used the gift as a wall rather than a door. Prejudice — forbidding the gospel to the Gentiles. Punishment — the measure filled up. (Commentary note: the study cites “Matthew 26 through 29”; Matthew has 28 chapters — read it as Matthew 26–28.)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(II.E, with ὀργή): Paul uses the past tense to show how certain the wrath is — the same logic as Romans 8:30, where the believer is already “glorified.” God is patient: four hundred more years for the Amorites (Gen 15); almost forty years for the generation that killed Jesus before AD 70, when not one stone was left on another. The commentary also points ahead: the seven-year treaty of Daniel 9:27, broken in the middle, and a tribulation for the nation (Dan 9; Rev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with ἀπορφανίζω, ἐγκόπτω, παρουσία, στέφανος, δόξα): Aporphanizō — the word for a child losing a parent; Paul is a parent wrenched from his children. Satan cut the road — but James 1 warns against blaming Satan (or God) for everything; Paul had specific knowledge here. Verse 19 carries us to the judgment seat of Christ (1 Cor 3; 2 Cor 5): wood, hay and stubble, or gold, silver and precious stones. Paul’s reward at the parousia — used here of the Rapture — is the people he led to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(Conclusion): The commentary’s closing paraphrase of John Phillips: what people rejoice over indicates their character and spiritual condition. Solomon, after a good start, rejoiced in women, power and riches — he loved things and used people. David, despite his mid-life failure, repented (Psalm 51) and served God — he used things and loved people. Paul loved people; his ambition was to see them at last as crowns to lay at Jesus’ feet. End with the question: what is your glory and joy?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The Word “effectively works” (energeō) in believers — present tense, ongoing. What does this say about the role of Scripture beyond the moment of salvation? — Leader answer: Energeō describes the Word as an active, ongoing agent inside the believer — not a one-time ignition but a continuous operation. Paul is talking about discipleship, not just evangelism: the Word keeps shaping, correcting, strengthening and maturing the believer for a lifetime.  Q2: The sermon contrasts Solomon and David. What does Paul’s crown (stephanos) reveal about what he truly valued? — Leader answer: Paul’s crown is not gold or achievement; it is people. Like David, he used things and loved people. Solomon loved things and used people — and Scripture calls that failure. What we rejoice in reveals our character and our true priorities.  Applications: Receive the Word as the Word of God — Before your next time in the Word, pray: “Lord, I receive this as Your Word, not a man’s word. Let it work in me.”  Use Things and Love People — Name one person whose growth in Christ you are investing in — or ask God this week to show you who it should be.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Study 4 of 10 · 1 Thessalonians 2:13–20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Study 4 of 10 · 1 Thessalonians 2:13–20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1 Thessalonians · Study 4 of 10 · 1 Thessalonians 2:13–20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A Successful Life of Service</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The word received as the word of God, suffering imitated well, and a hope that Paul calls his crown — what is your glory and joy?</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 ten studies · this study highlighted</a:t>
            </a:r>
            <a:endParaRPr lang="en-US" sz="1200" dirty="0"/>
          </a:p>
        </p:txBody>
      </p:sp>
      <p:sp>
        <p:nvSpPr>
          <p:cNvPr id="5" name="Shape 2"/>
          <p:cNvSpPr/>
          <p:nvPr/>
        </p:nvSpPr>
        <p:spPr>
          <a:xfrm>
            <a:off x="457200" y="1188720"/>
            <a:ext cx="1536192" cy="1371600"/>
          </a:xfrm>
          <a:prstGeom prst="rect">
            <a:avLst/>
          </a:prstGeom>
          <a:solidFill>
            <a:srgbClr val="F2F6FC"/>
          </a:solidFill>
          <a:ln w="9525">
            <a:solidFill>
              <a:srgbClr val="D5DCEA"/>
            </a:solidFill>
            <a:prstDash val="solid"/>
          </a:ln>
        </p:spPr>
      </p:sp>
      <p:sp>
        <p:nvSpPr>
          <p:cNvPr id="6" name="Text 3"/>
          <p:cNvSpPr/>
          <p:nvPr/>
        </p:nvSpPr>
        <p:spPr>
          <a:xfrm>
            <a:off x="566928"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An Introduction to the Thessalonian Church</a:t>
            </a:r>
            <a:endParaRPr lang="en-US" sz="1300" dirty="0"/>
          </a:p>
        </p:txBody>
      </p:sp>
      <p:sp>
        <p:nvSpPr>
          <p:cNvPr id="7" name="Shape 4"/>
          <p:cNvSpPr/>
          <p:nvPr/>
        </p:nvSpPr>
        <p:spPr>
          <a:xfrm>
            <a:off x="2130552" y="1188720"/>
            <a:ext cx="1536192" cy="1371600"/>
          </a:xfrm>
          <a:prstGeom prst="rect">
            <a:avLst/>
          </a:prstGeom>
          <a:solidFill>
            <a:srgbClr val="F2F6FC"/>
          </a:solidFill>
          <a:ln w="9525">
            <a:solidFill>
              <a:srgbClr val="D5DCEA"/>
            </a:solidFill>
            <a:prstDash val="solid"/>
          </a:ln>
        </p:spPr>
      </p:sp>
      <p:sp>
        <p:nvSpPr>
          <p:cNvPr id="8" name="Text 5"/>
          <p:cNvSpPr/>
          <p:nvPr/>
        </p:nvSpPr>
        <p:spPr>
          <a:xfrm>
            <a:off x="2240280"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1:6–10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Many Faces of the Gospel</a:t>
            </a:r>
            <a:endParaRPr lang="en-US" sz="1300" dirty="0"/>
          </a:p>
        </p:txBody>
      </p:sp>
      <p:sp>
        <p:nvSpPr>
          <p:cNvPr id="9" name="Shape 6"/>
          <p:cNvSpPr/>
          <p:nvPr/>
        </p:nvSpPr>
        <p:spPr>
          <a:xfrm>
            <a:off x="3803904" y="1188720"/>
            <a:ext cx="1536192" cy="1371600"/>
          </a:xfrm>
          <a:prstGeom prst="rect">
            <a:avLst/>
          </a:prstGeom>
          <a:solidFill>
            <a:srgbClr val="F2F6FC"/>
          </a:solidFill>
          <a:ln w="9525">
            <a:solidFill>
              <a:srgbClr val="D5DCEA"/>
            </a:solidFill>
            <a:prstDash val="solid"/>
          </a:ln>
        </p:spPr>
      </p:sp>
      <p:sp>
        <p:nvSpPr>
          <p:cNvPr id="10" name="Text 7"/>
          <p:cNvSpPr/>
          <p:nvPr/>
        </p:nvSpPr>
        <p:spPr>
          <a:xfrm>
            <a:off x="3913632"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Delivering the Gospel</a:t>
            </a:r>
            <a:endParaRPr lang="en-US" sz="1300" dirty="0"/>
          </a:p>
        </p:txBody>
      </p:sp>
      <p:sp>
        <p:nvSpPr>
          <p:cNvPr id="11" name="Shape 8"/>
          <p:cNvSpPr/>
          <p:nvPr/>
        </p:nvSpPr>
        <p:spPr>
          <a:xfrm>
            <a:off x="5477256" y="1188720"/>
            <a:ext cx="1536192" cy="1371600"/>
          </a:xfrm>
          <a:prstGeom prst="rect">
            <a:avLst/>
          </a:prstGeom>
          <a:solidFill>
            <a:srgbClr val="1F3864"/>
          </a:solidFill>
          <a:ln w="9525">
            <a:solidFill>
              <a:srgbClr val="1F3864"/>
            </a:solidFill>
            <a:prstDash val="solid"/>
          </a:ln>
        </p:spPr>
      </p:sp>
      <p:sp>
        <p:nvSpPr>
          <p:cNvPr id="12" name="Text 9"/>
          <p:cNvSpPr/>
          <p:nvPr/>
        </p:nvSpPr>
        <p:spPr>
          <a:xfrm>
            <a:off x="5586984" y="1298448"/>
            <a:ext cx="1316736"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04  </a:t>
            </a:r>
            <a:pPr indent="0" marL="0">
              <a:buNone/>
            </a:pPr>
            <a:r>
              <a:rPr lang="en-US" sz="1050" b="1" dirty="0">
                <a:solidFill>
                  <a:srgbClr val="C9D5EE"/>
                </a:solidFill>
                <a:latin typeface="Arial" pitchFamily="34" charset="0"/>
                <a:ea typeface="Arial" pitchFamily="34" charset="-122"/>
                <a:cs typeface="Arial" pitchFamily="34" charset="-120"/>
              </a:rPr>
              <a:t>2:13–20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A Successful Life of Service</a:t>
            </a:r>
            <a:endParaRPr lang="en-US" sz="1300" dirty="0"/>
          </a:p>
        </p:txBody>
      </p:sp>
      <p:sp>
        <p:nvSpPr>
          <p:cNvPr id="13" name="Shape 10"/>
          <p:cNvSpPr/>
          <p:nvPr/>
        </p:nvSpPr>
        <p:spPr>
          <a:xfrm>
            <a:off x="7150608" y="1188720"/>
            <a:ext cx="1536192" cy="1371600"/>
          </a:xfrm>
          <a:prstGeom prst="rect">
            <a:avLst/>
          </a:prstGeom>
          <a:solidFill>
            <a:srgbClr val="F2F6FC"/>
          </a:solidFill>
          <a:ln w="9525">
            <a:solidFill>
              <a:srgbClr val="D5DCEA"/>
            </a:solidFill>
            <a:prstDash val="solid"/>
          </a:ln>
        </p:spPr>
      </p:sp>
      <p:sp>
        <p:nvSpPr>
          <p:cNvPr id="14" name="Text 11"/>
          <p:cNvSpPr/>
          <p:nvPr/>
        </p:nvSpPr>
        <p:spPr>
          <a:xfrm>
            <a:off x="7260336"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3:1–13</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Facing Tribulation</a:t>
            </a:r>
            <a:endParaRPr lang="en-US" sz="1300" dirty="0"/>
          </a:p>
        </p:txBody>
      </p:sp>
      <p:sp>
        <p:nvSpPr>
          <p:cNvPr id="15" name="Shape 12"/>
          <p:cNvSpPr/>
          <p:nvPr/>
        </p:nvSpPr>
        <p:spPr>
          <a:xfrm>
            <a:off x="457200" y="2761488"/>
            <a:ext cx="1536192" cy="1371600"/>
          </a:xfrm>
          <a:prstGeom prst="rect">
            <a:avLst/>
          </a:prstGeom>
          <a:solidFill>
            <a:srgbClr val="F2F6FC"/>
          </a:solidFill>
          <a:ln w="9525">
            <a:solidFill>
              <a:srgbClr val="D5DCEA"/>
            </a:solidFill>
            <a:prstDash val="solid"/>
          </a:ln>
        </p:spPr>
      </p:sp>
      <p:sp>
        <p:nvSpPr>
          <p:cNvPr id="16" name="Text 13"/>
          <p:cNvSpPr/>
          <p:nvPr/>
        </p:nvSpPr>
        <p:spPr>
          <a:xfrm>
            <a:off x="566928"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4:1–12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Life That Pleases God</a:t>
            </a:r>
            <a:endParaRPr lang="en-US" sz="1300" dirty="0"/>
          </a:p>
        </p:txBody>
      </p:sp>
      <p:sp>
        <p:nvSpPr>
          <p:cNvPr id="17" name="Shape 14"/>
          <p:cNvSpPr/>
          <p:nvPr/>
        </p:nvSpPr>
        <p:spPr>
          <a:xfrm>
            <a:off x="2130552" y="2761488"/>
            <a:ext cx="1536192" cy="1371600"/>
          </a:xfrm>
          <a:prstGeom prst="rect">
            <a:avLst/>
          </a:prstGeom>
          <a:solidFill>
            <a:srgbClr val="F2F6FC"/>
          </a:solidFill>
          <a:ln w="9525">
            <a:solidFill>
              <a:srgbClr val="D5DCEA"/>
            </a:solidFill>
            <a:prstDash val="solid"/>
          </a:ln>
        </p:spPr>
      </p:sp>
      <p:sp>
        <p:nvSpPr>
          <p:cNvPr id="18" name="Text 15"/>
          <p:cNvSpPr/>
          <p:nvPr/>
        </p:nvSpPr>
        <p:spPr>
          <a:xfrm>
            <a:off x="2240280"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4:13–18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Rapture of the Church</a:t>
            </a:r>
            <a:endParaRPr lang="en-US" sz="1300" dirty="0"/>
          </a:p>
        </p:txBody>
      </p:sp>
      <p:sp>
        <p:nvSpPr>
          <p:cNvPr id="19" name="Shape 16"/>
          <p:cNvSpPr/>
          <p:nvPr/>
        </p:nvSpPr>
        <p:spPr>
          <a:xfrm>
            <a:off x="3803904" y="2761488"/>
            <a:ext cx="1536192" cy="1371600"/>
          </a:xfrm>
          <a:prstGeom prst="rect">
            <a:avLst/>
          </a:prstGeom>
          <a:solidFill>
            <a:srgbClr val="F2F6FC"/>
          </a:solidFill>
          <a:ln w="9525">
            <a:solidFill>
              <a:srgbClr val="D5DCEA"/>
            </a:solidFill>
            <a:prstDash val="solid"/>
          </a:ln>
        </p:spPr>
      </p:sp>
      <p:sp>
        <p:nvSpPr>
          <p:cNvPr id="20" name="Text 17"/>
          <p:cNvSpPr/>
          <p:nvPr/>
        </p:nvSpPr>
        <p:spPr>
          <a:xfrm>
            <a:off x="3913632"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08  </a:t>
            </a:r>
            <a:pPr indent="0" marL="0">
              <a:buNone/>
            </a:pPr>
            <a:r>
              <a:rPr lang="en-US" sz="1050" b="1" dirty="0">
                <a:solidFill>
                  <a:srgbClr val="595959"/>
                </a:solidFill>
                <a:latin typeface="Arial" pitchFamily="34" charset="0"/>
                <a:ea typeface="Arial" pitchFamily="34" charset="-122"/>
                <a:cs typeface="Arial" pitchFamily="34" charset="-120"/>
              </a:rPr>
              <a:t>5:1–11</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A Purifying Hope</a:t>
            </a:r>
            <a:endParaRPr lang="en-US" sz="1300" dirty="0"/>
          </a:p>
        </p:txBody>
      </p:sp>
      <p:sp>
        <p:nvSpPr>
          <p:cNvPr id="21" name="Shape 18"/>
          <p:cNvSpPr/>
          <p:nvPr/>
        </p:nvSpPr>
        <p:spPr>
          <a:xfrm>
            <a:off x="5477256" y="2761488"/>
            <a:ext cx="1536192" cy="1371600"/>
          </a:xfrm>
          <a:prstGeom prst="rect">
            <a:avLst/>
          </a:prstGeom>
          <a:solidFill>
            <a:srgbClr val="F2F6FC"/>
          </a:solidFill>
          <a:ln w="9525">
            <a:solidFill>
              <a:srgbClr val="D5DCEA"/>
            </a:solidFill>
            <a:prstDash val="solid"/>
          </a:ln>
        </p:spPr>
      </p:sp>
      <p:sp>
        <p:nvSpPr>
          <p:cNvPr id="22" name="Text 19"/>
          <p:cNvSpPr/>
          <p:nvPr/>
        </p:nvSpPr>
        <p:spPr>
          <a:xfrm>
            <a:off x="5586984"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09  </a:t>
            </a:r>
            <a:pPr indent="0" marL="0">
              <a:buNone/>
            </a:pPr>
            <a:r>
              <a:rPr lang="en-US" sz="1050" b="1" dirty="0">
                <a:solidFill>
                  <a:srgbClr val="595959"/>
                </a:solidFill>
                <a:latin typeface="Arial" pitchFamily="34" charset="0"/>
                <a:ea typeface="Arial" pitchFamily="34" charset="-122"/>
                <a:cs typeface="Arial" pitchFamily="34" charset="-120"/>
              </a:rPr>
              <a:t>5:12–22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Exhortations</a:t>
            </a:r>
            <a:endParaRPr lang="en-US" sz="1300" dirty="0"/>
          </a:p>
        </p:txBody>
      </p:sp>
      <p:sp>
        <p:nvSpPr>
          <p:cNvPr id="23" name="Shape 20"/>
          <p:cNvSpPr/>
          <p:nvPr/>
        </p:nvSpPr>
        <p:spPr>
          <a:xfrm>
            <a:off x="7150608" y="2761488"/>
            <a:ext cx="1536192" cy="1371600"/>
          </a:xfrm>
          <a:prstGeom prst="rect">
            <a:avLst/>
          </a:prstGeom>
          <a:solidFill>
            <a:srgbClr val="F2F6FC"/>
          </a:solidFill>
          <a:ln w="9525">
            <a:solidFill>
              <a:srgbClr val="D5DCEA"/>
            </a:solidFill>
            <a:prstDash val="solid"/>
          </a:ln>
        </p:spPr>
      </p:sp>
      <p:sp>
        <p:nvSpPr>
          <p:cNvPr id="24" name="Text 21"/>
          <p:cNvSpPr/>
          <p:nvPr/>
        </p:nvSpPr>
        <p:spPr>
          <a:xfrm>
            <a:off x="7260336"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10  </a:t>
            </a:r>
            <a:pPr indent="0" marL="0">
              <a:buNone/>
            </a:pPr>
            <a:r>
              <a:rPr lang="en-US" sz="1050" b="1" dirty="0">
                <a:solidFill>
                  <a:srgbClr val="595959"/>
                </a:solidFill>
                <a:latin typeface="Arial" pitchFamily="34" charset="0"/>
                <a:ea typeface="Arial" pitchFamily="34" charset="-122"/>
                <a:cs typeface="Arial" pitchFamily="34" charset="-120"/>
              </a:rPr>
              <a:t>5:23–28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’Til We Meet Again</a:t>
            </a:r>
            <a:endParaRPr lang="en-US" sz="1300" dirty="0"/>
          </a:p>
        </p:txBody>
      </p:sp>
      <p:sp>
        <p:nvSpPr>
          <p:cNvPr id="25" name="Shape 22"/>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6" name="Text 23"/>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“Finally” (4:1) marks the hinge:  </a:t>
            </a:r>
            <a:pPr indent="0" marL="0">
              <a:buNone/>
            </a:pPr>
            <a:r>
              <a:rPr lang="en-US" sz="1100" dirty="0">
                <a:solidFill>
                  <a:srgbClr val="FFFFFF"/>
                </a:solidFill>
                <a:latin typeface="Arial" pitchFamily="34" charset="0"/>
                <a:ea typeface="Arial" pitchFamily="34" charset="-122"/>
                <a:cs typeface="Arial" pitchFamily="34" charset="-120"/>
              </a:rPr>
              <a:t>chapters 1–3 lay the foundation; chapters 4–5 turn that theology into life.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Converts, countrymen, crown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2:13–20 · Outline I–III</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 The converts</a:t>
            </a:r>
            <a:endParaRPr lang="en-US" sz="1200" dirty="0"/>
          </a:p>
        </p:txBody>
      </p:sp>
      <p:sp>
        <p:nvSpPr>
          <p:cNvPr id="7" name="Shape 4"/>
          <p:cNvSpPr/>
          <p:nvPr/>
        </p:nvSpPr>
        <p:spPr>
          <a:xfrm>
            <a:off x="457200" y="1554480"/>
            <a:ext cx="2499360" cy="2148840"/>
          </a:xfrm>
          <a:prstGeom prst="rect">
            <a:avLst/>
          </a:prstGeom>
          <a:solidFill>
            <a:srgbClr val="F2F6FC"/>
          </a:solidFill>
          <a:ln w="9525">
            <a:solidFill>
              <a:srgbClr val="D5DCEA"/>
            </a:solidFill>
            <a:prstDash val="solid"/>
          </a:ln>
        </p:spPr>
      </p:sp>
      <p:sp>
        <p:nvSpPr>
          <p:cNvPr id="8" name="Text 5"/>
          <p:cNvSpPr/>
          <p:nvPr/>
        </p:nvSpPr>
        <p:spPr>
          <a:xfrm>
            <a:off x="548640" y="1627632"/>
            <a:ext cx="2316480" cy="202082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2:13–14 · Their success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Welcomed the word as the Word of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It keeps working in those who believe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Followed the Judean churches — in suffering</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6B7280"/>
          </a:solidFill>
          <a:ln w="12700">
            <a:solidFill>
              <a:srgbClr val="6B7280"/>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 The countrymen</a:t>
            </a:r>
            <a:endParaRPr lang="en-US" sz="1200" dirty="0"/>
          </a:p>
        </p:txBody>
      </p:sp>
      <p:sp>
        <p:nvSpPr>
          <p:cNvPr id="12" name="Shape 9"/>
          <p:cNvSpPr/>
          <p:nvPr/>
        </p:nvSpPr>
        <p:spPr>
          <a:xfrm>
            <a:off x="3322320" y="1554480"/>
            <a:ext cx="2499360" cy="214884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202082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2:15–16 · Their sin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Killed the Lord and the prophets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Persecuted Paul; forbade preaching to Gentiles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Wrath has come upon them</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III · The crown</a:t>
            </a:r>
            <a:endParaRPr lang="en-US" sz="1200" dirty="0"/>
          </a:p>
        </p:txBody>
      </p:sp>
      <p:sp>
        <p:nvSpPr>
          <p:cNvPr id="17" name="Shape 14"/>
          <p:cNvSpPr/>
          <p:nvPr/>
        </p:nvSpPr>
        <p:spPr>
          <a:xfrm>
            <a:off x="6187440" y="1554480"/>
            <a:ext cx="2499360" cy="214884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202082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2:17–20 · Its sureness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Torn away in presence, not in heart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Hindered by Satan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“You are our glory and joy”</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success of these converts is not measured in comfort or ease. It is measured in faithfulness under fire.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they received the Word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2:13 · I.A — Divine authenticity and divine achievement</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Divine authenticity · 13a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δέχομαι</a:t>
            </a:r>
            <a:pPr indent="0" marL="0">
              <a:buNone/>
            </a:pPr>
            <a:r>
              <a:rPr lang="en-US" sz="850" dirty="0">
                <a:solidFill>
                  <a:srgbClr val="DCE4F2"/>
                </a:solidFill>
                <a:latin typeface="Arial" pitchFamily="34" charset="0"/>
                <a:ea typeface="Arial" pitchFamily="34" charset="-122"/>
                <a:cs typeface="Arial" pitchFamily="34" charset="-120"/>
              </a:rPr>
              <a:t>  welcomed · G1209</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the word of men — the Word of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 active, intentional welcome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Verbal, plenary inspiration: every word, every part</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Divine achievement · 13b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ἐνεργέω</a:t>
            </a:r>
            <a:pPr indent="0" marL="0">
              <a:buNone/>
            </a:pPr>
            <a:r>
              <a:rPr lang="en-US" sz="850" dirty="0">
                <a:solidFill>
                  <a:srgbClr val="DCE4F2"/>
                </a:solidFill>
                <a:latin typeface="Arial" pitchFamily="34" charset="0"/>
                <a:ea typeface="Arial" pitchFamily="34" charset="-122"/>
                <a:cs typeface="Arial" pitchFamily="34" charset="-120"/>
              </a:rPr>
              <a:t>  effectively works · G1754</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Works — present tense, not “worked”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Ongoing operation in believers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Discipleship for a lifetime, not only salvation</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731520"/>
          </a:xfrm>
          <a:prstGeom prst="roundRect">
            <a:avLst>
              <a:gd name="adj" fmla="val 7500"/>
            </a:avLst>
          </a:prstGeom>
          <a:solidFill>
            <a:srgbClr val="1F3864"/>
          </a:solidFill>
          <a:ln w="12700">
            <a:solidFill>
              <a:srgbClr val="1F3864"/>
            </a:solidFill>
            <a:prstDash val="solid"/>
          </a:ln>
        </p:spPr>
      </p:sp>
      <p:sp>
        <p:nvSpPr>
          <p:cNvPr id="15" name="Text 12"/>
          <p:cNvSpPr/>
          <p:nvPr/>
        </p:nvSpPr>
        <p:spPr>
          <a:xfrm>
            <a:off x="621792" y="374904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 word from men can be debated, modified, or ignored. The Word of God demands a response. It carries authority.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Imitators — in consequence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2:14 · I.B — How they acted on the Word</a:t>
            </a:r>
            <a:endParaRPr lang="en-US" sz="1200" dirty="0"/>
          </a:p>
        </p:txBody>
      </p:sp>
      <p:sp>
        <p:nvSpPr>
          <p:cNvPr id="5" name="Shape 2"/>
          <p:cNvSpPr/>
          <p:nvPr/>
        </p:nvSpPr>
        <p:spPr>
          <a:xfrm>
            <a:off x="457200" y="1188720"/>
            <a:ext cx="1899666" cy="201168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Judea</a:t>
            </a:r>
            <a:endParaRPr lang="en-US" sz="1150" dirty="0"/>
          </a:p>
        </p:txBody>
      </p:sp>
      <p:sp>
        <p:nvSpPr>
          <p:cNvPr id="9" name="Text 6"/>
          <p:cNvSpPr/>
          <p:nvPr/>
        </p:nvSpPr>
        <p:spPr>
          <a:xfrm>
            <a:off x="530352"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churches received the gospel</a:t>
            </a:r>
            <a:endParaRPr lang="en-US" sz="1150" dirty="0"/>
          </a:p>
        </p:txBody>
      </p:sp>
      <p:sp>
        <p:nvSpPr>
          <p:cNvPr id="10" name="Text 7"/>
          <p:cNvSpPr/>
          <p:nvPr/>
        </p:nvSpPr>
        <p:spPr>
          <a:xfrm>
            <a:off x="530352"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in Christ Jesus</a:t>
            </a:r>
            <a:endParaRPr lang="en-US" sz="900" dirty="0"/>
          </a:p>
        </p:txBody>
      </p:sp>
      <p:sp>
        <p:nvSpPr>
          <p:cNvPr id="11" name="Shape 8"/>
          <p:cNvSpPr/>
          <p:nvPr/>
        </p:nvSpPr>
        <p:spPr>
          <a:xfrm>
            <a:off x="236143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01168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Persecuted</a:t>
            </a:r>
            <a:endParaRPr lang="en-US" sz="1150" dirty="0"/>
          </a:p>
        </p:txBody>
      </p:sp>
      <p:sp>
        <p:nvSpPr>
          <p:cNvPr id="16" name="Text 13"/>
          <p:cNvSpPr/>
          <p:nvPr/>
        </p:nvSpPr>
        <p:spPr>
          <a:xfrm>
            <a:off x="2640330"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By the Judeans — their own people</a:t>
            </a:r>
            <a:endParaRPr lang="en-US" sz="1150" dirty="0"/>
          </a:p>
        </p:txBody>
      </p:sp>
      <p:sp>
        <p:nvSpPr>
          <p:cNvPr id="17" name="Text 14"/>
          <p:cNvSpPr/>
          <p:nvPr/>
        </p:nvSpPr>
        <p:spPr>
          <a:xfrm>
            <a:off x="2640330"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v.14b</a:t>
            </a:r>
            <a:endParaRPr lang="en-US" sz="900" dirty="0"/>
          </a:p>
        </p:txBody>
      </p:sp>
      <p:sp>
        <p:nvSpPr>
          <p:cNvPr id="18" name="Shape 15"/>
          <p:cNvSpPr/>
          <p:nvPr/>
        </p:nvSpPr>
        <p:spPr>
          <a:xfrm>
            <a:off x="447141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011680"/>
          </a:xfrm>
          <a:prstGeom prst="roundRect">
            <a:avLst>
              <a:gd name="adj" fmla="val 2888"/>
            </a:avLst>
          </a:prstGeom>
          <a:solidFill>
            <a:srgbClr val="1F3864"/>
          </a:solidFill>
          <a:ln w="9525">
            <a:solidFill>
              <a:srgbClr val="1F3864"/>
            </a:solidFill>
            <a:prstDash val="solid"/>
          </a:ln>
        </p:spPr>
      </p:sp>
      <p:sp>
        <p:nvSpPr>
          <p:cNvPr id="20" name="Shape 17"/>
          <p:cNvSpPr/>
          <p:nvPr/>
        </p:nvSpPr>
        <p:spPr>
          <a:xfrm>
            <a:off x="5425821"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23" name="Text 20"/>
          <p:cNvSpPr/>
          <p:nvPr/>
        </p:nvSpPr>
        <p:spPr>
          <a:xfrm>
            <a:off x="4750308"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You received the same Word</a:t>
            </a:r>
            <a:endParaRPr lang="en-US" sz="1150" dirty="0"/>
          </a:p>
        </p:txBody>
      </p:sp>
      <p:sp>
        <p:nvSpPr>
          <p:cNvPr id="24" name="Text 21"/>
          <p:cNvSpPr/>
          <p:nvPr/>
        </p:nvSpPr>
        <p:spPr>
          <a:xfrm>
            <a:off x="4750308"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μιμητής — imitators</a:t>
            </a:r>
            <a:endParaRPr lang="en-US" sz="900" dirty="0"/>
          </a:p>
        </p:txBody>
      </p:sp>
      <p:sp>
        <p:nvSpPr>
          <p:cNvPr id="25" name="Shape 22"/>
          <p:cNvSpPr/>
          <p:nvPr/>
        </p:nvSpPr>
        <p:spPr>
          <a:xfrm>
            <a:off x="658139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011680"/>
          </a:xfrm>
          <a:prstGeom prst="roundRect">
            <a:avLst>
              <a:gd name="adj" fmla="val 2888"/>
            </a:avLst>
          </a:prstGeom>
          <a:solidFill>
            <a:srgbClr val="F2F6FC"/>
          </a:solidFill>
          <a:ln w="9525">
            <a:solidFill>
              <a:srgbClr val="D5DCEA"/>
            </a:solidFill>
            <a:prstDash val="solid"/>
          </a:ln>
        </p:spPr>
      </p:sp>
      <p:sp>
        <p:nvSpPr>
          <p:cNvPr id="27" name="Shape 24"/>
          <p:cNvSpPr/>
          <p:nvPr/>
        </p:nvSpPr>
        <p:spPr>
          <a:xfrm>
            <a:off x="7535799"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Persecuted</a:t>
            </a:r>
            <a:endParaRPr lang="en-US" sz="1150" dirty="0"/>
          </a:p>
        </p:txBody>
      </p:sp>
      <p:sp>
        <p:nvSpPr>
          <p:cNvPr id="30" name="Text 27"/>
          <p:cNvSpPr/>
          <p:nvPr/>
        </p:nvSpPr>
        <p:spPr>
          <a:xfrm>
            <a:off x="6860286"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By your own countrymen, Jews and Gentiles</a:t>
            </a:r>
            <a:endParaRPr lang="en-US" sz="1150" dirty="0"/>
          </a:p>
        </p:txBody>
      </p:sp>
      <p:sp>
        <p:nvSpPr>
          <p:cNvPr id="31" name="Text 28"/>
          <p:cNvSpPr/>
          <p:nvPr/>
        </p:nvSpPr>
        <p:spPr>
          <a:xfrm>
            <a:off x="6860286"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συμφυλέτης</a:t>
            </a:r>
            <a:endParaRPr lang="en-US" sz="900" dirty="0"/>
          </a:p>
        </p:txBody>
      </p:sp>
      <p:sp>
        <p:nvSpPr>
          <p:cNvPr id="32" name="Shape 29"/>
          <p:cNvSpPr/>
          <p:nvPr/>
        </p:nvSpPr>
        <p:spPr>
          <a:xfrm>
            <a:off x="457200" y="3429000"/>
            <a:ext cx="8229600" cy="1188720"/>
          </a:xfrm>
          <a:prstGeom prst="roundRect">
            <a:avLst>
              <a:gd name="adj" fmla="val 4615"/>
            </a:avLst>
          </a:prstGeom>
          <a:solidFill>
            <a:srgbClr val="1F3864"/>
          </a:solidFill>
          <a:ln w="12700">
            <a:solidFill>
              <a:srgbClr val="1F3864"/>
            </a:solidFill>
            <a:prstDash val="solid"/>
          </a:ln>
        </p:spPr>
      </p:sp>
      <p:sp>
        <p:nvSpPr>
          <p:cNvPr id="33" name="Text 30"/>
          <p:cNvSpPr/>
          <p:nvPr/>
        </p:nvSpPr>
        <p:spPr>
          <a:xfrm>
            <a:off x="621792" y="3429000"/>
            <a:ext cx="7900416" cy="11887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They heard the Word, believed the Word, acted on the Word — and paid for it with suffering. That is the mark of genuine reception: faithful reception produces a predictable result — not comfort, but conflict.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sin of Paul’s countrymen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2:15–16 · II.A–E — Five expressions</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Provocation · 15a</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Killed the Lord Jesus and their own prophets, and persecuted Paul</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Presumption · 15b</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“They do not please God” — they pleased themselves</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Perversity · 15c</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“Contrary to all men” — the gift used as a wall, not a door</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Prejudice · 16a</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Forbidding the gospel to the Gentiles “that they may be saved”</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6B7280"/>
          </a:solidFill>
          <a:ln w="12700">
            <a:solidFill>
              <a:srgbClr val="6B7280"/>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Punishment · 16b</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“To fill up the measure” — wrath has come upon them</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7030A0"/>
          </a:solidFill>
          <a:ln w="12700">
            <a:solidFill>
              <a:srgbClr val="7030A0"/>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Gk</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ἀναπληρόω · G378</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God’s patience is real, but it has a limit — His justice is as certain as His grace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“Wrath has come” — as certain as if done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2:16b · II.E — Their punishment</a:t>
            </a:r>
            <a:endParaRPr lang="en-US" sz="1200" dirty="0"/>
          </a:p>
        </p:txBody>
      </p:sp>
      <p:sp>
        <p:nvSpPr>
          <p:cNvPr id="5" name="Shape 2"/>
          <p:cNvSpPr/>
          <p:nvPr/>
        </p:nvSpPr>
        <p:spPr>
          <a:xfrm>
            <a:off x="457200" y="1188720"/>
            <a:ext cx="1477670" cy="21031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Amorites</a:t>
            </a:r>
            <a:endParaRPr lang="en-US" sz="1150" dirty="0"/>
          </a:p>
        </p:txBody>
      </p:sp>
      <p:sp>
        <p:nvSpPr>
          <p:cNvPr id="9" name="Text 6"/>
          <p:cNvSpPr/>
          <p:nvPr/>
        </p:nvSpPr>
        <p:spPr>
          <a:xfrm>
            <a:off x="53035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Four hundred more years of patience</a:t>
            </a:r>
            <a:endParaRPr lang="en-US" sz="1150" dirty="0"/>
          </a:p>
        </p:txBody>
      </p:sp>
      <p:sp>
        <p:nvSpPr>
          <p:cNvPr id="10" name="Text 7"/>
          <p:cNvSpPr/>
          <p:nvPr/>
        </p:nvSpPr>
        <p:spPr>
          <a:xfrm>
            <a:off x="53035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Gen 15</a:t>
            </a:r>
            <a:endParaRPr lang="en-US" sz="900" dirty="0"/>
          </a:p>
        </p:txBody>
      </p:sp>
      <p:sp>
        <p:nvSpPr>
          <p:cNvPr id="11" name="Shape 8"/>
          <p:cNvSpPr/>
          <p:nvPr/>
        </p:nvSpPr>
        <p:spPr>
          <a:xfrm>
            <a:off x="1939442"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031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cross</a:t>
            </a:r>
            <a:endParaRPr lang="en-US" sz="1150" dirty="0"/>
          </a:p>
        </p:txBody>
      </p:sp>
      <p:sp>
        <p:nvSpPr>
          <p:cNvPr id="16" name="Text 13"/>
          <p:cNvSpPr/>
          <p:nvPr/>
        </p:nvSpPr>
        <p:spPr>
          <a:xfrm>
            <a:off x="2218334"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leaders demanded the crucifixion</a:t>
            </a:r>
            <a:endParaRPr lang="en-US" sz="1150" dirty="0"/>
          </a:p>
        </p:txBody>
      </p:sp>
      <p:sp>
        <p:nvSpPr>
          <p:cNvPr id="17" name="Text 14"/>
          <p:cNvSpPr/>
          <p:nvPr/>
        </p:nvSpPr>
        <p:spPr>
          <a:xfrm>
            <a:off x="2218334"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26–28</a:t>
            </a:r>
            <a:endParaRPr lang="en-US" sz="900" dirty="0"/>
          </a:p>
        </p:txBody>
      </p:sp>
      <p:sp>
        <p:nvSpPr>
          <p:cNvPr id="18" name="Shape 15"/>
          <p:cNvSpPr/>
          <p:nvPr/>
        </p:nvSpPr>
        <p:spPr>
          <a:xfrm>
            <a:off x="3627425"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03120"/>
          </a:xfrm>
          <a:prstGeom prst="roundRect">
            <a:avLst>
              <a:gd name="adj" fmla="val 3713"/>
            </a:avLst>
          </a:prstGeom>
          <a:solidFill>
            <a:srgbClr val="1F3864"/>
          </a:solidFill>
          <a:ln w="9525">
            <a:solidFill>
              <a:srgbClr val="1F3864"/>
            </a:solidFill>
            <a:prstDash val="solid"/>
          </a:ln>
        </p:spPr>
      </p:sp>
      <p:sp>
        <p:nvSpPr>
          <p:cNvPr id="20" name="Shape 17"/>
          <p:cNvSpPr/>
          <p:nvPr/>
        </p:nvSpPr>
        <p:spPr>
          <a:xfrm>
            <a:off x="4370832"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AD 70</a:t>
            </a:r>
            <a:endParaRPr lang="en-US" sz="1150" dirty="0"/>
          </a:p>
        </p:txBody>
      </p:sp>
      <p:sp>
        <p:nvSpPr>
          <p:cNvPr id="23" name="Text 20"/>
          <p:cNvSpPr/>
          <p:nvPr/>
        </p:nvSpPr>
        <p:spPr>
          <a:xfrm>
            <a:off x="3906317" y="2157984"/>
            <a:ext cx="1331366"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Not one stone left upon another</a:t>
            </a:r>
            <a:endParaRPr lang="en-US" sz="1150" dirty="0"/>
          </a:p>
        </p:txBody>
      </p:sp>
      <p:sp>
        <p:nvSpPr>
          <p:cNvPr id="24" name="Text 21"/>
          <p:cNvSpPr/>
          <p:nvPr/>
        </p:nvSpPr>
        <p:spPr>
          <a:xfrm>
            <a:off x="3906317" y="29077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almost 40 years later</a:t>
            </a:r>
            <a:endParaRPr lang="en-US" sz="900" dirty="0"/>
          </a:p>
        </p:txBody>
      </p:sp>
      <p:sp>
        <p:nvSpPr>
          <p:cNvPr id="25" name="Shape 22"/>
          <p:cNvSpPr/>
          <p:nvPr/>
        </p:nvSpPr>
        <p:spPr>
          <a:xfrm>
            <a:off x="5315407"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0312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treaty</a:t>
            </a:r>
            <a:endParaRPr lang="en-US" sz="1150" dirty="0"/>
          </a:p>
        </p:txBody>
      </p:sp>
      <p:sp>
        <p:nvSpPr>
          <p:cNvPr id="30" name="Text 27"/>
          <p:cNvSpPr/>
          <p:nvPr/>
        </p:nvSpPr>
        <p:spPr>
          <a:xfrm>
            <a:off x="5594299"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Seven years with the Antichrist — broken in the middle</a:t>
            </a:r>
            <a:endParaRPr lang="en-US" sz="1150" dirty="0"/>
          </a:p>
        </p:txBody>
      </p:sp>
      <p:sp>
        <p:nvSpPr>
          <p:cNvPr id="31" name="Text 28"/>
          <p:cNvSpPr/>
          <p:nvPr/>
        </p:nvSpPr>
        <p:spPr>
          <a:xfrm>
            <a:off x="5594299"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Dan 9:27</a:t>
            </a:r>
            <a:endParaRPr lang="en-US" sz="900" dirty="0"/>
          </a:p>
        </p:txBody>
      </p:sp>
      <p:sp>
        <p:nvSpPr>
          <p:cNvPr id="32" name="Shape 29"/>
          <p:cNvSpPr/>
          <p:nvPr/>
        </p:nvSpPr>
        <p:spPr>
          <a:xfrm>
            <a:off x="7003390" y="21214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0312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Tribulation</a:t>
            </a:r>
            <a:endParaRPr lang="en-US" sz="1150" dirty="0"/>
          </a:p>
        </p:txBody>
      </p:sp>
      <p:sp>
        <p:nvSpPr>
          <p:cNvPr id="37" name="Text 34"/>
          <p:cNvSpPr/>
          <p:nvPr/>
        </p:nvSpPr>
        <p:spPr>
          <a:xfrm>
            <a:off x="728228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Judgment ahead for the nation</a:t>
            </a:r>
            <a:endParaRPr lang="en-US" sz="1150" dirty="0"/>
          </a:p>
        </p:txBody>
      </p:sp>
      <p:sp>
        <p:nvSpPr>
          <p:cNvPr id="38" name="Text 35"/>
          <p:cNvSpPr/>
          <p:nvPr/>
        </p:nvSpPr>
        <p:spPr>
          <a:xfrm>
            <a:off x="728228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Dan 9 · Rev 16</a:t>
            </a:r>
            <a:endParaRPr lang="en-US" sz="900" dirty="0"/>
          </a:p>
        </p:txBody>
      </p:sp>
      <p:sp>
        <p:nvSpPr>
          <p:cNvPr id="39" name="Shape 36"/>
          <p:cNvSpPr/>
          <p:nvPr/>
        </p:nvSpPr>
        <p:spPr>
          <a:xfrm>
            <a:off x="457200" y="3474720"/>
            <a:ext cx="8229600" cy="914400"/>
          </a:xfrm>
          <a:prstGeom prst="roundRect">
            <a:avLst>
              <a:gd name="adj" fmla="val 6000"/>
            </a:avLst>
          </a:prstGeom>
          <a:solidFill>
            <a:srgbClr val="1F3864"/>
          </a:solidFill>
          <a:ln w="12700">
            <a:solidFill>
              <a:srgbClr val="1F3864"/>
            </a:solidFill>
            <a:prstDash val="solid"/>
          </a:ln>
        </p:spPr>
      </p:sp>
      <p:sp>
        <p:nvSpPr>
          <p:cNvPr id="40" name="Text 37"/>
          <p:cNvSpPr/>
          <p:nvPr/>
        </p:nvSpPr>
        <p:spPr>
          <a:xfrm>
            <a:off x="621792" y="3474720"/>
            <a:ext cx="7900416" cy="91440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Romans 8:30 logic:  </a:t>
            </a:r>
            <a:pPr indent="0" marL="0">
              <a:buNone/>
            </a:pPr>
            <a:r>
              <a:rPr lang="en-US" sz="1200" dirty="0">
                <a:solidFill>
                  <a:srgbClr val="FFFFFF"/>
                </a:solidFill>
                <a:latin typeface="Arial" pitchFamily="34" charset="0"/>
                <a:ea typeface="Arial" pitchFamily="34" charset="-122"/>
                <a:cs typeface="Arial" pitchFamily="34" charset="-120"/>
              </a:rPr>
              <a:t>“whom He justified, these He also glorified.” Are you glorified yet? No — but it is as certain as if it had already happened. So is this wrath.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Torn away, hindered, rewarded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2:17–20 · III.A–B — Paul’s desire and delight</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v.17</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Taken away in presence, not in heart</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ἀπορφανίζω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orphaned — torn from his children</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v.18</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Satan hindered us — though not everything is Satan’s fault (James 1)</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ἐγκόπτω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cut the path — strategic opposition</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v.19a</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Our hope, joy, crown — at the judgment seat of Christ</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στέφανος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 victor’s wreath — people won</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v.19b</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“In the presence of our Lord Jesus Christ at His coming”</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παρουσία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here, the Rapture</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v.20</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“For you are our glory and joy”</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δόξα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they reflect what God did</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Use things and love people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2:19–20 · Conclusion — John Phillips</a:t>
            </a:r>
            <a:endParaRPr lang="en-US" sz="1200" dirty="0"/>
          </a:p>
        </p:txBody>
      </p:sp>
      <p:sp>
        <p:nvSpPr>
          <p:cNvPr id="5" name="Shape 2"/>
          <p:cNvSpPr/>
          <p:nvPr/>
        </p:nvSpPr>
        <p:spPr>
          <a:xfrm>
            <a:off x="457200" y="1188720"/>
            <a:ext cx="3931920" cy="365760"/>
          </a:xfrm>
          <a:prstGeom prst="rect">
            <a:avLst/>
          </a:prstGeom>
          <a:solidFill>
            <a:srgbClr val="6B7280"/>
          </a:solidFill>
          <a:ln w="12700">
            <a:solidFill>
              <a:srgbClr val="6B7280"/>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Solomon</a:t>
            </a:r>
            <a:endParaRPr lang="en-US" sz="1200" dirty="0"/>
          </a:p>
        </p:txBody>
      </p:sp>
      <p:sp>
        <p:nvSpPr>
          <p:cNvPr id="7" name="Shape 4"/>
          <p:cNvSpPr/>
          <p:nvPr/>
        </p:nvSpPr>
        <p:spPr>
          <a:xfrm>
            <a:off x="457200" y="1554480"/>
            <a:ext cx="3931920" cy="1965960"/>
          </a:xfrm>
          <a:prstGeom prst="rect">
            <a:avLst/>
          </a:prstGeom>
          <a:solidFill>
            <a:srgbClr val="F2F6FC"/>
          </a:solidFill>
          <a:ln w="9525">
            <a:solidFill>
              <a:srgbClr val="D5DCEA"/>
            </a:solidFill>
            <a:prstDash val="solid"/>
          </a:ln>
        </p:spPr>
      </p:sp>
      <p:sp>
        <p:nvSpPr>
          <p:cNvPr id="8" name="Text 5"/>
          <p:cNvSpPr/>
          <p:nvPr/>
        </p:nvSpPr>
        <p:spPr>
          <a:xfrm>
            <a:off x="54864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good start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Rejoiced in women, power and riches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Loved things and used people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colossal failure in God’s eyes</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David — and Paul</a:t>
            </a:r>
            <a:endParaRPr lang="en-US" sz="1200" dirty="0"/>
          </a:p>
        </p:txBody>
      </p:sp>
      <p:sp>
        <p:nvSpPr>
          <p:cNvPr id="11" name="Shape 8"/>
          <p:cNvSpPr/>
          <p:nvPr/>
        </p:nvSpPr>
        <p:spPr>
          <a:xfrm>
            <a:off x="4754880" y="1554480"/>
            <a:ext cx="3931920" cy="196596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837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mid-life failure — and repentance (Ps 51)</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Served God faithfully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Used things and loved people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 people as crowns laid at Jesus’ feet</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4904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“Only one life will soon be past; only what’s done for Christ will last.”  What is your glory and joy?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2:13–20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Word “effectively works” (energeō) in believers — present tense, ongoing. What does this say about the role of Scripture beyond the moment of salvation?</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The sermon contrasts Solomon and David. What does Paul’s crown (stephanos) reveal about what he truly valued?</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Receive the Word as the Word of God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Before your next time in the Word, pray: “Lord, I receive this as Your Word, not a man’s word. Let it work in me.”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Use Things and Love People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one person whose growth in Christ you are investing in — or ask God this week to show you who it should be.</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The Word received as God’s Word keeps working, will cost something — and the people we serve become our crown.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Study 4 — A Successful Life of Service: Charts</dc:title>
  <dc:subject>PptxGenJS Presentation</dc:subject>
  <dc:creator>The Gospel Vault</dc:creator>
  <cp:lastModifiedBy>The Gospel Vault</cp:lastModifiedBy>
  <cp:revision>1</cp:revision>
  <dcterms:created xsi:type="dcterms:W3CDTF">2026-10-30T06:20:22Z</dcterms:created>
  <dcterms:modified xsi:type="dcterms:W3CDTF">2026-10-30T06:20:22Z</dcterms:modified>
</cp:coreProperties>
</file>