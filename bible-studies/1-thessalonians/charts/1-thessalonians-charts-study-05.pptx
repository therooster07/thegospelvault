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“How to handle tribulation — that is what this passage is about.” The outline has three parts: Paul’s Caution (3:1–5), Paul’s Consolation (3:6–10) and Paul’s Craving (3:11–13). Every chart stays within the commentary posted for this study; Greek words come from the study’s Greek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Paul was forced out of Berea and taken to Athens, where he sent word for Silas and Timothy to join him. As chapter 3 opens, he has sent Timothy back to Thessalonica and stays in Athens alone, reasoning in the synagogue and the marketplace. Silas and Timothy, not finding Paul in Athens, went on to Corinth as planned (Acts 18:5) — and found him there. Paul writes this letter from Corinth, looking back on the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(I.B.1–2, with διάκονος, στηρίζω, παρακαλέω): Three titles in one verse — brother, minister of God (diakonos, used functionally), fellow laborer — a remarkable commendation that may have been needed because of Timothy’s youth. His charge: establish them (make firm both the faith believed — Jude 3 — and their trust in it; that’s why teaching is part of discipling, Matt 28:19–20) and encourage them (come alongside, the Paraclete word). Something solid to stand on; someone to stand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(I.C–D, with σαίνω, κεῖμαι, πειράζω): Paul’s concern was not that they would feel uncomfortable but that they would be shaken — destabilized at the foundation. “We are appointed to this”: tribulation is part of the calling, not a sign something went wrong. He had told them again and again (imperfect tense) before it happened. And the tempter uses tribulation as leverage against faith; had he succeeded? Concern is proper when it leads to prayer and to being part of the help (2 Cor 2:12–13).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(II.A–C, with εὐαγγελίζω, παρακαλέω, στήκω, καταρτίζω): Timothy’s report was entirely good — Paul uses the gospel word for it. Paul in Corinth faced the same resistance (Acts 18), and their faith carried him through: affliction is a two-way street, and so is comfort. “For now we live, if you stand fast” is not hyperbole — his converts were a large part of his life. Gratitude overflows into joy, and joy into night-and-day prayer (hyperekperissou, beyond all measure) to complete what is lacking — which he begins in chapters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(III.A–C, with περισσεύω, ἀμέμπτως, παρουσία): Verse 11 names the Father and the Lord Jesus, each with its own article, yet the verb “direct” is singular — one God in two persons, prayed to as one. Then love that overflows its container, to one another and to all — “just as we do to you.” The goal of the love is the holiness: love produces holiness; holiness makes the heart blameless at His coming. These are not two requests but one movement.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(III.C.2): The commentary distinguishes this coming from the Rapture. In 3:13 Christ comes with all His saints — the public, triumphant Second Coming. The holy ones with Him are probably the souls of departed believers, whose bodies will be resurrected (cf. 4:16) — Christians, not angels. Paul’s prayer is that when that day arrives, these believers will be found blameless.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Verse 3 says believers are “appointed” to tribulation (keimai). What does this mean for how we interpret suffering — and how does it change our response? — Leader answer: Keimai means set or destined — placed into suffering as part of the calling. Paul told them before it happened; when it came, it confirmed the word. Suffering is not evidence God has abandoned us. Prepared people are not shaken people.  Q2: Verse 8 says “we live, if you stand fast in the Lord.” Is this hyperbole, or does Paul mean it? What does it reveal about pastoral ministry? — Leader answer: Paul means it. His vitality was genuinely bound to his converts’ faithfulness. The body of Christ is not a collection of independent units; what happens to one member affects others — and the pastor is especially bound to the flock.  Applications: Expect Tribulation; Prepare Others — Have one honest conversation with a younger believer about suffering — share verse 3: “we are appointed to this.”  Your Faithfulness Is a Lifeline — Message someone whose faith has strengthened you and tell them specifically what their steadfastness has meant.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1 Thessalonians · Study 5 of 10 · 1 Thessalonians 3:1–13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73168"/>
            <a:ext cx="68580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1 Thessalonians · Study 5 of 10 · 1 Thessalonians 3:1–13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nchor="ctr"/>
          <a:lstStyle/>
          <a:p>
            <a:pPr indent="0" marL="0">
              <a:buNone/>
            </a:pPr>
            <a:r>
              <a:rPr lang="en-US" sz="1400" dirty="0">
                <a:solidFill>
                  <a:srgbClr val="C9D5EE"/>
                </a:solidFill>
                <a:latin typeface="Arial" pitchFamily="34" charset="0"/>
                <a:ea typeface="Arial" pitchFamily="34" charset="-122"/>
                <a:cs typeface="Arial" pitchFamily="34" charset="-120"/>
              </a:rPr>
              <a:t>1 Thessalonians · Study 5 of 10 · 1 Thessalonians 3:1–13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Arial" pitchFamily="34" charset="0"/>
                <a:ea typeface="Arial" pitchFamily="34" charset="-122"/>
                <a:cs typeface="Arial" pitchFamily="34" charset="-120"/>
              </a:rPr>
              <a:t>Facing Tribulation</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ctr"/>
          <a:lstStyle/>
          <a:p>
            <a:pPr indent="0" marL="0">
              <a:buNone/>
            </a:pPr>
            <a:r>
              <a:rPr lang="en-US" sz="1500" i="1" dirty="0">
                <a:solidFill>
                  <a:srgbClr val="E6ECF7"/>
                </a:solidFill>
                <a:latin typeface="Arial" pitchFamily="34" charset="0"/>
                <a:ea typeface="Arial" pitchFamily="34" charset="-122"/>
                <a:cs typeface="Arial" pitchFamily="34" charset="-120"/>
              </a:rPr>
              <a:t>Paul sends Timothy to a suffering church — to establish and encourage them — and finds his own life bound up with their standing firm.</a:t>
            </a:r>
            <a:endParaRPr lang="en-US" sz="1500" dirty="0"/>
          </a:p>
        </p:txBody>
      </p:sp>
      <p:sp>
        <p:nvSpPr>
          <p:cNvPr id="5" name="Text 3"/>
          <p:cNvSpPr/>
          <p:nvPr/>
        </p:nvSpPr>
        <p:spPr>
          <a:xfrm>
            <a:off x="640080" y="4343400"/>
            <a:ext cx="7863840" cy="274320"/>
          </a:xfrm>
          <a:prstGeom prst="rect">
            <a:avLst/>
          </a:prstGeom>
          <a:noFill/>
          <a:ln/>
        </p:spPr>
        <p:txBody>
          <a:bodyPr wrap="square" lIns="0" tIns="0" rIns="0" bIns="0" rtlCol="0" anchor="ctr"/>
          <a:lstStyle/>
          <a:p>
            <a:pPr indent="0" marL="0">
              <a:buNone/>
            </a:pPr>
            <a:r>
              <a:rPr lang="en-US" sz="1000" dirty="0">
                <a:solidFill>
                  <a:srgbClr val="C9D5EE"/>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 ten studies · this study highlighted</a:t>
            </a:r>
            <a:endParaRPr lang="en-US" sz="1200" dirty="0"/>
          </a:p>
        </p:txBody>
      </p:sp>
      <p:sp>
        <p:nvSpPr>
          <p:cNvPr id="5" name="Shape 2"/>
          <p:cNvSpPr/>
          <p:nvPr/>
        </p:nvSpPr>
        <p:spPr>
          <a:xfrm>
            <a:off x="457200" y="1188720"/>
            <a:ext cx="1536192" cy="1371600"/>
          </a:xfrm>
          <a:prstGeom prst="rect">
            <a:avLst/>
          </a:prstGeom>
          <a:solidFill>
            <a:srgbClr val="F2F6FC"/>
          </a:solidFill>
          <a:ln w="9525">
            <a:solidFill>
              <a:srgbClr val="D5DCEA"/>
            </a:solidFill>
            <a:prstDash val="solid"/>
          </a:ln>
        </p:spPr>
      </p:sp>
      <p:sp>
        <p:nvSpPr>
          <p:cNvPr id="6" name="Text 3"/>
          <p:cNvSpPr/>
          <p:nvPr/>
        </p:nvSpPr>
        <p:spPr>
          <a:xfrm>
            <a:off x="566928"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01  </a:t>
            </a:r>
            <a:pPr indent="0" marL="0">
              <a:buNone/>
            </a:pPr>
            <a:r>
              <a:rPr lang="en-US" sz="1050" b="1" dirty="0">
                <a:solidFill>
                  <a:srgbClr val="595959"/>
                </a:solidFill>
                <a:latin typeface="Arial" pitchFamily="34" charset="0"/>
                <a:ea typeface="Arial" pitchFamily="34" charset="-122"/>
                <a:cs typeface="Arial" pitchFamily="34" charset="-120"/>
              </a:rPr>
              <a:t>1:1–5</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An Introduction to the Thessalonian Church</a:t>
            </a:r>
            <a:endParaRPr lang="en-US" sz="1300" dirty="0"/>
          </a:p>
        </p:txBody>
      </p:sp>
      <p:sp>
        <p:nvSpPr>
          <p:cNvPr id="7" name="Shape 4"/>
          <p:cNvSpPr/>
          <p:nvPr/>
        </p:nvSpPr>
        <p:spPr>
          <a:xfrm>
            <a:off x="2130552" y="1188720"/>
            <a:ext cx="1536192" cy="1371600"/>
          </a:xfrm>
          <a:prstGeom prst="rect">
            <a:avLst/>
          </a:prstGeom>
          <a:solidFill>
            <a:srgbClr val="F2F6FC"/>
          </a:solidFill>
          <a:ln w="9525">
            <a:solidFill>
              <a:srgbClr val="D5DCEA"/>
            </a:solidFill>
            <a:prstDash val="solid"/>
          </a:ln>
        </p:spPr>
      </p:sp>
      <p:sp>
        <p:nvSpPr>
          <p:cNvPr id="8" name="Text 5"/>
          <p:cNvSpPr/>
          <p:nvPr/>
        </p:nvSpPr>
        <p:spPr>
          <a:xfrm>
            <a:off x="2240280"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02  </a:t>
            </a:r>
            <a:pPr indent="0" marL="0">
              <a:buNone/>
            </a:pPr>
            <a:r>
              <a:rPr lang="en-US" sz="1050" b="1" dirty="0">
                <a:solidFill>
                  <a:srgbClr val="595959"/>
                </a:solidFill>
                <a:latin typeface="Arial" pitchFamily="34" charset="0"/>
                <a:ea typeface="Arial" pitchFamily="34" charset="-122"/>
                <a:cs typeface="Arial" pitchFamily="34" charset="-120"/>
              </a:rPr>
              <a:t>1:6–10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Many Faces of the Gospel</a:t>
            </a:r>
            <a:endParaRPr lang="en-US" sz="1300" dirty="0"/>
          </a:p>
        </p:txBody>
      </p:sp>
      <p:sp>
        <p:nvSpPr>
          <p:cNvPr id="9" name="Shape 6"/>
          <p:cNvSpPr/>
          <p:nvPr/>
        </p:nvSpPr>
        <p:spPr>
          <a:xfrm>
            <a:off x="3803904" y="1188720"/>
            <a:ext cx="1536192" cy="1371600"/>
          </a:xfrm>
          <a:prstGeom prst="rect">
            <a:avLst/>
          </a:prstGeom>
          <a:solidFill>
            <a:srgbClr val="F2F6FC"/>
          </a:solidFill>
          <a:ln w="9525">
            <a:solidFill>
              <a:srgbClr val="D5DCEA"/>
            </a:solidFill>
            <a:prstDash val="solid"/>
          </a:ln>
        </p:spPr>
      </p:sp>
      <p:sp>
        <p:nvSpPr>
          <p:cNvPr id="10" name="Text 7"/>
          <p:cNvSpPr/>
          <p:nvPr/>
        </p:nvSpPr>
        <p:spPr>
          <a:xfrm>
            <a:off x="3913632"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03  </a:t>
            </a:r>
            <a:pPr indent="0" marL="0">
              <a:buNone/>
            </a:pPr>
            <a:r>
              <a:rPr lang="en-US" sz="1050" b="1" dirty="0">
                <a:solidFill>
                  <a:srgbClr val="595959"/>
                </a:solidFill>
                <a:latin typeface="Arial" pitchFamily="34" charset="0"/>
                <a:ea typeface="Arial" pitchFamily="34" charset="-122"/>
                <a:cs typeface="Arial" pitchFamily="34" charset="-120"/>
              </a:rPr>
              <a:t>2:1–12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Delivering the Gospel</a:t>
            </a:r>
            <a:endParaRPr lang="en-US" sz="1300" dirty="0"/>
          </a:p>
        </p:txBody>
      </p:sp>
      <p:sp>
        <p:nvSpPr>
          <p:cNvPr id="11" name="Shape 8"/>
          <p:cNvSpPr/>
          <p:nvPr/>
        </p:nvSpPr>
        <p:spPr>
          <a:xfrm>
            <a:off x="5477256" y="1188720"/>
            <a:ext cx="1536192" cy="1371600"/>
          </a:xfrm>
          <a:prstGeom prst="rect">
            <a:avLst/>
          </a:prstGeom>
          <a:solidFill>
            <a:srgbClr val="F2F6FC"/>
          </a:solidFill>
          <a:ln w="9525">
            <a:solidFill>
              <a:srgbClr val="D5DCEA"/>
            </a:solidFill>
            <a:prstDash val="solid"/>
          </a:ln>
        </p:spPr>
      </p:sp>
      <p:sp>
        <p:nvSpPr>
          <p:cNvPr id="12" name="Text 9"/>
          <p:cNvSpPr/>
          <p:nvPr/>
        </p:nvSpPr>
        <p:spPr>
          <a:xfrm>
            <a:off x="5586984" y="1298448"/>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04  </a:t>
            </a:r>
            <a:pPr indent="0" marL="0">
              <a:buNone/>
            </a:pPr>
            <a:r>
              <a:rPr lang="en-US" sz="1050" b="1" dirty="0">
                <a:solidFill>
                  <a:srgbClr val="595959"/>
                </a:solidFill>
                <a:latin typeface="Arial" pitchFamily="34" charset="0"/>
                <a:ea typeface="Arial" pitchFamily="34" charset="-122"/>
                <a:cs typeface="Arial" pitchFamily="34" charset="-120"/>
              </a:rPr>
              <a:t>2:13–20</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Successful Life of Service</a:t>
            </a:r>
            <a:endParaRPr lang="en-US" sz="1300" dirty="0"/>
          </a:p>
        </p:txBody>
      </p:sp>
      <p:sp>
        <p:nvSpPr>
          <p:cNvPr id="13" name="Shape 10"/>
          <p:cNvSpPr/>
          <p:nvPr/>
        </p:nvSpPr>
        <p:spPr>
          <a:xfrm>
            <a:off x="7150608" y="1188720"/>
            <a:ext cx="1536192" cy="1371600"/>
          </a:xfrm>
          <a:prstGeom prst="rect">
            <a:avLst/>
          </a:prstGeom>
          <a:solidFill>
            <a:srgbClr val="1F3864"/>
          </a:solidFill>
          <a:ln w="9525">
            <a:solidFill>
              <a:srgbClr val="1F3864"/>
            </a:solidFill>
            <a:prstDash val="solid"/>
          </a:ln>
        </p:spPr>
      </p:sp>
      <p:sp>
        <p:nvSpPr>
          <p:cNvPr id="14" name="Text 11"/>
          <p:cNvSpPr/>
          <p:nvPr/>
        </p:nvSpPr>
        <p:spPr>
          <a:xfrm>
            <a:off x="7260336" y="1298448"/>
            <a:ext cx="1316736" cy="1152144"/>
          </a:xfrm>
          <a:prstGeom prst="rect">
            <a:avLst/>
          </a:prstGeom>
          <a:noFill/>
          <a:ln/>
        </p:spPr>
        <p:txBody>
          <a:bodyPr wrap="square" lIns="0" tIns="0" rIns="0" bIns="0" rtlCol="0" anchor="t"/>
          <a:lstStyle/>
          <a:p>
            <a:pPr indent="0" marL="0">
              <a:buNone/>
            </a:pPr>
            <a:r>
              <a:rPr lang="en-US" sz="1300" b="1" dirty="0">
                <a:solidFill>
                  <a:srgbClr val="C9D5EE"/>
                </a:solidFill>
                <a:latin typeface="Arial" pitchFamily="34" charset="0"/>
                <a:ea typeface="Arial" pitchFamily="34" charset="-122"/>
                <a:cs typeface="Arial" pitchFamily="34" charset="-120"/>
              </a:rPr>
              <a:t>05  </a:t>
            </a:r>
            <a:pPr indent="0" marL="0">
              <a:buNone/>
            </a:pPr>
            <a:r>
              <a:rPr lang="en-US" sz="1050" b="1" dirty="0">
                <a:solidFill>
                  <a:srgbClr val="C9D5EE"/>
                </a:solidFill>
                <a:latin typeface="Arial" pitchFamily="34" charset="0"/>
                <a:ea typeface="Arial" pitchFamily="34" charset="-122"/>
                <a:cs typeface="Arial" pitchFamily="34" charset="-120"/>
              </a:rPr>
              <a:t>3:1–13</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FFFFFF"/>
                </a:solidFill>
                <a:latin typeface="Arial" pitchFamily="34" charset="0"/>
                <a:ea typeface="Arial" pitchFamily="34" charset="-122"/>
                <a:cs typeface="Arial" pitchFamily="34" charset="-120"/>
              </a:rPr>
              <a:t>Facing Tribulation</a:t>
            </a:r>
            <a:endParaRPr lang="en-US" sz="1300" dirty="0"/>
          </a:p>
        </p:txBody>
      </p:sp>
      <p:sp>
        <p:nvSpPr>
          <p:cNvPr id="15" name="Shape 12"/>
          <p:cNvSpPr/>
          <p:nvPr/>
        </p:nvSpPr>
        <p:spPr>
          <a:xfrm>
            <a:off x="457200" y="2761488"/>
            <a:ext cx="1536192" cy="1371600"/>
          </a:xfrm>
          <a:prstGeom prst="rect">
            <a:avLst/>
          </a:prstGeom>
          <a:solidFill>
            <a:srgbClr val="F2F6FC"/>
          </a:solidFill>
          <a:ln w="9525">
            <a:solidFill>
              <a:srgbClr val="D5DCEA"/>
            </a:solidFill>
            <a:prstDash val="solid"/>
          </a:ln>
        </p:spPr>
      </p:sp>
      <p:sp>
        <p:nvSpPr>
          <p:cNvPr id="16" name="Text 13"/>
          <p:cNvSpPr/>
          <p:nvPr/>
        </p:nvSpPr>
        <p:spPr>
          <a:xfrm>
            <a:off x="566928"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06  </a:t>
            </a:r>
            <a:pPr indent="0" marL="0">
              <a:buNone/>
            </a:pPr>
            <a:r>
              <a:rPr lang="en-US" sz="1050" b="1" dirty="0">
                <a:solidFill>
                  <a:srgbClr val="595959"/>
                </a:solidFill>
                <a:latin typeface="Arial" pitchFamily="34" charset="0"/>
                <a:ea typeface="Arial" pitchFamily="34" charset="-122"/>
                <a:cs typeface="Arial" pitchFamily="34" charset="-120"/>
              </a:rPr>
              <a:t>4:1–12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A Life That Pleases God</a:t>
            </a:r>
            <a:endParaRPr lang="en-US" sz="1300" dirty="0"/>
          </a:p>
        </p:txBody>
      </p:sp>
      <p:sp>
        <p:nvSpPr>
          <p:cNvPr id="17" name="Shape 14"/>
          <p:cNvSpPr/>
          <p:nvPr/>
        </p:nvSpPr>
        <p:spPr>
          <a:xfrm>
            <a:off x="2130552" y="2761488"/>
            <a:ext cx="1536192" cy="1371600"/>
          </a:xfrm>
          <a:prstGeom prst="rect">
            <a:avLst/>
          </a:prstGeom>
          <a:solidFill>
            <a:srgbClr val="F2F6FC"/>
          </a:solidFill>
          <a:ln w="9525">
            <a:solidFill>
              <a:srgbClr val="D5DCEA"/>
            </a:solidFill>
            <a:prstDash val="solid"/>
          </a:ln>
        </p:spPr>
      </p:sp>
      <p:sp>
        <p:nvSpPr>
          <p:cNvPr id="18" name="Text 15"/>
          <p:cNvSpPr/>
          <p:nvPr/>
        </p:nvSpPr>
        <p:spPr>
          <a:xfrm>
            <a:off x="2240280"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07  </a:t>
            </a:r>
            <a:pPr indent="0" marL="0">
              <a:buNone/>
            </a:pPr>
            <a:r>
              <a:rPr lang="en-US" sz="1050" b="1" dirty="0">
                <a:solidFill>
                  <a:srgbClr val="595959"/>
                </a:solidFill>
                <a:latin typeface="Arial" pitchFamily="34" charset="0"/>
                <a:ea typeface="Arial" pitchFamily="34" charset="-122"/>
                <a:cs typeface="Arial" pitchFamily="34" charset="-120"/>
              </a:rPr>
              <a:t>4:13–18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Rapture of the Church</a:t>
            </a:r>
            <a:endParaRPr lang="en-US" sz="1300" dirty="0"/>
          </a:p>
        </p:txBody>
      </p:sp>
      <p:sp>
        <p:nvSpPr>
          <p:cNvPr id="19" name="Shape 16"/>
          <p:cNvSpPr/>
          <p:nvPr/>
        </p:nvSpPr>
        <p:spPr>
          <a:xfrm>
            <a:off x="3803904" y="2761488"/>
            <a:ext cx="1536192" cy="1371600"/>
          </a:xfrm>
          <a:prstGeom prst="rect">
            <a:avLst/>
          </a:prstGeom>
          <a:solidFill>
            <a:srgbClr val="F2F6FC"/>
          </a:solidFill>
          <a:ln w="9525">
            <a:solidFill>
              <a:srgbClr val="D5DCEA"/>
            </a:solidFill>
            <a:prstDash val="solid"/>
          </a:ln>
        </p:spPr>
      </p:sp>
      <p:sp>
        <p:nvSpPr>
          <p:cNvPr id="20" name="Text 17"/>
          <p:cNvSpPr/>
          <p:nvPr/>
        </p:nvSpPr>
        <p:spPr>
          <a:xfrm>
            <a:off x="3913632"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08  </a:t>
            </a:r>
            <a:pPr indent="0" marL="0">
              <a:buNone/>
            </a:pPr>
            <a:r>
              <a:rPr lang="en-US" sz="1050" b="1" dirty="0">
                <a:solidFill>
                  <a:srgbClr val="595959"/>
                </a:solidFill>
                <a:latin typeface="Arial" pitchFamily="34" charset="0"/>
                <a:ea typeface="Arial" pitchFamily="34" charset="-122"/>
                <a:cs typeface="Arial" pitchFamily="34" charset="-120"/>
              </a:rPr>
              <a:t>5:1–11</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A Purifying Hope</a:t>
            </a:r>
            <a:endParaRPr lang="en-US" sz="1300" dirty="0"/>
          </a:p>
        </p:txBody>
      </p:sp>
      <p:sp>
        <p:nvSpPr>
          <p:cNvPr id="21" name="Shape 18"/>
          <p:cNvSpPr/>
          <p:nvPr/>
        </p:nvSpPr>
        <p:spPr>
          <a:xfrm>
            <a:off x="5477256" y="2761488"/>
            <a:ext cx="1536192" cy="1371600"/>
          </a:xfrm>
          <a:prstGeom prst="rect">
            <a:avLst/>
          </a:prstGeom>
          <a:solidFill>
            <a:srgbClr val="F2F6FC"/>
          </a:solidFill>
          <a:ln w="9525">
            <a:solidFill>
              <a:srgbClr val="D5DCEA"/>
            </a:solidFill>
            <a:prstDash val="solid"/>
          </a:ln>
        </p:spPr>
      </p:sp>
      <p:sp>
        <p:nvSpPr>
          <p:cNvPr id="22" name="Text 19"/>
          <p:cNvSpPr/>
          <p:nvPr/>
        </p:nvSpPr>
        <p:spPr>
          <a:xfrm>
            <a:off x="5586984"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09  </a:t>
            </a:r>
            <a:pPr indent="0" marL="0">
              <a:buNone/>
            </a:pPr>
            <a:r>
              <a:rPr lang="en-US" sz="1050" b="1" dirty="0">
                <a:solidFill>
                  <a:srgbClr val="595959"/>
                </a:solidFill>
                <a:latin typeface="Arial" pitchFamily="34" charset="0"/>
                <a:ea typeface="Arial" pitchFamily="34" charset="-122"/>
                <a:cs typeface="Arial" pitchFamily="34" charset="-120"/>
              </a:rPr>
              <a:t>5:12–22</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The Coming of the Lord: Exhortations</a:t>
            </a:r>
            <a:endParaRPr lang="en-US" sz="1300" dirty="0"/>
          </a:p>
        </p:txBody>
      </p:sp>
      <p:sp>
        <p:nvSpPr>
          <p:cNvPr id="23" name="Shape 20"/>
          <p:cNvSpPr/>
          <p:nvPr/>
        </p:nvSpPr>
        <p:spPr>
          <a:xfrm>
            <a:off x="7150608" y="2761488"/>
            <a:ext cx="1536192" cy="1371600"/>
          </a:xfrm>
          <a:prstGeom prst="rect">
            <a:avLst/>
          </a:prstGeom>
          <a:solidFill>
            <a:srgbClr val="F2F6FC"/>
          </a:solidFill>
          <a:ln w="9525">
            <a:solidFill>
              <a:srgbClr val="D5DCEA"/>
            </a:solidFill>
            <a:prstDash val="solid"/>
          </a:ln>
        </p:spPr>
      </p:sp>
      <p:sp>
        <p:nvSpPr>
          <p:cNvPr id="24" name="Text 21"/>
          <p:cNvSpPr/>
          <p:nvPr/>
        </p:nvSpPr>
        <p:spPr>
          <a:xfrm>
            <a:off x="7260336" y="2871216"/>
            <a:ext cx="1316736" cy="1152144"/>
          </a:xfrm>
          <a:prstGeom prst="rect">
            <a:avLst/>
          </a:prstGeom>
          <a:noFill/>
          <a:ln/>
        </p:spPr>
        <p:txBody>
          <a:bodyPr wrap="square" lIns="0" tIns="0" rIns="0" bIns="0" rtlCol="0" anchor="t"/>
          <a:lstStyle/>
          <a:p>
            <a:pPr indent="0" marL="0">
              <a:buNone/>
            </a:pPr>
            <a:r>
              <a:rPr lang="en-US" sz="1300" b="1" dirty="0">
                <a:solidFill>
                  <a:srgbClr val="2E5496"/>
                </a:solidFill>
                <a:latin typeface="Arial" pitchFamily="34" charset="0"/>
                <a:ea typeface="Arial" pitchFamily="34" charset="-122"/>
                <a:cs typeface="Arial" pitchFamily="34" charset="-120"/>
              </a:rPr>
              <a:t>10  </a:t>
            </a:r>
            <a:pPr indent="0" marL="0">
              <a:buNone/>
            </a:pPr>
            <a:r>
              <a:rPr lang="en-US" sz="1050" b="1" dirty="0">
                <a:solidFill>
                  <a:srgbClr val="595959"/>
                </a:solidFill>
                <a:latin typeface="Arial" pitchFamily="34" charset="0"/>
                <a:ea typeface="Arial" pitchFamily="34" charset="-122"/>
                <a:cs typeface="Arial" pitchFamily="34" charset="-120"/>
              </a:rPr>
              <a:t>5:23–28</a:t>
            </a:r>
            <a:endParaRPr lang="en-US" sz="1300" dirty="0"/>
          </a:p>
          <a:p>
            <a:pPr indent="0" marL="0">
              <a:buNone/>
            </a:pPr>
            <a:r>
              <a:rPr lang="en-US" sz="500" dirty="0">
                <a:solidFill>
                  <a:srgbClr val="000000"/>
                </a:solidFill>
                <a:latin typeface="Arial" pitchFamily="34" charset="0"/>
                <a:ea typeface="Arial" pitchFamily="34" charset="-122"/>
                <a:cs typeface="Arial" pitchFamily="34" charset="-120"/>
              </a:rPr>
              <a:t> </a:t>
            </a:r>
            <a:endParaRPr lang="en-US" sz="1300" dirty="0"/>
          </a:p>
          <a:p>
            <a:pPr indent="0" marL="0">
              <a:buNone/>
            </a:pPr>
            <a:r>
              <a:rPr lang="en-US" sz="1150" b="1" dirty="0">
                <a:solidFill>
                  <a:srgbClr val="1F3864"/>
                </a:solidFill>
                <a:latin typeface="Arial" pitchFamily="34" charset="0"/>
                <a:ea typeface="Arial" pitchFamily="34" charset="-122"/>
                <a:cs typeface="Arial" pitchFamily="34" charset="-120"/>
              </a:rPr>
              <a:t>’Til We Meet Again</a:t>
            </a:r>
            <a:endParaRPr lang="en-US" sz="1300" dirty="0"/>
          </a:p>
        </p:txBody>
      </p:sp>
      <p:sp>
        <p:nvSpPr>
          <p:cNvPr id="25" name="Shape 22"/>
          <p:cNvSpPr/>
          <p:nvPr/>
        </p:nvSpPr>
        <p:spPr>
          <a:xfrm>
            <a:off x="457200" y="4224528"/>
            <a:ext cx="8229600" cy="411480"/>
          </a:xfrm>
          <a:prstGeom prst="roundRect">
            <a:avLst>
              <a:gd name="adj" fmla="val 13333"/>
            </a:avLst>
          </a:prstGeom>
          <a:solidFill>
            <a:srgbClr val="1F3864"/>
          </a:solidFill>
          <a:ln w="12700">
            <a:solidFill>
              <a:srgbClr val="1F3864"/>
            </a:solidFill>
            <a:prstDash val="solid"/>
          </a:ln>
        </p:spPr>
      </p:sp>
      <p:sp>
        <p:nvSpPr>
          <p:cNvPr id="26" name="Text 23"/>
          <p:cNvSpPr/>
          <p:nvPr/>
        </p:nvSpPr>
        <p:spPr>
          <a:xfrm>
            <a:off x="621792" y="4224528"/>
            <a:ext cx="7900416" cy="411480"/>
          </a:xfrm>
          <a:prstGeom prst="rect">
            <a:avLst/>
          </a:prstGeom>
          <a:noFill/>
          <a:ln/>
        </p:spPr>
        <p:txBody>
          <a:bodyPr wrap="square" lIns="0" tIns="0" rIns="0" bIns="0" rtlCol="0" anchor="ctr"/>
          <a:lstStyle/>
          <a:p>
            <a:pPr indent="0" marL="0">
              <a:buNone/>
            </a:pPr>
            <a:r>
              <a:rPr lang="en-US" sz="1100" b="1" dirty="0">
                <a:solidFill>
                  <a:srgbClr val="C9D5EE"/>
                </a:solidFill>
                <a:latin typeface="Arial" pitchFamily="34" charset="0"/>
                <a:ea typeface="Arial" pitchFamily="34" charset="-122"/>
                <a:cs typeface="Arial" pitchFamily="34" charset="-120"/>
              </a:rPr>
              <a:t>“Finally” (4:1) marks the hinge:  </a:t>
            </a:r>
            <a:pPr indent="0" marL="0">
              <a:buNone/>
            </a:pPr>
            <a:r>
              <a:rPr lang="en-US" sz="1100" dirty="0">
                <a:solidFill>
                  <a:srgbClr val="FFFFFF"/>
                </a:solidFill>
                <a:latin typeface="Arial" pitchFamily="34" charset="0"/>
                <a:ea typeface="Arial" pitchFamily="34" charset="-122"/>
                <a:cs typeface="Arial" pitchFamily="34" charset="-120"/>
              </a:rPr>
              <a:t>chapters 1–3 lay the foundation; chapters 4–5 turn that theology into life.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From Berea to Corinth</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The background in Acts 17–18</a:t>
            </a:r>
            <a:endParaRPr lang="en-US" sz="1200" dirty="0"/>
          </a:p>
        </p:txBody>
      </p:sp>
      <p:sp>
        <p:nvSpPr>
          <p:cNvPr id="5" name="Shape 2"/>
          <p:cNvSpPr/>
          <p:nvPr/>
        </p:nvSpPr>
        <p:spPr>
          <a:xfrm>
            <a:off x="457200" y="1188720"/>
            <a:ext cx="1477670" cy="2011680"/>
          </a:xfrm>
          <a:prstGeom prst="roundRect">
            <a:avLst>
              <a:gd name="adj" fmla="val 3713"/>
            </a:avLst>
          </a:prstGeom>
          <a:solidFill>
            <a:srgbClr val="F2F6FC"/>
          </a:solidFill>
          <a:ln w="9525">
            <a:solidFill>
              <a:srgbClr val="D5DCEA"/>
            </a:solidFill>
            <a:prstDash val="solid"/>
          </a:ln>
        </p:spPr>
      </p:sp>
      <p:sp>
        <p:nvSpPr>
          <p:cNvPr id="6" name="Shape 3"/>
          <p:cNvSpPr/>
          <p:nvPr/>
        </p:nvSpPr>
        <p:spPr>
          <a:xfrm>
            <a:off x="994867" y="1298448"/>
            <a:ext cx="402336" cy="402336"/>
          </a:xfrm>
          <a:prstGeom prst="ellipse">
            <a:avLst/>
          </a:prstGeom>
          <a:solidFill>
            <a:srgbClr val="2E5496"/>
          </a:solidFill>
          <a:ln w="12700">
            <a:solidFill>
              <a:srgbClr val="2E5496"/>
            </a:solidFill>
            <a:prstDash val="solid"/>
          </a:ln>
        </p:spPr>
      </p:sp>
      <p:sp>
        <p:nvSpPr>
          <p:cNvPr id="7" name="Text 4"/>
          <p:cNvSpPr/>
          <p:nvPr/>
        </p:nvSpPr>
        <p:spPr>
          <a:xfrm>
            <a:off x="99486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Berea</a:t>
            </a:r>
            <a:endParaRPr lang="en-US" sz="1150" dirty="0"/>
          </a:p>
        </p:txBody>
      </p:sp>
      <p:sp>
        <p:nvSpPr>
          <p:cNvPr id="9" name="Text 6"/>
          <p:cNvSpPr/>
          <p:nvPr/>
        </p:nvSpPr>
        <p:spPr>
          <a:xfrm>
            <a:off x="530352"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Paul forced to leave; brothers escort him</a:t>
            </a:r>
            <a:endParaRPr lang="en-US" sz="1150" dirty="0"/>
          </a:p>
        </p:txBody>
      </p:sp>
      <p:sp>
        <p:nvSpPr>
          <p:cNvPr id="10" name="Text 7"/>
          <p:cNvSpPr/>
          <p:nvPr/>
        </p:nvSpPr>
        <p:spPr>
          <a:xfrm>
            <a:off x="530352"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Acts 17</a:t>
            </a:r>
            <a:endParaRPr lang="en-US" sz="900" dirty="0"/>
          </a:p>
        </p:txBody>
      </p:sp>
      <p:sp>
        <p:nvSpPr>
          <p:cNvPr id="11" name="Shape 8"/>
          <p:cNvSpPr/>
          <p:nvPr/>
        </p:nvSpPr>
        <p:spPr>
          <a:xfrm>
            <a:off x="1939442" y="2075688"/>
            <a:ext cx="201168" cy="237744"/>
          </a:xfrm>
          <a:prstGeom prst="rightArrow">
            <a:avLst/>
          </a:prstGeom>
          <a:solidFill>
            <a:srgbClr val="6B7280"/>
          </a:solidFill>
          <a:ln w="12700">
            <a:solidFill>
              <a:srgbClr val="6B7280"/>
            </a:solidFill>
            <a:prstDash val="solid"/>
          </a:ln>
        </p:spPr>
      </p:sp>
      <p:sp>
        <p:nvSpPr>
          <p:cNvPr id="12" name="Shape 9"/>
          <p:cNvSpPr/>
          <p:nvPr/>
        </p:nvSpPr>
        <p:spPr>
          <a:xfrm>
            <a:off x="2145182" y="1188720"/>
            <a:ext cx="1477670" cy="2011680"/>
          </a:xfrm>
          <a:prstGeom prst="roundRect">
            <a:avLst>
              <a:gd name="adj" fmla="val 3713"/>
            </a:avLst>
          </a:prstGeom>
          <a:solidFill>
            <a:srgbClr val="F2F6FC"/>
          </a:solidFill>
          <a:ln w="9525">
            <a:solidFill>
              <a:srgbClr val="D5DCEA"/>
            </a:solidFill>
            <a:prstDash val="solid"/>
          </a:ln>
        </p:spPr>
      </p:sp>
      <p:sp>
        <p:nvSpPr>
          <p:cNvPr id="13" name="Shape 10"/>
          <p:cNvSpPr/>
          <p:nvPr/>
        </p:nvSpPr>
        <p:spPr>
          <a:xfrm>
            <a:off x="2682850"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2682850"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218334"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Athens</a:t>
            </a:r>
            <a:endParaRPr lang="en-US" sz="1150" dirty="0"/>
          </a:p>
        </p:txBody>
      </p:sp>
      <p:sp>
        <p:nvSpPr>
          <p:cNvPr id="16" name="Text 13"/>
          <p:cNvSpPr/>
          <p:nvPr/>
        </p:nvSpPr>
        <p:spPr>
          <a:xfrm>
            <a:off x="2218334"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Paul stays alone; sends Timothy back</a:t>
            </a:r>
            <a:endParaRPr lang="en-US" sz="1150" dirty="0"/>
          </a:p>
        </p:txBody>
      </p:sp>
      <p:sp>
        <p:nvSpPr>
          <p:cNvPr id="17" name="Text 14"/>
          <p:cNvSpPr/>
          <p:nvPr/>
        </p:nvSpPr>
        <p:spPr>
          <a:xfrm>
            <a:off x="2218334"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3:1–2</a:t>
            </a:r>
            <a:endParaRPr lang="en-US" sz="900" dirty="0"/>
          </a:p>
        </p:txBody>
      </p:sp>
      <p:sp>
        <p:nvSpPr>
          <p:cNvPr id="18" name="Shape 15"/>
          <p:cNvSpPr/>
          <p:nvPr/>
        </p:nvSpPr>
        <p:spPr>
          <a:xfrm>
            <a:off x="3627425" y="2075688"/>
            <a:ext cx="201168" cy="237744"/>
          </a:xfrm>
          <a:prstGeom prst="rightArrow">
            <a:avLst/>
          </a:prstGeom>
          <a:solidFill>
            <a:srgbClr val="6B7280"/>
          </a:solidFill>
          <a:ln w="12700">
            <a:solidFill>
              <a:srgbClr val="6B7280"/>
            </a:solidFill>
            <a:prstDash val="solid"/>
          </a:ln>
        </p:spPr>
      </p:sp>
      <p:sp>
        <p:nvSpPr>
          <p:cNvPr id="19" name="Shape 16"/>
          <p:cNvSpPr/>
          <p:nvPr/>
        </p:nvSpPr>
        <p:spPr>
          <a:xfrm>
            <a:off x="3833165" y="1188720"/>
            <a:ext cx="1477670" cy="2011680"/>
          </a:xfrm>
          <a:prstGeom prst="roundRect">
            <a:avLst>
              <a:gd name="adj" fmla="val 3713"/>
            </a:avLst>
          </a:prstGeom>
          <a:solidFill>
            <a:srgbClr val="1F3864"/>
          </a:solidFill>
          <a:ln w="9525">
            <a:solidFill>
              <a:srgbClr val="1F3864"/>
            </a:solidFill>
            <a:prstDash val="solid"/>
          </a:ln>
        </p:spPr>
      </p:sp>
      <p:sp>
        <p:nvSpPr>
          <p:cNvPr id="20" name="Shape 17"/>
          <p:cNvSpPr/>
          <p:nvPr/>
        </p:nvSpPr>
        <p:spPr>
          <a:xfrm>
            <a:off x="4370832" y="1298448"/>
            <a:ext cx="402336" cy="402336"/>
          </a:xfrm>
          <a:prstGeom prst="ellipse">
            <a:avLst/>
          </a:prstGeom>
          <a:solidFill>
            <a:srgbClr val="FFFFFF"/>
          </a:solidFill>
          <a:ln w="12700">
            <a:solidFill>
              <a:srgbClr val="FFFFFF"/>
            </a:solidFill>
            <a:prstDash val="solid"/>
          </a:ln>
        </p:spPr>
      </p:sp>
      <p:sp>
        <p:nvSpPr>
          <p:cNvPr id="21" name="Text 18"/>
          <p:cNvSpPr/>
          <p:nvPr/>
        </p:nvSpPr>
        <p:spPr>
          <a:xfrm>
            <a:off x="4370832"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3906317" y="1773936"/>
            <a:ext cx="1331366"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Thessalonica</a:t>
            </a:r>
            <a:endParaRPr lang="en-US" sz="1150" dirty="0"/>
          </a:p>
        </p:txBody>
      </p:sp>
      <p:sp>
        <p:nvSpPr>
          <p:cNvPr id="23" name="Text 20"/>
          <p:cNvSpPr/>
          <p:nvPr/>
        </p:nvSpPr>
        <p:spPr>
          <a:xfrm>
            <a:off x="3906317" y="2157984"/>
            <a:ext cx="1331366" cy="65836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Timothy establishes and encourages the church</a:t>
            </a:r>
            <a:endParaRPr lang="en-US" sz="1150" dirty="0"/>
          </a:p>
        </p:txBody>
      </p:sp>
      <p:sp>
        <p:nvSpPr>
          <p:cNvPr id="24" name="Text 21"/>
          <p:cNvSpPr/>
          <p:nvPr/>
        </p:nvSpPr>
        <p:spPr>
          <a:xfrm>
            <a:off x="3906317" y="2816352"/>
            <a:ext cx="1331366"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3:2–5</a:t>
            </a:r>
            <a:endParaRPr lang="en-US" sz="900" dirty="0"/>
          </a:p>
        </p:txBody>
      </p:sp>
      <p:sp>
        <p:nvSpPr>
          <p:cNvPr id="25" name="Shape 22"/>
          <p:cNvSpPr/>
          <p:nvPr/>
        </p:nvSpPr>
        <p:spPr>
          <a:xfrm>
            <a:off x="5315407" y="2075688"/>
            <a:ext cx="201168" cy="237744"/>
          </a:xfrm>
          <a:prstGeom prst="rightArrow">
            <a:avLst/>
          </a:prstGeom>
          <a:solidFill>
            <a:srgbClr val="6B7280"/>
          </a:solidFill>
          <a:ln w="12700">
            <a:solidFill>
              <a:srgbClr val="6B7280"/>
            </a:solidFill>
            <a:prstDash val="solid"/>
          </a:ln>
        </p:spPr>
      </p:sp>
      <p:sp>
        <p:nvSpPr>
          <p:cNvPr id="26" name="Shape 23"/>
          <p:cNvSpPr/>
          <p:nvPr/>
        </p:nvSpPr>
        <p:spPr>
          <a:xfrm>
            <a:off x="5521147" y="1188720"/>
            <a:ext cx="1477670" cy="2011680"/>
          </a:xfrm>
          <a:prstGeom prst="roundRect">
            <a:avLst>
              <a:gd name="adj" fmla="val 3713"/>
            </a:avLst>
          </a:prstGeom>
          <a:solidFill>
            <a:srgbClr val="F2F6FC"/>
          </a:solidFill>
          <a:ln w="9525">
            <a:solidFill>
              <a:srgbClr val="D5DCEA"/>
            </a:solidFill>
            <a:prstDash val="solid"/>
          </a:ln>
        </p:spPr>
      </p:sp>
      <p:sp>
        <p:nvSpPr>
          <p:cNvPr id="27" name="Shape 24"/>
          <p:cNvSpPr/>
          <p:nvPr/>
        </p:nvSpPr>
        <p:spPr>
          <a:xfrm>
            <a:off x="6058814" y="1298448"/>
            <a:ext cx="402336" cy="402336"/>
          </a:xfrm>
          <a:prstGeom prst="ellipse">
            <a:avLst/>
          </a:prstGeom>
          <a:solidFill>
            <a:srgbClr val="2E5496"/>
          </a:solidFill>
          <a:ln w="12700">
            <a:solidFill>
              <a:srgbClr val="2E5496"/>
            </a:solidFill>
            <a:prstDash val="solid"/>
          </a:ln>
        </p:spPr>
      </p:sp>
      <p:sp>
        <p:nvSpPr>
          <p:cNvPr id="28" name="Text 25"/>
          <p:cNvSpPr/>
          <p:nvPr/>
        </p:nvSpPr>
        <p:spPr>
          <a:xfrm>
            <a:off x="6058814"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5594299"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Corinth</a:t>
            </a:r>
            <a:endParaRPr lang="en-US" sz="1150" dirty="0"/>
          </a:p>
        </p:txBody>
      </p:sp>
      <p:sp>
        <p:nvSpPr>
          <p:cNvPr id="30" name="Text 27"/>
          <p:cNvSpPr/>
          <p:nvPr/>
        </p:nvSpPr>
        <p:spPr>
          <a:xfrm>
            <a:off x="5594299"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Silas and Timothy find Paul (Acts 18:5)</a:t>
            </a:r>
            <a:endParaRPr lang="en-US" sz="1150" dirty="0"/>
          </a:p>
        </p:txBody>
      </p:sp>
      <p:sp>
        <p:nvSpPr>
          <p:cNvPr id="31" name="Text 28"/>
          <p:cNvSpPr/>
          <p:nvPr/>
        </p:nvSpPr>
        <p:spPr>
          <a:xfrm>
            <a:off x="5594299"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Timothy’s report · 3:6</a:t>
            </a:r>
            <a:endParaRPr lang="en-US" sz="900" dirty="0"/>
          </a:p>
        </p:txBody>
      </p:sp>
      <p:sp>
        <p:nvSpPr>
          <p:cNvPr id="32" name="Shape 29"/>
          <p:cNvSpPr/>
          <p:nvPr/>
        </p:nvSpPr>
        <p:spPr>
          <a:xfrm>
            <a:off x="7003390" y="2075688"/>
            <a:ext cx="201168" cy="237744"/>
          </a:xfrm>
          <a:prstGeom prst="rightArrow">
            <a:avLst/>
          </a:prstGeom>
          <a:solidFill>
            <a:srgbClr val="6B7280"/>
          </a:solidFill>
          <a:ln w="12700">
            <a:solidFill>
              <a:srgbClr val="6B7280"/>
            </a:solidFill>
            <a:prstDash val="solid"/>
          </a:ln>
        </p:spPr>
      </p:sp>
      <p:sp>
        <p:nvSpPr>
          <p:cNvPr id="33" name="Shape 30"/>
          <p:cNvSpPr/>
          <p:nvPr/>
        </p:nvSpPr>
        <p:spPr>
          <a:xfrm>
            <a:off x="7209130" y="1188720"/>
            <a:ext cx="1477670" cy="2011680"/>
          </a:xfrm>
          <a:prstGeom prst="roundRect">
            <a:avLst>
              <a:gd name="adj" fmla="val 3713"/>
            </a:avLst>
          </a:prstGeom>
          <a:solidFill>
            <a:srgbClr val="F2F6FC"/>
          </a:solidFill>
          <a:ln w="9525">
            <a:solidFill>
              <a:srgbClr val="D5DCEA"/>
            </a:solidFill>
            <a:prstDash val="solid"/>
          </a:ln>
        </p:spPr>
      </p:sp>
      <p:sp>
        <p:nvSpPr>
          <p:cNvPr id="34" name="Shape 31"/>
          <p:cNvSpPr/>
          <p:nvPr/>
        </p:nvSpPr>
        <p:spPr>
          <a:xfrm>
            <a:off x="7746797" y="1298448"/>
            <a:ext cx="402336" cy="402336"/>
          </a:xfrm>
          <a:prstGeom prst="ellipse">
            <a:avLst/>
          </a:prstGeom>
          <a:solidFill>
            <a:srgbClr val="2E5496"/>
          </a:solidFill>
          <a:ln w="12700">
            <a:solidFill>
              <a:srgbClr val="2E5496"/>
            </a:solidFill>
            <a:prstDash val="solid"/>
          </a:ln>
        </p:spPr>
      </p:sp>
      <p:sp>
        <p:nvSpPr>
          <p:cNvPr id="35" name="Text 32"/>
          <p:cNvSpPr/>
          <p:nvPr/>
        </p:nvSpPr>
        <p:spPr>
          <a:xfrm>
            <a:off x="7746797"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a:t>
            </a:r>
            <a:endParaRPr lang="en-US" sz="1300" dirty="0"/>
          </a:p>
        </p:txBody>
      </p:sp>
      <p:sp>
        <p:nvSpPr>
          <p:cNvPr id="36" name="Text 33"/>
          <p:cNvSpPr/>
          <p:nvPr/>
        </p:nvSpPr>
        <p:spPr>
          <a:xfrm>
            <a:off x="7282282" y="1773936"/>
            <a:ext cx="1331366"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The letter</a:t>
            </a:r>
            <a:endParaRPr lang="en-US" sz="1150" dirty="0"/>
          </a:p>
        </p:txBody>
      </p:sp>
      <p:sp>
        <p:nvSpPr>
          <p:cNvPr id="37" name="Text 34"/>
          <p:cNvSpPr/>
          <p:nvPr/>
        </p:nvSpPr>
        <p:spPr>
          <a:xfrm>
            <a:off x="7282282" y="2157984"/>
            <a:ext cx="1331366" cy="65836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Written from Corinth, looking back</a:t>
            </a:r>
            <a:endParaRPr lang="en-US" sz="1150" dirty="0"/>
          </a:p>
        </p:txBody>
      </p:sp>
      <p:sp>
        <p:nvSpPr>
          <p:cNvPr id="38" name="Text 35"/>
          <p:cNvSpPr/>
          <p:nvPr/>
        </p:nvSpPr>
        <p:spPr>
          <a:xfrm>
            <a:off x="7282282" y="2816352"/>
            <a:ext cx="1331366"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1 Thessalonians</a:t>
            </a:r>
            <a:endParaRPr lang="en-US" sz="900" dirty="0"/>
          </a:p>
        </p:txBody>
      </p:sp>
      <p:sp>
        <p:nvSpPr>
          <p:cNvPr id="39" name="Shape 36"/>
          <p:cNvSpPr/>
          <p:nvPr/>
        </p:nvSpPr>
        <p:spPr>
          <a:xfrm>
            <a:off x="457200" y="3429000"/>
            <a:ext cx="8229600" cy="1143000"/>
          </a:xfrm>
          <a:prstGeom prst="roundRect">
            <a:avLst>
              <a:gd name="adj" fmla="val 4800"/>
            </a:avLst>
          </a:prstGeom>
          <a:solidFill>
            <a:srgbClr val="1F3864"/>
          </a:solidFill>
          <a:ln w="12700">
            <a:solidFill>
              <a:srgbClr val="1F3864"/>
            </a:solidFill>
            <a:prstDash val="solid"/>
          </a:ln>
        </p:spPr>
      </p:sp>
      <p:sp>
        <p:nvSpPr>
          <p:cNvPr id="40" name="Text 37"/>
          <p:cNvSpPr/>
          <p:nvPr/>
        </p:nvSpPr>
        <p:spPr>
          <a:xfrm>
            <a:off x="621792" y="3429000"/>
            <a:ext cx="7900416" cy="11430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Paul could scarcely bear not knowing how they were doing. They had endured all kinds of tribulation; he had been chased out. So he sent Timothy back to find out how the young church was making out.</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Timothy — and why he went</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3:2 · I.B — The proposal</a:t>
            </a:r>
            <a:endParaRPr lang="en-US" sz="1200" dirty="0"/>
          </a:p>
        </p:txBody>
      </p:sp>
      <p:sp>
        <p:nvSpPr>
          <p:cNvPr id="5" name="Shape 2"/>
          <p:cNvSpPr/>
          <p:nvPr/>
        </p:nvSpPr>
        <p:spPr>
          <a:xfrm>
            <a:off x="457200" y="1188720"/>
            <a:ext cx="3383280" cy="566928"/>
          </a:xfrm>
          <a:prstGeom prst="rect">
            <a:avLst/>
          </a:prstGeom>
          <a:solidFill>
            <a:srgbClr val="2E5496"/>
          </a:solidFill>
          <a:ln w="12700">
            <a:solidFill>
              <a:srgbClr val="2E5496"/>
            </a:solidFill>
            <a:prstDash val="solid"/>
          </a:ln>
        </p:spPr>
      </p:sp>
      <p:sp>
        <p:nvSpPr>
          <p:cNvPr id="6" name="Text 3"/>
          <p:cNvSpPr/>
          <p:nvPr/>
        </p:nvSpPr>
        <p:spPr>
          <a:xfrm>
            <a:off x="548640" y="1234440"/>
            <a:ext cx="320040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messenger chosen</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διάκονος</a:t>
            </a:r>
            <a:pPr indent="0" marL="0">
              <a:buNone/>
            </a:pPr>
            <a:r>
              <a:rPr lang="en-US" sz="850" dirty="0">
                <a:solidFill>
                  <a:srgbClr val="DCE4F2"/>
                </a:solidFill>
                <a:latin typeface="Arial" pitchFamily="34" charset="0"/>
                <a:ea typeface="Arial" pitchFamily="34" charset="-122"/>
                <a:cs typeface="Arial" pitchFamily="34" charset="-120"/>
              </a:rPr>
              <a:t>  minister · G1249</a:t>
            </a:r>
            <a:endParaRPr lang="en-US" sz="1200" dirty="0"/>
          </a:p>
        </p:txBody>
      </p:sp>
      <p:sp>
        <p:nvSpPr>
          <p:cNvPr id="7" name="Shape 4"/>
          <p:cNvSpPr/>
          <p:nvPr/>
        </p:nvSpPr>
        <p:spPr>
          <a:xfrm>
            <a:off x="457200" y="1755648"/>
            <a:ext cx="3383280" cy="2267712"/>
          </a:xfrm>
          <a:prstGeom prst="rect">
            <a:avLst/>
          </a:prstGeom>
          <a:solidFill>
            <a:srgbClr val="F2F6FC"/>
          </a:solidFill>
          <a:ln w="9525">
            <a:solidFill>
              <a:srgbClr val="D5DCEA"/>
            </a:solidFill>
            <a:prstDash val="solid"/>
          </a:ln>
        </p:spPr>
      </p:sp>
      <p:sp>
        <p:nvSpPr>
          <p:cNvPr id="8" name="Text 5"/>
          <p:cNvSpPr/>
          <p:nvPr/>
        </p:nvSpPr>
        <p:spPr>
          <a:xfrm>
            <a:off x="548640" y="1828800"/>
            <a:ext cx="3200400" cy="2139696"/>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Our brother</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Minister of God</a:t>
            </a:r>
            <a:endParaRPr lang="en-US" sz="1150" dirty="0"/>
          </a:p>
          <a:p>
            <a:pPr marL="127000" indent="-127000">
              <a:spcAft>
                <a:spcPts val="300"/>
              </a:spcAft>
              <a:buSzPct val="100000"/>
              <a:buChar char="•"/>
            </a:pPr>
            <a:r>
              <a:rPr lang="en-US" sz="1150" dirty="0">
                <a:solidFill>
                  <a:srgbClr val="262626"/>
                </a:solidFill>
                <a:latin typeface="Arial" pitchFamily="34" charset="0"/>
                <a:ea typeface="Arial" pitchFamily="34" charset="-122"/>
                <a:cs typeface="Arial" pitchFamily="34" charset="-120"/>
              </a:rPr>
              <a:t>Fellow laborer in the gospel</a:t>
            </a:r>
            <a:endParaRPr lang="en-US" sz="1150" dirty="0"/>
          </a:p>
          <a:p>
            <a:pPr indent="0" marL="0">
              <a:buNone/>
            </a:pPr>
            <a:r>
              <a:rPr lang="en-US" sz="575" dirty="0">
                <a:solidFill>
                  <a:srgbClr val="000000"/>
                </a:solidFill>
                <a:latin typeface="Arial" pitchFamily="34" charset="0"/>
                <a:ea typeface="Arial" pitchFamily="34" charset="-122"/>
                <a:cs typeface="Arial" pitchFamily="34" charset="-120"/>
              </a:rPr>
              <a:t> </a:t>
            </a:r>
            <a:endParaRPr lang="en-US" sz="1150" dirty="0"/>
          </a:p>
          <a:p>
            <a:pPr indent="0" marL="0">
              <a:spcAft>
                <a:spcPts val="300"/>
              </a:spcAft>
              <a:buNone/>
            </a:pPr>
            <a:r>
              <a:rPr lang="en-US" sz="1150" dirty="0">
                <a:solidFill>
                  <a:srgbClr val="262626"/>
                </a:solidFill>
                <a:latin typeface="Arial" pitchFamily="34" charset="0"/>
                <a:ea typeface="Arial" pitchFamily="34" charset="-122"/>
                <a:cs typeface="Arial" pitchFamily="34" charset="-120"/>
              </a:rPr>
              <a:t>A full commendation for a young man — someone the church already knew and trusted.</a:t>
            </a:r>
            <a:endParaRPr lang="en-US" sz="1150" dirty="0"/>
          </a:p>
        </p:txBody>
      </p:sp>
      <p:sp>
        <p:nvSpPr>
          <p:cNvPr id="9" name="Text 6"/>
          <p:cNvSpPr/>
          <p:nvPr/>
        </p:nvSpPr>
        <p:spPr>
          <a:xfrm>
            <a:off x="4069080" y="1188720"/>
            <a:ext cx="4617720" cy="292608"/>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The messenger charged</a:t>
            </a:r>
            <a:endParaRPr lang="en-US" sz="1200" dirty="0"/>
          </a:p>
        </p:txBody>
      </p:sp>
      <p:sp>
        <p:nvSpPr>
          <p:cNvPr id="10" name="Shape 7"/>
          <p:cNvSpPr/>
          <p:nvPr/>
        </p:nvSpPr>
        <p:spPr>
          <a:xfrm>
            <a:off x="4069080" y="1591056"/>
            <a:ext cx="384048" cy="384048"/>
          </a:xfrm>
          <a:prstGeom prst="ellipse">
            <a:avLst/>
          </a:prstGeom>
          <a:solidFill>
            <a:srgbClr val="2E5496"/>
          </a:solidFill>
          <a:ln w="12700">
            <a:solidFill>
              <a:srgbClr val="2E5496"/>
            </a:solidFill>
            <a:prstDash val="solid"/>
          </a:ln>
        </p:spPr>
      </p:sp>
      <p:sp>
        <p:nvSpPr>
          <p:cNvPr id="11" name="Text 8"/>
          <p:cNvSpPr/>
          <p:nvPr/>
        </p:nvSpPr>
        <p:spPr>
          <a:xfrm>
            <a:off x="406908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2" name="Text 9"/>
          <p:cNvSpPr/>
          <p:nvPr/>
        </p:nvSpPr>
        <p:spPr>
          <a:xfrm>
            <a:off x="4572000" y="1536192"/>
            <a:ext cx="4114800" cy="78638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To establish — στηρίζω</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Make them firm: the faith believed (Jude 3) and their trust in it</a:t>
            </a:r>
            <a:endParaRPr lang="en-US" sz="1150" dirty="0"/>
          </a:p>
        </p:txBody>
      </p:sp>
      <p:sp>
        <p:nvSpPr>
          <p:cNvPr id="13" name="Shape 10"/>
          <p:cNvSpPr/>
          <p:nvPr/>
        </p:nvSpPr>
        <p:spPr>
          <a:xfrm>
            <a:off x="4069080" y="2414016"/>
            <a:ext cx="384048" cy="384048"/>
          </a:xfrm>
          <a:prstGeom prst="ellipse">
            <a:avLst/>
          </a:prstGeom>
          <a:solidFill>
            <a:srgbClr val="2E5496"/>
          </a:solidFill>
          <a:ln w="12700">
            <a:solidFill>
              <a:srgbClr val="2E5496"/>
            </a:solidFill>
            <a:prstDash val="solid"/>
          </a:ln>
        </p:spPr>
      </p:sp>
      <p:sp>
        <p:nvSpPr>
          <p:cNvPr id="14" name="Text 11"/>
          <p:cNvSpPr/>
          <p:nvPr/>
        </p:nvSpPr>
        <p:spPr>
          <a:xfrm>
            <a:off x="4069080" y="24140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2"/>
          <p:cNvSpPr/>
          <p:nvPr/>
        </p:nvSpPr>
        <p:spPr>
          <a:xfrm>
            <a:off x="4572000" y="2359152"/>
            <a:ext cx="4114800" cy="78638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To encourage — παρακαλέω</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Come alongside them in their afflictions, as the Paraclete does</a:t>
            </a:r>
            <a:endParaRPr lang="en-US" sz="1150" dirty="0"/>
          </a:p>
        </p:txBody>
      </p:sp>
      <p:sp>
        <p:nvSpPr>
          <p:cNvPr id="16" name="Shape 13"/>
          <p:cNvSpPr/>
          <p:nvPr/>
        </p:nvSpPr>
        <p:spPr>
          <a:xfrm>
            <a:off x="4069080" y="3236976"/>
            <a:ext cx="384048" cy="384048"/>
          </a:xfrm>
          <a:prstGeom prst="ellipse">
            <a:avLst/>
          </a:prstGeom>
          <a:solidFill>
            <a:srgbClr val="375623"/>
          </a:solidFill>
          <a:ln w="12700">
            <a:solidFill>
              <a:srgbClr val="375623"/>
            </a:solidFill>
            <a:prstDash val="solid"/>
          </a:ln>
        </p:spPr>
      </p:sp>
      <p:sp>
        <p:nvSpPr>
          <p:cNvPr id="17" name="Text 14"/>
          <p:cNvSpPr/>
          <p:nvPr/>
        </p:nvSpPr>
        <p:spPr>
          <a:xfrm>
            <a:off x="4069080" y="32369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5"/>
          <p:cNvSpPr/>
          <p:nvPr/>
        </p:nvSpPr>
        <p:spPr>
          <a:xfrm>
            <a:off x="4572000" y="3182112"/>
            <a:ext cx="4114800" cy="786384"/>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The two great needs</a:t>
            </a:r>
            <a:endParaRPr lang="en-US" sz="1150" dirty="0"/>
          </a:p>
          <a:p>
            <a:pPr indent="0" marL="0">
              <a:buNone/>
            </a:pPr>
            <a:r>
              <a:rPr lang="en-US" sz="1050" dirty="0">
                <a:solidFill>
                  <a:srgbClr val="262626"/>
                </a:solidFill>
                <a:latin typeface="Arial" pitchFamily="34" charset="0"/>
                <a:ea typeface="Arial" pitchFamily="34" charset="-122"/>
                <a:cs typeface="Arial" pitchFamily="34" charset="-120"/>
              </a:rPr>
              <a:t>Something solid to stand on, and someone to stand with them</a:t>
            </a:r>
            <a:endParaRPr lang="en-US" sz="1150" dirty="0"/>
          </a:p>
        </p:txBody>
      </p:sp>
      <p:sp>
        <p:nvSpPr>
          <p:cNvPr id="19" name="Shape 16"/>
          <p:cNvSpPr/>
          <p:nvPr/>
        </p:nvSpPr>
        <p:spPr>
          <a:xfrm>
            <a:off x="457200" y="4160520"/>
            <a:ext cx="8229600" cy="457200"/>
          </a:xfrm>
          <a:prstGeom prst="roundRect">
            <a:avLst>
              <a:gd name="adj" fmla="val 12000"/>
            </a:avLst>
          </a:prstGeom>
          <a:solidFill>
            <a:srgbClr val="1F3864"/>
          </a:solidFill>
          <a:ln w="12700">
            <a:solidFill>
              <a:srgbClr val="1F3864"/>
            </a:solidFill>
            <a:prstDash val="solid"/>
          </a:ln>
        </p:spPr>
      </p:sp>
      <p:sp>
        <p:nvSpPr>
          <p:cNvPr id="20" name="Text 17"/>
          <p:cNvSpPr/>
          <p:nvPr/>
        </p:nvSpPr>
        <p:spPr>
          <a:xfrm>
            <a:off x="621792" y="4160520"/>
            <a:ext cx="7900416" cy="457200"/>
          </a:xfrm>
          <a:prstGeom prst="rect">
            <a:avLst/>
          </a:prstGeom>
          <a:noFill/>
          <a:ln/>
        </p:spPr>
        <p:txBody>
          <a:bodyPr wrap="square" lIns="0" tIns="0" rIns="0" bIns="0" rtlCol="0" anchor="ctr"/>
          <a:lstStyle/>
          <a:p>
            <a:pPr indent="0" marL="0">
              <a:buNone/>
            </a:pPr>
            <a:r>
              <a:rPr lang="en-US" sz="1150" dirty="0">
                <a:solidFill>
                  <a:srgbClr val="FFFFFF"/>
                </a:solidFill>
                <a:latin typeface="Arial" pitchFamily="34" charset="0"/>
                <a:ea typeface="Arial" pitchFamily="34" charset="-122"/>
                <a:cs typeface="Arial" pitchFamily="34" charset="-120"/>
              </a:rPr>
              <a:t>What the minister begins (stērizō, v.2), God completes (stērizō, v.13).</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Appointed to this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3:3–5 · I.C–D — The petition and the plan</a:t>
            </a:r>
            <a:endParaRPr lang="en-US" sz="1200" dirty="0"/>
          </a:p>
        </p:txBody>
      </p:sp>
      <p:sp>
        <p:nvSpPr>
          <p:cNvPr id="5" name="Shape 2"/>
          <p:cNvSpPr/>
          <p:nvPr/>
        </p:nvSpPr>
        <p:spPr>
          <a:xfrm>
            <a:off x="457200" y="1188720"/>
            <a:ext cx="2499360" cy="566928"/>
          </a:xfrm>
          <a:prstGeom prst="rect">
            <a:avLst/>
          </a:prstGeom>
          <a:solidFill>
            <a:srgbClr val="2E5496"/>
          </a:solidFill>
          <a:ln w="12700">
            <a:solidFill>
              <a:srgbClr val="2E5496"/>
            </a:solidFill>
            <a:prstDash val="solid"/>
          </a:ln>
        </p:spPr>
      </p:sp>
      <p:sp>
        <p:nvSpPr>
          <p:cNvPr id="6" name="Text 3"/>
          <p:cNvSpPr/>
          <p:nvPr/>
        </p:nvSpPr>
        <p:spPr>
          <a:xfrm>
            <a:off x="54864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Not shaken · v.3</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σαίνω · κεῖμαι</a:t>
            </a:r>
            <a:pPr indent="0" marL="0">
              <a:buNone/>
            </a:pPr>
            <a:r>
              <a:rPr lang="en-US" sz="850" dirty="0">
                <a:solidFill>
                  <a:srgbClr val="DCE4F2"/>
                </a:solidFill>
                <a:latin typeface="Arial" pitchFamily="34" charset="0"/>
                <a:ea typeface="Arial" pitchFamily="34" charset="-122"/>
                <a:cs typeface="Arial" pitchFamily="34" charset="-120"/>
              </a:rPr>
              <a:t>  shaken · appointed</a:t>
            </a:r>
            <a:endParaRPr lang="en-US" sz="1200" dirty="0"/>
          </a:p>
        </p:txBody>
      </p:sp>
      <p:sp>
        <p:nvSpPr>
          <p:cNvPr id="7" name="Shape 4"/>
          <p:cNvSpPr/>
          <p:nvPr/>
        </p:nvSpPr>
        <p:spPr>
          <a:xfrm>
            <a:off x="457200" y="1755648"/>
            <a:ext cx="2499360" cy="1947672"/>
          </a:xfrm>
          <a:prstGeom prst="rect">
            <a:avLst/>
          </a:prstGeom>
          <a:solidFill>
            <a:srgbClr val="F2F6FC"/>
          </a:solidFill>
          <a:ln w="9525">
            <a:solidFill>
              <a:srgbClr val="D5DCEA"/>
            </a:solidFill>
            <a:prstDash val="solid"/>
          </a:ln>
        </p:spPr>
      </p:sp>
      <p:sp>
        <p:nvSpPr>
          <p:cNvPr id="8" name="Text 5"/>
          <p:cNvSpPr/>
          <p:nvPr/>
        </p:nvSpPr>
        <p:spPr>
          <a:xfrm>
            <a:off x="54864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Not “no tribulation” — but not shaken by it</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 are appointed to this”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Part of the calling, not a surprise</a:t>
            </a:r>
            <a:endParaRPr lang="en-US" sz="1250" dirty="0"/>
          </a:p>
        </p:txBody>
      </p:sp>
      <p:sp>
        <p:nvSpPr>
          <p:cNvPr id="9" name="Shape 6"/>
          <p:cNvSpPr/>
          <p:nvPr/>
        </p:nvSpPr>
        <p:spPr>
          <a:xfrm>
            <a:off x="3020568" y="2327148"/>
            <a:ext cx="237744" cy="237744"/>
          </a:xfrm>
          <a:prstGeom prst="rightArrow">
            <a:avLst/>
          </a:prstGeom>
          <a:solidFill>
            <a:srgbClr val="6B7280"/>
          </a:solidFill>
          <a:ln w="12700">
            <a:solidFill>
              <a:srgbClr val="6B7280"/>
            </a:solidFill>
            <a:prstDash val="solid"/>
          </a:ln>
        </p:spPr>
      </p:sp>
      <p:sp>
        <p:nvSpPr>
          <p:cNvPr id="10" name="Shape 7"/>
          <p:cNvSpPr/>
          <p:nvPr/>
        </p:nvSpPr>
        <p:spPr>
          <a:xfrm>
            <a:off x="3322320" y="1188720"/>
            <a:ext cx="2499360" cy="566928"/>
          </a:xfrm>
          <a:prstGeom prst="rect">
            <a:avLst/>
          </a:prstGeom>
          <a:solidFill>
            <a:srgbClr val="2E5496"/>
          </a:solidFill>
          <a:ln w="12700">
            <a:solidFill>
              <a:srgbClr val="2E5496"/>
            </a:solidFill>
            <a:prstDash val="solid"/>
          </a:ln>
        </p:spPr>
      </p:sp>
      <p:sp>
        <p:nvSpPr>
          <p:cNvPr id="11" name="Text 8"/>
          <p:cNvSpPr/>
          <p:nvPr/>
        </p:nvSpPr>
        <p:spPr>
          <a:xfrm>
            <a:off x="341376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Foretold · v.4</a:t>
            </a:r>
            <a:endParaRPr lang="en-US" sz="1200" dirty="0"/>
          </a:p>
        </p:txBody>
      </p:sp>
      <p:sp>
        <p:nvSpPr>
          <p:cNvPr id="12" name="Shape 9"/>
          <p:cNvSpPr/>
          <p:nvPr/>
        </p:nvSpPr>
        <p:spPr>
          <a:xfrm>
            <a:off x="3322320" y="1755648"/>
            <a:ext cx="2499360" cy="1947672"/>
          </a:xfrm>
          <a:prstGeom prst="rect">
            <a:avLst/>
          </a:prstGeom>
          <a:solidFill>
            <a:srgbClr val="F2F6FC"/>
          </a:solidFill>
          <a:ln w="9525">
            <a:solidFill>
              <a:srgbClr val="D5DCEA"/>
            </a:solidFill>
            <a:prstDash val="solid"/>
          </a:ln>
        </p:spPr>
      </p:sp>
      <p:sp>
        <p:nvSpPr>
          <p:cNvPr id="13" name="Text 10"/>
          <p:cNvSpPr/>
          <p:nvPr/>
        </p:nvSpPr>
        <p:spPr>
          <a:xfrm>
            <a:off x="341376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“We told you before” — again and again</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Taught before persecution came</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“Just as it happened, and you know”</a:t>
            </a:r>
            <a:endParaRPr lang="en-US" sz="1250" dirty="0"/>
          </a:p>
        </p:txBody>
      </p:sp>
      <p:sp>
        <p:nvSpPr>
          <p:cNvPr id="14" name="Shape 11"/>
          <p:cNvSpPr/>
          <p:nvPr/>
        </p:nvSpPr>
        <p:spPr>
          <a:xfrm>
            <a:off x="5885688" y="2327148"/>
            <a:ext cx="237744" cy="237744"/>
          </a:xfrm>
          <a:prstGeom prst="rightArrow">
            <a:avLst/>
          </a:prstGeom>
          <a:solidFill>
            <a:srgbClr val="6B7280"/>
          </a:solidFill>
          <a:ln w="12700">
            <a:solidFill>
              <a:srgbClr val="6B7280"/>
            </a:solidFill>
            <a:prstDash val="solid"/>
          </a:ln>
        </p:spPr>
      </p:sp>
      <p:sp>
        <p:nvSpPr>
          <p:cNvPr id="15" name="Shape 12"/>
          <p:cNvSpPr/>
          <p:nvPr/>
        </p:nvSpPr>
        <p:spPr>
          <a:xfrm>
            <a:off x="6187440" y="1188720"/>
            <a:ext cx="2499360" cy="566928"/>
          </a:xfrm>
          <a:prstGeom prst="rect">
            <a:avLst/>
          </a:prstGeom>
          <a:solidFill>
            <a:srgbClr val="6B7280"/>
          </a:solidFill>
          <a:ln w="12700">
            <a:solidFill>
              <a:srgbClr val="6B7280"/>
            </a:solidFill>
            <a:prstDash val="solid"/>
          </a:ln>
        </p:spPr>
      </p:sp>
      <p:sp>
        <p:nvSpPr>
          <p:cNvPr id="16" name="Text 13"/>
          <p:cNvSpPr/>
          <p:nvPr/>
        </p:nvSpPr>
        <p:spPr>
          <a:xfrm>
            <a:off x="6278880" y="1234440"/>
            <a:ext cx="2316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tempter · v.5</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πειράζω</a:t>
            </a:r>
            <a:pPr indent="0" marL="0">
              <a:buNone/>
            </a:pPr>
            <a:r>
              <a:rPr lang="en-US" sz="850" dirty="0">
                <a:solidFill>
                  <a:srgbClr val="DCE4F2"/>
                </a:solidFill>
                <a:latin typeface="Arial" pitchFamily="34" charset="0"/>
                <a:ea typeface="Arial" pitchFamily="34" charset="-122"/>
                <a:cs typeface="Arial" pitchFamily="34" charset="-120"/>
              </a:rPr>
              <a:t>  to tempt · G3985</a:t>
            </a:r>
            <a:endParaRPr lang="en-US" sz="1200" dirty="0"/>
          </a:p>
        </p:txBody>
      </p:sp>
      <p:sp>
        <p:nvSpPr>
          <p:cNvPr id="17" name="Shape 14"/>
          <p:cNvSpPr/>
          <p:nvPr/>
        </p:nvSpPr>
        <p:spPr>
          <a:xfrm>
            <a:off x="6187440" y="1755648"/>
            <a:ext cx="2499360" cy="1947672"/>
          </a:xfrm>
          <a:prstGeom prst="rect">
            <a:avLst/>
          </a:prstGeom>
          <a:solidFill>
            <a:srgbClr val="F2F6FC"/>
          </a:solidFill>
          <a:ln w="9525">
            <a:solidFill>
              <a:srgbClr val="D5DCEA"/>
            </a:solidFill>
            <a:prstDash val="solid"/>
          </a:ln>
        </p:spPr>
      </p:sp>
      <p:sp>
        <p:nvSpPr>
          <p:cNvPr id="18" name="Text 15"/>
          <p:cNvSpPr/>
          <p:nvPr/>
        </p:nvSpPr>
        <p:spPr>
          <a:xfrm>
            <a:off x="6278880" y="1828800"/>
            <a:ext cx="2316480" cy="181965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No news is not good news</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Satan uses suffering to erode faith</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“Lest our labor might be in vain”</a:t>
            </a:r>
            <a:endParaRPr lang="en-US" sz="1250" dirty="0"/>
          </a:p>
        </p:txBody>
      </p:sp>
      <p:sp>
        <p:nvSpPr>
          <p:cNvPr id="19" name="Shape 16"/>
          <p:cNvSpPr/>
          <p:nvPr/>
        </p:nvSpPr>
        <p:spPr>
          <a:xfrm>
            <a:off x="457200" y="3886200"/>
            <a:ext cx="8229600" cy="731520"/>
          </a:xfrm>
          <a:prstGeom prst="roundRect">
            <a:avLst>
              <a:gd name="adj" fmla="val 7500"/>
            </a:avLst>
          </a:prstGeom>
          <a:solidFill>
            <a:srgbClr val="1F3864"/>
          </a:solidFill>
          <a:ln w="12700">
            <a:solidFill>
              <a:srgbClr val="1F3864"/>
            </a:solidFill>
            <a:prstDash val="solid"/>
          </a:ln>
        </p:spPr>
      </p:sp>
      <p:sp>
        <p:nvSpPr>
          <p:cNvPr id="20" name="Text 17"/>
          <p:cNvSpPr/>
          <p:nvPr/>
        </p:nvSpPr>
        <p:spPr>
          <a:xfrm>
            <a:off x="621792" y="3886200"/>
            <a:ext cx="7900416" cy="73152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Suffering is not evidence that God has abandoned us; it is the predictable consequence of faithful gospel reception in a hostile world.</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Good news from Thessalonica</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3:6–10 · II.A–C — Paul’s consolation</a:t>
            </a:r>
            <a:endParaRPr lang="en-US" sz="1200" dirty="0"/>
          </a:p>
        </p:txBody>
      </p:sp>
      <p:sp>
        <p:nvSpPr>
          <p:cNvPr id="5" name="Shape 2"/>
          <p:cNvSpPr/>
          <p:nvPr/>
        </p:nvSpPr>
        <p:spPr>
          <a:xfrm>
            <a:off x="457200" y="1115568"/>
            <a:ext cx="777240" cy="566928"/>
          </a:xfrm>
          <a:prstGeom prst="rect">
            <a:avLst/>
          </a:prstGeom>
          <a:solidFill>
            <a:srgbClr val="2E5496"/>
          </a:solidFill>
          <a:ln w="12700">
            <a:solidFill>
              <a:srgbClr val="2E5496"/>
            </a:solidFill>
            <a:prstDash val="solid"/>
          </a:ln>
        </p:spPr>
      </p:sp>
      <p:sp>
        <p:nvSpPr>
          <p:cNvPr id="6" name="Text 3"/>
          <p:cNvSpPr/>
          <p:nvPr/>
        </p:nvSpPr>
        <p:spPr>
          <a:xfrm>
            <a:off x="457200" y="111556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v.6</a:t>
            </a:r>
            <a:endParaRPr lang="en-US" sz="1100" dirty="0"/>
          </a:p>
        </p:txBody>
      </p:sp>
      <p:sp>
        <p:nvSpPr>
          <p:cNvPr id="7" name="Shape 4"/>
          <p:cNvSpPr/>
          <p:nvPr/>
        </p:nvSpPr>
        <p:spPr>
          <a:xfrm>
            <a:off x="1234440" y="1115568"/>
            <a:ext cx="7452360" cy="566928"/>
          </a:xfrm>
          <a:prstGeom prst="rect">
            <a:avLst/>
          </a:prstGeom>
          <a:solidFill>
            <a:srgbClr val="F2F6FC"/>
          </a:solidFill>
          <a:ln w="9525">
            <a:solidFill>
              <a:srgbClr val="D5DCEA"/>
            </a:solidFill>
            <a:prstDash val="solid"/>
          </a:ln>
        </p:spPr>
      </p:sp>
      <p:sp>
        <p:nvSpPr>
          <p:cNvPr id="8" name="Text 5"/>
          <p:cNvSpPr/>
          <p:nvPr/>
        </p:nvSpPr>
        <p:spPr>
          <a:xfrm>
            <a:off x="1344168" y="111556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Timothy’s report: your faith and love; you long to see us</a:t>
            </a:r>
            <a:endParaRPr lang="en-US" sz="1150" dirty="0"/>
          </a:p>
        </p:txBody>
      </p:sp>
      <p:sp>
        <p:nvSpPr>
          <p:cNvPr id="9" name="Text 6"/>
          <p:cNvSpPr/>
          <p:nvPr/>
        </p:nvSpPr>
        <p:spPr>
          <a:xfrm>
            <a:off x="5806440" y="111556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εὐαγγελίζω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news as good as the gospel</a:t>
            </a:r>
            <a:endParaRPr lang="en-US" sz="1300" dirty="0"/>
          </a:p>
        </p:txBody>
      </p:sp>
      <p:sp>
        <p:nvSpPr>
          <p:cNvPr id="10" name="Shape 7"/>
          <p:cNvSpPr/>
          <p:nvPr/>
        </p:nvSpPr>
        <p:spPr>
          <a:xfrm>
            <a:off x="457200" y="1755648"/>
            <a:ext cx="777240" cy="566928"/>
          </a:xfrm>
          <a:prstGeom prst="rect">
            <a:avLst/>
          </a:prstGeom>
          <a:solidFill>
            <a:srgbClr val="2E5496"/>
          </a:solidFill>
          <a:ln w="12700">
            <a:solidFill>
              <a:srgbClr val="2E5496"/>
            </a:solidFill>
            <a:prstDash val="solid"/>
          </a:ln>
        </p:spPr>
      </p:sp>
      <p:sp>
        <p:nvSpPr>
          <p:cNvPr id="11" name="Text 8"/>
          <p:cNvSpPr/>
          <p:nvPr/>
        </p:nvSpPr>
        <p:spPr>
          <a:xfrm>
            <a:off x="457200" y="175564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v.7</a:t>
            </a:r>
            <a:endParaRPr lang="en-US" sz="1100" dirty="0"/>
          </a:p>
        </p:txBody>
      </p:sp>
      <p:sp>
        <p:nvSpPr>
          <p:cNvPr id="12" name="Shape 9"/>
          <p:cNvSpPr/>
          <p:nvPr/>
        </p:nvSpPr>
        <p:spPr>
          <a:xfrm>
            <a:off x="1234440" y="1755648"/>
            <a:ext cx="7452360" cy="566928"/>
          </a:xfrm>
          <a:prstGeom prst="rect">
            <a:avLst/>
          </a:prstGeom>
          <a:solidFill>
            <a:srgbClr val="FFFFFF"/>
          </a:solidFill>
          <a:ln w="9525">
            <a:solidFill>
              <a:srgbClr val="D5DCEA"/>
            </a:solidFill>
            <a:prstDash val="solid"/>
          </a:ln>
        </p:spPr>
      </p:sp>
      <p:sp>
        <p:nvSpPr>
          <p:cNvPr id="13" name="Text 10"/>
          <p:cNvSpPr/>
          <p:nvPr/>
        </p:nvSpPr>
        <p:spPr>
          <a:xfrm>
            <a:off x="1344168" y="175564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In all our affliction we were comforted by your faith</a:t>
            </a:r>
            <a:endParaRPr lang="en-US" sz="1150" dirty="0"/>
          </a:p>
        </p:txBody>
      </p:sp>
      <p:sp>
        <p:nvSpPr>
          <p:cNvPr id="14" name="Text 11"/>
          <p:cNvSpPr/>
          <p:nvPr/>
        </p:nvSpPr>
        <p:spPr>
          <a:xfrm>
            <a:off x="5806440" y="175564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παρακαλέω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comfort is a two-way street</a:t>
            </a:r>
            <a:endParaRPr lang="en-US" sz="1300" dirty="0"/>
          </a:p>
        </p:txBody>
      </p:sp>
      <p:sp>
        <p:nvSpPr>
          <p:cNvPr id="15" name="Shape 12"/>
          <p:cNvSpPr/>
          <p:nvPr/>
        </p:nvSpPr>
        <p:spPr>
          <a:xfrm>
            <a:off x="457200" y="2395728"/>
            <a:ext cx="777240" cy="566928"/>
          </a:xfrm>
          <a:prstGeom prst="rect">
            <a:avLst/>
          </a:prstGeom>
          <a:solidFill>
            <a:srgbClr val="2E5496"/>
          </a:solidFill>
          <a:ln w="12700">
            <a:solidFill>
              <a:srgbClr val="2E5496"/>
            </a:solidFill>
            <a:prstDash val="solid"/>
          </a:ln>
        </p:spPr>
      </p:sp>
      <p:sp>
        <p:nvSpPr>
          <p:cNvPr id="16" name="Text 13"/>
          <p:cNvSpPr/>
          <p:nvPr/>
        </p:nvSpPr>
        <p:spPr>
          <a:xfrm>
            <a:off x="457200" y="239572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v.8</a:t>
            </a:r>
            <a:endParaRPr lang="en-US" sz="1100" dirty="0"/>
          </a:p>
        </p:txBody>
      </p:sp>
      <p:sp>
        <p:nvSpPr>
          <p:cNvPr id="17" name="Shape 14"/>
          <p:cNvSpPr/>
          <p:nvPr/>
        </p:nvSpPr>
        <p:spPr>
          <a:xfrm>
            <a:off x="1234440" y="2395728"/>
            <a:ext cx="7452360" cy="566928"/>
          </a:xfrm>
          <a:prstGeom prst="rect">
            <a:avLst/>
          </a:prstGeom>
          <a:solidFill>
            <a:srgbClr val="F2F6FC"/>
          </a:solidFill>
          <a:ln w="9525">
            <a:solidFill>
              <a:srgbClr val="D5DCEA"/>
            </a:solidFill>
            <a:prstDash val="solid"/>
          </a:ln>
        </p:spPr>
      </p:sp>
      <p:sp>
        <p:nvSpPr>
          <p:cNvPr id="18" name="Text 15"/>
          <p:cNvSpPr/>
          <p:nvPr/>
        </p:nvSpPr>
        <p:spPr>
          <a:xfrm>
            <a:off x="1344168" y="239572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“For now we live, if you stand fast in the Lord”</a:t>
            </a:r>
            <a:endParaRPr lang="en-US" sz="1150" dirty="0"/>
          </a:p>
        </p:txBody>
      </p:sp>
      <p:sp>
        <p:nvSpPr>
          <p:cNvPr id="19" name="Text 16"/>
          <p:cNvSpPr/>
          <p:nvPr/>
        </p:nvSpPr>
        <p:spPr>
          <a:xfrm>
            <a:off x="5806440" y="239572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στήκω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their firmness, his vitality</a:t>
            </a:r>
            <a:endParaRPr lang="en-US" sz="1300" dirty="0"/>
          </a:p>
        </p:txBody>
      </p:sp>
      <p:sp>
        <p:nvSpPr>
          <p:cNvPr id="20" name="Shape 17"/>
          <p:cNvSpPr/>
          <p:nvPr/>
        </p:nvSpPr>
        <p:spPr>
          <a:xfrm>
            <a:off x="457200" y="3035808"/>
            <a:ext cx="777240" cy="566928"/>
          </a:xfrm>
          <a:prstGeom prst="rect">
            <a:avLst/>
          </a:prstGeom>
          <a:solidFill>
            <a:srgbClr val="2E5496"/>
          </a:solidFill>
          <a:ln w="12700">
            <a:solidFill>
              <a:srgbClr val="2E5496"/>
            </a:solidFill>
            <a:prstDash val="solid"/>
          </a:ln>
        </p:spPr>
      </p:sp>
      <p:sp>
        <p:nvSpPr>
          <p:cNvPr id="21" name="Text 18"/>
          <p:cNvSpPr/>
          <p:nvPr/>
        </p:nvSpPr>
        <p:spPr>
          <a:xfrm>
            <a:off x="457200" y="303580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v.9</a:t>
            </a:r>
            <a:endParaRPr lang="en-US" sz="1100" dirty="0"/>
          </a:p>
        </p:txBody>
      </p:sp>
      <p:sp>
        <p:nvSpPr>
          <p:cNvPr id="22" name="Shape 19"/>
          <p:cNvSpPr/>
          <p:nvPr/>
        </p:nvSpPr>
        <p:spPr>
          <a:xfrm>
            <a:off x="1234440" y="3035808"/>
            <a:ext cx="7452360" cy="566928"/>
          </a:xfrm>
          <a:prstGeom prst="rect">
            <a:avLst/>
          </a:prstGeom>
          <a:solidFill>
            <a:srgbClr val="FFFFFF"/>
          </a:solidFill>
          <a:ln w="9525">
            <a:solidFill>
              <a:srgbClr val="D5DCEA"/>
            </a:solidFill>
            <a:prstDash val="solid"/>
          </a:ln>
        </p:spPr>
      </p:sp>
      <p:sp>
        <p:nvSpPr>
          <p:cNvPr id="23" name="Text 20"/>
          <p:cNvSpPr/>
          <p:nvPr/>
        </p:nvSpPr>
        <p:spPr>
          <a:xfrm>
            <a:off x="1344168" y="303580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What thanks can we render to God for you — all the joy</a:t>
            </a:r>
            <a:endParaRPr lang="en-US" sz="1150" dirty="0"/>
          </a:p>
        </p:txBody>
      </p:sp>
      <p:sp>
        <p:nvSpPr>
          <p:cNvPr id="24" name="Text 21"/>
          <p:cNvSpPr/>
          <p:nvPr/>
        </p:nvSpPr>
        <p:spPr>
          <a:xfrm>
            <a:off x="5806440" y="303580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God gets the credit</a:t>
            </a:r>
            <a:endParaRPr lang="en-US" sz="1300" dirty="0"/>
          </a:p>
        </p:txBody>
      </p:sp>
      <p:sp>
        <p:nvSpPr>
          <p:cNvPr id="25" name="Shape 22"/>
          <p:cNvSpPr/>
          <p:nvPr/>
        </p:nvSpPr>
        <p:spPr>
          <a:xfrm>
            <a:off x="457200" y="3675888"/>
            <a:ext cx="777240" cy="566928"/>
          </a:xfrm>
          <a:prstGeom prst="rect">
            <a:avLst/>
          </a:prstGeom>
          <a:solidFill>
            <a:srgbClr val="375623"/>
          </a:solidFill>
          <a:ln w="12700">
            <a:solidFill>
              <a:srgbClr val="375623"/>
            </a:solidFill>
            <a:prstDash val="solid"/>
          </a:ln>
        </p:spPr>
      </p:sp>
      <p:sp>
        <p:nvSpPr>
          <p:cNvPr id="26" name="Text 23"/>
          <p:cNvSpPr/>
          <p:nvPr/>
        </p:nvSpPr>
        <p:spPr>
          <a:xfrm>
            <a:off x="457200" y="3675888"/>
            <a:ext cx="77724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v.10</a:t>
            </a:r>
            <a:endParaRPr lang="en-US" sz="1100" dirty="0"/>
          </a:p>
        </p:txBody>
      </p:sp>
      <p:sp>
        <p:nvSpPr>
          <p:cNvPr id="27" name="Shape 24"/>
          <p:cNvSpPr/>
          <p:nvPr/>
        </p:nvSpPr>
        <p:spPr>
          <a:xfrm>
            <a:off x="1234440" y="3675888"/>
            <a:ext cx="7452360" cy="566928"/>
          </a:xfrm>
          <a:prstGeom prst="rect">
            <a:avLst/>
          </a:prstGeom>
          <a:solidFill>
            <a:srgbClr val="F2F6FC"/>
          </a:solidFill>
          <a:ln w="9525">
            <a:solidFill>
              <a:srgbClr val="D5DCEA"/>
            </a:solidFill>
            <a:prstDash val="solid"/>
          </a:ln>
        </p:spPr>
      </p:sp>
      <p:sp>
        <p:nvSpPr>
          <p:cNvPr id="28" name="Text 25"/>
          <p:cNvSpPr/>
          <p:nvPr/>
        </p:nvSpPr>
        <p:spPr>
          <a:xfrm>
            <a:off x="1344168" y="3675888"/>
            <a:ext cx="4389120" cy="566928"/>
          </a:xfrm>
          <a:prstGeom prst="rect">
            <a:avLst/>
          </a:prstGeom>
          <a:noFill/>
          <a:ln/>
        </p:spPr>
        <p:txBody>
          <a:bodyPr wrap="square" lIns="0" tIns="0" rIns="0" bIns="0" rtlCol="0" anchor="ctr"/>
          <a:lstStyle/>
          <a:p>
            <a:pPr indent="0" marL="0">
              <a:buNone/>
            </a:pPr>
            <a:r>
              <a:rPr lang="en-US" sz="1150" dirty="0">
                <a:solidFill>
                  <a:srgbClr val="262626"/>
                </a:solidFill>
                <a:latin typeface="Arial" pitchFamily="34" charset="0"/>
                <a:ea typeface="Arial" pitchFamily="34" charset="-122"/>
                <a:cs typeface="Arial" pitchFamily="34" charset="-120"/>
              </a:rPr>
              <a:t>Praying night and day, exceedingly, to see you and complete your faith</a:t>
            </a:r>
            <a:endParaRPr lang="en-US" sz="1150" dirty="0"/>
          </a:p>
        </p:txBody>
      </p:sp>
      <p:sp>
        <p:nvSpPr>
          <p:cNvPr id="29" name="Text 26"/>
          <p:cNvSpPr/>
          <p:nvPr/>
        </p:nvSpPr>
        <p:spPr>
          <a:xfrm>
            <a:off x="5806440" y="3675888"/>
            <a:ext cx="2788920" cy="566928"/>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καταρτίζω</a:t>
            </a:r>
            <a:endParaRPr lang="en-US" sz="1300" dirty="0"/>
          </a:p>
          <a:p>
            <a:pPr indent="0" marL="0">
              <a:buNone/>
            </a:pPr>
            <a:r>
              <a:rPr lang="en-US" sz="950" dirty="0">
                <a:solidFill>
                  <a:srgbClr val="595959"/>
                </a:solidFill>
                <a:latin typeface="Arial" pitchFamily="34" charset="0"/>
                <a:ea typeface="Arial" pitchFamily="34" charset="-122"/>
                <a:cs typeface="Arial" pitchFamily="34" charset="-120"/>
              </a:rPr>
              <a:t>bring to full strength</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prayer: love, holiness, readiness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3:11–13 · III.A–C — Paul’s craving</a:t>
            </a:r>
            <a:endParaRPr lang="en-US" sz="1200" dirty="0"/>
          </a:p>
        </p:txBody>
      </p:sp>
      <p:sp>
        <p:nvSpPr>
          <p:cNvPr id="5" name="Shape 2"/>
          <p:cNvSpPr/>
          <p:nvPr/>
        </p:nvSpPr>
        <p:spPr>
          <a:xfrm>
            <a:off x="457200" y="1188720"/>
            <a:ext cx="1899666" cy="2103120"/>
          </a:xfrm>
          <a:prstGeom prst="roundRect">
            <a:avLst>
              <a:gd name="adj" fmla="val 2888"/>
            </a:avLst>
          </a:prstGeom>
          <a:solidFill>
            <a:srgbClr val="F2F6FC"/>
          </a:solidFill>
          <a:ln w="9525">
            <a:solidFill>
              <a:srgbClr val="D5DCEA"/>
            </a:solidFill>
            <a:prstDash val="solid"/>
          </a:ln>
        </p:spPr>
      </p:sp>
      <p:sp>
        <p:nvSpPr>
          <p:cNvPr id="6" name="Shape 3"/>
          <p:cNvSpPr/>
          <p:nvPr/>
        </p:nvSpPr>
        <p:spPr>
          <a:xfrm>
            <a:off x="1205865" y="1298448"/>
            <a:ext cx="402336" cy="402336"/>
          </a:xfrm>
          <a:prstGeom prst="ellipse">
            <a:avLst/>
          </a:prstGeom>
          <a:solidFill>
            <a:srgbClr val="2E5496"/>
          </a:solidFill>
          <a:ln w="12700">
            <a:solidFill>
              <a:srgbClr val="2E5496"/>
            </a:solidFill>
            <a:prstDash val="solid"/>
          </a:ln>
        </p:spPr>
      </p:sp>
      <p:sp>
        <p:nvSpPr>
          <p:cNvPr id="7" name="Text 4"/>
          <p:cNvSpPr/>
          <p:nvPr/>
        </p:nvSpPr>
        <p:spPr>
          <a:xfrm>
            <a:off x="1205865"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a:t>
            </a:r>
            <a:endParaRPr lang="en-US" sz="1300" dirty="0"/>
          </a:p>
        </p:txBody>
      </p:sp>
      <p:sp>
        <p:nvSpPr>
          <p:cNvPr id="8" name="Text 5"/>
          <p:cNvSpPr/>
          <p:nvPr/>
        </p:nvSpPr>
        <p:spPr>
          <a:xfrm>
            <a:off x="530352"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Direct our way</a:t>
            </a:r>
            <a:endParaRPr lang="en-US" sz="1150" dirty="0"/>
          </a:p>
        </p:txBody>
      </p:sp>
      <p:sp>
        <p:nvSpPr>
          <p:cNvPr id="9" name="Text 6"/>
          <p:cNvSpPr/>
          <p:nvPr/>
        </p:nvSpPr>
        <p:spPr>
          <a:xfrm>
            <a:off x="530352"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Father and Son named — one singular verb</a:t>
            </a:r>
            <a:endParaRPr lang="en-US" sz="1150" dirty="0"/>
          </a:p>
        </p:txBody>
      </p:sp>
      <p:sp>
        <p:nvSpPr>
          <p:cNvPr id="10" name="Text 7"/>
          <p:cNvSpPr/>
          <p:nvPr/>
        </p:nvSpPr>
        <p:spPr>
          <a:xfrm>
            <a:off x="530352"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v.11 · optative</a:t>
            </a:r>
            <a:endParaRPr lang="en-US" sz="900" dirty="0"/>
          </a:p>
        </p:txBody>
      </p:sp>
      <p:sp>
        <p:nvSpPr>
          <p:cNvPr id="11" name="Shape 8"/>
          <p:cNvSpPr/>
          <p:nvPr/>
        </p:nvSpPr>
        <p:spPr>
          <a:xfrm>
            <a:off x="2361438" y="2121408"/>
            <a:ext cx="201168" cy="237744"/>
          </a:xfrm>
          <a:prstGeom prst="rightArrow">
            <a:avLst/>
          </a:prstGeom>
          <a:solidFill>
            <a:srgbClr val="6B7280"/>
          </a:solidFill>
          <a:ln w="12700">
            <a:solidFill>
              <a:srgbClr val="6B7280"/>
            </a:solidFill>
            <a:prstDash val="solid"/>
          </a:ln>
        </p:spPr>
      </p:sp>
      <p:sp>
        <p:nvSpPr>
          <p:cNvPr id="12" name="Shape 9"/>
          <p:cNvSpPr/>
          <p:nvPr/>
        </p:nvSpPr>
        <p:spPr>
          <a:xfrm>
            <a:off x="2567178" y="1188720"/>
            <a:ext cx="1899666" cy="2103120"/>
          </a:xfrm>
          <a:prstGeom prst="roundRect">
            <a:avLst>
              <a:gd name="adj" fmla="val 2888"/>
            </a:avLst>
          </a:prstGeom>
          <a:solidFill>
            <a:srgbClr val="F2F6FC"/>
          </a:solidFill>
          <a:ln w="9525">
            <a:solidFill>
              <a:srgbClr val="D5DCEA"/>
            </a:solidFill>
            <a:prstDash val="solid"/>
          </a:ln>
        </p:spPr>
      </p:sp>
      <p:sp>
        <p:nvSpPr>
          <p:cNvPr id="13" name="Shape 10"/>
          <p:cNvSpPr/>
          <p:nvPr/>
        </p:nvSpPr>
        <p:spPr>
          <a:xfrm>
            <a:off x="3315843" y="1298448"/>
            <a:ext cx="402336" cy="402336"/>
          </a:xfrm>
          <a:prstGeom prst="ellipse">
            <a:avLst/>
          </a:prstGeom>
          <a:solidFill>
            <a:srgbClr val="2E5496"/>
          </a:solidFill>
          <a:ln w="12700">
            <a:solidFill>
              <a:srgbClr val="2E5496"/>
            </a:solidFill>
            <a:prstDash val="solid"/>
          </a:ln>
        </p:spPr>
      </p:sp>
      <p:sp>
        <p:nvSpPr>
          <p:cNvPr id="14" name="Text 11"/>
          <p:cNvSpPr/>
          <p:nvPr/>
        </p:nvSpPr>
        <p:spPr>
          <a:xfrm>
            <a:off x="3315843"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B</a:t>
            </a:r>
            <a:endParaRPr lang="en-US" sz="1300" dirty="0"/>
          </a:p>
        </p:txBody>
      </p:sp>
      <p:sp>
        <p:nvSpPr>
          <p:cNvPr id="15" name="Text 12"/>
          <p:cNvSpPr/>
          <p:nvPr/>
        </p:nvSpPr>
        <p:spPr>
          <a:xfrm>
            <a:off x="2640330"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Abound in love</a:t>
            </a:r>
            <a:endParaRPr lang="en-US" sz="1150" dirty="0"/>
          </a:p>
        </p:txBody>
      </p:sp>
      <p:sp>
        <p:nvSpPr>
          <p:cNvPr id="16" name="Text 13"/>
          <p:cNvSpPr/>
          <p:nvPr/>
        </p:nvSpPr>
        <p:spPr>
          <a:xfrm>
            <a:off x="2640330"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To one another and to all — overflowing</a:t>
            </a:r>
            <a:endParaRPr lang="en-US" sz="1150" dirty="0"/>
          </a:p>
        </p:txBody>
      </p:sp>
      <p:sp>
        <p:nvSpPr>
          <p:cNvPr id="17" name="Text 14"/>
          <p:cNvSpPr/>
          <p:nvPr/>
        </p:nvSpPr>
        <p:spPr>
          <a:xfrm>
            <a:off x="2640330"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περισσεύω · v.12</a:t>
            </a:r>
            <a:endParaRPr lang="en-US" sz="900" dirty="0"/>
          </a:p>
        </p:txBody>
      </p:sp>
      <p:sp>
        <p:nvSpPr>
          <p:cNvPr id="18" name="Shape 15"/>
          <p:cNvSpPr/>
          <p:nvPr/>
        </p:nvSpPr>
        <p:spPr>
          <a:xfrm>
            <a:off x="4471416" y="2121408"/>
            <a:ext cx="201168" cy="237744"/>
          </a:xfrm>
          <a:prstGeom prst="rightArrow">
            <a:avLst/>
          </a:prstGeom>
          <a:solidFill>
            <a:srgbClr val="6B7280"/>
          </a:solidFill>
          <a:ln w="12700">
            <a:solidFill>
              <a:srgbClr val="6B7280"/>
            </a:solidFill>
            <a:prstDash val="solid"/>
          </a:ln>
        </p:spPr>
      </p:sp>
      <p:sp>
        <p:nvSpPr>
          <p:cNvPr id="19" name="Shape 16"/>
          <p:cNvSpPr/>
          <p:nvPr/>
        </p:nvSpPr>
        <p:spPr>
          <a:xfrm>
            <a:off x="4677156" y="1188720"/>
            <a:ext cx="1899666" cy="2103120"/>
          </a:xfrm>
          <a:prstGeom prst="roundRect">
            <a:avLst>
              <a:gd name="adj" fmla="val 2888"/>
            </a:avLst>
          </a:prstGeom>
          <a:solidFill>
            <a:srgbClr val="F2F6FC"/>
          </a:solidFill>
          <a:ln w="9525">
            <a:solidFill>
              <a:srgbClr val="D5DCEA"/>
            </a:solidFill>
            <a:prstDash val="solid"/>
          </a:ln>
        </p:spPr>
      </p:sp>
      <p:sp>
        <p:nvSpPr>
          <p:cNvPr id="20" name="Shape 17"/>
          <p:cNvSpPr/>
          <p:nvPr/>
        </p:nvSpPr>
        <p:spPr>
          <a:xfrm>
            <a:off x="5425821" y="1298448"/>
            <a:ext cx="402336" cy="402336"/>
          </a:xfrm>
          <a:prstGeom prst="ellipse">
            <a:avLst/>
          </a:prstGeom>
          <a:solidFill>
            <a:srgbClr val="2E5496"/>
          </a:solidFill>
          <a:ln w="12700">
            <a:solidFill>
              <a:srgbClr val="2E5496"/>
            </a:solidFill>
            <a:prstDash val="solid"/>
          </a:ln>
        </p:spPr>
      </p:sp>
      <p:sp>
        <p:nvSpPr>
          <p:cNvPr id="21" name="Text 18"/>
          <p:cNvSpPr/>
          <p:nvPr/>
        </p:nvSpPr>
        <p:spPr>
          <a:xfrm>
            <a:off x="5425821" y="12984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t>
            </a:r>
            <a:endParaRPr lang="en-US" sz="1300" dirty="0"/>
          </a:p>
        </p:txBody>
      </p:sp>
      <p:sp>
        <p:nvSpPr>
          <p:cNvPr id="22" name="Text 19"/>
          <p:cNvSpPr/>
          <p:nvPr/>
        </p:nvSpPr>
        <p:spPr>
          <a:xfrm>
            <a:off x="4750308" y="1773936"/>
            <a:ext cx="1753362" cy="365760"/>
          </a:xfrm>
          <a:prstGeom prst="rect">
            <a:avLst/>
          </a:prstGeom>
          <a:noFill/>
          <a:ln/>
        </p:spPr>
        <p:txBody>
          <a:bodyPr wrap="square" lIns="0" tIns="0" rIns="0" bIns="0" rtlCol="0" anchor="ctr"/>
          <a:lstStyle/>
          <a:p>
            <a:pPr algn="ctr" indent="0" marL="0">
              <a:buNone/>
            </a:pPr>
            <a:r>
              <a:rPr lang="en-US" sz="1150" b="1" dirty="0">
                <a:solidFill>
                  <a:srgbClr val="1F3864"/>
                </a:solidFill>
                <a:latin typeface="Arial" pitchFamily="34" charset="0"/>
                <a:ea typeface="Arial" pitchFamily="34" charset="-122"/>
                <a:cs typeface="Arial" pitchFamily="34" charset="-120"/>
              </a:rPr>
              <a:t>Hearts established</a:t>
            </a:r>
            <a:endParaRPr lang="en-US" sz="1150" dirty="0"/>
          </a:p>
        </p:txBody>
      </p:sp>
      <p:sp>
        <p:nvSpPr>
          <p:cNvPr id="23" name="Text 20"/>
          <p:cNvSpPr/>
          <p:nvPr/>
        </p:nvSpPr>
        <p:spPr>
          <a:xfrm>
            <a:off x="4750308" y="2157984"/>
            <a:ext cx="1753362" cy="749808"/>
          </a:xfrm>
          <a:prstGeom prst="rect">
            <a:avLst/>
          </a:prstGeom>
          <a:noFill/>
          <a:ln/>
        </p:spPr>
        <p:txBody>
          <a:bodyPr wrap="square" lIns="0" tIns="0" rIns="0" bIns="0" rtlCol="0" anchor="t"/>
          <a:lstStyle/>
          <a:p>
            <a:pPr algn="ctr" indent="0" marL="0">
              <a:buNone/>
            </a:pPr>
            <a:r>
              <a:rPr lang="en-US" sz="1150" dirty="0">
                <a:solidFill>
                  <a:srgbClr val="262626"/>
                </a:solidFill>
                <a:latin typeface="Arial" pitchFamily="34" charset="0"/>
                <a:ea typeface="Arial" pitchFamily="34" charset="-122"/>
                <a:cs typeface="Arial" pitchFamily="34" charset="-120"/>
              </a:rPr>
              <a:t>Blameless in holiness before God</a:t>
            </a:r>
            <a:endParaRPr lang="en-US" sz="1150" dirty="0"/>
          </a:p>
        </p:txBody>
      </p:sp>
      <p:sp>
        <p:nvSpPr>
          <p:cNvPr id="24" name="Text 21"/>
          <p:cNvSpPr/>
          <p:nvPr/>
        </p:nvSpPr>
        <p:spPr>
          <a:xfrm>
            <a:off x="4750308" y="2907792"/>
            <a:ext cx="1753362" cy="329184"/>
          </a:xfrm>
          <a:prstGeom prst="rect">
            <a:avLst/>
          </a:prstGeom>
          <a:noFill/>
          <a:ln/>
        </p:spPr>
        <p:txBody>
          <a:bodyPr wrap="square" lIns="0" tIns="0" rIns="0" bIns="0" rtlCol="0" anchor="b"/>
          <a:lstStyle/>
          <a:p>
            <a:pPr algn="ctr" indent="0" marL="0">
              <a:buNone/>
            </a:pPr>
            <a:r>
              <a:rPr lang="en-US" sz="900" i="1" dirty="0">
                <a:solidFill>
                  <a:srgbClr val="595959"/>
                </a:solidFill>
                <a:latin typeface="Arial" pitchFamily="34" charset="0"/>
                <a:ea typeface="Arial" pitchFamily="34" charset="-122"/>
                <a:cs typeface="Arial" pitchFamily="34" charset="-120"/>
              </a:rPr>
              <a:t>ἀμέμπτως · v.13a</a:t>
            </a:r>
            <a:endParaRPr lang="en-US" sz="900" dirty="0"/>
          </a:p>
        </p:txBody>
      </p:sp>
      <p:sp>
        <p:nvSpPr>
          <p:cNvPr id="25" name="Shape 22"/>
          <p:cNvSpPr/>
          <p:nvPr/>
        </p:nvSpPr>
        <p:spPr>
          <a:xfrm>
            <a:off x="6581394" y="2121408"/>
            <a:ext cx="201168" cy="237744"/>
          </a:xfrm>
          <a:prstGeom prst="rightArrow">
            <a:avLst/>
          </a:prstGeom>
          <a:solidFill>
            <a:srgbClr val="6B7280"/>
          </a:solidFill>
          <a:ln w="12700">
            <a:solidFill>
              <a:srgbClr val="6B7280"/>
            </a:solidFill>
            <a:prstDash val="solid"/>
          </a:ln>
        </p:spPr>
      </p:sp>
      <p:sp>
        <p:nvSpPr>
          <p:cNvPr id="26" name="Shape 23"/>
          <p:cNvSpPr/>
          <p:nvPr/>
        </p:nvSpPr>
        <p:spPr>
          <a:xfrm>
            <a:off x="6787134" y="1188720"/>
            <a:ext cx="1899666" cy="2103120"/>
          </a:xfrm>
          <a:prstGeom prst="roundRect">
            <a:avLst>
              <a:gd name="adj" fmla="val 2888"/>
            </a:avLst>
          </a:prstGeom>
          <a:solidFill>
            <a:srgbClr val="1F3864"/>
          </a:solidFill>
          <a:ln w="9525">
            <a:solidFill>
              <a:srgbClr val="1F3864"/>
            </a:solidFill>
            <a:prstDash val="solid"/>
          </a:ln>
        </p:spPr>
      </p:sp>
      <p:sp>
        <p:nvSpPr>
          <p:cNvPr id="27" name="Shape 24"/>
          <p:cNvSpPr/>
          <p:nvPr/>
        </p:nvSpPr>
        <p:spPr>
          <a:xfrm>
            <a:off x="7535799" y="1298448"/>
            <a:ext cx="402336" cy="402336"/>
          </a:xfrm>
          <a:prstGeom prst="ellipse">
            <a:avLst/>
          </a:prstGeom>
          <a:solidFill>
            <a:srgbClr val="FFFFFF"/>
          </a:solidFill>
          <a:ln w="12700">
            <a:solidFill>
              <a:srgbClr val="FFFFFF"/>
            </a:solidFill>
            <a:prstDash val="solid"/>
          </a:ln>
        </p:spPr>
      </p:sp>
      <p:sp>
        <p:nvSpPr>
          <p:cNvPr id="28" name="Text 25"/>
          <p:cNvSpPr/>
          <p:nvPr/>
        </p:nvSpPr>
        <p:spPr>
          <a:xfrm>
            <a:off x="7535799" y="1298448"/>
            <a:ext cx="402336" cy="402336"/>
          </a:xfrm>
          <a:prstGeom prst="rect">
            <a:avLst/>
          </a:prstGeom>
          <a:noFill/>
          <a:ln/>
        </p:spPr>
        <p:txBody>
          <a:bodyPr wrap="square" lIns="0" tIns="0" rIns="0" bIns="0" rtlCol="0" anchor="ctr"/>
          <a:lstStyle/>
          <a:p>
            <a:pPr algn="ctr" indent="0" marL="0">
              <a:buNone/>
            </a:pPr>
            <a:r>
              <a:rPr lang="en-US" sz="1300" b="1" dirty="0">
                <a:solidFill>
                  <a:srgbClr val="1F3864"/>
                </a:solidFill>
                <a:latin typeface="Arial" pitchFamily="34" charset="0"/>
                <a:ea typeface="Arial" pitchFamily="34" charset="-122"/>
                <a:cs typeface="Arial" pitchFamily="34" charset="-120"/>
              </a:rPr>
              <a:t>D</a:t>
            </a:r>
            <a:endParaRPr lang="en-US" sz="1300" dirty="0"/>
          </a:p>
        </p:txBody>
      </p:sp>
      <p:sp>
        <p:nvSpPr>
          <p:cNvPr id="29" name="Text 26"/>
          <p:cNvSpPr/>
          <p:nvPr/>
        </p:nvSpPr>
        <p:spPr>
          <a:xfrm>
            <a:off x="6860286" y="1773936"/>
            <a:ext cx="1753362" cy="365760"/>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At His coming</a:t>
            </a:r>
            <a:endParaRPr lang="en-US" sz="1150" dirty="0"/>
          </a:p>
        </p:txBody>
      </p:sp>
      <p:sp>
        <p:nvSpPr>
          <p:cNvPr id="30" name="Text 27"/>
          <p:cNvSpPr/>
          <p:nvPr/>
        </p:nvSpPr>
        <p:spPr>
          <a:xfrm>
            <a:off x="6860286" y="2157984"/>
            <a:ext cx="1753362" cy="749808"/>
          </a:xfrm>
          <a:prstGeom prst="rect">
            <a:avLst/>
          </a:prstGeom>
          <a:noFill/>
          <a:ln/>
        </p:spPr>
        <p:txBody>
          <a:bodyPr wrap="square" lIns="0" tIns="0" rIns="0" bIns="0" rtlCol="0" anchor="t"/>
          <a:lstStyle/>
          <a:p>
            <a:pPr algn="ctr" indent="0" marL="0">
              <a:buNone/>
            </a:pPr>
            <a:r>
              <a:rPr lang="en-US" sz="1150" dirty="0">
                <a:solidFill>
                  <a:srgbClr val="FFFFFF"/>
                </a:solidFill>
                <a:latin typeface="Arial" pitchFamily="34" charset="0"/>
                <a:ea typeface="Arial" pitchFamily="34" charset="-122"/>
                <a:cs typeface="Arial" pitchFamily="34" charset="-120"/>
              </a:rPr>
              <a:t>With all His saints</a:t>
            </a:r>
            <a:endParaRPr lang="en-US" sz="1150" dirty="0"/>
          </a:p>
        </p:txBody>
      </p:sp>
      <p:sp>
        <p:nvSpPr>
          <p:cNvPr id="31" name="Text 28"/>
          <p:cNvSpPr/>
          <p:nvPr/>
        </p:nvSpPr>
        <p:spPr>
          <a:xfrm>
            <a:off x="6860286" y="2907792"/>
            <a:ext cx="1753362" cy="329184"/>
          </a:xfrm>
          <a:prstGeom prst="rect">
            <a:avLst/>
          </a:prstGeom>
          <a:noFill/>
          <a:ln/>
        </p:spPr>
        <p:txBody>
          <a:bodyPr wrap="square" lIns="0" tIns="0" rIns="0" bIns="0" rtlCol="0" anchor="b"/>
          <a:lstStyle/>
          <a:p>
            <a:pPr algn="ctr" indent="0" marL="0">
              <a:buNone/>
            </a:pPr>
            <a:r>
              <a:rPr lang="en-US" sz="900" i="1" dirty="0">
                <a:solidFill>
                  <a:srgbClr val="DCE4F2"/>
                </a:solidFill>
                <a:latin typeface="Arial" pitchFamily="34" charset="0"/>
                <a:ea typeface="Arial" pitchFamily="34" charset="-122"/>
                <a:cs typeface="Arial" pitchFamily="34" charset="-120"/>
              </a:rPr>
              <a:t>παρουσία · v.13b</a:t>
            </a:r>
            <a:endParaRPr lang="en-US" sz="900" dirty="0"/>
          </a:p>
        </p:txBody>
      </p:sp>
      <p:sp>
        <p:nvSpPr>
          <p:cNvPr id="32" name="Shape 29"/>
          <p:cNvSpPr/>
          <p:nvPr/>
        </p:nvSpPr>
        <p:spPr>
          <a:xfrm>
            <a:off x="457200" y="3474720"/>
            <a:ext cx="8229600" cy="685800"/>
          </a:xfrm>
          <a:prstGeom prst="roundRect">
            <a:avLst>
              <a:gd name="adj" fmla="val 8000"/>
            </a:avLst>
          </a:prstGeom>
          <a:solidFill>
            <a:srgbClr val="1F3864"/>
          </a:solidFill>
          <a:ln w="12700">
            <a:solidFill>
              <a:srgbClr val="1F3864"/>
            </a:solidFill>
            <a:prstDash val="solid"/>
          </a:ln>
        </p:spPr>
      </p:sp>
      <p:sp>
        <p:nvSpPr>
          <p:cNvPr id="33" name="Text 30"/>
          <p:cNvSpPr/>
          <p:nvPr/>
        </p:nvSpPr>
        <p:spPr>
          <a:xfrm>
            <a:off x="621792" y="3474720"/>
            <a:ext cx="7900416" cy="68580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Love produces holiness; holiness makes the heart blameless at the coming of the Lord.</a:t>
            </a:r>
            <a:endParaRPr lang="en-US" sz="1200" dirty="0"/>
          </a:p>
        </p:txBody>
      </p:sp>
      <p:sp>
        <p:nvSpPr>
          <p:cNvPr id="34" name="Shape 31"/>
          <p:cNvSpPr/>
          <p:nvPr/>
        </p:nvSpPr>
        <p:spPr>
          <a:xfrm>
            <a:off x="457200" y="4242816"/>
            <a:ext cx="8229600" cy="384048"/>
          </a:xfrm>
          <a:prstGeom prst="rect">
            <a:avLst/>
          </a:prstGeom>
          <a:solidFill>
            <a:srgbClr val="375623"/>
          </a:solidFill>
          <a:ln w="12700">
            <a:solidFill>
              <a:srgbClr val="375623"/>
            </a:solidFill>
            <a:prstDash val="solid"/>
          </a:ln>
        </p:spPr>
      </p:sp>
      <p:sp>
        <p:nvSpPr>
          <p:cNvPr id="35" name="Text 32"/>
          <p:cNvSpPr/>
          <p:nvPr/>
        </p:nvSpPr>
        <p:spPr>
          <a:xfrm>
            <a:off x="621792" y="4242816"/>
            <a:ext cx="7900416" cy="384048"/>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Blameless does not mean sinless — free of any reasonable charge, because sin is dealt with as God requires.</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Coming for His saints — coming with them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3:13b · III.C.2 — The return of the saints with the Lord</a:t>
            </a:r>
            <a:endParaRPr lang="en-US" sz="1200" dirty="0"/>
          </a:p>
        </p:txBody>
      </p:sp>
      <p:sp>
        <p:nvSpPr>
          <p:cNvPr id="5" name="Shape 2"/>
          <p:cNvSpPr/>
          <p:nvPr/>
        </p:nvSpPr>
        <p:spPr>
          <a:xfrm>
            <a:off x="457200" y="1188720"/>
            <a:ext cx="3931920" cy="566928"/>
          </a:xfrm>
          <a:prstGeom prst="rect">
            <a:avLst/>
          </a:prstGeom>
          <a:solidFill>
            <a:srgbClr val="2E5496"/>
          </a:solidFill>
          <a:ln w="12700">
            <a:solidFill>
              <a:srgbClr val="2E5496"/>
            </a:solidFill>
            <a:prstDash val="solid"/>
          </a:ln>
        </p:spPr>
      </p:sp>
      <p:sp>
        <p:nvSpPr>
          <p:cNvPr id="6" name="Text 3"/>
          <p:cNvSpPr/>
          <p:nvPr/>
        </p:nvSpPr>
        <p:spPr>
          <a:xfrm>
            <a:off x="54864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For His saints — the Rapture</a:t>
            </a:r>
            <a:endParaRPr lang="en-US" sz="1200" dirty="0"/>
          </a:p>
        </p:txBody>
      </p:sp>
      <p:sp>
        <p:nvSpPr>
          <p:cNvPr id="7" name="Shape 4"/>
          <p:cNvSpPr/>
          <p:nvPr/>
        </p:nvSpPr>
        <p:spPr>
          <a:xfrm>
            <a:off x="457200" y="1755648"/>
            <a:ext cx="3931920" cy="1810512"/>
          </a:xfrm>
          <a:prstGeom prst="rect">
            <a:avLst/>
          </a:prstGeom>
          <a:solidFill>
            <a:srgbClr val="F2F6FC"/>
          </a:solidFill>
          <a:ln w="9525">
            <a:solidFill>
              <a:srgbClr val="D5DCEA"/>
            </a:solidFill>
            <a:prstDash val="solid"/>
          </a:ln>
        </p:spPr>
      </p:sp>
      <p:sp>
        <p:nvSpPr>
          <p:cNvPr id="8" name="Text 5"/>
          <p:cNvSpPr/>
          <p:nvPr/>
        </p:nvSpPr>
        <p:spPr>
          <a:xfrm>
            <a:off x="54864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 comes for His church (4:13–18)</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dead in Christ rise; the living are caught up</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Signless — at any moment</a:t>
            </a:r>
            <a:endParaRPr lang="en-US" sz="1250" dirty="0"/>
          </a:p>
        </p:txBody>
      </p:sp>
      <p:sp>
        <p:nvSpPr>
          <p:cNvPr id="9" name="Shape 6"/>
          <p:cNvSpPr/>
          <p:nvPr/>
        </p:nvSpPr>
        <p:spPr>
          <a:xfrm>
            <a:off x="4754880" y="1188720"/>
            <a:ext cx="3931920" cy="566928"/>
          </a:xfrm>
          <a:prstGeom prst="rect">
            <a:avLst/>
          </a:prstGeom>
          <a:solidFill>
            <a:srgbClr val="375623"/>
          </a:solidFill>
          <a:ln w="12700">
            <a:solidFill>
              <a:srgbClr val="375623"/>
            </a:solidFill>
            <a:prstDash val="solid"/>
          </a:ln>
        </p:spPr>
      </p:sp>
      <p:sp>
        <p:nvSpPr>
          <p:cNvPr id="10" name="Text 7"/>
          <p:cNvSpPr/>
          <p:nvPr/>
        </p:nvSpPr>
        <p:spPr>
          <a:xfrm>
            <a:off x="4846320" y="1234440"/>
            <a:ext cx="374904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With His saints — 3:13</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παρουσία</a:t>
            </a:r>
            <a:pPr indent="0" marL="0">
              <a:buNone/>
            </a:pPr>
            <a:r>
              <a:rPr lang="en-US" sz="850" dirty="0">
                <a:solidFill>
                  <a:srgbClr val="DCE4F2"/>
                </a:solidFill>
                <a:latin typeface="Arial" pitchFamily="34" charset="0"/>
                <a:ea typeface="Arial" pitchFamily="34" charset="-122"/>
                <a:cs typeface="Arial" pitchFamily="34" charset="-120"/>
              </a:rPr>
              <a:t>  coming · G3952</a:t>
            </a:r>
            <a:endParaRPr lang="en-US" sz="1200" dirty="0"/>
          </a:p>
        </p:txBody>
      </p:sp>
      <p:sp>
        <p:nvSpPr>
          <p:cNvPr id="11" name="Shape 8"/>
          <p:cNvSpPr/>
          <p:nvPr/>
        </p:nvSpPr>
        <p:spPr>
          <a:xfrm>
            <a:off x="4754880" y="1755648"/>
            <a:ext cx="3931920" cy="1810512"/>
          </a:xfrm>
          <a:prstGeom prst="rect">
            <a:avLst/>
          </a:prstGeom>
          <a:solidFill>
            <a:srgbClr val="F2F6FC"/>
          </a:solidFill>
          <a:ln w="9525">
            <a:solidFill>
              <a:srgbClr val="D5DCEA"/>
            </a:solidFill>
            <a:prstDash val="solid"/>
          </a:ln>
        </p:spPr>
      </p:sp>
      <p:sp>
        <p:nvSpPr>
          <p:cNvPr id="12" name="Text 9"/>
          <p:cNvSpPr/>
          <p:nvPr/>
        </p:nvSpPr>
        <p:spPr>
          <a:xfrm>
            <a:off x="4846320" y="1828800"/>
            <a:ext cx="3749040" cy="1682496"/>
          </a:xfrm>
          <a:prstGeom prst="rect">
            <a:avLst/>
          </a:prstGeom>
          <a:noFill/>
          <a:ln/>
        </p:spPr>
        <p:txBody>
          <a:bodyPr wrap="square" lIns="0" tIns="0" rIns="0" bIns="0" rtlCol="0" anchor="t"/>
          <a:lstStyle/>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public, triumphant Second Coming</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The saints who have gone to be with Christ come with Him</a:t>
            </a:r>
            <a:endParaRPr lang="en-US" sz="1250" dirty="0"/>
          </a:p>
          <a:p>
            <a:pPr marL="127000" indent="-127000">
              <a:spcAft>
                <a:spcPts val="300"/>
              </a:spcAft>
              <a:buSzPct val="100000"/>
              <a:buChar char="•"/>
            </a:pPr>
            <a:r>
              <a:rPr lang="en-US" sz="1250" dirty="0">
                <a:solidFill>
                  <a:srgbClr val="262626"/>
                </a:solidFill>
                <a:latin typeface="Arial" pitchFamily="34" charset="0"/>
                <a:ea typeface="Arial" pitchFamily="34" charset="-122"/>
                <a:cs typeface="Arial" pitchFamily="34" charset="-120"/>
              </a:rPr>
              <a:t>Christians, not angels</a:t>
            </a:r>
            <a:endParaRPr lang="en-US" sz="1250" dirty="0"/>
          </a:p>
        </p:txBody>
      </p:sp>
      <p:sp>
        <p:nvSpPr>
          <p:cNvPr id="13" name="Text 10"/>
          <p:cNvSpPr/>
          <p:nvPr/>
        </p:nvSpPr>
        <p:spPr>
          <a:xfrm>
            <a:off x="4389120" y="2194560"/>
            <a:ext cx="365760" cy="365760"/>
          </a:xfrm>
          <a:prstGeom prst="rect">
            <a:avLst/>
          </a:prstGeom>
          <a:noFill/>
          <a:ln/>
        </p:spPr>
        <p:txBody>
          <a:bodyPr wrap="square" lIns="0" tIns="0" rIns="0" bIns="0" rtlCol="0" anchor="ctr"/>
          <a:lstStyle/>
          <a:p>
            <a:pPr algn="ctr" indent="0" marL="0">
              <a:buNone/>
            </a:pPr>
            <a:r>
              <a:rPr lang="en-US" sz="1100" b="1" dirty="0">
                <a:solidFill>
                  <a:srgbClr val="6B7280"/>
                </a:solidFill>
                <a:latin typeface="Arial" pitchFamily="34" charset="0"/>
                <a:ea typeface="Arial" pitchFamily="34" charset="-122"/>
                <a:cs typeface="Arial" pitchFamily="34" charset="-120"/>
              </a:rPr>
              <a:t>vs</a:t>
            </a:r>
            <a:endParaRPr lang="en-US" sz="1100" dirty="0"/>
          </a:p>
        </p:txBody>
      </p:sp>
      <p:sp>
        <p:nvSpPr>
          <p:cNvPr id="14" name="Shape 11"/>
          <p:cNvSpPr/>
          <p:nvPr/>
        </p:nvSpPr>
        <p:spPr>
          <a:xfrm>
            <a:off x="457200" y="3794760"/>
            <a:ext cx="8229600" cy="777240"/>
          </a:xfrm>
          <a:prstGeom prst="roundRect">
            <a:avLst>
              <a:gd name="adj" fmla="val 7059"/>
            </a:avLst>
          </a:prstGeom>
          <a:solidFill>
            <a:srgbClr val="1F3864"/>
          </a:solidFill>
          <a:ln w="12700">
            <a:solidFill>
              <a:srgbClr val="1F3864"/>
            </a:solidFill>
            <a:prstDash val="solid"/>
          </a:ln>
        </p:spPr>
      </p:sp>
      <p:sp>
        <p:nvSpPr>
          <p:cNvPr id="15" name="Text 12"/>
          <p:cNvSpPr/>
          <p:nvPr/>
        </p:nvSpPr>
        <p:spPr>
          <a:xfrm>
            <a:off x="621792" y="3794760"/>
            <a:ext cx="7900416" cy="777240"/>
          </a:xfrm>
          <a:prstGeom prst="rect">
            <a:avLst/>
          </a:prstGeom>
          <a:noFill/>
          <a:ln/>
        </p:spPr>
        <p:txBody>
          <a:bodyPr wrap="square" lIns="0" tIns="0" rIns="0" bIns="0" rtlCol="0" anchor="ctr"/>
          <a:lstStyle/>
          <a:p>
            <a:pPr indent="0" marL="0">
              <a:buNone/>
            </a:pPr>
            <a:r>
              <a:rPr lang="en-US" sz="1200" dirty="0">
                <a:solidFill>
                  <a:srgbClr val="FFFFFF"/>
                </a:solidFill>
                <a:latin typeface="Arial" pitchFamily="34" charset="0"/>
                <a:ea typeface="Arial" pitchFamily="34" charset="-122"/>
                <a:cs typeface="Arial" pitchFamily="34" charset="-120"/>
              </a:rPr>
              <a:t>Paul’s prayer is that when that day arrives, these believers would be found blameless — hearts established, lives marked by the holiness that comes from abounding love.</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1 Thessalonians 3:1–13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p:nvPr/>
        </p:nvSpPr>
        <p:spPr>
          <a:xfrm>
            <a:off x="566928" y="163677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005840" y="1591056"/>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3 says believers are “appointed” to tribulation (keimai). What does this mean for how we interpret suffering — and how does it change our response?</a:t>
            </a:r>
            <a:endParaRPr lang="en-US" sz="12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p:nvPr/>
        </p:nvSpPr>
        <p:spPr>
          <a:xfrm>
            <a:off x="566928" y="27249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6" name="Text 13"/>
          <p:cNvSpPr/>
          <p:nvPr/>
        </p:nvSpPr>
        <p:spPr>
          <a:xfrm>
            <a:off x="1005840" y="2679192"/>
            <a:ext cx="3364992" cy="1042416"/>
          </a:xfrm>
          <a:prstGeom prst="rect">
            <a:avLst/>
          </a:prstGeom>
          <a:noFill/>
          <a:ln/>
        </p:spPr>
        <p:txBody>
          <a:bodyPr wrap="square" lIns="0" tIns="0" rIns="0" bIns="0" rtlCol="0" anchor="t"/>
          <a:lstStyle/>
          <a:p>
            <a:pPr indent="0" marL="0">
              <a:buNone/>
            </a:pPr>
            <a:r>
              <a:rPr lang="en-US" sz="1250" dirty="0">
                <a:solidFill>
                  <a:srgbClr val="262626"/>
                </a:solidFill>
                <a:latin typeface="Arial" pitchFamily="34" charset="0"/>
                <a:ea typeface="Arial" pitchFamily="34" charset="-122"/>
                <a:cs typeface="Arial" pitchFamily="34" charset="-120"/>
              </a:rPr>
              <a:t>Verse 8 says “we live, if you stand fast in the Lord.” Is this hyperbole, or does Paul mean it? What does it reveal about pastoral ministry?</a:t>
            </a:r>
            <a:endParaRPr lang="en-US" sz="1250" dirty="0"/>
          </a:p>
        </p:txBody>
      </p:sp>
      <p:sp>
        <p:nvSpPr>
          <p:cNvPr id="17" name="Text 14"/>
          <p:cNvSpPr/>
          <p:nvPr/>
        </p:nvSpPr>
        <p:spPr>
          <a:xfrm>
            <a:off x="4791456" y="1591056"/>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Expect Tribulation; Prepare Others</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Have one honest conversation with a younger believer about suffering — share verse 3: “we are appointed to this.”</a:t>
            </a:r>
            <a:endParaRPr lang="en-US" sz="1250" dirty="0"/>
          </a:p>
        </p:txBody>
      </p:sp>
      <p:sp>
        <p:nvSpPr>
          <p:cNvPr id="18" name="Text 15"/>
          <p:cNvSpPr/>
          <p:nvPr/>
        </p:nvSpPr>
        <p:spPr>
          <a:xfrm>
            <a:off x="4791456" y="2679192"/>
            <a:ext cx="3767328" cy="1042416"/>
          </a:xfrm>
          <a:prstGeom prst="rect">
            <a:avLst/>
          </a:prstGeom>
          <a:noFill/>
          <a:ln/>
        </p:spPr>
        <p:txBody>
          <a:bodyPr wrap="square" lIns="0" tIns="0" rIns="0" bIns="0" rtlCol="0" anchor="t"/>
          <a:lstStyle/>
          <a:p>
            <a:pPr indent="0" marL="0">
              <a:buNone/>
            </a:pPr>
            <a:r>
              <a:rPr lang="en-US" sz="1250" b="1" dirty="0">
                <a:solidFill>
                  <a:srgbClr val="1F3864"/>
                </a:solidFill>
                <a:latin typeface="Arial" pitchFamily="34" charset="0"/>
                <a:ea typeface="Arial" pitchFamily="34" charset="-122"/>
                <a:cs typeface="Arial" pitchFamily="34" charset="-120"/>
              </a:rPr>
              <a:t>Your Faithfulness Is a Lifeline</a:t>
            </a:r>
            <a:endParaRPr lang="en-US" sz="1250" dirty="0"/>
          </a:p>
          <a:p>
            <a:pPr indent="0" marL="0">
              <a:buNone/>
            </a:pPr>
            <a:r>
              <a:rPr lang="en-US" sz="1200" dirty="0">
                <a:solidFill>
                  <a:srgbClr val="262626"/>
                </a:solidFill>
                <a:latin typeface="Arial" pitchFamily="34" charset="0"/>
                <a:ea typeface="Arial" pitchFamily="34" charset="-122"/>
                <a:cs typeface="Arial" pitchFamily="34" charset="-120"/>
              </a:rPr>
              <a:t>Message someone whose faith has strengthened you and tell them specifically what their steadfastness has meant.</a:t>
            </a:r>
            <a:endParaRPr lang="en-US" sz="125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p:nvPr/>
        </p:nvSpPr>
        <p:spPr>
          <a:xfrm>
            <a:off x="621792" y="4023360"/>
            <a:ext cx="7900416" cy="566928"/>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In one line:  </a:t>
            </a:r>
            <a:pPr indent="0" marL="0">
              <a:buNone/>
            </a:pPr>
            <a:r>
              <a:rPr lang="en-US" sz="1200" dirty="0">
                <a:solidFill>
                  <a:srgbClr val="FFFFFF"/>
                </a:solidFill>
                <a:latin typeface="Arial" pitchFamily="34" charset="0"/>
                <a:ea typeface="Arial" pitchFamily="34" charset="-122"/>
                <a:cs typeface="Arial" pitchFamily="34" charset="-120"/>
              </a:rPr>
              <a:t>Tribulation is part of the calling — so establish one another, stand fast together, and let love grow into holiness until He comes.</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Thessalonians Study 5 — Facing Tribulation: Charts</dc:title>
  <dc:subject>PptxGenJS Presentation</dc:subject>
  <dc:creator>The Gospel Vault</dc:creator>
  <cp:lastModifiedBy>The Gospel Vault</cp:lastModifiedBy>
  <cp:revision>1</cp:revision>
  <dcterms:created xsi:type="dcterms:W3CDTF">2026-10-30T06:20:22Z</dcterms:created>
  <dcterms:modified xsi:type="dcterms:W3CDTF">2026-10-30T06:20:22Z</dcterms:modified>
</cp:coreProperties>
</file>