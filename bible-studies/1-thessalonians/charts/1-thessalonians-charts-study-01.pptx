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Study 1 opens with the Introduction (the background of the book, especially Paul’s road to Thessalonica in Acts 16–17) and then the three outline points of 1:1–5. Every chart in this deck stays within the commentary posted for this study; Greek words come from the study’s posted Greek Word Study. Each slide’s notes name the commentary section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Use this map to show the group where this passage sits in the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(Introduction, Geographical Background): Trace the second missionary journey as the commentary tells it. Paul splits from Barnabas, chooses Silas, and adds Timothy — “well spoken of by the brethren in Lystra and Iconium.” The Spirit keeps redirecting him west to Troas, where the Macedonian call takes him to Philippi; there the jailer asks the defining question and Paul gives the gospel he preached everywhere: “Believe on the Lord Jesus Christ.” In Thessalonica he preached three Sabbaths in the synagogue (Acts 17:2) — but the commentary stresses that three weeks describes only the synagogue; he was there longer. Opposition moved meetings to Jason’s house and sent him on to Berea, Athens and Corinth, where he wrote both letters to the Thessalonians.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 Paul and His Companions, A–C): Notice how the letter opens — not “Paul the Apostle,” just “Paul.” Paul used the title with the Galatians (doctrinal errors) and the Corinthians (errors in conduct), but no assertion of rank was needed here; the commentary reads the missing title as a sign of the church’s health and of mutual love and trust. Silvanus (Silas) is the senior member; Timothy is the leader in training, later sent to Philippi and pastor at Ephesus.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(Outline at a Glance, Passage Summary): The passage in one view, using the study’s own outline and Passage Summary. Point to the two halves: who the church is (vv.1–2) and what Paul gives thanks for (vv.3–5). On verse 2, the commentary reads Paul’s “we” as an editorial we — Paul wrote the letter — and stresses that thanksgiving and intercession belong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(II.A–B and Greek Word Study, ἐκκλησία): Ekklēsia was a secular word for any assembly — even the worshipers of Diana in Acts 19:32. Jesus took it: “I will build my church” (Matt 16:18) — the church universal, every believer from Pentecost to the Rapture; and “tell it to the church” (Matt 18:17) — the local assembly. Here it is the local church in Thessalonica. Then walk the names: Lord — the title of deity; Jesus — Joshua, salvation, deliverer; Christ — Messiah, the anointed one. He is God. He is man. He is the Messiah.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(III.B and Greek Word Study): Paul is not grateful for their activity but for its source. Ergon is the outworking of faith — not busy work. Kopos is heavier: costly toil to the point of weariness, sustained by love — love for Christ, for each other, and for the lost. Hypomonē is not passive waiting but endurance in tribulation, produced by hope fixed on Christ. All three have Christ as both their source and their object, and God the Father observed and commended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(III.C, with ἐκλογή and ἀγαπητός): Paul calls them “brethren” — 22 times across the two letters — and “beloved” by God. They became elect by God’s choosing, not their own work. The commentary pauses over Ryrie’s note that election is “proved by works”: proved to whom? Not to yourself — assurance rests on the Word of God. Works are proof to other people. James 2 speaks of justification before men by works; before God, justification is by faith alone (Abraham was declared righteous in Genesis 15:6 long before the act James cites). There is no salvation by faith and works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(III.D.1–3, with εὐαγγέλιον, δύναμις, πληροφορία): The gospel always comes in word — there is no salvation by osmosis; that is why missions exist. It comes in power (Rom 1:16). The word goes to the mind; the Holy Spirit takes it to the heart and gives life — regeneration is His work alone. And it comes backed by the messenger’s life: “as you know what kind of men we were among you.” A pure gospel must be served up by pure vessels (2 Tim 2:21).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Why does Paul NOT use the title “Apostle” here, as he does in Galatians and 1 Corinthians? — Leader answer: Where Paul’s authority was challenged or a church was in error, he asserted his title at once. The Thessalonians had no such problems. He writes simply as “Paul,” their friend and brother; the missing title reflects the health of the church and the depth of their mutual love.  Q2: How does “dynamis” (power) differ from ordinary human persuasion, and what role does the Holy Spirit play? — Leader answer: Persuasion works on the mind through argument. Dynamis is divine energy that accompanies the proclaimed word and regenerates the spiritually dead. The preacher carries the word to the mind; the Spirit carries it to the heart and imparts life. We give the gospel; the Spirit does the saving.  Applications: Examine the Source of Your Activity — Before any ministry this week, pray: “Lord, I am doing this because I trust You, love You, and am looking for You.”  Build an Intercessory Prayer List — Write out people in your church by name and pray through the list at least three times this week.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rtlCol="0"/>
          <a:lstStyle>
            <a:lvl1pPr algn="l" indent="0" marL="0">
              <a:buNone/>
              <a:defRPr lang="en-US" sz="2400" b="1" dirty="0">
                <a:solidFill>
                  <a:srgbClr val="1F3864"/>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rtlCol="0"/>
          <a:lstStyle>
            <a:lvl1pPr indent="0" marL="0">
              <a:buNone/>
              <a:defRPr lang="en-US" sz="1200" i="1" dirty="0">
                <a:solidFill>
                  <a:srgbClr val="595959"/>
                </a:solidFill>
                <a:latin typeface="Arial" pitchFamily="34" charset="0"/>
                <a:ea typeface="Arial" pitchFamily="34" charset="-122"/>
                <a:cs typeface="Arial" pitchFamily="34" charset="-120"/>
              </a:defRPr>
            </a:lvl1pPr>
          </a:lstStyle>
          <a:p>
            <a:pPr indent="0" marL="0">
              <a:buNone/>
            </a:pPr>
            <a:endParaRPr lang="en-US" sz="1200" dirty="0"/>
          </a:p>
        </p:txBody>
      </p:sp>
      <p:sp>
        <p:nvSpPr>
          <p:cNvPr id="4" name="Text 0"/>
          <p:cNvSpPr/>
          <p:nvPr/>
        </p:nvSpPr>
        <p:spPr>
          <a:xfrm>
            <a:off x="457200" y="4773168"/>
            <a:ext cx="6858000" cy="228600"/>
          </a:xfrm>
          <a:prstGeom prst="rect">
            <a:avLst/>
          </a:prstGeom>
          <a:noFill/>
          <a:ln/>
        </p:spPr>
        <p:txBody>
          <a:bodyPr wrap="square" lIns="0" tIns="0" rIns="0" bIns="0" rtlCol="0" anchor="ctr"/>
          <a:lstStyle/>
          <a:p>
            <a:pPr indent="0" marL="0">
              <a:buNone/>
            </a:pPr>
            <a:r>
              <a:rPr lang="en-US" sz="800" dirty="0">
                <a:solidFill>
                  <a:srgbClr val="6B7280"/>
                </a:solidFill>
                <a:latin typeface="Arial" pitchFamily="34" charset="0"/>
                <a:ea typeface="Arial" pitchFamily="34" charset="-122"/>
                <a:cs typeface="Arial" pitchFamily="34" charset="-120"/>
              </a:rPr>
              <a:t>1 Thessalonians · Study 1 of 10 · 1 Thessalonians 1:1–5 · The Gospel Vault · NKJV</a:t>
            </a:r>
            <a:endParaRPr lang="en-US" sz="8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F3864"/>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rtlCol="0"/>
          <a:lstStyle>
            <a:lvl1pPr indent="0" marL="0">
              <a:buNone/>
              <a:defRPr lang="en-US" sz="1400" dirty="0">
                <a:solidFill>
                  <a:srgbClr val="C9D5EE"/>
                </a:solidFill>
                <a:latin typeface="Arial" pitchFamily="34" charset="0"/>
                <a:ea typeface="Arial" pitchFamily="34" charset="-122"/>
                <a:cs typeface="Arial" pitchFamily="34" charset="-120"/>
              </a:defRPr>
            </a:lvl1pPr>
          </a:lstStyle>
          <a:p>
            <a:pPr indent="0" marL="0">
              <a:buNone/>
            </a:pP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rtlCol="0"/>
          <a:lstStyle>
            <a:lvl1pPr algn="l" indent="0" marL="0">
              <a:buNone/>
              <a:defRPr lang="en-US" sz="3400" b="1" dirty="0">
                <a:solidFill>
                  <a:srgbClr val="FFFFFF"/>
                </a:solidFill>
                <a:latin typeface="Arial" pitchFamily="34" charset="0"/>
                <a:ea typeface="Arial" pitchFamily="34" charset="-122"/>
                <a:cs typeface="Arial" pitchFamily="34" charset="-120"/>
              </a:defRPr>
            </a:lvl1pPr>
          </a:lstStyle>
          <a:p>
            <a:pPr algn="l" indent="0" marL="0">
              <a:buNone/>
            </a:pP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rtlCol="0"/>
          <a:lstStyle>
            <a:lvl1pPr indent="0" marL="0">
              <a:buNone/>
              <a:defRPr lang="en-US" sz="1500" i="1" dirty="0">
                <a:solidFill>
                  <a:srgbClr val="E6ECF7"/>
                </a:solidFill>
                <a:latin typeface="Arial" pitchFamily="34" charset="0"/>
                <a:ea typeface="Arial" pitchFamily="34" charset="-122"/>
                <a:cs typeface="Arial" pitchFamily="34" charset="-120"/>
              </a:defRPr>
            </a:lvl1pPr>
          </a:lstStyle>
          <a:p>
            <a:pPr indent="0" marL="0">
              <a:buNone/>
            </a:pPr>
            <a:endParaRPr lang="en-US" sz="1500" dirty="0"/>
          </a:p>
        </p:txBody>
      </p:sp>
      <p:sp>
        <p:nvSpPr>
          <p:cNvPr id="5" name="Text 0"/>
          <p:cNvSpPr/>
          <p:nvPr/>
        </p:nvSpPr>
        <p:spPr>
          <a:xfrm>
            <a:off x="640080" y="4773168"/>
            <a:ext cx="6858000" cy="228600"/>
          </a:xfrm>
          <a:prstGeom prst="rect">
            <a:avLst/>
          </a:prstGeom>
          <a:noFill/>
          <a:ln/>
        </p:spPr>
        <p:txBody>
          <a:bodyPr wrap="square" lIns="0" tIns="0" rIns="0" bIns="0" rtlCol="0" anchor="ctr"/>
          <a:lstStyle/>
          <a:p>
            <a:pPr indent="0" marL="0">
              <a:buNone/>
            </a:pPr>
            <a:r>
              <a:rPr lang="en-US" sz="800" dirty="0">
                <a:solidFill>
                  <a:srgbClr val="AEBBD6"/>
                </a:solidFill>
                <a:latin typeface="Arial" pitchFamily="34" charset="0"/>
                <a:ea typeface="Arial" pitchFamily="34" charset="-122"/>
                <a:cs typeface="Arial" pitchFamily="34" charset="-120"/>
              </a:rPr>
              <a:t>1 Thessalonians · Study 1 of 10 · 1 Thessalonians 1:1–5 · The Gospel Vault · NKJV</a:t>
            </a:r>
            <a:endParaRPr lang="en-US" sz="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nchor="ctr"/>
          <a:lstStyle/>
          <a:p>
            <a:pPr indent="0" marL="0">
              <a:buNone/>
            </a:pPr>
            <a:r>
              <a:rPr lang="en-US" sz="1400" dirty="0">
                <a:solidFill>
                  <a:srgbClr val="C9D5EE"/>
                </a:solidFill>
                <a:latin typeface="Arial" pitchFamily="34" charset="0"/>
                <a:ea typeface="Arial" pitchFamily="34" charset="-122"/>
                <a:cs typeface="Arial" pitchFamily="34" charset="-120"/>
              </a:rPr>
              <a:t>1 Thessalonians · Study 1 of 10 · 1 Thessalonians 1:1–5 · Leader charts</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An Introduction to the Thessalonian Church</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ctr"/>
          <a:lstStyle/>
          <a:p>
            <a:pPr indent="0" marL="0">
              <a:buNone/>
            </a:pPr>
            <a:r>
              <a:rPr lang="en-US" sz="1500" i="1" dirty="0">
                <a:solidFill>
                  <a:srgbClr val="E6ECF7"/>
                </a:solidFill>
                <a:latin typeface="Arial" pitchFamily="34" charset="0"/>
                <a:ea typeface="Arial" pitchFamily="34" charset="-122"/>
                <a:cs typeface="Arial" pitchFamily="34" charset="-120"/>
              </a:rPr>
              <a:t>Paul, Silvanus, and Timothy greet a young church already marked by faith, love, and hope — a church secure in God, praised for the source of its activity, and reached by a gospel that came in word, in power and in the life of the messengers.</a:t>
            </a:r>
            <a:endParaRPr lang="en-US" sz="1500" dirty="0"/>
          </a:p>
        </p:txBody>
      </p:sp>
      <p:sp>
        <p:nvSpPr>
          <p:cNvPr id="5" name="Text 3"/>
          <p:cNvSpPr/>
          <p:nvPr/>
        </p:nvSpPr>
        <p:spPr>
          <a:xfrm>
            <a:off x="640080" y="4343400"/>
            <a:ext cx="7863840" cy="274320"/>
          </a:xfrm>
          <a:prstGeom prst="rect">
            <a:avLst/>
          </a:prstGeom>
          <a:noFill/>
          <a:ln/>
        </p:spPr>
        <p:txBody>
          <a:bodyPr wrap="square" lIns="0" tIns="0" rIns="0" bIns="0" rtlCol="0" anchor="ctr"/>
          <a:lstStyle/>
          <a:p>
            <a:pPr indent="0" marL="0">
              <a:buNone/>
            </a:pPr>
            <a:r>
              <a:rPr lang="en-US" sz="1000" dirty="0">
                <a:solidFill>
                  <a:srgbClr val="C9D5EE"/>
                </a:solidFill>
                <a:latin typeface="Arial" pitchFamily="34" charset="0"/>
                <a:ea typeface="Arial" pitchFamily="34" charset="-122"/>
                <a:cs typeface="Arial" pitchFamily="34" charset="-120"/>
              </a:rPr>
              <a:t>Source: Dr. C. Norman Sellers, ThD · SellersBibleInstitute.com · used by permission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Where this study fits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 ten studies · this study highlighted</a:t>
            </a:r>
            <a:endParaRPr lang="en-US" sz="1200" dirty="0"/>
          </a:p>
        </p:txBody>
      </p:sp>
      <p:sp>
        <p:nvSpPr>
          <p:cNvPr id="5" name="Shape 2"/>
          <p:cNvSpPr/>
          <p:nvPr/>
        </p:nvSpPr>
        <p:spPr>
          <a:xfrm>
            <a:off x="457200" y="1188720"/>
            <a:ext cx="1536192" cy="1371600"/>
          </a:xfrm>
          <a:prstGeom prst="rect">
            <a:avLst/>
          </a:prstGeom>
          <a:solidFill>
            <a:srgbClr val="1F3864"/>
          </a:solidFill>
          <a:ln w="9525">
            <a:solidFill>
              <a:srgbClr val="1F3864"/>
            </a:solidFill>
            <a:prstDash val="solid"/>
          </a:ln>
        </p:spPr>
      </p:sp>
      <p:sp>
        <p:nvSpPr>
          <p:cNvPr id="6" name="Text 3"/>
          <p:cNvSpPr/>
          <p:nvPr/>
        </p:nvSpPr>
        <p:spPr>
          <a:xfrm>
            <a:off x="566928" y="1298448"/>
            <a:ext cx="1316736" cy="1152144"/>
          </a:xfrm>
          <a:prstGeom prst="rect">
            <a:avLst/>
          </a:prstGeom>
          <a:noFill/>
          <a:ln/>
        </p:spPr>
        <p:txBody>
          <a:bodyPr wrap="square" lIns="0" tIns="0" rIns="0" bIns="0" rtlCol="0" anchor="t"/>
          <a:lstStyle/>
          <a:p>
            <a:pPr indent="0" marL="0">
              <a:buNone/>
            </a:pPr>
            <a:r>
              <a:rPr lang="en-US" sz="1300" b="1" dirty="0">
                <a:solidFill>
                  <a:srgbClr val="C9D5EE"/>
                </a:solidFill>
                <a:latin typeface="Arial" pitchFamily="34" charset="0"/>
                <a:ea typeface="Arial" pitchFamily="34" charset="-122"/>
                <a:cs typeface="Arial" pitchFamily="34" charset="-120"/>
              </a:rPr>
              <a:t>01  </a:t>
            </a:r>
            <a:pPr indent="0" marL="0">
              <a:buNone/>
            </a:pPr>
            <a:r>
              <a:rPr lang="en-US" sz="1050" b="1" dirty="0">
                <a:solidFill>
                  <a:srgbClr val="C9D5EE"/>
                </a:solidFill>
                <a:latin typeface="Arial" pitchFamily="34" charset="0"/>
                <a:ea typeface="Arial" pitchFamily="34" charset="-122"/>
                <a:cs typeface="Arial" pitchFamily="34" charset="-120"/>
              </a:rPr>
              <a:t>1:1–5</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FFFFFF"/>
                </a:solidFill>
                <a:latin typeface="Arial" pitchFamily="34" charset="0"/>
                <a:ea typeface="Arial" pitchFamily="34" charset="-122"/>
                <a:cs typeface="Arial" pitchFamily="34" charset="-120"/>
              </a:rPr>
              <a:t>An Introduction to the Thessalonian Church</a:t>
            </a:r>
            <a:endParaRPr lang="en-US" sz="1300" dirty="0"/>
          </a:p>
        </p:txBody>
      </p:sp>
      <p:sp>
        <p:nvSpPr>
          <p:cNvPr id="7" name="Shape 4"/>
          <p:cNvSpPr/>
          <p:nvPr/>
        </p:nvSpPr>
        <p:spPr>
          <a:xfrm>
            <a:off x="2130552" y="1188720"/>
            <a:ext cx="1536192" cy="1371600"/>
          </a:xfrm>
          <a:prstGeom prst="rect">
            <a:avLst/>
          </a:prstGeom>
          <a:solidFill>
            <a:srgbClr val="F2F6FC"/>
          </a:solidFill>
          <a:ln w="9525">
            <a:solidFill>
              <a:srgbClr val="D5DCEA"/>
            </a:solidFill>
            <a:prstDash val="solid"/>
          </a:ln>
        </p:spPr>
      </p:sp>
      <p:sp>
        <p:nvSpPr>
          <p:cNvPr id="8" name="Text 5"/>
          <p:cNvSpPr/>
          <p:nvPr/>
        </p:nvSpPr>
        <p:spPr>
          <a:xfrm>
            <a:off x="2240280" y="1298448"/>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02  </a:t>
            </a:r>
            <a:pPr indent="0" marL="0">
              <a:buNone/>
            </a:pPr>
            <a:r>
              <a:rPr lang="en-US" sz="1050" b="1" dirty="0">
                <a:solidFill>
                  <a:srgbClr val="595959"/>
                </a:solidFill>
                <a:latin typeface="Arial" pitchFamily="34" charset="0"/>
                <a:ea typeface="Arial" pitchFamily="34" charset="-122"/>
                <a:cs typeface="Arial" pitchFamily="34" charset="-120"/>
              </a:rPr>
              <a:t>1:6–10</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The Many Faces of the Gospel</a:t>
            </a:r>
            <a:endParaRPr lang="en-US" sz="1300" dirty="0"/>
          </a:p>
        </p:txBody>
      </p:sp>
      <p:sp>
        <p:nvSpPr>
          <p:cNvPr id="9" name="Shape 6"/>
          <p:cNvSpPr/>
          <p:nvPr/>
        </p:nvSpPr>
        <p:spPr>
          <a:xfrm>
            <a:off x="3803904" y="1188720"/>
            <a:ext cx="1536192" cy="1371600"/>
          </a:xfrm>
          <a:prstGeom prst="rect">
            <a:avLst/>
          </a:prstGeom>
          <a:solidFill>
            <a:srgbClr val="F2F6FC"/>
          </a:solidFill>
          <a:ln w="9525">
            <a:solidFill>
              <a:srgbClr val="D5DCEA"/>
            </a:solidFill>
            <a:prstDash val="solid"/>
          </a:ln>
        </p:spPr>
      </p:sp>
      <p:sp>
        <p:nvSpPr>
          <p:cNvPr id="10" name="Text 7"/>
          <p:cNvSpPr/>
          <p:nvPr/>
        </p:nvSpPr>
        <p:spPr>
          <a:xfrm>
            <a:off x="3913632" y="1298448"/>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03  </a:t>
            </a:r>
            <a:pPr indent="0" marL="0">
              <a:buNone/>
            </a:pPr>
            <a:r>
              <a:rPr lang="en-US" sz="1050" b="1" dirty="0">
                <a:solidFill>
                  <a:srgbClr val="595959"/>
                </a:solidFill>
                <a:latin typeface="Arial" pitchFamily="34" charset="0"/>
                <a:ea typeface="Arial" pitchFamily="34" charset="-122"/>
                <a:cs typeface="Arial" pitchFamily="34" charset="-120"/>
              </a:rPr>
              <a:t>2:1–12</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Delivering the Gospel</a:t>
            </a:r>
            <a:endParaRPr lang="en-US" sz="1300" dirty="0"/>
          </a:p>
        </p:txBody>
      </p:sp>
      <p:sp>
        <p:nvSpPr>
          <p:cNvPr id="11" name="Shape 8"/>
          <p:cNvSpPr/>
          <p:nvPr/>
        </p:nvSpPr>
        <p:spPr>
          <a:xfrm>
            <a:off x="5477256" y="1188720"/>
            <a:ext cx="1536192" cy="1371600"/>
          </a:xfrm>
          <a:prstGeom prst="rect">
            <a:avLst/>
          </a:prstGeom>
          <a:solidFill>
            <a:srgbClr val="F2F6FC"/>
          </a:solidFill>
          <a:ln w="9525">
            <a:solidFill>
              <a:srgbClr val="D5DCEA"/>
            </a:solidFill>
            <a:prstDash val="solid"/>
          </a:ln>
        </p:spPr>
      </p:sp>
      <p:sp>
        <p:nvSpPr>
          <p:cNvPr id="12" name="Text 9"/>
          <p:cNvSpPr/>
          <p:nvPr/>
        </p:nvSpPr>
        <p:spPr>
          <a:xfrm>
            <a:off x="5586984" y="1298448"/>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04  </a:t>
            </a:r>
            <a:pPr indent="0" marL="0">
              <a:buNone/>
            </a:pPr>
            <a:r>
              <a:rPr lang="en-US" sz="1050" b="1" dirty="0">
                <a:solidFill>
                  <a:srgbClr val="595959"/>
                </a:solidFill>
                <a:latin typeface="Arial" pitchFamily="34" charset="0"/>
                <a:ea typeface="Arial" pitchFamily="34" charset="-122"/>
                <a:cs typeface="Arial" pitchFamily="34" charset="-120"/>
              </a:rPr>
              <a:t>2:13–20</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A Successful Life of Service</a:t>
            </a:r>
            <a:endParaRPr lang="en-US" sz="1300" dirty="0"/>
          </a:p>
        </p:txBody>
      </p:sp>
      <p:sp>
        <p:nvSpPr>
          <p:cNvPr id="13" name="Shape 10"/>
          <p:cNvSpPr/>
          <p:nvPr/>
        </p:nvSpPr>
        <p:spPr>
          <a:xfrm>
            <a:off x="7150608" y="1188720"/>
            <a:ext cx="1536192" cy="1371600"/>
          </a:xfrm>
          <a:prstGeom prst="rect">
            <a:avLst/>
          </a:prstGeom>
          <a:solidFill>
            <a:srgbClr val="F2F6FC"/>
          </a:solidFill>
          <a:ln w="9525">
            <a:solidFill>
              <a:srgbClr val="D5DCEA"/>
            </a:solidFill>
            <a:prstDash val="solid"/>
          </a:ln>
        </p:spPr>
      </p:sp>
      <p:sp>
        <p:nvSpPr>
          <p:cNvPr id="14" name="Text 11"/>
          <p:cNvSpPr/>
          <p:nvPr/>
        </p:nvSpPr>
        <p:spPr>
          <a:xfrm>
            <a:off x="7260336" y="1298448"/>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05  </a:t>
            </a:r>
            <a:pPr indent="0" marL="0">
              <a:buNone/>
            </a:pPr>
            <a:r>
              <a:rPr lang="en-US" sz="1050" b="1" dirty="0">
                <a:solidFill>
                  <a:srgbClr val="595959"/>
                </a:solidFill>
                <a:latin typeface="Arial" pitchFamily="34" charset="0"/>
                <a:ea typeface="Arial" pitchFamily="34" charset="-122"/>
                <a:cs typeface="Arial" pitchFamily="34" charset="-120"/>
              </a:rPr>
              <a:t>3:1–13</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Facing Tribulation</a:t>
            </a:r>
            <a:endParaRPr lang="en-US" sz="1300" dirty="0"/>
          </a:p>
        </p:txBody>
      </p:sp>
      <p:sp>
        <p:nvSpPr>
          <p:cNvPr id="15" name="Shape 12"/>
          <p:cNvSpPr/>
          <p:nvPr/>
        </p:nvSpPr>
        <p:spPr>
          <a:xfrm>
            <a:off x="457200" y="2761488"/>
            <a:ext cx="1536192" cy="1371600"/>
          </a:xfrm>
          <a:prstGeom prst="rect">
            <a:avLst/>
          </a:prstGeom>
          <a:solidFill>
            <a:srgbClr val="F2F6FC"/>
          </a:solidFill>
          <a:ln w="9525">
            <a:solidFill>
              <a:srgbClr val="D5DCEA"/>
            </a:solidFill>
            <a:prstDash val="solid"/>
          </a:ln>
        </p:spPr>
      </p:sp>
      <p:sp>
        <p:nvSpPr>
          <p:cNvPr id="16" name="Text 13"/>
          <p:cNvSpPr/>
          <p:nvPr/>
        </p:nvSpPr>
        <p:spPr>
          <a:xfrm>
            <a:off x="566928" y="2871216"/>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06  </a:t>
            </a:r>
            <a:pPr indent="0" marL="0">
              <a:buNone/>
            </a:pPr>
            <a:r>
              <a:rPr lang="en-US" sz="1050" b="1" dirty="0">
                <a:solidFill>
                  <a:srgbClr val="595959"/>
                </a:solidFill>
                <a:latin typeface="Arial" pitchFamily="34" charset="0"/>
                <a:ea typeface="Arial" pitchFamily="34" charset="-122"/>
                <a:cs typeface="Arial" pitchFamily="34" charset="-120"/>
              </a:rPr>
              <a:t>4:1–12</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A Life That Pleases God</a:t>
            </a:r>
            <a:endParaRPr lang="en-US" sz="1300" dirty="0"/>
          </a:p>
        </p:txBody>
      </p:sp>
      <p:sp>
        <p:nvSpPr>
          <p:cNvPr id="17" name="Shape 14"/>
          <p:cNvSpPr/>
          <p:nvPr/>
        </p:nvSpPr>
        <p:spPr>
          <a:xfrm>
            <a:off x="2130552" y="2761488"/>
            <a:ext cx="1536192" cy="1371600"/>
          </a:xfrm>
          <a:prstGeom prst="rect">
            <a:avLst/>
          </a:prstGeom>
          <a:solidFill>
            <a:srgbClr val="F2F6FC"/>
          </a:solidFill>
          <a:ln w="9525">
            <a:solidFill>
              <a:srgbClr val="D5DCEA"/>
            </a:solidFill>
            <a:prstDash val="solid"/>
          </a:ln>
        </p:spPr>
      </p:sp>
      <p:sp>
        <p:nvSpPr>
          <p:cNvPr id="18" name="Text 15"/>
          <p:cNvSpPr/>
          <p:nvPr/>
        </p:nvSpPr>
        <p:spPr>
          <a:xfrm>
            <a:off x="2240280" y="2871216"/>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07  </a:t>
            </a:r>
            <a:pPr indent="0" marL="0">
              <a:buNone/>
            </a:pPr>
            <a:r>
              <a:rPr lang="en-US" sz="1050" b="1" dirty="0">
                <a:solidFill>
                  <a:srgbClr val="595959"/>
                </a:solidFill>
                <a:latin typeface="Arial" pitchFamily="34" charset="0"/>
                <a:ea typeface="Arial" pitchFamily="34" charset="-122"/>
                <a:cs typeface="Arial" pitchFamily="34" charset="-120"/>
              </a:rPr>
              <a:t>4:13–18</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The Rapture of the Church</a:t>
            </a:r>
            <a:endParaRPr lang="en-US" sz="1300" dirty="0"/>
          </a:p>
        </p:txBody>
      </p:sp>
      <p:sp>
        <p:nvSpPr>
          <p:cNvPr id="19" name="Shape 16"/>
          <p:cNvSpPr/>
          <p:nvPr/>
        </p:nvSpPr>
        <p:spPr>
          <a:xfrm>
            <a:off x="3803904" y="2761488"/>
            <a:ext cx="1536192" cy="1371600"/>
          </a:xfrm>
          <a:prstGeom prst="rect">
            <a:avLst/>
          </a:prstGeom>
          <a:solidFill>
            <a:srgbClr val="F2F6FC"/>
          </a:solidFill>
          <a:ln w="9525">
            <a:solidFill>
              <a:srgbClr val="D5DCEA"/>
            </a:solidFill>
            <a:prstDash val="solid"/>
          </a:ln>
        </p:spPr>
      </p:sp>
      <p:sp>
        <p:nvSpPr>
          <p:cNvPr id="20" name="Text 17"/>
          <p:cNvSpPr/>
          <p:nvPr/>
        </p:nvSpPr>
        <p:spPr>
          <a:xfrm>
            <a:off x="3913632" y="2871216"/>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08  </a:t>
            </a:r>
            <a:pPr indent="0" marL="0">
              <a:buNone/>
            </a:pPr>
            <a:r>
              <a:rPr lang="en-US" sz="1050" b="1" dirty="0">
                <a:solidFill>
                  <a:srgbClr val="595959"/>
                </a:solidFill>
                <a:latin typeface="Arial" pitchFamily="34" charset="0"/>
                <a:ea typeface="Arial" pitchFamily="34" charset="-122"/>
                <a:cs typeface="Arial" pitchFamily="34" charset="-120"/>
              </a:rPr>
              <a:t>5:1–11</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The Coming of the Lord: A Purifying Hope</a:t>
            </a:r>
            <a:endParaRPr lang="en-US" sz="1300" dirty="0"/>
          </a:p>
        </p:txBody>
      </p:sp>
      <p:sp>
        <p:nvSpPr>
          <p:cNvPr id="21" name="Shape 18"/>
          <p:cNvSpPr/>
          <p:nvPr/>
        </p:nvSpPr>
        <p:spPr>
          <a:xfrm>
            <a:off x="5477256" y="2761488"/>
            <a:ext cx="1536192" cy="1371600"/>
          </a:xfrm>
          <a:prstGeom prst="rect">
            <a:avLst/>
          </a:prstGeom>
          <a:solidFill>
            <a:srgbClr val="F2F6FC"/>
          </a:solidFill>
          <a:ln w="9525">
            <a:solidFill>
              <a:srgbClr val="D5DCEA"/>
            </a:solidFill>
            <a:prstDash val="solid"/>
          </a:ln>
        </p:spPr>
      </p:sp>
      <p:sp>
        <p:nvSpPr>
          <p:cNvPr id="22" name="Text 19"/>
          <p:cNvSpPr/>
          <p:nvPr/>
        </p:nvSpPr>
        <p:spPr>
          <a:xfrm>
            <a:off x="5586984" y="2871216"/>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09  </a:t>
            </a:r>
            <a:pPr indent="0" marL="0">
              <a:buNone/>
            </a:pPr>
            <a:r>
              <a:rPr lang="en-US" sz="1050" b="1" dirty="0">
                <a:solidFill>
                  <a:srgbClr val="595959"/>
                </a:solidFill>
                <a:latin typeface="Arial" pitchFamily="34" charset="0"/>
                <a:ea typeface="Arial" pitchFamily="34" charset="-122"/>
                <a:cs typeface="Arial" pitchFamily="34" charset="-120"/>
              </a:rPr>
              <a:t>5:12–22</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The Coming of the Lord: Exhortations</a:t>
            </a:r>
            <a:endParaRPr lang="en-US" sz="1300" dirty="0"/>
          </a:p>
        </p:txBody>
      </p:sp>
      <p:sp>
        <p:nvSpPr>
          <p:cNvPr id="23" name="Shape 20"/>
          <p:cNvSpPr/>
          <p:nvPr/>
        </p:nvSpPr>
        <p:spPr>
          <a:xfrm>
            <a:off x="7150608" y="2761488"/>
            <a:ext cx="1536192" cy="1371600"/>
          </a:xfrm>
          <a:prstGeom prst="rect">
            <a:avLst/>
          </a:prstGeom>
          <a:solidFill>
            <a:srgbClr val="F2F6FC"/>
          </a:solidFill>
          <a:ln w="9525">
            <a:solidFill>
              <a:srgbClr val="D5DCEA"/>
            </a:solidFill>
            <a:prstDash val="solid"/>
          </a:ln>
        </p:spPr>
      </p:sp>
      <p:sp>
        <p:nvSpPr>
          <p:cNvPr id="24" name="Text 21"/>
          <p:cNvSpPr/>
          <p:nvPr/>
        </p:nvSpPr>
        <p:spPr>
          <a:xfrm>
            <a:off x="7260336" y="2871216"/>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10  </a:t>
            </a:r>
            <a:pPr indent="0" marL="0">
              <a:buNone/>
            </a:pPr>
            <a:r>
              <a:rPr lang="en-US" sz="1050" b="1" dirty="0">
                <a:solidFill>
                  <a:srgbClr val="595959"/>
                </a:solidFill>
                <a:latin typeface="Arial" pitchFamily="34" charset="0"/>
                <a:ea typeface="Arial" pitchFamily="34" charset="-122"/>
                <a:cs typeface="Arial" pitchFamily="34" charset="-120"/>
              </a:rPr>
              <a:t>5:23–28</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’Til We Meet Again</a:t>
            </a:r>
            <a:endParaRPr lang="en-US" sz="1300" dirty="0"/>
          </a:p>
        </p:txBody>
      </p:sp>
      <p:sp>
        <p:nvSpPr>
          <p:cNvPr id="25" name="Shape 22"/>
          <p:cNvSpPr/>
          <p:nvPr/>
        </p:nvSpPr>
        <p:spPr>
          <a:xfrm>
            <a:off x="457200" y="4224528"/>
            <a:ext cx="8229600" cy="411480"/>
          </a:xfrm>
          <a:prstGeom prst="roundRect">
            <a:avLst>
              <a:gd name="adj" fmla="val 13333"/>
            </a:avLst>
          </a:prstGeom>
          <a:solidFill>
            <a:srgbClr val="1F3864"/>
          </a:solidFill>
          <a:ln w="12700">
            <a:solidFill>
              <a:srgbClr val="1F3864"/>
            </a:solidFill>
            <a:prstDash val="solid"/>
          </a:ln>
        </p:spPr>
      </p:sp>
      <p:sp>
        <p:nvSpPr>
          <p:cNvPr id="26" name="Text 23"/>
          <p:cNvSpPr/>
          <p:nvPr/>
        </p:nvSpPr>
        <p:spPr>
          <a:xfrm>
            <a:off x="621792" y="4224528"/>
            <a:ext cx="7900416" cy="411480"/>
          </a:xfrm>
          <a:prstGeom prst="rect">
            <a:avLst/>
          </a:prstGeom>
          <a:noFill/>
          <a:ln/>
        </p:spPr>
        <p:txBody>
          <a:bodyPr wrap="square" lIns="0" tIns="0" rIns="0" bIns="0" rtlCol="0" anchor="ctr"/>
          <a:lstStyle/>
          <a:p>
            <a:pPr indent="0" marL="0">
              <a:buNone/>
            </a:pPr>
            <a:r>
              <a:rPr lang="en-US" sz="1100" b="1" dirty="0">
                <a:solidFill>
                  <a:srgbClr val="C9D5EE"/>
                </a:solidFill>
                <a:latin typeface="Arial" pitchFamily="34" charset="0"/>
                <a:ea typeface="Arial" pitchFamily="34" charset="-122"/>
                <a:cs typeface="Arial" pitchFamily="34" charset="-120"/>
              </a:rPr>
              <a:t>“Finally” (4:1) marks the hinge:  </a:t>
            </a:r>
            <a:pPr indent="0" marL="0">
              <a:buNone/>
            </a:pPr>
            <a:r>
              <a:rPr lang="en-US" sz="1100" dirty="0">
                <a:solidFill>
                  <a:srgbClr val="FFFFFF"/>
                </a:solidFill>
                <a:latin typeface="Arial" pitchFamily="34" charset="0"/>
                <a:ea typeface="Arial" pitchFamily="34" charset="-122"/>
                <a:cs typeface="Arial" pitchFamily="34" charset="-120"/>
              </a:rPr>
              <a:t>chapters 1–3 lay the foundation; chapters 4–5 turn that theology into life.</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Paul’s road to Thessalonica</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Introduction · Geographical background (Acts 16–18)</a:t>
            </a:r>
            <a:endParaRPr lang="en-US" sz="1200" dirty="0"/>
          </a:p>
        </p:txBody>
      </p:sp>
      <p:sp>
        <p:nvSpPr>
          <p:cNvPr id="5" name="Shape 2"/>
          <p:cNvSpPr/>
          <p:nvPr/>
        </p:nvSpPr>
        <p:spPr>
          <a:xfrm>
            <a:off x="457200" y="1188720"/>
            <a:ext cx="1477670" cy="2057400"/>
          </a:xfrm>
          <a:prstGeom prst="roundRect">
            <a:avLst>
              <a:gd name="adj" fmla="val 3713"/>
            </a:avLst>
          </a:prstGeom>
          <a:solidFill>
            <a:srgbClr val="F2F6FC"/>
          </a:solidFill>
          <a:ln w="9525">
            <a:solidFill>
              <a:srgbClr val="D5DCEA"/>
            </a:solidFill>
            <a:prstDash val="solid"/>
          </a:ln>
        </p:spPr>
      </p:sp>
      <p:sp>
        <p:nvSpPr>
          <p:cNvPr id="6" name="Shape 3"/>
          <p:cNvSpPr/>
          <p:nvPr/>
        </p:nvSpPr>
        <p:spPr>
          <a:xfrm>
            <a:off x="994867" y="1298448"/>
            <a:ext cx="402336" cy="402336"/>
          </a:xfrm>
          <a:prstGeom prst="ellipse">
            <a:avLst/>
          </a:prstGeom>
          <a:solidFill>
            <a:srgbClr val="2E5496"/>
          </a:solidFill>
          <a:ln w="12700">
            <a:solidFill>
              <a:srgbClr val="2E5496"/>
            </a:solidFill>
            <a:prstDash val="solid"/>
          </a:ln>
        </p:spPr>
      </p:sp>
      <p:sp>
        <p:nvSpPr>
          <p:cNvPr id="7" name="Text 4"/>
          <p:cNvSpPr/>
          <p:nvPr/>
        </p:nvSpPr>
        <p:spPr>
          <a:xfrm>
            <a:off x="994867"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Lystra &amp; Iconium</a:t>
            </a:r>
            <a:endParaRPr lang="en-US" sz="1150" dirty="0"/>
          </a:p>
        </p:txBody>
      </p:sp>
      <p:sp>
        <p:nvSpPr>
          <p:cNvPr id="9" name="Text 6"/>
          <p:cNvSpPr/>
          <p:nvPr/>
        </p:nvSpPr>
        <p:spPr>
          <a:xfrm>
            <a:off x="530352" y="2157984"/>
            <a:ext cx="1331366" cy="70408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Timothy joins the team — Paul and Silas add a young convert</a:t>
            </a:r>
            <a:endParaRPr lang="en-US" sz="1150" dirty="0"/>
          </a:p>
        </p:txBody>
      </p:sp>
      <p:sp>
        <p:nvSpPr>
          <p:cNvPr id="10" name="Text 7"/>
          <p:cNvSpPr/>
          <p:nvPr/>
        </p:nvSpPr>
        <p:spPr>
          <a:xfrm>
            <a:off x="530352" y="286207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Second journey</a:t>
            </a:r>
            <a:endParaRPr lang="en-US" sz="900" dirty="0"/>
          </a:p>
        </p:txBody>
      </p:sp>
      <p:sp>
        <p:nvSpPr>
          <p:cNvPr id="11" name="Shape 8"/>
          <p:cNvSpPr/>
          <p:nvPr/>
        </p:nvSpPr>
        <p:spPr>
          <a:xfrm>
            <a:off x="1939442" y="2098548"/>
            <a:ext cx="201168" cy="237744"/>
          </a:xfrm>
          <a:prstGeom prst="rightArrow">
            <a:avLst/>
          </a:prstGeom>
          <a:solidFill>
            <a:srgbClr val="6B7280"/>
          </a:solidFill>
          <a:ln w="12700">
            <a:solidFill>
              <a:srgbClr val="6B7280"/>
            </a:solidFill>
            <a:prstDash val="solid"/>
          </a:ln>
        </p:spPr>
      </p:sp>
      <p:sp>
        <p:nvSpPr>
          <p:cNvPr id="12" name="Shape 9"/>
          <p:cNvSpPr/>
          <p:nvPr/>
        </p:nvSpPr>
        <p:spPr>
          <a:xfrm>
            <a:off x="2145182" y="1188720"/>
            <a:ext cx="1477670" cy="2057400"/>
          </a:xfrm>
          <a:prstGeom prst="roundRect">
            <a:avLst>
              <a:gd name="adj" fmla="val 3713"/>
            </a:avLst>
          </a:prstGeom>
          <a:solidFill>
            <a:srgbClr val="F2F6FC"/>
          </a:solidFill>
          <a:ln w="9525">
            <a:solidFill>
              <a:srgbClr val="D5DCEA"/>
            </a:solidFill>
            <a:prstDash val="solid"/>
          </a:ln>
        </p:spPr>
      </p:sp>
      <p:sp>
        <p:nvSpPr>
          <p:cNvPr id="13" name="Shape 10"/>
          <p:cNvSpPr/>
          <p:nvPr/>
        </p:nvSpPr>
        <p:spPr>
          <a:xfrm>
            <a:off x="2682850"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2682850"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2218334"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Troas</a:t>
            </a:r>
            <a:endParaRPr lang="en-US" sz="1150" dirty="0"/>
          </a:p>
        </p:txBody>
      </p:sp>
      <p:sp>
        <p:nvSpPr>
          <p:cNvPr id="16" name="Text 13"/>
          <p:cNvSpPr/>
          <p:nvPr/>
        </p:nvSpPr>
        <p:spPr>
          <a:xfrm>
            <a:off x="2218334" y="2157984"/>
            <a:ext cx="1331366" cy="70408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The Macedonian call: “Come over and help us”</a:t>
            </a:r>
            <a:endParaRPr lang="en-US" sz="1150" dirty="0"/>
          </a:p>
        </p:txBody>
      </p:sp>
      <p:sp>
        <p:nvSpPr>
          <p:cNvPr id="17" name="Text 14"/>
          <p:cNvSpPr/>
          <p:nvPr/>
        </p:nvSpPr>
        <p:spPr>
          <a:xfrm>
            <a:off x="2218334" y="286207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The Spirit redirects west</a:t>
            </a:r>
            <a:endParaRPr lang="en-US" sz="900" dirty="0"/>
          </a:p>
        </p:txBody>
      </p:sp>
      <p:sp>
        <p:nvSpPr>
          <p:cNvPr id="18" name="Shape 15"/>
          <p:cNvSpPr/>
          <p:nvPr/>
        </p:nvSpPr>
        <p:spPr>
          <a:xfrm>
            <a:off x="3627425" y="2098548"/>
            <a:ext cx="201168" cy="237744"/>
          </a:xfrm>
          <a:prstGeom prst="rightArrow">
            <a:avLst/>
          </a:prstGeom>
          <a:solidFill>
            <a:srgbClr val="6B7280"/>
          </a:solidFill>
          <a:ln w="12700">
            <a:solidFill>
              <a:srgbClr val="6B7280"/>
            </a:solidFill>
            <a:prstDash val="solid"/>
          </a:ln>
        </p:spPr>
      </p:sp>
      <p:sp>
        <p:nvSpPr>
          <p:cNvPr id="19" name="Shape 16"/>
          <p:cNvSpPr/>
          <p:nvPr/>
        </p:nvSpPr>
        <p:spPr>
          <a:xfrm>
            <a:off x="3833165" y="1188720"/>
            <a:ext cx="1477670" cy="2057400"/>
          </a:xfrm>
          <a:prstGeom prst="roundRect">
            <a:avLst>
              <a:gd name="adj" fmla="val 3713"/>
            </a:avLst>
          </a:prstGeom>
          <a:solidFill>
            <a:srgbClr val="F2F6FC"/>
          </a:solidFill>
          <a:ln w="9525">
            <a:solidFill>
              <a:srgbClr val="D5DCEA"/>
            </a:solidFill>
            <a:prstDash val="solid"/>
          </a:ln>
        </p:spPr>
      </p:sp>
      <p:sp>
        <p:nvSpPr>
          <p:cNvPr id="20" name="Shape 17"/>
          <p:cNvSpPr/>
          <p:nvPr/>
        </p:nvSpPr>
        <p:spPr>
          <a:xfrm>
            <a:off x="4370832" y="1298448"/>
            <a:ext cx="402336" cy="402336"/>
          </a:xfrm>
          <a:prstGeom prst="ellipse">
            <a:avLst/>
          </a:prstGeom>
          <a:solidFill>
            <a:srgbClr val="2E5496"/>
          </a:solidFill>
          <a:ln w="12700">
            <a:solidFill>
              <a:srgbClr val="2E5496"/>
            </a:solidFill>
            <a:prstDash val="solid"/>
          </a:ln>
        </p:spPr>
      </p:sp>
      <p:sp>
        <p:nvSpPr>
          <p:cNvPr id="21" name="Text 18"/>
          <p:cNvSpPr/>
          <p:nvPr/>
        </p:nvSpPr>
        <p:spPr>
          <a:xfrm>
            <a:off x="4370832"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3906317"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Philippi</a:t>
            </a:r>
            <a:endParaRPr lang="en-US" sz="1150" dirty="0"/>
          </a:p>
        </p:txBody>
      </p:sp>
      <p:sp>
        <p:nvSpPr>
          <p:cNvPr id="23" name="Text 20"/>
          <p:cNvSpPr/>
          <p:nvPr/>
        </p:nvSpPr>
        <p:spPr>
          <a:xfrm>
            <a:off x="3906317" y="2157984"/>
            <a:ext cx="1331366" cy="70408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Jail, earthquake, and the jailer: “Believe on the Lord Jesus Christ”</a:t>
            </a:r>
            <a:endParaRPr lang="en-US" sz="1150" dirty="0"/>
          </a:p>
        </p:txBody>
      </p:sp>
      <p:sp>
        <p:nvSpPr>
          <p:cNvPr id="24" name="Text 21"/>
          <p:cNvSpPr/>
          <p:nvPr/>
        </p:nvSpPr>
        <p:spPr>
          <a:xfrm>
            <a:off x="3906317" y="286207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The gospel Paul preached</a:t>
            </a:r>
            <a:endParaRPr lang="en-US" sz="900" dirty="0"/>
          </a:p>
        </p:txBody>
      </p:sp>
      <p:sp>
        <p:nvSpPr>
          <p:cNvPr id="25" name="Shape 22"/>
          <p:cNvSpPr/>
          <p:nvPr/>
        </p:nvSpPr>
        <p:spPr>
          <a:xfrm>
            <a:off x="5315407" y="2098548"/>
            <a:ext cx="201168" cy="237744"/>
          </a:xfrm>
          <a:prstGeom prst="rightArrow">
            <a:avLst/>
          </a:prstGeom>
          <a:solidFill>
            <a:srgbClr val="6B7280"/>
          </a:solidFill>
          <a:ln w="12700">
            <a:solidFill>
              <a:srgbClr val="6B7280"/>
            </a:solidFill>
            <a:prstDash val="solid"/>
          </a:ln>
        </p:spPr>
      </p:sp>
      <p:sp>
        <p:nvSpPr>
          <p:cNvPr id="26" name="Shape 23"/>
          <p:cNvSpPr/>
          <p:nvPr/>
        </p:nvSpPr>
        <p:spPr>
          <a:xfrm>
            <a:off x="5521147" y="1188720"/>
            <a:ext cx="1477670" cy="2057400"/>
          </a:xfrm>
          <a:prstGeom prst="roundRect">
            <a:avLst>
              <a:gd name="adj" fmla="val 3713"/>
            </a:avLst>
          </a:prstGeom>
          <a:solidFill>
            <a:srgbClr val="1F3864"/>
          </a:solidFill>
          <a:ln w="9525">
            <a:solidFill>
              <a:srgbClr val="1F3864"/>
            </a:solidFill>
            <a:prstDash val="solid"/>
          </a:ln>
        </p:spPr>
      </p:sp>
      <p:sp>
        <p:nvSpPr>
          <p:cNvPr id="27" name="Shape 24"/>
          <p:cNvSpPr/>
          <p:nvPr/>
        </p:nvSpPr>
        <p:spPr>
          <a:xfrm>
            <a:off x="6058814" y="1298448"/>
            <a:ext cx="402336" cy="402336"/>
          </a:xfrm>
          <a:prstGeom prst="ellipse">
            <a:avLst/>
          </a:prstGeom>
          <a:solidFill>
            <a:srgbClr val="FFFFFF"/>
          </a:solidFill>
          <a:ln w="12700">
            <a:solidFill>
              <a:srgbClr val="FFFFFF"/>
            </a:solidFill>
            <a:prstDash val="solid"/>
          </a:ln>
        </p:spPr>
      </p:sp>
      <p:sp>
        <p:nvSpPr>
          <p:cNvPr id="28" name="Text 25"/>
          <p:cNvSpPr/>
          <p:nvPr/>
        </p:nvSpPr>
        <p:spPr>
          <a:xfrm>
            <a:off x="6058814"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D</a:t>
            </a:r>
            <a:endParaRPr lang="en-US" sz="1300" dirty="0"/>
          </a:p>
        </p:txBody>
      </p:sp>
      <p:sp>
        <p:nvSpPr>
          <p:cNvPr id="29" name="Text 26"/>
          <p:cNvSpPr/>
          <p:nvPr/>
        </p:nvSpPr>
        <p:spPr>
          <a:xfrm>
            <a:off x="5594299" y="1773936"/>
            <a:ext cx="1331366"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Thessalonica</a:t>
            </a:r>
            <a:endParaRPr lang="en-US" sz="1150" dirty="0"/>
          </a:p>
        </p:txBody>
      </p:sp>
      <p:sp>
        <p:nvSpPr>
          <p:cNvPr id="30" name="Text 27"/>
          <p:cNvSpPr/>
          <p:nvPr/>
        </p:nvSpPr>
        <p:spPr>
          <a:xfrm>
            <a:off x="5594299" y="2157984"/>
            <a:ext cx="1331366" cy="70408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Three Sabbaths in the synagogue — but he stayed longer</a:t>
            </a:r>
            <a:endParaRPr lang="en-US" sz="1150" dirty="0"/>
          </a:p>
        </p:txBody>
      </p:sp>
      <p:sp>
        <p:nvSpPr>
          <p:cNvPr id="31" name="Text 28"/>
          <p:cNvSpPr/>
          <p:nvPr/>
        </p:nvSpPr>
        <p:spPr>
          <a:xfrm>
            <a:off x="5594299" y="2862072"/>
            <a:ext cx="1331366"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Acts 17:1–9</a:t>
            </a:r>
            <a:endParaRPr lang="en-US" sz="900" dirty="0"/>
          </a:p>
        </p:txBody>
      </p:sp>
      <p:sp>
        <p:nvSpPr>
          <p:cNvPr id="32" name="Shape 29"/>
          <p:cNvSpPr/>
          <p:nvPr/>
        </p:nvSpPr>
        <p:spPr>
          <a:xfrm>
            <a:off x="7003390" y="2098548"/>
            <a:ext cx="201168" cy="237744"/>
          </a:xfrm>
          <a:prstGeom prst="rightArrow">
            <a:avLst/>
          </a:prstGeom>
          <a:solidFill>
            <a:srgbClr val="6B7280"/>
          </a:solidFill>
          <a:ln w="12700">
            <a:solidFill>
              <a:srgbClr val="6B7280"/>
            </a:solidFill>
            <a:prstDash val="solid"/>
          </a:ln>
        </p:spPr>
      </p:sp>
      <p:sp>
        <p:nvSpPr>
          <p:cNvPr id="33" name="Shape 30"/>
          <p:cNvSpPr/>
          <p:nvPr/>
        </p:nvSpPr>
        <p:spPr>
          <a:xfrm>
            <a:off x="7209130" y="1188720"/>
            <a:ext cx="1477670" cy="2057400"/>
          </a:xfrm>
          <a:prstGeom prst="roundRect">
            <a:avLst>
              <a:gd name="adj" fmla="val 3713"/>
            </a:avLst>
          </a:prstGeom>
          <a:solidFill>
            <a:srgbClr val="F2F6FC"/>
          </a:solidFill>
          <a:ln w="9525">
            <a:solidFill>
              <a:srgbClr val="D5DCEA"/>
            </a:solidFill>
            <a:prstDash val="solid"/>
          </a:ln>
        </p:spPr>
      </p:sp>
      <p:sp>
        <p:nvSpPr>
          <p:cNvPr id="34" name="Shape 31"/>
          <p:cNvSpPr/>
          <p:nvPr/>
        </p:nvSpPr>
        <p:spPr>
          <a:xfrm>
            <a:off x="7746797" y="1298448"/>
            <a:ext cx="402336" cy="402336"/>
          </a:xfrm>
          <a:prstGeom prst="ellipse">
            <a:avLst/>
          </a:prstGeom>
          <a:solidFill>
            <a:srgbClr val="2E5496"/>
          </a:solidFill>
          <a:ln w="12700">
            <a:solidFill>
              <a:srgbClr val="2E5496"/>
            </a:solidFill>
            <a:prstDash val="solid"/>
          </a:ln>
        </p:spPr>
      </p:sp>
      <p:sp>
        <p:nvSpPr>
          <p:cNvPr id="35" name="Text 32"/>
          <p:cNvSpPr/>
          <p:nvPr/>
        </p:nvSpPr>
        <p:spPr>
          <a:xfrm>
            <a:off x="7746797"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a:t>
            </a:r>
            <a:endParaRPr lang="en-US" sz="1300" dirty="0"/>
          </a:p>
        </p:txBody>
      </p:sp>
      <p:sp>
        <p:nvSpPr>
          <p:cNvPr id="36" name="Text 33"/>
          <p:cNvSpPr/>
          <p:nvPr/>
        </p:nvSpPr>
        <p:spPr>
          <a:xfrm>
            <a:off x="7282282"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Berea → Corinth</a:t>
            </a:r>
            <a:endParaRPr lang="en-US" sz="1150" dirty="0"/>
          </a:p>
        </p:txBody>
      </p:sp>
      <p:sp>
        <p:nvSpPr>
          <p:cNvPr id="37" name="Text 34"/>
          <p:cNvSpPr/>
          <p:nvPr/>
        </p:nvSpPr>
        <p:spPr>
          <a:xfrm>
            <a:off x="7282282" y="2157984"/>
            <a:ext cx="1331366" cy="70408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Berea, Athens, then Corinth — where both letters were written</a:t>
            </a:r>
            <a:endParaRPr lang="en-US" sz="1150" dirty="0"/>
          </a:p>
        </p:txBody>
      </p:sp>
      <p:sp>
        <p:nvSpPr>
          <p:cNvPr id="38" name="Text 35"/>
          <p:cNvSpPr/>
          <p:nvPr/>
        </p:nvSpPr>
        <p:spPr>
          <a:xfrm>
            <a:off x="7282282" y="286207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Acts 17–18</a:t>
            </a:r>
            <a:endParaRPr lang="en-US" sz="900" dirty="0"/>
          </a:p>
        </p:txBody>
      </p:sp>
      <p:sp>
        <p:nvSpPr>
          <p:cNvPr id="39" name="Shape 36"/>
          <p:cNvSpPr/>
          <p:nvPr/>
        </p:nvSpPr>
        <p:spPr>
          <a:xfrm>
            <a:off x="457200" y="3429000"/>
            <a:ext cx="4023360" cy="365760"/>
          </a:xfrm>
          <a:prstGeom prst="rect">
            <a:avLst/>
          </a:prstGeom>
          <a:solidFill>
            <a:srgbClr val="2E5496"/>
          </a:solidFill>
          <a:ln w="12700">
            <a:solidFill>
              <a:srgbClr val="2E5496"/>
            </a:solidFill>
            <a:prstDash val="solid"/>
          </a:ln>
        </p:spPr>
      </p:sp>
      <p:sp>
        <p:nvSpPr>
          <p:cNvPr id="40" name="Text 37"/>
          <p:cNvSpPr/>
          <p:nvPr/>
        </p:nvSpPr>
        <p:spPr>
          <a:xfrm>
            <a:off x="548640" y="347472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Who believed</a:t>
            </a:r>
            <a:endParaRPr lang="en-US" sz="1200" dirty="0"/>
          </a:p>
        </p:txBody>
      </p:sp>
      <p:sp>
        <p:nvSpPr>
          <p:cNvPr id="41" name="Shape 38"/>
          <p:cNvSpPr/>
          <p:nvPr/>
        </p:nvSpPr>
        <p:spPr>
          <a:xfrm>
            <a:off x="457200" y="3794760"/>
            <a:ext cx="4023360" cy="822960"/>
          </a:xfrm>
          <a:prstGeom prst="rect">
            <a:avLst/>
          </a:prstGeom>
          <a:solidFill>
            <a:srgbClr val="F2F6FC"/>
          </a:solidFill>
          <a:ln w="9525">
            <a:solidFill>
              <a:srgbClr val="D5DCEA"/>
            </a:solidFill>
            <a:prstDash val="solid"/>
          </a:ln>
        </p:spPr>
      </p:sp>
      <p:sp>
        <p:nvSpPr>
          <p:cNvPr id="42" name="Text 39"/>
          <p:cNvSpPr/>
          <p:nvPr/>
        </p:nvSpPr>
        <p:spPr>
          <a:xfrm>
            <a:off x="548640" y="3867912"/>
            <a:ext cx="3840480" cy="69494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Jews and devout Greeks in the synagogue (Acts 17:4)</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Not a few of the leading women</a:t>
            </a:r>
            <a:endParaRPr lang="en-US" sz="1250" dirty="0"/>
          </a:p>
        </p:txBody>
      </p:sp>
      <p:sp>
        <p:nvSpPr>
          <p:cNvPr id="43" name="Shape 40"/>
          <p:cNvSpPr/>
          <p:nvPr/>
        </p:nvSpPr>
        <p:spPr>
          <a:xfrm>
            <a:off x="4663440" y="3429000"/>
            <a:ext cx="4023360" cy="365760"/>
          </a:xfrm>
          <a:prstGeom prst="rect">
            <a:avLst/>
          </a:prstGeom>
          <a:solidFill>
            <a:srgbClr val="375623"/>
          </a:solidFill>
          <a:ln w="12700">
            <a:solidFill>
              <a:srgbClr val="375623"/>
            </a:solidFill>
            <a:prstDash val="solid"/>
          </a:ln>
        </p:spPr>
      </p:sp>
      <p:sp>
        <p:nvSpPr>
          <p:cNvPr id="44" name="Text 41"/>
          <p:cNvSpPr/>
          <p:nvPr/>
        </p:nvSpPr>
        <p:spPr>
          <a:xfrm>
            <a:off x="4754880" y="347472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What Paul taught new converts</a:t>
            </a:r>
            <a:endParaRPr lang="en-US" sz="1200" dirty="0"/>
          </a:p>
        </p:txBody>
      </p:sp>
      <p:sp>
        <p:nvSpPr>
          <p:cNvPr id="45" name="Shape 42"/>
          <p:cNvSpPr/>
          <p:nvPr/>
        </p:nvSpPr>
        <p:spPr>
          <a:xfrm>
            <a:off x="4663440" y="3794760"/>
            <a:ext cx="4023360" cy="822960"/>
          </a:xfrm>
          <a:prstGeom prst="rect">
            <a:avLst/>
          </a:prstGeom>
          <a:solidFill>
            <a:srgbClr val="F2F6FC"/>
          </a:solidFill>
          <a:ln w="9525">
            <a:solidFill>
              <a:srgbClr val="D5DCEA"/>
            </a:solidFill>
            <a:prstDash val="solid"/>
          </a:ln>
        </p:spPr>
      </p:sp>
      <p:sp>
        <p:nvSpPr>
          <p:cNvPr id="46" name="Text 43"/>
          <p:cNvSpPr/>
          <p:nvPr/>
        </p:nvSpPr>
        <p:spPr>
          <a:xfrm>
            <a:off x="4754880" y="3867912"/>
            <a:ext cx="3840480" cy="69494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Prophecy — Jesus is coming</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And it strengthened them</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Three men, one letter</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1:1a · I — Paul and His Companions</a:t>
            </a:r>
            <a:endParaRPr lang="en-US" sz="1200" dirty="0"/>
          </a:p>
        </p:txBody>
      </p:sp>
      <p:sp>
        <p:nvSpPr>
          <p:cNvPr id="5" name="Shape 2"/>
          <p:cNvSpPr/>
          <p:nvPr/>
        </p:nvSpPr>
        <p:spPr>
          <a:xfrm>
            <a:off x="457200" y="1188720"/>
            <a:ext cx="2621280" cy="365760"/>
          </a:xfrm>
          <a:prstGeom prst="rect">
            <a:avLst/>
          </a:prstGeom>
          <a:solidFill>
            <a:srgbClr val="1F3864"/>
          </a:solidFill>
          <a:ln w="12700">
            <a:solidFill>
              <a:srgbClr val="1F3864"/>
            </a:solidFill>
            <a:prstDash val="solid"/>
          </a:ln>
        </p:spPr>
      </p:sp>
      <p:sp>
        <p:nvSpPr>
          <p:cNvPr id="6" name="Text 3"/>
          <p:cNvSpPr/>
          <p:nvPr/>
        </p:nvSpPr>
        <p:spPr>
          <a:xfrm>
            <a:off x="548640" y="1234440"/>
            <a:ext cx="243840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Paul</a:t>
            </a:r>
            <a:endParaRPr lang="en-US" sz="1200" dirty="0"/>
          </a:p>
        </p:txBody>
      </p:sp>
      <p:sp>
        <p:nvSpPr>
          <p:cNvPr id="7" name="Shape 4"/>
          <p:cNvSpPr/>
          <p:nvPr/>
        </p:nvSpPr>
        <p:spPr>
          <a:xfrm>
            <a:off x="457200" y="1554480"/>
            <a:ext cx="2621280" cy="2240280"/>
          </a:xfrm>
          <a:prstGeom prst="rect">
            <a:avLst/>
          </a:prstGeom>
          <a:solidFill>
            <a:srgbClr val="F2F6FC"/>
          </a:solidFill>
          <a:ln w="9525">
            <a:solidFill>
              <a:srgbClr val="D5DCEA"/>
            </a:solidFill>
            <a:prstDash val="solid"/>
          </a:ln>
        </p:spPr>
      </p:sp>
      <p:sp>
        <p:nvSpPr>
          <p:cNvPr id="8" name="Text 5"/>
          <p:cNvSpPr/>
          <p:nvPr/>
        </p:nvSpPr>
        <p:spPr>
          <a:xfrm>
            <a:off x="548640" y="1627632"/>
            <a:ext cx="2438400" cy="2112264"/>
          </a:xfrm>
          <a:prstGeom prst="rect">
            <a:avLst/>
          </a:prstGeom>
          <a:noFill/>
          <a:ln/>
        </p:spPr>
        <p:txBody>
          <a:bodyPr wrap="square" lIns="0" tIns="0" rIns="0" bIns="0" rtlCol="0" anchor="t"/>
          <a:lstStyle/>
          <a:p>
            <a:pPr indent="0" marL="0">
              <a:spcAft>
                <a:spcPts val="100"/>
              </a:spcAft>
              <a:buNone/>
            </a:pPr>
            <a:r>
              <a:rPr lang="en-US" sz="1250" b="1" dirty="0">
                <a:solidFill>
                  <a:srgbClr val="1F3864"/>
                </a:solidFill>
                <a:latin typeface="Arial" pitchFamily="34" charset="0"/>
                <a:ea typeface="Arial" pitchFamily="34" charset="-122"/>
                <a:cs typeface="Arial" pitchFamily="34" charset="-120"/>
              </a:rPr>
              <a:t>The friend, not the apostle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No title — just “Paul”</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 relationship of mutual love and trust</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Contrast Galatians and Corinthians: “Paul, an apostle”</a:t>
            </a:r>
            <a:endParaRPr lang="en-US" sz="1250" dirty="0"/>
          </a:p>
        </p:txBody>
      </p:sp>
      <p:sp>
        <p:nvSpPr>
          <p:cNvPr id="9" name="Shape 6"/>
          <p:cNvSpPr/>
          <p:nvPr/>
        </p:nvSpPr>
        <p:spPr>
          <a:xfrm>
            <a:off x="3261360" y="1188720"/>
            <a:ext cx="2621280" cy="365760"/>
          </a:xfrm>
          <a:prstGeom prst="rect">
            <a:avLst/>
          </a:prstGeom>
          <a:solidFill>
            <a:srgbClr val="2E5496"/>
          </a:solidFill>
          <a:ln w="12700">
            <a:solidFill>
              <a:srgbClr val="2E5496"/>
            </a:solidFill>
            <a:prstDash val="solid"/>
          </a:ln>
        </p:spPr>
      </p:sp>
      <p:sp>
        <p:nvSpPr>
          <p:cNvPr id="10" name="Text 7"/>
          <p:cNvSpPr/>
          <p:nvPr/>
        </p:nvSpPr>
        <p:spPr>
          <a:xfrm>
            <a:off x="3352800" y="1234440"/>
            <a:ext cx="243840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Silvanus (Silas)</a:t>
            </a:r>
            <a:endParaRPr lang="en-US" sz="1200" dirty="0"/>
          </a:p>
        </p:txBody>
      </p:sp>
      <p:sp>
        <p:nvSpPr>
          <p:cNvPr id="11" name="Shape 8"/>
          <p:cNvSpPr/>
          <p:nvPr/>
        </p:nvSpPr>
        <p:spPr>
          <a:xfrm>
            <a:off x="3261360" y="1554480"/>
            <a:ext cx="2621280" cy="2240280"/>
          </a:xfrm>
          <a:prstGeom prst="rect">
            <a:avLst/>
          </a:prstGeom>
          <a:solidFill>
            <a:srgbClr val="F2F6FC"/>
          </a:solidFill>
          <a:ln w="9525">
            <a:solidFill>
              <a:srgbClr val="D5DCEA"/>
            </a:solidFill>
            <a:prstDash val="solid"/>
          </a:ln>
        </p:spPr>
      </p:sp>
      <p:sp>
        <p:nvSpPr>
          <p:cNvPr id="12" name="Text 9"/>
          <p:cNvSpPr/>
          <p:nvPr/>
        </p:nvSpPr>
        <p:spPr>
          <a:xfrm>
            <a:off x="3352800" y="1627632"/>
            <a:ext cx="2438400" cy="2112264"/>
          </a:xfrm>
          <a:prstGeom prst="rect">
            <a:avLst/>
          </a:prstGeom>
          <a:noFill/>
          <a:ln/>
        </p:spPr>
        <p:txBody>
          <a:bodyPr wrap="square" lIns="0" tIns="0" rIns="0" bIns="0" rtlCol="0" anchor="t"/>
          <a:lstStyle/>
          <a:p>
            <a:pPr indent="0" marL="0">
              <a:spcAft>
                <a:spcPts val="100"/>
              </a:spcAft>
              <a:buNone/>
            </a:pPr>
            <a:r>
              <a:rPr lang="en-US" sz="1250" b="1" dirty="0">
                <a:solidFill>
                  <a:srgbClr val="1F3864"/>
                </a:solidFill>
                <a:latin typeface="Arial" pitchFamily="34" charset="0"/>
                <a:ea typeface="Arial" pitchFamily="34" charset="-122"/>
                <a:cs typeface="Arial" pitchFamily="34" charset="-120"/>
              </a:rPr>
              <a:t>The senior member</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Paul’s chosen partner after the split with Barnabas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Experience and credibility for the team and the mission</a:t>
            </a:r>
            <a:endParaRPr lang="en-US" sz="1250" dirty="0"/>
          </a:p>
        </p:txBody>
      </p:sp>
      <p:sp>
        <p:nvSpPr>
          <p:cNvPr id="13" name="Shape 10"/>
          <p:cNvSpPr/>
          <p:nvPr/>
        </p:nvSpPr>
        <p:spPr>
          <a:xfrm>
            <a:off x="6065520" y="1188720"/>
            <a:ext cx="2621280" cy="365760"/>
          </a:xfrm>
          <a:prstGeom prst="rect">
            <a:avLst/>
          </a:prstGeom>
          <a:solidFill>
            <a:srgbClr val="375623"/>
          </a:solidFill>
          <a:ln w="12700">
            <a:solidFill>
              <a:srgbClr val="375623"/>
            </a:solidFill>
            <a:prstDash val="solid"/>
          </a:ln>
        </p:spPr>
      </p:sp>
      <p:sp>
        <p:nvSpPr>
          <p:cNvPr id="14" name="Text 11"/>
          <p:cNvSpPr/>
          <p:nvPr/>
        </p:nvSpPr>
        <p:spPr>
          <a:xfrm>
            <a:off x="6156960" y="1234440"/>
            <a:ext cx="243840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Timothy</a:t>
            </a:r>
            <a:endParaRPr lang="en-US" sz="1200" dirty="0"/>
          </a:p>
        </p:txBody>
      </p:sp>
      <p:sp>
        <p:nvSpPr>
          <p:cNvPr id="15" name="Shape 12"/>
          <p:cNvSpPr/>
          <p:nvPr/>
        </p:nvSpPr>
        <p:spPr>
          <a:xfrm>
            <a:off x="6065520" y="1554480"/>
            <a:ext cx="2621280" cy="2240280"/>
          </a:xfrm>
          <a:prstGeom prst="rect">
            <a:avLst/>
          </a:prstGeom>
          <a:solidFill>
            <a:srgbClr val="F2F6FC"/>
          </a:solidFill>
          <a:ln w="9525">
            <a:solidFill>
              <a:srgbClr val="D5DCEA"/>
            </a:solidFill>
            <a:prstDash val="solid"/>
          </a:ln>
        </p:spPr>
      </p:sp>
      <p:sp>
        <p:nvSpPr>
          <p:cNvPr id="16" name="Text 13"/>
          <p:cNvSpPr/>
          <p:nvPr/>
        </p:nvSpPr>
        <p:spPr>
          <a:xfrm>
            <a:off x="6156960" y="1627632"/>
            <a:ext cx="2438400" cy="2112264"/>
          </a:xfrm>
          <a:prstGeom prst="rect">
            <a:avLst/>
          </a:prstGeom>
          <a:noFill/>
          <a:ln/>
        </p:spPr>
        <p:txBody>
          <a:bodyPr wrap="square" lIns="0" tIns="0" rIns="0" bIns="0" rtlCol="0" anchor="t"/>
          <a:lstStyle/>
          <a:p>
            <a:pPr indent="0" marL="0">
              <a:spcAft>
                <a:spcPts val="100"/>
              </a:spcAft>
              <a:buNone/>
            </a:pPr>
            <a:r>
              <a:rPr lang="en-US" sz="1250" b="1" dirty="0">
                <a:solidFill>
                  <a:srgbClr val="1F3864"/>
                </a:solidFill>
                <a:latin typeface="Arial" pitchFamily="34" charset="0"/>
                <a:ea typeface="Arial" pitchFamily="34" charset="-122"/>
                <a:cs typeface="Arial" pitchFamily="34" charset="-120"/>
              </a:rPr>
              <a:t>The leader in training</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Well spoken of in Lystra and Iconium</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Later sent to Philippi; pastor at Ephesus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Still in formation here</a:t>
            </a:r>
            <a:endParaRPr lang="en-US" sz="1250" dirty="0"/>
          </a:p>
        </p:txBody>
      </p:sp>
      <p:sp>
        <p:nvSpPr>
          <p:cNvPr id="17" name="Shape 14"/>
          <p:cNvSpPr/>
          <p:nvPr/>
        </p:nvSpPr>
        <p:spPr>
          <a:xfrm>
            <a:off x="457200" y="3977640"/>
            <a:ext cx="8229600" cy="594360"/>
          </a:xfrm>
          <a:prstGeom prst="roundRect">
            <a:avLst>
              <a:gd name="adj" fmla="val 9231"/>
            </a:avLst>
          </a:prstGeom>
          <a:solidFill>
            <a:srgbClr val="1F3864"/>
          </a:solidFill>
          <a:ln w="12700">
            <a:solidFill>
              <a:srgbClr val="1F3864"/>
            </a:solidFill>
            <a:prstDash val="solid"/>
          </a:ln>
        </p:spPr>
      </p:sp>
      <p:sp>
        <p:nvSpPr>
          <p:cNvPr id="18" name="Text 15"/>
          <p:cNvSpPr/>
          <p:nvPr/>
        </p:nvSpPr>
        <p:spPr>
          <a:xfrm>
            <a:off x="621792" y="3977640"/>
            <a:ext cx="7900416" cy="59436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The absence of the title “apostle” reflects the health of this church. Paul writes as brother, not authority.</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An introduction, verse by verse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1:1–5 · Outline points I–III</a:t>
            </a:r>
            <a:endParaRPr lang="en-US" sz="1200" dirty="0"/>
          </a:p>
        </p:txBody>
      </p:sp>
      <p:sp>
        <p:nvSpPr>
          <p:cNvPr id="5" name="Shape 2"/>
          <p:cNvSpPr/>
          <p:nvPr/>
        </p:nvSpPr>
        <p:spPr>
          <a:xfrm>
            <a:off x="457200" y="1115568"/>
            <a:ext cx="777240" cy="457200"/>
          </a:xfrm>
          <a:prstGeom prst="rect">
            <a:avLst/>
          </a:prstGeom>
          <a:solidFill>
            <a:srgbClr val="2E5496"/>
          </a:solidFill>
          <a:ln w="12700">
            <a:solidFill>
              <a:srgbClr val="2E5496"/>
            </a:solidFill>
            <a:prstDash val="solid"/>
          </a:ln>
        </p:spPr>
      </p:sp>
      <p:sp>
        <p:nvSpPr>
          <p:cNvPr id="6" name="Text 3"/>
          <p:cNvSpPr/>
          <p:nvPr/>
        </p:nvSpPr>
        <p:spPr>
          <a:xfrm>
            <a:off x="457200" y="1115568"/>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v.1a</a:t>
            </a:r>
            <a:endParaRPr lang="en-US" sz="1100" dirty="0"/>
          </a:p>
        </p:txBody>
      </p:sp>
      <p:sp>
        <p:nvSpPr>
          <p:cNvPr id="7" name="Shape 4"/>
          <p:cNvSpPr/>
          <p:nvPr/>
        </p:nvSpPr>
        <p:spPr>
          <a:xfrm>
            <a:off x="1234440" y="1115568"/>
            <a:ext cx="7452360" cy="457200"/>
          </a:xfrm>
          <a:prstGeom prst="rect">
            <a:avLst/>
          </a:prstGeom>
          <a:solidFill>
            <a:srgbClr val="F2F6FC"/>
          </a:solidFill>
          <a:ln w="9525">
            <a:solidFill>
              <a:srgbClr val="D5DCEA"/>
            </a:solidFill>
            <a:prstDash val="solid"/>
          </a:ln>
        </p:spPr>
      </p:sp>
      <p:sp>
        <p:nvSpPr>
          <p:cNvPr id="8" name="Text 5"/>
          <p:cNvSpPr/>
          <p:nvPr/>
        </p:nvSpPr>
        <p:spPr>
          <a:xfrm>
            <a:off x="1344168" y="1115568"/>
            <a:ext cx="4389120" cy="457200"/>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Paul and his companions — no apostolic title needed</a:t>
            </a:r>
            <a:endParaRPr lang="en-US" sz="1150" dirty="0"/>
          </a:p>
        </p:txBody>
      </p:sp>
      <p:sp>
        <p:nvSpPr>
          <p:cNvPr id="9" name="Text 6"/>
          <p:cNvSpPr/>
          <p:nvPr/>
        </p:nvSpPr>
        <p:spPr>
          <a:xfrm>
            <a:off x="5806440" y="1115568"/>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Paul writes as brother, not authority</a:t>
            </a:r>
            <a:endParaRPr lang="en-US" sz="1300" dirty="0"/>
          </a:p>
        </p:txBody>
      </p:sp>
      <p:sp>
        <p:nvSpPr>
          <p:cNvPr id="10" name="Shape 7"/>
          <p:cNvSpPr/>
          <p:nvPr/>
        </p:nvSpPr>
        <p:spPr>
          <a:xfrm>
            <a:off x="457200" y="1627632"/>
            <a:ext cx="777240" cy="457200"/>
          </a:xfrm>
          <a:prstGeom prst="rect">
            <a:avLst/>
          </a:prstGeom>
          <a:solidFill>
            <a:srgbClr val="2E5496"/>
          </a:solidFill>
          <a:ln w="12700">
            <a:solidFill>
              <a:srgbClr val="2E5496"/>
            </a:solidFill>
            <a:prstDash val="solid"/>
          </a:ln>
        </p:spPr>
      </p:sp>
      <p:sp>
        <p:nvSpPr>
          <p:cNvPr id="11" name="Text 8"/>
          <p:cNvSpPr/>
          <p:nvPr/>
        </p:nvSpPr>
        <p:spPr>
          <a:xfrm>
            <a:off x="457200" y="1627632"/>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v.1b</a:t>
            </a:r>
            <a:endParaRPr lang="en-US" sz="1100" dirty="0"/>
          </a:p>
        </p:txBody>
      </p:sp>
      <p:sp>
        <p:nvSpPr>
          <p:cNvPr id="12" name="Shape 9"/>
          <p:cNvSpPr/>
          <p:nvPr/>
        </p:nvSpPr>
        <p:spPr>
          <a:xfrm>
            <a:off x="1234440" y="1627632"/>
            <a:ext cx="7452360" cy="457200"/>
          </a:xfrm>
          <a:prstGeom prst="rect">
            <a:avLst/>
          </a:prstGeom>
          <a:solidFill>
            <a:srgbClr val="FFFFFF"/>
          </a:solidFill>
          <a:ln w="9525">
            <a:solidFill>
              <a:srgbClr val="D5DCEA"/>
            </a:solidFill>
            <a:prstDash val="solid"/>
          </a:ln>
        </p:spPr>
      </p:sp>
      <p:sp>
        <p:nvSpPr>
          <p:cNvPr id="13" name="Text 10"/>
          <p:cNvSpPr/>
          <p:nvPr/>
        </p:nvSpPr>
        <p:spPr>
          <a:xfrm>
            <a:off x="1344168" y="1627632"/>
            <a:ext cx="4389120" cy="457200"/>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To the church … in God the Father and the Lord Jesus Christ</a:t>
            </a:r>
            <a:endParaRPr lang="en-US" sz="1150" dirty="0"/>
          </a:p>
        </p:txBody>
      </p:sp>
      <p:sp>
        <p:nvSpPr>
          <p:cNvPr id="14" name="Text 11"/>
          <p:cNvSpPr/>
          <p:nvPr/>
        </p:nvSpPr>
        <p:spPr>
          <a:xfrm>
            <a:off x="5806440" y="1627632"/>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ἐκκλησία</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the local assembly in Thessalonica</a:t>
            </a:r>
            <a:endParaRPr lang="en-US" sz="1300" dirty="0"/>
          </a:p>
        </p:txBody>
      </p:sp>
      <p:sp>
        <p:nvSpPr>
          <p:cNvPr id="15" name="Shape 12"/>
          <p:cNvSpPr/>
          <p:nvPr/>
        </p:nvSpPr>
        <p:spPr>
          <a:xfrm>
            <a:off x="457200" y="2139696"/>
            <a:ext cx="777240" cy="457200"/>
          </a:xfrm>
          <a:prstGeom prst="rect">
            <a:avLst/>
          </a:prstGeom>
          <a:solidFill>
            <a:srgbClr val="2E5496"/>
          </a:solidFill>
          <a:ln w="12700">
            <a:solidFill>
              <a:srgbClr val="2E5496"/>
            </a:solidFill>
            <a:prstDash val="solid"/>
          </a:ln>
        </p:spPr>
      </p:sp>
      <p:sp>
        <p:nvSpPr>
          <p:cNvPr id="16" name="Text 13"/>
          <p:cNvSpPr/>
          <p:nvPr/>
        </p:nvSpPr>
        <p:spPr>
          <a:xfrm>
            <a:off x="457200" y="2139696"/>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v.1c</a:t>
            </a:r>
            <a:endParaRPr lang="en-US" sz="1100" dirty="0"/>
          </a:p>
        </p:txBody>
      </p:sp>
      <p:sp>
        <p:nvSpPr>
          <p:cNvPr id="17" name="Shape 14"/>
          <p:cNvSpPr/>
          <p:nvPr/>
        </p:nvSpPr>
        <p:spPr>
          <a:xfrm>
            <a:off x="1234440" y="2139696"/>
            <a:ext cx="7452360" cy="457200"/>
          </a:xfrm>
          <a:prstGeom prst="rect">
            <a:avLst/>
          </a:prstGeom>
          <a:solidFill>
            <a:srgbClr val="F2F6FC"/>
          </a:solidFill>
          <a:ln w="9525">
            <a:solidFill>
              <a:srgbClr val="D5DCEA"/>
            </a:solidFill>
            <a:prstDash val="solid"/>
          </a:ln>
        </p:spPr>
      </p:sp>
      <p:sp>
        <p:nvSpPr>
          <p:cNvPr id="18" name="Text 15"/>
          <p:cNvSpPr/>
          <p:nvPr/>
        </p:nvSpPr>
        <p:spPr>
          <a:xfrm>
            <a:off x="1344168" y="2139696"/>
            <a:ext cx="4389120" cy="457200"/>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The greeting — “Grace to you and peace”</a:t>
            </a:r>
            <a:endParaRPr lang="en-US" sz="1150" dirty="0"/>
          </a:p>
        </p:txBody>
      </p:sp>
      <p:sp>
        <p:nvSpPr>
          <p:cNvPr id="19" name="Text 16"/>
          <p:cNvSpPr/>
          <p:nvPr/>
        </p:nvSpPr>
        <p:spPr>
          <a:xfrm>
            <a:off x="5806440" y="2139696"/>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χάρις · εἰρήνη</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favor in spite of demerit · shalom</a:t>
            </a:r>
            <a:endParaRPr lang="en-US" sz="1300" dirty="0"/>
          </a:p>
        </p:txBody>
      </p:sp>
      <p:sp>
        <p:nvSpPr>
          <p:cNvPr id="20" name="Shape 17"/>
          <p:cNvSpPr/>
          <p:nvPr/>
        </p:nvSpPr>
        <p:spPr>
          <a:xfrm>
            <a:off x="457200" y="2651760"/>
            <a:ext cx="777240" cy="457200"/>
          </a:xfrm>
          <a:prstGeom prst="rect">
            <a:avLst/>
          </a:prstGeom>
          <a:solidFill>
            <a:srgbClr val="2E5496"/>
          </a:solidFill>
          <a:ln w="12700">
            <a:solidFill>
              <a:srgbClr val="2E5496"/>
            </a:solidFill>
            <a:prstDash val="solid"/>
          </a:ln>
        </p:spPr>
      </p:sp>
      <p:sp>
        <p:nvSpPr>
          <p:cNvPr id="21" name="Text 18"/>
          <p:cNvSpPr/>
          <p:nvPr/>
        </p:nvSpPr>
        <p:spPr>
          <a:xfrm>
            <a:off x="457200" y="2651760"/>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v.2</a:t>
            </a:r>
            <a:endParaRPr lang="en-US" sz="1100" dirty="0"/>
          </a:p>
        </p:txBody>
      </p:sp>
      <p:sp>
        <p:nvSpPr>
          <p:cNvPr id="22" name="Shape 19"/>
          <p:cNvSpPr/>
          <p:nvPr/>
        </p:nvSpPr>
        <p:spPr>
          <a:xfrm>
            <a:off x="1234440" y="2651760"/>
            <a:ext cx="7452360" cy="457200"/>
          </a:xfrm>
          <a:prstGeom prst="rect">
            <a:avLst/>
          </a:prstGeom>
          <a:solidFill>
            <a:srgbClr val="FFFFFF"/>
          </a:solidFill>
          <a:ln w="9525">
            <a:solidFill>
              <a:srgbClr val="D5DCEA"/>
            </a:solidFill>
            <a:prstDash val="solid"/>
          </a:ln>
        </p:spPr>
      </p:sp>
      <p:sp>
        <p:nvSpPr>
          <p:cNvPr id="23" name="Text 20"/>
          <p:cNvSpPr/>
          <p:nvPr/>
        </p:nvSpPr>
        <p:spPr>
          <a:xfrm>
            <a:off x="1344168" y="2651760"/>
            <a:ext cx="4389120" cy="457200"/>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Thanksgiving joined to intercession — “for you all”</a:t>
            </a:r>
            <a:endParaRPr lang="en-US" sz="1150" dirty="0"/>
          </a:p>
        </p:txBody>
      </p:sp>
      <p:sp>
        <p:nvSpPr>
          <p:cNvPr id="24" name="Text 21"/>
          <p:cNvSpPr/>
          <p:nvPr/>
        </p:nvSpPr>
        <p:spPr>
          <a:xfrm>
            <a:off x="5806440" y="2651760"/>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εὐχαριστοῦμεν</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a continuous posture of gratitude</a:t>
            </a:r>
            <a:endParaRPr lang="en-US" sz="1300" dirty="0"/>
          </a:p>
        </p:txBody>
      </p:sp>
      <p:sp>
        <p:nvSpPr>
          <p:cNvPr id="25" name="Shape 22"/>
          <p:cNvSpPr/>
          <p:nvPr/>
        </p:nvSpPr>
        <p:spPr>
          <a:xfrm>
            <a:off x="457200" y="3163824"/>
            <a:ext cx="777240" cy="457200"/>
          </a:xfrm>
          <a:prstGeom prst="rect">
            <a:avLst/>
          </a:prstGeom>
          <a:solidFill>
            <a:srgbClr val="2E5496"/>
          </a:solidFill>
          <a:ln w="12700">
            <a:solidFill>
              <a:srgbClr val="2E5496"/>
            </a:solidFill>
            <a:prstDash val="solid"/>
          </a:ln>
        </p:spPr>
      </p:sp>
      <p:sp>
        <p:nvSpPr>
          <p:cNvPr id="26" name="Text 23"/>
          <p:cNvSpPr/>
          <p:nvPr/>
        </p:nvSpPr>
        <p:spPr>
          <a:xfrm>
            <a:off x="457200" y="3163824"/>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v.3</a:t>
            </a:r>
            <a:endParaRPr lang="en-US" sz="1100" dirty="0"/>
          </a:p>
        </p:txBody>
      </p:sp>
      <p:sp>
        <p:nvSpPr>
          <p:cNvPr id="27" name="Shape 24"/>
          <p:cNvSpPr/>
          <p:nvPr/>
        </p:nvSpPr>
        <p:spPr>
          <a:xfrm>
            <a:off x="1234440" y="3163824"/>
            <a:ext cx="7452360" cy="457200"/>
          </a:xfrm>
          <a:prstGeom prst="rect">
            <a:avLst/>
          </a:prstGeom>
          <a:solidFill>
            <a:srgbClr val="F2F6FC"/>
          </a:solidFill>
          <a:ln w="9525">
            <a:solidFill>
              <a:srgbClr val="D5DCEA"/>
            </a:solidFill>
            <a:prstDash val="solid"/>
          </a:ln>
        </p:spPr>
      </p:sp>
      <p:sp>
        <p:nvSpPr>
          <p:cNvPr id="28" name="Text 25"/>
          <p:cNvSpPr/>
          <p:nvPr/>
        </p:nvSpPr>
        <p:spPr>
          <a:xfrm>
            <a:off x="1344168" y="3163824"/>
            <a:ext cx="4389120" cy="457200"/>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Work of faith, labor of love, patience of hope</a:t>
            </a:r>
            <a:endParaRPr lang="en-US" sz="1150" dirty="0"/>
          </a:p>
        </p:txBody>
      </p:sp>
      <p:sp>
        <p:nvSpPr>
          <p:cNvPr id="29" name="Text 26"/>
          <p:cNvSpPr/>
          <p:nvPr/>
        </p:nvSpPr>
        <p:spPr>
          <a:xfrm>
            <a:off x="5806440" y="3163824"/>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ἔργον · κόπος · ὑπομονή</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all sourced in and directed to Christ</a:t>
            </a:r>
            <a:endParaRPr lang="en-US" sz="1300" dirty="0"/>
          </a:p>
        </p:txBody>
      </p:sp>
      <p:sp>
        <p:nvSpPr>
          <p:cNvPr id="30" name="Shape 27"/>
          <p:cNvSpPr/>
          <p:nvPr/>
        </p:nvSpPr>
        <p:spPr>
          <a:xfrm>
            <a:off x="457200" y="3675888"/>
            <a:ext cx="777240" cy="457200"/>
          </a:xfrm>
          <a:prstGeom prst="rect">
            <a:avLst/>
          </a:prstGeom>
          <a:solidFill>
            <a:srgbClr val="2E5496"/>
          </a:solidFill>
          <a:ln w="12700">
            <a:solidFill>
              <a:srgbClr val="2E5496"/>
            </a:solidFill>
            <a:prstDash val="solid"/>
          </a:ln>
        </p:spPr>
      </p:sp>
      <p:sp>
        <p:nvSpPr>
          <p:cNvPr id="31" name="Text 28"/>
          <p:cNvSpPr/>
          <p:nvPr/>
        </p:nvSpPr>
        <p:spPr>
          <a:xfrm>
            <a:off x="457200" y="3675888"/>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v.4</a:t>
            </a:r>
            <a:endParaRPr lang="en-US" sz="1100" dirty="0"/>
          </a:p>
        </p:txBody>
      </p:sp>
      <p:sp>
        <p:nvSpPr>
          <p:cNvPr id="32" name="Shape 29"/>
          <p:cNvSpPr/>
          <p:nvPr/>
        </p:nvSpPr>
        <p:spPr>
          <a:xfrm>
            <a:off x="1234440" y="3675888"/>
            <a:ext cx="7452360" cy="457200"/>
          </a:xfrm>
          <a:prstGeom prst="rect">
            <a:avLst/>
          </a:prstGeom>
          <a:solidFill>
            <a:srgbClr val="FFFFFF"/>
          </a:solidFill>
          <a:ln w="9525">
            <a:solidFill>
              <a:srgbClr val="D5DCEA"/>
            </a:solidFill>
            <a:prstDash val="solid"/>
          </a:ln>
        </p:spPr>
      </p:sp>
      <p:sp>
        <p:nvSpPr>
          <p:cNvPr id="33" name="Text 30"/>
          <p:cNvSpPr/>
          <p:nvPr/>
        </p:nvSpPr>
        <p:spPr>
          <a:xfrm>
            <a:off x="1344168" y="3675888"/>
            <a:ext cx="4389120" cy="457200"/>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Beloved brethren — your election by God</a:t>
            </a:r>
            <a:endParaRPr lang="en-US" sz="1150" dirty="0"/>
          </a:p>
        </p:txBody>
      </p:sp>
      <p:sp>
        <p:nvSpPr>
          <p:cNvPr id="34" name="Text 31"/>
          <p:cNvSpPr/>
          <p:nvPr/>
        </p:nvSpPr>
        <p:spPr>
          <a:xfrm>
            <a:off x="5806440" y="3675888"/>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ἐκλογή · ἀγαπητοί</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God’s sovereign choosing</a:t>
            </a:r>
            <a:endParaRPr lang="en-US" sz="1300" dirty="0"/>
          </a:p>
        </p:txBody>
      </p:sp>
      <p:sp>
        <p:nvSpPr>
          <p:cNvPr id="35" name="Shape 32"/>
          <p:cNvSpPr/>
          <p:nvPr/>
        </p:nvSpPr>
        <p:spPr>
          <a:xfrm>
            <a:off x="457200" y="4187952"/>
            <a:ext cx="777240" cy="457200"/>
          </a:xfrm>
          <a:prstGeom prst="rect">
            <a:avLst/>
          </a:prstGeom>
          <a:solidFill>
            <a:srgbClr val="375623"/>
          </a:solidFill>
          <a:ln w="12700">
            <a:solidFill>
              <a:srgbClr val="375623"/>
            </a:solidFill>
            <a:prstDash val="solid"/>
          </a:ln>
        </p:spPr>
      </p:sp>
      <p:sp>
        <p:nvSpPr>
          <p:cNvPr id="36" name="Text 33"/>
          <p:cNvSpPr/>
          <p:nvPr/>
        </p:nvSpPr>
        <p:spPr>
          <a:xfrm>
            <a:off x="457200" y="4187952"/>
            <a:ext cx="7772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v.5</a:t>
            </a:r>
            <a:endParaRPr lang="en-US" sz="1100" dirty="0"/>
          </a:p>
        </p:txBody>
      </p:sp>
      <p:sp>
        <p:nvSpPr>
          <p:cNvPr id="37" name="Shape 34"/>
          <p:cNvSpPr/>
          <p:nvPr/>
        </p:nvSpPr>
        <p:spPr>
          <a:xfrm>
            <a:off x="1234440" y="4187952"/>
            <a:ext cx="7452360" cy="457200"/>
          </a:xfrm>
          <a:prstGeom prst="rect">
            <a:avLst/>
          </a:prstGeom>
          <a:solidFill>
            <a:srgbClr val="F2F6FC"/>
          </a:solidFill>
          <a:ln w="9525">
            <a:solidFill>
              <a:srgbClr val="D5DCEA"/>
            </a:solidFill>
            <a:prstDash val="solid"/>
          </a:ln>
        </p:spPr>
      </p:sp>
      <p:sp>
        <p:nvSpPr>
          <p:cNvPr id="38" name="Text 35"/>
          <p:cNvSpPr/>
          <p:nvPr/>
        </p:nvSpPr>
        <p:spPr>
          <a:xfrm>
            <a:off x="1344168" y="4187952"/>
            <a:ext cx="4389120" cy="457200"/>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The gospel came in word, power, the Spirit and much assurance</a:t>
            </a:r>
            <a:endParaRPr lang="en-US" sz="1150" dirty="0"/>
          </a:p>
        </p:txBody>
      </p:sp>
      <p:sp>
        <p:nvSpPr>
          <p:cNvPr id="39" name="Text 36"/>
          <p:cNvSpPr/>
          <p:nvPr/>
        </p:nvSpPr>
        <p:spPr>
          <a:xfrm>
            <a:off x="5806440" y="4187952"/>
            <a:ext cx="2788920" cy="45720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δύναμις · πληροφορία</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divine power · full conviction</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church in God and in Christ</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1:1b · II.A–B — The church defined and its identity</a:t>
            </a:r>
            <a:endParaRPr lang="en-US" sz="1200" dirty="0"/>
          </a:p>
        </p:txBody>
      </p:sp>
      <p:sp>
        <p:nvSpPr>
          <p:cNvPr id="5" name="Shape 2"/>
          <p:cNvSpPr/>
          <p:nvPr/>
        </p:nvSpPr>
        <p:spPr>
          <a:xfrm>
            <a:off x="457200" y="1188720"/>
            <a:ext cx="1477670" cy="1874520"/>
          </a:xfrm>
          <a:prstGeom prst="roundRect">
            <a:avLst>
              <a:gd name="adj" fmla="val 3713"/>
            </a:avLst>
          </a:prstGeom>
          <a:solidFill>
            <a:srgbClr val="F2F6FC"/>
          </a:solidFill>
          <a:ln w="9525">
            <a:solidFill>
              <a:srgbClr val="D5DCEA"/>
            </a:solidFill>
            <a:prstDash val="solid"/>
          </a:ln>
        </p:spPr>
      </p:sp>
      <p:sp>
        <p:nvSpPr>
          <p:cNvPr id="6" name="Shape 3"/>
          <p:cNvSpPr/>
          <p:nvPr/>
        </p:nvSpPr>
        <p:spPr>
          <a:xfrm>
            <a:off x="994867" y="1298448"/>
            <a:ext cx="402336" cy="402336"/>
          </a:xfrm>
          <a:prstGeom prst="ellipse">
            <a:avLst/>
          </a:prstGeom>
          <a:solidFill>
            <a:srgbClr val="2E5496"/>
          </a:solidFill>
          <a:ln w="12700">
            <a:solidFill>
              <a:srgbClr val="2E5496"/>
            </a:solidFill>
            <a:prstDash val="solid"/>
          </a:ln>
        </p:spPr>
      </p:sp>
      <p:sp>
        <p:nvSpPr>
          <p:cNvPr id="7" name="Text 4"/>
          <p:cNvSpPr/>
          <p:nvPr/>
        </p:nvSpPr>
        <p:spPr>
          <a:xfrm>
            <a:off x="994867"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Any assembly</a:t>
            </a:r>
            <a:endParaRPr lang="en-US" sz="1150" dirty="0"/>
          </a:p>
        </p:txBody>
      </p:sp>
      <p:sp>
        <p:nvSpPr>
          <p:cNvPr id="9" name="Text 6"/>
          <p:cNvSpPr/>
          <p:nvPr/>
        </p:nvSpPr>
        <p:spPr>
          <a:xfrm>
            <a:off x="530352" y="2157984"/>
            <a:ext cx="1331366" cy="5212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A secular word — even the worshipers of Diana</a:t>
            </a:r>
            <a:endParaRPr lang="en-US" sz="1150" dirty="0"/>
          </a:p>
        </p:txBody>
      </p:sp>
      <p:sp>
        <p:nvSpPr>
          <p:cNvPr id="10" name="Text 7"/>
          <p:cNvSpPr/>
          <p:nvPr/>
        </p:nvSpPr>
        <p:spPr>
          <a:xfrm>
            <a:off x="530352" y="267919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Acts 19:32</a:t>
            </a:r>
            <a:endParaRPr lang="en-US" sz="900" dirty="0"/>
          </a:p>
        </p:txBody>
      </p:sp>
      <p:sp>
        <p:nvSpPr>
          <p:cNvPr id="11" name="Shape 8"/>
          <p:cNvSpPr/>
          <p:nvPr/>
        </p:nvSpPr>
        <p:spPr>
          <a:xfrm>
            <a:off x="1939442" y="2007108"/>
            <a:ext cx="201168" cy="237744"/>
          </a:xfrm>
          <a:prstGeom prst="rightArrow">
            <a:avLst/>
          </a:prstGeom>
          <a:solidFill>
            <a:srgbClr val="6B7280"/>
          </a:solidFill>
          <a:ln w="12700">
            <a:solidFill>
              <a:srgbClr val="6B7280"/>
            </a:solidFill>
            <a:prstDash val="solid"/>
          </a:ln>
        </p:spPr>
      </p:sp>
      <p:sp>
        <p:nvSpPr>
          <p:cNvPr id="12" name="Shape 9"/>
          <p:cNvSpPr/>
          <p:nvPr/>
        </p:nvSpPr>
        <p:spPr>
          <a:xfrm>
            <a:off x="2145182" y="1188720"/>
            <a:ext cx="1477670" cy="1874520"/>
          </a:xfrm>
          <a:prstGeom prst="roundRect">
            <a:avLst>
              <a:gd name="adj" fmla="val 3713"/>
            </a:avLst>
          </a:prstGeom>
          <a:solidFill>
            <a:srgbClr val="F2F6FC"/>
          </a:solidFill>
          <a:ln w="9525">
            <a:solidFill>
              <a:srgbClr val="D5DCEA"/>
            </a:solidFill>
            <a:prstDash val="solid"/>
          </a:ln>
        </p:spPr>
      </p:sp>
      <p:sp>
        <p:nvSpPr>
          <p:cNvPr id="13" name="Shape 10"/>
          <p:cNvSpPr/>
          <p:nvPr/>
        </p:nvSpPr>
        <p:spPr>
          <a:xfrm>
            <a:off x="2682850"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2682850"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2218334"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Christ takes it</a:t>
            </a:r>
            <a:endParaRPr lang="en-US" sz="1150" dirty="0"/>
          </a:p>
        </p:txBody>
      </p:sp>
      <p:sp>
        <p:nvSpPr>
          <p:cNvPr id="16" name="Text 13"/>
          <p:cNvSpPr/>
          <p:nvPr/>
        </p:nvSpPr>
        <p:spPr>
          <a:xfrm>
            <a:off x="2218334" y="2157984"/>
            <a:ext cx="1331366" cy="5212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“On this rock I will build My church”</a:t>
            </a:r>
            <a:endParaRPr lang="en-US" sz="1150" dirty="0"/>
          </a:p>
        </p:txBody>
      </p:sp>
      <p:sp>
        <p:nvSpPr>
          <p:cNvPr id="17" name="Text 14"/>
          <p:cNvSpPr/>
          <p:nvPr/>
        </p:nvSpPr>
        <p:spPr>
          <a:xfrm>
            <a:off x="2218334" y="267919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Matt 16:18</a:t>
            </a:r>
            <a:endParaRPr lang="en-US" sz="900" dirty="0"/>
          </a:p>
        </p:txBody>
      </p:sp>
      <p:sp>
        <p:nvSpPr>
          <p:cNvPr id="18" name="Shape 15"/>
          <p:cNvSpPr/>
          <p:nvPr/>
        </p:nvSpPr>
        <p:spPr>
          <a:xfrm>
            <a:off x="3627425" y="2007108"/>
            <a:ext cx="201168" cy="237744"/>
          </a:xfrm>
          <a:prstGeom prst="rightArrow">
            <a:avLst/>
          </a:prstGeom>
          <a:solidFill>
            <a:srgbClr val="6B7280"/>
          </a:solidFill>
          <a:ln w="12700">
            <a:solidFill>
              <a:srgbClr val="6B7280"/>
            </a:solidFill>
            <a:prstDash val="solid"/>
          </a:ln>
        </p:spPr>
      </p:sp>
      <p:sp>
        <p:nvSpPr>
          <p:cNvPr id="19" name="Shape 16"/>
          <p:cNvSpPr/>
          <p:nvPr/>
        </p:nvSpPr>
        <p:spPr>
          <a:xfrm>
            <a:off x="3833165" y="1188720"/>
            <a:ext cx="1477670" cy="1874520"/>
          </a:xfrm>
          <a:prstGeom prst="roundRect">
            <a:avLst>
              <a:gd name="adj" fmla="val 3713"/>
            </a:avLst>
          </a:prstGeom>
          <a:solidFill>
            <a:srgbClr val="F2F6FC"/>
          </a:solidFill>
          <a:ln w="9525">
            <a:solidFill>
              <a:srgbClr val="D5DCEA"/>
            </a:solidFill>
            <a:prstDash val="solid"/>
          </a:ln>
        </p:spPr>
      </p:sp>
      <p:sp>
        <p:nvSpPr>
          <p:cNvPr id="20" name="Shape 17"/>
          <p:cNvSpPr/>
          <p:nvPr/>
        </p:nvSpPr>
        <p:spPr>
          <a:xfrm>
            <a:off x="4370832" y="1298448"/>
            <a:ext cx="402336" cy="402336"/>
          </a:xfrm>
          <a:prstGeom prst="ellipse">
            <a:avLst/>
          </a:prstGeom>
          <a:solidFill>
            <a:srgbClr val="2E5496"/>
          </a:solidFill>
          <a:ln w="12700">
            <a:solidFill>
              <a:srgbClr val="2E5496"/>
            </a:solidFill>
            <a:prstDash val="solid"/>
          </a:ln>
        </p:spPr>
      </p:sp>
      <p:sp>
        <p:nvSpPr>
          <p:cNvPr id="21" name="Text 18"/>
          <p:cNvSpPr/>
          <p:nvPr/>
        </p:nvSpPr>
        <p:spPr>
          <a:xfrm>
            <a:off x="4370832"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3906317"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Church universal</a:t>
            </a:r>
            <a:endParaRPr lang="en-US" sz="1150" dirty="0"/>
          </a:p>
        </p:txBody>
      </p:sp>
      <p:sp>
        <p:nvSpPr>
          <p:cNvPr id="23" name="Text 20"/>
          <p:cNvSpPr/>
          <p:nvPr/>
        </p:nvSpPr>
        <p:spPr>
          <a:xfrm>
            <a:off x="3906317" y="2157984"/>
            <a:ext cx="1331366" cy="5212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Every believer from Pentecost to the Rapture</a:t>
            </a:r>
            <a:endParaRPr lang="en-US" sz="1150" dirty="0"/>
          </a:p>
        </p:txBody>
      </p:sp>
      <p:sp>
        <p:nvSpPr>
          <p:cNvPr id="24" name="Text 21"/>
          <p:cNvSpPr/>
          <p:nvPr/>
        </p:nvSpPr>
        <p:spPr>
          <a:xfrm>
            <a:off x="3906317" y="267919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The body of Christ</a:t>
            </a:r>
            <a:endParaRPr lang="en-US" sz="900" dirty="0"/>
          </a:p>
        </p:txBody>
      </p:sp>
      <p:sp>
        <p:nvSpPr>
          <p:cNvPr id="25" name="Shape 22"/>
          <p:cNvSpPr/>
          <p:nvPr/>
        </p:nvSpPr>
        <p:spPr>
          <a:xfrm>
            <a:off x="5315407" y="2007108"/>
            <a:ext cx="201168" cy="237744"/>
          </a:xfrm>
          <a:prstGeom prst="rightArrow">
            <a:avLst/>
          </a:prstGeom>
          <a:solidFill>
            <a:srgbClr val="6B7280"/>
          </a:solidFill>
          <a:ln w="12700">
            <a:solidFill>
              <a:srgbClr val="6B7280"/>
            </a:solidFill>
            <a:prstDash val="solid"/>
          </a:ln>
        </p:spPr>
      </p:sp>
      <p:sp>
        <p:nvSpPr>
          <p:cNvPr id="26" name="Shape 23"/>
          <p:cNvSpPr/>
          <p:nvPr/>
        </p:nvSpPr>
        <p:spPr>
          <a:xfrm>
            <a:off x="5521147" y="1188720"/>
            <a:ext cx="1477670" cy="1874520"/>
          </a:xfrm>
          <a:prstGeom prst="roundRect">
            <a:avLst>
              <a:gd name="adj" fmla="val 3713"/>
            </a:avLst>
          </a:prstGeom>
          <a:solidFill>
            <a:srgbClr val="F2F6FC"/>
          </a:solidFill>
          <a:ln w="9525">
            <a:solidFill>
              <a:srgbClr val="D5DCEA"/>
            </a:solidFill>
            <a:prstDash val="solid"/>
          </a:ln>
        </p:spPr>
      </p:sp>
      <p:sp>
        <p:nvSpPr>
          <p:cNvPr id="27" name="Shape 24"/>
          <p:cNvSpPr/>
          <p:nvPr/>
        </p:nvSpPr>
        <p:spPr>
          <a:xfrm>
            <a:off x="6058814" y="1298448"/>
            <a:ext cx="402336" cy="402336"/>
          </a:xfrm>
          <a:prstGeom prst="ellipse">
            <a:avLst/>
          </a:prstGeom>
          <a:solidFill>
            <a:srgbClr val="2E5496"/>
          </a:solidFill>
          <a:ln w="12700">
            <a:solidFill>
              <a:srgbClr val="2E5496"/>
            </a:solidFill>
            <a:prstDash val="solid"/>
          </a:ln>
        </p:spPr>
      </p:sp>
      <p:sp>
        <p:nvSpPr>
          <p:cNvPr id="28" name="Text 25"/>
          <p:cNvSpPr/>
          <p:nvPr/>
        </p:nvSpPr>
        <p:spPr>
          <a:xfrm>
            <a:off x="6058814"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a:t>
            </a:r>
            <a:endParaRPr lang="en-US" sz="1300" dirty="0"/>
          </a:p>
        </p:txBody>
      </p:sp>
      <p:sp>
        <p:nvSpPr>
          <p:cNvPr id="29" name="Text 26"/>
          <p:cNvSpPr/>
          <p:nvPr/>
        </p:nvSpPr>
        <p:spPr>
          <a:xfrm>
            <a:off x="5594299"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Local assembly</a:t>
            </a:r>
            <a:endParaRPr lang="en-US" sz="1150" dirty="0"/>
          </a:p>
        </p:txBody>
      </p:sp>
      <p:sp>
        <p:nvSpPr>
          <p:cNvPr id="30" name="Text 27"/>
          <p:cNvSpPr/>
          <p:nvPr/>
        </p:nvSpPr>
        <p:spPr>
          <a:xfrm>
            <a:off x="5594299" y="2157984"/>
            <a:ext cx="1331366" cy="5212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“Tell it to the church” — a congregation</a:t>
            </a:r>
            <a:endParaRPr lang="en-US" sz="1150" dirty="0"/>
          </a:p>
        </p:txBody>
      </p:sp>
      <p:sp>
        <p:nvSpPr>
          <p:cNvPr id="31" name="Text 28"/>
          <p:cNvSpPr/>
          <p:nvPr/>
        </p:nvSpPr>
        <p:spPr>
          <a:xfrm>
            <a:off x="5594299" y="267919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Matt 18:17</a:t>
            </a:r>
            <a:endParaRPr lang="en-US" sz="900" dirty="0"/>
          </a:p>
        </p:txBody>
      </p:sp>
      <p:sp>
        <p:nvSpPr>
          <p:cNvPr id="32" name="Shape 29"/>
          <p:cNvSpPr/>
          <p:nvPr/>
        </p:nvSpPr>
        <p:spPr>
          <a:xfrm>
            <a:off x="7003390" y="2007108"/>
            <a:ext cx="201168" cy="237744"/>
          </a:xfrm>
          <a:prstGeom prst="rightArrow">
            <a:avLst/>
          </a:prstGeom>
          <a:solidFill>
            <a:srgbClr val="6B7280"/>
          </a:solidFill>
          <a:ln w="12700">
            <a:solidFill>
              <a:srgbClr val="6B7280"/>
            </a:solidFill>
            <a:prstDash val="solid"/>
          </a:ln>
        </p:spPr>
      </p:sp>
      <p:sp>
        <p:nvSpPr>
          <p:cNvPr id="33" name="Shape 30"/>
          <p:cNvSpPr/>
          <p:nvPr/>
        </p:nvSpPr>
        <p:spPr>
          <a:xfrm>
            <a:off x="7209130" y="1188720"/>
            <a:ext cx="1477670" cy="1874520"/>
          </a:xfrm>
          <a:prstGeom prst="roundRect">
            <a:avLst>
              <a:gd name="adj" fmla="val 3713"/>
            </a:avLst>
          </a:prstGeom>
          <a:solidFill>
            <a:srgbClr val="1F3864"/>
          </a:solidFill>
          <a:ln w="9525">
            <a:solidFill>
              <a:srgbClr val="1F3864"/>
            </a:solidFill>
            <a:prstDash val="solid"/>
          </a:ln>
        </p:spPr>
      </p:sp>
      <p:sp>
        <p:nvSpPr>
          <p:cNvPr id="34" name="Shape 31"/>
          <p:cNvSpPr/>
          <p:nvPr/>
        </p:nvSpPr>
        <p:spPr>
          <a:xfrm>
            <a:off x="7746797" y="1298448"/>
            <a:ext cx="402336" cy="402336"/>
          </a:xfrm>
          <a:prstGeom prst="ellipse">
            <a:avLst/>
          </a:prstGeom>
          <a:solidFill>
            <a:srgbClr val="FFFFFF"/>
          </a:solidFill>
          <a:ln w="12700">
            <a:solidFill>
              <a:srgbClr val="FFFFFF"/>
            </a:solidFill>
            <a:prstDash val="solid"/>
          </a:ln>
        </p:spPr>
      </p:sp>
      <p:sp>
        <p:nvSpPr>
          <p:cNvPr id="35" name="Text 32"/>
          <p:cNvSpPr/>
          <p:nvPr/>
        </p:nvSpPr>
        <p:spPr>
          <a:xfrm>
            <a:off x="7746797"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E</a:t>
            </a:r>
            <a:endParaRPr lang="en-US" sz="1300" dirty="0"/>
          </a:p>
        </p:txBody>
      </p:sp>
      <p:sp>
        <p:nvSpPr>
          <p:cNvPr id="36" name="Text 33"/>
          <p:cNvSpPr/>
          <p:nvPr/>
        </p:nvSpPr>
        <p:spPr>
          <a:xfrm>
            <a:off x="7282282" y="1773936"/>
            <a:ext cx="1331366"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In Thessalonica</a:t>
            </a:r>
            <a:endParaRPr lang="en-US" sz="1150" dirty="0"/>
          </a:p>
        </p:txBody>
      </p:sp>
      <p:sp>
        <p:nvSpPr>
          <p:cNvPr id="37" name="Text 34"/>
          <p:cNvSpPr/>
          <p:nvPr/>
        </p:nvSpPr>
        <p:spPr>
          <a:xfrm>
            <a:off x="7282282" y="2157984"/>
            <a:ext cx="1331366" cy="52120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Here: the local church in Thessalonica</a:t>
            </a:r>
            <a:endParaRPr lang="en-US" sz="1150" dirty="0"/>
          </a:p>
        </p:txBody>
      </p:sp>
      <p:sp>
        <p:nvSpPr>
          <p:cNvPr id="38" name="Text 35"/>
          <p:cNvSpPr/>
          <p:nvPr/>
        </p:nvSpPr>
        <p:spPr>
          <a:xfrm>
            <a:off x="7282282" y="2679192"/>
            <a:ext cx="1331366"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1 Thess 1:1</a:t>
            </a:r>
            <a:endParaRPr lang="en-US" sz="900" dirty="0"/>
          </a:p>
        </p:txBody>
      </p:sp>
      <p:sp>
        <p:nvSpPr>
          <p:cNvPr id="39" name="Shape 36"/>
          <p:cNvSpPr/>
          <p:nvPr/>
        </p:nvSpPr>
        <p:spPr>
          <a:xfrm>
            <a:off x="457200" y="3246120"/>
            <a:ext cx="3291840" cy="365760"/>
          </a:xfrm>
          <a:prstGeom prst="rect">
            <a:avLst/>
          </a:prstGeom>
          <a:solidFill>
            <a:srgbClr val="2E5496"/>
          </a:solidFill>
          <a:ln w="12700">
            <a:solidFill>
              <a:srgbClr val="2E5496"/>
            </a:solidFill>
            <a:prstDash val="solid"/>
          </a:ln>
        </p:spPr>
      </p:sp>
      <p:sp>
        <p:nvSpPr>
          <p:cNvPr id="40" name="Text 37"/>
          <p:cNvSpPr/>
          <p:nvPr/>
        </p:nvSpPr>
        <p:spPr>
          <a:xfrm>
            <a:off x="548640" y="3291840"/>
            <a:ext cx="310896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In God the Father</a:t>
            </a:r>
            <a:endParaRPr lang="en-US" sz="1200" dirty="0"/>
          </a:p>
        </p:txBody>
      </p:sp>
      <p:sp>
        <p:nvSpPr>
          <p:cNvPr id="41" name="Shape 38"/>
          <p:cNvSpPr/>
          <p:nvPr/>
        </p:nvSpPr>
        <p:spPr>
          <a:xfrm>
            <a:off x="457200" y="3611880"/>
            <a:ext cx="3291840" cy="1005840"/>
          </a:xfrm>
          <a:prstGeom prst="rect">
            <a:avLst/>
          </a:prstGeom>
          <a:solidFill>
            <a:srgbClr val="F2F6FC"/>
          </a:solidFill>
          <a:ln w="9525">
            <a:solidFill>
              <a:srgbClr val="D5DCEA"/>
            </a:solidFill>
            <a:prstDash val="solid"/>
          </a:ln>
        </p:spPr>
      </p:sp>
      <p:sp>
        <p:nvSpPr>
          <p:cNvPr id="42" name="Text 39"/>
          <p:cNvSpPr/>
          <p:nvPr/>
        </p:nvSpPr>
        <p:spPr>
          <a:xfrm>
            <a:off x="548640" y="3685032"/>
            <a:ext cx="3108960" cy="87782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Security</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Love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strength of the Father</a:t>
            </a:r>
            <a:endParaRPr lang="en-US" sz="1250" dirty="0"/>
          </a:p>
        </p:txBody>
      </p:sp>
      <p:sp>
        <p:nvSpPr>
          <p:cNvPr id="43" name="Shape 40"/>
          <p:cNvSpPr/>
          <p:nvPr/>
        </p:nvSpPr>
        <p:spPr>
          <a:xfrm>
            <a:off x="3931920" y="3246120"/>
            <a:ext cx="4754880" cy="365760"/>
          </a:xfrm>
          <a:prstGeom prst="rect">
            <a:avLst/>
          </a:prstGeom>
          <a:solidFill>
            <a:srgbClr val="375623"/>
          </a:solidFill>
          <a:ln w="12700">
            <a:solidFill>
              <a:srgbClr val="375623"/>
            </a:solidFill>
            <a:prstDash val="solid"/>
          </a:ln>
        </p:spPr>
      </p:sp>
      <p:sp>
        <p:nvSpPr>
          <p:cNvPr id="44" name="Text 41"/>
          <p:cNvSpPr/>
          <p:nvPr/>
        </p:nvSpPr>
        <p:spPr>
          <a:xfrm>
            <a:off x="4023360" y="3291840"/>
            <a:ext cx="457200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In the Lord Jesus Christ</a:t>
            </a:r>
            <a:endParaRPr lang="en-US" sz="1200" dirty="0"/>
          </a:p>
        </p:txBody>
      </p:sp>
      <p:sp>
        <p:nvSpPr>
          <p:cNvPr id="45" name="Shape 42"/>
          <p:cNvSpPr/>
          <p:nvPr/>
        </p:nvSpPr>
        <p:spPr>
          <a:xfrm>
            <a:off x="3931920" y="3611880"/>
            <a:ext cx="4754880" cy="1005840"/>
          </a:xfrm>
          <a:prstGeom prst="rect">
            <a:avLst/>
          </a:prstGeom>
          <a:solidFill>
            <a:srgbClr val="F2F6FC"/>
          </a:solidFill>
          <a:ln w="9525">
            <a:solidFill>
              <a:srgbClr val="D5DCEA"/>
            </a:solidFill>
            <a:prstDash val="solid"/>
          </a:ln>
        </p:spPr>
      </p:sp>
      <p:sp>
        <p:nvSpPr>
          <p:cNvPr id="46" name="Text 43"/>
          <p:cNvSpPr/>
          <p:nvPr/>
        </p:nvSpPr>
        <p:spPr>
          <a:xfrm>
            <a:off x="4023360" y="3685032"/>
            <a:ext cx="4572000" cy="87782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Lord — the title of deity (Jehovah)</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Jesus — Joshua: salvation, deliverer</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Christ — Messiah, the anointed one</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Work of faith, labor of love, patience of hope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1:3 · III.B — The content of the prayer</a:t>
            </a:r>
            <a:endParaRPr lang="en-US" sz="1200" dirty="0"/>
          </a:p>
        </p:txBody>
      </p:sp>
      <p:sp>
        <p:nvSpPr>
          <p:cNvPr id="5" name="Shape 2"/>
          <p:cNvSpPr/>
          <p:nvPr/>
        </p:nvSpPr>
        <p:spPr>
          <a:xfrm>
            <a:off x="457200" y="1188720"/>
            <a:ext cx="2621280" cy="566928"/>
          </a:xfrm>
          <a:prstGeom prst="rect">
            <a:avLst/>
          </a:prstGeom>
          <a:solidFill>
            <a:srgbClr val="2E5496"/>
          </a:solidFill>
          <a:ln w="12700">
            <a:solidFill>
              <a:srgbClr val="2E5496"/>
            </a:solidFill>
            <a:prstDash val="solid"/>
          </a:ln>
        </p:spPr>
      </p:sp>
      <p:sp>
        <p:nvSpPr>
          <p:cNvPr id="6" name="Text 3"/>
          <p:cNvSpPr/>
          <p:nvPr/>
        </p:nvSpPr>
        <p:spPr>
          <a:xfrm>
            <a:off x="54864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Work of faith</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ἔργον</a:t>
            </a:r>
            <a:pPr indent="0" marL="0">
              <a:buNone/>
            </a:pPr>
            <a:r>
              <a:rPr lang="en-US" sz="850" dirty="0">
                <a:solidFill>
                  <a:srgbClr val="DCE4F2"/>
                </a:solidFill>
                <a:latin typeface="Arial" pitchFamily="34" charset="0"/>
                <a:ea typeface="Arial" pitchFamily="34" charset="-122"/>
                <a:cs typeface="Arial" pitchFamily="34" charset="-120"/>
              </a:rPr>
              <a:t>  ergou · G2041</a:t>
            </a:r>
            <a:endParaRPr lang="en-US" sz="1200" dirty="0"/>
          </a:p>
        </p:txBody>
      </p:sp>
      <p:sp>
        <p:nvSpPr>
          <p:cNvPr id="7" name="Shape 4"/>
          <p:cNvSpPr/>
          <p:nvPr/>
        </p:nvSpPr>
        <p:spPr>
          <a:xfrm>
            <a:off x="457200" y="1755648"/>
            <a:ext cx="2621280" cy="2039112"/>
          </a:xfrm>
          <a:prstGeom prst="rect">
            <a:avLst/>
          </a:prstGeom>
          <a:solidFill>
            <a:srgbClr val="F2F6FC"/>
          </a:solidFill>
          <a:ln w="9525">
            <a:solidFill>
              <a:srgbClr val="D5DCEA"/>
            </a:solidFill>
            <a:prstDash val="solid"/>
          </a:ln>
        </p:spPr>
      </p:sp>
      <p:sp>
        <p:nvSpPr>
          <p:cNvPr id="8" name="Text 5"/>
          <p:cNvSpPr/>
          <p:nvPr/>
        </p:nvSpPr>
        <p:spPr>
          <a:xfrm>
            <a:off x="548640" y="1828800"/>
            <a:ext cx="2438400" cy="191109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Not busy work — work that results from faith</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Seeking God’s will, depending on His power</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Results beyond human expectation</a:t>
            </a:r>
            <a:endParaRPr lang="en-US" sz="1250" dirty="0"/>
          </a:p>
        </p:txBody>
      </p:sp>
      <p:sp>
        <p:nvSpPr>
          <p:cNvPr id="9" name="Shape 6"/>
          <p:cNvSpPr/>
          <p:nvPr/>
        </p:nvSpPr>
        <p:spPr>
          <a:xfrm>
            <a:off x="3261360" y="1188720"/>
            <a:ext cx="2621280" cy="566928"/>
          </a:xfrm>
          <a:prstGeom prst="rect">
            <a:avLst/>
          </a:prstGeom>
          <a:solidFill>
            <a:srgbClr val="2E5496"/>
          </a:solidFill>
          <a:ln w="12700">
            <a:solidFill>
              <a:srgbClr val="2E5496"/>
            </a:solidFill>
            <a:prstDash val="solid"/>
          </a:ln>
        </p:spPr>
      </p:sp>
      <p:sp>
        <p:nvSpPr>
          <p:cNvPr id="10" name="Text 7"/>
          <p:cNvSpPr/>
          <p:nvPr/>
        </p:nvSpPr>
        <p:spPr>
          <a:xfrm>
            <a:off x="335280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Labor of love</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κόπος</a:t>
            </a:r>
            <a:pPr indent="0" marL="0">
              <a:buNone/>
            </a:pPr>
            <a:r>
              <a:rPr lang="en-US" sz="850" dirty="0">
                <a:solidFill>
                  <a:srgbClr val="DCE4F2"/>
                </a:solidFill>
                <a:latin typeface="Arial" pitchFamily="34" charset="0"/>
                <a:ea typeface="Arial" pitchFamily="34" charset="-122"/>
                <a:cs typeface="Arial" pitchFamily="34" charset="-120"/>
              </a:rPr>
              <a:t>  kopou · G2873</a:t>
            </a:r>
            <a:endParaRPr lang="en-US" sz="1200" dirty="0"/>
          </a:p>
        </p:txBody>
      </p:sp>
      <p:sp>
        <p:nvSpPr>
          <p:cNvPr id="11" name="Shape 8"/>
          <p:cNvSpPr/>
          <p:nvPr/>
        </p:nvSpPr>
        <p:spPr>
          <a:xfrm>
            <a:off x="3261360" y="1755648"/>
            <a:ext cx="2621280" cy="2039112"/>
          </a:xfrm>
          <a:prstGeom prst="rect">
            <a:avLst/>
          </a:prstGeom>
          <a:solidFill>
            <a:srgbClr val="F2F6FC"/>
          </a:solidFill>
          <a:ln w="9525">
            <a:solidFill>
              <a:srgbClr val="D5DCEA"/>
            </a:solidFill>
            <a:prstDash val="solid"/>
          </a:ln>
        </p:spPr>
      </p:sp>
      <p:sp>
        <p:nvSpPr>
          <p:cNvPr id="12" name="Text 9"/>
          <p:cNvSpPr/>
          <p:nvPr/>
        </p:nvSpPr>
        <p:spPr>
          <a:xfrm>
            <a:off x="3352800" y="1828800"/>
            <a:ext cx="2438400" cy="191109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Stronger than ergon: costly, exhausting toil</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Love for Christ, for each other — and for the lost</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“God so loved the world”</a:t>
            </a:r>
            <a:endParaRPr lang="en-US" sz="1250" dirty="0"/>
          </a:p>
        </p:txBody>
      </p:sp>
      <p:sp>
        <p:nvSpPr>
          <p:cNvPr id="13" name="Shape 10"/>
          <p:cNvSpPr/>
          <p:nvPr/>
        </p:nvSpPr>
        <p:spPr>
          <a:xfrm>
            <a:off x="6065520" y="1188720"/>
            <a:ext cx="2621280" cy="566928"/>
          </a:xfrm>
          <a:prstGeom prst="rect">
            <a:avLst/>
          </a:prstGeom>
          <a:solidFill>
            <a:srgbClr val="2E5496"/>
          </a:solidFill>
          <a:ln w="12700">
            <a:solidFill>
              <a:srgbClr val="2E5496"/>
            </a:solidFill>
            <a:prstDash val="solid"/>
          </a:ln>
        </p:spPr>
      </p:sp>
      <p:sp>
        <p:nvSpPr>
          <p:cNvPr id="14" name="Text 11"/>
          <p:cNvSpPr/>
          <p:nvPr/>
        </p:nvSpPr>
        <p:spPr>
          <a:xfrm>
            <a:off x="615696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Patience of hope</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ὑπομονή</a:t>
            </a:r>
            <a:pPr indent="0" marL="0">
              <a:buNone/>
            </a:pPr>
            <a:r>
              <a:rPr lang="en-US" sz="850" dirty="0">
                <a:solidFill>
                  <a:srgbClr val="DCE4F2"/>
                </a:solidFill>
                <a:latin typeface="Arial" pitchFamily="34" charset="0"/>
                <a:ea typeface="Arial" pitchFamily="34" charset="-122"/>
                <a:cs typeface="Arial" pitchFamily="34" charset="-120"/>
              </a:rPr>
              <a:t>  hypomonēs · G5281</a:t>
            </a:r>
            <a:endParaRPr lang="en-US" sz="1200" dirty="0"/>
          </a:p>
        </p:txBody>
      </p:sp>
      <p:sp>
        <p:nvSpPr>
          <p:cNvPr id="15" name="Shape 12"/>
          <p:cNvSpPr/>
          <p:nvPr/>
        </p:nvSpPr>
        <p:spPr>
          <a:xfrm>
            <a:off x="6065520" y="1755648"/>
            <a:ext cx="2621280" cy="2039112"/>
          </a:xfrm>
          <a:prstGeom prst="rect">
            <a:avLst/>
          </a:prstGeom>
          <a:solidFill>
            <a:srgbClr val="F2F6FC"/>
          </a:solidFill>
          <a:ln w="9525">
            <a:solidFill>
              <a:srgbClr val="D5DCEA"/>
            </a:solidFill>
            <a:prstDash val="solid"/>
          </a:ln>
        </p:spPr>
      </p:sp>
      <p:sp>
        <p:nvSpPr>
          <p:cNvPr id="16" name="Text 13"/>
          <p:cNvSpPr/>
          <p:nvPr/>
        </p:nvSpPr>
        <p:spPr>
          <a:xfrm>
            <a:off x="6156960" y="1828800"/>
            <a:ext cx="2438400" cy="191109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Endurance in tribulation</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Active perseverance, not passive waiting</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Produced by hope fixed on Christ</a:t>
            </a:r>
            <a:endParaRPr lang="en-US" sz="1250" dirty="0"/>
          </a:p>
        </p:txBody>
      </p:sp>
      <p:sp>
        <p:nvSpPr>
          <p:cNvPr id="17" name="Shape 14"/>
          <p:cNvSpPr/>
          <p:nvPr/>
        </p:nvSpPr>
        <p:spPr>
          <a:xfrm>
            <a:off x="457200" y="3977640"/>
            <a:ext cx="8229600" cy="594360"/>
          </a:xfrm>
          <a:prstGeom prst="roundRect">
            <a:avLst>
              <a:gd name="adj" fmla="val 9231"/>
            </a:avLst>
          </a:prstGeom>
          <a:solidFill>
            <a:srgbClr val="1F3864"/>
          </a:solidFill>
          <a:ln w="12700">
            <a:solidFill>
              <a:srgbClr val="1F3864"/>
            </a:solidFill>
            <a:prstDash val="solid"/>
          </a:ln>
        </p:spPr>
      </p:sp>
      <p:sp>
        <p:nvSpPr>
          <p:cNvPr id="18" name="Text 15"/>
          <p:cNvSpPr/>
          <p:nvPr/>
        </p:nvSpPr>
        <p:spPr>
          <a:xfrm>
            <a:off x="621792" y="3977640"/>
            <a:ext cx="7900416" cy="59436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Faith in Christ, love for Christ, endurance looking for Christ — all three have Christ as both their source and their object.</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Election: proved to whom?</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1:4 · III.C — The core of the prayer</a:t>
            </a:r>
            <a:endParaRPr lang="en-US" sz="1200" dirty="0"/>
          </a:p>
        </p:txBody>
      </p:sp>
      <p:sp>
        <p:nvSpPr>
          <p:cNvPr id="5" name="Shape 2"/>
          <p:cNvSpPr/>
          <p:nvPr/>
        </p:nvSpPr>
        <p:spPr>
          <a:xfrm>
            <a:off x="457200" y="1188720"/>
            <a:ext cx="3931920" cy="566928"/>
          </a:xfrm>
          <a:prstGeom prst="rect">
            <a:avLst/>
          </a:prstGeom>
          <a:solidFill>
            <a:srgbClr val="2E5496"/>
          </a:solidFill>
          <a:ln w="12700">
            <a:solidFill>
              <a:srgbClr val="2E5496"/>
            </a:solidFill>
            <a:prstDash val="solid"/>
          </a:ln>
        </p:spPr>
      </p:sp>
      <p:sp>
        <p:nvSpPr>
          <p:cNvPr id="6" name="Text 3"/>
          <p:cNvSpPr/>
          <p:nvPr/>
        </p:nvSpPr>
        <p:spPr>
          <a:xfrm>
            <a:off x="54864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Before God</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ἐκλογή</a:t>
            </a:r>
            <a:pPr indent="0" marL="0">
              <a:buNone/>
            </a:pPr>
            <a:r>
              <a:rPr lang="en-US" sz="850" dirty="0">
                <a:solidFill>
                  <a:srgbClr val="DCE4F2"/>
                </a:solidFill>
                <a:latin typeface="Arial" pitchFamily="34" charset="0"/>
                <a:ea typeface="Arial" pitchFamily="34" charset="-122"/>
                <a:cs typeface="Arial" pitchFamily="34" charset="-120"/>
              </a:rPr>
              <a:t>  eklogē · G1589</a:t>
            </a:r>
            <a:endParaRPr lang="en-US" sz="1200" dirty="0"/>
          </a:p>
        </p:txBody>
      </p:sp>
      <p:sp>
        <p:nvSpPr>
          <p:cNvPr id="7" name="Shape 4"/>
          <p:cNvSpPr/>
          <p:nvPr/>
        </p:nvSpPr>
        <p:spPr>
          <a:xfrm>
            <a:off x="457200" y="1755648"/>
            <a:ext cx="3931920" cy="1764792"/>
          </a:xfrm>
          <a:prstGeom prst="rect">
            <a:avLst/>
          </a:prstGeom>
          <a:solidFill>
            <a:srgbClr val="F2F6FC"/>
          </a:solidFill>
          <a:ln w="9525">
            <a:solidFill>
              <a:srgbClr val="D5DCEA"/>
            </a:solidFill>
            <a:prstDash val="solid"/>
          </a:ln>
        </p:spPr>
      </p:sp>
      <p:sp>
        <p:nvSpPr>
          <p:cNvPr id="8" name="Text 5"/>
          <p:cNvSpPr/>
          <p:nvPr/>
        </p:nvSpPr>
        <p:spPr>
          <a:xfrm>
            <a:off x="548640" y="1828800"/>
            <a:ext cx="3749040" cy="163677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Election is God’s sovereign choosing</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Justification by faith alone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Abraham believed — Gen 15:6</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My assurance rests on the Word of God</a:t>
            </a:r>
            <a:endParaRPr lang="en-US" sz="1250" dirty="0"/>
          </a:p>
        </p:txBody>
      </p:sp>
      <p:sp>
        <p:nvSpPr>
          <p:cNvPr id="9" name="Shape 6"/>
          <p:cNvSpPr/>
          <p:nvPr/>
        </p:nvSpPr>
        <p:spPr>
          <a:xfrm>
            <a:off x="4754880" y="1188720"/>
            <a:ext cx="3931920" cy="566928"/>
          </a:xfrm>
          <a:prstGeom prst="rect">
            <a:avLst/>
          </a:prstGeom>
          <a:solidFill>
            <a:srgbClr val="375623"/>
          </a:solidFill>
          <a:ln w="12700">
            <a:solidFill>
              <a:srgbClr val="375623"/>
            </a:solidFill>
            <a:prstDash val="solid"/>
          </a:ln>
        </p:spPr>
      </p:sp>
      <p:sp>
        <p:nvSpPr>
          <p:cNvPr id="10" name="Text 7"/>
          <p:cNvSpPr/>
          <p:nvPr/>
        </p:nvSpPr>
        <p:spPr>
          <a:xfrm>
            <a:off x="484632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Before men</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ἔργον</a:t>
            </a:r>
            <a:pPr indent="0" marL="0">
              <a:buNone/>
            </a:pPr>
            <a:r>
              <a:rPr lang="en-US" sz="850" dirty="0">
                <a:solidFill>
                  <a:srgbClr val="DCE4F2"/>
                </a:solidFill>
                <a:latin typeface="Arial" pitchFamily="34" charset="0"/>
                <a:ea typeface="Arial" pitchFamily="34" charset="-122"/>
                <a:cs typeface="Arial" pitchFamily="34" charset="-120"/>
              </a:rPr>
              <a:t>  ergon · G2041 · the outworking</a:t>
            </a:r>
            <a:endParaRPr lang="en-US" sz="1200" dirty="0"/>
          </a:p>
        </p:txBody>
      </p:sp>
      <p:sp>
        <p:nvSpPr>
          <p:cNvPr id="11" name="Shape 8"/>
          <p:cNvSpPr/>
          <p:nvPr/>
        </p:nvSpPr>
        <p:spPr>
          <a:xfrm>
            <a:off x="4754880" y="1755648"/>
            <a:ext cx="3931920" cy="1764792"/>
          </a:xfrm>
          <a:prstGeom prst="rect">
            <a:avLst/>
          </a:prstGeom>
          <a:solidFill>
            <a:srgbClr val="F2F6FC"/>
          </a:solidFill>
          <a:ln w="9525">
            <a:solidFill>
              <a:srgbClr val="D5DCEA"/>
            </a:solidFill>
            <a:prstDash val="solid"/>
          </a:ln>
        </p:spPr>
      </p:sp>
      <p:sp>
        <p:nvSpPr>
          <p:cNvPr id="12" name="Text 9"/>
          <p:cNvSpPr/>
          <p:nvPr/>
        </p:nvSpPr>
        <p:spPr>
          <a:xfrm>
            <a:off x="4846320" y="1828800"/>
            <a:ext cx="3749040" cy="163677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Others know only what they see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Works are evidence to them (James 2)</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They do not cause election</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Never “faith plus works” for salvation</a:t>
            </a:r>
            <a:endParaRPr lang="en-US" sz="1250" dirty="0"/>
          </a:p>
        </p:txBody>
      </p:sp>
      <p:sp>
        <p:nvSpPr>
          <p:cNvPr id="13" name="Text 10"/>
          <p:cNvSpPr/>
          <p:nvPr/>
        </p:nvSpPr>
        <p:spPr>
          <a:xfrm>
            <a:off x="4389120" y="2171700"/>
            <a:ext cx="365760" cy="365760"/>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vs</a:t>
            </a:r>
            <a:endParaRPr lang="en-US" sz="1100" dirty="0"/>
          </a:p>
        </p:txBody>
      </p:sp>
      <p:sp>
        <p:nvSpPr>
          <p:cNvPr id="14" name="Shape 11"/>
          <p:cNvSpPr/>
          <p:nvPr/>
        </p:nvSpPr>
        <p:spPr>
          <a:xfrm>
            <a:off x="457200" y="3749040"/>
            <a:ext cx="8229600" cy="777240"/>
          </a:xfrm>
          <a:prstGeom prst="roundRect">
            <a:avLst>
              <a:gd name="adj" fmla="val 7059"/>
            </a:avLst>
          </a:prstGeom>
          <a:solidFill>
            <a:srgbClr val="1F3864"/>
          </a:solidFill>
          <a:ln w="12700">
            <a:solidFill>
              <a:srgbClr val="1F3864"/>
            </a:solidFill>
            <a:prstDash val="solid"/>
          </a:ln>
        </p:spPr>
      </p:sp>
      <p:sp>
        <p:nvSpPr>
          <p:cNvPr id="15" name="Text 12"/>
          <p:cNvSpPr/>
          <p:nvPr/>
        </p:nvSpPr>
        <p:spPr>
          <a:xfrm>
            <a:off x="621792" y="3749040"/>
            <a:ext cx="7900416" cy="77724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My works do not prove my election to me — the Word of God does. My works show others what God has already done.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How the gospel came to Thessalonica</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1:5 · III.D — The confidence of the prayer</a:t>
            </a:r>
            <a:endParaRPr lang="en-US" sz="1200" dirty="0"/>
          </a:p>
        </p:txBody>
      </p:sp>
      <p:sp>
        <p:nvSpPr>
          <p:cNvPr id="5" name="Shape 2"/>
          <p:cNvSpPr/>
          <p:nvPr/>
        </p:nvSpPr>
        <p:spPr>
          <a:xfrm>
            <a:off x="457200" y="1188720"/>
            <a:ext cx="1477670" cy="2148840"/>
          </a:xfrm>
          <a:prstGeom prst="roundRect">
            <a:avLst>
              <a:gd name="adj" fmla="val 3713"/>
            </a:avLst>
          </a:prstGeom>
          <a:solidFill>
            <a:srgbClr val="F2F6FC"/>
          </a:solidFill>
          <a:ln w="9525">
            <a:solidFill>
              <a:srgbClr val="D5DCEA"/>
            </a:solidFill>
            <a:prstDash val="solid"/>
          </a:ln>
        </p:spPr>
      </p:sp>
      <p:sp>
        <p:nvSpPr>
          <p:cNvPr id="6" name="Shape 3"/>
          <p:cNvSpPr/>
          <p:nvPr/>
        </p:nvSpPr>
        <p:spPr>
          <a:xfrm>
            <a:off x="994867" y="1298448"/>
            <a:ext cx="402336" cy="402336"/>
          </a:xfrm>
          <a:prstGeom prst="ellipse">
            <a:avLst/>
          </a:prstGeom>
          <a:solidFill>
            <a:srgbClr val="2E5496"/>
          </a:solidFill>
          <a:ln w="12700">
            <a:solidFill>
              <a:srgbClr val="2E5496"/>
            </a:solidFill>
            <a:prstDash val="solid"/>
          </a:ln>
        </p:spPr>
      </p:sp>
      <p:sp>
        <p:nvSpPr>
          <p:cNvPr id="7" name="Text 4"/>
          <p:cNvSpPr/>
          <p:nvPr/>
        </p:nvSpPr>
        <p:spPr>
          <a:xfrm>
            <a:off x="994867"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Holy Word</a:t>
            </a:r>
            <a:endParaRPr lang="en-US" sz="1150" dirty="0"/>
          </a:p>
        </p:txBody>
      </p:sp>
      <p:sp>
        <p:nvSpPr>
          <p:cNvPr id="9" name="Text 6"/>
          <p:cNvSpPr/>
          <p:nvPr/>
        </p:nvSpPr>
        <p:spPr>
          <a:xfrm>
            <a:off x="530352" y="2157984"/>
            <a:ext cx="1331366" cy="79552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The gospel must be heard or read — it goes to the mind</a:t>
            </a:r>
            <a:endParaRPr lang="en-US" sz="1150" dirty="0"/>
          </a:p>
        </p:txBody>
      </p:sp>
      <p:sp>
        <p:nvSpPr>
          <p:cNvPr id="10" name="Text 7"/>
          <p:cNvSpPr/>
          <p:nvPr/>
        </p:nvSpPr>
        <p:spPr>
          <a:xfrm>
            <a:off x="530352" y="295351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εὐαγγέλιον</a:t>
            </a:r>
            <a:endParaRPr lang="en-US" sz="900" dirty="0"/>
          </a:p>
        </p:txBody>
      </p:sp>
      <p:sp>
        <p:nvSpPr>
          <p:cNvPr id="11" name="Shape 8"/>
          <p:cNvSpPr/>
          <p:nvPr/>
        </p:nvSpPr>
        <p:spPr>
          <a:xfrm>
            <a:off x="1939442" y="2144268"/>
            <a:ext cx="201168" cy="237744"/>
          </a:xfrm>
          <a:prstGeom prst="rightArrow">
            <a:avLst/>
          </a:prstGeom>
          <a:solidFill>
            <a:srgbClr val="6B7280"/>
          </a:solidFill>
          <a:ln w="12700">
            <a:solidFill>
              <a:srgbClr val="6B7280"/>
            </a:solidFill>
            <a:prstDash val="solid"/>
          </a:ln>
        </p:spPr>
      </p:sp>
      <p:sp>
        <p:nvSpPr>
          <p:cNvPr id="12" name="Shape 9"/>
          <p:cNvSpPr/>
          <p:nvPr/>
        </p:nvSpPr>
        <p:spPr>
          <a:xfrm>
            <a:off x="2145182" y="1188720"/>
            <a:ext cx="1477670" cy="2148840"/>
          </a:xfrm>
          <a:prstGeom prst="roundRect">
            <a:avLst>
              <a:gd name="adj" fmla="val 3713"/>
            </a:avLst>
          </a:prstGeom>
          <a:solidFill>
            <a:srgbClr val="F2F6FC"/>
          </a:solidFill>
          <a:ln w="9525">
            <a:solidFill>
              <a:srgbClr val="D5DCEA"/>
            </a:solidFill>
            <a:prstDash val="solid"/>
          </a:ln>
        </p:spPr>
      </p:sp>
      <p:sp>
        <p:nvSpPr>
          <p:cNvPr id="13" name="Shape 10"/>
          <p:cNvSpPr/>
          <p:nvPr/>
        </p:nvSpPr>
        <p:spPr>
          <a:xfrm>
            <a:off x="2682850"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2682850"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2218334"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In power</a:t>
            </a:r>
            <a:endParaRPr lang="en-US" sz="1150" dirty="0"/>
          </a:p>
        </p:txBody>
      </p:sp>
      <p:sp>
        <p:nvSpPr>
          <p:cNvPr id="16" name="Text 13"/>
          <p:cNvSpPr/>
          <p:nvPr/>
        </p:nvSpPr>
        <p:spPr>
          <a:xfrm>
            <a:off x="2218334" y="2157984"/>
            <a:ext cx="1331366" cy="79552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The power of God to salvation (Rom 1:16)</a:t>
            </a:r>
            <a:endParaRPr lang="en-US" sz="1150" dirty="0"/>
          </a:p>
        </p:txBody>
      </p:sp>
      <p:sp>
        <p:nvSpPr>
          <p:cNvPr id="17" name="Text 14"/>
          <p:cNvSpPr/>
          <p:nvPr/>
        </p:nvSpPr>
        <p:spPr>
          <a:xfrm>
            <a:off x="2218334" y="295351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δύναμις</a:t>
            </a:r>
            <a:endParaRPr lang="en-US" sz="900" dirty="0"/>
          </a:p>
        </p:txBody>
      </p:sp>
      <p:sp>
        <p:nvSpPr>
          <p:cNvPr id="18" name="Shape 15"/>
          <p:cNvSpPr/>
          <p:nvPr/>
        </p:nvSpPr>
        <p:spPr>
          <a:xfrm>
            <a:off x="3627425" y="2144268"/>
            <a:ext cx="201168" cy="237744"/>
          </a:xfrm>
          <a:prstGeom prst="rightArrow">
            <a:avLst/>
          </a:prstGeom>
          <a:solidFill>
            <a:srgbClr val="6B7280"/>
          </a:solidFill>
          <a:ln w="12700">
            <a:solidFill>
              <a:srgbClr val="6B7280"/>
            </a:solidFill>
            <a:prstDash val="solid"/>
          </a:ln>
        </p:spPr>
      </p:sp>
      <p:sp>
        <p:nvSpPr>
          <p:cNvPr id="19" name="Shape 16"/>
          <p:cNvSpPr/>
          <p:nvPr/>
        </p:nvSpPr>
        <p:spPr>
          <a:xfrm>
            <a:off x="3833165" y="1188720"/>
            <a:ext cx="1477670" cy="2148840"/>
          </a:xfrm>
          <a:prstGeom prst="roundRect">
            <a:avLst>
              <a:gd name="adj" fmla="val 3713"/>
            </a:avLst>
          </a:prstGeom>
          <a:solidFill>
            <a:srgbClr val="F2F6FC"/>
          </a:solidFill>
          <a:ln w="9525">
            <a:solidFill>
              <a:srgbClr val="D5DCEA"/>
            </a:solidFill>
            <a:prstDash val="solid"/>
          </a:ln>
        </p:spPr>
      </p:sp>
      <p:sp>
        <p:nvSpPr>
          <p:cNvPr id="20" name="Shape 17"/>
          <p:cNvSpPr/>
          <p:nvPr/>
        </p:nvSpPr>
        <p:spPr>
          <a:xfrm>
            <a:off x="4370832" y="1298448"/>
            <a:ext cx="402336" cy="402336"/>
          </a:xfrm>
          <a:prstGeom prst="ellipse">
            <a:avLst/>
          </a:prstGeom>
          <a:solidFill>
            <a:srgbClr val="2E5496"/>
          </a:solidFill>
          <a:ln w="12700">
            <a:solidFill>
              <a:srgbClr val="2E5496"/>
            </a:solidFill>
            <a:prstDash val="solid"/>
          </a:ln>
        </p:spPr>
      </p:sp>
      <p:sp>
        <p:nvSpPr>
          <p:cNvPr id="21" name="Text 18"/>
          <p:cNvSpPr/>
          <p:nvPr/>
        </p:nvSpPr>
        <p:spPr>
          <a:xfrm>
            <a:off x="4370832"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3906317"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Holy Spirit</a:t>
            </a:r>
            <a:endParaRPr lang="en-US" sz="1150" dirty="0"/>
          </a:p>
        </p:txBody>
      </p:sp>
      <p:sp>
        <p:nvSpPr>
          <p:cNvPr id="23" name="Text 20"/>
          <p:cNvSpPr/>
          <p:nvPr/>
        </p:nvSpPr>
        <p:spPr>
          <a:xfrm>
            <a:off x="3906317" y="2157984"/>
            <a:ext cx="1331366" cy="79552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Carries it to the heart and gives life — regeneration</a:t>
            </a:r>
            <a:endParaRPr lang="en-US" sz="1150" dirty="0"/>
          </a:p>
        </p:txBody>
      </p:sp>
      <p:sp>
        <p:nvSpPr>
          <p:cNvPr id="24" name="Text 21"/>
          <p:cNvSpPr/>
          <p:nvPr/>
        </p:nvSpPr>
        <p:spPr>
          <a:xfrm>
            <a:off x="3906317" y="295351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much assurance · πληροφορία</a:t>
            </a:r>
            <a:endParaRPr lang="en-US" sz="900" dirty="0"/>
          </a:p>
        </p:txBody>
      </p:sp>
      <p:sp>
        <p:nvSpPr>
          <p:cNvPr id="25" name="Shape 22"/>
          <p:cNvSpPr/>
          <p:nvPr/>
        </p:nvSpPr>
        <p:spPr>
          <a:xfrm>
            <a:off x="5315407" y="2144268"/>
            <a:ext cx="201168" cy="237744"/>
          </a:xfrm>
          <a:prstGeom prst="rightArrow">
            <a:avLst/>
          </a:prstGeom>
          <a:solidFill>
            <a:srgbClr val="6B7280"/>
          </a:solidFill>
          <a:ln w="12700">
            <a:solidFill>
              <a:srgbClr val="6B7280"/>
            </a:solidFill>
            <a:prstDash val="solid"/>
          </a:ln>
        </p:spPr>
      </p:sp>
      <p:sp>
        <p:nvSpPr>
          <p:cNvPr id="26" name="Shape 23"/>
          <p:cNvSpPr/>
          <p:nvPr/>
        </p:nvSpPr>
        <p:spPr>
          <a:xfrm>
            <a:off x="5521147" y="1188720"/>
            <a:ext cx="1477670" cy="2148840"/>
          </a:xfrm>
          <a:prstGeom prst="roundRect">
            <a:avLst>
              <a:gd name="adj" fmla="val 3713"/>
            </a:avLst>
          </a:prstGeom>
          <a:solidFill>
            <a:srgbClr val="F2F6FC"/>
          </a:solidFill>
          <a:ln w="9525">
            <a:solidFill>
              <a:srgbClr val="D5DCEA"/>
            </a:solidFill>
            <a:prstDash val="solid"/>
          </a:ln>
        </p:spPr>
      </p:sp>
      <p:sp>
        <p:nvSpPr>
          <p:cNvPr id="27" name="Shape 24"/>
          <p:cNvSpPr/>
          <p:nvPr/>
        </p:nvSpPr>
        <p:spPr>
          <a:xfrm>
            <a:off x="6058814" y="1298448"/>
            <a:ext cx="402336" cy="402336"/>
          </a:xfrm>
          <a:prstGeom prst="ellipse">
            <a:avLst/>
          </a:prstGeom>
          <a:solidFill>
            <a:srgbClr val="2E5496"/>
          </a:solidFill>
          <a:ln w="12700">
            <a:solidFill>
              <a:srgbClr val="2E5496"/>
            </a:solidFill>
            <a:prstDash val="solid"/>
          </a:ln>
        </p:spPr>
      </p:sp>
      <p:sp>
        <p:nvSpPr>
          <p:cNvPr id="28" name="Text 25"/>
          <p:cNvSpPr/>
          <p:nvPr/>
        </p:nvSpPr>
        <p:spPr>
          <a:xfrm>
            <a:off x="6058814"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a:t>
            </a:r>
            <a:endParaRPr lang="en-US" sz="1300" dirty="0"/>
          </a:p>
        </p:txBody>
      </p:sp>
      <p:sp>
        <p:nvSpPr>
          <p:cNvPr id="29" name="Text 26"/>
          <p:cNvSpPr/>
          <p:nvPr/>
        </p:nvSpPr>
        <p:spPr>
          <a:xfrm>
            <a:off x="5594299"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Holy walk</a:t>
            </a:r>
            <a:endParaRPr lang="en-US" sz="1150" dirty="0"/>
          </a:p>
        </p:txBody>
      </p:sp>
      <p:sp>
        <p:nvSpPr>
          <p:cNvPr id="30" name="Text 27"/>
          <p:cNvSpPr/>
          <p:nvPr/>
        </p:nvSpPr>
        <p:spPr>
          <a:xfrm>
            <a:off x="5594299" y="2157984"/>
            <a:ext cx="1331366" cy="79552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“What kind of men we were among you”</a:t>
            </a:r>
            <a:endParaRPr lang="en-US" sz="1150" dirty="0"/>
          </a:p>
        </p:txBody>
      </p:sp>
      <p:sp>
        <p:nvSpPr>
          <p:cNvPr id="31" name="Text 28"/>
          <p:cNvSpPr/>
          <p:nvPr/>
        </p:nvSpPr>
        <p:spPr>
          <a:xfrm>
            <a:off x="5594299" y="295351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1:5d · 2 Tim 2:21</a:t>
            </a:r>
            <a:endParaRPr lang="en-US" sz="900" dirty="0"/>
          </a:p>
        </p:txBody>
      </p:sp>
      <p:sp>
        <p:nvSpPr>
          <p:cNvPr id="32" name="Shape 29"/>
          <p:cNvSpPr/>
          <p:nvPr/>
        </p:nvSpPr>
        <p:spPr>
          <a:xfrm>
            <a:off x="7003390" y="2144268"/>
            <a:ext cx="201168" cy="237744"/>
          </a:xfrm>
          <a:prstGeom prst="rightArrow">
            <a:avLst/>
          </a:prstGeom>
          <a:solidFill>
            <a:srgbClr val="6B7280"/>
          </a:solidFill>
          <a:ln w="12700">
            <a:solidFill>
              <a:srgbClr val="6B7280"/>
            </a:solidFill>
            <a:prstDash val="solid"/>
          </a:ln>
        </p:spPr>
      </p:sp>
      <p:sp>
        <p:nvSpPr>
          <p:cNvPr id="33" name="Shape 30"/>
          <p:cNvSpPr/>
          <p:nvPr/>
        </p:nvSpPr>
        <p:spPr>
          <a:xfrm>
            <a:off x="7209130" y="1188720"/>
            <a:ext cx="1477670" cy="2148840"/>
          </a:xfrm>
          <a:prstGeom prst="roundRect">
            <a:avLst>
              <a:gd name="adj" fmla="val 3713"/>
            </a:avLst>
          </a:prstGeom>
          <a:solidFill>
            <a:srgbClr val="1F3864"/>
          </a:solidFill>
          <a:ln w="9525">
            <a:solidFill>
              <a:srgbClr val="1F3864"/>
            </a:solidFill>
            <a:prstDash val="solid"/>
          </a:ln>
        </p:spPr>
      </p:sp>
      <p:sp>
        <p:nvSpPr>
          <p:cNvPr id="34" name="Shape 31"/>
          <p:cNvSpPr/>
          <p:nvPr/>
        </p:nvSpPr>
        <p:spPr>
          <a:xfrm>
            <a:off x="7746797" y="1298448"/>
            <a:ext cx="402336" cy="402336"/>
          </a:xfrm>
          <a:prstGeom prst="ellipse">
            <a:avLst/>
          </a:prstGeom>
          <a:solidFill>
            <a:srgbClr val="FFFFFF"/>
          </a:solidFill>
          <a:ln w="12700">
            <a:solidFill>
              <a:srgbClr val="FFFFFF"/>
            </a:solidFill>
            <a:prstDash val="solid"/>
          </a:ln>
        </p:spPr>
      </p:sp>
      <p:sp>
        <p:nvSpPr>
          <p:cNvPr id="35" name="Text 32"/>
          <p:cNvSpPr/>
          <p:nvPr/>
        </p:nvSpPr>
        <p:spPr>
          <a:xfrm>
            <a:off x="7746797"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E</a:t>
            </a:r>
            <a:endParaRPr lang="en-US" sz="1300" dirty="0"/>
          </a:p>
        </p:txBody>
      </p:sp>
      <p:sp>
        <p:nvSpPr>
          <p:cNvPr id="36" name="Text 33"/>
          <p:cNvSpPr/>
          <p:nvPr/>
        </p:nvSpPr>
        <p:spPr>
          <a:xfrm>
            <a:off x="7282282" y="1773936"/>
            <a:ext cx="1331366"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Holy people</a:t>
            </a:r>
            <a:endParaRPr lang="en-US" sz="1150" dirty="0"/>
          </a:p>
        </p:txBody>
      </p:sp>
      <p:sp>
        <p:nvSpPr>
          <p:cNvPr id="37" name="Text 34"/>
          <p:cNvSpPr/>
          <p:nvPr/>
        </p:nvSpPr>
        <p:spPr>
          <a:xfrm>
            <a:off x="7282282" y="2157984"/>
            <a:ext cx="1331366" cy="79552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Saints of God — a church that stands out</a:t>
            </a:r>
            <a:endParaRPr lang="en-US" sz="1150" dirty="0"/>
          </a:p>
        </p:txBody>
      </p:sp>
      <p:sp>
        <p:nvSpPr>
          <p:cNvPr id="38" name="Text 35"/>
          <p:cNvSpPr/>
          <p:nvPr/>
        </p:nvSpPr>
        <p:spPr>
          <a:xfrm>
            <a:off x="7282282" y="2953512"/>
            <a:ext cx="1331366"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the result</a:t>
            </a:r>
            <a:endParaRPr lang="en-US" sz="900" dirty="0"/>
          </a:p>
        </p:txBody>
      </p:sp>
      <p:sp>
        <p:nvSpPr>
          <p:cNvPr id="39" name="Shape 36"/>
          <p:cNvSpPr/>
          <p:nvPr/>
        </p:nvSpPr>
        <p:spPr>
          <a:xfrm>
            <a:off x="457200" y="3566160"/>
            <a:ext cx="8229600" cy="731520"/>
          </a:xfrm>
          <a:prstGeom prst="roundRect">
            <a:avLst>
              <a:gd name="adj" fmla="val 7500"/>
            </a:avLst>
          </a:prstGeom>
          <a:solidFill>
            <a:srgbClr val="1F3864"/>
          </a:solidFill>
          <a:ln w="12700">
            <a:solidFill>
              <a:srgbClr val="1F3864"/>
            </a:solidFill>
            <a:prstDash val="solid"/>
          </a:ln>
        </p:spPr>
      </p:sp>
      <p:sp>
        <p:nvSpPr>
          <p:cNvPr id="40" name="Text 37"/>
          <p:cNvSpPr/>
          <p:nvPr/>
        </p:nvSpPr>
        <p:spPr>
          <a:xfrm>
            <a:off x="621792" y="3566160"/>
            <a:ext cx="7900416" cy="73152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Holy Word + Holy Spirit + holy walk = holy people. We give people the gospel; the Holy Spirit does the rest.</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1:1–5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p:nvPr/>
        </p:nvSpPr>
        <p:spPr>
          <a:xfrm>
            <a:off x="566928" y="16367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3" name="Text 10"/>
          <p:cNvSpPr/>
          <p:nvPr/>
        </p:nvSpPr>
        <p:spPr>
          <a:xfrm>
            <a:off x="1005840" y="1591056"/>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Why does Paul NOT use the title “Apostle” here, as he does in Galatians and 1 Corinthians?</a:t>
            </a:r>
            <a:endParaRPr lang="en-US" sz="12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p:nvPr/>
        </p:nvSpPr>
        <p:spPr>
          <a:xfrm>
            <a:off x="566928" y="27249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6" name="Text 13"/>
          <p:cNvSpPr/>
          <p:nvPr/>
        </p:nvSpPr>
        <p:spPr>
          <a:xfrm>
            <a:off x="1005840" y="2679192"/>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How does “dynamis” (power) differ from ordinary human persuasion, and what role does the Holy Spirit play?</a:t>
            </a:r>
            <a:endParaRPr lang="en-US" sz="1250" dirty="0"/>
          </a:p>
        </p:txBody>
      </p:sp>
      <p:sp>
        <p:nvSpPr>
          <p:cNvPr id="17" name="Text 14"/>
          <p:cNvSpPr/>
          <p:nvPr/>
        </p:nvSpPr>
        <p:spPr>
          <a:xfrm>
            <a:off x="4791456" y="1591056"/>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Examine the Source of Your Activity</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Before any ministry this week, pray: “Lord, I am doing this because I trust You, love You, and am looking for You.”</a:t>
            </a:r>
            <a:endParaRPr lang="en-US" sz="1250" dirty="0"/>
          </a:p>
        </p:txBody>
      </p:sp>
      <p:sp>
        <p:nvSpPr>
          <p:cNvPr id="18" name="Text 15"/>
          <p:cNvSpPr/>
          <p:nvPr/>
        </p:nvSpPr>
        <p:spPr>
          <a:xfrm>
            <a:off x="4791456" y="2679192"/>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Build an Intercessory Prayer List</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Write out people in your church by name and pray through the list at least three times this week.</a:t>
            </a:r>
            <a:endParaRPr lang="en-US" sz="125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p:nvPr/>
        </p:nvSpPr>
        <p:spPr>
          <a:xfrm>
            <a:off x="621792" y="4023360"/>
            <a:ext cx="7900416" cy="566928"/>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In one line:  </a:t>
            </a:r>
            <a:pPr indent="0" marL="0">
              <a:buNone/>
            </a:pPr>
            <a:r>
              <a:rPr lang="en-US" sz="1200" dirty="0">
                <a:solidFill>
                  <a:srgbClr val="FFFFFF"/>
                </a:solidFill>
                <a:latin typeface="Arial" pitchFamily="34" charset="0"/>
                <a:ea typeface="Arial" pitchFamily="34" charset="-122"/>
                <a:cs typeface="Arial" pitchFamily="34" charset="-120"/>
              </a:rPr>
              <a:t>A church secure in God, busy from the right source, reached by a gospel that came in word, in power and in a holy life.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 Thessalonians Study 1 — An Introduction to the Thessalonian Church: Charts</dc:title>
  <dc:subject>PptxGenJS Presentation</dc:subject>
  <dc:creator>The Gospel Vault</dc:creator>
  <cp:lastModifiedBy>The Gospel Vault</cp:lastModifiedBy>
  <cp:revision>1</cp:revision>
  <dcterms:created xsi:type="dcterms:W3CDTF">2026-10-30T06:20:22Z</dcterms:created>
  <dcterms:modified xsi:type="dcterms:W3CDTF">2026-10-30T06:20:22Z</dcterms:modified>
</cp:coreProperties>
</file>