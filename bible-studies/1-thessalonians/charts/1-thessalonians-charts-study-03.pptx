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The study’s keynote is the college president’s charge to a 1967 gospel team: “Don’t get in God’s way.” The outline has two parts — Paul’s Dedication (2:1–2) and Paul’s Demeanor (2:3–12). Every chart stays within the commentary posted for this study; Greek words come from the study’s Greek Word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Use this map to show the group where this passage sits in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(Outline): The passage in one view. Paul appeals to what they saw — “as you know” appears four times (1:5; 2:2; 2:5; 2:11). He builds his case on their eyewitness memory, not on assertion. It had been only about six months since his visit.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(I.A, with κενός): The Thessalonians had seen itinerant philosophers come through like snake-oil salesmen — persuasive words, collect money, move on. Paul says: I was not like them, and you know it. His coming was not kenos. Then the key distinction: success belongs to God, failure belongs to man. Paul’s job was not to get people saved — that is the Holy Spirit’s work — but to carry the pure, undiluted gospel. If he did that, he succeeded.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(II.A.1a, with πλάνη, ἀκαθαρσία, δόλος): Paul denies all three. Error — the converts could check his message against the Old Testament, as the Bereans soon did; the gospel is verifiable. Uncleanness — pagan religion was saturated with immorality, even temple prostitution; the gospel is pure. Deceit — Paul set no traps and made no misleading promises. Each corrupts the message at a different point: content, character,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(II.A.1a, deceit): The commentary’s list. Some converts in Thessalonica lost jobs, found life harder, or saw a spouse leave. Don’t make promises the gospel doesn’t make; don’t withhold the promises it does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(II.A.1b and II.A.2, with δοκιμάζω and πιστεύω): Dokimazō is the metallurgist’s word — assaying metal in fire. Paul was tested and approved. Then the symmetry: the same verb, pisteuō, describes Paul trusting God for salvation and God trusting Paul with the gospel. The response is three words: “even so we speak.” And his integrity was undisturbed — not pleasing men, but God who tests the heart. Not filling halls with the impressed, but heaven with the 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(II.B.1–3): Refused: guile (flattery to manipulate implies the gospel isn’t good enough), gain (Romans 7 — the tenth commandment exposed his covetousness, yet he would not exploit the gospel), glory (he had an apostle’s rights and chose not to use them; Gal 6:14). Revealed: a nursing mother’s love — trophos, giving of her own substance — and his own life. Reserved: the right to minister without charge, working night and day; support came from Philippi, not Thessalonica.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(II.B.2, II.C–D, with τροφός, παρακαλοῦντες, μαρτυρόμενοι, ἀξίως): Both images are needed. The mother nourishes; the father trains and challenges. Exhorted — the Paraclete word: called alongside. Comforted — an arm around the shoulder. Charged — testifying (root of “martyr”): letting what you have suffered and seen speak alongside Scripture. Between them stands verse 10: devoutly, justly, blamelessly — and Paul calls two witnesses, them and God. The goal: walk worthy — axiōs, a balance scale — correspondence with the calling, not payment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(from the posted Study Questions and Application sections): Q1: Paul denies three things in verse 3 — error, uncleanness and deceit. What specific danger does each one represent for a gospel messenger today? — Leader answer: Error is unverified or unbiblical content; uncleanness is a lifestyle that contradicts the message; deceit is manipulating or overselling the gospel’s benefits. Each corrupts the message at a different point — content, character, or method.  Q2: Paul uses a nursing mother (v.7) and a father (v.11). What is distinctive about each image, and what would a ministry shaped by both look like in your group? — Leader answer: The mother (trophos) nourishes, comforts and gives of her own substance; the father exhorts, encourages and charges toward maturity. A balanced ministry holds both — tenderness that nurtures and challenge that calls believers to walk worthy.  Applications: Refuse the Three G’s — Find one place this week where you’d seek recognition for a spiritual contribution — and deliberately step back.  Impart Not Just the Gospel, But Your Life — Schedule one meal, coffee or visit this month with someone who isn’t yet a believer — simply to be present.  Close by reading the summary line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· Study 3 of 10 · 1 Thessalonians 2:1–12 · The Gospel Vault · NKJV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4008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· Study 3 of 10 · 1 Thessalonians 2:1–12 · The Gospel Vault · NKJV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· Study 3 of 10 · 1 Thessalonians 2:1–12 · Leader charts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the Gospel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is not writing autobiography; he is defending his ministry — and in doing so paints a master class in delivering the gospel faithfully. Are you carrying the gospel, or getting in its way?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Dr. C. Norman Sellers, ThD · SellersBibleInstitute.com · used by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study fits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· ten studies · this study highlighted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1:1–5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Introduction to the Thessalonian Church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30552" y="1188720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0280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1:6–10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Many Faces of the Gospel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03904" y="1188720"/>
            <a:ext cx="1536192" cy="13716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13632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2:1–12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the Gospel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77256" y="1188720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86984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2:13–20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Successful Life of Service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150608" y="1188720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0336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3:1–13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Facing Tribulation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4:1–12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Life That Pleases God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130552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40280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4:13–18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Rapture of the Church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803904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13632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5:1–11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Coming of the Lord: A Purifying Hope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77256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86984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5:12–22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Coming of the Lord: Exhortations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150608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60336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5:23–28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’Til We Meet Again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224528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" y="4224528"/>
            <a:ext cx="7900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“Finally” (4:1) marks the hinge: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1–3 lay the foundation; chapters 4–5 turn that theology into life.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the gospel, verse by verse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2:1–12 · Outline I–II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777240" cy="45720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1155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234440" y="1115568"/>
            <a:ext cx="7452360" cy="4572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44168" y="11155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coming — not in vain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806440" y="11155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κενός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— a wasted trip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777240" cy="45720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62763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34440" y="1627632"/>
            <a:ext cx="7452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44168" y="16276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circumstance — beaten at Philippi, bold at Thessalonica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806440" y="16276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παρρησιάζομαι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 boldly, in the open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139696"/>
            <a:ext cx="777240" cy="45720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13969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vv.3–4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34440" y="2139696"/>
            <a:ext cx="7452360" cy="4572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44168" y="21396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assertions — no error, uncleanness or deceit; approved and entrusted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806440" y="21396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δοκιμάζω · πιστεύω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· entrusted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777240" cy="45720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6517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vv.5–6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234440" y="2651760"/>
            <a:ext cx="7452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44168" y="2651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he refused — guile, gain and glory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80644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witness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163824"/>
            <a:ext cx="777240" cy="45720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316382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vv.7–9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234440" y="3163824"/>
            <a:ext cx="7452360" cy="4572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44168" y="31638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he revealed and reserved — a mother’s love; working night and day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806440" y="31638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τροφός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nursing mother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675888"/>
            <a:ext cx="777240" cy="45720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367588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v.10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234440" y="3675888"/>
            <a:ext cx="7452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44168" y="3675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attitude — devoutly, justly, blamelessly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806440" y="36758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ὁσίως · δικαίως · ἀμέμπτως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life that matched the message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57200" y="4187952"/>
            <a:ext cx="777240" cy="4572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418795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vv.11–12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234440" y="4187952"/>
            <a:ext cx="7452360" cy="4572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344168" y="4187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apprehensions — a father’s charge: walk worthy of God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5806440" y="41879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ἀξίως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equal weight — a balance scale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success and failure belong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2:1 · I.A — Paul’s coming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belongs to God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3931920" cy="18288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27632"/>
            <a:ext cx="37490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fruit is God’s doing — He gets the credit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gospel carries its own power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messenger cannot manufacture conversion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belongs to man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3931920" cy="18288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627632"/>
            <a:ext cx="37490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messenger — if he failed in content or conviction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hearers — if they failed in faith or follow-up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 a faithful messenger whose hearers refuse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3891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611880"/>
            <a:ext cx="7900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I go out and witness to ten people and nine reject it, I was not a failure nine times. If I presented the gospel faithfully and didn’t get in God’s way, I am not a failure at all.”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corrupt the message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2:3 · II.A.1a — The truth shown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2128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243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from error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πλάνη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planē · G4106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2621280" cy="208483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828800"/>
            <a:ext cx="243840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drifting, untethered teaching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against Scripture — and found true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gospel is verifiable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61360" y="1188720"/>
            <a:ext cx="262128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52800" y="1234440"/>
            <a:ext cx="243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 uncleanness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ἀκαθαρσία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akatharsia · G167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61360" y="1755648"/>
            <a:ext cx="2621280" cy="208483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52800" y="1828800"/>
            <a:ext cx="243840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Pagan worship was saturated with immorality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Paul’s ministry had none of it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gospel is pure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65520" y="1188720"/>
            <a:ext cx="262128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6960" y="1234440"/>
            <a:ext cx="243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 deceit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δόλος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dolos · G1388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1755648"/>
            <a:ext cx="2621280" cy="208483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6960" y="1828800"/>
            <a:ext cx="243840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traps, no bait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hidden behind an attractive presentation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misleading promises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402336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Content, character, method — a messenger can corrupt the gospel at any of the three.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gospel promises — and what it doesn’t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2:3 · Free from deceit (misleading promises)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Off the table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3931920" cy="19659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27632"/>
            <a:ext cx="374904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will be more prosperous.” — you might get fired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will be happier.” — some lives got harder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“Your marriage will be better.” — some spouses left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What Paul offered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3931920" cy="19659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627632"/>
            <a:ext cx="374904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have eternal life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sins will be forgiven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 relationship with the God of the universe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home in heaven — a place prepared for you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389120" y="2171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7490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749040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make promises the gospel doesn’t make. Don’t withhold the promises it does make.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Approved, entrusted — so we speak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2:4 · II.A.1b–2 — The truth spoken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99666" cy="210312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5865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05865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2157984"/>
            <a:ext cx="17533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Assayed in the fire and found genuine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0352" y="290779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δοκιμάζω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61438" y="212140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7178" y="1188720"/>
            <a:ext cx="1899666" cy="210312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5843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5843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40330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Entrusted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640330" y="2157984"/>
            <a:ext cx="17533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trusted God; God trusted Paul with the gospel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640330" y="290779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πιστεύω — same verb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471416" y="212140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77156" y="1188720"/>
            <a:ext cx="1899666" cy="210312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25821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25821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0308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50308" y="2157984"/>
            <a:ext cx="17533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“Even so we speak” — three words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750308" y="290779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Cor 5:20 — ambassadors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581394" y="212140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87134" y="1188720"/>
            <a:ext cx="1899666" cy="2103120"/>
          </a:xfrm>
          <a:prstGeom prst="roundRect">
            <a:avLst>
              <a:gd name="adj" fmla="val 2888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35799" y="129844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35799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60286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Undisturbed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860286" y="2157984"/>
            <a:ext cx="17533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pleasing men, but God who tests our hearts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860286" y="290779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v.4c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" y="3474720"/>
            <a:ext cx="7900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has believed in you enough to put His gospel in your hands. The Great Commission is not a clergy assignment; it is a whole-church commission.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Paul refused, revealed and reserved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2:5–9 · II.B — Paul’s actions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15184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32588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5568" y="132588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guile · v.5a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828800"/>
            <a:ext cx="23591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Flattery to manipulate implies the gospel isn’t good enough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64408" y="1188720"/>
            <a:ext cx="2615184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01568" y="132588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01568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22776" y="132588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gain · v.5b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01568" y="1828800"/>
            <a:ext cx="23591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cloak for covetousness — “God is witness”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71616" y="1188720"/>
            <a:ext cx="2615184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08776" y="132588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08776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729984" y="132588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glory · v.6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1828800"/>
            <a:ext cx="23591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had an apostle’s rights — and chose not to use them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2926080"/>
            <a:ext cx="2615184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3063240"/>
            <a:ext cx="420624" cy="420624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5568" y="306324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mother’s love · v.7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4360" y="3566160"/>
            <a:ext cx="23591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τροφός — a nursing mother gives of her own substance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64408" y="2926080"/>
            <a:ext cx="2615184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01568" y="3063240"/>
            <a:ext cx="420624" cy="420624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922776" y="306324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own life · v.8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401568" y="3566160"/>
            <a:ext cx="23591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hands-on job but an arms-around job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071616" y="2926080"/>
            <a:ext cx="2615184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08776" y="3063240"/>
            <a:ext cx="420624" cy="42062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08776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729984" y="306324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and day · v.9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208776" y="3566160"/>
            <a:ext cx="23591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worked so as not to burden them — no one could say he preached for profit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mother and a father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2:7–12 · II.B.2 and II.D — Two pictures of ministry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49936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231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nursing mother · vv.7–8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τροφός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trophos · G5162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2499360" cy="19476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828800"/>
            <a:ext cx="231648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Holds, feeds, warms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of her own substance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Imparts the gospel and her own life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020568" y="2327148"/>
            <a:ext cx="237744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22320" y="1188720"/>
            <a:ext cx="249936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3760" y="1234440"/>
            <a:ext cx="231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two witnesses · v.10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22320" y="1755648"/>
            <a:ext cx="2499360" cy="19476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0" y="1828800"/>
            <a:ext cx="231648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Devoutly — ὁσίως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Justly — δικαίως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Blamelessly — ἀμέμπτως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are witnesses, and God also”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85688" y="2327148"/>
            <a:ext cx="237744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87440" y="1188720"/>
            <a:ext cx="249936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8880" y="1234440"/>
            <a:ext cx="231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father · vv.11–12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παρακαλοῦντες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exhorting · G3870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87440" y="1755648"/>
            <a:ext cx="2499360" cy="19476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78880" y="1828800"/>
            <a:ext cx="231648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Exhorted — called alongside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Comforted — arm around the shoulder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 — testified (μαρτυρόμενοι)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3886200"/>
            <a:ext cx="7900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· v.12: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“that you would walk worthy (ἀξίως) of God who calls you” — a life that carries the same weight as the calling.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apply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2:1–12 · from the study's posted questions and applications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7316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636776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1591056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denies three things in verse 3 — error, uncleanness and deceit. What specific danger does each one represent for a gospel messenger today?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2679192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uses a nursing mother (v.7) and a father (v.11). What is distinctive about each image, and what would a ministry shaped by both look like in your group?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91456" y="1591056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the Three G’s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one place this week where you’d seek recognition for a spiritual contribution — and deliberately step back.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791456" y="2679192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Impart Not Just the Gospel, But Your Life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one meal, coffee or visit this month with someone who isn’t yet a believer — simply to be present.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4023360"/>
            <a:ext cx="7900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the gospel — don’t dilute it, don’t exploit it, don’t perform it. Just deliver it, and don’t get in God’s way.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Thessalonians Study 3 — Delivering the Gospel: Charts</dc:title>
  <dc:subject>PptxGenJS Presentation</dc:subject>
  <dc:creator>The Gospel Vault</dc:creator>
  <cp:lastModifiedBy>The Gospel Vault</cp:lastModifiedBy>
  <cp:revision>1</cp:revision>
  <dcterms:created xsi:type="dcterms:W3CDTF">2026-10-30T06:20:22Z</dcterms:created>
  <dcterms:modified xsi:type="dcterms:W3CDTF">2026-10-30T06:20:22Z</dcterms:modified>
</cp:coreProperties>
</file>