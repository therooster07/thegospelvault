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Some believers had died since Paul left, and the church feared they would miss the Rapture. The commentary first sets the theological setting (the two testaments; Israel and the Church), then walks through the scriptural statement — a preview (vv.13–14), a promise (v.15) and a picture (vv.16–18).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The two testaments and the people of each. Israel’s promises are physical — a land, a kingdom on this earth, a literal 1,000-year reign of Christ. The Church runs from Pentecost to the Rapture, under the New Covenant (Heb 7–10), with spiritual promises. The Church is a mystery — not something puzzling, but something previously unrevealed: “Christ in you, the hope of glory” (Col 1:26), Jew and Gentile in one body (Eph 3:4–9), hidden in God (Eph 3:9), not in the Old Testament.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The practical implication: there was no church on earth before Acts 2, and there will be no church on earth after the Rapture. People in the Tribulation period are not the church. Even the Rapture is a mystery: “we shall not all sleep, but we shall all be changed” (1 Cor 15:51).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with κοιμάω, ἐλπίς, ἄγω): “Sleep” here always means the physical death of a believer (cf. John 11:11–13). Believers grieve — but not as those with no hope. The body sleeps; the soul is with the Lord (2 Cor 5:8; Phil 1:23). Verse 14 says God brings them with Jesus — coming down; verse 16 says the dead rise first — going up. The only answer: souls come down with the Lord; bodies rise to be reunited with them. And “if” in v.14 is a first-class condition — read it “since we believe that Jesus died and rose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Passage Summary): The passage in one view. On verse 15, the revelation came by the word of the Lord — probably directly to Paul — and the answer to the church’s fear is emphatic: the living will by no means precede the dead. On verse 17, Paul says “we” — he expected he might be alive; nothing has to happen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 with κέλευσμα, ἀρχάγγελος, σάλπιγξ): Keleusma appears only here in the New Testament. Outside it, it is the hunter calling his hounds, the shipmaster his rowers — a shouted order to a specific audience. Here: the Son to the dead in Christ. Lazarus heard a command like it, but Jesus used his name — or He would have emptied every grave. At the Rapture there is no name: every believer who has died, come forth. Scripture names one archangel, Michael (Jude 9; Rev 12:7). All three sound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(II.C.3, with παρακαλέω): “Therefore comfort one another with these words.” Use the doctrine for its intended purpose — not to scare, but to encourage. When someone says things are not going well, one of the most encouraging things you can offer is this: the Lord is coming. The commentary closes with John Phillips’ five characteristics that make this truth suited for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14 says God will bring with Him those who sleep in Jesus; verse 16 says the dead in Christ rise first. How can both be true — and what does it teach about body and soul at death? — Leader answer: The souls of dead believers are with the Lord and come down with Him, while their bodies rise to be reunited with those souls, presumably in the air. The body sleeps; the soul does not. Death separates body and soul temporarily; the Rapture reunites them permanently.  Q2: Paul expected to be alive at the Rapture (“we who are alive”). What is the practical effect of living with that expectation — and how does it differ from speculating about dates? — Leader answer: Expectation without date-setting keeps believers alert and hopeful without preoccupation with calculation. Every generation is meant to hold the same expectancy, since nothing must occur first. The effect is readiness and comfort, not anxiety.  Applications: Hold the Blessed Hope — Begin each morning this week with one sentence: “The Lord may come today.” Notice what it changes.  Comfort One Another — Reach out to one grieving or discouraged person with a verse from this passage and a personal word.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7 of 10 · 1 Thessalonians 4:13–18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7 of 10 · 1 Thessalonians 4:13–18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7 of 10 · 1 Thessalonians 4:13–18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Rapture of the Church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Grief with hope — Christ descends, the dead in Christ rise first, and the church is caught up together. People looking for the undertaker ought to be looking for the upper-taker.</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1F3864"/>
          </a:solidFill>
          <a:ln w="9525">
            <a:solidFill>
              <a:srgbClr val="1F3864"/>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07  </a:t>
            </a:r>
            <a:pPr indent="0" marL="0">
              <a:buNone/>
            </a:pPr>
            <a:r>
              <a:rPr lang="en-US" sz="1050" b="1" dirty="0">
                <a:solidFill>
                  <a:srgbClr val="C9D5EE"/>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Israel and the Church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I.A–B · The theological setting</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Israel — the Old Testament</a:t>
            </a:r>
            <a:endParaRPr lang="en-US" sz="1200" dirty="0"/>
          </a:p>
        </p:txBody>
      </p:sp>
      <p:sp>
        <p:nvSpPr>
          <p:cNvPr id="7" name="Shape 4"/>
          <p:cNvSpPr/>
          <p:nvPr/>
        </p:nvSpPr>
        <p:spPr>
          <a:xfrm>
            <a:off x="457200" y="1554480"/>
            <a:ext cx="3931920" cy="1965960"/>
          </a:xfrm>
          <a:prstGeom prst="rect">
            <a:avLst/>
          </a:prstGeom>
          <a:solidFill>
            <a:srgbClr val="F2F6FC"/>
          </a:solidFill>
          <a:ln w="9525">
            <a:solidFill>
              <a:srgbClr val="D5DCEA"/>
            </a:solidFill>
            <a:prstDash val="solid"/>
          </a:ln>
        </p:spPr>
      </p:sp>
      <p:sp>
        <p:nvSpPr>
          <p:cNvPr id="8" name="Text 5"/>
          <p:cNvSpPr/>
          <p:nvPr/>
        </p:nvSpPr>
        <p:spPr>
          <a:xfrm>
            <a:off x="54864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the call of Abraham (Gen 12)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Old Covenant — the Law</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Physical promises: a land, a kingdom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literal 1,000-year reign of Christ</a:t>
            </a:r>
            <a:endParaRPr lang="en-US" sz="1250" dirty="0"/>
          </a:p>
        </p:txBody>
      </p:sp>
      <p:sp>
        <p:nvSpPr>
          <p:cNvPr id="9" name="Shape 6"/>
          <p:cNvSpPr/>
          <p:nvPr/>
        </p:nvSpPr>
        <p:spPr>
          <a:xfrm>
            <a:off x="4754880" y="1188720"/>
            <a:ext cx="3931920" cy="365760"/>
          </a:xfrm>
          <a:prstGeom prst="rect">
            <a:avLst/>
          </a:prstGeom>
          <a:solidFill>
            <a:srgbClr val="2E5496"/>
          </a:solidFill>
          <a:ln w="12700">
            <a:solidFill>
              <a:srgbClr val="2E5496"/>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Church — a mystery</a:t>
            </a:r>
            <a:endParaRPr lang="en-US" sz="1200" dirty="0"/>
          </a:p>
        </p:txBody>
      </p:sp>
      <p:sp>
        <p:nvSpPr>
          <p:cNvPr id="11" name="Shape 8"/>
          <p:cNvSpPr/>
          <p:nvPr/>
        </p:nvSpPr>
        <p:spPr>
          <a:xfrm>
            <a:off x="4754880" y="1554480"/>
            <a:ext cx="3931920" cy="196596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Pentecost to the Rapture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New Covenant (Heb 7–10)</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Spiritual promises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in you, the hope of glory” (Col 1:26)</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Israel is not — in any way — the Church. The Church is not — in any way — Israel. The Church was hidden in God (Eph 3:9), not in the Old Testament.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 on the timeline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I.B · Pentecost to the Rapture</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Israel</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Abraham, the twelve tribes, the Law</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Gen 12 — Malachi</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Pentecost</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Church begins — the Spirit in believers</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2</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Church Age</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Jew and Gentile in one body</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Eph 3:4–9</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Rapture</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all be changed”</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Cor 15:51 · 1 Thess 4:17</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Tribulation</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Those on earth then are not the church</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no church on earth</a:t>
            </a:r>
            <a:endParaRPr lang="en-US" sz="900" dirty="0"/>
          </a:p>
        </p:txBody>
      </p:sp>
      <p:sp>
        <p:nvSpPr>
          <p:cNvPr id="39" name="Shape 36"/>
          <p:cNvSpPr/>
          <p:nvPr/>
        </p:nvSpPr>
        <p:spPr>
          <a:xfrm>
            <a:off x="457200" y="3520440"/>
            <a:ext cx="8229600" cy="822960"/>
          </a:xfrm>
          <a:prstGeom prst="roundRect">
            <a:avLst>
              <a:gd name="adj" fmla="val 6667"/>
            </a:avLst>
          </a:prstGeom>
          <a:solidFill>
            <a:srgbClr val="1F3864"/>
          </a:solidFill>
          <a:ln w="12700">
            <a:solidFill>
              <a:srgbClr val="1F3864"/>
            </a:solidFill>
            <a:prstDash val="solid"/>
          </a:ln>
        </p:spPr>
      </p:sp>
      <p:sp>
        <p:nvSpPr>
          <p:cNvPr id="40" name="Text 37"/>
          <p:cNvSpPr/>
          <p:nvPr/>
        </p:nvSpPr>
        <p:spPr>
          <a:xfrm>
            <a:off x="621792" y="35204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There was no church on earth before Acts 2 at Pentecost. And there will be no church on earth after the Rapture. It is a unique entity in the plan of God.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are the believers who have died?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4:13–14 · II.A — A preview</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body sleeps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κοιμάω</a:t>
            </a:r>
            <a:pPr indent="0" marL="0">
              <a:buNone/>
            </a:pPr>
            <a:r>
              <a:rPr lang="en-US" sz="850" dirty="0">
                <a:solidFill>
                  <a:srgbClr val="DCE4F2"/>
                </a:solidFill>
                <a:latin typeface="Arial" pitchFamily="34" charset="0"/>
                <a:ea typeface="Arial" pitchFamily="34" charset="-122"/>
                <a:cs typeface="Arial" pitchFamily="34" charset="-120"/>
              </a:rPr>
              <a:t>  to sleep · G2837</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 the grave, an urn, the ocean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Sleep ends with waking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dead in Christ will rise first” (v.16)</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soul is with the Lord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ἄγω</a:t>
            </a:r>
            <a:pPr indent="0" marL="0">
              <a:buNone/>
            </a:pPr>
            <a:r>
              <a:rPr lang="en-US" sz="850" dirty="0">
                <a:solidFill>
                  <a:srgbClr val="DCE4F2"/>
                </a:solidFill>
                <a:latin typeface="Arial" pitchFamily="34" charset="0"/>
                <a:ea typeface="Arial" pitchFamily="34" charset="-122"/>
                <a:cs typeface="Arial" pitchFamily="34" charset="-120"/>
              </a:rPr>
              <a:t>  will bring · G71</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Absent from the body, present with the Lord (2 Cor 5:8)</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“Far better” (Phil 1:23)</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Comes down with Him (v.14)</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“Since we believe that Jesus died and rose again”  </a:t>
            </a:r>
            <a:pPr indent="0" marL="0">
              <a:buNone/>
            </a:pPr>
            <a:r>
              <a:rPr lang="en-US" sz="1200" dirty="0">
                <a:solidFill>
                  <a:srgbClr val="FFFFFF"/>
                </a:solidFill>
                <a:latin typeface="Arial" pitchFamily="34" charset="0"/>
                <a:ea typeface="Arial" pitchFamily="34" charset="-122"/>
                <a:cs typeface="Arial" pitchFamily="34" charset="-120"/>
              </a:rPr>
              <a:t>— a first-class condition. If He rose, they rise. We sorrow, but not as others who have no hope (ἐλπίς).</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Rapture,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4:13–18 · II.A–C — Preview, promise, picture</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v.13</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p:nvPr/>
        </p:nvSpPr>
        <p:spPr>
          <a:xfrm>
            <a:off x="1344168" y="111556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Don’t be uninformed; don’t grieve as those without hope</a:t>
            </a:r>
            <a:endParaRPr lang="en-US" sz="1150" dirty="0"/>
          </a:p>
        </p:txBody>
      </p:sp>
      <p:sp>
        <p:nvSpPr>
          <p:cNvPr id="9" name="Text 6"/>
          <p:cNvSpPr/>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κοιμάω · ἐλπίς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asleep, not lost</a:t>
            </a:r>
            <a:endParaRPr lang="en-US" sz="13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v.14</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p:nvPr/>
        </p:nvSpPr>
        <p:spPr>
          <a:xfrm>
            <a:off x="1344168" y="162763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Since Jesus died and rose, God will bring them with Him</a:t>
            </a:r>
            <a:endParaRPr lang="en-US" sz="1150" dirty="0"/>
          </a:p>
        </p:txBody>
      </p:sp>
      <p:sp>
        <p:nvSpPr>
          <p:cNvPr id="14" name="Text 11"/>
          <p:cNvSpPr/>
          <p:nvPr/>
        </p:nvSpPr>
        <p:spPr>
          <a:xfrm>
            <a:off x="5806440" y="162763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ἄγω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will bring — purposeful motion</a:t>
            </a:r>
            <a:endParaRPr lang="en-US" sz="13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v.15</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p:nvPr/>
        </p:nvSpPr>
        <p:spPr>
          <a:xfrm>
            <a:off x="1344168" y="2139696"/>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By the word of the Lord: the living will not precede the dead</a:t>
            </a:r>
            <a:endParaRPr lang="en-US" sz="1150" dirty="0"/>
          </a:p>
        </p:txBody>
      </p:sp>
      <p:sp>
        <p:nvSpPr>
          <p:cNvPr id="19" name="Text 16"/>
          <p:cNvSpPr/>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φθάνω · παρουσία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no believer gets there first</a:t>
            </a:r>
            <a:endParaRPr lang="en-US" sz="13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p:nvPr/>
        </p:nvSpPr>
        <p:spPr>
          <a:xfrm>
            <a:off x="1344168" y="2651760"/>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Lord Himself descends — shout, archangel, trumpet</a:t>
            </a:r>
            <a:endParaRPr lang="en-US" sz="1150" dirty="0"/>
          </a:p>
        </p:txBody>
      </p:sp>
      <p:sp>
        <p:nvSpPr>
          <p:cNvPr id="24" name="Text 21"/>
          <p:cNvSpPr/>
          <p:nvPr/>
        </p:nvSpPr>
        <p:spPr>
          <a:xfrm>
            <a:off x="5806440" y="2651760"/>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κέλευσμα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commanding shout</a:t>
            </a:r>
            <a:endParaRPr lang="en-US" sz="13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v.16b</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p:nvPr/>
        </p:nvSpPr>
        <p:spPr>
          <a:xfrm>
            <a:off x="1344168" y="3163824"/>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dead in Christ will rise first</a:t>
            </a:r>
            <a:endParaRPr lang="en-US" sz="1150" dirty="0"/>
          </a:p>
        </p:txBody>
      </p:sp>
      <p:sp>
        <p:nvSpPr>
          <p:cNvPr id="29" name="Text 26"/>
          <p:cNvSpPr/>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they are going ahead</a:t>
            </a:r>
            <a:endParaRPr lang="en-US" sz="13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v.17</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p:nvPr/>
        </p:nvSpPr>
        <p:spPr>
          <a:xfrm>
            <a:off x="1344168" y="367588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Caught up together to meet the Lord in the air</a:t>
            </a:r>
            <a:endParaRPr lang="en-US" sz="1150" dirty="0"/>
          </a:p>
        </p:txBody>
      </p:sp>
      <p:sp>
        <p:nvSpPr>
          <p:cNvPr id="34" name="Text 31"/>
          <p:cNvSpPr/>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ἁρπάζω · ἀπάντησις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sudden taking · to meet</a:t>
            </a:r>
            <a:endParaRPr lang="en-US" sz="13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v.18</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p:nvPr/>
        </p:nvSpPr>
        <p:spPr>
          <a:xfrm>
            <a:off x="1344168" y="418795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Therefore comfort one another with these words</a:t>
            </a:r>
            <a:endParaRPr lang="en-US" sz="1150" dirty="0"/>
          </a:p>
        </p:txBody>
      </p:sp>
      <p:sp>
        <p:nvSpPr>
          <p:cNvPr id="39" name="Text 36"/>
          <p:cNvSpPr/>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παρακαλέω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doctrine’s purpose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sounds at one moment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4:16 · II.C.1 — The resurrection</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shout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κέλευσμα</a:t>
            </a:r>
            <a:pPr indent="0" marL="0">
              <a:buNone/>
            </a:pPr>
            <a:r>
              <a:rPr lang="en-US" sz="850" dirty="0">
                <a:solidFill>
                  <a:srgbClr val="DCE4F2"/>
                </a:solidFill>
                <a:latin typeface="Arial" pitchFamily="34" charset="0"/>
                <a:ea typeface="Arial" pitchFamily="34" charset="-122"/>
                <a:cs typeface="Arial" pitchFamily="34" charset="-120"/>
              </a:rPr>
              <a:t>  keleusma · G2752</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Only here in the 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shouted order: hunter to hounds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Lazarus was called by name — this shout has none</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archangel’s voice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ἀρχάγγελος</a:t>
            </a:r>
            <a:pPr indent="0" marL="0">
              <a:buNone/>
            </a:pPr>
            <a:r>
              <a:rPr lang="en-US" sz="850" dirty="0">
                <a:solidFill>
                  <a:srgbClr val="DCE4F2"/>
                </a:solidFill>
                <a:latin typeface="Arial" pitchFamily="34" charset="0"/>
                <a:ea typeface="Arial" pitchFamily="34" charset="-122"/>
                <a:cs typeface="Arial" pitchFamily="34" charset="-120"/>
              </a:rPr>
              <a:t>  archangelos · G743</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Ruler of angels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Scripture names one: Michael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Jude 9; Rev 12:7</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trumpet of God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σάλπιγξ</a:t>
            </a:r>
            <a:pPr indent="0" marL="0">
              <a:buNone/>
            </a:pPr>
            <a:r>
              <a:rPr lang="en-US" sz="850" dirty="0">
                <a:solidFill>
                  <a:srgbClr val="DCE4F2"/>
                </a:solidFill>
                <a:latin typeface="Arial" pitchFamily="34" charset="0"/>
                <a:ea typeface="Arial" pitchFamily="34" charset="-122"/>
                <a:cs typeface="Arial" pitchFamily="34" charset="-120"/>
              </a:rPr>
              <a:t>  salpinx · G4536</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summons, an assembly, a King’s arrival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All three converge here</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“Come forth” — addressed to every believer who has ever died. The dead in Christ will rise first.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marks of a comforting truth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4:18 · II.C.3 — The reassurance (John Phillips)</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Positive truth</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“Shall” — not a possibility; a certainty</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Personal truth</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We, us, I, you — addressed to individuals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Pivotal truth</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“But” (v.13) marks a turn: don’t be ignorant</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Progressive truth</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“For” links each verse to the next</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Practical truth</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“Therefore” — applied at once</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παρακαλέω · v.18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“Comfort one another” — the Spirit’s own ministry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4:13–18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14 says God will bring with Him those who sleep in Jesus; verse 16 says the dead in Christ rise first. How can both be true — and what does it teach about body and soul at death?</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expected to be alive at the Rapture (“we who are alive”). What is the practical effect of living with that expectation — and how does it differ from speculating about dates?</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Hold the Blessed Hope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Begin each morning this week with one sentence: “The Lord may come today.” Notice what it changes.</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Comfort One Another</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Reach out to one grieving or discouraged person with a verse from this passage and a personal word.</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dead in Christ are not lost — they rise first, we are caught up together, and we will always be with the Lord.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7 — The Rapture of the Church: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