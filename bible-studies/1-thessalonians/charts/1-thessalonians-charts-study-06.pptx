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title slide carries the study’s proposition. “Everyone everywhere seeks to please someone” — this passage tells how to please God. The outline: Our Potential (4:1–2), Our Purity (4:3–8), Our Progress (4:9–10), Our Purpose (4:11–12). Every chart stays within the commentary posted for this study; Greek words come from the study’s Greek Word Study. This study’s posted questions carry no leader answer boxes, so the closing slide’s notes point to the commentary sections that answer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(Proposition and Outline): “Finally” (loipon) does not mean the letter is ending — Paul uses it the same way in Philippians 3:1 with two chapters still to come. It marks the last major section, where the theology of chapters 1–3 turns into life. The Christian life is not a list of prohibitions — the Dean-of-Students story: “Just write down what you want us to do.” No. God tried that in Exodus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with Λοιπὸν, παρακαλοῦμεν, περισσεύητε): Parakalō is begging — the man on the Athens subway with his begging license: “Parakalō, parakalō!” Paul isn’t ordering compliance; he’s imploring the heart. Perisseuō pictures a river breaching its banks: not minimal obedience, overflow. The exhortation bears repeating — old truths practiced over and over form a life (“How do you get to Carnegie Hall? Practice”). Paul had received these truths from the Lord, likely in the three years in Arabia (Gal 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 with ἁγιασμός and πορνεία): “This is the will of God, your sanctification.” Note the direction: separated to God from the world — if we are separated to God, the separation from the world takes care of itself. The commentary’s three phases; Paul is addressing the third, the ongoing process, and part of that process is abstaining from porneia — a broad term for all sexual sin outside marriage. Being lawful by human law does not make something lawful by God’s law (Acts 4–5: obey God or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with σκεῦος, ὑπερβαίνειν, πλεονεκτεῖν, ἔκδικος): Against the Father — His will is your sanctification; learn to control your own vessel (the body, in this context); don’t make pagans your model. Against the Son — hyperbainein, overstepping the boundary: the commentary’s picture is a fence around the marriage marked “No Trespassing Out.” Pleonektein — defrauding, taking what belongs to another, even a future spouse. The Lord Jesus is the avenger. Against the Spirit — rejecting this is rejecting God, who has given us His Spirit; He has already given the ability to obey.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(II.C.1): God sees us either in Adam or in Christ — the only two positions. Uncleanness is what we inherit by natural birth; holiness, by the new birth. The logic is simple: you are called by a holy God, therefore be holy (1 Pet 1:15). The Spirit is no longer only with us (OT) but in us (John 14:17; 1 Cor 6:19–20).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with φιλαδελφία and θεοδίδακτοι): Some things are taught by men from the Word; love is taught by God Himself — not by lecture but by demonstration (Rom 5:8; John 3:16). When we fail to love, we can’t blame God: He taught us, showed us, and gave the capacity. Paul isn’t correcting here — he’s commending. They already love the brethren across all Macedonia. But brotherly love can always grow: you love well — do it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(IV.A–B, with ἡσυχάζειν): A quiet life is not silent — it is the opposite of frantic; don’t “beat the air” (1 Cor 9:26). Mind your own business and work with your own hands — Paul’s own model of self-support, and the Jewish wisdom of learning a trade. Some may have reasoned: Jesus is coming, maybe tomorrow, so why work? “He may come today. But just in case, keep your job.” Walk properly toward outsiders — the furniture-truck neighbor story. The result: lack nothing — a principle, not a prosperity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Paul opens with parakalō (urge/beg) rather than a command. What does that tone of pleading tell us about the nature of the Christian life? — Leader pointer: Commentary I.A.1: parakalō is begging (the Athens subway story). The Christian life is not a set of rules to be obeyed but the outworking of a loving desire to please God — Paul implores the heart rather than ordering compliance.  Q2: Paul says the Thessalonians are “taught by God” to love (theodidaktoi, v.9). How does God teach love — and what does that mean for what we expect of ourselves? — Leader pointer: Commentary III.A: God teaches by demonstration — Romans 5:8 and John 3:16. Love is innate for a believer, planted at the new birth; when we fail, we cannot blame God. He taught us, showed us, and gave us the capacity — so we can always increase more and more.  Applications: Live to Please God, Not the Crowd — Name one choice you make mainly to please someone else; ask what it looks like with God as the audience.  Love Is Taught by God — Then Practiced — Do one concrete, personal, unpublicized thing this week for someone you haven’t recently shown love to.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1 Thessalonians · Study 6 of 10 · 1 Thessalonians 4:1–12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1 Thessalonians · Study 6 of 10 · 1 Thessalonians 4:1–12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1 Thessalonians · Study 6 of 10 · 1 Thessalonians 4:1–12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A Life That Pleases God</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A life that pleases God is not produced by rules or resolutions, but by the outworking of four God-given realities: our potential, our purity, our progress, and our purpose.</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 ten studies · this study highlighted</a:t>
            </a:r>
            <a:endParaRPr lang="en-US" sz="1200" dirty="0"/>
          </a:p>
        </p:txBody>
      </p:sp>
      <p:sp>
        <p:nvSpPr>
          <p:cNvPr id="5" name="Shape 2"/>
          <p:cNvSpPr/>
          <p:nvPr/>
        </p:nvSpPr>
        <p:spPr>
          <a:xfrm>
            <a:off x="457200" y="1188720"/>
            <a:ext cx="1536192" cy="1371600"/>
          </a:xfrm>
          <a:prstGeom prst="rect">
            <a:avLst/>
          </a:prstGeom>
          <a:solidFill>
            <a:srgbClr val="F2F6FC"/>
          </a:solidFill>
          <a:ln w="9525">
            <a:solidFill>
              <a:srgbClr val="D5DCEA"/>
            </a:solidFill>
            <a:prstDash val="solid"/>
          </a:ln>
        </p:spPr>
      </p:sp>
      <p:sp>
        <p:nvSpPr>
          <p:cNvPr id="6" name="Text 3"/>
          <p:cNvSpPr/>
          <p:nvPr/>
        </p:nvSpPr>
        <p:spPr>
          <a:xfrm>
            <a:off x="566928"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An Introduction to the Thessalonian Church</a:t>
            </a:r>
            <a:endParaRPr lang="en-US" sz="1300" dirty="0"/>
          </a:p>
        </p:txBody>
      </p:sp>
      <p:sp>
        <p:nvSpPr>
          <p:cNvPr id="7" name="Shape 4"/>
          <p:cNvSpPr/>
          <p:nvPr/>
        </p:nvSpPr>
        <p:spPr>
          <a:xfrm>
            <a:off x="2130552" y="1188720"/>
            <a:ext cx="1536192" cy="1371600"/>
          </a:xfrm>
          <a:prstGeom prst="rect">
            <a:avLst/>
          </a:prstGeom>
          <a:solidFill>
            <a:srgbClr val="F2F6FC"/>
          </a:solidFill>
          <a:ln w="9525">
            <a:solidFill>
              <a:srgbClr val="D5DCEA"/>
            </a:solidFill>
            <a:prstDash val="solid"/>
          </a:ln>
        </p:spPr>
      </p:sp>
      <p:sp>
        <p:nvSpPr>
          <p:cNvPr id="8" name="Text 5"/>
          <p:cNvSpPr/>
          <p:nvPr/>
        </p:nvSpPr>
        <p:spPr>
          <a:xfrm>
            <a:off x="2240280"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1:6–10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Many Faces of the Gospel</a:t>
            </a:r>
            <a:endParaRPr lang="en-US" sz="1300" dirty="0"/>
          </a:p>
        </p:txBody>
      </p:sp>
      <p:sp>
        <p:nvSpPr>
          <p:cNvPr id="9" name="Shape 6"/>
          <p:cNvSpPr/>
          <p:nvPr/>
        </p:nvSpPr>
        <p:spPr>
          <a:xfrm>
            <a:off x="3803904" y="1188720"/>
            <a:ext cx="1536192" cy="1371600"/>
          </a:xfrm>
          <a:prstGeom prst="rect">
            <a:avLst/>
          </a:prstGeom>
          <a:solidFill>
            <a:srgbClr val="F2F6FC"/>
          </a:solidFill>
          <a:ln w="9525">
            <a:solidFill>
              <a:srgbClr val="D5DCEA"/>
            </a:solidFill>
            <a:prstDash val="solid"/>
          </a:ln>
        </p:spPr>
      </p:sp>
      <p:sp>
        <p:nvSpPr>
          <p:cNvPr id="10" name="Text 7"/>
          <p:cNvSpPr/>
          <p:nvPr/>
        </p:nvSpPr>
        <p:spPr>
          <a:xfrm>
            <a:off x="3913632"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Delivering the Gospel</a:t>
            </a:r>
            <a:endParaRPr lang="en-US" sz="1300" dirty="0"/>
          </a:p>
        </p:txBody>
      </p:sp>
      <p:sp>
        <p:nvSpPr>
          <p:cNvPr id="11" name="Shape 8"/>
          <p:cNvSpPr/>
          <p:nvPr/>
        </p:nvSpPr>
        <p:spPr>
          <a:xfrm>
            <a:off x="5477256" y="1188720"/>
            <a:ext cx="1536192" cy="1371600"/>
          </a:xfrm>
          <a:prstGeom prst="rect">
            <a:avLst/>
          </a:prstGeom>
          <a:solidFill>
            <a:srgbClr val="F2F6FC"/>
          </a:solidFill>
          <a:ln w="9525">
            <a:solidFill>
              <a:srgbClr val="D5DCEA"/>
            </a:solidFill>
            <a:prstDash val="solid"/>
          </a:ln>
        </p:spPr>
      </p:sp>
      <p:sp>
        <p:nvSpPr>
          <p:cNvPr id="12" name="Text 9"/>
          <p:cNvSpPr/>
          <p:nvPr/>
        </p:nvSpPr>
        <p:spPr>
          <a:xfrm>
            <a:off x="5586984"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2:13–20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Successful Life of Service</a:t>
            </a:r>
            <a:endParaRPr lang="en-US" sz="1300" dirty="0"/>
          </a:p>
        </p:txBody>
      </p:sp>
      <p:sp>
        <p:nvSpPr>
          <p:cNvPr id="13" name="Shape 10"/>
          <p:cNvSpPr/>
          <p:nvPr/>
        </p:nvSpPr>
        <p:spPr>
          <a:xfrm>
            <a:off x="7150608" y="1188720"/>
            <a:ext cx="1536192" cy="1371600"/>
          </a:xfrm>
          <a:prstGeom prst="rect">
            <a:avLst/>
          </a:prstGeom>
          <a:solidFill>
            <a:srgbClr val="F2F6FC"/>
          </a:solidFill>
          <a:ln w="9525">
            <a:solidFill>
              <a:srgbClr val="D5DCEA"/>
            </a:solidFill>
            <a:prstDash val="solid"/>
          </a:ln>
        </p:spPr>
      </p:sp>
      <p:sp>
        <p:nvSpPr>
          <p:cNvPr id="14" name="Text 11"/>
          <p:cNvSpPr/>
          <p:nvPr/>
        </p:nvSpPr>
        <p:spPr>
          <a:xfrm>
            <a:off x="7260336"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3:1–13</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Facing Tribulation</a:t>
            </a:r>
            <a:endParaRPr lang="en-US" sz="1300" dirty="0"/>
          </a:p>
        </p:txBody>
      </p:sp>
      <p:sp>
        <p:nvSpPr>
          <p:cNvPr id="15" name="Shape 12"/>
          <p:cNvSpPr/>
          <p:nvPr/>
        </p:nvSpPr>
        <p:spPr>
          <a:xfrm>
            <a:off x="457200" y="2761488"/>
            <a:ext cx="1536192" cy="1371600"/>
          </a:xfrm>
          <a:prstGeom prst="rect">
            <a:avLst/>
          </a:prstGeom>
          <a:solidFill>
            <a:srgbClr val="1F3864"/>
          </a:solidFill>
          <a:ln w="9525">
            <a:solidFill>
              <a:srgbClr val="1F3864"/>
            </a:solidFill>
            <a:prstDash val="solid"/>
          </a:ln>
        </p:spPr>
      </p:sp>
      <p:sp>
        <p:nvSpPr>
          <p:cNvPr id="16" name="Text 13"/>
          <p:cNvSpPr/>
          <p:nvPr/>
        </p:nvSpPr>
        <p:spPr>
          <a:xfrm>
            <a:off x="566928" y="2871216"/>
            <a:ext cx="1316736"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06  </a:t>
            </a:r>
            <a:pPr indent="0" marL="0">
              <a:buNone/>
            </a:pPr>
            <a:r>
              <a:rPr lang="en-US" sz="1050" b="1" dirty="0">
                <a:solidFill>
                  <a:srgbClr val="C9D5EE"/>
                </a:solidFill>
                <a:latin typeface="Arial" pitchFamily="34" charset="0"/>
                <a:ea typeface="Arial" pitchFamily="34" charset="-122"/>
                <a:cs typeface="Arial" pitchFamily="34" charset="-120"/>
              </a:rPr>
              <a:t>4:1–12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A Life That Pleases God</a:t>
            </a:r>
            <a:endParaRPr lang="en-US" sz="1300" dirty="0"/>
          </a:p>
        </p:txBody>
      </p:sp>
      <p:sp>
        <p:nvSpPr>
          <p:cNvPr id="17" name="Shape 14"/>
          <p:cNvSpPr/>
          <p:nvPr/>
        </p:nvSpPr>
        <p:spPr>
          <a:xfrm>
            <a:off x="2130552" y="2761488"/>
            <a:ext cx="1536192" cy="1371600"/>
          </a:xfrm>
          <a:prstGeom prst="rect">
            <a:avLst/>
          </a:prstGeom>
          <a:solidFill>
            <a:srgbClr val="F2F6FC"/>
          </a:solidFill>
          <a:ln w="9525">
            <a:solidFill>
              <a:srgbClr val="D5DCEA"/>
            </a:solidFill>
            <a:prstDash val="solid"/>
          </a:ln>
        </p:spPr>
      </p:sp>
      <p:sp>
        <p:nvSpPr>
          <p:cNvPr id="18" name="Text 15"/>
          <p:cNvSpPr/>
          <p:nvPr/>
        </p:nvSpPr>
        <p:spPr>
          <a:xfrm>
            <a:off x="2240280"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4:13–18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Rapture of the Church</a:t>
            </a:r>
            <a:endParaRPr lang="en-US" sz="1300" dirty="0"/>
          </a:p>
        </p:txBody>
      </p:sp>
      <p:sp>
        <p:nvSpPr>
          <p:cNvPr id="19" name="Shape 16"/>
          <p:cNvSpPr/>
          <p:nvPr/>
        </p:nvSpPr>
        <p:spPr>
          <a:xfrm>
            <a:off x="3803904" y="2761488"/>
            <a:ext cx="1536192" cy="1371600"/>
          </a:xfrm>
          <a:prstGeom prst="rect">
            <a:avLst/>
          </a:prstGeom>
          <a:solidFill>
            <a:srgbClr val="F2F6FC"/>
          </a:solidFill>
          <a:ln w="9525">
            <a:solidFill>
              <a:srgbClr val="D5DCEA"/>
            </a:solidFill>
            <a:prstDash val="solid"/>
          </a:ln>
        </p:spPr>
      </p:sp>
      <p:sp>
        <p:nvSpPr>
          <p:cNvPr id="20" name="Text 17"/>
          <p:cNvSpPr/>
          <p:nvPr/>
        </p:nvSpPr>
        <p:spPr>
          <a:xfrm>
            <a:off x="3913632"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08  </a:t>
            </a:r>
            <a:pPr indent="0" marL="0">
              <a:buNone/>
            </a:pPr>
            <a:r>
              <a:rPr lang="en-US" sz="1050" b="1" dirty="0">
                <a:solidFill>
                  <a:srgbClr val="595959"/>
                </a:solidFill>
                <a:latin typeface="Arial" pitchFamily="34" charset="0"/>
                <a:ea typeface="Arial" pitchFamily="34" charset="-122"/>
                <a:cs typeface="Arial" pitchFamily="34" charset="-120"/>
              </a:rPr>
              <a:t>5:1–11</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A Purifying Hope</a:t>
            </a:r>
            <a:endParaRPr lang="en-US" sz="1300" dirty="0"/>
          </a:p>
        </p:txBody>
      </p:sp>
      <p:sp>
        <p:nvSpPr>
          <p:cNvPr id="21" name="Shape 18"/>
          <p:cNvSpPr/>
          <p:nvPr/>
        </p:nvSpPr>
        <p:spPr>
          <a:xfrm>
            <a:off x="5477256" y="2761488"/>
            <a:ext cx="1536192" cy="1371600"/>
          </a:xfrm>
          <a:prstGeom prst="rect">
            <a:avLst/>
          </a:prstGeom>
          <a:solidFill>
            <a:srgbClr val="F2F6FC"/>
          </a:solidFill>
          <a:ln w="9525">
            <a:solidFill>
              <a:srgbClr val="D5DCEA"/>
            </a:solidFill>
            <a:prstDash val="solid"/>
          </a:ln>
        </p:spPr>
      </p:sp>
      <p:sp>
        <p:nvSpPr>
          <p:cNvPr id="22" name="Text 19"/>
          <p:cNvSpPr/>
          <p:nvPr/>
        </p:nvSpPr>
        <p:spPr>
          <a:xfrm>
            <a:off x="5586984"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09  </a:t>
            </a:r>
            <a:pPr indent="0" marL="0">
              <a:buNone/>
            </a:pPr>
            <a:r>
              <a:rPr lang="en-US" sz="1050" b="1" dirty="0">
                <a:solidFill>
                  <a:srgbClr val="595959"/>
                </a:solidFill>
                <a:latin typeface="Arial" pitchFamily="34" charset="0"/>
                <a:ea typeface="Arial" pitchFamily="34" charset="-122"/>
                <a:cs typeface="Arial" pitchFamily="34" charset="-120"/>
              </a:rPr>
              <a:t>5:12–22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Exhortations</a:t>
            </a:r>
            <a:endParaRPr lang="en-US" sz="1300" dirty="0"/>
          </a:p>
        </p:txBody>
      </p:sp>
      <p:sp>
        <p:nvSpPr>
          <p:cNvPr id="23" name="Shape 20"/>
          <p:cNvSpPr/>
          <p:nvPr/>
        </p:nvSpPr>
        <p:spPr>
          <a:xfrm>
            <a:off x="7150608" y="2761488"/>
            <a:ext cx="1536192" cy="1371600"/>
          </a:xfrm>
          <a:prstGeom prst="rect">
            <a:avLst/>
          </a:prstGeom>
          <a:solidFill>
            <a:srgbClr val="F2F6FC"/>
          </a:solidFill>
          <a:ln w="9525">
            <a:solidFill>
              <a:srgbClr val="D5DCEA"/>
            </a:solidFill>
            <a:prstDash val="solid"/>
          </a:ln>
        </p:spPr>
      </p:sp>
      <p:sp>
        <p:nvSpPr>
          <p:cNvPr id="24" name="Text 21"/>
          <p:cNvSpPr/>
          <p:nvPr/>
        </p:nvSpPr>
        <p:spPr>
          <a:xfrm>
            <a:off x="7260336"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10  </a:t>
            </a:r>
            <a:pPr indent="0" marL="0">
              <a:buNone/>
            </a:pPr>
            <a:r>
              <a:rPr lang="en-US" sz="1050" b="1" dirty="0">
                <a:solidFill>
                  <a:srgbClr val="595959"/>
                </a:solidFill>
                <a:latin typeface="Arial" pitchFamily="34" charset="0"/>
                <a:ea typeface="Arial" pitchFamily="34" charset="-122"/>
                <a:cs typeface="Arial" pitchFamily="34" charset="-120"/>
              </a:rPr>
              <a:t>5:23–28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’Til We Meet Again</a:t>
            </a:r>
            <a:endParaRPr lang="en-US" sz="1300" dirty="0"/>
          </a:p>
        </p:txBody>
      </p:sp>
      <p:sp>
        <p:nvSpPr>
          <p:cNvPr id="25" name="Shape 22"/>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6" name="Text 23"/>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“Finally” (4:1) marks the hinge:  </a:t>
            </a:r>
            <a:pPr indent="0" marL="0">
              <a:buNone/>
            </a:pPr>
            <a:r>
              <a:rPr lang="en-US" sz="1100" dirty="0">
                <a:solidFill>
                  <a:srgbClr val="FFFFFF"/>
                </a:solidFill>
                <a:latin typeface="Arial" pitchFamily="34" charset="0"/>
                <a:ea typeface="Arial" pitchFamily="34" charset="-122"/>
                <a:cs typeface="Arial" pitchFamily="34" charset="-120"/>
              </a:rPr>
              <a:t>chapters 1–3 lay the foundation; chapters 4–5 turn that theology into life.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Four God-given realities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4:1–12 · Outline I–IV</a:t>
            </a:r>
            <a:endParaRPr lang="en-US" sz="1200" dirty="0"/>
          </a:p>
        </p:txBody>
      </p:sp>
      <p:sp>
        <p:nvSpPr>
          <p:cNvPr id="5" name="Shape 2"/>
          <p:cNvSpPr/>
          <p:nvPr/>
        </p:nvSpPr>
        <p:spPr>
          <a:xfrm>
            <a:off x="457200" y="1188720"/>
            <a:ext cx="1783080" cy="365760"/>
          </a:xfrm>
          <a:prstGeom prst="rect">
            <a:avLst/>
          </a:prstGeom>
          <a:solidFill>
            <a:srgbClr val="2E5496"/>
          </a:solidFill>
          <a:ln w="12700">
            <a:solidFill>
              <a:srgbClr val="2E5496"/>
            </a:solidFill>
            <a:prstDash val="solid"/>
          </a:ln>
        </p:spPr>
      </p:sp>
      <p:sp>
        <p:nvSpPr>
          <p:cNvPr id="6" name="Text 3"/>
          <p:cNvSpPr/>
          <p:nvPr/>
        </p:nvSpPr>
        <p:spPr>
          <a:xfrm>
            <a:off x="548640" y="1234440"/>
            <a:ext cx="1600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Potential · 4:1–2</a:t>
            </a:r>
            <a:endParaRPr lang="en-US" sz="1200" dirty="0"/>
          </a:p>
        </p:txBody>
      </p:sp>
      <p:sp>
        <p:nvSpPr>
          <p:cNvPr id="7" name="Shape 4"/>
          <p:cNvSpPr/>
          <p:nvPr/>
        </p:nvSpPr>
        <p:spPr>
          <a:xfrm>
            <a:off x="457200" y="1554480"/>
            <a:ext cx="1783080" cy="2011680"/>
          </a:xfrm>
          <a:prstGeom prst="rect">
            <a:avLst/>
          </a:prstGeom>
          <a:solidFill>
            <a:srgbClr val="F2F6FC"/>
          </a:solidFill>
          <a:ln w="9525">
            <a:solidFill>
              <a:srgbClr val="D5DCEA"/>
            </a:solidFill>
            <a:prstDash val="solid"/>
          </a:ln>
        </p:spPr>
      </p:sp>
      <p:sp>
        <p:nvSpPr>
          <p:cNvPr id="8" name="Text 5"/>
          <p:cNvSpPr/>
          <p:nvPr/>
        </p:nvSpPr>
        <p:spPr>
          <a:xfrm>
            <a:off x="548640" y="1627632"/>
            <a:ext cx="1600200" cy="1883664"/>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What is committed to us</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Received and repeated — practiced</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The commandments of the Lord Jesus</a:t>
            </a:r>
            <a:endParaRPr lang="en-US" sz="1100" dirty="0"/>
          </a:p>
        </p:txBody>
      </p:sp>
      <p:sp>
        <p:nvSpPr>
          <p:cNvPr id="9" name="Shape 6"/>
          <p:cNvSpPr/>
          <p:nvPr/>
        </p:nvSpPr>
        <p:spPr>
          <a:xfrm>
            <a:off x="2304288" y="2258568"/>
            <a:ext cx="237744" cy="237744"/>
          </a:xfrm>
          <a:prstGeom prst="rightArrow">
            <a:avLst/>
          </a:prstGeom>
          <a:solidFill>
            <a:srgbClr val="6B7280"/>
          </a:solidFill>
          <a:ln w="12700">
            <a:solidFill>
              <a:srgbClr val="6B7280"/>
            </a:solidFill>
            <a:prstDash val="solid"/>
          </a:ln>
        </p:spPr>
      </p:sp>
      <p:sp>
        <p:nvSpPr>
          <p:cNvPr id="10" name="Shape 7"/>
          <p:cNvSpPr/>
          <p:nvPr/>
        </p:nvSpPr>
        <p:spPr>
          <a:xfrm>
            <a:off x="2606040" y="1188720"/>
            <a:ext cx="1783080" cy="365760"/>
          </a:xfrm>
          <a:prstGeom prst="rect">
            <a:avLst/>
          </a:prstGeom>
          <a:solidFill>
            <a:srgbClr val="2E5496"/>
          </a:solidFill>
          <a:ln w="12700">
            <a:solidFill>
              <a:srgbClr val="2E5496"/>
            </a:solidFill>
            <a:prstDash val="solid"/>
          </a:ln>
        </p:spPr>
      </p:sp>
      <p:sp>
        <p:nvSpPr>
          <p:cNvPr id="11" name="Text 8"/>
          <p:cNvSpPr/>
          <p:nvPr/>
        </p:nvSpPr>
        <p:spPr>
          <a:xfrm>
            <a:off x="2697480" y="1234440"/>
            <a:ext cx="1600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Purity · 4:3–8</a:t>
            </a:r>
            <a:endParaRPr lang="en-US" sz="1200" dirty="0"/>
          </a:p>
        </p:txBody>
      </p:sp>
      <p:sp>
        <p:nvSpPr>
          <p:cNvPr id="12" name="Shape 9"/>
          <p:cNvSpPr/>
          <p:nvPr/>
        </p:nvSpPr>
        <p:spPr>
          <a:xfrm>
            <a:off x="2606040" y="1554480"/>
            <a:ext cx="1783080" cy="2011680"/>
          </a:xfrm>
          <a:prstGeom prst="rect">
            <a:avLst/>
          </a:prstGeom>
          <a:solidFill>
            <a:srgbClr val="F2F6FC"/>
          </a:solidFill>
          <a:ln w="9525">
            <a:solidFill>
              <a:srgbClr val="D5DCEA"/>
            </a:solidFill>
            <a:prstDash val="solid"/>
          </a:ln>
        </p:spPr>
      </p:sp>
      <p:sp>
        <p:nvSpPr>
          <p:cNvPr id="13" name="Text 10"/>
          <p:cNvSpPr/>
          <p:nvPr/>
        </p:nvSpPr>
        <p:spPr>
          <a:xfrm>
            <a:off x="2697480" y="1627632"/>
            <a:ext cx="1600200" cy="1883664"/>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Sanctification is God’s will</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Abstain from sexual immorality</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 sin against Father, Son and Spirit</a:t>
            </a:r>
            <a:endParaRPr lang="en-US" sz="1100" dirty="0"/>
          </a:p>
        </p:txBody>
      </p:sp>
      <p:sp>
        <p:nvSpPr>
          <p:cNvPr id="14" name="Shape 11"/>
          <p:cNvSpPr/>
          <p:nvPr/>
        </p:nvSpPr>
        <p:spPr>
          <a:xfrm>
            <a:off x="4453128" y="2258568"/>
            <a:ext cx="237744" cy="237744"/>
          </a:xfrm>
          <a:prstGeom prst="rightArrow">
            <a:avLst/>
          </a:prstGeom>
          <a:solidFill>
            <a:srgbClr val="6B7280"/>
          </a:solidFill>
          <a:ln w="12700">
            <a:solidFill>
              <a:srgbClr val="6B7280"/>
            </a:solidFill>
            <a:prstDash val="solid"/>
          </a:ln>
        </p:spPr>
      </p:sp>
      <p:sp>
        <p:nvSpPr>
          <p:cNvPr id="15" name="Shape 12"/>
          <p:cNvSpPr/>
          <p:nvPr/>
        </p:nvSpPr>
        <p:spPr>
          <a:xfrm>
            <a:off x="4754880" y="1188720"/>
            <a:ext cx="1783080" cy="365760"/>
          </a:xfrm>
          <a:prstGeom prst="rect">
            <a:avLst/>
          </a:prstGeom>
          <a:solidFill>
            <a:srgbClr val="2E5496"/>
          </a:solidFill>
          <a:ln w="12700">
            <a:solidFill>
              <a:srgbClr val="2E5496"/>
            </a:solidFill>
            <a:prstDash val="solid"/>
          </a:ln>
        </p:spPr>
      </p:sp>
      <p:sp>
        <p:nvSpPr>
          <p:cNvPr id="16" name="Text 13"/>
          <p:cNvSpPr/>
          <p:nvPr/>
        </p:nvSpPr>
        <p:spPr>
          <a:xfrm>
            <a:off x="4846320" y="1234440"/>
            <a:ext cx="1600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Progress · 4:9–10</a:t>
            </a:r>
            <a:endParaRPr lang="en-US" sz="1200" dirty="0"/>
          </a:p>
        </p:txBody>
      </p:sp>
      <p:sp>
        <p:nvSpPr>
          <p:cNvPr id="17" name="Shape 14"/>
          <p:cNvSpPr/>
          <p:nvPr/>
        </p:nvSpPr>
        <p:spPr>
          <a:xfrm>
            <a:off x="4754880" y="1554480"/>
            <a:ext cx="1783080" cy="2011680"/>
          </a:xfrm>
          <a:prstGeom prst="rect">
            <a:avLst/>
          </a:prstGeom>
          <a:solidFill>
            <a:srgbClr val="F2F6FC"/>
          </a:solidFill>
          <a:ln w="9525">
            <a:solidFill>
              <a:srgbClr val="D5DCEA"/>
            </a:solidFill>
            <a:prstDash val="solid"/>
          </a:ln>
        </p:spPr>
      </p:sp>
      <p:sp>
        <p:nvSpPr>
          <p:cNvPr id="18" name="Text 15"/>
          <p:cNvSpPr/>
          <p:nvPr/>
        </p:nvSpPr>
        <p:spPr>
          <a:xfrm>
            <a:off x="4846320" y="1627632"/>
            <a:ext cx="1600200" cy="1883664"/>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Taught by God to love</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Already loving all Macedonia</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“Increase more and more”</a:t>
            </a:r>
            <a:endParaRPr lang="en-US" sz="1100" dirty="0"/>
          </a:p>
        </p:txBody>
      </p:sp>
      <p:sp>
        <p:nvSpPr>
          <p:cNvPr id="19" name="Shape 16"/>
          <p:cNvSpPr/>
          <p:nvPr/>
        </p:nvSpPr>
        <p:spPr>
          <a:xfrm>
            <a:off x="6601968" y="2258568"/>
            <a:ext cx="237744" cy="237744"/>
          </a:xfrm>
          <a:prstGeom prst="rightArrow">
            <a:avLst/>
          </a:prstGeom>
          <a:solidFill>
            <a:srgbClr val="6B7280"/>
          </a:solidFill>
          <a:ln w="12700">
            <a:solidFill>
              <a:srgbClr val="6B7280"/>
            </a:solidFill>
            <a:prstDash val="solid"/>
          </a:ln>
        </p:spPr>
      </p:sp>
      <p:sp>
        <p:nvSpPr>
          <p:cNvPr id="20" name="Shape 17"/>
          <p:cNvSpPr/>
          <p:nvPr/>
        </p:nvSpPr>
        <p:spPr>
          <a:xfrm>
            <a:off x="6903720" y="1188720"/>
            <a:ext cx="1783080" cy="365760"/>
          </a:xfrm>
          <a:prstGeom prst="rect">
            <a:avLst/>
          </a:prstGeom>
          <a:solidFill>
            <a:srgbClr val="375623"/>
          </a:solidFill>
          <a:ln w="12700">
            <a:solidFill>
              <a:srgbClr val="375623"/>
            </a:solidFill>
            <a:prstDash val="solid"/>
          </a:ln>
        </p:spPr>
      </p:sp>
      <p:sp>
        <p:nvSpPr>
          <p:cNvPr id="21" name="Text 18"/>
          <p:cNvSpPr/>
          <p:nvPr/>
        </p:nvSpPr>
        <p:spPr>
          <a:xfrm>
            <a:off x="6995160" y="1234440"/>
            <a:ext cx="1600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Purpose · 4:11–12</a:t>
            </a:r>
            <a:endParaRPr lang="en-US" sz="1200" dirty="0"/>
          </a:p>
        </p:txBody>
      </p:sp>
      <p:sp>
        <p:nvSpPr>
          <p:cNvPr id="22" name="Shape 19"/>
          <p:cNvSpPr/>
          <p:nvPr/>
        </p:nvSpPr>
        <p:spPr>
          <a:xfrm>
            <a:off x="6903720" y="1554480"/>
            <a:ext cx="1783080" cy="2011680"/>
          </a:xfrm>
          <a:prstGeom prst="rect">
            <a:avLst/>
          </a:prstGeom>
          <a:solidFill>
            <a:srgbClr val="F2F6FC"/>
          </a:solidFill>
          <a:ln w="9525">
            <a:solidFill>
              <a:srgbClr val="D5DCEA"/>
            </a:solidFill>
            <a:prstDash val="solid"/>
          </a:ln>
        </p:spPr>
      </p:sp>
      <p:sp>
        <p:nvSpPr>
          <p:cNvPr id="23" name="Text 20"/>
          <p:cNvSpPr/>
          <p:nvPr/>
        </p:nvSpPr>
        <p:spPr>
          <a:xfrm>
            <a:off x="6995160" y="1627632"/>
            <a:ext cx="1600200" cy="1883664"/>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 quiet life</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Mind your own business; work</a:t>
            </a:r>
            <a:endParaRPr lang="en-US" sz="1100" dirty="0"/>
          </a:p>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Walk properly before outsiders</a:t>
            </a:r>
            <a:endParaRPr lang="en-US" sz="1100" dirty="0"/>
          </a:p>
        </p:txBody>
      </p:sp>
      <p:sp>
        <p:nvSpPr>
          <p:cNvPr id="24" name="Shape 21"/>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25" name="Text 22"/>
          <p:cNvSpPr/>
          <p:nvPr/>
        </p:nvSpPr>
        <p:spPr>
          <a:xfrm>
            <a:off x="621792" y="3749040"/>
            <a:ext cx="7900416" cy="8686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Christian life is not a set of prohibitions to be avoided. It is an outworking of a loving desire to please God. That’s it.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“We urge you … more and more”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4:1–2 · I — Our potential</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“Finally” — the hinge from doctrine to daily life</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Λοιπὸν</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from now on — not “the end”</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“We urge you” — not a command but earnest pleading</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παρακαλοῦμεν</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we beg — same root as Paraclete</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“Abound more and more” — the standard is overflow</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περισσεύητε</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 river breaching its banks</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v.1b</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“Just as you received from us” — the old truths, repeated and practiced</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“Practice, man, practice”</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commandments we gave you through the Lord Jesus”</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taught in a few months, c. AD 51</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phases of sanctification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4:3 · II.A.1 — The need for sanctification</a:t>
            </a:r>
            <a:endParaRPr lang="en-US" sz="1200" dirty="0"/>
          </a:p>
        </p:txBody>
      </p:sp>
      <p:sp>
        <p:nvSpPr>
          <p:cNvPr id="5" name="Shape 2"/>
          <p:cNvSpPr/>
          <p:nvPr/>
        </p:nvSpPr>
        <p:spPr>
          <a:xfrm>
            <a:off x="457200" y="1188720"/>
            <a:ext cx="2602992" cy="1965960"/>
          </a:xfrm>
          <a:prstGeom prst="roundRect">
            <a:avLst>
              <a:gd name="adj" fmla="val 2791"/>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From the penalty</a:t>
            </a:r>
            <a:endParaRPr lang="en-US" sz="1150" dirty="0"/>
          </a:p>
        </p:txBody>
      </p:sp>
      <p:sp>
        <p:nvSpPr>
          <p:cNvPr id="9" name="Text 6"/>
          <p:cNvSpPr/>
          <p:nvPr/>
        </p:nvSpPr>
        <p:spPr>
          <a:xfrm>
            <a:off x="530352"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At salvation — positional, permanent and complete</a:t>
            </a:r>
            <a:endParaRPr lang="en-US" sz="1150" dirty="0"/>
          </a:p>
        </p:txBody>
      </p:sp>
      <p:sp>
        <p:nvSpPr>
          <p:cNvPr id="10" name="Text 7"/>
          <p:cNvSpPr/>
          <p:nvPr/>
        </p:nvSpPr>
        <p:spPr>
          <a:xfrm>
            <a:off x="530352"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past</a:t>
            </a:r>
            <a:endParaRPr lang="en-US" sz="900" dirty="0"/>
          </a:p>
        </p:txBody>
      </p:sp>
      <p:sp>
        <p:nvSpPr>
          <p:cNvPr id="11" name="Shape 8"/>
          <p:cNvSpPr/>
          <p:nvPr/>
        </p:nvSpPr>
        <p:spPr>
          <a:xfrm>
            <a:off x="3064764" y="205282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965960"/>
          </a:xfrm>
          <a:prstGeom prst="roundRect">
            <a:avLst>
              <a:gd name="adj" fmla="val 2791"/>
            </a:avLst>
          </a:prstGeom>
          <a:solidFill>
            <a:srgbClr val="1F3864"/>
          </a:solidFill>
          <a:ln w="9525">
            <a:solidFill>
              <a:srgbClr val="1F3864"/>
            </a:solidFill>
            <a:prstDash val="solid"/>
          </a:ln>
        </p:spPr>
      </p:sp>
      <p:sp>
        <p:nvSpPr>
          <p:cNvPr id="13" name="Shape 10"/>
          <p:cNvSpPr/>
          <p:nvPr/>
        </p:nvSpPr>
        <p:spPr>
          <a:xfrm>
            <a:off x="4370832" y="1298448"/>
            <a:ext cx="402336" cy="402336"/>
          </a:xfrm>
          <a:prstGeom prst="ellipse">
            <a:avLst/>
          </a:prstGeom>
          <a:solidFill>
            <a:srgbClr val="FFFFFF"/>
          </a:solidFill>
          <a:ln w="12700">
            <a:solidFill>
              <a:srgbClr val="FFFFFF"/>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From the power</a:t>
            </a:r>
            <a:endParaRPr lang="en-US" sz="1150" dirty="0"/>
          </a:p>
        </p:txBody>
      </p:sp>
      <p:sp>
        <p:nvSpPr>
          <p:cNvPr id="16" name="Text 13"/>
          <p:cNvSpPr/>
          <p:nvPr/>
        </p:nvSpPr>
        <p:spPr>
          <a:xfrm>
            <a:off x="3343656" y="2157984"/>
            <a:ext cx="2456688" cy="61264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An ongoing process in this life — Paul’s focus here</a:t>
            </a:r>
            <a:endParaRPr lang="en-US" sz="1150" dirty="0"/>
          </a:p>
        </p:txBody>
      </p:sp>
      <p:sp>
        <p:nvSpPr>
          <p:cNvPr id="17" name="Text 14"/>
          <p:cNvSpPr/>
          <p:nvPr/>
        </p:nvSpPr>
        <p:spPr>
          <a:xfrm>
            <a:off x="3343656" y="277063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present · progressive</a:t>
            </a:r>
            <a:endParaRPr lang="en-US" sz="900" dirty="0"/>
          </a:p>
        </p:txBody>
      </p:sp>
      <p:sp>
        <p:nvSpPr>
          <p:cNvPr id="18" name="Shape 15"/>
          <p:cNvSpPr/>
          <p:nvPr/>
        </p:nvSpPr>
        <p:spPr>
          <a:xfrm>
            <a:off x="5878068" y="205282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965960"/>
          </a:xfrm>
          <a:prstGeom prst="roundRect">
            <a:avLst>
              <a:gd name="adj" fmla="val 2791"/>
            </a:avLst>
          </a:prstGeom>
          <a:solidFill>
            <a:srgbClr val="F2F6FC"/>
          </a:solidFill>
          <a:ln w="9525">
            <a:solidFill>
              <a:srgbClr val="D5DCEA"/>
            </a:solidFill>
            <a:prstDash val="solid"/>
          </a:ln>
        </p:spPr>
      </p:sp>
      <p:sp>
        <p:nvSpPr>
          <p:cNvPr id="20" name="Shape 17"/>
          <p:cNvSpPr/>
          <p:nvPr/>
        </p:nvSpPr>
        <p:spPr>
          <a:xfrm>
            <a:off x="7184136"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From the presence</a:t>
            </a:r>
            <a:endParaRPr lang="en-US" sz="1150" dirty="0"/>
          </a:p>
        </p:txBody>
      </p:sp>
      <p:sp>
        <p:nvSpPr>
          <p:cNvPr id="23" name="Text 20"/>
          <p:cNvSpPr/>
          <p:nvPr/>
        </p:nvSpPr>
        <p:spPr>
          <a:xfrm>
            <a:off x="6156960"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At death or the Rapture — changed, like Him (1 Cor 15)</a:t>
            </a:r>
            <a:endParaRPr lang="en-US" sz="1150" dirty="0"/>
          </a:p>
        </p:txBody>
      </p:sp>
      <p:sp>
        <p:nvSpPr>
          <p:cNvPr id="24" name="Text 21"/>
          <p:cNvSpPr/>
          <p:nvPr/>
        </p:nvSpPr>
        <p:spPr>
          <a:xfrm>
            <a:off x="6156960"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future</a:t>
            </a:r>
            <a:endParaRPr lang="en-US" sz="900" dirty="0"/>
          </a:p>
        </p:txBody>
      </p:sp>
      <p:sp>
        <p:nvSpPr>
          <p:cNvPr id="25" name="Shape 22"/>
          <p:cNvSpPr/>
          <p:nvPr/>
        </p:nvSpPr>
        <p:spPr>
          <a:xfrm>
            <a:off x="457200" y="3337560"/>
            <a:ext cx="4023360" cy="365760"/>
          </a:xfrm>
          <a:prstGeom prst="rect">
            <a:avLst/>
          </a:prstGeom>
          <a:solidFill>
            <a:srgbClr val="2E5496"/>
          </a:solidFill>
          <a:ln w="12700">
            <a:solidFill>
              <a:srgbClr val="2E5496"/>
            </a:solidFill>
            <a:prstDash val="solid"/>
          </a:ln>
        </p:spPr>
      </p:sp>
      <p:sp>
        <p:nvSpPr>
          <p:cNvPr id="26" name="Text 23"/>
          <p:cNvSpPr/>
          <p:nvPr/>
        </p:nvSpPr>
        <p:spPr>
          <a:xfrm>
            <a:off x="548640" y="33832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ἁγιασμός — sanctification</a:t>
            </a:r>
            <a:endParaRPr lang="en-US" sz="1200" dirty="0"/>
          </a:p>
        </p:txBody>
      </p:sp>
      <p:sp>
        <p:nvSpPr>
          <p:cNvPr id="27" name="Shape 24"/>
          <p:cNvSpPr/>
          <p:nvPr/>
        </p:nvSpPr>
        <p:spPr>
          <a:xfrm>
            <a:off x="457200" y="3703320"/>
            <a:ext cx="4023360" cy="914400"/>
          </a:xfrm>
          <a:prstGeom prst="rect">
            <a:avLst/>
          </a:prstGeom>
          <a:solidFill>
            <a:srgbClr val="F2F6FC"/>
          </a:solidFill>
          <a:ln w="9525">
            <a:solidFill>
              <a:srgbClr val="D5DCEA"/>
            </a:solidFill>
            <a:prstDash val="solid"/>
          </a:ln>
        </p:spPr>
      </p:sp>
      <p:sp>
        <p:nvSpPr>
          <p:cNvPr id="28" name="Text 25"/>
          <p:cNvSpPr/>
          <p:nvPr/>
        </p:nvSpPr>
        <p:spPr>
          <a:xfrm>
            <a:off x="548640" y="3776472"/>
            <a:ext cx="3840480" cy="78638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Set apart to God from the world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Appears in vv.3, 4 and 7</a:t>
            </a:r>
            <a:endParaRPr lang="en-US" sz="1250" dirty="0"/>
          </a:p>
        </p:txBody>
      </p:sp>
      <p:sp>
        <p:nvSpPr>
          <p:cNvPr id="29" name="Shape 26"/>
          <p:cNvSpPr/>
          <p:nvPr/>
        </p:nvSpPr>
        <p:spPr>
          <a:xfrm>
            <a:off x="4663440" y="3337560"/>
            <a:ext cx="4023360" cy="365760"/>
          </a:xfrm>
          <a:prstGeom prst="rect">
            <a:avLst/>
          </a:prstGeom>
          <a:solidFill>
            <a:srgbClr val="6B7280"/>
          </a:solidFill>
          <a:ln w="12700">
            <a:solidFill>
              <a:srgbClr val="6B7280"/>
            </a:solidFill>
            <a:prstDash val="solid"/>
          </a:ln>
        </p:spPr>
      </p:sp>
      <p:sp>
        <p:nvSpPr>
          <p:cNvPr id="30" name="Text 27"/>
          <p:cNvSpPr/>
          <p:nvPr/>
        </p:nvSpPr>
        <p:spPr>
          <a:xfrm>
            <a:off x="4754880" y="33832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πορνεία — sexual immorality</a:t>
            </a:r>
            <a:endParaRPr lang="en-US" sz="1200" dirty="0"/>
          </a:p>
        </p:txBody>
      </p:sp>
      <p:sp>
        <p:nvSpPr>
          <p:cNvPr id="31" name="Shape 28"/>
          <p:cNvSpPr/>
          <p:nvPr/>
        </p:nvSpPr>
        <p:spPr>
          <a:xfrm>
            <a:off x="4663440" y="3703320"/>
            <a:ext cx="4023360" cy="914400"/>
          </a:xfrm>
          <a:prstGeom prst="rect">
            <a:avLst/>
          </a:prstGeom>
          <a:solidFill>
            <a:srgbClr val="F2F6FC"/>
          </a:solidFill>
          <a:ln w="9525">
            <a:solidFill>
              <a:srgbClr val="D5DCEA"/>
            </a:solidFill>
            <a:prstDash val="solid"/>
          </a:ln>
        </p:spPr>
      </p:sp>
      <p:sp>
        <p:nvSpPr>
          <p:cNvPr id="32" name="Text 29"/>
          <p:cNvSpPr/>
          <p:nvPr/>
        </p:nvSpPr>
        <p:spPr>
          <a:xfrm>
            <a:off x="4754880" y="3776472"/>
            <a:ext cx="3840480" cy="78638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All sexual sin outside marriage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Then condoned — even in worship</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 sin against the whole Godhead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4:3–8 · II.A–C — Our purity</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Against the Father · vv.3–5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σκεῦος</a:t>
            </a:r>
            <a:pPr indent="0" marL="0">
              <a:buNone/>
            </a:pPr>
            <a:r>
              <a:rPr lang="en-US" sz="850" dirty="0">
                <a:solidFill>
                  <a:srgbClr val="DCE4F2"/>
                </a:solidFill>
                <a:latin typeface="Arial" pitchFamily="34" charset="0"/>
                <a:ea typeface="Arial" pitchFamily="34" charset="-122"/>
                <a:cs typeface="Arial" pitchFamily="34" charset="-120"/>
              </a:rPr>
              <a:t>  vessel · the body</a:t>
            </a:r>
            <a:endParaRPr lang="en-US" sz="1200" dirty="0"/>
          </a:p>
        </p:txBody>
      </p:sp>
      <p:sp>
        <p:nvSpPr>
          <p:cNvPr id="7" name="Shape 4"/>
          <p:cNvSpPr/>
          <p:nvPr/>
        </p:nvSpPr>
        <p:spPr>
          <a:xfrm>
            <a:off x="457200" y="1755648"/>
            <a:ext cx="2621280" cy="1947672"/>
          </a:xfrm>
          <a:prstGeom prst="rect">
            <a:avLst/>
          </a:prstGeom>
          <a:solidFill>
            <a:srgbClr val="F2F6FC"/>
          </a:solidFill>
          <a:ln w="9525">
            <a:solidFill>
              <a:srgbClr val="D5DCEA"/>
            </a:solidFill>
            <a:prstDash val="solid"/>
          </a:ln>
        </p:spPr>
      </p:sp>
      <p:sp>
        <p:nvSpPr>
          <p:cNvPr id="8" name="Text 5"/>
          <p:cNvSpPr/>
          <p:nvPr/>
        </p:nvSpPr>
        <p:spPr>
          <a:xfrm>
            <a:off x="54864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God’s will: your sanctification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Control your own body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like the Gentiles who don’t know God</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Against the Son · v.6</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ὑπερβαίνειν</a:t>
            </a:r>
            <a:pPr indent="0" marL="0">
              <a:buNone/>
            </a:pPr>
            <a:r>
              <a:rPr lang="en-US" sz="850" dirty="0">
                <a:solidFill>
                  <a:srgbClr val="DCE4F2"/>
                </a:solidFill>
                <a:latin typeface="Arial" pitchFamily="34" charset="0"/>
                <a:ea typeface="Arial" pitchFamily="34" charset="-122"/>
                <a:cs typeface="Arial" pitchFamily="34" charset="-120"/>
              </a:rPr>
              <a:t>  to overstep</a:t>
            </a:r>
            <a:endParaRPr lang="en-US" sz="1200" dirty="0"/>
          </a:p>
        </p:txBody>
      </p:sp>
      <p:sp>
        <p:nvSpPr>
          <p:cNvPr id="11" name="Shape 8"/>
          <p:cNvSpPr/>
          <p:nvPr/>
        </p:nvSpPr>
        <p:spPr>
          <a:xfrm>
            <a:off x="3261360" y="1755648"/>
            <a:ext cx="2621280" cy="194767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Going beyond the boundary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Defrauding a brother — πλεονεκτεῖν</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Lord is the avenger — ἔκδικος</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Against the Spirit · vv.7–8</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ἁγιασμός</a:t>
            </a:r>
            <a:pPr indent="0" marL="0">
              <a:buNone/>
            </a:pPr>
            <a:r>
              <a:rPr lang="en-US" sz="850" dirty="0">
                <a:solidFill>
                  <a:srgbClr val="DCE4F2"/>
                </a:solidFill>
                <a:latin typeface="Arial" pitchFamily="34" charset="0"/>
                <a:ea typeface="Arial" pitchFamily="34" charset="-122"/>
                <a:cs typeface="Arial" pitchFamily="34" charset="-120"/>
              </a:rPr>
              <a:t>  called in holiness</a:t>
            </a:r>
            <a:endParaRPr lang="en-US" sz="1200" dirty="0"/>
          </a:p>
        </p:txBody>
      </p:sp>
      <p:sp>
        <p:nvSpPr>
          <p:cNvPr id="15" name="Shape 12"/>
          <p:cNvSpPr/>
          <p:nvPr/>
        </p:nvSpPr>
        <p:spPr>
          <a:xfrm>
            <a:off x="6065520" y="1755648"/>
            <a:ext cx="2621280" cy="194767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called to uncleanness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Rejecting this is rejecting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Who has given us His Holy Spirit</a:t>
            </a:r>
            <a:endParaRPr lang="en-US" sz="1250" dirty="0"/>
          </a:p>
        </p:txBody>
      </p:sp>
      <p:sp>
        <p:nvSpPr>
          <p:cNvPr id="17" name="Shape 14"/>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8" name="Text 15"/>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When God says do this, or do not do this, He has already given us the ability to obey. We cannot say, “I can’t do it.”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In Adam or in Christ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4:7 · II.C.1 — The rule</a:t>
            </a:r>
            <a:endParaRPr lang="en-US" sz="1200" dirty="0"/>
          </a:p>
        </p:txBody>
      </p:sp>
      <p:sp>
        <p:nvSpPr>
          <p:cNvPr id="5" name="Shape 2"/>
          <p:cNvSpPr/>
          <p:nvPr/>
        </p:nvSpPr>
        <p:spPr>
          <a:xfrm>
            <a:off x="457200" y="1188720"/>
            <a:ext cx="3931920" cy="365760"/>
          </a:xfrm>
          <a:prstGeom prst="rect">
            <a:avLst/>
          </a:prstGeom>
          <a:solidFill>
            <a:srgbClr val="6B7280"/>
          </a:solidFill>
          <a:ln w="12700">
            <a:solidFill>
              <a:srgbClr val="6B7280"/>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Adam</a:t>
            </a:r>
            <a:endParaRPr lang="en-US" sz="1200" dirty="0"/>
          </a:p>
        </p:txBody>
      </p:sp>
      <p:sp>
        <p:nvSpPr>
          <p:cNvPr id="7" name="Shape 4"/>
          <p:cNvSpPr/>
          <p:nvPr/>
        </p:nvSpPr>
        <p:spPr>
          <a:xfrm>
            <a:off x="457200" y="1554480"/>
            <a:ext cx="3931920" cy="1874520"/>
          </a:xfrm>
          <a:prstGeom prst="rect">
            <a:avLst/>
          </a:prstGeom>
          <a:solidFill>
            <a:srgbClr val="F2F6FC"/>
          </a:solidFill>
          <a:ln w="9525">
            <a:solidFill>
              <a:srgbClr val="D5DCEA"/>
            </a:solidFill>
            <a:prstDash val="solid"/>
          </a:ln>
        </p:spPr>
      </p:sp>
      <p:sp>
        <p:nvSpPr>
          <p:cNvPr id="8" name="Text 5"/>
          <p:cNvSpPr/>
          <p:nvPr/>
        </p:nvSpPr>
        <p:spPr>
          <a:xfrm>
            <a:off x="548640" y="1627632"/>
            <a:ext cx="3749040" cy="174650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Controlled by the Fall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Uncleanness — by natural birth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natural man delights in vileness</a:t>
            </a:r>
            <a:endParaRPr lang="en-US" sz="125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Christ</a:t>
            </a:r>
            <a:endParaRPr lang="en-US" sz="1200" dirty="0"/>
          </a:p>
        </p:txBody>
      </p:sp>
      <p:sp>
        <p:nvSpPr>
          <p:cNvPr id="11" name="Shape 8"/>
          <p:cNvSpPr/>
          <p:nvPr/>
        </p:nvSpPr>
        <p:spPr>
          <a:xfrm>
            <a:off x="4754880" y="1554480"/>
            <a:ext cx="3931920" cy="187452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74650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Controlled by the Call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Holiness — by the new birth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new man delights in virtue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Spirit is in us (1 Cor 6:19–20)</a:t>
            </a:r>
            <a:endParaRPr lang="en-US" sz="1250" dirty="0"/>
          </a:p>
        </p:txBody>
      </p:sp>
      <p:sp>
        <p:nvSpPr>
          <p:cNvPr id="13" name="Text 10"/>
          <p:cNvSpPr/>
          <p:nvPr/>
        </p:nvSpPr>
        <p:spPr>
          <a:xfrm>
            <a:off x="4389120" y="212598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657600"/>
            <a:ext cx="8229600" cy="868680"/>
          </a:xfrm>
          <a:prstGeom prst="roundRect">
            <a:avLst>
              <a:gd name="adj" fmla="val 6316"/>
            </a:avLst>
          </a:prstGeom>
          <a:solidFill>
            <a:srgbClr val="1F3864"/>
          </a:solidFill>
          <a:ln w="12700">
            <a:solidFill>
              <a:srgbClr val="1F3864"/>
            </a:solidFill>
            <a:prstDash val="solid"/>
          </a:ln>
        </p:spPr>
      </p:sp>
      <p:sp>
        <p:nvSpPr>
          <p:cNvPr id="15" name="Text 12"/>
          <p:cNvSpPr/>
          <p:nvPr/>
        </p:nvSpPr>
        <p:spPr>
          <a:xfrm>
            <a:off x="621792" y="3657600"/>
            <a:ext cx="7900416" cy="86868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John Phillips:  </a:t>
            </a:r>
            <a:pPr indent="0" marL="0">
              <a:buNone/>
            </a:pPr>
            <a:r>
              <a:rPr lang="en-US" sz="1200" dirty="0">
                <a:solidFill>
                  <a:srgbClr val="FFFFFF"/>
                </a:solidFill>
                <a:latin typeface="Arial" pitchFamily="34" charset="0"/>
                <a:ea typeface="Arial" pitchFamily="34" charset="-122"/>
                <a:cs typeface="Arial" pitchFamily="34" charset="-120"/>
              </a:rPr>
              <a:t>“In Adam we are controlled by the fall; in Christ we are controlled by the call.”  You are called by a holy God — therefore be holy.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Taught by God to love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4:9–10 · III — Our progress</a:t>
            </a:r>
            <a:endParaRPr lang="en-US" sz="1200" dirty="0"/>
          </a:p>
        </p:txBody>
      </p:sp>
      <p:sp>
        <p:nvSpPr>
          <p:cNvPr id="5" name="Shape 2"/>
          <p:cNvSpPr/>
          <p:nvPr/>
        </p:nvSpPr>
        <p:spPr>
          <a:xfrm>
            <a:off x="457200" y="1188720"/>
            <a:ext cx="2602992" cy="1691640"/>
          </a:xfrm>
          <a:prstGeom prst="roundRect">
            <a:avLst>
              <a:gd name="adj" fmla="val 3243"/>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Human</a:t>
            </a:r>
            <a:endParaRPr lang="en-US" sz="1150" dirty="0"/>
          </a:p>
        </p:txBody>
      </p:sp>
      <p:sp>
        <p:nvSpPr>
          <p:cNvPr id="9" name="Text 6"/>
          <p:cNvSpPr/>
          <p:nvPr/>
        </p:nvSpPr>
        <p:spPr>
          <a:xfrm>
            <a:off x="530352" y="2157984"/>
            <a:ext cx="2456688" cy="3383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Love those who love you</a:t>
            </a:r>
            <a:endParaRPr lang="en-US" sz="1150" dirty="0"/>
          </a:p>
        </p:txBody>
      </p:sp>
      <p:sp>
        <p:nvSpPr>
          <p:cNvPr id="10" name="Text 7"/>
          <p:cNvSpPr/>
          <p:nvPr/>
        </p:nvSpPr>
        <p:spPr>
          <a:xfrm>
            <a:off x="530352" y="249631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natural</a:t>
            </a:r>
            <a:endParaRPr lang="en-US" sz="900" dirty="0"/>
          </a:p>
        </p:txBody>
      </p:sp>
      <p:sp>
        <p:nvSpPr>
          <p:cNvPr id="11" name="Shape 8"/>
          <p:cNvSpPr/>
          <p:nvPr/>
        </p:nvSpPr>
        <p:spPr>
          <a:xfrm>
            <a:off x="3064764" y="191566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691640"/>
          </a:xfrm>
          <a:prstGeom prst="roundRect">
            <a:avLst>
              <a:gd name="adj" fmla="val 3243"/>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Demonic</a:t>
            </a:r>
            <a:endParaRPr lang="en-US" sz="1150" dirty="0"/>
          </a:p>
        </p:txBody>
      </p:sp>
      <p:sp>
        <p:nvSpPr>
          <p:cNvPr id="16" name="Text 13"/>
          <p:cNvSpPr/>
          <p:nvPr/>
        </p:nvSpPr>
        <p:spPr>
          <a:xfrm>
            <a:off x="3343656" y="2157984"/>
            <a:ext cx="2456688" cy="3383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Hate those who love you</a:t>
            </a:r>
            <a:endParaRPr lang="en-US" sz="1150" dirty="0"/>
          </a:p>
        </p:txBody>
      </p:sp>
      <p:sp>
        <p:nvSpPr>
          <p:cNvPr id="17" name="Text 14"/>
          <p:cNvSpPr/>
          <p:nvPr/>
        </p:nvSpPr>
        <p:spPr>
          <a:xfrm>
            <a:off x="3343656" y="249631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devilish</a:t>
            </a:r>
            <a:endParaRPr lang="en-US" sz="900" dirty="0"/>
          </a:p>
        </p:txBody>
      </p:sp>
      <p:sp>
        <p:nvSpPr>
          <p:cNvPr id="18" name="Shape 15"/>
          <p:cNvSpPr/>
          <p:nvPr/>
        </p:nvSpPr>
        <p:spPr>
          <a:xfrm>
            <a:off x="5878068" y="191566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691640"/>
          </a:xfrm>
          <a:prstGeom prst="roundRect">
            <a:avLst>
              <a:gd name="adj" fmla="val 3243"/>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Divine</a:t>
            </a:r>
            <a:endParaRPr lang="en-US" sz="1150" dirty="0"/>
          </a:p>
        </p:txBody>
      </p:sp>
      <p:sp>
        <p:nvSpPr>
          <p:cNvPr id="23" name="Text 20"/>
          <p:cNvSpPr/>
          <p:nvPr/>
        </p:nvSpPr>
        <p:spPr>
          <a:xfrm>
            <a:off x="6156960" y="2157984"/>
            <a:ext cx="2456688" cy="33832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Love those who hate you</a:t>
            </a:r>
            <a:endParaRPr lang="en-US" sz="1150" dirty="0"/>
          </a:p>
        </p:txBody>
      </p:sp>
      <p:sp>
        <p:nvSpPr>
          <p:cNvPr id="24" name="Text 21"/>
          <p:cNvSpPr/>
          <p:nvPr/>
        </p:nvSpPr>
        <p:spPr>
          <a:xfrm>
            <a:off x="6156960" y="249631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Rom 5:8</a:t>
            </a:r>
            <a:endParaRPr lang="en-US" sz="900" dirty="0"/>
          </a:p>
        </p:txBody>
      </p:sp>
      <p:sp>
        <p:nvSpPr>
          <p:cNvPr id="25" name="Shape 22"/>
          <p:cNvSpPr/>
          <p:nvPr/>
        </p:nvSpPr>
        <p:spPr>
          <a:xfrm>
            <a:off x="457200" y="3063240"/>
            <a:ext cx="4023360" cy="566928"/>
          </a:xfrm>
          <a:prstGeom prst="rect">
            <a:avLst/>
          </a:prstGeom>
          <a:solidFill>
            <a:srgbClr val="2E5496"/>
          </a:solidFill>
          <a:ln w="12700">
            <a:solidFill>
              <a:srgbClr val="2E5496"/>
            </a:solidFill>
            <a:prstDash val="solid"/>
          </a:ln>
        </p:spPr>
      </p:sp>
      <p:sp>
        <p:nvSpPr>
          <p:cNvPr id="26" name="Text 23"/>
          <p:cNvSpPr/>
          <p:nvPr/>
        </p:nvSpPr>
        <p:spPr>
          <a:xfrm>
            <a:off x="548640" y="310896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Love explained · v.9</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θεοδίδακτοι</a:t>
            </a:r>
            <a:pPr indent="0" marL="0">
              <a:buNone/>
            </a:pPr>
            <a:r>
              <a:rPr lang="en-US" sz="850" dirty="0">
                <a:solidFill>
                  <a:srgbClr val="DCE4F2"/>
                </a:solidFill>
                <a:latin typeface="Arial" pitchFamily="34" charset="0"/>
                <a:ea typeface="Arial" pitchFamily="34" charset="-122"/>
                <a:cs typeface="Arial" pitchFamily="34" charset="-120"/>
              </a:rPr>
              <a:t>  taught by God</a:t>
            </a:r>
            <a:endParaRPr lang="en-US" sz="1200" dirty="0"/>
          </a:p>
        </p:txBody>
      </p:sp>
      <p:sp>
        <p:nvSpPr>
          <p:cNvPr id="27" name="Shape 24"/>
          <p:cNvSpPr/>
          <p:nvPr/>
        </p:nvSpPr>
        <p:spPr>
          <a:xfrm>
            <a:off x="457200" y="3630168"/>
            <a:ext cx="4023360" cy="987552"/>
          </a:xfrm>
          <a:prstGeom prst="rect">
            <a:avLst/>
          </a:prstGeom>
          <a:solidFill>
            <a:srgbClr val="F2F6FC"/>
          </a:solidFill>
          <a:ln w="9525">
            <a:solidFill>
              <a:srgbClr val="D5DCEA"/>
            </a:solidFill>
            <a:prstDash val="solid"/>
          </a:ln>
        </p:spPr>
      </p:sp>
      <p:sp>
        <p:nvSpPr>
          <p:cNvPr id="28" name="Text 25"/>
          <p:cNvSpPr/>
          <p:nvPr/>
        </p:nvSpPr>
        <p:spPr>
          <a:xfrm>
            <a:off x="548640" y="3703320"/>
            <a:ext cx="3840480" cy="85953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φιλαδελφία — family love, planted at the new birth</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Taught by the cross and the Spirit</a:t>
            </a:r>
            <a:endParaRPr lang="en-US" sz="1200" dirty="0"/>
          </a:p>
        </p:txBody>
      </p:sp>
      <p:sp>
        <p:nvSpPr>
          <p:cNvPr id="29" name="Shape 26"/>
          <p:cNvSpPr/>
          <p:nvPr/>
        </p:nvSpPr>
        <p:spPr>
          <a:xfrm>
            <a:off x="4663440" y="3063240"/>
            <a:ext cx="4023360" cy="365760"/>
          </a:xfrm>
          <a:prstGeom prst="rect">
            <a:avLst/>
          </a:prstGeom>
          <a:solidFill>
            <a:srgbClr val="375623"/>
          </a:solidFill>
          <a:ln w="12700">
            <a:solidFill>
              <a:srgbClr val="375623"/>
            </a:solidFill>
            <a:prstDash val="solid"/>
          </a:ln>
        </p:spPr>
      </p:sp>
      <p:sp>
        <p:nvSpPr>
          <p:cNvPr id="30" name="Text 27"/>
          <p:cNvSpPr/>
          <p:nvPr/>
        </p:nvSpPr>
        <p:spPr>
          <a:xfrm>
            <a:off x="4754880" y="310896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Love executed · v.10</a:t>
            </a:r>
            <a:endParaRPr lang="en-US" sz="1200" dirty="0"/>
          </a:p>
        </p:txBody>
      </p:sp>
      <p:sp>
        <p:nvSpPr>
          <p:cNvPr id="31" name="Shape 28"/>
          <p:cNvSpPr/>
          <p:nvPr/>
        </p:nvSpPr>
        <p:spPr>
          <a:xfrm>
            <a:off x="4663440" y="3429000"/>
            <a:ext cx="4023360" cy="1188720"/>
          </a:xfrm>
          <a:prstGeom prst="rect">
            <a:avLst/>
          </a:prstGeom>
          <a:solidFill>
            <a:srgbClr val="F2F6FC"/>
          </a:solidFill>
          <a:ln w="9525">
            <a:solidFill>
              <a:srgbClr val="D5DCEA"/>
            </a:solidFill>
            <a:prstDash val="solid"/>
          </a:ln>
        </p:spPr>
      </p:sp>
      <p:sp>
        <p:nvSpPr>
          <p:cNvPr id="32" name="Text 29"/>
          <p:cNvSpPr/>
          <p:nvPr/>
        </p:nvSpPr>
        <p:spPr>
          <a:xfrm>
            <a:off x="4754880" y="3502152"/>
            <a:ext cx="3840480" cy="106070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Toward all the brethren in all Macedonia</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Commended — not corrected</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“Increase more and more”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 quiet, working, watched life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4:11–12 · IV — Our purpose</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v.11a</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Aspire to lead a quiet life — settled, not frantic</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ἡσυχάζειν</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not silence but settledness</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v.11b</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Mind your own business</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MYOB — Paul used it first</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v.11c</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Work with your own hands — Jesus may come today; keep your job</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Paul’s self-supporting model</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v.12a</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Walk properly toward those who are outside</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your walk commends the gospel</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v.12b</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That you may lack nothing</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plan ahead · work hard · live within your means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opens with parakalō (urge/beg) rather than a command. What does that tone of pleading tell us about the nature of the Christian life?</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says the Thessalonians are “taught by God” to love (theodidaktoi, v.9). How does God teach love — and what does that mean for what we expect of ourselves?</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Live to Please God, Not the Crowd</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Name one choice you make mainly to please someone else; ask what it looks like with God as the audience.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Love Is Taught by God — Then Practiced</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Do one concrete, personal, unpublicized thing this week for someone you haven’t recently shown love to.</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Please God — not by rules but by overflow: set apart to Him, loving more and more, living quietly and well before a watching world.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Thessalonians Study 6 — A Life That Pleases God: Charts</dc:title>
  <dc:subject>PptxGenJS Presentation</dc:subject>
  <dc:creator>The Gospel Vault</dc:creator>
  <cp:lastModifiedBy>The Gospel Vault</cp:lastModifiedBy>
  <cp:revision>1</cp:revision>
  <dcterms:created xsi:type="dcterms:W3CDTF">2026-10-30T06:20:22Z</dcterms:created>
  <dcterms:modified xsi:type="dcterms:W3CDTF">2026-10-30T06:20:22Z</dcterms:modified>
</cp:coreProperties>
</file>