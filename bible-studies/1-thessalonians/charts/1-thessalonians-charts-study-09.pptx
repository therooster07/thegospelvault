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Paul brings the church from the future blessing back to present realities — “we still live here.” Three sets of instructions: to those who are led (5:12–13), to those who lead (5:14–15), and to the entire church (5:16–22).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and Outline): Rejoice that the Lord is coming — think on it, pray for it — but remember: there is work to be done, souls to be saved, believers to disciple and a church to establish for those who come after us. These instructions worked in Thessalonica, probably one of the finest churches Paul ever planted, and they will work for any church that follows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with οἶδα, κοπιάω, προΐστημι, ἡγέομαι): These leaders were likely the elders Paul established before he left — men who worked regular jobs sunup to sundown and did the church’s work on top. Recognize (oida) — truly know them. Three marks still describe a good leader: they toil, they take charge (lead from out front, not from behind), they train “in the Lord.” Esteem them — the word of James 1:2, “count” — in agapē love, for their work’s sake: not personality, faithfulness. And maintain the peace you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(II.A.1–4, with ἄτακτος and ὀλιγόψυχος): Terse, packed instructions. The disorderly are soldiers who have broken rank — in Thessalonica probably those who stopped working because the Lord might come next week (2 Thess 3:6–8). The fainthearted are the “little-souled” — perhaps those who feared their dead had missed the Rapture, or those facing outside affliction. The weak are morally or spiritually weak — don’t throw them out. Be patient with all, even unbelievers who misunderstand your interest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(II.B.1–2): Paul is explicit about which level is required. Evil for evil is human — somebody cuts you off in traffic, you cut them off. Evil for good is devilish. Good for evil is divine — and it heaps coals of fire on their head; it shocks people and changes them. Retaliation is not an option. And it isn’t enough to avoid evil: pursue the good — actively hunt it down — always, for everyone else as much as for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with χαίρω and ἀδιαλείπτως): “Rejoice always” is the shortest verse in the Greek NT — fourteen letters. Joy is the Christian’s flag: when it flies, the King is in residence. “Without ceasing” is used of a hacking cough — not every second, but throughout the day; Daniel kept his stated times and his open window. “In everything” — not “for everything” here (that’s Eph 5:20): in every circumstance you can thank God for what He has already done. What is God’s will for my life? Start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(III.D–H, with σβέννυμι, δοκιμάζω, εἶδος): To quench is to throw water on a fire; the simplest definition of quenching the Spirit is saying no to God. Prophecy in the early church was checked by the other prophets (1 Cor 14:29); now we have the completed Scriptures, so the gift is no longer given in that sense, and every teacher is tested by the written Word. Hold fast what survives the test. “Every form of evil” means every form evil actually takes — not everything that looks odd to somebody (Billy Graham’s elevator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Verse 14 addresses the disorderly, the fainthearted, the weak and those who are different. What does it tell us about pastoral ministry that one response doesn’t fit all four? — Leader answer: Pastoral care requires discernment, not a single formula. The disorderly need a warning; the fainthearted need comfort; the weak need upholding; others need patience. Good leadership diagnoses before it responds.  Q2: Paul says rejoicing, praying and giving thanks are “the will of God in Christ Jesus for you.” How does that change how you approach those three things? — Leader answer: These are not preliminary steps toward some hidden will of God — they are His will, stated plainly. Believers already have a clear, present assignment, and it is commanded regardless of circumstance.  Applications: Return Good for Evil, Every Time — Do one specific, unrequested good thing this week for someone who has wronged you — and tell no one.  Rejoice, Pray, Give Thanks — For seven days: one sentence of rejoicing, one minute of prayer, one expression of thanks each morning.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1 Thessalonians · Study 9 of 10 · 1 Thessalonians 5:12–22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1 Thessalonians · Study 9 of 10 · 1 Thessalonians 5:12–22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1 Thessalonians · Study 9 of 10 · 1 Thessalonians 5:12–22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Coming of the Lord: Exhortations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From the sweet by-and-by back to the nasty now-and-now: rejoice always, pray without ceasing, give thanks in everything — the will of God for an ordinary week.</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 ten studies · this study highlighted</a:t>
            </a:r>
            <a:endParaRPr lang="en-US" sz="1200" dirty="0"/>
          </a:p>
        </p:txBody>
      </p:sp>
      <p:sp>
        <p:nvSpPr>
          <p:cNvPr id="5" name="Shape 2"/>
          <p:cNvSpPr/>
          <p:nvPr/>
        </p:nvSpPr>
        <p:spPr>
          <a:xfrm>
            <a:off x="457200" y="1188720"/>
            <a:ext cx="1536192" cy="1371600"/>
          </a:xfrm>
          <a:prstGeom prst="rect">
            <a:avLst/>
          </a:prstGeom>
          <a:solidFill>
            <a:srgbClr val="F2F6FC"/>
          </a:solidFill>
          <a:ln w="9525">
            <a:solidFill>
              <a:srgbClr val="D5DCEA"/>
            </a:solidFill>
            <a:prstDash val="solid"/>
          </a:ln>
        </p:spPr>
      </p:sp>
      <p:sp>
        <p:nvSpPr>
          <p:cNvPr id="6" name="Text 3"/>
          <p:cNvSpPr/>
          <p:nvPr/>
        </p:nvSpPr>
        <p:spPr>
          <a:xfrm>
            <a:off x="566928"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An Introduction to the Thessalonian Church</a:t>
            </a:r>
            <a:endParaRPr lang="en-US" sz="1300" dirty="0"/>
          </a:p>
        </p:txBody>
      </p:sp>
      <p:sp>
        <p:nvSpPr>
          <p:cNvPr id="7" name="Shape 4"/>
          <p:cNvSpPr/>
          <p:nvPr/>
        </p:nvSpPr>
        <p:spPr>
          <a:xfrm>
            <a:off x="2130552" y="1188720"/>
            <a:ext cx="1536192" cy="1371600"/>
          </a:xfrm>
          <a:prstGeom prst="rect">
            <a:avLst/>
          </a:prstGeom>
          <a:solidFill>
            <a:srgbClr val="F2F6FC"/>
          </a:solidFill>
          <a:ln w="9525">
            <a:solidFill>
              <a:srgbClr val="D5DCEA"/>
            </a:solidFill>
            <a:prstDash val="solid"/>
          </a:ln>
        </p:spPr>
      </p:sp>
      <p:sp>
        <p:nvSpPr>
          <p:cNvPr id="8" name="Text 5"/>
          <p:cNvSpPr/>
          <p:nvPr/>
        </p:nvSpPr>
        <p:spPr>
          <a:xfrm>
            <a:off x="2240280"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1:6–10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Many Faces of the Gospel</a:t>
            </a:r>
            <a:endParaRPr lang="en-US" sz="1300" dirty="0"/>
          </a:p>
        </p:txBody>
      </p:sp>
      <p:sp>
        <p:nvSpPr>
          <p:cNvPr id="9" name="Shape 6"/>
          <p:cNvSpPr/>
          <p:nvPr/>
        </p:nvSpPr>
        <p:spPr>
          <a:xfrm>
            <a:off x="3803904" y="1188720"/>
            <a:ext cx="1536192" cy="1371600"/>
          </a:xfrm>
          <a:prstGeom prst="rect">
            <a:avLst/>
          </a:prstGeom>
          <a:solidFill>
            <a:srgbClr val="F2F6FC"/>
          </a:solidFill>
          <a:ln w="9525">
            <a:solidFill>
              <a:srgbClr val="D5DCEA"/>
            </a:solidFill>
            <a:prstDash val="solid"/>
          </a:ln>
        </p:spPr>
      </p:sp>
      <p:sp>
        <p:nvSpPr>
          <p:cNvPr id="10" name="Text 7"/>
          <p:cNvSpPr/>
          <p:nvPr/>
        </p:nvSpPr>
        <p:spPr>
          <a:xfrm>
            <a:off x="3913632"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Delivering the Gospel</a:t>
            </a:r>
            <a:endParaRPr lang="en-US" sz="1300" dirty="0"/>
          </a:p>
        </p:txBody>
      </p:sp>
      <p:sp>
        <p:nvSpPr>
          <p:cNvPr id="11" name="Shape 8"/>
          <p:cNvSpPr/>
          <p:nvPr/>
        </p:nvSpPr>
        <p:spPr>
          <a:xfrm>
            <a:off x="5477256" y="1188720"/>
            <a:ext cx="1536192" cy="1371600"/>
          </a:xfrm>
          <a:prstGeom prst="rect">
            <a:avLst/>
          </a:prstGeom>
          <a:solidFill>
            <a:srgbClr val="F2F6FC"/>
          </a:solidFill>
          <a:ln w="9525">
            <a:solidFill>
              <a:srgbClr val="D5DCEA"/>
            </a:solidFill>
            <a:prstDash val="solid"/>
          </a:ln>
        </p:spPr>
      </p:sp>
      <p:sp>
        <p:nvSpPr>
          <p:cNvPr id="12" name="Text 9"/>
          <p:cNvSpPr/>
          <p:nvPr/>
        </p:nvSpPr>
        <p:spPr>
          <a:xfrm>
            <a:off x="5586984"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2:13–20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Successful Life of Service</a:t>
            </a:r>
            <a:endParaRPr lang="en-US" sz="1300" dirty="0"/>
          </a:p>
        </p:txBody>
      </p:sp>
      <p:sp>
        <p:nvSpPr>
          <p:cNvPr id="13" name="Shape 10"/>
          <p:cNvSpPr/>
          <p:nvPr/>
        </p:nvSpPr>
        <p:spPr>
          <a:xfrm>
            <a:off x="7150608" y="1188720"/>
            <a:ext cx="1536192" cy="1371600"/>
          </a:xfrm>
          <a:prstGeom prst="rect">
            <a:avLst/>
          </a:prstGeom>
          <a:solidFill>
            <a:srgbClr val="F2F6FC"/>
          </a:solidFill>
          <a:ln w="9525">
            <a:solidFill>
              <a:srgbClr val="D5DCEA"/>
            </a:solidFill>
            <a:prstDash val="solid"/>
          </a:ln>
        </p:spPr>
      </p:sp>
      <p:sp>
        <p:nvSpPr>
          <p:cNvPr id="14" name="Text 11"/>
          <p:cNvSpPr/>
          <p:nvPr/>
        </p:nvSpPr>
        <p:spPr>
          <a:xfrm>
            <a:off x="7260336"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3:1–13</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Facing Tribulation</a:t>
            </a:r>
            <a:endParaRPr lang="en-US" sz="1300" dirty="0"/>
          </a:p>
        </p:txBody>
      </p:sp>
      <p:sp>
        <p:nvSpPr>
          <p:cNvPr id="15" name="Shape 12"/>
          <p:cNvSpPr/>
          <p:nvPr/>
        </p:nvSpPr>
        <p:spPr>
          <a:xfrm>
            <a:off x="457200" y="2761488"/>
            <a:ext cx="1536192" cy="1371600"/>
          </a:xfrm>
          <a:prstGeom prst="rect">
            <a:avLst/>
          </a:prstGeom>
          <a:solidFill>
            <a:srgbClr val="F2F6FC"/>
          </a:solidFill>
          <a:ln w="9525">
            <a:solidFill>
              <a:srgbClr val="D5DCEA"/>
            </a:solidFill>
            <a:prstDash val="solid"/>
          </a:ln>
        </p:spPr>
      </p:sp>
      <p:sp>
        <p:nvSpPr>
          <p:cNvPr id="16" name="Text 13"/>
          <p:cNvSpPr/>
          <p:nvPr/>
        </p:nvSpPr>
        <p:spPr>
          <a:xfrm>
            <a:off x="566928"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4:1–12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Life That Pleases God</a:t>
            </a:r>
            <a:endParaRPr lang="en-US" sz="1300" dirty="0"/>
          </a:p>
        </p:txBody>
      </p:sp>
      <p:sp>
        <p:nvSpPr>
          <p:cNvPr id="17" name="Shape 14"/>
          <p:cNvSpPr/>
          <p:nvPr/>
        </p:nvSpPr>
        <p:spPr>
          <a:xfrm>
            <a:off x="2130552" y="2761488"/>
            <a:ext cx="1536192" cy="1371600"/>
          </a:xfrm>
          <a:prstGeom prst="rect">
            <a:avLst/>
          </a:prstGeom>
          <a:solidFill>
            <a:srgbClr val="F2F6FC"/>
          </a:solidFill>
          <a:ln w="9525">
            <a:solidFill>
              <a:srgbClr val="D5DCEA"/>
            </a:solidFill>
            <a:prstDash val="solid"/>
          </a:ln>
        </p:spPr>
      </p:sp>
      <p:sp>
        <p:nvSpPr>
          <p:cNvPr id="18" name="Text 15"/>
          <p:cNvSpPr/>
          <p:nvPr/>
        </p:nvSpPr>
        <p:spPr>
          <a:xfrm>
            <a:off x="2240280"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4:13–18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Rapture of the Church</a:t>
            </a:r>
            <a:endParaRPr lang="en-US" sz="1300" dirty="0"/>
          </a:p>
        </p:txBody>
      </p:sp>
      <p:sp>
        <p:nvSpPr>
          <p:cNvPr id="19" name="Shape 16"/>
          <p:cNvSpPr/>
          <p:nvPr/>
        </p:nvSpPr>
        <p:spPr>
          <a:xfrm>
            <a:off x="3803904" y="2761488"/>
            <a:ext cx="1536192" cy="1371600"/>
          </a:xfrm>
          <a:prstGeom prst="rect">
            <a:avLst/>
          </a:prstGeom>
          <a:solidFill>
            <a:srgbClr val="F2F6FC"/>
          </a:solidFill>
          <a:ln w="9525">
            <a:solidFill>
              <a:srgbClr val="D5DCEA"/>
            </a:solidFill>
            <a:prstDash val="solid"/>
          </a:ln>
        </p:spPr>
      </p:sp>
      <p:sp>
        <p:nvSpPr>
          <p:cNvPr id="20" name="Text 17"/>
          <p:cNvSpPr/>
          <p:nvPr/>
        </p:nvSpPr>
        <p:spPr>
          <a:xfrm>
            <a:off x="3913632"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08  </a:t>
            </a:r>
            <a:pPr indent="0" marL="0">
              <a:buNone/>
            </a:pPr>
            <a:r>
              <a:rPr lang="en-US" sz="1050" b="1" dirty="0">
                <a:solidFill>
                  <a:srgbClr val="595959"/>
                </a:solidFill>
                <a:latin typeface="Arial" pitchFamily="34" charset="0"/>
                <a:ea typeface="Arial" pitchFamily="34" charset="-122"/>
                <a:cs typeface="Arial" pitchFamily="34" charset="-120"/>
              </a:rPr>
              <a:t>5:1–11</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A Purifying Hope</a:t>
            </a:r>
            <a:endParaRPr lang="en-US" sz="1300" dirty="0"/>
          </a:p>
        </p:txBody>
      </p:sp>
      <p:sp>
        <p:nvSpPr>
          <p:cNvPr id="21" name="Shape 18"/>
          <p:cNvSpPr/>
          <p:nvPr/>
        </p:nvSpPr>
        <p:spPr>
          <a:xfrm>
            <a:off x="5477256" y="2761488"/>
            <a:ext cx="1536192" cy="1371600"/>
          </a:xfrm>
          <a:prstGeom prst="rect">
            <a:avLst/>
          </a:prstGeom>
          <a:solidFill>
            <a:srgbClr val="1F3864"/>
          </a:solidFill>
          <a:ln w="9525">
            <a:solidFill>
              <a:srgbClr val="1F3864"/>
            </a:solidFill>
            <a:prstDash val="solid"/>
          </a:ln>
        </p:spPr>
      </p:sp>
      <p:sp>
        <p:nvSpPr>
          <p:cNvPr id="22" name="Text 19"/>
          <p:cNvSpPr/>
          <p:nvPr/>
        </p:nvSpPr>
        <p:spPr>
          <a:xfrm>
            <a:off x="5586984" y="2871216"/>
            <a:ext cx="1316736"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09  </a:t>
            </a:r>
            <a:pPr indent="0" marL="0">
              <a:buNone/>
            </a:pPr>
            <a:r>
              <a:rPr lang="en-US" sz="1050" b="1" dirty="0">
                <a:solidFill>
                  <a:srgbClr val="C9D5EE"/>
                </a:solidFill>
                <a:latin typeface="Arial" pitchFamily="34" charset="0"/>
                <a:ea typeface="Arial" pitchFamily="34" charset="-122"/>
                <a:cs typeface="Arial" pitchFamily="34" charset="-120"/>
              </a:rPr>
              <a:t>5:12–22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The Coming of the Lord: Exhortations</a:t>
            </a:r>
            <a:endParaRPr lang="en-US" sz="1300" dirty="0"/>
          </a:p>
        </p:txBody>
      </p:sp>
      <p:sp>
        <p:nvSpPr>
          <p:cNvPr id="23" name="Shape 20"/>
          <p:cNvSpPr/>
          <p:nvPr/>
        </p:nvSpPr>
        <p:spPr>
          <a:xfrm>
            <a:off x="7150608" y="2761488"/>
            <a:ext cx="1536192" cy="1371600"/>
          </a:xfrm>
          <a:prstGeom prst="rect">
            <a:avLst/>
          </a:prstGeom>
          <a:solidFill>
            <a:srgbClr val="F2F6FC"/>
          </a:solidFill>
          <a:ln w="9525">
            <a:solidFill>
              <a:srgbClr val="D5DCEA"/>
            </a:solidFill>
            <a:prstDash val="solid"/>
          </a:ln>
        </p:spPr>
      </p:sp>
      <p:sp>
        <p:nvSpPr>
          <p:cNvPr id="24" name="Text 21"/>
          <p:cNvSpPr/>
          <p:nvPr/>
        </p:nvSpPr>
        <p:spPr>
          <a:xfrm>
            <a:off x="7260336"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10  </a:t>
            </a:r>
            <a:pPr indent="0" marL="0">
              <a:buNone/>
            </a:pPr>
            <a:r>
              <a:rPr lang="en-US" sz="1050" b="1" dirty="0">
                <a:solidFill>
                  <a:srgbClr val="595959"/>
                </a:solidFill>
                <a:latin typeface="Arial" pitchFamily="34" charset="0"/>
                <a:ea typeface="Arial" pitchFamily="34" charset="-122"/>
                <a:cs typeface="Arial" pitchFamily="34" charset="-120"/>
              </a:rPr>
              <a:t>5:23–28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’Til We Meet Again</a:t>
            </a:r>
            <a:endParaRPr lang="en-US" sz="1300" dirty="0"/>
          </a:p>
        </p:txBody>
      </p:sp>
      <p:sp>
        <p:nvSpPr>
          <p:cNvPr id="25" name="Shape 22"/>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6" name="Text 23"/>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“Finally” (4:1) marks the hinge:  </a:t>
            </a:r>
            <a:pPr indent="0" marL="0">
              <a:buNone/>
            </a:pPr>
            <a:r>
              <a:rPr lang="en-US" sz="1100" dirty="0">
                <a:solidFill>
                  <a:srgbClr val="FFFFFF"/>
                </a:solidFill>
                <a:latin typeface="Arial" pitchFamily="34" charset="0"/>
                <a:ea typeface="Arial" pitchFamily="34" charset="-122"/>
                <a:cs typeface="Arial" pitchFamily="34" charset="-120"/>
              </a:rPr>
              <a:t>chapters 1–3 lay the foundation; chapters 4–5 turn that theology into life.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sets of instructions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5:12–22 · Outline I–III</a:t>
            </a:r>
            <a:endParaRPr lang="en-US" sz="1200" dirty="0"/>
          </a:p>
        </p:txBody>
      </p:sp>
      <p:sp>
        <p:nvSpPr>
          <p:cNvPr id="5" name="Shape 2"/>
          <p:cNvSpPr/>
          <p:nvPr/>
        </p:nvSpPr>
        <p:spPr>
          <a:xfrm>
            <a:off x="457200" y="1188720"/>
            <a:ext cx="2499360" cy="365760"/>
          </a:xfrm>
          <a:prstGeom prst="rect">
            <a:avLst/>
          </a:prstGeom>
          <a:solidFill>
            <a:srgbClr val="2E5496"/>
          </a:solidFill>
          <a:ln w="12700">
            <a:solidFill>
              <a:srgbClr val="2E5496"/>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 those who are led · 12–13</a:t>
            </a:r>
            <a:endParaRPr lang="en-US" sz="1200" dirty="0"/>
          </a:p>
        </p:txBody>
      </p:sp>
      <p:sp>
        <p:nvSpPr>
          <p:cNvPr id="7" name="Shape 4"/>
          <p:cNvSpPr/>
          <p:nvPr/>
        </p:nvSpPr>
        <p:spPr>
          <a:xfrm>
            <a:off x="457200" y="1554480"/>
            <a:ext cx="2499360" cy="2011680"/>
          </a:xfrm>
          <a:prstGeom prst="rect">
            <a:avLst/>
          </a:prstGeom>
          <a:solidFill>
            <a:srgbClr val="F2F6FC"/>
          </a:solidFill>
          <a:ln w="9525">
            <a:solidFill>
              <a:srgbClr val="D5DCEA"/>
            </a:solidFill>
            <a:prstDash val="solid"/>
          </a:ln>
        </p:spPr>
      </p:sp>
      <p:sp>
        <p:nvSpPr>
          <p:cNvPr id="8" name="Text 5"/>
          <p:cNvSpPr/>
          <p:nvPr/>
        </p:nvSpPr>
        <p:spPr>
          <a:xfrm>
            <a:off x="54864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Recognize your leaders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Esteem them very highly in love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 at peace among yourselves</a:t>
            </a:r>
            <a:endParaRPr lang="en-US" sz="1250" dirty="0"/>
          </a:p>
        </p:txBody>
      </p:sp>
      <p:sp>
        <p:nvSpPr>
          <p:cNvPr id="9" name="Shape 6"/>
          <p:cNvSpPr/>
          <p:nvPr/>
        </p:nvSpPr>
        <p:spPr>
          <a:xfrm>
            <a:off x="3020568" y="225856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2E5496"/>
          </a:solidFill>
          <a:ln w="12700">
            <a:solidFill>
              <a:srgbClr val="2E5496"/>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 those who lead · 14–15</a:t>
            </a:r>
            <a:endParaRPr lang="en-US" sz="1200" dirty="0"/>
          </a:p>
        </p:txBody>
      </p:sp>
      <p:sp>
        <p:nvSpPr>
          <p:cNvPr id="12" name="Shape 9"/>
          <p:cNvSpPr/>
          <p:nvPr/>
        </p:nvSpPr>
        <p:spPr>
          <a:xfrm>
            <a:off x="3322320" y="1554480"/>
            <a:ext cx="2499360" cy="201168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Warn, comfort, uphold, be patient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Never evil for evil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Always pursue the good</a:t>
            </a:r>
            <a:endParaRPr lang="en-US" sz="1250" dirty="0"/>
          </a:p>
        </p:txBody>
      </p:sp>
      <p:sp>
        <p:nvSpPr>
          <p:cNvPr id="14" name="Shape 11"/>
          <p:cNvSpPr/>
          <p:nvPr/>
        </p:nvSpPr>
        <p:spPr>
          <a:xfrm>
            <a:off x="5885688" y="225856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 the whole church · 16–22</a:t>
            </a:r>
            <a:endParaRPr lang="en-US" sz="1200" dirty="0"/>
          </a:p>
        </p:txBody>
      </p:sp>
      <p:sp>
        <p:nvSpPr>
          <p:cNvPr id="17" name="Shape 14"/>
          <p:cNvSpPr/>
          <p:nvPr/>
        </p:nvSpPr>
        <p:spPr>
          <a:xfrm>
            <a:off x="6187440" y="1554480"/>
            <a:ext cx="2499360" cy="201168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Rejoice · pray · give thanks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Don’t quench the Spirit or despise prophecy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Test · hold fast · abstain</a:t>
            </a:r>
            <a:endParaRPr lang="en-US" sz="1250" dirty="0"/>
          </a:p>
        </p:txBody>
      </p:sp>
      <p:sp>
        <p:nvSpPr>
          <p:cNvPr id="19" name="Shape 16"/>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20" name="Text 17"/>
          <p:cNvSpPr/>
          <p:nvPr/>
        </p:nvSpPr>
        <p:spPr>
          <a:xfrm>
            <a:off x="621792" y="374904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coming of the Lord thrills our souls. Obeying the Lord fills our souls. These exhortations are the proof of whether we believe what we have heard.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Marks of a good leader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5:12–13 · I.A–C — Instructions to those who are led</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toil</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κοπιάω</a:t>
            </a:r>
            <a:pPr indent="0" marL="0">
              <a:buNone/>
            </a:pPr>
            <a:r>
              <a:rPr lang="en-US" sz="850" dirty="0">
                <a:solidFill>
                  <a:srgbClr val="DCE4F2"/>
                </a:solidFill>
                <a:latin typeface="Arial" pitchFamily="34" charset="0"/>
                <a:ea typeface="Arial" pitchFamily="34" charset="-122"/>
                <a:cs typeface="Arial" pitchFamily="34" charset="-120"/>
              </a:rPr>
              <a:t>  kopiaō · G2872</a:t>
            </a:r>
            <a:endParaRPr lang="en-US" sz="1200" dirty="0"/>
          </a:p>
        </p:txBody>
      </p:sp>
      <p:sp>
        <p:nvSpPr>
          <p:cNvPr id="7" name="Shape 4"/>
          <p:cNvSpPr/>
          <p:nvPr/>
        </p:nvSpPr>
        <p:spPr>
          <a:xfrm>
            <a:off x="457200" y="1755648"/>
            <a:ext cx="2621280" cy="1536192"/>
          </a:xfrm>
          <a:prstGeom prst="rect">
            <a:avLst/>
          </a:prstGeom>
          <a:solidFill>
            <a:srgbClr val="F2F6FC"/>
          </a:solidFill>
          <a:ln w="9525">
            <a:solidFill>
              <a:srgbClr val="D5DCEA"/>
            </a:solidFill>
            <a:prstDash val="solid"/>
          </a:ln>
        </p:spPr>
      </p:sp>
      <p:sp>
        <p:nvSpPr>
          <p:cNvPr id="8" name="Text 5"/>
          <p:cNvSpPr/>
          <p:nvPr/>
        </p:nvSpPr>
        <p:spPr>
          <a:xfrm>
            <a:off x="54864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Hard work to the point of weariness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full day’s job — then the church</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take charge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προΐστημι</a:t>
            </a:r>
            <a:pPr indent="0" marL="0">
              <a:buNone/>
            </a:pPr>
            <a:r>
              <a:rPr lang="en-US" sz="850" dirty="0">
                <a:solidFill>
                  <a:srgbClr val="DCE4F2"/>
                </a:solidFill>
                <a:latin typeface="Arial" pitchFamily="34" charset="0"/>
                <a:ea typeface="Arial" pitchFamily="34" charset="-122"/>
                <a:cs typeface="Arial" pitchFamily="34" charset="-120"/>
              </a:rPr>
              <a:t>  proistēmi · G4291</a:t>
            </a:r>
            <a:endParaRPr lang="en-US" sz="1200" dirty="0"/>
          </a:p>
        </p:txBody>
      </p:sp>
      <p:sp>
        <p:nvSpPr>
          <p:cNvPr id="11" name="Shape 8"/>
          <p:cNvSpPr/>
          <p:nvPr/>
        </p:nvSpPr>
        <p:spPr>
          <a:xfrm>
            <a:off x="3261360" y="1755648"/>
            <a:ext cx="2621280" cy="153619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“stand before you”</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Good leaders don’t hide — they lead from out front</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train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“in the Lord”</a:t>
            </a:r>
            <a:pPr indent="0" marL="0">
              <a:buNone/>
            </a:pPr>
            <a:r>
              <a:rPr lang="en-US" sz="850" dirty="0">
                <a:solidFill>
                  <a:srgbClr val="DCE4F2"/>
                </a:solidFill>
                <a:latin typeface="Arial" pitchFamily="34" charset="0"/>
                <a:ea typeface="Arial" pitchFamily="34" charset="-122"/>
                <a:cs typeface="Arial" pitchFamily="34" charset="-120"/>
              </a:rPr>
              <a:t>  in a truly Christian way</a:t>
            </a:r>
            <a:endParaRPr lang="en-US" sz="1200" dirty="0"/>
          </a:p>
        </p:txBody>
      </p:sp>
      <p:sp>
        <p:nvSpPr>
          <p:cNvPr id="15" name="Shape 12"/>
          <p:cNvSpPr/>
          <p:nvPr/>
        </p:nvSpPr>
        <p:spPr>
          <a:xfrm>
            <a:off x="6065520" y="1755648"/>
            <a:ext cx="2621280" cy="153619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4081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Training the people to do the work of the Lord</a:t>
            </a:r>
            <a:endParaRPr lang="en-US" sz="1250" dirty="0"/>
          </a:p>
        </p:txBody>
      </p:sp>
      <p:sp>
        <p:nvSpPr>
          <p:cNvPr id="17" name="Shape 14"/>
          <p:cNvSpPr/>
          <p:nvPr/>
        </p:nvSpPr>
        <p:spPr>
          <a:xfrm>
            <a:off x="457200" y="3474720"/>
            <a:ext cx="8229600" cy="1143000"/>
          </a:xfrm>
          <a:prstGeom prst="roundRect">
            <a:avLst>
              <a:gd name="adj" fmla="val 4800"/>
            </a:avLst>
          </a:prstGeom>
          <a:solidFill>
            <a:srgbClr val="1F3864"/>
          </a:solidFill>
          <a:ln w="12700">
            <a:solidFill>
              <a:srgbClr val="1F3864"/>
            </a:solidFill>
            <a:prstDash val="solid"/>
          </a:ln>
        </p:spPr>
      </p:sp>
      <p:sp>
        <p:nvSpPr>
          <p:cNvPr id="18" name="Text 15"/>
          <p:cNvSpPr/>
          <p:nvPr/>
        </p:nvSpPr>
        <p:spPr>
          <a:xfrm>
            <a:off x="621792" y="3474720"/>
            <a:ext cx="7900416" cy="114300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Esteem them very highly (ἡγέομαι)  </a:t>
            </a:r>
            <a:pPr indent="0" marL="0">
              <a:buNone/>
            </a:pPr>
            <a:r>
              <a:rPr lang="en-US" sz="1200" dirty="0">
                <a:solidFill>
                  <a:srgbClr val="FFFFFF"/>
                </a:solidFill>
                <a:latin typeface="Arial" pitchFamily="34" charset="0"/>
                <a:ea typeface="Arial" pitchFamily="34" charset="-122"/>
                <a:cs typeface="Arial" pitchFamily="34" charset="-120"/>
              </a:rPr>
              <a:t>— in agapē love, for their work’s sake. You don’t have to like the way a pastor combs his hair. Not personality — faithfulness. And “be at peace”: maintain the peace you already have.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Four people, four responses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5:14 · II.A — Help these people</a:t>
            </a:r>
            <a:endParaRPr lang="en-US" sz="1200" dirty="0"/>
          </a:p>
        </p:txBody>
      </p:sp>
      <p:sp>
        <p:nvSpPr>
          <p:cNvPr id="5" name="Shape 2"/>
          <p:cNvSpPr/>
          <p:nvPr/>
        </p:nvSpPr>
        <p:spPr>
          <a:xfrm>
            <a:off x="457200" y="1188720"/>
            <a:ext cx="4018788" cy="1261872"/>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6B7280"/>
          </a:solidFill>
          <a:ln w="12700">
            <a:solidFill>
              <a:srgbClr val="6B7280"/>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326898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Warn the disorderly</a:t>
            </a:r>
            <a:endParaRPr lang="en-US" sz="1200" dirty="0"/>
          </a:p>
        </p:txBody>
      </p:sp>
      <p:sp>
        <p:nvSpPr>
          <p:cNvPr id="9" name="Text 6"/>
          <p:cNvSpPr/>
          <p:nvPr/>
        </p:nvSpPr>
        <p:spPr>
          <a:xfrm>
            <a:off x="594360" y="1828800"/>
            <a:ext cx="3762756" cy="54864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ἄτακτος — broke rank: idle, waiting for the Lord (2 Thess 3:6–8)</a:t>
            </a:r>
            <a:endParaRPr lang="en-US" sz="1100" dirty="0"/>
          </a:p>
        </p:txBody>
      </p:sp>
      <p:sp>
        <p:nvSpPr>
          <p:cNvPr id="10" name="Shape 7"/>
          <p:cNvSpPr/>
          <p:nvPr/>
        </p:nvSpPr>
        <p:spPr>
          <a:xfrm>
            <a:off x="4668012" y="1188720"/>
            <a:ext cx="4018788" cy="1261872"/>
          </a:xfrm>
          <a:prstGeom prst="rect">
            <a:avLst/>
          </a:prstGeom>
          <a:solidFill>
            <a:srgbClr val="F2F6FC"/>
          </a:solidFill>
          <a:ln w="9525">
            <a:solidFill>
              <a:srgbClr val="D5DCEA"/>
            </a:solidFill>
            <a:prstDash val="solid"/>
          </a:ln>
        </p:spPr>
      </p:sp>
      <p:sp>
        <p:nvSpPr>
          <p:cNvPr id="11" name="Shape 8"/>
          <p:cNvSpPr/>
          <p:nvPr/>
        </p:nvSpPr>
        <p:spPr>
          <a:xfrm>
            <a:off x="4805172"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4805172"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5326380" y="1325880"/>
            <a:ext cx="326898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Comfort the fainthearted</a:t>
            </a:r>
            <a:endParaRPr lang="en-US" sz="1200" dirty="0"/>
          </a:p>
        </p:txBody>
      </p:sp>
      <p:sp>
        <p:nvSpPr>
          <p:cNvPr id="14" name="Text 11"/>
          <p:cNvSpPr/>
          <p:nvPr/>
        </p:nvSpPr>
        <p:spPr>
          <a:xfrm>
            <a:off x="4805172" y="1828800"/>
            <a:ext cx="3762756" cy="54864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ὀλιγόψυχος — the little-souled: grief, fear, intimidation</a:t>
            </a:r>
            <a:endParaRPr lang="en-US" sz="1100" dirty="0"/>
          </a:p>
        </p:txBody>
      </p:sp>
      <p:sp>
        <p:nvSpPr>
          <p:cNvPr id="15" name="Shape 12"/>
          <p:cNvSpPr/>
          <p:nvPr/>
        </p:nvSpPr>
        <p:spPr>
          <a:xfrm>
            <a:off x="457200" y="2596896"/>
            <a:ext cx="4018788" cy="1261872"/>
          </a:xfrm>
          <a:prstGeom prst="rect">
            <a:avLst/>
          </a:prstGeom>
          <a:solidFill>
            <a:srgbClr val="F2F6FC"/>
          </a:solidFill>
          <a:ln w="9525">
            <a:solidFill>
              <a:srgbClr val="D5DCEA"/>
            </a:solidFill>
            <a:prstDash val="solid"/>
          </a:ln>
        </p:spPr>
      </p:sp>
      <p:sp>
        <p:nvSpPr>
          <p:cNvPr id="16" name="Shape 13"/>
          <p:cNvSpPr/>
          <p:nvPr/>
        </p:nvSpPr>
        <p:spPr>
          <a:xfrm>
            <a:off x="594360" y="2734056"/>
            <a:ext cx="420624" cy="420624"/>
          </a:xfrm>
          <a:prstGeom prst="ellipse">
            <a:avLst/>
          </a:prstGeom>
          <a:solidFill>
            <a:srgbClr val="2E5496"/>
          </a:solidFill>
          <a:ln w="12700">
            <a:solidFill>
              <a:srgbClr val="2E5496"/>
            </a:solidFill>
            <a:prstDash val="solid"/>
          </a:ln>
        </p:spPr>
      </p:sp>
      <p:sp>
        <p:nvSpPr>
          <p:cNvPr id="17" name="Text 14"/>
          <p:cNvSpPr/>
          <p:nvPr/>
        </p:nvSpPr>
        <p:spPr>
          <a:xfrm>
            <a:off x="59436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1115568" y="2734056"/>
            <a:ext cx="326898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Uphold the weak</a:t>
            </a:r>
            <a:endParaRPr lang="en-US" sz="1200" dirty="0"/>
          </a:p>
        </p:txBody>
      </p:sp>
      <p:sp>
        <p:nvSpPr>
          <p:cNvPr id="19" name="Text 16"/>
          <p:cNvSpPr/>
          <p:nvPr/>
        </p:nvSpPr>
        <p:spPr>
          <a:xfrm>
            <a:off x="594360" y="3236976"/>
            <a:ext cx="3762756" cy="54864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Morally or spiritually weak — bear them up, hold them steady</a:t>
            </a:r>
            <a:endParaRPr lang="en-US" sz="1100" dirty="0"/>
          </a:p>
        </p:txBody>
      </p:sp>
      <p:sp>
        <p:nvSpPr>
          <p:cNvPr id="20" name="Shape 17"/>
          <p:cNvSpPr/>
          <p:nvPr/>
        </p:nvSpPr>
        <p:spPr>
          <a:xfrm>
            <a:off x="4668012" y="2596896"/>
            <a:ext cx="4018788" cy="1261872"/>
          </a:xfrm>
          <a:prstGeom prst="rect">
            <a:avLst/>
          </a:prstGeom>
          <a:solidFill>
            <a:srgbClr val="F2F6FC"/>
          </a:solidFill>
          <a:ln w="9525">
            <a:solidFill>
              <a:srgbClr val="D5DCEA"/>
            </a:solidFill>
            <a:prstDash val="solid"/>
          </a:ln>
        </p:spPr>
      </p:sp>
      <p:sp>
        <p:nvSpPr>
          <p:cNvPr id="21" name="Shape 18"/>
          <p:cNvSpPr/>
          <p:nvPr/>
        </p:nvSpPr>
        <p:spPr>
          <a:xfrm>
            <a:off x="4805172" y="2734056"/>
            <a:ext cx="420624" cy="420624"/>
          </a:xfrm>
          <a:prstGeom prst="ellipse">
            <a:avLst/>
          </a:prstGeom>
          <a:solidFill>
            <a:srgbClr val="375623"/>
          </a:solidFill>
          <a:ln w="12700">
            <a:solidFill>
              <a:srgbClr val="375623"/>
            </a:solidFill>
            <a:prstDash val="solid"/>
          </a:ln>
        </p:spPr>
      </p:sp>
      <p:sp>
        <p:nvSpPr>
          <p:cNvPr id="22" name="Text 19"/>
          <p:cNvSpPr/>
          <p:nvPr/>
        </p:nvSpPr>
        <p:spPr>
          <a:xfrm>
            <a:off x="4805172"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5326380" y="2734056"/>
            <a:ext cx="3268980"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Be patient with all</a:t>
            </a:r>
            <a:endParaRPr lang="en-US" sz="1200" dirty="0"/>
          </a:p>
        </p:txBody>
      </p:sp>
      <p:sp>
        <p:nvSpPr>
          <p:cNvPr id="24" name="Text 21"/>
          <p:cNvSpPr/>
          <p:nvPr/>
        </p:nvSpPr>
        <p:spPr>
          <a:xfrm>
            <a:off x="4805172" y="3236976"/>
            <a:ext cx="3762756" cy="54864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Long-suffering — as patient as God has been with you</a:t>
            </a:r>
            <a:endParaRPr lang="en-US" sz="1100" dirty="0"/>
          </a:p>
        </p:txBody>
      </p:sp>
      <p:sp>
        <p:nvSpPr>
          <p:cNvPr id="25" name="Shape 22"/>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6" name="Text 23"/>
          <p:cNvSpPr/>
          <p:nvPr/>
        </p:nvSpPr>
        <p:spPr>
          <a:xfrm>
            <a:off x="621792" y="4023360"/>
            <a:ext cx="7900416" cy="56692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Warning the fainthearted would crush them; comforting the disorderly would enable them. Good leadership diagnoses before it responds.</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levels of response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5:15 · II.B — Hold these principles</a:t>
            </a:r>
            <a:endParaRPr lang="en-US" sz="1200" dirty="0"/>
          </a:p>
        </p:txBody>
      </p:sp>
      <p:sp>
        <p:nvSpPr>
          <p:cNvPr id="5" name="Shape 2"/>
          <p:cNvSpPr/>
          <p:nvPr/>
        </p:nvSpPr>
        <p:spPr>
          <a:xfrm>
            <a:off x="457200" y="1188720"/>
            <a:ext cx="2602992" cy="1965960"/>
          </a:xfrm>
          <a:prstGeom prst="roundRect">
            <a:avLst>
              <a:gd name="adj" fmla="val 2791"/>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6B7280"/>
          </a:solidFill>
          <a:ln w="12700">
            <a:solidFill>
              <a:srgbClr val="6B7280"/>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Evil for evil</a:t>
            </a:r>
            <a:endParaRPr lang="en-US" sz="1150" dirty="0"/>
          </a:p>
        </p:txBody>
      </p:sp>
      <p:sp>
        <p:nvSpPr>
          <p:cNvPr id="9" name="Text 6"/>
          <p:cNvSpPr/>
          <p:nvPr/>
        </p:nvSpPr>
        <p:spPr>
          <a:xfrm>
            <a:off x="530352"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Human — natural instinct; it requires no grace</a:t>
            </a:r>
            <a:endParaRPr lang="en-US" sz="1150" dirty="0"/>
          </a:p>
        </p:txBody>
      </p:sp>
      <p:sp>
        <p:nvSpPr>
          <p:cNvPr id="10" name="Text 7"/>
          <p:cNvSpPr/>
          <p:nvPr/>
        </p:nvSpPr>
        <p:spPr>
          <a:xfrm>
            <a:off x="530352"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cut off in traffic</a:t>
            </a:r>
            <a:endParaRPr lang="en-US" sz="900" dirty="0"/>
          </a:p>
        </p:txBody>
      </p:sp>
      <p:sp>
        <p:nvSpPr>
          <p:cNvPr id="11" name="Shape 8"/>
          <p:cNvSpPr/>
          <p:nvPr/>
        </p:nvSpPr>
        <p:spPr>
          <a:xfrm>
            <a:off x="3064764" y="205282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965960"/>
          </a:xfrm>
          <a:prstGeom prst="roundRect">
            <a:avLst>
              <a:gd name="adj" fmla="val 2791"/>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6B7280"/>
          </a:solidFill>
          <a:ln w="12700">
            <a:solidFill>
              <a:srgbClr val="6B7280"/>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Evil for good</a:t>
            </a:r>
            <a:endParaRPr lang="en-US" sz="1150" dirty="0"/>
          </a:p>
        </p:txBody>
      </p:sp>
      <p:sp>
        <p:nvSpPr>
          <p:cNvPr id="16" name="Text 13"/>
          <p:cNvSpPr/>
          <p:nvPr/>
        </p:nvSpPr>
        <p:spPr>
          <a:xfrm>
            <a:off x="3343656"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Devilish — someone does you good, you do them evil</a:t>
            </a:r>
            <a:endParaRPr lang="en-US" sz="1150" dirty="0"/>
          </a:p>
        </p:txBody>
      </p:sp>
      <p:sp>
        <p:nvSpPr>
          <p:cNvPr id="17" name="Text 14"/>
          <p:cNvSpPr/>
          <p:nvPr/>
        </p:nvSpPr>
        <p:spPr>
          <a:xfrm>
            <a:off x="3343656"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never</a:t>
            </a:r>
            <a:endParaRPr lang="en-US" sz="900" dirty="0"/>
          </a:p>
        </p:txBody>
      </p:sp>
      <p:sp>
        <p:nvSpPr>
          <p:cNvPr id="18" name="Shape 15"/>
          <p:cNvSpPr/>
          <p:nvPr/>
        </p:nvSpPr>
        <p:spPr>
          <a:xfrm>
            <a:off x="5878068" y="205282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965960"/>
          </a:xfrm>
          <a:prstGeom prst="roundRect">
            <a:avLst>
              <a:gd name="adj" fmla="val 2791"/>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Good for evil</a:t>
            </a:r>
            <a:endParaRPr lang="en-US" sz="1150" dirty="0"/>
          </a:p>
        </p:txBody>
      </p:sp>
      <p:sp>
        <p:nvSpPr>
          <p:cNvPr id="23" name="Text 20"/>
          <p:cNvSpPr/>
          <p:nvPr/>
        </p:nvSpPr>
        <p:spPr>
          <a:xfrm>
            <a:off x="6156960" y="2157984"/>
            <a:ext cx="2456688" cy="6126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Divine — where we must be, with anyone</a:t>
            </a:r>
            <a:endParaRPr lang="en-US" sz="1150" dirty="0"/>
          </a:p>
        </p:txBody>
      </p:sp>
      <p:sp>
        <p:nvSpPr>
          <p:cNvPr id="24" name="Text 21"/>
          <p:cNvSpPr/>
          <p:nvPr/>
        </p:nvSpPr>
        <p:spPr>
          <a:xfrm>
            <a:off x="6156960" y="277063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heaps coals of fire</a:t>
            </a:r>
            <a:endParaRPr lang="en-US" sz="900" dirty="0"/>
          </a:p>
        </p:txBody>
      </p:sp>
      <p:sp>
        <p:nvSpPr>
          <p:cNvPr id="25" name="Shape 22"/>
          <p:cNvSpPr/>
          <p:nvPr/>
        </p:nvSpPr>
        <p:spPr>
          <a:xfrm>
            <a:off x="457200" y="3383280"/>
            <a:ext cx="8229600" cy="914400"/>
          </a:xfrm>
          <a:prstGeom prst="roundRect">
            <a:avLst>
              <a:gd name="adj" fmla="val 6000"/>
            </a:avLst>
          </a:prstGeom>
          <a:solidFill>
            <a:srgbClr val="1F3864"/>
          </a:solidFill>
          <a:ln w="12700">
            <a:solidFill>
              <a:srgbClr val="1F3864"/>
            </a:solidFill>
            <a:prstDash val="solid"/>
          </a:ln>
        </p:spPr>
      </p:sp>
      <p:sp>
        <p:nvSpPr>
          <p:cNvPr id="26" name="Text 23"/>
          <p:cNvSpPr/>
          <p:nvPr/>
        </p:nvSpPr>
        <p:spPr>
          <a:xfrm>
            <a:off x="621792" y="3383280"/>
            <a:ext cx="7900416" cy="91440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Prohibit this · Pursue this:  </a:t>
            </a:r>
            <a:pPr indent="0" marL="0">
              <a:buNone/>
            </a:pPr>
            <a:r>
              <a:rPr lang="en-US" sz="1200" dirty="0">
                <a:solidFill>
                  <a:srgbClr val="FFFFFF"/>
                </a:solidFill>
                <a:latin typeface="Arial" pitchFamily="34" charset="0"/>
                <a:ea typeface="Arial" pitchFamily="34" charset="-122"/>
                <a:cs typeface="Arial" pitchFamily="34" charset="-120"/>
              </a:rPr>
              <a:t>“See that no one renders evil for evil to anyone, but always pursue what is good both for yourselves and for all.”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will of God in Christ Jesus for you</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5:16–18 · III.A–C — Rejoice, pray, give thanks</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Always praise · v.16</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χαίρω</a:t>
            </a:r>
            <a:pPr indent="0" marL="0">
              <a:buNone/>
            </a:pPr>
            <a:r>
              <a:rPr lang="en-US" sz="850" dirty="0">
                <a:solidFill>
                  <a:srgbClr val="DCE4F2"/>
                </a:solidFill>
                <a:latin typeface="Arial" pitchFamily="34" charset="0"/>
                <a:ea typeface="Arial" pitchFamily="34" charset="-122"/>
                <a:cs typeface="Arial" pitchFamily="34" charset="-120"/>
              </a:rPr>
              <a:t>  rejoice · G5463</a:t>
            </a:r>
            <a:endParaRPr lang="en-US" sz="1200" dirty="0"/>
          </a:p>
        </p:txBody>
      </p:sp>
      <p:sp>
        <p:nvSpPr>
          <p:cNvPr id="7" name="Shape 4"/>
          <p:cNvSpPr/>
          <p:nvPr/>
        </p:nvSpPr>
        <p:spPr>
          <a:xfrm>
            <a:off x="457200" y="1755648"/>
            <a:ext cx="2499360" cy="1947672"/>
          </a:xfrm>
          <a:prstGeom prst="rect">
            <a:avLst/>
          </a:prstGeom>
          <a:solidFill>
            <a:srgbClr val="F2F6FC"/>
          </a:solidFill>
          <a:ln w="9525">
            <a:solidFill>
              <a:srgbClr val="D5DCEA"/>
            </a:solidFill>
            <a:prstDash val="solid"/>
          </a:ln>
        </p:spPr>
      </p:sp>
      <p:sp>
        <p:nvSpPr>
          <p:cNvPr id="8" name="Text 5"/>
          <p:cNvSpPr/>
          <p:nvPr/>
        </p:nvSpPr>
        <p:spPr>
          <a:xfrm>
            <a:off x="54864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Shortest verse in Greek — 14 letters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Joy is the Christian’s flag: the King is in residence</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Without ceasing, pray · v.17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ἀδιαλείπτως</a:t>
            </a:r>
            <a:pPr indent="0" marL="0">
              <a:buNone/>
            </a:pPr>
            <a:r>
              <a:rPr lang="en-US" sz="850" dirty="0">
                <a:solidFill>
                  <a:srgbClr val="DCE4F2"/>
                </a:solidFill>
                <a:latin typeface="Arial" pitchFamily="34" charset="0"/>
                <a:ea typeface="Arial" pitchFamily="34" charset="-122"/>
                <a:cs typeface="Arial" pitchFamily="34" charset="-120"/>
              </a:rPr>
              <a:t>  without ceasing · G89</a:t>
            </a:r>
            <a:endParaRPr lang="en-US" sz="1200" dirty="0"/>
          </a:p>
        </p:txBody>
      </p:sp>
      <p:sp>
        <p:nvSpPr>
          <p:cNvPr id="12" name="Shape 9"/>
          <p:cNvSpPr/>
          <p:nvPr/>
        </p:nvSpPr>
        <p:spPr>
          <a:xfrm>
            <a:off x="3322320" y="1755648"/>
            <a:ext cx="2499360" cy="19476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Like a hacking cough — all through the day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Stated times, like Daniel — and staying in touch</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all things, appreciate · v.18</a:t>
            </a:r>
            <a:endParaRPr lang="en-US" sz="1200" dirty="0"/>
          </a:p>
        </p:txBody>
      </p:sp>
      <p:sp>
        <p:nvSpPr>
          <p:cNvPr id="17" name="Shape 14"/>
          <p:cNvSpPr/>
          <p:nvPr/>
        </p:nvSpPr>
        <p:spPr>
          <a:xfrm>
            <a:off x="6187440" y="1755648"/>
            <a:ext cx="2499360" cy="19476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In everything — every circumstance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Thank Him for what He has already done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Even while praying for change</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“For this is the will of God in Christ Jesus for you.” What is God’s will for my life? Start there.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Say yes — and test everything</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5:19–22 · III.D–H</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v.19</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Do not quench the Spirit — say yes to God</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σβέννυμι</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throwing water on a fire</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v.20</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Do not despise prophecies — checked by others (1 Cor 14:29)</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now: the completed Scriptures</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v.21a</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Test all things — by the written Word of God</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δοκιμάζω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put it to the fire of the Word</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v.21b</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Hold fast what is good — tested truth is the church’s treasure</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grip it; don’t let it slip</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v.22</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Abstain from every form of evil</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εἶδος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every form evil actually takes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5:12–22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14 addresses the disorderly, the fainthearted, the weak and those who are different. What does it tell us about pastoral ministry that one response doesn’t fit all four?</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says rejoicing, praying and giving thanks are “the will of God in Christ Jesus for you.” How does that change how you approach those three things?</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Return Good for Evil, Every Time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Do one specific, unrequested good thing this week for someone who has wronged you — and tell no one.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Rejoice, Pray, Give Thanks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For seven days: one sentence of rejoicing, one minute of prayer, one expression of thanks each morning.</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While we wait, we still live here: honor your leaders, care wisely for one another, return good for evil, and live God’s stated will.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Thessalonians Study 9 — The Coming of the Lord: Exhortations: Charts</dc:title>
  <dc:subject>PptxGenJS Presentation</dc:subject>
  <dc:creator>The Gospel Vault</dc:creator>
  <cp:lastModifiedBy>The Gospel Vault</cp:lastModifiedBy>
  <cp:revision>1</cp:revision>
  <dcterms:created xsi:type="dcterms:W3CDTF">2026-10-30T06:20:22Z</dcterms:created>
  <dcterms:modified xsi:type="dcterms:W3CDTF">2026-10-30T06:20:22Z</dcterms:modified>
</cp:coreProperties>
</file>