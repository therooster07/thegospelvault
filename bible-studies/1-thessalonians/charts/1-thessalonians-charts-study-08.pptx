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“One-sixth of the Bible is prophecy.” Chapter 4 taught the Rapture; chapter 5 turns to the Day of the Lord — a time of judgment (seven years) and of blessing (a thousand years). The outline: Some Differences (5:1–8) and Some Deductions (5:9–11). Every chart stays within the commentary posted for this study; Greek words come from the study’s Greek Word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(Introduction): The Rapture and the Second Coming are completely separate events, with a seven-year Tribulation between them — but the Rapture does not start the Tribulation. The Tribulation begins when the Antichrist makes a seven-year treaty with Israel (Dan 9:27). The Day of the Lord (19 times in the OT, 4 in the NT) includes both the judgment and the thousand-year blessing. The “thief in the night” of 5:2 describes the Day of the Lord, not the Rapture.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(Introduction — Seven Features; A Key to Reading the Chapter): Walk the seven quickly from verses 2–3. Then give the group the reading key: Paul uses pronouns with great care. “You,” “yourselves,” “we,” “us” — believers. “They,” “them” — unbelievers. Once that distinction is seen, the chapter opens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(I.A–B, with ἀκριβῶς, υἱός, γρηγορέω, νήφω): Saints follow Scripture — they know “perfectly” (akribōs, the word Luke uses of his careful research) what the Day of the Lord is. Sinners follow Satan’s deception: a false peace under the world ruler. Why won’t the Day overtake believers? Because the Rapture will have taken place — they will not be there because they will not be here. This “sleep” is not the sleep of 4:13 (physical death) but spiritual lethargy. Night people sleep (unaware) and get drunk (unable to respond).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(I.B.2, with θώραξ and περικεφαλαία): Our field of service is the day — the opportunities He gives us while it is still day. And the closer we draw to the Rapture, the more we need the armor. The breastplate is faith and love: faith protects inwardly, keeping us obedient and trusting; love protects outwardly, keeping us from shunning or neglecting others. The helmet guards the mind, where temptation always starts — but only if we wear it and keep it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(II.A–B, with ὀργή, παρακαλέω, οἰκοδομέω): The wrath in verse 9 is the wrath of the Day of the Lord — the Tribulation — not eternal condemnation; deliverance comes by way of the Rapture. Verse 10’s “wake or sleep” is too close to chapter 4 to mean faithful or lazy; it most naturally means alive or dead at the Rapture — and either way we live with Him, by grace, through the cross. Then “comfort” again — the same word as 4:18. The two chapters are bracketed by comfort: prophetic truth is pastoral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The sermon distinguishes the Rapture from the Day of the Lord. What is the difference, and why does it matter for reading this passage? — Leader answer: The Rapture is Christ taking His church before the Day of the Lord begins; the Day of the Lord is the seven-year Tribulation followed by the thousand-year reign. “Thief in the night” describes the Day of the Lord — what overtakes the unbelieving world — not a threat to the church.  Q2: What is the difference between the “sleep” in 4:13 and the “sleep” in 5:6? — Leader answer: In 4:13, sleep (koimaō) is a euphemism for the physical death of believers — a comfort word. In 5:6, sleep is spiritual lethargy, the opposite of grēgoreō (watch) — a warning word. Confusing them leads to misreading both passages.  Applications: Put On the Armor and Keep It On — Each morning, name what you’re trusting God for, one person you’ll love that day, and the hope of your salvation.  Rest in Your Appointment — Memorize 5:9: “For God did not appoint us to wrath, but to obtain salvation through our Lord Jesus Christ.”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8 of 10 · 1 Thessalonians 5:1–11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8 of 10 · 1 Thessalonians 5:1–11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Study 8 of 10 · 1 Thessalonians 5:1–11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A Purifying Hope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of the Lord comes like a thief for the world, but believers are children of the light — and the hope of His coming is a purifying hope.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· ten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to the Thessalonian Church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30552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280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Many Faces of the Gospel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03904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13632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the Gospel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77256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86984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2:13–20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Life of Service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50608" y="1188720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0336" y="1298448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3:1–13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Facing Tribulation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 That Pleases God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130552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40280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4:13–18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 of the Church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803904" y="2761488"/>
            <a:ext cx="1536192" cy="13716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13632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5:1–11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A Purifying Hope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77256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86984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5:12–22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Coming of the Lord: Exhortations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50608" y="2761488"/>
            <a:ext cx="1536192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0336" y="2871216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5:23–28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’Til We Meet Again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4224528"/>
            <a:ext cx="7900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“Finally” (4:1) marks the hinge: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1–3 lay the foundation; chapters 4–5 turn that theology into life.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 and the Day of the Lord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· Two separate events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477670" cy="2103120"/>
          </a:xfrm>
          <a:prstGeom prst="roundRect">
            <a:avLst>
              <a:gd name="adj" fmla="val 3713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4867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4867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3313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church taken out — no signs need occur first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907792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4:13–18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39442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5182" y="1188720"/>
            <a:ext cx="1477670" cy="2103120"/>
          </a:xfrm>
          <a:prstGeom prst="roundRect">
            <a:avLst>
              <a:gd name="adj" fmla="val 3713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82850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8285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8334" y="17739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treaty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218334" y="2157984"/>
            <a:ext cx="13313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Antichrist’s seven-year treaty with Israel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218334" y="2907792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9:27 · “Peace and safety!”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27425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33165" y="1188720"/>
            <a:ext cx="1477670" cy="2103120"/>
          </a:xfrm>
          <a:prstGeom prst="roundRect">
            <a:avLst>
              <a:gd name="adj" fmla="val 3713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70832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083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06317" y="17739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midpoint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906317" y="2157984"/>
            <a:ext cx="13313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mask comes off — sudden destruction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906317" y="2907792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3½ years in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15407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21147" y="1188720"/>
            <a:ext cx="1477670" cy="2103120"/>
          </a:xfrm>
          <a:prstGeom prst="roundRect">
            <a:avLst>
              <a:gd name="adj" fmla="val 3713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58814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8814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94299" y="17739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Coming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594299" y="2157984"/>
            <a:ext cx="13313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 returns to the earth to deliver His people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94299" y="2907792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the seven years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003390" y="212140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09130" y="1188720"/>
            <a:ext cx="1477670" cy="2103120"/>
          </a:xfrm>
          <a:prstGeom prst="roundRect">
            <a:avLst>
              <a:gd name="adj" fmla="val 3713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46797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46797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82282" y="17739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Millennium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282282" y="2157984"/>
            <a:ext cx="13313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thousand-year reign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282282" y="2907792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blessing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3474720"/>
            <a:ext cx="402336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of the Lord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7200" y="3840480"/>
            <a:ext cx="4023360" cy="7772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3913632"/>
            <a:ext cx="3840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— seven years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— one thousand years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4663440" y="3474720"/>
            <a:ext cx="402336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thief in the night” · 5:2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663440" y="3840480"/>
            <a:ext cx="4023360" cy="7772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54880" y="3913632"/>
            <a:ext cx="3840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the Day of the Lord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Rapture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features of the coming Day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5:2–3 · Introduction — and a key to the chapter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32588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“Like a thief in the night”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2606" y="118872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9766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99766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20974" y="132588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99766" y="182880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they cry “Peace and safety!”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8012" y="118872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5172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5172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26380" y="132588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5172" y="182880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Striking without warning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73418" y="118872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10578" y="132588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10578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31786" y="132588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10578" y="182880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judgment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92608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06324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15568" y="306324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Inevitable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" y="356616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can prevent 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562606" y="292608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699766" y="306324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99766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220974" y="306324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699766" y="356616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labor pains — ὠδίν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668012" y="292608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05172" y="306324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5172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326380" y="306324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Inescapable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05172" y="356616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shall not escape”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773418" y="2926080"/>
            <a:ext cx="1913382" cy="15727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10578" y="3063240"/>
            <a:ext cx="420624" cy="42062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10578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431786" y="3063240"/>
            <a:ext cx="1163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Pronoun key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910578" y="3566160"/>
            <a:ext cx="16573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/ we = believers · they / them = unbelievers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Sons of the day, sons of the night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5:1–8 · I — Some differences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/ them — of the night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931920" cy="181051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3749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Satan’s deception: “Peace and safety!”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Asleep — spiritually unaware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Drunk — aware, but unable to respond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destruction; they shall not escape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/ we — of the day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υἱός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sons of light · G5207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755648"/>
            <a:ext cx="3931920" cy="181051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28800"/>
            <a:ext cx="3749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Scripture — they know “perfectly”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darkness: the Day won’t overtake them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— γρηγορέω; be sober — νήφω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794760"/>
            <a:ext cx="7900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“sleep” of 5:6 is not the sleep of 4:13. There, physical death — a comfort word. Here, spiritual lethargy — a warning word.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armor of the day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5:8 · I.B.2 — The Lord’s people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Breastplate of faith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θώραξ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breastplate · G2382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2621280" cy="19019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24384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Inward protection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 obedient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 trusting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136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280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and of love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θώραξ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breastplate · G2382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1360" y="1755648"/>
            <a:ext cx="2621280" cy="19019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2800" y="1828800"/>
            <a:ext cx="24384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 protection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 from shunning others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 from neglecting others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5520" y="1188720"/>
            <a:ext cx="262128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696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Helmet: hope of salvation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περικεφαλαία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helmet · G4030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1755648"/>
            <a:ext cx="2621280" cy="19019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6960" y="1828800"/>
            <a:ext cx="24384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the mind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Temptation always starts in the mind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against despair, doubt, distraction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840480"/>
            <a:ext cx="7900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Luther: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cannot keep birds from flying over my head, but I can keep them from making a nest in my hair.”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appointed to wrath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5:9–11 · II — Some deductions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9666" cy="214884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5865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5865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wrath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75336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Tribulation’s wrath — not eternal condemnation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95351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ὀργή · v.9a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61438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7178" y="1188720"/>
            <a:ext cx="1899666" cy="214884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5843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5843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0330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salvation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40330" y="2157984"/>
            <a:ext cx="175336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our Lord Jesus Christ — by the Rapture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40330" y="295351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v.9b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71416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7156" y="1188720"/>
            <a:ext cx="1899666" cy="214884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821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821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0308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or sleep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0308" y="2157984"/>
            <a:ext cx="175336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Alive or dead at His coming — we live together with Him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50308" y="295351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81394" y="21442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7134" y="1188720"/>
            <a:ext cx="1899666" cy="2148840"/>
          </a:xfrm>
          <a:prstGeom prst="roundRect">
            <a:avLst>
              <a:gd name="adj" fmla="val 2888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5799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35799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0286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 comfort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0286" y="2157984"/>
            <a:ext cx="175336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and build up one another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60286" y="295351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παρακαλέω · οἰκοδομέω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3520440"/>
            <a:ext cx="7900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purifying prophecy. The imminent return of Christ makes us want to work for Him today — to watch instead of sleep, to stay sober instead of drunk on this world’s distractions, and to comfort one another. We are the Thessalonians.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Thessalonians 5:1–11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sermon distinguishes the Rapture from the Day of the Lord. What is the difference, and why does it matter for reading this passage?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the “sleep” in 4:13 and the “sleep” in 5:6?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On the Armor and Keep It On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morning, name what you’re trusting God for, one person you’ll love that day, and the hope of your salvation.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 Your Appointment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 5:9: “For God did not appoint us to wrath, but to obtain salvation through our Lord Jesus Christ.”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appointed to wrath but to salvation — so watch, stay sober, wear the armor, and comfort one another.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Thessalonians Study 8 — The Coming of the Lord: A Purifying Hope: Charts</dc:title>
  <dc:subject>PptxGenJS Presentation</dc:subject>
  <dc:creator>The Gospel Vault</dc:creator>
  <cp:lastModifiedBy>The Gospel Vault</cp:lastModifiedBy>
  <cp:revision>1</cp:revision>
  <dcterms:created xsi:type="dcterms:W3CDTF">2026-10-30T06:22:48Z</dcterms:created>
  <dcterms:modified xsi:type="dcterms:W3CDTF">2026-10-30T06:22:48Z</dcterms:modified>
</cp:coreProperties>
</file>