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Lst>
  <p:notesMasterIdLst>
    <p:notesMasterId r:id="rId8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notesMaster" Target="notesMasters/notesMaster1.xml"/><Relationship Id="rId89" Type="http://schemas.openxmlformats.org/officeDocument/2006/relationships/presProps" Target="presProps.xml"/><Relationship Id="rId90" Type="http://schemas.openxmlformats.org/officeDocument/2006/relationships/viewProps" Target="viewProps.xml"/><Relationship Id="rId91" Type="http://schemas.openxmlformats.org/officeDocument/2006/relationships/theme" Target="theme/theme1.xml"/><Relationship Id="rId9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This deck gathers every chart from the ten posted 1 Thessalonians studies in order. Each section opens with that study’s title slide and closes with its discussion questions, applications and summary line. Every chart stays within the commentary posted for its study; Greek words come from that study’s Greek Word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The ten studies at a glance — passage, title and the one-line description posted for each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The ten studies at a glance — passage, title and the one-line description posted for each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Study 1 opens with the Introduction (the background of the book, especially Paul’s road to Thessalonica in Acts 16–17) and then the three outline points of 1:1–5. Every chart in this deck stays within the commentary posted for this study; Greek words come from the study’s posted Greek Word Study. Each slide’s notes name the commentary section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(Introduction, Geographical Background): Trace the second missionary journey as the commentary tells it. Paul splits from Barnabas, chooses Silas, and adds Timothy — “well spoken of by the brethren in Lystra and Iconium.” The Spirit keeps redirecting him west to Troas, where the Macedonian call takes him to Philippi; there the jailer asks the defining question and Paul gives the gospel he preached everywhere: “Believe on the Lord Jesus Christ.” In Thessalonica he preached three Sabbaths in the synagogue (Acts 17:2) — but the commentary stresses that three weeks describes only the synagogue; he was there longer. Opposition moved meetings to Jason’s house and sent him on to Berea, Athens and Corinth, where he wrote both letters to the Thessalonians.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 Paul and His Companions, A–C): Notice how the letter opens — not “Paul the Apostle,” just “Paul.” Paul used the title with the Galatians (doctrinal errors) and the Corinthians (errors in conduct), but no assertion of rank was needed here; the commentary reads the missing title as a sign of the church’s health and of mutual love and trust. Silvanus (Silas) is the senior member; Timothy is the leader in training, later sent to Philippi and pastor at Ephesus.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(Outline at a Glance, Passage Summary): The passage in one view, using the study’s own outline and Passage Summary. Point to the two halves: who the church is (vv.1–2) and what Paul gives thanks for (vv.3–5). On verse 2, the commentary reads Paul’s “we” as an editorial we — Paul wrote the letter — and stresses that thanksgiving and intercession belong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(II.A–B and Greek Word Study, ἐκκλησία): Ekklēsia was a secular word for any assembly — even the worshipers of Diana in Acts 19:32. Jesus took it: “I will build my church” (Matt 16:18) — the church universal, every believer from Pentecost to the Rapture; and “tell it to the church” (Matt 18:17) — the local assembly. Here it is the local church in Thessalonica. Then walk the names: Lord — the title of deity; Jesus — Joshua, salvation, deliverer; Christ — Messiah, the anointed one. He is God. He is man. He is the Messiah.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(III.B and Greek Word Study): Paul is not grateful for their activity but for its source. Ergon is the outworking of faith — not busy work. Kopos is heavier: costly toil to the point of weariness, sustained by love — love for Christ, for each other, and for the lost. Hypomonē is not passive waiting but endurance in tribulation, produced by hope fixed on Christ. All three have Christ as both their source and their object, and God the Father observed and commended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(III.C, with ἐκλογή and ἀγαπητός): Paul calls them “brethren” — 22 times across the two letters — and “beloved” by God. They became elect by God’s choosing, not their own work. The commentary pauses over Ryrie’s note that election is “proved by works”: proved to whom? Not to yourself — assurance rests on the Word of God. Works are proof to other people. James 2 speaks of justification before men by works; before God, justification is by faith alone (Abraham was declared righteous in Genesis 15:6 long before the act James cites). There is no salvation by faith and works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(III.D.1–3, with εὐαγγέλιον, δύναμις, πληροφορία): The gospel always comes in word — there is no salvation by osmosis; that is why missions exist. It comes in power (Rom 1:16). The word goes to the mind; the Holy Spirit takes it to the heart and gives life — regeneration is His work alone. And it comes backed by the messenger’s life: “as you know what kind of men we were among you.” A pure gospel must be served up by pure vessels (2 Tim 2:21).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(from the posted Study Questions and Application sections): Q1: Why does Paul NOT use the title “Apostle” here, as he does in Galatians and 1 Corinthians? — Leader answer: Where Paul’s authority was challenged or a church was in error, he asserted his title at once. The Thessalonians had no such problems. He writes simply as “Paul,” their friend and brother; the missing title reflects the health of the church and the depth of their mutual love.  Q2: How does “dynamis” (power) differ from ordinary human persuasion, and what role does the Holy Spirit play? — Leader answer: Persuasion works on the mind through argument. Dynamis is divine energy that accompanies the proclaimed word and regenerates the spiritually dead. The preacher carries the word to the mind; the Spirit carries it to the heart and imparts life. We give the gospel; the Spirit does the saving.  Applications: Examine the Source of Your Activity — Before any ministry this week, pray: “Lord, I am doing this because I trust You, love You, and am looking for You.”  Build an Intercessory Prayer List — Write out people in your church by name and pray through the list at least three times this week.  Close by reading the summary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The title slide carries the study’s proposition. The commentary shows the gospel from three angles — in person (1:6–7), in proclamation (1:8–9) and in prospect (1:10). Every chart stays within the commentary posted for this study; Greek words come from the study’s Greek Word Study. Each slide’s notes name the commentary section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(Introduction and Conclusion): The commentary’s frame for the whole passage. Remind the group how young this church was — perhaps only three or four weeks of Paul’s preaching before a riot drove him out — yet Paul writes as though it were already a landmark. “God does not wait for maturity before He produces something worth celebrating.” Note: Study 1’s commentary stresses that Paul stayed longer than the three synagogue Sabbaths; both studies agree his time there was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(I.A.1–2 and I.B, with μιμηταί and τύπον): “Followers” is mimētai — mimic, imitate. That only works if Paul had something worth imitating: “For to me, to live is Christ.” Following Paul was following the Lord, because Paul ordered his life around making Christ visible — as Christ made the Father visible (Heb 1:3; John 14:9). Then the Thessalonians became a typos — a die or mold — for believers across two provinces. The test of every human example: does it point people past itself to Christ?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(I.A.3–4, with θλίψει and χαρᾶς πνεύματος ἁγίου): Paul doesn’t romanticize what it cost. They knew Philippi, and the mob that stormed Jason’s house. They “received” the word — a deliberate welcome — knowing what answering it would cost. Yet they received it “with joy of the Holy Spirit”: not joy despite the affliction, but joy from the Spirit inside it. Joy is fruit (Gal 5:22), and fruit doesn’t depend on the weather. Give the group the commentary’s test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(II.A–B, with ἐξήχηται): Exēchētai — related to “echo,” the only NT occurrence, perfect tense: the sound is still ringing. An echo composes nothing new; it faithfully repeats what it received and carries it where the original voice couldn’t reach. Thessalonica sat on the Via Egnatia, the great Roman road between East and West, with a busy harbor — a built-in distribution network. By the time Paul reached Corinth, the Thessalonians’ testimony had arrived first. Ask: where are our crossroads?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(II.C, with ἐπεστρέψατε, εἰδώλων, δουλεύειν): Notice the order: turned to God, from idols — the turning toward a living, true God is what made the turning from idols happen. The verse ends “to serve the living and true God” — the language of discipleship, not of receiving eternal life. The commentary warns against reading turning from idols as a precondition of salvation: eternal life is received the moment a person believes. They turned from idols because they had been saved. Don’t confuse description with condition.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(III.A–C, with ἀναμένειν and ὀργῆς): Rapture — “to wait for His Son from heaven,” with no sign attached (John 14:3); the church is not Israel and the Rapture is not the Second Coming. Resurrection — the hinge the whole hope swings on. Rescue — rhyomenon, present tense with future force: deliverance from the wrath to come, which in its usage here is the tribulation, not hell. Use the Christmas-decorations illustration: signs of the Second Coming tell us the Rapture is near because it always comes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(from the posted Study Questions and Application sections): Q1: Verse 9 says they “turned to God from idols to serve the living and true God.” Why does the order matter, and why is turning from idols not the condition for salvation? — Leader answer: The verse ends in “to serve” — the language of discipleship, not of receiving eternal life. Turning to God is the saving response of faith; serving Him and turning from idols naturally follow, not prerequisites.  Q2: The Thessalonians waited for Christ with no sign attached (1:10). How does a signless, any-moment hope change the way a believer lives day to day? — Leader answer: Reinforce the Rapture/Second Coming distinction and the Christmas/Thanksgiving illustration, then push past head-knowledge: what would change this week if each person lived as though Christ could come today?  Applications: Become Someone Worth Imitating — Name one person who may be imitating you, and have one honest conversation about following Christ, not just you.  Live Ready, Not Anxious — Choose one responsibility you’d want to be found tending if Christ returned this week, and give it deliberate attention.  Close by reading the summary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The study’s keynote is the college president’s charge to a 1967 gospel team: “Don’t get in God’s way.” The outline has two parts — Paul’s Dedication (2:1–2) and Paul’s Demeanor (2:3–12). Every chart stays within the commentary posted for this study; Greek words come from the study’s Greek Word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(Outline): The passage in one view. Paul appeals to what they saw — “as you know” appears four times (1:5; 2:2; 2:5; 2:11). He builds his case on their eyewitness memory, not on assertion. It had been only about six months since his visit.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(I.A, with κενός): The Thessalonians had seen itinerant philosophers come through like snake-oil salesmen — persuasive words, collect money, move on. Paul says: I was not like them, and you know it. His coming was not kenos. Then the key distinction: success belongs to God, failure belongs to man. Paul’s job was not to get people saved — that is the Holy Spirit’s work — but to carry the pure, undiluted gospel. If he did that, he succeeded.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(II.A.1a, with πλάνη, ἀκαθαρσία, δόλος): Paul denies all three. Error — the converts could check his message against the Old Testament, as the Bereans soon did; the gospel is verifiable. Uncleanness — pagan religion was saturated with immorality, even temple prostitution; the gospel is pure. Deceit — Paul set no traps and made no misleading promises. Each corrupts the message at a different point: content, character,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(II.A.1a, deceit): The commentary’s list. Some converts in Thessalonica lost jobs, found life harder, or saw a spouse leave. Don’t make promises the gospel doesn’t make; don’t withhold the promises it does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(II.A.1b and II.A.2, with δοκιμάζω and πιστεύω): Dokimazō is the metallurgist’s word — assaying metal in fire. Paul was tested and approved. Then the symmetry: the same verb, pisteuō, describes Paul trusting God for salvation and God trusting Paul with the gospel. The response is three words: “even so we speak.” And his integrity was undisturbed — not pleasing men, but God who tests the heart. Not filling halls with the impressed, but heaven with the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(II.B.1–3): Refused: guile (flattery to manipulate implies the gospel isn’t good enough), gain (Romans 7 — the tenth commandment exposed his covetousness, yet he would not exploit the gospel), glory (he had an apostle’s rights and chose not to use them; Gal 6:14). Revealed: a nursing mother’s love — trophos, giving of her own substance — and his own life. Reserved: the right to minister without charge, working night and day; support came from Philippi, not Thessalonica.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(II.B.2, II.C–D, with τροφός, παρακαλοῦντες, μαρτυρόμενοι, ἀξίως): Both images are needed. The mother nourishes; the father trains and challenges. Exhorted — the Paraclete word: called alongside. Comforted — an arm around the shoulder. Charged — testifying (root of “martyr”): letting what you have suffered and seen speak alongside Scripture. Between them stands verse 10: devoutly, justly, blamelessly — and Paul calls two witnesses, them and God. The goal: walk worthy — axiōs, a balance scale — correspondence with the calling, not payment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(from the posted Study Questions and Application sections): Q1: Paul denies three things in verse 3 — error, uncleanness and deceit. What specific danger does each one represent for a gospel messenger today? — Leader answer: Error is unverified or unbiblical content; uncleanness is a lifestyle that contradicts the message; deceit is manipulating or overselling the gospel’s benefits. Each corrupts the message at a different point — content, character, or method.  Q2: Paul uses a nursing mother (v.7) and a father (v.11). What is distinctive about each image, and what would a ministry shaped by both look like in your group? — Leader answer: The mother (trophos) nourishes, comforts and gives of her own substance; the father exhorts, encourages and charges toward maturity. A balanced ministry holds both — tenderness that nurtures and challenge that calls believers to walk worthy.  Applications: Refuse the Three G’s — Find one place this week where you’d seek recognition for a spiritual contribution — and deliberately step back.  Impart Not Just the Gospel, But Your Life — Schedule one meal, coffee or visit this month with someone who isn’t yet a believer — simply to be present.  Close by reading the summary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The commentary has three movements — the success of Paul’s converts (2:13–14), the sin of Paul’s countrymen (2:15–16), and the sureness of Paul’s crown (2:17–20). Every chart stays within the commentary posted for this study; Greek words come from the study’s Greek Word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(Outline): Three movements, one theme: what a successful life of service looks like. The success of the converts is measured in faithfulness under fire, not comfort. The countrymen show what opposing the gospel looks like. The crown shows what Paul was living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(I.A.1–2, with δέχομαι and ἐνεργέω): The Thessalonians had no Bible to hold up; they heard Paul and believed it as the Word of God — verbally and plenarily inspired, every word and every part. A word from men can be debated, modified or ignored; the Word of God demands a response. Then “effectively works” — present tense. Paul isn’t only talking about salvation but discipleship: the Word shaping, correcting, strengthening and maturing the believer for a lifetime.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(I.B.1–2, with μιμητής and συμφυλέτης): Paul is not holding up the Judean churches as models of piety. He is saying the consequences of receiving the gospel were the same: they were persecuted; you are persecuted. And the persecution came from their own countrymen — the most painful opposition is from those closest to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(II.A–E): Paul speaks with unusual directness about the Jewish leadership. Provocation — the Romans drove the nails, but the leaders demanded the crucifixion; and they killed their prophets (Isaiah, by tradition, sawn in two). Presumption — two thousand years of privilege, yet they did not please God. Perversity — a chosen people that used the gift as a wall rather than a door. Prejudice — forbidding the gospel to the Gentiles. Punishment — the measure filled up. (Commentary note: the study cites “Matthew 26 through 29”; Matthew has 28 chapters — read it as Matthew 26–28.)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(II.E, with ὀργή): Paul uses the past tense to show how certain the wrath is — the same logic as Romans 8:30, where the believer is already “glorified.” God is patient: four hundred more years for the Amorites (Gen 15); almost forty years for the generation that killed Jesus before AD 70, when not one stone was left on another. The commentary also points ahead: the seven-year treaty of Daniel 9:27, broken in the middle, and a tribulation for the nation (Dan 9; Rev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(III.A–B, with ἀπορφανίζω, ἐγκόπτω, παρουσία, στέφανος, δόξα): Aporphanizō — the word for a child losing a parent; Paul is a parent wrenched from his children. Satan cut the road — but James 1 warns against blaming Satan (or God) for everything; Paul had specific knowledge here. Verse 19 carries us to the judgment seat of Christ (1 Cor 3; 2 Cor 5): wood, hay and stubble, or gold, silver and precious stones. Paul’s reward at the parousia — used here of the Rapture — is the people he led to Christ.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(Conclusion): The commentary’s closing paraphrase of John Phillips: what people rejoice over indicates their character and spiritual condition. Solomon, after a good start, rejoiced in women, power and riches — he loved things and used people. David, despite his mid-life failure, repented (Psalm 51) and served God — he used things and loved people. Paul loved people; his ambition was to see them at last as crowns to lay at Jesus’ feet. End with the question: what is your glory and joy?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(from the posted Study Questions and Application sections): Q1: The Word “effectively works” (energeō) in believers — present tense, ongoing. What does this say about the role of Scripture beyond the moment of salvation? — Leader answer: Energeō describes the Word as an active, ongoing agent inside the believer — not a one-time ignition but a continuous operation. Paul is talking about discipleship, not just evangelism: the Word keeps shaping, correcting, strengthening and maturing the believer for a lifetime.  Q2: The sermon contrasts Solomon and David. What does Paul’s crown (stephanos) reveal about what he truly valued? — Leader answer: Paul’s crown is not gold or achievement; it is people. Like David, he used things and loved people. Solomon loved things and used people — and Scripture calls that failure. What we rejoice in reveals our character and our true priorities.  Applications: Receive the Word as the Word of God — Before your next time in the Word, pray: “Lord, I receive this as Your Word, not a man’s word. Let it work in me.”  Use Things and Love People — Name one person whose growth in Christ you are investing in — or ask God this week to show you who it should be.  Close by reading the summary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“How to handle tribulation — that is what this passage is about.” The outline has three parts: Paul’s Caution (3:1–5), Paul’s Consolation (3:6–10) and Paul’s Craving (3:11–13). Every chart stays within the commentary posted for this study; Greek words come from the study’s Greek Word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(Introduction): Paul was forced out of Berea and taken to Athens, where he sent word for Silas and Timothy to join him. As chapter 3 opens, he has sent Timothy back to Thessalonica and stays in Athens alone, reasoning in the synagogue and the marketplace. Silas and Timothy, not finding Paul in Athens, went on to Corinth as planned (Acts 18:5) — and found him there. Paul writes this letter from Corinth, looking back on the 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(I.B.1–2, with διάκονος, στηρίζω, παρακαλέω): Three titles in one verse — brother, minister of God (diakonos, used functionally), fellow laborer — a remarkable commendation that may have been needed because of Timothy’s youth. His charge: establish them (make firm both the faith believed — Jude 3 — and their trust in it; that’s why teaching is part of discipling, Matt 28:19–20) and encourage them (come alongside, the Paraclete word). Something solid to stand on; someone to stand with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(I.C–D, with σαίνω, κεῖμαι, πειράζω): Paul’s concern was not that they would feel uncomfortable but that they would be shaken — destabilized at the foundation. “We are appointed to this”: tribulation is part of the calling, not a sign something went wrong. He had told them again and again (imperfect tense) before it happened. And the tempter uses tribulation as leverage against faith; had he succeeded? Concern is proper when it leads to prayer and to being part of the help (2 Cor 2:12–13).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(II.A–C, with εὐαγγελίζω, παρακαλέω, στήκω, καταρτίζω): Timothy’s report was entirely good — Paul uses the gospel word for it. Paul in Corinth faced the same resistance (Acts 18), and their faith carried him through: affliction is a two-way street, and so is comfort. “For now we live, if you stand fast” is not hyperbole — his converts were a large part of his life. Gratitude overflows into joy, and joy into night-and-day prayer (hyperekperissou, beyond all measure) to complete what is lacking — which he begins in chapters 4 and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(III.A–C, with περισσεύω, ἀμέμπτως, παρουσία): Verse 11 names the Father and the Lord Jesus, each with its own article, yet the verb “direct” is singular — one God in two persons, prayed to as one. Then love that overflows its container, to one another and to all — “just as we do to you.” The goal of the love is the holiness: love produces holiness; holiness makes the heart blameless at His coming. These are not two requests but one movement.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(III.C.2): The commentary distinguishes this coming from the Rapture. In 3:13 Christ comes with all His saints — the public, triumphant Second Coming. The holy ones with Him are probably the souls of departed believers, whose bodies will be resurrected (cf. 4:16) — Christians, not angels. Paul’s prayer is that when that day arrives, these believers will be found blameless.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(from the posted Study Questions and Application sections): Q1: Verse 3 says believers are “appointed” to tribulation (keimai). What does this mean for how we interpret suffering — and how does it change our response? — Leader answer: Keimai means set or destined — placed into suffering as part of the calling. Paul told them before it happened; when it came, it confirmed the word. Suffering is not evidence God has abandoned us. Prepared people are not shaken people.  Q2: Verse 8 says “we live, if you stand fast in the Lord.” Is this hyperbole, or does Paul mean it? What does it reveal about pastoral ministry? — Leader answer: Paul means it. His vitality was genuinely bound to his converts’ faithfulness. The body of Christ is not a collection of independent units; what happens to one member affects others — and the pastor is especially bound to the flock.  Applications: Expect Tribulation; Prepare Others — Have one honest conversation with a younger believer about suffering — share verse 3: “we are appointed to this.”  Your Faithfulness Is a Lifeline — Message someone whose faith has strengthened you and tell them specifically what their steadfastness has meant.  Close by reading the summary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The title slide carries the study’s proposition. “Everyone everywhere seeks to please someone” — this passage tells how to please God. The outline: Our Potential (4:1–2), Our Purity (4:3–8), Our Progress (4:9–10), Our Purpose (4:11–12). Every chart stays within the commentary posted for this study; Greek words come from the study’s Greek Word Study. This study’s posted questions carry no leader answer boxes, so the closing slide’s notes point to the commentary sections that answer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(Proposition and Outline): “Finally” (loipon) does not mean the letter is ending — Paul uses it the same way in Philippians 3:1 with two chapters still to come. It marks the last major section, where the theology of chapters 1–3 turns into life. The Christian life is not a list of prohibitions — the Dean-of-Students story: “Just write down what you want us to do.” No. God tried that in Exodus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(I.A–B, with Λοιπὸν, παρακαλοῦμεν, περισσεύητε): Parakalō is begging — the man on the Athens subway with his begging license: “Parakalō, parakalō!” Paul isn’t ordering compliance; he’s imploring the heart. Perisseuō pictures a river breaching its banks: not minimal obedience, overflow. The exhortation bears repeating — old truths practiced over and over form a life (“How do you get to Carnegie Hall? Practice”). Paul had received these truths from the Lord, likely in the three years in Arabia (Gal 1:17).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(II.A.1, with ἁγιασμός and πορνεία): “This is the will of God, your sanctification.” Note the direction: separated to God from the world — if we are separated to God, the separation from the world takes care of itself. The commentary’s three phases; Paul is addressing the third, the ongoing process, and part of that process is abstaining from porneia — a broad term for all sexual sin outside marriage. Being lawful by human law does not make something lawful by God’s law (Acts 4–5: obey God or 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(II.A–C, with σκεῦος, ὑπερβαίνειν, πλεονεκτεῖν, ἔκδικος): Against the Father — His will is your sanctification; learn to control your own vessel (the body, in this context); don’t make pagans your model. Against the Son — hyperbainein, overstepping the boundary: the commentary’s picture is a fence around the marriage marked “No Trespassing Out.” Pleonektein — defrauding, taking what belongs to another, even a future spouse. The Lord Jesus is the avenger. Against the Spirit — rejecting this is rejecting God, who has given us His Spirit; He has already given the ability to obey.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(II.C.1): God sees us either in Adam or in Christ — the only two positions. Uncleanness is what we inherit by natural birth; holiness, by the new birth. The logic is simple: you are called by a holy God, therefore be holy (1 Pet 1:15). The Spirit is no longer only with us (OT) but in us (John 14:17; 1 Cor 6:19–20).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(III.A–B, with φιλαδελφία and θεοδίδακτοι): Some things are taught by men from the Word; love is taught by God Himself — not by lecture but by demonstration (Rom 5:8; John 3:16). When we fail to love, we can’t blame God: He taught us, showed us, and gave the capacity. Paul isn’t correcting here — he’s commending. They already love the brethren across all Macedonia. But brotherly love can always grow: you love well — do it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(IV.A–B, with ἡσυχάζειν): A quiet life is not silent — it is the opposite of frantic; don’t “beat the air” (1 Cor 9:26). Mind your own business and work with your own hands — Paul’s own model of self-support, and the Jewish wisdom of learning a trade. Some may have reasoned: Jesus is coming, maybe tomorrow, so why work? “He may come today. But just in case, keep your job.” Walk properly toward outsiders — the furniture-truck neighbor story. The result: lack nothing — a principle, not a prosperity 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(from the posted Study Questions and Application sections): Q1: Paul opens with parakalō (urge/beg) rather than a command. What does that tone of pleading tell us about the nature of the Christian life? — Leader pointer: Commentary I.A.1: parakalō is begging (the Athens subway story). The Christian life is not a set of rules to be obeyed but the outworking of a loving desire to please God — Paul implores the heart rather than ordering compliance.  Q2: Paul says the Thessalonians are “taught by God” to love (theodidaktoi, v.9). How does God teach love — and what does that mean for what we expect of ourselves? — Leader pointer: Commentary III.A: God teaches by demonstration — Romans 5:8 and John 3:16. Love is innate for a believer, planted at the new birth; when we fail, we cannot blame God. He taught us, showed us, and gave us the capacity — so we can always increase more and more.  Applications: Live to Please God, Not the Crowd — Name one choice you make mainly to please someone else; ask what it looks like with God as the audience.  Love Is Taught by God — Then Practiced — Do one concrete, personal, unpublicized thing this week for someone you haven’t recently shown love to.  Close by reading the summary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Some believers had died since Paul left, and the church feared they would miss the Rapture. The commentary first sets the theological setting (the two testaments; Israel and the Church), then walks through the scriptural statement — a preview (vv.13–14), a promise (v.15) and a picture (vv.16–18). Every chart stays within the commentary posted for this study; Greek words come from the study’s Greek Word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(I.A–B): The two testaments and the people of each. Israel’s promises are physical — a land, a kingdom on this earth, a literal 1,000-year reign of Christ. The Church runs from Pentecost to the Rapture, under the New Covenant (Heb 7–10), with spiritual promises. The Church is a mystery — not something puzzling, but something previously unrevealed: “Christ in you, the hope of glory” (Col 1:26), Jew and Gentile in one body (Eph 3:4–9), hidden in God (Eph 3:9), not in the Old Testament.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(I.B): The practical implication: there was no church on earth before Acts 2, and there will be no church on earth after the Rapture. People in the Tribulation period are not the church. Even the Rapture is a mystery: “we shall not all sleep, but we shall all be changed” (1 Cor 15:51).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(II.A.1–2, with κοιμάω, ἐλπίς, ἄγω): “Sleep” here always means the physical death of a believer (cf. John 11:11–13). Believers grieve — but not as those with no hope. The body sleeps; the soul is with the Lord (2 Cor 5:8; Phil 1:23). Verse 14 says God brings them with Jesus — coming down; verse 16 says the dead rise first — going up. The only answer: souls come down with the Lord; bodies rise to be reunited with them. And “if” in v.14 is a first-class condition — read it “since we believe that Jesus died and rose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(II.A–C, Passage Summary): The passage in one view. On verse 15, the revelation came by the word of the Lord — probably directly to Paul — and the answer to the church’s fear is emphatic: the living will by no means precede the dead. On verse 17, Paul says “we” — he expected he might be alive; nothing has to happen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(II.C.1, with κέλευσμα, ἀρχάγγελος, σάλπιγξ): Keleusma appears only here in the New Testament. Outside it, it is the hunter calling his hounds, the shipmaster his rowers — a shouted order to a specific audience. Here: the Son to the dead in Christ. Lazarus heard a command like it, but Jesus used his name — or He would have emptied every grave. At the Rapture there is no name: every believer who has died, come forth. Scripture names one archangel, Michael (Jude 9; Rev 12:7). All three sound at the same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(II.C.3, with παρακαλέω): “Therefore comfort one another with these words.” Use the doctrine for its intended purpose — not to scare, but to encourage. When someone says things are not going well, one of the most encouraging things you can offer is this: the Lord is coming. The commentary closes with John Phillips’ five characteristics that make this truth suited for comfort.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(from the posted Study Questions and Application sections): Q1: Verse 14 says God will bring with Him those who sleep in Jesus; verse 16 says the dead in Christ rise first. How can both be true — and what does it teach about body and soul at death? — Leader answer: The souls of dead believers are with the Lord and come down with Him, while their bodies rise to be reunited with those souls, presumably in the air. The body sleeps; the soul does not. Death separates body and soul temporarily; the Rapture reunites them permanently.  Q2: Paul expected to be alive at the Rapture (“we who are alive”). What is the practical effect of living with that expectation — and how does it differ from speculating about dates? — Leader answer: Expectation without date-setting keeps believers alert and hopeful without preoccupation with calculation. Every generation is meant to hold the same expectancy, since nothing must occur first. The effect is readiness and comfort, not anxiety.  Applications: Hold the Blessed Hope — Begin each morning this week with one sentence: “The Lord may come today.” Notice what it changes.  Comfort One Another — Reach out to one grieving or discouraged person with a verse from this passage and a personal word.  Close by reading the summary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“One-sixth of the Bible is prophecy.” Chapter 4 taught the Rapture; chapter 5 turns to the Day of the Lord — a time of judgment (seven years) and of blessing (a thousand years). The outline: Some Differences (5:1–8) and Some Deductions (5:9–11). Every chart stays within the commentary posted for this study; Greek words come from the study’s Greek Word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(Introduction): The Rapture and the Second Coming are completely separate events, with a seven-year Tribulation between them — but the Rapture does not start the Tribulation. The Tribulation begins when the Antichrist makes a seven-year treaty with Israel (Dan 9:27). The Day of the Lord (19 times in the OT, 4 in the NT) includes both the judgment and the thousand-year blessing. The “thief in the night” of 5:2 describes the Day of the Lord, not the Rapture.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(Introduction — Seven Features; A Key to Reading the Chapter): Walk the seven quickly from verses 2–3. Then give the group the reading key: Paul uses pronouns with great care. “You,” “yourselves,” “we,” “us” — believers. “They,” “them” — unbelievers. Once that distinction is seen, the chapter opens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(I.A–B, with ἀκριβῶς, υἱός, γρηγορέω, νήφω): Saints follow Scripture — they know “perfectly” (akribōs, the word Luke uses of his careful research) what the Day of the Lord is. Sinners follow Satan’s deception: a false peace under the world ruler. Why won’t the Day overtake believers? Because the Rapture will have taken place — they will not be there because they will not be here. This “sleep” is not the sleep of 4:13 (physical death) but spiritual lethargy. Night people sleep (unaware) and get drunk (unable to respond).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(I.B.2, with θώραξ and περικεφαλαία): Our field of service is the day — the opportunities He gives us while it is still day. And the closer we draw to the Rapture, the more we need the armor. The breastplate is faith and love: faith protects inwardly, keeping us obedient and trusting; love protects outwardly, keeping us from shunning or neglecting others. The helmet guards the mind, where temptation always starts — but only if we wear it and keep it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(II.A–B, with ὀργή, παρακαλέω, οἰκοδομέω): The wrath in verse 9 is the wrath of the Day of the Lord — the Tribulation — not eternal condemnation; deliverance comes by way of the Rapture. Verse 10’s “wake or sleep” is too close to chapter 4 to mean faithful or lazy; it most naturally means alive or dead at the Rapture — and either way we live with Him, by grace, through the cross. Then “comfort” again — the same word as 4:18. The two chapters are bracketed by comfort: prophetic truth is pastoral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(from the posted Study Questions and Application sections): Q1: The sermon distinguishes the Rapture from the Day of the Lord. What is the difference, and why does it matter for reading this passage? — Leader answer: The Rapture is Christ taking His church before the Day of the Lord begins; the Day of the Lord is the seven-year Tribulation followed by the thousand-year reign. “Thief in the night” describes the Day of the Lord — what overtakes the unbelieving world — not a threat to the church.  Q2: What is the difference between the “sleep” in 4:13 and the “sleep” in 5:6? — Leader answer: In 4:13, sleep (koimaō) is a euphemism for the physical death of believers — a comfort word. In 5:6, sleep is spiritual lethargy, the opposite of grēgoreō (watch) — a warning word. Confusing them leads to misreading both passages.  Applications: Put On the Armor and Keep It On — Each morning, name what you’re trusting God for, one person you’ll love that day, and the hope of your salvation.  Rest in Your Appointment — Memorize 5:9: “For God did not appoint us to wrath, but to obtain salvation through our Lord Jesus Christ.”  Close by reading the summary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Paul brings the church from the future blessing back to present realities — “we still live here.” Three sets of instructions: to those who are led (5:12–13), to those who lead (5:14–15), and to the entire church (5:16–22). Every chart stays within the commentary posted for this study; Greek words come from the study’s Greek Word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(Introduction and Outline): Rejoice that the Lord is coming — think on it, pray for it — but remember: there is work to be done, souls to be saved, believers to disciple and a church to establish for those who come after us. These instructions worked in Thessalonica, probably one of the finest churches Paul ever planted, and they will work for any church that follows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(I.A–C, with οἶδα, κοπιάω, προΐστημι, ἡγέομαι): These leaders were likely the elders Paul established before he left — men who worked regular jobs sunup to sundown and did the church’s work on top. Recognize (oida) — truly know them. Three marks still describe a good leader: they toil, they take charge (lead from out front, not from behind), they train “in the Lord.” Esteem them — the word of James 1:2, “count” — in agapē love, for their work’s sake: not personality, faithfulness. And maintain the peace you already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(II.A.1–4, with ἄτακτος and ὀλιγόψυχος): Terse, packed instructions. The disorderly are soldiers who have broken rank — in Thessalonica probably those who stopped working because the Lord might come next week (2 Thess 3:6–8). The fainthearted are the “little-souled” — perhaps those who feared their dead had missed the Rapture, or those facing outside affliction. The weak are morally or spiritually weak — don’t throw them out. Be patient with all, even unbelievers who misunderstand your interest in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(II.B.1–2): Paul is explicit about which level is required. Evil for evil is human — somebody cuts you off in traffic, you cut them off. Evil for good is devilish. Good for evil is divine — and it heaps coals of fire on their head; it shocks people and changes them. Retaliation is not an option. And it isn’t enough to avoid evil: pursue the good — actively hunt it down — always, for everyone else as much as for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(III.A–C, with χαίρω and ἀδιαλείπτως): “Rejoice always” is the shortest verse in the Greek NT — fourteen letters. Joy is the Christian’s flag: when it flies, the King is in residence. “Without ceasing” is used of a hacking cough — not every second, but throughout the day; Daniel kept his stated times and his open window. “In everything” — not “for everything” here (that’s Eph 5:20): in every circumstance you can thank God for what He has already done. What is God’s will for my life? Start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(III.D–H, with σβέννυμι, δοκιμάζω, εἶδος): To quench is to throw water on a fire; the simplest definition of quenching the Spirit is saying no to God. Prophecy in the early church was checked by the other prophets (1 Cor 14:29); now we have the completed Scriptures, so the gift is no longer given in that sense, and every teacher is tested by the written Word. Hold fast what survives the test. “Every form of evil” means every form evil actually takes — not everything that looks odd to somebody (Billy Graham’s elevator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(from the posted Study Questions and Application sections): Q1: Verse 14 addresses the disorderly, the fainthearted, the weak and those who are different. What does it tell us about pastoral ministry that one response doesn’t fit all four? — Leader answer: Pastoral care requires discernment, not a single formula. The disorderly need a warning; the fainthearted need comfort; the weak need upholding; others need patience. Good leadership diagnoses before it responds.  Q2: Paul says rejoicing, praying and giving thanks are “the will of God in Christ Jesus for you.” How does that change how you approach those three things? — Leader answer: These are not preliminary steps toward some hidden will of God — they are His will, stated plainly. Believers already have a clear, present assignment, and it is commanded regardless of circumstance.  Applications: Return Good for Evil, Every Time — Do one specific, unrequested good thing this week for someone who has wronged you — and tell no one.  Rejoice, Pray, Give Thanks — For seven days: one sentence of rejoicing, one minute of prayer, one expression of thanks each morning.  Close by reading the summary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The title slide carries the study’s proposition. “We’ll see you later — here, there, or in the air.” The outline gives six parting words: Mediation (v.23), Declaration (v.24), Application (v.25), Reception (v.26), Exhortation (v.27) and Benediction (v.28). Every chart stays within the commentary posted for this study; Greek words come from the study’s Greek Word Study. This study’s posted questions carry no leader answer boxes, so the closing slide’s notes point to the commentary sections that answer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(I–VI): The whole farewell at a glance. Pray for us — three words, the shortest request Paul makes; many local leaders are unpaid and work full-time jobs besides. The holy kiss — the key word is holy (the “holy no-no” story): whatever the greeting, nobody leaves unrecognized. Paul puts the leaders under oath to read the letter to everyone; there was only one copy. And grace closes the letter as it opened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(I.A–C, with ἁγιάσαι): Sanctify means to set apart for God, and the commentary finds all three aspects in 1 John 3:2–3. Past — positional: we are His children, saints in His sight (“I’m Saint John the Baptist”). Promised — when He is revealed we shall be like Him: not becoming God, but like Him in holiness and freedom from sin. Present — the ongoing process Paul emphasizes in verse 23. The aorist views sanctification as a completed whole; the optative marks it as prayer, not prediction.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(I.C, with ὁλοτελεῖς, πνεῦμα, ψυχή, σῶμα): “Wholly” — holoteleis — appears only here in the New Testament, from two words: complete and end. He will sanctify you completely to the end. The whole person: spirit — the vertical, communion with God (only human beings have it); soul — the horizontal, our relationships with others; body — the instrument of both. No dimension falls outside sanctification. Quote Walvoord.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 with πιστός and καλῶν): Paul has just asked God to sanctify us completely; the answer to the obvious concern follows at once. We cannot sanctify ourselves — but we can and must make ourselves available. Kalōn is present tense: God is the one continuously calling, not merely the one who called once. Philippians 2:12–13 — He works in your “willer” and your “doer.” We will not be totally sanctified in this life, but we should be moving toward it every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(VI, with χάρις): The letter opened with grace (1:1) and closes with grace (5:28); everything between happens inside the envelope of God’s undeserved favor. God did not need to create us. When a third of the angels sinned, they were cast out with no provision for salvation — they saw His power and justice, never His grace. When man fell, God sacrificed His own Son. Grace begins, sustains and completes the Christian life. Close the series: so long, Paul — here, there, or in the 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(from the posted Study Questions and Application sections): Q1: The commentary finds three aspects of sanctification in 1 John 3:2–3 — past, promised and present. How does holding all three prevent thinking we are already perfect — or that we must make ourselves perfect? — Leader pointer: Commentary I.A–C: positionally we are already set apart and saints; the promised aspect waits for seeing Him; the present aspect is a process God works as we make ourselves available. Not perfect yet — and not self-made.  Q2: The letter begins with grace (1:1) and ends with grace (5:28). How does grace as the frame shape how we read every command and correction in between? — Leader pointer: Commentary VI and the χάρις entry: everything Paul calls for happens inside the envelope of God’s undeserved favor. The commands are grace in action, not conditions for earning acceptance — grace begins, sustains and completes the Christian life.  Applications: Make Yourself Available — Name the one area where you’ve been pulling back from God, take one step of yielding, and tell someone.  Live from Grace — Not toward It — As a group, write one sentence: what God has done among you through 1 Thessalonians. Post it.  Close by reading the summary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(Study 10, Introduction and Conclusion): The series closes where the last study does — “So long, Paul. We will see him again — here, if the Lord tarries and we keep reading the Word; there, with the Lord after we go; or in the air, when we are all caught up together.” The letter opened with grace (1:1) and closes with grace (5:28).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rtlCol="0"/>
          <a:lstStyle>
            <a:lvl1pPr algn="l" indent="0" marL="0">
              <a:buNone/>
              <a:defRPr lang="en-US" sz="2400" b="1" dirty="0">
                <a:solidFill>
                  <a:srgbClr val="1F3864"/>
                </a:solidFill>
                <a:latin typeface="Arial" pitchFamily="34" charset="0"/>
                <a:ea typeface="Arial" pitchFamily="34" charset="-122"/>
                <a:cs typeface="Arial" pitchFamily="34" charset="-120"/>
              </a:defRPr>
            </a:lvl1pPr>
          </a:lstStyle>
          <a:p>
            <a:pPr algn="l" indent="0" marL="0">
              <a:buNone/>
            </a:pP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rtlCol="0"/>
          <a:lstStyle>
            <a:lvl1pPr indent="0" marL="0">
              <a:buNone/>
              <a:defRPr lang="en-US" sz="1200" i="1" dirty="0">
                <a:solidFill>
                  <a:srgbClr val="595959"/>
                </a:solidFill>
                <a:latin typeface="Arial" pitchFamily="34" charset="0"/>
                <a:ea typeface="Arial" pitchFamily="34" charset="-122"/>
                <a:cs typeface="Arial" pitchFamily="34" charset="-120"/>
              </a:defRPr>
            </a:lvl1pPr>
          </a:lstStyle>
          <a:p>
            <a:pPr indent="0" marL="0">
              <a:buNone/>
            </a:pPr>
            <a:endParaRPr lang="en-US" sz="1200" dirty="0"/>
          </a:p>
        </p:txBody>
      </p:sp>
      <p:sp>
        <p:nvSpPr>
          <p:cNvPr id="4" name="Text 0"/>
          <p:cNvSpPr/>
          <p:nvPr/>
        </p:nvSpPr>
        <p:spPr>
          <a:xfrm>
            <a:off x="457200" y="4773168"/>
            <a:ext cx="6858000" cy="228600"/>
          </a:xfrm>
          <a:prstGeom prst="rect">
            <a:avLst/>
          </a:prstGeom>
          <a:noFill/>
          <a:ln/>
        </p:spPr>
        <p:txBody>
          <a:bodyPr wrap="square" lIns="0" tIns="0" rIns="0" bIns="0" rtlCol="0" anchor="ctr"/>
          <a:lstStyle/>
          <a:p>
            <a:pPr indent="0" marL="0">
              <a:buNone/>
            </a:pPr>
            <a:r>
              <a:rPr lang="en-US" sz="800" dirty="0">
                <a:solidFill>
                  <a:srgbClr val="6B7280"/>
                </a:solidFill>
                <a:latin typeface="Arial" pitchFamily="34" charset="0"/>
                <a:ea typeface="Arial" pitchFamily="34" charset="-122"/>
                <a:cs typeface="Arial" pitchFamily="34" charset="-120"/>
              </a:rPr>
              <a:t>1 Thessalonians · Charts from the 10 studies · The Gospel Vault · NKJV</a:t>
            </a:r>
            <a:endParaRPr lang="en-US" sz="8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rgbClr val="1F3864"/>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rtlCol="0"/>
          <a:lstStyle>
            <a:lvl1pPr indent="0" marL="0">
              <a:buNone/>
              <a:defRPr lang="en-US" sz="1400" dirty="0">
                <a:solidFill>
                  <a:srgbClr val="C9D5EE"/>
                </a:solidFill>
                <a:latin typeface="Arial" pitchFamily="34" charset="0"/>
                <a:ea typeface="Arial" pitchFamily="34" charset="-122"/>
                <a:cs typeface="Arial" pitchFamily="34" charset="-120"/>
              </a:defRPr>
            </a:lvl1pPr>
          </a:lstStyle>
          <a:p>
            <a:pPr indent="0" marL="0">
              <a:buNone/>
            </a:pP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rtlCol="0"/>
          <a:lstStyle>
            <a:lvl1pPr algn="l" indent="0" marL="0">
              <a:buNone/>
              <a:defRPr lang="en-US" sz="3400" b="1" dirty="0">
                <a:solidFill>
                  <a:srgbClr val="FFFFFF"/>
                </a:solidFill>
                <a:latin typeface="Arial" pitchFamily="34" charset="0"/>
                <a:ea typeface="Arial" pitchFamily="34" charset="-122"/>
                <a:cs typeface="Arial" pitchFamily="34" charset="-120"/>
              </a:defRPr>
            </a:lvl1pPr>
          </a:lstStyle>
          <a:p>
            <a:pPr algn="l" indent="0" marL="0">
              <a:buNone/>
            </a:pP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rtlCol="0"/>
          <a:lstStyle>
            <a:lvl1pPr indent="0" marL="0">
              <a:buNone/>
              <a:defRPr lang="en-US" sz="1500" i="1" dirty="0">
                <a:solidFill>
                  <a:srgbClr val="E6ECF7"/>
                </a:solidFill>
                <a:latin typeface="Arial" pitchFamily="34" charset="0"/>
                <a:ea typeface="Arial" pitchFamily="34" charset="-122"/>
                <a:cs typeface="Arial" pitchFamily="34" charset="-120"/>
              </a:defRPr>
            </a:lvl1pPr>
          </a:lstStyle>
          <a:p>
            <a:pPr indent="0" marL="0">
              <a:buNone/>
            </a:pPr>
            <a:endParaRPr lang="en-US" sz="1500" dirty="0"/>
          </a:p>
        </p:txBody>
      </p:sp>
      <p:sp>
        <p:nvSpPr>
          <p:cNvPr id="5" name="Text 0"/>
          <p:cNvSpPr/>
          <p:nvPr/>
        </p:nvSpPr>
        <p:spPr>
          <a:xfrm>
            <a:off x="640080" y="4773168"/>
            <a:ext cx="6858000" cy="228600"/>
          </a:xfrm>
          <a:prstGeom prst="rect">
            <a:avLst/>
          </a:prstGeom>
          <a:noFill/>
          <a:ln/>
        </p:spPr>
        <p:txBody>
          <a:bodyPr wrap="square" lIns="0" tIns="0" rIns="0" bIns="0" rtlCol="0" anchor="ctr"/>
          <a:lstStyle/>
          <a:p>
            <a:pPr indent="0" marL="0">
              <a:buNone/>
            </a:pPr>
            <a:r>
              <a:rPr lang="en-US" sz="800" dirty="0">
                <a:solidFill>
                  <a:srgbClr val="AEBBD6"/>
                </a:solidFill>
                <a:latin typeface="Arial" pitchFamily="34" charset="0"/>
                <a:ea typeface="Arial" pitchFamily="34" charset="-122"/>
                <a:cs typeface="Arial" pitchFamily="34" charset="-120"/>
              </a:rPr>
              <a:t>1 Thessalonians · Charts from the 10 studies · The Gospel Vault · NKJV</a:t>
            </a:r>
            <a:endParaRPr lang="en-US" sz="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nchor="ctr"/>
          <a:lstStyle/>
          <a:p>
            <a:pPr indent="0" marL="0">
              <a:buNone/>
            </a:pPr>
            <a:r>
              <a:rPr lang="en-US" sz="1400" dirty="0">
                <a:solidFill>
                  <a:srgbClr val="C9D5EE"/>
                </a:solidFill>
                <a:latin typeface="Arial" pitchFamily="34" charset="0"/>
                <a:ea typeface="Arial" pitchFamily="34" charset="-122"/>
                <a:cs typeface="Arial" pitchFamily="34" charset="-120"/>
              </a:rPr>
              <a:t>Leader resource · all ten posted studies · NKJV</a:t>
            </a: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lIns="0" tIns="0" rIns="0" bIns="0" rtlCol="0" anchor="ctr"/>
          <a:lstStyle/>
          <a:p>
            <a:pPr algn="l" indent="0" marL="0">
              <a:buNone/>
            </a:pPr>
            <a:r>
              <a:rPr lang="en-US" sz="3400" b="1" dirty="0">
                <a:solidFill>
                  <a:srgbClr val="FFFFFF"/>
                </a:solidFill>
                <a:latin typeface="Arial" pitchFamily="34" charset="0"/>
                <a:ea typeface="Arial" pitchFamily="34" charset="-122"/>
                <a:cs typeface="Arial" pitchFamily="34" charset="-120"/>
              </a:rPr>
              <a:t>1 Thessalonians: Charts from the Ten Studies</a:t>
            </a: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lIns="0" tIns="0" rIns="0" bIns="0" rtlCol="0" anchor="ctr"/>
          <a:lstStyle/>
          <a:p>
            <a:pPr indent="0" marL="0">
              <a:buNone/>
            </a:pPr>
            <a:r>
              <a:rPr lang="en-US" sz="1500" i="1" dirty="0">
                <a:solidFill>
                  <a:srgbClr val="E6ECF7"/>
                </a:solidFill>
                <a:latin typeface="Arial" pitchFamily="34" charset="0"/>
                <a:ea typeface="Arial" pitchFamily="34" charset="-122"/>
                <a:cs typeface="Arial" pitchFamily="34" charset="-120"/>
              </a:rPr>
              <a:t>Every chart from the ten 1 Thessalonians studies, in study order — one section per study, with leader notes on every slide.</a:t>
            </a:r>
            <a:endParaRPr lang="en-US" sz="1500" dirty="0"/>
          </a:p>
        </p:txBody>
      </p:sp>
      <p:sp>
        <p:nvSpPr>
          <p:cNvPr id="5" name="Text 3"/>
          <p:cNvSpPr/>
          <p:nvPr/>
        </p:nvSpPr>
        <p:spPr>
          <a:xfrm>
            <a:off x="640080" y="4343400"/>
            <a:ext cx="7863840" cy="274320"/>
          </a:xfrm>
          <a:prstGeom prst="rect">
            <a:avLst/>
          </a:prstGeom>
          <a:noFill/>
          <a:ln/>
        </p:spPr>
        <p:txBody>
          <a:bodyPr wrap="square" lIns="0" tIns="0" rIns="0" bIns="0" rtlCol="0" anchor="ctr"/>
          <a:lstStyle/>
          <a:p>
            <a:pPr indent="0" marL="0">
              <a:buNone/>
            </a:pPr>
            <a:r>
              <a:rPr lang="en-US" sz="1000" dirty="0">
                <a:solidFill>
                  <a:srgbClr val="C9D5EE"/>
                </a:solidFill>
                <a:latin typeface="Arial" pitchFamily="34" charset="0"/>
                <a:ea typeface="Arial" pitchFamily="34" charset="-122"/>
                <a:cs typeface="Arial" pitchFamily="34" charset="-120"/>
              </a:rPr>
              <a:t>Source: Dr. C. Norman Sellers, ThD · SellersBibleInstitute.com · used by permission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The series at a glance (1 of 2)</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Studies 1–5</a:t>
            </a:r>
            <a:endParaRPr lang="en-US" sz="1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115568"/>
          <a:ext cx="8229600" cy="914400"/>
        </p:xfrm>
        <a:graphic>
          <a:graphicData uri="http://schemas.openxmlformats.org/drawingml/2006/table">
            <a:tbl>
              <a:tblPr/>
              <a:tblGrid>
                <a:gridCol w="411480"/>
                <a:gridCol w="960120"/>
                <a:gridCol w="2651760"/>
                <a:gridCol w="4206240"/>
              </a:tblGrid>
              <a:tr h="310896">
                <a:tc>
                  <a:txBody>
                    <a:bodyPr/>
                    <a:lstStyle/>
                    <a:p>
                      <a:pPr indent="0" marL="0">
                        <a:buNone/>
                      </a:pPr>
                      <a:r>
                        <a:rPr lang="en-US" sz="1050" b="1" dirty="0">
                          <a:solidFill>
                            <a:srgbClr val="FFFFFF"/>
                          </a:solidFill>
                          <a:latin typeface="Arial" pitchFamily="34" charset="0"/>
                          <a:ea typeface="Arial" pitchFamily="34" charset="-122"/>
                          <a:cs typeface="Arial" pitchFamily="34" charset="-120"/>
                        </a:rPr>
                        <a:t>#</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2E5496"/>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Passage</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2E5496"/>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Title</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2E5496"/>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In brief</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2E5496"/>
                    </a:solidFill>
                  </a:tcPr>
                </a:tc>
              </a:tr>
              <a:tr h="640080">
                <a:tc>
                  <a:txBody>
                    <a:bodyPr/>
                    <a:lstStyle/>
                    <a:p>
                      <a:pPr algn="ctr" indent="0" marL="0">
                        <a:buNone/>
                      </a:pPr>
                      <a:r>
                        <a:rPr lang="en-US" sz="1050" b="1" dirty="0">
                          <a:solidFill>
                            <a:srgbClr val="1F3864"/>
                          </a:solidFill>
                          <a:latin typeface="Arial" pitchFamily="34" charset="0"/>
                          <a:ea typeface="Arial" pitchFamily="34" charset="-122"/>
                          <a:cs typeface="Arial" pitchFamily="34" charset="-120"/>
                        </a:rPr>
                        <a:t>1</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1:1–5</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b="1" dirty="0">
                          <a:solidFill>
                            <a:srgbClr val="1F3864"/>
                          </a:solidFill>
                          <a:latin typeface="Arial" pitchFamily="34" charset="0"/>
                          <a:ea typeface="Arial" pitchFamily="34" charset="-122"/>
                          <a:cs typeface="Arial" pitchFamily="34" charset="-120"/>
                        </a:rPr>
                        <a:t>An Introduction to the Thessalonian Church</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Paul, Silvanus, and Timothy greet a young church already marked by faith, love, and hope.</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r>
              <a:tr h="640080">
                <a:tc>
                  <a:txBody>
                    <a:bodyPr/>
                    <a:lstStyle/>
                    <a:p>
                      <a:pPr algn="ctr" indent="0" marL="0">
                        <a:buNone/>
                      </a:pPr>
                      <a:r>
                        <a:rPr lang="en-US" sz="1050" b="1" dirty="0">
                          <a:solidFill>
                            <a:srgbClr val="1F3864"/>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1:6–10</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b="1" dirty="0">
                          <a:solidFill>
                            <a:srgbClr val="1F3864"/>
                          </a:solidFill>
                          <a:latin typeface="Arial" pitchFamily="34" charset="0"/>
                          <a:ea typeface="Arial" pitchFamily="34" charset="-122"/>
                          <a:cs typeface="Arial" pitchFamily="34" charset="-120"/>
                        </a:rPr>
                        <a:t>The Many Faces of the Gospel</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The gospel in person, in proclamation, and in prospect — a transformed life, a spreading testimony, and a certain hope.</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r>
              <a:tr h="640080">
                <a:tc>
                  <a:txBody>
                    <a:bodyPr/>
                    <a:lstStyle/>
                    <a:p>
                      <a:pPr algn="ctr" indent="0" marL="0">
                        <a:buNone/>
                      </a:pPr>
                      <a:r>
                        <a:rPr lang="en-US" sz="1050" b="1" dirty="0">
                          <a:solidFill>
                            <a:srgbClr val="1F3864"/>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2:1–12</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b="1" dirty="0">
                          <a:solidFill>
                            <a:srgbClr val="1F3864"/>
                          </a:solidFill>
                          <a:latin typeface="Arial" pitchFamily="34" charset="0"/>
                          <a:ea typeface="Arial" pitchFamily="34" charset="-122"/>
                          <a:cs typeface="Arial" pitchFamily="34" charset="-120"/>
                        </a:rPr>
                        <a:t>Delivering the Gospel</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Paul’s own conduct as a messenger — no flattery, no greed, no glory-seeking, only a father’s care.</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r>
              <a:tr h="640080">
                <a:tc>
                  <a:txBody>
                    <a:bodyPr/>
                    <a:lstStyle/>
                    <a:p>
                      <a:pPr algn="ctr" indent="0" marL="0">
                        <a:buNone/>
                      </a:pPr>
                      <a:r>
                        <a:rPr lang="en-US" sz="1050" b="1" dirty="0">
                          <a:solidFill>
                            <a:srgbClr val="1F3864"/>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2:13–20</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b="1" dirty="0">
                          <a:solidFill>
                            <a:srgbClr val="1F3864"/>
                          </a:solidFill>
                          <a:latin typeface="Arial" pitchFamily="34" charset="0"/>
                          <a:ea typeface="Arial" pitchFamily="34" charset="-122"/>
                          <a:cs typeface="Arial" pitchFamily="34" charset="-120"/>
                        </a:rPr>
                        <a:t>A Successful Life of Service</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The word received as the word of God, suffering imitated well, and a hope that Paul calls his crown.</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r>
              <a:tr h="640080">
                <a:tc>
                  <a:txBody>
                    <a:bodyPr/>
                    <a:lstStyle/>
                    <a:p>
                      <a:pPr algn="ctr" indent="0" marL="0">
                        <a:buNone/>
                      </a:pPr>
                      <a:r>
                        <a:rPr lang="en-US" sz="1050" b="1" dirty="0">
                          <a:solidFill>
                            <a:srgbClr val="1F3864"/>
                          </a:solidFill>
                          <a:latin typeface="Arial" pitchFamily="34" charset="0"/>
                          <a:ea typeface="Arial" pitchFamily="34" charset="-122"/>
                          <a:cs typeface="Arial" pitchFamily="34" charset="-120"/>
                        </a:rPr>
                        <a:t>5</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3:1–13</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b="1" dirty="0">
                          <a:solidFill>
                            <a:srgbClr val="1F3864"/>
                          </a:solidFill>
                          <a:latin typeface="Arial" pitchFamily="34" charset="0"/>
                          <a:ea typeface="Arial" pitchFamily="34" charset="-122"/>
                          <a:cs typeface="Arial" pitchFamily="34" charset="-120"/>
                        </a:rPr>
                        <a:t>Facing Tribulation</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Paul sends Timothy to a suffering church, and finds his own life bound up with their standing firm.</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r>
            </a:tbl>
          </a:graphicData>
        </a:graphic>
      </p:graphicFrame>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The series at a glance (2 of 2)</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Studies 6–10</a:t>
            </a:r>
            <a:endParaRPr lang="en-US" sz="1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115568"/>
          <a:ext cx="8229600" cy="914400"/>
        </p:xfrm>
        <a:graphic>
          <a:graphicData uri="http://schemas.openxmlformats.org/drawingml/2006/table">
            <a:tbl>
              <a:tblPr/>
              <a:tblGrid>
                <a:gridCol w="411480"/>
                <a:gridCol w="960120"/>
                <a:gridCol w="2651760"/>
                <a:gridCol w="4206240"/>
              </a:tblGrid>
              <a:tr h="310896">
                <a:tc>
                  <a:txBody>
                    <a:bodyPr/>
                    <a:lstStyle/>
                    <a:p>
                      <a:pPr indent="0" marL="0">
                        <a:buNone/>
                      </a:pPr>
                      <a:r>
                        <a:rPr lang="en-US" sz="1050" b="1" dirty="0">
                          <a:solidFill>
                            <a:srgbClr val="FFFFFF"/>
                          </a:solidFill>
                          <a:latin typeface="Arial" pitchFamily="34" charset="0"/>
                          <a:ea typeface="Arial" pitchFamily="34" charset="-122"/>
                          <a:cs typeface="Arial" pitchFamily="34" charset="-120"/>
                        </a:rPr>
                        <a:t>#</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2E5496"/>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Passage</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2E5496"/>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Title</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2E5496"/>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In brief</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2E5496"/>
                    </a:solidFill>
                  </a:tcPr>
                </a:tc>
              </a:tr>
              <a:tr h="640080">
                <a:tc>
                  <a:txBody>
                    <a:bodyPr/>
                    <a:lstStyle/>
                    <a:p>
                      <a:pPr algn="ctr" indent="0" marL="0">
                        <a:buNone/>
                      </a:pPr>
                      <a:r>
                        <a:rPr lang="en-US" sz="1050" b="1" dirty="0">
                          <a:solidFill>
                            <a:srgbClr val="1F3864"/>
                          </a:solidFill>
                          <a:latin typeface="Arial" pitchFamily="34" charset="0"/>
                          <a:ea typeface="Arial" pitchFamily="34" charset="-122"/>
                          <a:cs typeface="Arial" pitchFamily="34" charset="-120"/>
                        </a:rPr>
                        <a:t>6</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4:1–12</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b="1" dirty="0">
                          <a:solidFill>
                            <a:srgbClr val="1F3864"/>
                          </a:solidFill>
                          <a:latin typeface="Arial" pitchFamily="34" charset="0"/>
                          <a:ea typeface="Arial" pitchFamily="34" charset="-122"/>
                          <a:cs typeface="Arial" pitchFamily="34" charset="-120"/>
                        </a:rPr>
                        <a:t>A Life That Pleases God</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Sanctification, brotherly love, and a quiet, faithful life — the shape of pleasing God day to day.</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r>
              <a:tr h="640080">
                <a:tc>
                  <a:txBody>
                    <a:bodyPr/>
                    <a:lstStyle/>
                    <a:p>
                      <a:pPr algn="ctr" indent="0" marL="0">
                        <a:buNone/>
                      </a:pPr>
                      <a:r>
                        <a:rPr lang="en-US" sz="1050" b="1" dirty="0">
                          <a:solidFill>
                            <a:srgbClr val="1F3864"/>
                          </a:solidFill>
                          <a:latin typeface="Arial" pitchFamily="34" charset="0"/>
                          <a:ea typeface="Arial" pitchFamily="34" charset="-122"/>
                          <a:cs typeface="Arial" pitchFamily="34" charset="-120"/>
                        </a:rPr>
                        <a:t>7</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4:13–18</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b="1" dirty="0">
                          <a:solidFill>
                            <a:srgbClr val="1F3864"/>
                          </a:solidFill>
                          <a:latin typeface="Arial" pitchFamily="34" charset="0"/>
                          <a:ea typeface="Arial" pitchFamily="34" charset="-122"/>
                          <a:cs typeface="Arial" pitchFamily="34" charset="-120"/>
                        </a:rPr>
                        <a:t>The Rapture of the Church</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Grief with hope — Christ descends, the dead in Christ rise first, and the church is caught up together.</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r>
              <a:tr h="640080">
                <a:tc>
                  <a:txBody>
                    <a:bodyPr/>
                    <a:lstStyle/>
                    <a:p>
                      <a:pPr algn="ctr" indent="0" marL="0">
                        <a:buNone/>
                      </a:pPr>
                      <a:r>
                        <a:rPr lang="en-US" sz="1050" b="1" dirty="0">
                          <a:solidFill>
                            <a:srgbClr val="1F3864"/>
                          </a:solidFill>
                          <a:latin typeface="Arial" pitchFamily="34" charset="0"/>
                          <a:ea typeface="Arial" pitchFamily="34" charset="-122"/>
                          <a:cs typeface="Arial" pitchFamily="34" charset="-120"/>
                        </a:rPr>
                        <a:t>8</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5:1–11</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b="1" dirty="0">
                          <a:solidFill>
                            <a:srgbClr val="1F3864"/>
                          </a:solidFill>
                          <a:latin typeface="Arial" pitchFamily="34" charset="0"/>
                          <a:ea typeface="Arial" pitchFamily="34" charset="-122"/>
                          <a:cs typeface="Arial" pitchFamily="34" charset="-120"/>
                        </a:rPr>
                        <a:t>The Coming of the Lord: A Purifying Hope</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The day of the Lord comes like a thief for the world, but believers are children of the light.</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r>
              <a:tr h="640080">
                <a:tc>
                  <a:txBody>
                    <a:bodyPr/>
                    <a:lstStyle/>
                    <a:p>
                      <a:pPr algn="ctr" indent="0" marL="0">
                        <a:buNone/>
                      </a:pPr>
                      <a:r>
                        <a:rPr lang="en-US" sz="1050" b="1" dirty="0">
                          <a:solidFill>
                            <a:srgbClr val="1F3864"/>
                          </a:solidFill>
                          <a:latin typeface="Arial" pitchFamily="34" charset="0"/>
                          <a:ea typeface="Arial" pitchFamily="34" charset="-122"/>
                          <a:cs typeface="Arial" pitchFamily="34" charset="-120"/>
                        </a:rPr>
                        <a:t>9</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5:12–22</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b="1" dirty="0">
                          <a:solidFill>
                            <a:srgbClr val="1F3864"/>
                          </a:solidFill>
                          <a:latin typeface="Arial" pitchFamily="34" charset="0"/>
                          <a:ea typeface="Arial" pitchFamily="34" charset="-122"/>
                          <a:cs typeface="Arial" pitchFamily="34" charset="-120"/>
                        </a:rPr>
                        <a:t>The Coming of the Lord: Exhortations</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Rejoice always, pray without ceasing, give thanks in everything — the will of God for an ordinary week.</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r>
              <a:tr h="640080">
                <a:tc>
                  <a:txBody>
                    <a:bodyPr/>
                    <a:lstStyle/>
                    <a:p>
                      <a:pPr algn="ctr" indent="0" marL="0">
                        <a:buNone/>
                      </a:pPr>
                      <a:r>
                        <a:rPr lang="en-US" sz="1050" b="1" dirty="0">
                          <a:solidFill>
                            <a:srgbClr val="1F3864"/>
                          </a:solidFill>
                          <a:latin typeface="Arial" pitchFamily="34" charset="0"/>
                          <a:ea typeface="Arial" pitchFamily="34" charset="-122"/>
                          <a:cs typeface="Arial" pitchFamily="34" charset="-120"/>
                        </a:rPr>
                        <a:t>10</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5:23–28</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b="1" dirty="0">
                          <a:solidFill>
                            <a:srgbClr val="1F3864"/>
                          </a:solidFill>
                          <a:latin typeface="Arial" pitchFamily="34" charset="0"/>
                          <a:ea typeface="Arial" pitchFamily="34" charset="-122"/>
                          <a:cs typeface="Arial" pitchFamily="34" charset="-120"/>
                        </a:rPr>
                        <a:t>’Til We Meet Again</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Paul’s closing prayer, blessing, and charge — sanctified wholly, kept blameless, until He comes.</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r>
            </a:tbl>
          </a:graphicData>
        </a:graphic>
      </p:graphicFrame>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nchor="ctr"/>
          <a:lstStyle/>
          <a:p>
            <a:pPr indent="0" marL="0">
              <a:buNone/>
            </a:pPr>
            <a:r>
              <a:rPr lang="en-US" sz="1400" dirty="0">
                <a:solidFill>
                  <a:srgbClr val="C9D5EE"/>
                </a:solidFill>
                <a:latin typeface="Arial" pitchFamily="34" charset="0"/>
                <a:ea typeface="Arial" pitchFamily="34" charset="-122"/>
                <a:cs typeface="Arial" pitchFamily="34" charset="-120"/>
              </a:rPr>
              <a:t>Study 1 of 10 · 1 Thessalonians 1:1–5</a:t>
            </a: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lIns="0" tIns="0" rIns="0" bIns="0" rtlCol="0" anchor="ctr"/>
          <a:lstStyle/>
          <a:p>
            <a:pPr algn="l" indent="0" marL="0">
              <a:buNone/>
            </a:pPr>
            <a:r>
              <a:rPr lang="en-US" sz="3400" b="1" dirty="0">
                <a:solidFill>
                  <a:srgbClr val="FFFFFF"/>
                </a:solidFill>
                <a:latin typeface="Arial" pitchFamily="34" charset="0"/>
                <a:ea typeface="Arial" pitchFamily="34" charset="-122"/>
                <a:cs typeface="Arial" pitchFamily="34" charset="-120"/>
              </a:rPr>
              <a:t>An Introduction to the Thessalonian Church</a:t>
            </a: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lIns="0" tIns="0" rIns="0" bIns="0" rtlCol="0" anchor="ctr"/>
          <a:lstStyle/>
          <a:p>
            <a:pPr indent="0" marL="0">
              <a:buNone/>
            </a:pPr>
            <a:r>
              <a:rPr lang="en-US" sz="1500" i="1" dirty="0">
                <a:solidFill>
                  <a:srgbClr val="E6ECF7"/>
                </a:solidFill>
                <a:latin typeface="Arial" pitchFamily="34" charset="0"/>
                <a:ea typeface="Arial" pitchFamily="34" charset="-122"/>
                <a:cs typeface="Arial" pitchFamily="34" charset="-120"/>
              </a:rPr>
              <a:t>Paul, Silvanus, and Timothy greet a young church already marked by faith, love, and hope — a church secure in God, praised for the source of its activity, and reached by a gospel that came in word, in power and in the life of the messengers.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Paul’s road to Thessalonica</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Introduction · Geographical background (Acts 16–18)</a:t>
            </a:r>
            <a:endParaRPr lang="en-US" sz="1200" dirty="0"/>
          </a:p>
        </p:txBody>
      </p:sp>
      <p:sp>
        <p:nvSpPr>
          <p:cNvPr id="5" name="Shape 2"/>
          <p:cNvSpPr/>
          <p:nvPr/>
        </p:nvSpPr>
        <p:spPr>
          <a:xfrm>
            <a:off x="457200" y="1188720"/>
            <a:ext cx="1477670" cy="2057400"/>
          </a:xfrm>
          <a:prstGeom prst="roundRect">
            <a:avLst>
              <a:gd name="adj" fmla="val 3713"/>
            </a:avLst>
          </a:prstGeom>
          <a:solidFill>
            <a:srgbClr val="F2F6FC"/>
          </a:solidFill>
          <a:ln w="9525">
            <a:solidFill>
              <a:srgbClr val="D5DCEA"/>
            </a:solidFill>
            <a:prstDash val="solid"/>
          </a:ln>
        </p:spPr>
      </p:sp>
      <p:sp>
        <p:nvSpPr>
          <p:cNvPr id="6" name="Shape 3"/>
          <p:cNvSpPr/>
          <p:nvPr/>
        </p:nvSpPr>
        <p:spPr>
          <a:xfrm>
            <a:off x="994867" y="1298448"/>
            <a:ext cx="402336" cy="402336"/>
          </a:xfrm>
          <a:prstGeom prst="ellipse">
            <a:avLst/>
          </a:prstGeom>
          <a:solidFill>
            <a:srgbClr val="2E5496"/>
          </a:solidFill>
          <a:ln w="12700">
            <a:solidFill>
              <a:srgbClr val="2E5496"/>
            </a:solidFill>
            <a:prstDash val="solid"/>
          </a:ln>
        </p:spPr>
      </p:sp>
      <p:sp>
        <p:nvSpPr>
          <p:cNvPr id="7" name="Text 4"/>
          <p:cNvSpPr/>
          <p:nvPr/>
        </p:nvSpPr>
        <p:spPr>
          <a:xfrm>
            <a:off x="994867"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8" name="Text 5"/>
          <p:cNvSpPr/>
          <p:nvPr/>
        </p:nvSpPr>
        <p:spPr>
          <a:xfrm>
            <a:off x="530352"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Lystra &amp; Iconium</a:t>
            </a:r>
            <a:endParaRPr lang="en-US" sz="1150" dirty="0"/>
          </a:p>
        </p:txBody>
      </p:sp>
      <p:sp>
        <p:nvSpPr>
          <p:cNvPr id="9" name="Text 6"/>
          <p:cNvSpPr/>
          <p:nvPr/>
        </p:nvSpPr>
        <p:spPr>
          <a:xfrm>
            <a:off x="530352" y="2157984"/>
            <a:ext cx="1331366" cy="70408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Timothy joins the team — Paul and Silas add a young convert</a:t>
            </a:r>
            <a:endParaRPr lang="en-US" sz="1150" dirty="0"/>
          </a:p>
        </p:txBody>
      </p:sp>
      <p:sp>
        <p:nvSpPr>
          <p:cNvPr id="10" name="Text 7"/>
          <p:cNvSpPr/>
          <p:nvPr/>
        </p:nvSpPr>
        <p:spPr>
          <a:xfrm>
            <a:off x="530352" y="2862072"/>
            <a:ext cx="1331366"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Second journey</a:t>
            </a:r>
            <a:endParaRPr lang="en-US" sz="900" dirty="0"/>
          </a:p>
        </p:txBody>
      </p:sp>
      <p:sp>
        <p:nvSpPr>
          <p:cNvPr id="11" name="Shape 8"/>
          <p:cNvSpPr/>
          <p:nvPr/>
        </p:nvSpPr>
        <p:spPr>
          <a:xfrm>
            <a:off x="1939442" y="2098548"/>
            <a:ext cx="201168" cy="237744"/>
          </a:xfrm>
          <a:prstGeom prst="rightArrow">
            <a:avLst/>
          </a:prstGeom>
          <a:solidFill>
            <a:srgbClr val="6B7280"/>
          </a:solidFill>
          <a:ln w="12700">
            <a:solidFill>
              <a:srgbClr val="6B7280"/>
            </a:solidFill>
            <a:prstDash val="solid"/>
          </a:ln>
        </p:spPr>
      </p:sp>
      <p:sp>
        <p:nvSpPr>
          <p:cNvPr id="12" name="Shape 9"/>
          <p:cNvSpPr/>
          <p:nvPr/>
        </p:nvSpPr>
        <p:spPr>
          <a:xfrm>
            <a:off x="2145182" y="1188720"/>
            <a:ext cx="1477670" cy="2057400"/>
          </a:xfrm>
          <a:prstGeom prst="roundRect">
            <a:avLst>
              <a:gd name="adj" fmla="val 3713"/>
            </a:avLst>
          </a:prstGeom>
          <a:solidFill>
            <a:srgbClr val="F2F6FC"/>
          </a:solidFill>
          <a:ln w="9525">
            <a:solidFill>
              <a:srgbClr val="D5DCEA"/>
            </a:solidFill>
            <a:prstDash val="solid"/>
          </a:ln>
        </p:spPr>
      </p:sp>
      <p:sp>
        <p:nvSpPr>
          <p:cNvPr id="13" name="Shape 10"/>
          <p:cNvSpPr/>
          <p:nvPr/>
        </p:nvSpPr>
        <p:spPr>
          <a:xfrm>
            <a:off x="2682850" y="1298448"/>
            <a:ext cx="402336" cy="402336"/>
          </a:xfrm>
          <a:prstGeom prst="ellipse">
            <a:avLst/>
          </a:prstGeom>
          <a:solidFill>
            <a:srgbClr val="2E5496"/>
          </a:solidFill>
          <a:ln w="12700">
            <a:solidFill>
              <a:srgbClr val="2E5496"/>
            </a:solidFill>
            <a:prstDash val="solid"/>
          </a:ln>
        </p:spPr>
      </p:sp>
      <p:sp>
        <p:nvSpPr>
          <p:cNvPr id="14" name="Text 11"/>
          <p:cNvSpPr/>
          <p:nvPr/>
        </p:nvSpPr>
        <p:spPr>
          <a:xfrm>
            <a:off x="2682850"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5" name="Text 12"/>
          <p:cNvSpPr/>
          <p:nvPr/>
        </p:nvSpPr>
        <p:spPr>
          <a:xfrm>
            <a:off x="2218334"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Troas</a:t>
            </a:r>
            <a:endParaRPr lang="en-US" sz="1150" dirty="0"/>
          </a:p>
        </p:txBody>
      </p:sp>
      <p:sp>
        <p:nvSpPr>
          <p:cNvPr id="16" name="Text 13"/>
          <p:cNvSpPr/>
          <p:nvPr/>
        </p:nvSpPr>
        <p:spPr>
          <a:xfrm>
            <a:off x="2218334" y="2157984"/>
            <a:ext cx="1331366" cy="70408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The Macedonian call: “Come over and help us”</a:t>
            </a:r>
            <a:endParaRPr lang="en-US" sz="1150" dirty="0"/>
          </a:p>
        </p:txBody>
      </p:sp>
      <p:sp>
        <p:nvSpPr>
          <p:cNvPr id="17" name="Text 14"/>
          <p:cNvSpPr/>
          <p:nvPr/>
        </p:nvSpPr>
        <p:spPr>
          <a:xfrm>
            <a:off x="2218334" y="2862072"/>
            <a:ext cx="1331366"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The Spirit redirects west</a:t>
            </a:r>
            <a:endParaRPr lang="en-US" sz="900" dirty="0"/>
          </a:p>
        </p:txBody>
      </p:sp>
      <p:sp>
        <p:nvSpPr>
          <p:cNvPr id="18" name="Shape 15"/>
          <p:cNvSpPr/>
          <p:nvPr/>
        </p:nvSpPr>
        <p:spPr>
          <a:xfrm>
            <a:off x="3627425" y="2098548"/>
            <a:ext cx="201168" cy="237744"/>
          </a:xfrm>
          <a:prstGeom prst="rightArrow">
            <a:avLst/>
          </a:prstGeom>
          <a:solidFill>
            <a:srgbClr val="6B7280"/>
          </a:solidFill>
          <a:ln w="12700">
            <a:solidFill>
              <a:srgbClr val="6B7280"/>
            </a:solidFill>
            <a:prstDash val="solid"/>
          </a:ln>
        </p:spPr>
      </p:sp>
      <p:sp>
        <p:nvSpPr>
          <p:cNvPr id="19" name="Shape 16"/>
          <p:cNvSpPr/>
          <p:nvPr/>
        </p:nvSpPr>
        <p:spPr>
          <a:xfrm>
            <a:off x="3833165" y="1188720"/>
            <a:ext cx="1477670" cy="2057400"/>
          </a:xfrm>
          <a:prstGeom prst="roundRect">
            <a:avLst>
              <a:gd name="adj" fmla="val 3713"/>
            </a:avLst>
          </a:prstGeom>
          <a:solidFill>
            <a:srgbClr val="F2F6FC"/>
          </a:solidFill>
          <a:ln w="9525">
            <a:solidFill>
              <a:srgbClr val="D5DCEA"/>
            </a:solidFill>
            <a:prstDash val="solid"/>
          </a:ln>
        </p:spPr>
      </p:sp>
      <p:sp>
        <p:nvSpPr>
          <p:cNvPr id="20" name="Shape 17"/>
          <p:cNvSpPr/>
          <p:nvPr/>
        </p:nvSpPr>
        <p:spPr>
          <a:xfrm>
            <a:off x="4370832" y="1298448"/>
            <a:ext cx="402336" cy="402336"/>
          </a:xfrm>
          <a:prstGeom prst="ellipse">
            <a:avLst/>
          </a:prstGeom>
          <a:solidFill>
            <a:srgbClr val="2E5496"/>
          </a:solidFill>
          <a:ln w="12700">
            <a:solidFill>
              <a:srgbClr val="2E5496"/>
            </a:solidFill>
            <a:prstDash val="solid"/>
          </a:ln>
        </p:spPr>
      </p:sp>
      <p:sp>
        <p:nvSpPr>
          <p:cNvPr id="21" name="Text 18"/>
          <p:cNvSpPr/>
          <p:nvPr/>
        </p:nvSpPr>
        <p:spPr>
          <a:xfrm>
            <a:off x="4370832"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a:t>
            </a:r>
            <a:endParaRPr lang="en-US" sz="1300" dirty="0"/>
          </a:p>
        </p:txBody>
      </p:sp>
      <p:sp>
        <p:nvSpPr>
          <p:cNvPr id="22" name="Text 19"/>
          <p:cNvSpPr/>
          <p:nvPr/>
        </p:nvSpPr>
        <p:spPr>
          <a:xfrm>
            <a:off x="3906317"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Philippi</a:t>
            </a:r>
            <a:endParaRPr lang="en-US" sz="1150" dirty="0"/>
          </a:p>
        </p:txBody>
      </p:sp>
      <p:sp>
        <p:nvSpPr>
          <p:cNvPr id="23" name="Text 20"/>
          <p:cNvSpPr/>
          <p:nvPr/>
        </p:nvSpPr>
        <p:spPr>
          <a:xfrm>
            <a:off x="3906317" y="2157984"/>
            <a:ext cx="1331366" cy="70408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Jail, earthquake, and the jailer: “Believe on the Lord Jesus Christ”</a:t>
            </a:r>
            <a:endParaRPr lang="en-US" sz="1150" dirty="0"/>
          </a:p>
        </p:txBody>
      </p:sp>
      <p:sp>
        <p:nvSpPr>
          <p:cNvPr id="24" name="Text 21"/>
          <p:cNvSpPr/>
          <p:nvPr/>
        </p:nvSpPr>
        <p:spPr>
          <a:xfrm>
            <a:off x="3906317" y="2862072"/>
            <a:ext cx="1331366"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The gospel Paul preached</a:t>
            </a:r>
            <a:endParaRPr lang="en-US" sz="900" dirty="0"/>
          </a:p>
        </p:txBody>
      </p:sp>
      <p:sp>
        <p:nvSpPr>
          <p:cNvPr id="25" name="Shape 22"/>
          <p:cNvSpPr/>
          <p:nvPr/>
        </p:nvSpPr>
        <p:spPr>
          <a:xfrm>
            <a:off x="5315407" y="2098548"/>
            <a:ext cx="201168" cy="237744"/>
          </a:xfrm>
          <a:prstGeom prst="rightArrow">
            <a:avLst/>
          </a:prstGeom>
          <a:solidFill>
            <a:srgbClr val="6B7280"/>
          </a:solidFill>
          <a:ln w="12700">
            <a:solidFill>
              <a:srgbClr val="6B7280"/>
            </a:solidFill>
            <a:prstDash val="solid"/>
          </a:ln>
        </p:spPr>
      </p:sp>
      <p:sp>
        <p:nvSpPr>
          <p:cNvPr id="26" name="Shape 23"/>
          <p:cNvSpPr/>
          <p:nvPr/>
        </p:nvSpPr>
        <p:spPr>
          <a:xfrm>
            <a:off x="5521147" y="1188720"/>
            <a:ext cx="1477670" cy="2057400"/>
          </a:xfrm>
          <a:prstGeom prst="roundRect">
            <a:avLst>
              <a:gd name="adj" fmla="val 3713"/>
            </a:avLst>
          </a:prstGeom>
          <a:solidFill>
            <a:srgbClr val="1F3864"/>
          </a:solidFill>
          <a:ln w="9525">
            <a:solidFill>
              <a:srgbClr val="1F3864"/>
            </a:solidFill>
            <a:prstDash val="solid"/>
          </a:ln>
        </p:spPr>
      </p:sp>
      <p:sp>
        <p:nvSpPr>
          <p:cNvPr id="27" name="Shape 24"/>
          <p:cNvSpPr/>
          <p:nvPr/>
        </p:nvSpPr>
        <p:spPr>
          <a:xfrm>
            <a:off x="6058814" y="1298448"/>
            <a:ext cx="402336" cy="402336"/>
          </a:xfrm>
          <a:prstGeom prst="ellipse">
            <a:avLst/>
          </a:prstGeom>
          <a:solidFill>
            <a:srgbClr val="FFFFFF"/>
          </a:solidFill>
          <a:ln w="12700">
            <a:solidFill>
              <a:srgbClr val="FFFFFF"/>
            </a:solidFill>
            <a:prstDash val="solid"/>
          </a:ln>
        </p:spPr>
      </p:sp>
      <p:sp>
        <p:nvSpPr>
          <p:cNvPr id="28" name="Text 25"/>
          <p:cNvSpPr/>
          <p:nvPr/>
        </p:nvSpPr>
        <p:spPr>
          <a:xfrm>
            <a:off x="6058814" y="1298448"/>
            <a:ext cx="402336" cy="402336"/>
          </a:xfrm>
          <a:prstGeom prst="rect">
            <a:avLst/>
          </a:prstGeom>
          <a:noFill/>
          <a:ln/>
        </p:spPr>
        <p:txBody>
          <a:bodyPr wrap="square" lIns="0" tIns="0" rIns="0" bIns="0" rtlCol="0" anchor="ctr"/>
          <a:lstStyle/>
          <a:p>
            <a:pPr algn="ctr" indent="0" marL="0">
              <a:buNone/>
            </a:pPr>
            <a:r>
              <a:rPr lang="en-US" sz="1300" b="1" dirty="0">
                <a:solidFill>
                  <a:srgbClr val="1F3864"/>
                </a:solidFill>
                <a:latin typeface="Arial" pitchFamily="34" charset="0"/>
                <a:ea typeface="Arial" pitchFamily="34" charset="-122"/>
                <a:cs typeface="Arial" pitchFamily="34" charset="-120"/>
              </a:rPr>
              <a:t>D</a:t>
            </a:r>
            <a:endParaRPr lang="en-US" sz="1300" dirty="0"/>
          </a:p>
        </p:txBody>
      </p:sp>
      <p:sp>
        <p:nvSpPr>
          <p:cNvPr id="29" name="Text 26"/>
          <p:cNvSpPr/>
          <p:nvPr/>
        </p:nvSpPr>
        <p:spPr>
          <a:xfrm>
            <a:off x="5594299" y="1773936"/>
            <a:ext cx="1331366"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Thessalonica</a:t>
            </a:r>
            <a:endParaRPr lang="en-US" sz="1150" dirty="0"/>
          </a:p>
        </p:txBody>
      </p:sp>
      <p:sp>
        <p:nvSpPr>
          <p:cNvPr id="30" name="Text 27"/>
          <p:cNvSpPr/>
          <p:nvPr/>
        </p:nvSpPr>
        <p:spPr>
          <a:xfrm>
            <a:off x="5594299" y="2157984"/>
            <a:ext cx="1331366" cy="704088"/>
          </a:xfrm>
          <a:prstGeom prst="rect">
            <a:avLst/>
          </a:prstGeom>
          <a:noFill/>
          <a:ln/>
        </p:spPr>
        <p:txBody>
          <a:bodyPr wrap="square" lIns="0" tIns="0" rIns="0" bIns="0" rtlCol="0" anchor="t"/>
          <a:lstStyle/>
          <a:p>
            <a:pPr algn="ctr" indent="0" marL="0">
              <a:buNone/>
            </a:pPr>
            <a:r>
              <a:rPr lang="en-US" sz="1150" dirty="0">
                <a:solidFill>
                  <a:srgbClr val="FFFFFF"/>
                </a:solidFill>
                <a:latin typeface="Arial" pitchFamily="34" charset="0"/>
                <a:ea typeface="Arial" pitchFamily="34" charset="-122"/>
                <a:cs typeface="Arial" pitchFamily="34" charset="-120"/>
              </a:rPr>
              <a:t>Three Sabbaths in the synagogue — but he stayed longer</a:t>
            </a:r>
            <a:endParaRPr lang="en-US" sz="1150" dirty="0"/>
          </a:p>
        </p:txBody>
      </p:sp>
      <p:sp>
        <p:nvSpPr>
          <p:cNvPr id="31" name="Text 28"/>
          <p:cNvSpPr/>
          <p:nvPr/>
        </p:nvSpPr>
        <p:spPr>
          <a:xfrm>
            <a:off x="5594299" y="2862072"/>
            <a:ext cx="1331366" cy="329184"/>
          </a:xfrm>
          <a:prstGeom prst="rect">
            <a:avLst/>
          </a:prstGeom>
          <a:noFill/>
          <a:ln/>
        </p:spPr>
        <p:txBody>
          <a:bodyPr wrap="square" lIns="0" tIns="0" rIns="0" bIns="0" rtlCol="0" anchor="b"/>
          <a:lstStyle/>
          <a:p>
            <a:pPr algn="ctr" indent="0" marL="0">
              <a:buNone/>
            </a:pPr>
            <a:r>
              <a:rPr lang="en-US" sz="900" i="1" dirty="0">
                <a:solidFill>
                  <a:srgbClr val="DCE4F2"/>
                </a:solidFill>
                <a:latin typeface="Arial" pitchFamily="34" charset="0"/>
                <a:ea typeface="Arial" pitchFamily="34" charset="-122"/>
                <a:cs typeface="Arial" pitchFamily="34" charset="-120"/>
              </a:rPr>
              <a:t>Acts 17:1–9</a:t>
            </a:r>
            <a:endParaRPr lang="en-US" sz="900" dirty="0"/>
          </a:p>
        </p:txBody>
      </p:sp>
      <p:sp>
        <p:nvSpPr>
          <p:cNvPr id="32" name="Shape 29"/>
          <p:cNvSpPr/>
          <p:nvPr/>
        </p:nvSpPr>
        <p:spPr>
          <a:xfrm>
            <a:off x="7003390" y="2098548"/>
            <a:ext cx="201168" cy="237744"/>
          </a:xfrm>
          <a:prstGeom prst="rightArrow">
            <a:avLst/>
          </a:prstGeom>
          <a:solidFill>
            <a:srgbClr val="6B7280"/>
          </a:solidFill>
          <a:ln w="12700">
            <a:solidFill>
              <a:srgbClr val="6B7280"/>
            </a:solidFill>
            <a:prstDash val="solid"/>
          </a:ln>
        </p:spPr>
      </p:sp>
      <p:sp>
        <p:nvSpPr>
          <p:cNvPr id="33" name="Shape 30"/>
          <p:cNvSpPr/>
          <p:nvPr/>
        </p:nvSpPr>
        <p:spPr>
          <a:xfrm>
            <a:off x="7209130" y="1188720"/>
            <a:ext cx="1477670" cy="2057400"/>
          </a:xfrm>
          <a:prstGeom prst="roundRect">
            <a:avLst>
              <a:gd name="adj" fmla="val 3713"/>
            </a:avLst>
          </a:prstGeom>
          <a:solidFill>
            <a:srgbClr val="F2F6FC"/>
          </a:solidFill>
          <a:ln w="9525">
            <a:solidFill>
              <a:srgbClr val="D5DCEA"/>
            </a:solidFill>
            <a:prstDash val="solid"/>
          </a:ln>
        </p:spPr>
      </p:sp>
      <p:sp>
        <p:nvSpPr>
          <p:cNvPr id="34" name="Shape 31"/>
          <p:cNvSpPr/>
          <p:nvPr/>
        </p:nvSpPr>
        <p:spPr>
          <a:xfrm>
            <a:off x="7746797" y="1298448"/>
            <a:ext cx="402336" cy="402336"/>
          </a:xfrm>
          <a:prstGeom prst="ellipse">
            <a:avLst/>
          </a:prstGeom>
          <a:solidFill>
            <a:srgbClr val="2E5496"/>
          </a:solidFill>
          <a:ln w="12700">
            <a:solidFill>
              <a:srgbClr val="2E5496"/>
            </a:solidFill>
            <a:prstDash val="solid"/>
          </a:ln>
        </p:spPr>
      </p:sp>
      <p:sp>
        <p:nvSpPr>
          <p:cNvPr id="35" name="Text 32"/>
          <p:cNvSpPr/>
          <p:nvPr/>
        </p:nvSpPr>
        <p:spPr>
          <a:xfrm>
            <a:off x="7746797"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E</a:t>
            </a:r>
            <a:endParaRPr lang="en-US" sz="1300" dirty="0"/>
          </a:p>
        </p:txBody>
      </p:sp>
      <p:sp>
        <p:nvSpPr>
          <p:cNvPr id="36" name="Text 33"/>
          <p:cNvSpPr/>
          <p:nvPr/>
        </p:nvSpPr>
        <p:spPr>
          <a:xfrm>
            <a:off x="7282282"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Berea → Corinth</a:t>
            </a:r>
            <a:endParaRPr lang="en-US" sz="1150" dirty="0"/>
          </a:p>
        </p:txBody>
      </p:sp>
      <p:sp>
        <p:nvSpPr>
          <p:cNvPr id="37" name="Text 34"/>
          <p:cNvSpPr/>
          <p:nvPr/>
        </p:nvSpPr>
        <p:spPr>
          <a:xfrm>
            <a:off x="7282282" y="2157984"/>
            <a:ext cx="1331366" cy="70408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Berea, Athens, then Corinth — where both letters were written</a:t>
            </a:r>
            <a:endParaRPr lang="en-US" sz="1150" dirty="0"/>
          </a:p>
        </p:txBody>
      </p:sp>
      <p:sp>
        <p:nvSpPr>
          <p:cNvPr id="38" name="Text 35"/>
          <p:cNvSpPr/>
          <p:nvPr/>
        </p:nvSpPr>
        <p:spPr>
          <a:xfrm>
            <a:off x="7282282" y="2862072"/>
            <a:ext cx="1331366"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Acts 17–18</a:t>
            </a:r>
            <a:endParaRPr lang="en-US" sz="900" dirty="0"/>
          </a:p>
        </p:txBody>
      </p:sp>
      <p:sp>
        <p:nvSpPr>
          <p:cNvPr id="39" name="Shape 36"/>
          <p:cNvSpPr/>
          <p:nvPr/>
        </p:nvSpPr>
        <p:spPr>
          <a:xfrm>
            <a:off x="457200" y="3429000"/>
            <a:ext cx="4023360" cy="365760"/>
          </a:xfrm>
          <a:prstGeom prst="rect">
            <a:avLst/>
          </a:prstGeom>
          <a:solidFill>
            <a:srgbClr val="2E5496"/>
          </a:solidFill>
          <a:ln w="12700">
            <a:solidFill>
              <a:srgbClr val="2E5496"/>
            </a:solidFill>
            <a:prstDash val="solid"/>
          </a:ln>
        </p:spPr>
      </p:sp>
      <p:sp>
        <p:nvSpPr>
          <p:cNvPr id="40" name="Text 37"/>
          <p:cNvSpPr/>
          <p:nvPr/>
        </p:nvSpPr>
        <p:spPr>
          <a:xfrm>
            <a:off x="548640" y="3474720"/>
            <a:ext cx="3840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Who believed</a:t>
            </a:r>
            <a:endParaRPr lang="en-US" sz="1200" dirty="0"/>
          </a:p>
        </p:txBody>
      </p:sp>
      <p:sp>
        <p:nvSpPr>
          <p:cNvPr id="41" name="Shape 38"/>
          <p:cNvSpPr/>
          <p:nvPr/>
        </p:nvSpPr>
        <p:spPr>
          <a:xfrm>
            <a:off x="457200" y="3794760"/>
            <a:ext cx="4023360" cy="822960"/>
          </a:xfrm>
          <a:prstGeom prst="rect">
            <a:avLst/>
          </a:prstGeom>
          <a:solidFill>
            <a:srgbClr val="F2F6FC"/>
          </a:solidFill>
          <a:ln w="9525">
            <a:solidFill>
              <a:srgbClr val="D5DCEA"/>
            </a:solidFill>
            <a:prstDash val="solid"/>
          </a:ln>
        </p:spPr>
      </p:sp>
      <p:sp>
        <p:nvSpPr>
          <p:cNvPr id="42" name="Text 39"/>
          <p:cNvSpPr/>
          <p:nvPr/>
        </p:nvSpPr>
        <p:spPr>
          <a:xfrm>
            <a:off x="548640" y="3867912"/>
            <a:ext cx="3840480" cy="69494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Jews and devout Greeks in the synagogue (Acts 17:4)</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Not a few of the leading women</a:t>
            </a:r>
            <a:endParaRPr lang="en-US" sz="1250" dirty="0"/>
          </a:p>
        </p:txBody>
      </p:sp>
      <p:sp>
        <p:nvSpPr>
          <p:cNvPr id="43" name="Shape 40"/>
          <p:cNvSpPr/>
          <p:nvPr/>
        </p:nvSpPr>
        <p:spPr>
          <a:xfrm>
            <a:off x="4663440" y="3429000"/>
            <a:ext cx="4023360" cy="365760"/>
          </a:xfrm>
          <a:prstGeom prst="rect">
            <a:avLst/>
          </a:prstGeom>
          <a:solidFill>
            <a:srgbClr val="375623"/>
          </a:solidFill>
          <a:ln w="12700">
            <a:solidFill>
              <a:srgbClr val="375623"/>
            </a:solidFill>
            <a:prstDash val="solid"/>
          </a:ln>
        </p:spPr>
      </p:sp>
      <p:sp>
        <p:nvSpPr>
          <p:cNvPr id="44" name="Text 41"/>
          <p:cNvSpPr/>
          <p:nvPr/>
        </p:nvSpPr>
        <p:spPr>
          <a:xfrm>
            <a:off x="4754880" y="3474720"/>
            <a:ext cx="3840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What Paul taught new converts</a:t>
            </a:r>
            <a:endParaRPr lang="en-US" sz="1200" dirty="0"/>
          </a:p>
        </p:txBody>
      </p:sp>
      <p:sp>
        <p:nvSpPr>
          <p:cNvPr id="45" name="Shape 42"/>
          <p:cNvSpPr/>
          <p:nvPr/>
        </p:nvSpPr>
        <p:spPr>
          <a:xfrm>
            <a:off x="4663440" y="3794760"/>
            <a:ext cx="4023360" cy="822960"/>
          </a:xfrm>
          <a:prstGeom prst="rect">
            <a:avLst/>
          </a:prstGeom>
          <a:solidFill>
            <a:srgbClr val="F2F6FC"/>
          </a:solidFill>
          <a:ln w="9525">
            <a:solidFill>
              <a:srgbClr val="D5DCEA"/>
            </a:solidFill>
            <a:prstDash val="solid"/>
          </a:ln>
        </p:spPr>
      </p:sp>
      <p:sp>
        <p:nvSpPr>
          <p:cNvPr id="46" name="Text 43"/>
          <p:cNvSpPr/>
          <p:nvPr/>
        </p:nvSpPr>
        <p:spPr>
          <a:xfrm>
            <a:off x="4754880" y="3867912"/>
            <a:ext cx="3840480" cy="69494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Prophecy — Jesus is coming</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And it strengthened them</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Three men, one letter</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1:1a · I — Paul and His Companions</a:t>
            </a:r>
            <a:endParaRPr lang="en-US" sz="1200" dirty="0"/>
          </a:p>
        </p:txBody>
      </p:sp>
      <p:sp>
        <p:nvSpPr>
          <p:cNvPr id="5" name="Shape 2"/>
          <p:cNvSpPr/>
          <p:nvPr/>
        </p:nvSpPr>
        <p:spPr>
          <a:xfrm>
            <a:off x="457200" y="1188720"/>
            <a:ext cx="2621280" cy="365760"/>
          </a:xfrm>
          <a:prstGeom prst="rect">
            <a:avLst/>
          </a:prstGeom>
          <a:solidFill>
            <a:srgbClr val="1F3864"/>
          </a:solidFill>
          <a:ln w="12700">
            <a:solidFill>
              <a:srgbClr val="1F3864"/>
            </a:solidFill>
            <a:prstDash val="solid"/>
          </a:ln>
        </p:spPr>
      </p:sp>
      <p:sp>
        <p:nvSpPr>
          <p:cNvPr id="6" name="Text 3"/>
          <p:cNvSpPr/>
          <p:nvPr/>
        </p:nvSpPr>
        <p:spPr>
          <a:xfrm>
            <a:off x="548640" y="1234440"/>
            <a:ext cx="243840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Paul</a:t>
            </a:r>
            <a:endParaRPr lang="en-US" sz="1200" dirty="0"/>
          </a:p>
        </p:txBody>
      </p:sp>
      <p:sp>
        <p:nvSpPr>
          <p:cNvPr id="7" name="Shape 4"/>
          <p:cNvSpPr/>
          <p:nvPr/>
        </p:nvSpPr>
        <p:spPr>
          <a:xfrm>
            <a:off x="457200" y="1554480"/>
            <a:ext cx="2621280" cy="2240280"/>
          </a:xfrm>
          <a:prstGeom prst="rect">
            <a:avLst/>
          </a:prstGeom>
          <a:solidFill>
            <a:srgbClr val="F2F6FC"/>
          </a:solidFill>
          <a:ln w="9525">
            <a:solidFill>
              <a:srgbClr val="D5DCEA"/>
            </a:solidFill>
            <a:prstDash val="solid"/>
          </a:ln>
        </p:spPr>
      </p:sp>
      <p:sp>
        <p:nvSpPr>
          <p:cNvPr id="8" name="Text 5"/>
          <p:cNvSpPr/>
          <p:nvPr/>
        </p:nvSpPr>
        <p:spPr>
          <a:xfrm>
            <a:off x="548640" y="1627632"/>
            <a:ext cx="2438400" cy="2112264"/>
          </a:xfrm>
          <a:prstGeom prst="rect">
            <a:avLst/>
          </a:prstGeom>
          <a:noFill/>
          <a:ln/>
        </p:spPr>
        <p:txBody>
          <a:bodyPr wrap="square" lIns="0" tIns="0" rIns="0" bIns="0" rtlCol="0" anchor="t"/>
          <a:lstStyle/>
          <a:p>
            <a:pPr indent="0" marL="0">
              <a:spcAft>
                <a:spcPts val="100"/>
              </a:spcAft>
              <a:buNone/>
            </a:pPr>
            <a:r>
              <a:rPr lang="en-US" sz="1250" b="1" dirty="0">
                <a:solidFill>
                  <a:srgbClr val="1F3864"/>
                </a:solidFill>
                <a:latin typeface="Arial" pitchFamily="34" charset="0"/>
                <a:ea typeface="Arial" pitchFamily="34" charset="-122"/>
                <a:cs typeface="Arial" pitchFamily="34" charset="-120"/>
              </a:rPr>
              <a:t>The friend, not the apostle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No title — just “Paul”</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 relationship of mutual love and trust</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Contrast Galatians and Corinthians: “Paul, an apostle”</a:t>
            </a:r>
            <a:endParaRPr lang="en-US" sz="1250" dirty="0"/>
          </a:p>
        </p:txBody>
      </p:sp>
      <p:sp>
        <p:nvSpPr>
          <p:cNvPr id="9" name="Shape 6"/>
          <p:cNvSpPr/>
          <p:nvPr/>
        </p:nvSpPr>
        <p:spPr>
          <a:xfrm>
            <a:off x="3261360" y="1188720"/>
            <a:ext cx="2621280" cy="365760"/>
          </a:xfrm>
          <a:prstGeom prst="rect">
            <a:avLst/>
          </a:prstGeom>
          <a:solidFill>
            <a:srgbClr val="2E5496"/>
          </a:solidFill>
          <a:ln w="12700">
            <a:solidFill>
              <a:srgbClr val="2E5496"/>
            </a:solidFill>
            <a:prstDash val="solid"/>
          </a:ln>
        </p:spPr>
      </p:sp>
      <p:sp>
        <p:nvSpPr>
          <p:cNvPr id="10" name="Text 7"/>
          <p:cNvSpPr/>
          <p:nvPr/>
        </p:nvSpPr>
        <p:spPr>
          <a:xfrm>
            <a:off x="3352800" y="1234440"/>
            <a:ext cx="243840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Silvanus (Silas)</a:t>
            </a:r>
            <a:endParaRPr lang="en-US" sz="1200" dirty="0"/>
          </a:p>
        </p:txBody>
      </p:sp>
      <p:sp>
        <p:nvSpPr>
          <p:cNvPr id="11" name="Shape 8"/>
          <p:cNvSpPr/>
          <p:nvPr/>
        </p:nvSpPr>
        <p:spPr>
          <a:xfrm>
            <a:off x="3261360" y="1554480"/>
            <a:ext cx="2621280" cy="2240280"/>
          </a:xfrm>
          <a:prstGeom prst="rect">
            <a:avLst/>
          </a:prstGeom>
          <a:solidFill>
            <a:srgbClr val="F2F6FC"/>
          </a:solidFill>
          <a:ln w="9525">
            <a:solidFill>
              <a:srgbClr val="D5DCEA"/>
            </a:solidFill>
            <a:prstDash val="solid"/>
          </a:ln>
        </p:spPr>
      </p:sp>
      <p:sp>
        <p:nvSpPr>
          <p:cNvPr id="12" name="Text 9"/>
          <p:cNvSpPr/>
          <p:nvPr/>
        </p:nvSpPr>
        <p:spPr>
          <a:xfrm>
            <a:off x="3352800" y="1627632"/>
            <a:ext cx="2438400" cy="2112264"/>
          </a:xfrm>
          <a:prstGeom prst="rect">
            <a:avLst/>
          </a:prstGeom>
          <a:noFill/>
          <a:ln/>
        </p:spPr>
        <p:txBody>
          <a:bodyPr wrap="square" lIns="0" tIns="0" rIns="0" bIns="0" rtlCol="0" anchor="t"/>
          <a:lstStyle/>
          <a:p>
            <a:pPr indent="0" marL="0">
              <a:spcAft>
                <a:spcPts val="100"/>
              </a:spcAft>
              <a:buNone/>
            </a:pPr>
            <a:r>
              <a:rPr lang="en-US" sz="1250" b="1" dirty="0">
                <a:solidFill>
                  <a:srgbClr val="1F3864"/>
                </a:solidFill>
                <a:latin typeface="Arial" pitchFamily="34" charset="0"/>
                <a:ea typeface="Arial" pitchFamily="34" charset="-122"/>
                <a:cs typeface="Arial" pitchFamily="34" charset="-120"/>
              </a:rPr>
              <a:t>The senior member</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Paul’s chosen partner after the split with Barnabas</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Experience and credibility for the team and the mission</a:t>
            </a:r>
            <a:endParaRPr lang="en-US" sz="1250" dirty="0"/>
          </a:p>
        </p:txBody>
      </p:sp>
      <p:sp>
        <p:nvSpPr>
          <p:cNvPr id="13" name="Shape 10"/>
          <p:cNvSpPr/>
          <p:nvPr/>
        </p:nvSpPr>
        <p:spPr>
          <a:xfrm>
            <a:off x="6065520" y="1188720"/>
            <a:ext cx="2621280" cy="365760"/>
          </a:xfrm>
          <a:prstGeom prst="rect">
            <a:avLst/>
          </a:prstGeom>
          <a:solidFill>
            <a:srgbClr val="375623"/>
          </a:solidFill>
          <a:ln w="12700">
            <a:solidFill>
              <a:srgbClr val="375623"/>
            </a:solidFill>
            <a:prstDash val="solid"/>
          </a:ln>
        </p:spPr>
      </p:sp>
      <p:sp>
        <p:nvSpPr>
          <p:cNvPr id="14" name="Text 11"/>
          <p:cNvSpPr/>
          <p:nvPr/>
        </p:nvSpPr>
        <p:spPr>
          <a:xfrm>
            <a:off x="6156960" y="1234440"/>
            <a:ext cx="243840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Timothy</a:t>
            </a:r>
            <a:endParaRPr lang="en-US" sz="1200" dirty="0"/>
          </a:p>
        </p:txBody>
      </p:sp>
      <p:sp>
        <p:nvSpPr>
          <p:cNvPr id="15" name="Shape 12"/>
          <p:cNvSpPr/>
          <p:nvPr/>
        </p:nvSpPr>
        <p:spPr>
          <a:xfrm>
            <a:off x="6065520" y="1554480"/>
            <a:ext cx="2621280" cy="2240280"/>
          </a:xfrm>
          <a:prstGeom prst="rect">
            <a:avLst/>
          </a:prstGeom>
          <a:solidFill>
            <a:srgbClr val="F2F6FC"/>
          </a:solidFill>
          <a:ln w="9525">
            <a:solidFill>
              <a:srgbClr val="D5DCEA"/>
            </a:solidFill>
            <a:prstDash val="solid"/>
          </a:ln>
        </p:spPr>
      </p:sp>
      <p:sp>
        <p:nvSpPr>
          <p:cNvPr id="16" name="Text 13"/>
          <p:cNvSpPr/>
          <p:nvPr/>
        </p:nvSpPr>
        <p:spPr>
          <a:xfrm>
            <a:off x="6156960" y="1627632"/>
            <a:ext cx="2438400" cy="2112264"/>
          </a:xfrm>
          <a:prstGeom prst="rect">
            <a:avLst/>
          </a:prstGeom>
          <a:noFill/>
          <a:ln/>
        </p:spPr>
        <p:txBody>
          <a:bodyPr wrap="square" lIns="0" tIns="0" rIns="0" bIns="0" rtlCol="0" anchor="t"/>
          <a:lstStyle/>
          <a:p>
            <a:pPr indent="0" marL="0">
              <a:spcAft>
                <a:spcPts val="100"/>
              </a:spcAft>
              <a:buNone/>
            </a:pPr>
            <a:r>
              <a:rPr lang="en-US" sz="1250" b="1" dirty="0">
                <a:solidFill>
                  <a:srgbClr val="1F3864"/>
                </a:solidFill>
                <a:latin typeface="Arial" pitchFamily="34" charset="0"/>
                <a:ea typeface="Arial" pitchFamily="34" charset="-122"/>
                <a:cs typeface="Arial" pitchFamily="34" charset="-120"/>
              </a:rPr>
              <a:t>The leader in training</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Well spoken of in Lystra and Iconium</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Later sent to Philippi; pastor at Ephesus</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Still in formation here</a:t>
            </a:r>
            <a:endParaRPr lang="en-US" sz="1250" dirty="0"/>
          </a:p>
        </p:txBody>
      </p:sp>
      <p:sp>
        <p:nvSpPr>
          <p:cNvPr id="17" name="Shape 14"/>
          <p:cNvSpPr/>
          <p:nvPr/>
        </p:nvSpPr>
        <p:spPr>
          <a:xfrm>
            <a:off x="457200" y="3977640"/>
            <a:ext cx="8229600" cy="594360"/>
          </a:xfrm>
          <a:prstGeom prst="roundRect">
            <a:avLst>
              <a:gd name="adj" fmla="val 9231"/>
            </a:avLst>
          </a:prstGeom>
          <a:solidFill>
            <a:srgbClr val="1F3864"/>
          </a:solidFill>
          <a:ln w="12700">
            <a:solidFill>
              <a:srgbClr val="1F3864"/>
            </a:solidFill>
            <a:prstDash val="solid"/>
          </a:ln>
        </p:spPr>
      </p:sp>
      <p:sp>
        <p:nvSpPr>
          <p:cNvPr id="18" name="Text 15"/>
          <p:cNvSpPr/>
          <p:nvPr/>
        </p:nvSpPr>
        <p:spPr>
          <a:xfrm>
            <a:off x="621792" y="3977640"/>
            <a:ext cx="7900416" cy="59436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The absence of the title “apostle” reflects the health of this church. Paul writes as brother, not authority.</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An introduction, verse by verse</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1:1–5 · Outline points I–III</a:t>
            </a:r>
            <a:endParaRPr lang="en-US" sz="1200" dirty="0"/>
          </a:p>
        </p:txBody>
      </p:sp>
      <p:sp>
        <p:nvSpPr>
          <p:cNvPr id="5" name="Shape 2"/>
          <p:cNvSpPr/>
          <p:nvPr/>
        </p:nvSpPr>
        <p:spPr>
          <a:xfrm>
            <a:off x="457200" y="1115568"/>
            <a:ext cx="777240" cy="457200"/>
          </a:xfrm>
          <a:prstGeom prst="rect">
            <a:avLst/>
          </a:prstGeom>
          <a:solidFill>
            <a:srgbClr val="2E5496"/>
          </a:solidFill>
          <a:ln w="12700">
            <a:solidFill>
              <a:srgbClr val="2E5496"/>
            </a:solidFill>
            <a:prstDash val="solid"/>
          </a:ln>
        </p:spPr>
      </p:sp>
      <p:sp>
        <p:nvSpPr>
          <p:cNvPr id="6" name="Text 3"/>
          <p:cNvSpPr/>
          <p:nvPr/>
        </p:nvSpPr>
        <p:spPr>
          <a:xfrm>
            <a:off x="457200" y="1115568"/>
            <a:ext cx="77724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v.1a</a:t>
            </a:r>
            <a:endParaRPr lang="en-US" sz="1100" dirty="0"/>
          </a:p>
        </p:txBody>
      </p:sp>
      <p:sp>
        <p:nvSpPr>
          <p:cNvPr id="7" name="Shape 4"/>
          <p:cNvSpPr/>
          <p:nvPr/>
        </p:nvSpPr>
        <p:spPr>
          <a:xfrm>
            <a:off x="1234440" y="1115568"/>
            <a:ext cx="7452360" cy="457200"/>
          </a:xfrm>
          <a:prstGeom prst="rect">
            <a:avLst/>
          </a:prstGeom>
          <a:solidFill>
            <a:srgbClr val="F2F6FC"/>
          </a:solidFill>
          <a:ln w="9525">
            <a:solidFill>
              <a:srgbClr val="D5DCEA"/>
            </a:solidFill>
            <a:prstDash val="solid"/>
          </a:ln>
        </p:spPr>
      </p:sp>
      <p:sp>
        <p:nvSpPr>
          <p:cNvPr id="8" name="Text 5"/>
          <p:cNvSpPr/>
          <p:nvPr/>
        </p:nvSpPr>
        <p:spPr>
          <a:xfrm>
            <a:off x="1344168" y="1115568"/>
            <a:ext cx="4389120" cy="457200"/>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Paul and his companions — no apostolic title needed</a:t>
            </a:r>
            <a:endParaRPr lang="en-US" sz="1150" dirty="0"/>
          </a:p>
        </p:txBody>
      </p:sp>
      <p:sp>
        <p:nvSpPr>
          <p:cNvPr id="9" name="Text 6"/>
          <p:cNvSpPr/>
          <p:nvPr/>
        </p:nvSpPr>
        <p:spPr>
          <a:xfrm>
            <a:off x="5806440" y="1115568"/>
            <a:ext cx="2788920" cy="45720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Paul writes as brother, not authority</a:t>
            </a:r>
            <a:endParaRPr lang="en-US" sz="1300" dirty="0"/>
          </a:p>
        </p:txBody>
      </p:sp>
      <p:sp>
        <p:nvSpPr>
          <p:cNvPr id="10" name="Shape 7"/>
          <p:cNvSpPr/>
          <p:nvPr/>
        </p:nvSpPr>
        <p:spPr>
          <a:xfrm>
            <a:off x="457200" y="1627632"/>
            <a:ext cx="777240" cy="457200"/>
          </a:xfrm>
          <a:prstGeom prst="rect">
            <a:avLst/>
          </a:prstGeom>
          <a:solidFill>
            <a:srgbClr val="2E5496"/>
          </a:solidFill>
          <a:ln w="12700">
            <a:solidFill>
              <a:srgbClr val="2E5496"/>
            </a:solidFill>
            <a:prstDash val="solid"/>
          </a:ln>
        </p:spPr>
      </p:sp>
      <p:sp>
        <p:nvSpPr>
          <p:cNvPr id="11" name="Text 8"/>
          <p:cNvSpPr/>
          <p:nvPr/>
        </p:nvSpPr>
        <p:spPr>
          <a:xfrm>
            <a:off x="457200" y="1627632"/>
            <a:ext cx="77724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v.1b</a:t>
            </a:r>
            <a:endParaRPr lang="en-US" sz="1100" dirty="0"/>
          </a:p>
        </p:txBody>
      </p:sp>
      <p:sp>
        <p:nvSpPr>
          <p:cNvPr id="12" name="Shape 9"/>
          <p:cNvSpPr/>
          <p:nvPr/>
        </p:nvSpPr>
        <p:spPr>
          <a:xfrm>
            <a:off x="1234440" y="1627632"/>
            <a:ext cx="7452360" cy="457200"/>
          </a:xfrm>
          <a:prstGeom prst="rect">
            <a:avLst/>
          </a:prstGeom>
          <a:solidFill>
            <a:srgbClr val="FFFFFF"/>
          </a:solidFill>
          <a:ln w="9525">
            <a:solidFill>
              <a:srgbClr val="D5DCEA"/>
            </a:solidFill>
            <a:prstDash val="solid"/>
          </a:ln>
        </p:spPr>
      </p:sp>
      <p:sp>
        <p:nvSpPr>
          <p:cNvPr id="13" name="Text 10"/>
          <p:cNvSpPr/>
          <p:nvPr/>
        </p:nvSpPr>
        <p:spPr>
          <a:xfrm>
            <a:off x="1344168" y="1627632"/>
            <a:ext cx="4389120" cy="457200"/>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To the church … in God the Father and the Lord Jesus Christ</a:t>
            </a:r>
            <a:endParaRPr lang="en-US" sz="1150" dirty="0"/>
          </a:p>
        </p:txBody>
      </p:sp>
      <p:sp>
        <p:nvSpPr>
          <p:cNvPr id="14" name="Text 11"/>
          <p:cNvSpPr/>
          <p:nvPr/>
        </p:nvSpPr>
        <p:spPr>
          <a:xfrm>
            <a:off x="5806440" y="1627632"/>
            <a:ext cx="2788920" cy="45720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ἐκκλησία</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the local assembly in Thessalonica</a:t>
            </a:r>
            <a:endParaRPr lang="en-US" sz="1300" dirty="0"/>
          </a:p>
        </p:txBody>
      </p:sp>
      <p:sp>
        <p:nvSpPr>
          <p:cNvPr id="15" name="Shape 12"/>
          <p:cNvSpPr/>
          <p:nvPr/>
        </p:nvSpPr>
        <p:spPr>
          <a:xfrm>
            <a:off x="457200" y="2139696"/>
            <a:ext cx="777240" cy="457200"/>
          </a:xfrm>
          <a:prstGeom prst="rect">
            <a:avLst/>
          </a:prstGeom>
          <a:solidFill>
            <a:srgbClr val="2E5496"/>
          </a:solidFill>
          <a:ln w="12700">
            <a:solidFill>
              <a:srgbClr val="2E5496"/>
            </a:solidFill>
            <a:prstDash val="solid"/>
          </a:ln>
        </p:spPr>
      </p:sp>
      <p:sp>
        <p:nvSpPr>
          <p:cNvPr id="16" name="Text 13"/>
          <p:cNvSpPr/>
          <p:nvPr/>
        </p:nvSpPr>
        <p:spPr>
          <a:xfrm>
            <a:off x="457200" y="2139696"/>
            <a:ext cx="77724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v.1c</a:t>
            </a:r>
            <a:endParaRPr lang="en-US" sz="1100" dirty="0"/>
          </a:p>
        </p:txBody>
      </p:sp>
      <p:sp>
        <p:nvSpPr>
          <p:cNvPr id="17" name="Shape 14"/>
          <p:cNvSpPr/>
          <p:nvPr/>
        </p:nvSpPr>
        <p:spPr>
          <a:xfrm>
            <a:off x="1234440" y="2139696"/>
            <a:ext cx="7452360" cy="457200"/>
          </a:xfrm>
          <a:prstGeom prst="rect">
            <a:avLst/>
          </a:prstGeom>
          <a:solidFill>
            <a:srgbClr val="F2F6FC"/>
          </a:solidFill>
          <a:ln w="9525">
            <a:solidFill>
              <a:srgbClr val="D5DCEA"/>
            </a:solidFill>
            <a:prstDash val="solid"/>
          </a:ln>
        </p:spPr>
      </p:sp>
      <p:sp>
        <p:nvSpPr>
          <p:cNvPr id="18" name="Text 15"/>
          <p:cNvSpPr/>
          <p:nvPr/>
        </p:nvSpPr>
        <p:spPr>
          <a:xfrm>
            <a:off x="1344168" y="2139696"/>
            <a:ext cx="4389120" cy="457200"/>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The greeting — “Grace to you and peace”</a:t>
            </a:r>
            <a:endParaRPr lang="en-US" sz="1150" dirty="0"/>
          </a:p>
        </p:txBody>
      </p:sp>
      <p:sp>
        <p:nvSpPr>
          <p:cNvPr id="19" name="Text 16"/>
          <p:cNvSpPr/>
          <p:nvPr/>
        </p:nvSpPr>
        <p:spPr>
          <a:xfrm>
            <a:off x="5806440" y="2139696"/>
            <a:ext cx="2788920" cy="45720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χάρις · εἰρήνη</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favor in spite of demerit · shalom</a:t>
            </a:r>
            <a:endParaRPr lang="en-US" sz="1300" dirty="0"/>
          </a:p>
        </p:txBody>
      </p:sp>
      <p:sp>
        <p:nvSpPr>
          <p:cNvPr id="20" name="Shape 17"/>
          <p:cNvSpPr/>
          <p:nvPr/>
        </p:nvSpPr>
        <p:spPr>
          <a:xfrm>
            <a:off x="457200" y="2651760"/>
            <a:ext cx="777240" cy="457200"/>
          </a:xfrm>
          <a:prstGeom prst="rect">
            <a:avLst/>
          </a:prstGeom>
          <a:solidFill>
            <a:srgbClr val="2E5496"/>
          </a:solidFill>
          <a:ln w="12700">
            <a:solidFill>
              <a:srgbClr val="2E5496"/>
            </a:solidFill>
            <a:prstDash val="solid"/>
          </a:ln>
        </p:spPr>
      </p:sp>
      <p:sp>
        <p:nvSpPr>
          <p:cNvPr id="21" name="Text 18"/>
          <p:cNvSpPr/>
          <p:nvPr/>
        </p:nvSpPr>
        <p:spPr>
          <a:xfrm>
            <a:off x="457200" y="2651760"/>
            <a:ext cx="77724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v.2</a:t>
            </a:r>
            <a:endParaRPr lang="en-US" sz="1100" dirty="0"/>
          </a:p>
        </p:txBody>
      </p:sp>
      <p:sp>
        <p:nvSpPr>
          <p:cNvPr id="22" name="Shape 19"/>
          <p:cNvSpPr/>
          <p:nvPr/>
        </p:nvSpPr>
        <p:spPr>
          <a:xfrm>
            <a:off x="1234440" y="2651760"/>
            <a:ext cx="7452360" cy="457200"/>
          </a:xfrm>
          <a:prstGeom prst="rect">
            <a:avLst/>
          </a:prstGeom>
          <a:solidFill>
            <a:srgbClr val="FFFFFF"/>
          </a:solidFill>
          <a:ln w="9525">
            <a:solidFill>
              <a:srgbClr val="D5DCEA"/>
            </a:solidFill>
            <a:prstDash val="solid"/>
          </a:ln>
        </p:spPr>
      </p:sp>
      <p:sp>
        <p:nvSpPr>
          <p:cNvPr id="23" name="Text 20"/>
          <p:cNvSpPr/>
          <p:nvPr/>
        </p:nvSpPr>
        <p:spPr>
          <a:xfrm>
            <a:off x="1344168" y="2651760"/>
            <a:ext cx="4389120" cy="457200"/>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Thanksgiving joined to intercession — “for you all”</a:t>
            </a:r>
            <a:endParaRPr lang="en-US" sz="1150" dirty="0"/>
          </a:p>
        </p:txBody>
      </p:sp>
      <p:sp>
        <p:nvSpPr>
          <p:cNvPr id="24" name="Text 21"/>
          <p:cNvSpPr/>
          <p:nvPr/>
        </p:nvSpPr>
        <p:spPr>
          <a:xfrm>
            <a:off x="5806440" y="2651760"/>
            <a:ext cx="2788920" cy="45720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εὐχαριστοῦμεν</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a continuous posture of gratitude</a:t>
            </a:r>
            <a:endParaRPr lang="en-US" sz="1300" dirty="0"/>
          </a:p>
        </p:txBody>
      </p:sp>
      <p:sp>
        <p:nvSpPr>
          <p:cNvPr id="25" name="Shape 22"/>
          <p:cNvSpPr/>
          <p:nvPr/>
        </p:nvSpPr>
        <p:spPr>
          <a:xfrm>
            <a:off x="457200" y="3163824"/>
            <a:ext cx="777240" cy="457200"/>
          </a:xfrm>
          <a:prstGeom prst="rect">
            <a:avLst/>
          </a:prstGeom>
          <a:solidFill>
            <a:srgbClr val="2E5496"/>
          </a:solidFill>
          <a:ln w="12700">
            <a:solidFill>
              <a:srgbClr val="2E5496"/>
            </a:solidFill>
            <a:prstDash val="solid"/>
          </a:ln>
        </p:spPr>
      </p:sp>
      <p:sp>
        <p:nvSpPr>
          <p:cNvPr id="26" name="Text 23"/>
          <p:cNvSpPr/>
          <p:nvPr/>
        </p:nvSpPr>
        <p:spPr>
          <a:xfrm>
            <a:off x="457200" y="3163824"/>
            <a:ext cx="77724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v.3</a:t>
            </a:r>
            <a:endParaRPr lang="en-US" sz="1100" dirty="0"/>
          </a:p>
        </p:txBody>
      </p:sp>
      <p:sp>
        <p:nvSpPr>
          <p:cNvPr id="27" name="Shape 24"/>
          <p:cNvSpPr/>
          <p:nvPr/>
        </p:nvSpPr>
        <p:spPr>
          <a:xfrm>
            <a:off x="1234440" y="3163824"/>
            <a:ext cx="7452360" cy="457200"/>
          </a:xfrm>
          <a:prstGeom prst="rect">
            <a:avLst/>
          </a:prstGeom>
          <a:solidFill>
            <a:srgbClr val="F2F6FC"/>
          </a:solidFill>
          <a:ln w="9525">
            <a:solidFill>
              <a:srgbClr val="D5DCEA"/>
            </a:solidFill>
            <a:prstDash val="solid"/>
          </a:ln>
        </p:spPr>
      </p:sp>
      <p:sp>
        <p:nvSpPr>
          <p:cNvPr id="28" name="Text 25"/>
          <p:cNvSpPr/>
          <p:nvPr/>
        </p:nvSpPr>
        <p:spPr>
          <a:xfrm>
            <a:off x="1344168" y="3163824"/>
            <a:ext cx="4389120" cy="457200"/>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Work of faith, labor of love, patience of hope</a:t>
            </a:r>
            <a:endParaRPr lang="en-US" sz="1150" dirty="0"/>
          </a:p>
        </p:txBody>
      </p:sp>
      <p:sp>
        <p:nvSpPr>
          <p:cNvPr id="29" name="Text 26"/>
          <p:cNvSpPr/>
          <p:nvPr/>
        </p:nvSpPr>
        <p:spPr>
          <a:xfrm>
            <a:off x="5806440" y="3163824"/>
            <a:ext cx="2788920" cy="45720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ἔργον · κόπος · ὑπομονή</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all sourced in and directed to Christ</a:t>
            </a:r>
            <a:endParaRPr lang="en-US" sz="1300" dirty="0"/>
          </a:p>
        </p:txBody>
      </p:sp>
      <p:sp>
        <p:nvSpPr>
          <p:cNvPr id="30" name="Shape 27"/>
          <p:cNvSpPr/>
          <p:nvPr/>
        </p:nvSpPr>
        <p:spPr>
          <a:xfrm>
            <a:off x="457200" y="3675888"/>
            <a:ext cx="777240" cy="457200"/>
          </a:xfrm>
          <a:prstGeom prst="rect">
            <a:avLst/>
          </a:prstGeom>
          <a:solidFill>
            <a:srgbClr val="2E5496"/>
          </a:solidFill>
          <a:ln w="12700">
            <a:solidFill>
              <a:srgbClr val="2E5496"/>
            </a:solidFill>
            <a:prstDash val="solid"/>
          </a:ln>
        </p:spPr>
      </p:sp>
      <p:sp>
        <p:nvSpPr>
          <p:cNvPr id="31" name="Text 28"/>
          <p:cNvSpPr/>
          <p:nvPr/>
        </p:nvSpPr>
        <p:spPr>
          <a:xfrm>
            <a:off x="457200" y="3675888"/>
            <a:ext cx="77724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v.4</a:t>
            </a:r>
            <a:endParaRPr lang="en-US" sz="1100" dirty="0"/>
          </a:p>
        </p:txBody>
      </p:sp>
      <p:sp>
        <p:nvSpPr>
          <p:cNvPr id="32" name="Shape 29"/>
          <p:cNvSpPr/>
          <p:nvPr/>
        </p:nvSpPr>
        <p:spPr>
          <a:xfrm>
            <a:off x="1234440" y="3675888"/>
            <a:ext cx="7452360" cy="457200"/>
          </a:xfrm>
          <a:prstGeom prst="rect">
            <a:avLst/>
          </a:prstGeom>
          <a:solidFill>
            <a:srgbClr val="FFFFFF"/>
          </a:solidFill>
          <a:ln w="9525">
            <a:solidFill>
              <a:srgbClr val="D5DCEA"/>
            </a:solidFill>
            <a:prstDash val="solid"/>
          </a:ln>
        </p:spPr>
      </p:sp>
      <p:sp>
        <p:nvSpPr>
          <p:cNvPr id="33" name="Text 30"/>
          <p:cNvSpPr/>
          <p:nvPr/>
        </p:nvSpPr>
        <p:spPr>
          <a:xfrm>
            <a:off x="1344168" y="3675888"/>
            <a:ext cx="4389120" cy="457200"/>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Beloved brethren — your election by God</a:t>
            </a:r>
            <a:endParaRPr lang="en-US" sz="1150" dirty="0"/>
          </a:p>
        </p:txBody>
      </p:sp>
      <p:sp>
        <p:nvSpPr>
          <p:cNvPr id="34" name="Text 31"/>
          <p:cNvSpPr/>
          <p:nvPr/>
        </p:nvSpPr>
        <p:spPr>
          <a:xfrm>
            <a:off x="5806440" y="3675888"/>
            <a:ext cx="2788920" cy="45720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ἐκλογή · ἀγαπητοί</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God’s sovereign choosing</a:t>
            </a:r>
            <a:endParaRPr lang="en-US" sz="1300" dirty="0"/>
          </a:p>
        </p:txBody>
      </p:sp>
      <p:sp>
        <p:nvSpPr>
          <p:cNvPr id="35" name="Shape 32"/>
          <p:cNvSpPr/>
          <p:nvPr/>
        </p:nvSpPr>
        <p:spPr>
          <a:xfrm>
            <a:off x="457200" y="4187952"/>
            <a:ext cx="777240" cy="457200"/>
          </a:xfrm>
          <a:prstGeom prst="rect">
            <a:avLst/>
          </a:prstGeom>
          <a:solidFill>
            <a:srgbClr val="375623"/>
          </a:solidFill>
          <a:ln w="12700">
            <a:solidFill>
              <a:srgbClr val="375623"/>
            </a:solidFill>
            <a:prstDash val="solid"/>
          </a:ln>
        </p:spPr>
      </p:sp>
      <p:sp>
        <p:nvSpPr>
          <p:cNvPr id="36" name="Text 33"/>
          <p:cNvSpPr/>
          <p:nvPr/>
        </p:nvSpPr>
        <p:spPr>
          <a:xfrm>
            <a:off x="457200" y="4187952"/>
            <a:ext cx="77724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v.5</a:t>
            </a:r>
            <a:endParaRPr lang="en-US" sz="1100" dirty="0"/>
          </a:p>
        </p:txBody>
      </p:sp>
      <p:sp>
        <p:nvSpPr>
          <p:cNvPr id="37" name="Shape 34"/>
          <p:cNvSpPr/>
          <p:nvPr/>
        </p:nvSpPr>
        <p:spPr>
          <a:xfrm>
            <a:off x="1234440" y="4187952"/>
            <a:ext cx="7452360" cy="457200"/>
          </a:xfrm>
          <a:prstGeom prst="rect">
            <a:avLst/>
          </a:prstGeom>
          <a:solidFill>
            <a:srgbClr val="F2F6FC"/>
          </a:solidFill>
          <a:ln w="9525">
            <a:solidFill>
              <a:srgbClr val="D5DCEA"/>
            </a:solidFill>
            <a:prstDash val="solid"/>
          </a:ln>
        </p:spPr>
      </p:sp>
      <p:sp>
        <p:nvSpPr>
          <p:cNvPr id="38" name="Text 35"/>
          <p:cNvSpPr/>
          <p:nvPr/>
        </p:nvSpPr>
        <p:spPr>
          <a:xfrm>
            <a:off x="1344168" y="4187952"/>
            <a:ext cx="4389120" cy="457200"/>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The gospel came in word, power, the Spirit and much assurance</a:t>
            </a:r>
            <a:endParaRPr lang="en-US" sz="1150" dirty="0"/>
          </a:p>
        </p:txBody>
      </p:sp>
      <p:sp>
        <p:nvSpPr>
          <p:cNvPr id="39" name="Text 36"/>
          <p:cNvSpPr/>
          <p:nvPr/>
        </p:nvSpPr>
        <p:spPr>
          <a:xfrm>
            <a:off x="5806440" y="4187952"/>
            <a:ext cx="2788920" cy="45720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δύναμις · πληροφορία</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divine power · full conviction</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The church in God and in Christ</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1:1b · II.A–B — The church defined and its identity</a:t>
            </a:r>
            <a:endParaRPr lang="en-US" sz="1200" dirty="0"/>
          </a:p>
        </p:txBody>
      </p:sp>
      <p:sp>
        <p:nvSpPr>
          <p:cNvPr id="5" name="Shape 2"/>
          <p:cNvSpPr/>
          <p:nvPr/>
        </p:nvSpPr>
        <p:spPr>
          <a:xfrm>
            <a:off x="457200" y="1188720"/>
            <a:ext cx="1477670" cy="1874520"/>
          </a:xfrm>
          <a:prstGeom prst="roundRect">
            <a:avLst>
              <a:gd name="adj" fmla="val 3713"/>
            </a:avLst>
          </a:prstGeom>
          <a:solidFill>
            <a:srgbClr val="F2F6FC"/>
          </a:solidFill>
          <a:ln w="9525">
            <a:solidFill>
              <a:srgbClr val="D5DCEA"/>
            </a:solidFill>
            <a:prstDash val="solid"/>
          </a:ln>
        </p:spPr>
      </p:sp>
      <p:sp>
        <p:nvSpPr>
          <p:cNvPr id="6" name="Shape 3"/>
          <p:cNvSpPr/>
          <p:nvPr/>
        </p:nvSpPr>
        <p:spPr>
          <a:xfrm>
            <a:off x="994867" y="1298448"/>
            <a:ext cx="402336" cy="402336"/>
          </a:xfrm>
          <a:prstGeom prst="ellipse">
            <a:avLst/>
          </a:prstGeom>
          <a:solidFill>
            <a:srgbClr val="2E5496"/>
          </a:solidFill>
          <a:ln w="12700">
            <a:solidFill>
              <a:srgbClr val="2E5496"/>
            </a:solidFill>
            <a:prstDash val="solid"/>
          </a:ln>
        </p:spPr>
      </p:sp>
      <p:sp>
        <p:nvSpPr>
          <p:cNvPr id="7" name="Text 4"/>
          <p:cNvSpPr/>
          <p:nvPr/>
        </p:nvSpPr>
        <p:spPr>
          <a:xfrm>
            <a:off x="994867"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8" name="Text 5"/>
          <p:cNvSpPr/>
          <p:nvPr/>
        </p:nvSpPr>
        <p:spPr>
          <a:xfrm>
            <a:off x="530352"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Any assembly</a:t>
            </a:r>
            <a:endParaRPr lang="en-US" sz="1150" dirty="0"/>
          </a:p>
        </p:txBody>
      </p:sp>
      <p:sp>
        <p:nvSpPr>
          <p:cNvPr id="9" name="Text 6"/>
          <p:cNvSpPr/>
          <p:nvPr/>
        </p:nvSpPr>
        <p:spPr>
          <a:xfrm>
            <a:off x="530352" y="2157984"/>
            <a:ext cx="1331366" cy="52120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A secular word — even the worshipers of Diana</a:t>
            </a:r>
            <a:endParaRPr lang="en-US" sz="1150" dirty="0"/>
          </a:p>
        </p:txBody>
      </p:sp>
      <p:sp>
        <p:nvSpPr>
          <p:cNvPr id="10" name="Text 7"/>
          <p:cNvSpPr/>
          <p:nvPr/>
        </p:nvSpPr>
        <p:spPr>
          <a:xfrm>
            <a:off x="530352" y="2679192"/>
            <a:ext cx="1331366"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Acts 19:32</a:t>
            </a:r>
            <a:endParaRPr lang="en-US" sz="900" dirty="0"/>
          </a:p>
        </p:txBody>
      </p:sp>
      <p:sp>
        <p:nvSpPr>
          <p:cNvPr id="11" name="Shape 8"/>
          <p:cNvSpPr/>
          <p:nvPr/>
        </p:nvSpPr>
        <p:spPr>
          <a:xfrm>
            <a:off x="1939442" y="2007108"/>
            <a:ext cx="201168" cy="237744"/>
          </a:xfrm>
          <a:prstGeom prst="rightArrow">
            <a:avLst/>
          </a:prstGeom>
          <a:solidFill>
            <a:srgbClr val="6B7280"/>
          </a:solidFill>
          <a:ln w="12700">
            <a:solidFill>
              <a:srgbClr val="6B7280"/>
            </a:solidFill>
            <a:prstDash val="solid"/>
          </a:ln>
        </p:spPr>
      </p:sp>
      <p:sp>
        <p:nvSpPr>
          <p:cNvPr id="12" name="Shape 9"/>
          <p:cNvSpPr/>
          <p:nvPr/>
        </p:nvSpPr>
        <p:spPr>
          <a:xfrm>
            <a:off x="2145182" y="1188720"/>
            <a:ext cx="1477670" cy="1874520"/>
          </a:xfrm>
          <a:prstGeom prst="roundRect">
            <a:avLst>
              <a:gd name="adj" fmla="val 3713"/>
            </a:avLst>
          </a:prstGeom>
          <a:solidFill>
            <a:srgbClr val="F2F6FC"/>
          </a:solidFill>
          <a:ln w="9525">
            <a:solidFill>
              <a:srgbClr val="D5DCEA"/>
            </a:solidFill>
            <a:prstDash val="solid"/>
          </a:ln>
        </p:spPr>
      </p:sp>
      <p:sp>
        <p:nvSpPr>
          <p:cNvPr id="13" name="Shape 10"/>
          <p:cNvSpPr/>
          <p:nvPr/>
        </p:nvSpPr>
        <p:spPr>
          <a:xfrm>
            <a:off x="2682850" y="1298448"/>
            <a:ext cx="402336" cy="402336"/>
          </a:xfrm>
          <a:prstGeom prst="ellipse">
            <a:avLst/>
          </a:prstGeom>
          <a:solidFill>
            <a:srgbClr val="2E5496"/>
          </a:solidFill>
          <a:ln w="12700">
            <a:solidFill>
              <a:srgbClr val="2E5496"/>
            </a:solidFill>
            <a:prstDash val="solid"/>
          </a:ln>
        </p:spPr>
      </p:sp>
      <p:sp>
        <p:nvSpPr>
          <p:cNvPr id="14" name="Text 11"/>
          <p:cNvSpPr/>
          <p:nvPr/>
        </p:nvSpPr>
        <p:spPr>
          <a:xfrm>
            <a:off x="2682850"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5" name="Text 12"/>
          <p:cNvSpPr/>
          <p:nvPr/>
        </p:nvSpPr>
        <p:spPr>
          <a:xfrm>
            <a:off x="2218334"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Christ takes it</a:t>
            </a:r>
            <a:endParaRPr lang="en-US" sz="1150" dirty="0"/>
          </a:p>
        </p:txBody>
      </p:sp>
      <p:sp>
        <p:nvSpPr>
          <p:cNvPr id="16" name="Text 13"/>
          <p:cNvSpPr/>
          <p:nvPr/>
        </p:nvSpPr>
        <p:spPr>
          <a:xfrm>
            <a:off x="2218334" y="2157984"/>
            <a:ext cx="1331366" cy="52120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“On this rock I will build My church”</a:t>
            </a:r>
            <a:endParaRPr lang="en-US" sz="1150" dirty="0"/>
          </a:p>
        </p:txBody>
      </p:sp>
      <p:sp>
        <p:nvSpPr>
          <p:cNvPr id="17" name="Text 14"/>
          <p:cNvSpPr/>
          <p:nvPr/>
        </p:nvSpPr>
        <p:spPr>
          <a:xfrm>
            <a:off x="2218334" y="2679192"/>
            <a:ext cx="1331366"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Matt 16:18</a:t>
            </a:r>
            <a:endParaRPr lang="en-US" sz="900" dirty="0"/>
          </a:p>
        </p:txBody>
      </p:sp>
      <p:sp>
        <p:nvSpPr>
          <p:cNvPr id="18" name="Shape 15"/>
          <p:cNvSpPr/>
          <p:nvPr/>
        </p:nvSpPr>
        <p:spPr>
          <a:xfrm>
            <a:off x="3627425" y="2007108"/>
            <a:ext cx="201168" cy="237744"/>
          </a:xfrm>
          <a:prstGeom prst="rightArrow">
            <a:avLst/>
          </a:prstGeom>
          <a:solidFill>
            <a:srgbClr val="6B7280"/>
          </a:solidFill>
          <a:ln w="12700">
            <a:solidFill>
              <a:srgbClr val="6B7280"/>
            </a:solidFill>
            <a:prstDash val="solid"/>
          </a:ln>
        </p:spPr>
      </p:sp>
      <p:sp>
        <p:nvSpPr>
          <p:cNvPr id="19" name="Shape 16"/>
          <p:cNvSpPr/>
          <p:nvPr/>
        </p:nvSpPr>
        <p:spPr>
          <a:xfrm>
            <a:off x="3833165" y="1188720"/>
            <a:ext cx="1477670" cy="1874520"/>
          </a:xfrm>
          <a:prstGeom prst="roundRect">
            <a:avLst>
              <a:gd name="adj" fmla="val 3713"/>
            </a:avLst>
          </a:prstGeom>
          <a:solidFill>
            <a:srgbClr val="F2F6FC"/>
          </a:solidFill>
          <a:ln w="9525">
            <a:solidFill>
              <a:srgbClr val="D5DCEA"/>
            </a:solidFill>
            <a:prstDash val="solid"/>
          </a:ln>
        </p:spPr>
      </p:sp>
      <p:sp>
        <p:nvSpPr>
          <p:cNvPr id="20" name="Shape 17"/>
          <p:cNvSpPr/>
          <p:nvPr/>
        </p:nvSpPr>
        <p:spPr>
          <a:xfrm>
            <a:off x="4370832" y="1298448"/>
            <a:ext cx="402336" cy="402336"/>
          </a:xfrm>
          <a:prstGeom prst="ellipse">
            <a:avLst/>
          </a:prstGeom>
          <a:solidFill>
            <a:srgbClr val="2E5496"/>
          </a:solidFill>
          <a:ln w="12700">
            <a:solidFill>
              <a:srgbClr val="2E5496"/>
            </a:solidFill>
            <a:prstDash val="solid"/>
          </a:ln>
        </p:spPr>
      </p:sp>
      <p:sp>
        <p:nvSpPr>
          <p:cNvPr id="21" name="Text 18"/>
          <p:cNvSpPr/>
          <p:nvPr/>
        </p:nvSpPr>
        <p:spPr>
          <a:xfrm>
            <a:off x="4370832"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a:t>
            </a:r>
            <a:endParaRPr lang="en-US" sz="1300" dirty="0"/>
          </a:p>
        </p:txBody>
      </p:sp>
      <p:sp>
        <p:nvSpPr>
          <p:cNvPr id="22" name="Text 19"/>
          <p:cNvSpPr/>
          <p:nvPr/>
        </p:nvSpPr>
        <p:spPr>
          <a:xfrm>
            <a:off x="3906317"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Church universal</a:t>
            </a:r>
            <a:endParaRPr lang="en-US" sz="1150" dirty="0"/>
          </a:p>
        </p:txBody>
      </p:sp>
      <p:sp>
        <p:nvSpPr>
          <p:cNvPr id="23" name="Text 20"/>
          <p:cNvSpPr/>
          <p:nvPr/>
        </p:nvSpPr>
        <p:spPr>
          <a:xfrm>
            <a:off x="3906317" y="2157984"/>
            <a:ext cx="1331366" cy="52120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Every believer from Pentecost to the Rapture</a:t>
            </a:r>
            <a:endParaRPr lang="en-US" sz="1150" dirty="0"/>
          </a:p>
        </p:txBody>
      </p:sp>
      <p:sp>
        <p:nvSpPr>
          <p:cNvPr id="24" name="Text 21"/>
          <p:cNvSpPr/>
          <p:nvPr/>
        </p:nvSpPr>
        <p:spPr>
          <a:xfrm>
            <a:off x="3906317" y="2679192"/>
            <a:ext cx="1331366"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The body of Christ</a:t>
            </a:r>
            <a:endParaRPr lang="en-US" sz="900" dirty="0"/>
          </a:p>
        </p:txBody>
      </p:sp>
      <p:sp>
        <p:nvSpPr>
          <p:cNvPr id="25" name="Shape 22"/>
          <p:cNvSpPr/>
          <p:nvPr/>
        </p:nvSpPr>
        <p:spPr>
          <a:xfrm>
            <a:off x="5315407" y="2007108"/>
            <a:ext cx="201168" cy="237744"/>
          </a:xfrm>
          <a:prstGeom prst="rightArrow">
            <a:avLst/>
          </a:prstGeom>
          <a:solidFill>
            <a:srgbClr val="6B7280"/>
          </a:solidFill>
          <a:ln w="12700">
            <a:solidFill>
              <a:srgbClr val="6B7280"/>
            </a:solidFill>
            <a:prstDash val="solid"/>
          </a:ln>
        </p:spPr>
      </p:sp>
      <p:sp>
        <p:nvSpPr>
          <p:cNvPr id="26" name="Shape 23"/>
          <p:cNvSpPr/>
          <p:nvPr/>
        </p:nvSpPr>
        <p:spPr>
          <a:xfrm>
            <a:off x="5521147" y="1188720"/>
            <a:ext cx="1477670" cy="1874520"/>
          </a:xfrm>
          <a:prstGeom prst="roundRect">
            <a:avLst>
              <a:gd name="adj" fmla="val 3713"/>
            </a:avLst>
          </a:prstGeom>
          <a:solidFill>
            <a:srgbClr val="F2F6FC"/>
          </a:solidFill>
          <a:ln w="9525">
            <a:solidFill>
              <a:srgbClr val="D5DCEA"/>
            </a:solidFill>
            <a:prstDash val="solid"/>
          </a:ln>
        </p:spPr>
      </p:sp>
      <p:sp>
        <p:nvSpPr>
          <p:cNvPr id="27" name="Shape 24"/>
          <p:cNvSpPr/>
          <p:nvPr/>
        </p:nvSpPr>
        <p:spPr>
          <a:xfrm>
            <a:off x="6058814" y="1298448"/>
            <a:ext cx="402336" cy="402336"/>
          </a:xfrm>
          <a:prstGeom prst="ellipse">
            <a:avLst/>
          </a:prstGeom>
          <a:solidFill>
            <a:srgbClr val="2E5496"/>
          </a:solidFill>
          <a:ln w="12700">
            <a:solidFill>
              <a:srgbClr val="2E5496"/>
            </a:solidFill>
            <a:prstDash val="solid"/>
          </a:ln>
        </p:spPr>
      </p:sp>
      <p:sp>
        <p:nvSpPr>
          <p:cNvPr id="28" name="Text 25"/>
          <p:cNvSpPr/>
          <p:nvPr/>
        </p:nvSpPr>
        <p:spPr>
          <a:xfrm>
            <a:off x="6058814"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D</a:t>
            </a:r>
            <a:endParaRPr lang="en-US" sz="1300" dirty="0"/>
          </a:p>
        </p:txBody>
      </p:sp>
      <p:sp>
        <p:nvSpPr>
          <p:cNvPr id="29" name="Text 26"/>
          <p:cNvSpPr/>
          <p:nvPr/>
        </p:nvSpPr>
        <p:spPr>
          <a:xfrm>
            <a:off x="5594299"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Local assembly</a:t>
            </a:r>
            <a:endParaRPr lang="en-US" sz="1150" dirty="0"/>
          </a:p>
        </p:txBody>
      </p:sp>
      <p:sp>
        <p:nvSpPr>
          <p:cNvPr id="30" name="Text 27"/>
          <p:cNvSpPr/>
          <p:nvPr/>
        </p:nvSpPr>
        <p:spPr>
          <a:xfrm>
            <a:off x="5594299" y="2157984"/>
            <a:ext cx="1331366" cy="52120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“Tell it to the church” — a congregation</a:t>
            </a:r>
            <a:endParaRPr lang="en-US" sz="1150" dirty="0"/>
          </a:p>
        </p:txBody>
      </p:sp>
      <p:sp>
        <p:nvSpPr>
          <p:cNvPr id="31" name="Text 28"/>
          <p:cNvSpPr/>
          <p:nvPr/>
        </p:nvSpPr>
        <p:spPr>
          <a:xfrm>
            <a:off x="5594299" y="2679192"/>
            <a:ext cx="1331366"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Matt 18:17</a:t>
            </a:r>
            <a:endParaRPr lang="en-US" sz="900" dirty="0"/>
          </a:p>
        </p:txBody>
      </p:sp>
      <p:sp>
        <p:nvSpPr>
          <p:cNvPr id="32" name="Shape 29"/>
          <p:cNvSpPr/>
          <p:nvPr/>
        </p:nvSpPr>
        <p:spPr>
          <a:xfrm>
            <a:off x="7003390" y="2007108"/>
            <a:ext cx="201168" cy="237744"/>
          </a:xfrm>
          <a:prstGeom prst="rightArrow">
            <a:avLst/>
          </a:prstGeom>
          <a:solidFill>
            <a:srgbClr val="6B7280"/>
          </a:solidFill>
          <a:ln w="12700">
            <a:solidFill>
              <a:srgbClr val="6B7280"/>
            </a:solidFill>
            <a:prstDash val="solid"/>
          </a:ln>
        </p:spPr>
      </p:sp>
      <p:sp>
        <p:nvSpPr>
          <p:cNvPr id="33" name="Shape 30"/>
          <p:cNvSpPr/>
          <p:nvPr/>
        </p:nvSpPr>
        <p:spPr>
          <a:xfrm>
            <a:off x="7209130" y="1188720"/>
            <a:ext cx="1477670" cy="1874520"/>
          </a:xfrm>
          <a:prstGeom prst="roundRect">
            <a:avLst>
              <a:gd name="adj" fmla="val 3713"/>
            </a:avLst>
          </a:prstGeom>
          <a:solidFill>
            <a:srgbClr val="1F3864"/>
          </a:solidFill>
          <a:ln w="9525">
            <a:solidFill>
              <a:srgbClr val="1F3864"/>
            </a:solidFill>
            <a:prstDash val="solid"/>
          </a:ln>
        </p:spPr>
      </p:sp>
      <p:sp>
        <p:nvSpPr>
          <p:cNvPr id="34" name="Shape 31"/>
          <p:cNvSpPr/>
          <p:nvPr/>
        </p:nvSpPr>
        <p:spPr>
          <a:xfrm>
            <a:off x="7746797" y="1298448"/>
            <a:ext cx="402336" cy="402336"/>
          </a:xfrm>
          <a:prstGeom prst="ellipse">
            <a:avLst/>
          </a:prstGeom>
          <a:solidFill>
            <a:srgbClr val="FFFFFF"/>
          </a:solidFill>
          <a:ln w="12700">
            <a:solidFill>
              <a:srgbClr val="FFFFFF"/>
            </a:solidFill>
            <a:prstDash val="solid"/>
          </a:ln>
        </p:spPr>
      </p:sp>
      <p:sp>
        <p:nvSpPr>
          <p:cNvPr id="35" name="Text 32"/>
          <p:cNvSpPr/>
          <p:nvPr/>
        </p:nvSpPr>
        <p:spPr>
          <a:xfrm>
            <a:off x="7746797" y="1298448"/>
            <a:ext cx="402336" cy="402336"/>
          </a:xfrm>
          <a:prstGeom prst="rect">
            <a:avLst/>
          </a:prstGeom>
          <a:noFill/>
          <a:ln/>
        </p:spPr>
        <p:txBody>
          <a:bodyPr wrap="square" lIns="0" tIns="0" rIns="0" bIns="0" rtlCol="0" anchor="ctr"/>
          <a:lstStyle/>
          <a:p>
            <a:pPr algn="ctr" indent="0" marL="0">
              <a:buNone/>
            </a:pPr>
            <a:r>
              <a:rPr lang="en-US" sz="1300" b="1" dirty="0">
                <a:solidFill>
                  <a:srgbClr val="1F3864"/>
                </a:solidFill>
                <a:latin typeface="Arial" pitchFamily="34" charset="0"/>
                <a:ea typeface="Arial" pitchFamily="34" charset="-122"/>
                <a:cs typeface="Arial" pitchFamily="34" charset="-120"/>
              </a:rPr>
              <a:t>E</a:t>
            </a:r>
            <a:endParaRPr lang="en-US" sz="1300" dirty="0"/>
          </a:p>
        </p:txBody>
      </p:sp>
      <p:sp>
        <p:nvSpPr>
          <p:cNvPr id="36" name="Text 33"/>
          <p:cNvSpPr/>
          <p:nvPr/>
        </p:nvSpPr>
        <p:spPr>
          <a:xfrm>
            <a:off x="7282282" y="1773936"/>
            <a:ext cx="1331366"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In Thessalonica</a:t>
            </a:r>
            <a:endParaRPr lang="en-US" sz="1150" dirty="0"/>
          </a:p>
        </p:txBody>
      </p:sp>
      <p:sp>
        <p:nvSpPr>
          <p:cNvPr id="37" name="Text 34"/>
          <p:cNvSpPr/>
          <p:nvPr/>
        </p:nvSpPr>
        <p:spPr>
          <a:xfrm>
            <a:off x="7282282" y="2157984"/>
            <a:ext cx="1331366" cy="521208"/>
          </a:xfrm>
          <a:prstGeom prst="rect">
            <a:avLst/>
          </a:prstGeom>
          <a:noFill/>
          <a:ln/>
        </p:spPr>
        <p:txBody>
          <a:bodyPr wrap="square" lIns="0" tIns="0" rIns="0" bIns="0" rtlCol="0" anchor="t"/>
          <a:lstStyle/>
          <a:p>
            <a:pPr algn="ctr" indent="0" marL="0">
              <a:buNone/>
            </a:pPr>
            <a:r>
              <a:rPr lang="en-US" sz="1150" dirty="0">
                <a:solidFill>
                  <a:srgbClr val="FFFFFF"/>
                </a:solidFill>
                <a:latin typeface="Arial" pitchFamily="34" charset="0"/>
                <a:ea typeface="Arial" pitchFamily="34" charset="-122"/>
                <a:cs typeface="Arial" pitchFamily="34" charset="-120"/>
              </a:rPr>
              <a:t>Here: the local church in Thessalonica</a:t>
            </a:r>
            <a:endParaRPr lang="en-US" sz="1150" dirty="0"/>
          </a:p>
        </p:txBody>
      </p:sp>
      <p:sp>
        <p:nvSpPr>
          <p:cNvPr id="38" name="Text 35"/>
          <p:cNvSpPr/>
          <p:nvPr/>
        </p:nvSpPr>
        <p:spPr>
          <a:xfrm>
            <a:off x="7282282" y="2679192"/>
            <a:ext cx="1331366" cy="329184"/>
          </a:xfrm>
          <a:prstGeom prst="rect">
            <a:avLst/>
          </a:prstGeom>
          <a:noFill/>
          <a:ln/>
        </p:spPr>
        <p:txBody>
          <a:bodyPr wrap="square" lIns="0" tIns="0" rIns="0" bIns="0" rtlCol="0" anchor="b"/>
          <a:lstStyle/>
          <a:p>
            <a:pPr algn="ctr" indent="0" marL="0">
              <a:buNone/>
            </a:pPr>
            <a:r>
              <a:rPr lang="en-US" sz="900" i="1" dirty="0">
                <a:solidFill>
                  <a:srgbClr val="DCE4F2"/>
                </a:solidFill>
                <a:latin typeface="Arial" pitchFamily="34" charset="0"/>
                <a:ea typeface="Arial" pitchFamily="34" charset="-122"/>
                <a:cs typeface="Arial" pitchFamily="34" charset="-120"/>
              </a:rPr>
              <a:t>1 Thess 1:1</a:t>
            </a:r>
            <a:endParaRPr lang="en-US" sz="900" dirty="0"/>
          </a:p>
        </p:txBody>
      </p:sp>
      <p:sp>
        <p:nvSpPr>
          <p:cNvPr id="39" name="Shape 36"/>
          <p:cNvSpPr/>
          <p:nvPr/>
        </p:nvSpPr>
        <p:spPr>
          <a:xfrm>
            <a:off x="457200" y="3246120"/>
            <a:ext cx="3291840" cy="365760"/>
          </a:xfrm>
          <a:prstGeom prst="rect">
            <a:avLst/>
          </a:prstGeom>
          <a:solidFill>
            <a:srgbClr val="2E5496"/>
          </a:solidFill>
          <a:ln w="12700">
            <a:solidFill>
              <a:srgbClr val="2E5496"/>
            </a:solidFill>
            <a:prstDash val="solid"/>
          </a:ln>
        </p:spPr>
      </p:sp>
      <p:sp>
        <p:nvSpPr>
          <p:cNvPr id="40" name="Text 37"/>
          <p:cNvSpPr/>
          <p:nvPr/>
        </p:nvSpPr>
        <p:spPr>
          <a:xfrm>
            <a:off x="548640" y="3291840"/>
            <a:ext cx="310896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In God the Father</a:t>
            </a:r>
            <a:endParaRPr lang="en-US" sz="1200" dirty="0"/>
          </a:p>
        </p:txBody>
      </p:sp>
      <p:sp>
        <p:nvSpPr>
          <p:cNvPr id="41" name="Shape 38"/>
          <p:cNvSpPr/>
          <p:nvPr/>
        </p:nvSpPr>
        <p:spPr>
          <a:xfrm>
            <a:off x="457200" y="3611880"/>
            <a:ext cx="3291840" cy="1005840"/>
          </a:xfrm>
          <a:prstGeom prst="rect">
            <a:avLst/>
          </a:prstGeom>
          <a:solidFill>
            <a:srgbClr val="F2F6FC"/>
          </a:solidFill>
          <a:ln w="9525">
            <a:solidFill>
              <a:srgbClr val="D5DCEA"/>
            </a:solidFill>
            <a:prstDash val="solid"/>
          </a:ln>
        </p:spPr>
      </p:sp>
      <p:sp>
        <p:nvSpPr>
          <p:cNvPr id="42" name="Text 39"/>
          <p:cNvSpPr/>
          <p:nvPr/>
        </p:nvSpPr>
        <p:spPr>
          <a:xfrm>
            <a:off x="548640" y="3685032"/>
            <a:ext cx="3108960" cy="87782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Security</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Love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 strength of the Father</a:t>
            </a:r>
            <a:endParaRPr lang="en-US" sz="1250" dirty="0"/>
          </a:p>
        </p:txBody>
      </p:sp>
      <p:sp>
        <p:nvSpPr>
          <p:cNvPr id="43" name="Shape 40"/>
          <p:cNvSpPr/>
          <p:nvPr/>
        </p:nvSpPr>
        <p:spPr>
          <a:xfrm>
            <a:off x="3931920" y="3246120"/>
            <a:ext cx="4754880" cy="365760"/>
          </a:xfrm>
          <a:prstGeom prst="rect">
            <a:avLst/>
          </a:prstGeom>
          <a:solidFill>
            <a:srgbClr val="375623"/>
          </a:solidFill>
          <a:ln w="12700">
            <a:solidFill>
              <a:srgbClr val="375623"/>
            </a:solidFill>
            <a:prstDash val="solid"/>
          </a:ln>
        </p:spPr>
      </p:sp>
      <p:sp>
        <p:nvSpPr>
          <p:cNvPr id="44" name="Text 41"/>
          <p:cNvSpPr/>
          <p:nvPr/>
        </p:nvSpPr>
        <p:spPr>
          <a:xfrm>
            <a:off x="4023360" y="3291840"/>
            <a:ext cx="457200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In the Lord Jesus Christ</a:t>
            </a:r>
            <a:endParaRPr lang="en-US" sz="1200" dirty="0"/>
          </a:p>
        </p:txBody>
      </p:sp>
      <p:sp>
        <p:nvSpPr>
          <p:cNvPr id="45" name="Shape 42"/>
          <p:cNvSpPr/>
          <p:nvPr/>
        </p:nvSpPr>
        <p:spPr>
          <a:xfrm>
            <a:off x="3931920" y="3611880"/>
            <a:ext cx="4754880" cy="1005840"/>
          </a:xfrm>
          <a:prstGeom prst="rect">
            <a:avLst/>
          </a:prstGeom>
          <a:solidFill>
            <a:srgbClr val="F2F6FC"/>
          </a:solidFill>
          <a:ln w="9525">
            <a:solidFill>
              <a:srgbClr val="D5DCEA"/>
            </a:solidFill>
            <a:prstDash val="solid"/>
          </a:ln>
        </p:spPr>
      </p:sp>
      <p:sp>
        <p:nvSpPr>
          <p:cNvPr id="46" name="Text 43"/>
          <p:cNvSpPr/>
          <p:nvPr/>
        </p:nvSpPr>
        <p:spPr>
          <a:xfrm>
            <a:off x="4023360" y="3685032"/>
            <a:ext cx="4572000" cy="87782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Lord — the title of deity (Jehovah)</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Jesus — Joshua: salvation, deliverer</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Christ — Messiah, the anointed one</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Work of faith, labor of love, patience of hope</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1:3 · III.B — The content of the prayer</a:t>
            </a:r>
            <a:endParaRPr lang="en-US" sz="1200" dirty="0"/>
          </a:p>
        </p:txBody>
      </p:sp>
      <p:sp>
        <p:nvSpPr>
          <p:cNvPr id="5" name="Shape 2"/>
          <p:cNvSpPr/>
          <p:nvPr/>
        </p:nvSpPr>
        <p:spPr>
          <a:xfrm>
            <a:off x="457200" y="1188720"/>
            <a:ext cx="2621280" cy="566928"/>
          </a:xfrm>
          <a:prstGeom prst="rect">
            <a:avLst/>
          </a:prstGeom>
          <a:solidFill>
            <a:srgbClr val="2E5496"/>
          </a:solidFill>
          <a:ln w="12700">
            <a:solidFill>
              <a:srgbClr val="2E5496"/>
            </a:solidFill>
            <a:prstDash val="solid"/>
          </a:ln>
        </p:spPr>
      </p:sp>
      <p:sp>
        <p:nvSpPr>
          <p:cNvPr id="6" name="Text 3"/>
          <p:cNvSpPr/>
          <p:nvPr/>
        </p:nvSpPr>
        <p:spPr>
          <a:xfrm>
            <a:off x="548640" y="1234440"/>
            <a:ext cx="24384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Work of faith</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ἔργον</a:t>
            </a:r>
            <a:pPr indent="0" marL="0">
              <a:buNone/>
            </a:pPr>
            <a:r>
              <a:rPr lang="en-US" sz="850" dirty="0">
                <a:solidFill>
                  <a:srgbClr val="DCE4F2"/>
                </a:solidFill>
                <a:latin typeface="Arial" pitchFamily="34" charset="0"/>
                <a:ea typeface="Arial" pitchFamily="34" charset="-122"/>
                <a:cs typeface="Arial" pitchFamily="34" charset="-120"/>
              </a:rPr>
              <a:t>  ergou · G2041</a:t>
            </a:r>
            <a:endParaRPr lang="en-US" sz="1200" dirty="0"/>
          </a:p>
        </p:txBody>
      </p:sp>
      <p:sp>
        <p:nvSpPr>
          <p:cNvPr id="7" name="Shape 4"/>
          <p:cNvSpPr/>
          <p:nvPr/>
        </p:nvSpPr>
        <p:spPr>
          <a:xfrm>
            <a:off x="457200" y="1755648"/>
            <a:ext cx="2621280" cy="2039112"/>
          </a:xfrm>
          <a:prstGeom prst="rect">
            <a:avLst/>
          </a:prstGeom>
          <a:solidFill>
            <a:srgbClr val="F2F6FC"/>
          </a:solidFill>
          <a:ln w="9525">
            <a:solidFill>
              <a:srgbClr val="D5DCEA"/>
            </a:solidFill>
            <a:prstDash val="solid"/>
          </a:ln>
        </p:spPr>
      </p:sp>
      <p:sp>
        <p:nvSpPr>
          <p:cNvPr id="8" name="Text 5"/>
          <p:cNvSpPr/>
          <p:nvPr/>
        </p:nvSpPr>
        <p:spPr>
          <a:xfrm>
            <a:off x="548640" y="1828800"/>
            <a:ext cx="2438400" cy="191109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Not busy work — work that results from faith</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Seeking God’s will, depending on His power</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Results beyond human expectation</a:t>
            </a:r>
            <a:endParaRPr lang="en-US" sz="1250" dirty="0"/>
          </a:p>
        </p:txBody>
      </p:sp>
      <p:sp>
        <p:nvSpPr>
          <p:cNvPr id="9" name="Shape 6"/>
          <p:cNvSpPr/>
          <p:nvPr/>
        </p:nvSpPr>
        <p:spPr>
          <a:xfrm>
            <a:off x="3261360" y="1188720"/>
            <a:ext cx="2621280" cy="566928"/>
          </a:xfrm>
          <a:prstGeom prst="rect">
            <a:avLst/>
          </a:prstGeom>
          <a:solidFill>
            <a:srgbClr val="2E5496"/>
          </a:solidFill>
          <a:ln w="12700">
            <a:solidFill>
              <a:srgbClr val="2E5496"/>
            </a:solidFill>
            <a:prstDash val="solid"/>
          </a:ln>
        </p:spPr>
      </p:sp>
      <p:sp>
        <p:nvSpPr>
          <p:cNvPr id="10" name="Text 7"/>
          <p:cNvSpPr/>
          <p:nvPr/>
        </p:nvSpPr>
        <p:spPr>
          <a:xfrm>
            <a:off x="3352800" y="1234440"/>
            <a:ext cx="24384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Labor of love</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κόπος</a:t>
            </a:r>
            <a:pPr indent="0" marL="0">
              <a:buNone/>
            </a:pPr>
            <a:r>
              <a:rPr lang="en-US" sz="850" dirty="0">
                <a:solidFill>
                  <a:srgbClr val="DCE4F2"/>
                </a:solidFill>
                <a:latin typeface="Arial" pitchFamily="34" charset="0"/>
                <a:ea typeface="Arial" pitchFamily="34" charset="-122"/>
                <a:cs typeface="Arial" pitchFamily="34" charset="-120"/>
              </a:rPr>
              <a:t>  kopou · G2873</a:t>
            </a:r>
            <a:endParaRPr lang="en-US" sz="1200" dirty="0"/>
          </a:p>
        </p:txBody>
      </p:sp>
      <p:sp>
        <p:nvSpPr>
          <p:cNvPr id="11" name="Shape 8"/>
          <p:cNvSpPr/>
          <p:nvPr/>
        </p:nvSpPr>
        <p:spPr>
          <a:xfrm>
            <a:off x="3261360" y="1755648"/>
            <a:ext cx="2621280" cy="2039112"/>
          </a:xfrm>
          <a:prstGeom prst="rect">
            <a:avLst/>
          </a:prstGeom>
          <a:solidFill>
            <a:srgbClr val="F2F6FC"/>
          </a:solidFill>
          <a:ln w="9525">
            <a:solidFill>
              <a:srgbClr val="D5DCEA"/>
            </a:solidFill>
            <a:prstDash val="solid"/>
          </a:ln>
        </p:spPr>
      </p:sp>
      <p:sp>
        <p:nvSpPr>
          <p:cNvPr id="12" name="Text 9"/>
          <p:cNvSpPr/>
          <p:nvPr/>
        </p:nvSpPr>
        <p:spPr>
          <a:xfrm>
            <a:off x="3352800" y="1828800"/>
            <a:ext cx="2438400" cy="191109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Stronger than ergon: costly, exhausting toil</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Love for Christ, for each other — and for the lost</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“God so loved the world”</a:t>
            </a:r>
            <a:endParaRPr lang="en-US" sz="1250" dirty="0"/>
          </a:p>
        </p:txBody>
      </p:sp>
      <p:sp>
        <p:nvSpPr>
          <p:cNvPr id="13" name="Shape 10"/>
          <p:cNvSpPr/>
          <p:nvPr/>
        </p:nvSpPr>
        <p:spPr>
          <a:xfrm>
            <a:off x="6065520" y="1188720"/>
            <a:ext cx="2621280" cy="566928"/>
          </a:xfrm>
          <a:prstGeom prst="rect">
            <a:avLst/>
          </a:prstGeom>
          <a:solidFill>
            <a:srgbClr val="2E5496"/>
          </a:solidFill>
          <a:ln w="12700">
            <a:solidFill>
              <a:srgbClr val="2E5496"/>
            </a:solidFill>
            <a:prstDash val="solid"/>
          </a:ln>
        </p:spPr>
      </p:sp>
      <p:sp>
        <p:nvSpPr>
          <p:cNvPr id="14" name="Text 11"/>
          <p:cNvSpPr/>
          <p:nvPr/>
        </p:nvSpPr>
        <p:spPr>
          <a:xfrm>
            <a:off x="6156960" y="1234440"/>
            <a:ext cx="24384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Patience of hope</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ὑπομονή</a:t>
            </a:r>
            <a:pPr indent="0" marL="0">
              <a:buNone/>
            </a:pPr>
            <a:r>
              <a:rPr lang="en-US" sz="850" dirty="0">
                <a:solidFill>
                  <a:srgbClr val="DCE4F2"/>
                </a:solidFill>
                <a:latin typeface="Arial" pitchFamily="34" charset="0"/>
                <a:ea typeface="Arial" pitchFamily="34" charset="-122"/>
                <a:cs typeface="Arial" pitchFamily="34" charset="-120"/>
              </a:rPr>
              <a:t>  hypomonēs · G5281</a:t>
            </a:r>
            <a:endParaRPr lang="en-US" sz="1200" dirty="0"/>
          </a:p>
        </p:txBody>
      </p:sp>
      <p:sp>
        <p:nvSpPr>
          <p:cNvPr id="15" name="Shape 12"/>
          <p:cNvSpPr/>
          <p:nvPr/>
        </p:nvSpPr>
        <p:spPr>
          <a:xfrm>
            <a:off x="6065520" y="1755648"/>
            <a:ext cx="2621280" cy="2039112"/>
          </a:xfrm>
          <a:prstGeom prst="rect">
            <a:avLst/>
          </a:prstGeom>
          <a:solidFill>
            <a:srgbClr val="F2F6FC"/>
          </a:solidFill>
          <a:ln w="9525">
            <a:solidFill>
              <a:srgbClr val="D5DCEA"/>
            </a:solidFill>
            <a:prstDash val="solid"/>
          </a:ln>
        </p:spPr>
      </p:sp>
      <p:sp>
        <p:nvSpPr>
          <p:cNvPr id="16" name="Text 13"/>
          <p:cNvSpPr/>
          <p:nvPr/>
        </p:nvSpPr>
        <p:spPr>
          <a:xfrm>
            <a:off x="6156960" y="1828800"/>
            <a:ext cx="2438400" cy="191109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Endurance in tribulation</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Active perseverance, not passive waiting</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Produced by hope fixed on Christ</a:t>
            </a:r>
            <a:endParaRPr lang="en-US" sz="1250" dirty="0"/>
          </a:p>
        </p:txBody>
      </p:sp>
      <p:sp>
        <p:nvSpPr>
          <p:cNvPr id="17" name="Shape 14"/>
          <p:cNvSpPr/>
          <p:nvPr/>
        </p:nvSpPr>
        <p:spPr>
          <a:xfrm>
            <a:off x="457200" y="3977640"/>
            <a:ext cx="8229600" cy="594360"/>
          </a:xfrm>
          <a:prstGeom prst="roundRect">
            <a:avLst>
              <a:gd name="adj" fmla="val 9231"/>
            </a:avLst>
          </a:prstGeom>
          <a:solidFill>
            <a:srgbClr val="1F3864"/>
          </a:solidFill>
          <a:ln w="12700">
            <a:solidFill>
              <a:srgbClr val="1F3864"/>
            </a:solidFill>
            <a:prstDash val="solid"/>
          </a:ln>
        </p:spPr>
      </p:sp>
      <p:sp>
        <p:nvSpPr>
          <p:cNvPr id="18" name="Text 15"/>
          <p:cNvSpPr/>
          <p:nvPr/>
        </p:nvSpPr>
        <p:spPr>
          <a:xfrm>
            <a:off x="621792" y="3977640"/>
            <a:ext cx="7900416" cy="59436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Faith in Christ, love for Christ, endurance looking for Christ — all three have Christ as both their source and their object.</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Election: proved to whom?</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1:4 · III.C — The core of the prayer</a:t>
            </a:r>
            <a:endParaRPr lang="en-US" sz="1200" dirty="0"/>
          </a:p>
        </p:txBody>
      </p:sp>
      <p:sp>
        <p:nvSpPr>
          <p:cNvPr id="5" name="Shape 2"/>
          <p:cNvSpPr/>
          <p:nvPr/>
        </p:nvSpPr>
        <p:spPr>
          <a:xfrm>
            <a:off x="457200" y="1188720"/>
            <a:ext cx="3931920" cy="566928"/>
          </a:xfrm>
          <a:prstGeom prst="rect">
            <a:avLst/>
          </a:prstGeom>
          <a:solidFill>
            <a:srgbClr val="2E5496"/>
          </a:solidFill>
          <a:ln w="12700">
            <a:solidFill>
              <a:srgbClr val="2E5496"/>
            </a:solidFill>
            <a:prstDash val="solid"/>
          </a:ln>
        </p:spPr>
      </p:sp>
      <p:sp>
        <p:nvSpPr>
          <p:cNvPr id="6" name="Text 3"/>
          <p:cNvSpPr/>
          <p:nvPr/>
        </p:nvSpPr>
        <p:spPr>
          <a:xfrm>
            <a:off x="548640" y="1234440"/>
            <a:ext cx="374904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Before God</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ἐκλογή</a:t>
            </a:r>
            <a:pPr indent="0" marL="0">
              <a:buNone/>
            </a:pPr>
            <a:r>
              <a:rPr lang="en-US" sz="850" dirty="0">
                <a:solidFill>
                  <a:srgbClr val="DCE4F2"/>
                </a:solidFill>
                <a:latin typeface="Arial" pitchFamily="34" charset="0"/>
                <a:ea typeface="Arial" pitchFamily="34" charset="-122"/>
                <a:cs typeface="Arial" pitchFamily="34" charset="-120"/>
              </a:rPr>
              <a:t>  eklogē · G1589</a:t>
            </a:r>
            <a:endParaRPr lang="en-US" sz="1200" dirty="0"/>
          </a:p>
        </p:txBody>
      </p:sp>
      <p:sp>
        <p:nvSpPr>
          <p:cNvPr id="7" name="Shape 4"/>
          <p:cNvSpPr/>
          <p:nvPr/>
        </p:nvSpPr>
        <p:spPr>
          <a:xfrm>
            <a:off x="457200" y="1755648"/>
            <a:ext cx="3931920" cy="1764792"/>
          </a:xfrm>
          <a:prstGeom prst="rect">
            <a:avLst/>
          </a:prstGeom>
          <a:solidFill>
            <a:srgbClr val="F2F6FC"/>
          </a:solidFill>
          <a:ln w="9525">
            <a:solidFill>
              <a:srgbClr val="D5DCEA"/>
            </a:solidFill>
            <a:prstDash val="solid"/>
          </a:ln>
        </p:spPr>
      </p:sp>
      <p:sp>
        <p:nvSpPr>
          <p:cNvPr id="8" name="Text 5"/>
          <p:cNvSpPr/>
          <p:nvPr/>
        </p:nvSpPr>
        <p:spPr>
          <a:xfrm>
            <a:off x="548640" y="1828800"/>
            <a:ext cx="3749040" cy="163677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Election is God’s sovereign choosing</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Justification by faith alone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Abraham believed — Gen 15:6</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My assurance rests on the Word of God</a:t>
            </a:r>
            <a:endParaRPr lang="en-US" sz="1250" dirty="0"/>
          </a:p>
        </p:txBody>
      </p:sp>
      <p:sp>
        <p:nvSpPr>
          <p:cNvPr id="9" name="Shape 6"/>
          <p:cNvSpPr/>
          <p:nvPr/>
        </p:nvSpPr>
        <p:spPr>
          <a:xfrm>
            <a:off x="4754880" y="1188720"/>
            <a:ext cx="3931920" cy="566928"/>
          </a:xfrm>
          <a:prstGeom prst="rect">
            <a:avLst/>
          </a:prstGeom>
          <a:solidFill>
            <a:srgbClr val="375623"/>
          </a:solidFill>
          <a:ln w="12700">
            <a:solidFill>
              <a:srgbClr val="375623"/>
            </a:solidFill>
            <a:prstDash val="solid"/>
          </a:ln>
        </p:spPr>
      </p:sp>
      <p:sp>
        <p:nvSpPr>
          <p:cNvPr id="10" name="Text 7"/>
          <p:cNvSpPr/>
          <p:nvPr/>
        </p:nvSpPr>
        <p:spPr>
          <a:xfrm>
            <a:off x="4846320" y="1234440"/>
            <a:ext cx="374904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Before men</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ἔργον</a:t>
            </a:r>
            <a:pPr indent="0" marL="0">
              <a:buNone/>
            </a:pPr>
            <a:r>
              <a:rPr lang="en-US" sz="850" dirty="0">
                <a:solidFill>
                  <a:srgbClr val="DCE4F2"/>
                </a:solidFill>
                <a:latin typeface="Arial" pitchFamily="34" charset="0"/>
                <a:ea typeface="Arial" pitchFamily="34" charset="-122"/>
                <a:cs typeface="Arial" pitchFamily="34" charset="-120"/>
              </a:rPr>
              <a:t>  ergon · G2041 · the outworking</a:t>
            </a:r>
            <a:endParaRPr lang="en-US" sz="1200" dirty="0"/>
          </a:p>
        </p:txBody>
      </p:sp>
      <p:sp>
        <p:nvSpPr>
          <p:cNvPr id="11" name="Shape 8"/>
          <p:cNvSpPr/>
          <p:nvPr/>
        </p:nvSpPr>
        <p:spPr>
          <a:xfrm>
            <a:off x="4754880" y="1755648"/>
            <a:ext cx="3931920" cy="1764792"/>
          </a:xfrm>
          <a:prstGeom prst="rect">
            <a:avLst/>
          </a:prstGeom>
          <a:solidFill>
            <a:srgbClr val="F2F6FC"/>
          </a:solidFill>
          <a:ln w="9525">
            <a:solidFill>
              <a:srgbClr val="D5DCEA"/>
            </a:solidFill>
            <a:prstDash val="solid"/>
          </a:ln>
        </p:spPr>
      </p:sp>
      <p:sp>
        <p:nvSpPr>
          <p:cNvPr id="12" name="Text 9"/>
          <p:cNvSpPr/>
          <p:nvPr/>
        </p:nvSpPr>
        <p:spPr>
          <a:xfrm>
            <a:off x="4846320" y="1828800"/>
            <a:ext cx="3749040" cy="163677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Others know only what they see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Works are evidence to them (James 2)</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They do not cause election</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Never “faith plus works” for salvation</a:t>
            </a:r>
            <a:endParaRPr lang="en-US" sz="1250" dirty="0"/>
          </a:p>
        </p:txBody>
      </p:sp>
      <p:sp>
        <p:nvSpPr>
          <p:cNvPr id="13" name="Text 10"/>
          <p:cNvSpPr/>
          <p:nvPr/>
        </p:nvSpPr>
        <p:spPr>
          <a:xfrm>
            <a:off x="4389120" y="2171700"/>
            <a:ext cx="365760" cy="365760"/>
          </a:xfrm>
          <a:prstGeom prst="rect">
            <a:avLst/>
          </a:prstGeom>
          <a:noFill/>
          <a:ln/>
        </p:spPr>
        <p:txBody>
          <a:bodyPr wrap="square" lIns="0" tIns="0" rIns="0" bIns="0" rtlCol="0" anchor="ctr"/>
          <a:lstStyle/>
          <a:p>
            <a:pPr algn="ctr" indent="0" marL="0">
              <a:buNone/>
            </a:pPr>
            <a:r>
              <a:rPr lang="en-US" sz="1100" b="1" dirty="0">
                <a:solidFill>
                  <a:srgbClr val="6B7280"/>
                </a:solidFill>
                <a:latin typeface="Arial" pitchFamily="34" charset="0"/>
                <a:ea typeface="Arial" pitchFamily="34" charset="-122"/>
                <a:cs typeface="Arial" pitchFamily="34" charset="-120"/>
              </a:rPr>
              <a:t>vs</a:t>
            </a:r>
            <a:endParaRPr lang="en-US" sz="1100" dirty="0"/>
          </a:p>
        </p:txBody>
      </p:sp>
      <p:sp>
        <p:nvSpPr>
          <p:cNvPr id="14" name="Shape 11"/>
          <p:cNvSpPr/>
          <p:nvPr/>
        </p:nvSpPr>
        <p:spPr>
          <a:xfrm>
            <a:off x="457200" y="3749040"/>
            <a:ext cx="8229600" cy="777240"/>
          </a:xfrm>
          <a:prstGeom prst="roundRect">
            <a:avLst>
              <a:gd name="adj" fmla="val 7059"/>
            </a:avLst>
          </a:prstGeom>
          <a:solidFill>
            <a:srgbClr val="1F3864"/>
          </a:solidFill>
          <a:ln w="12700">
            <a:solidFill>
              <a:srgbClr val="1F3864"/>
            </a:solidFill>
            <a:prstDash val="solid"/>
          </a:ln>
        </p:spPr>
      </p:sp>
      <p:sp>
        <p:nvSpPr>
          <p:cNvPr id="15" name="Text 12"/>
          <p:cNvSpPr/>
          <p:nvPr/>
        </p:nvSpPr>
        <p:spPr>
          <a:xfrm>
            <a:off x="621792" y="3749040"/>
            <a:ext cx="7900416" cy="77724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My works do not prove my election to me — the Word of God does. My works show others what God has already done.</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How the gospel came to Thessalonica</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1:5 · III.D — The confidence of the prayer</a:t>
            </a:r>
            <a:endParaRPr lang="en-US" sz="1200" dirty="0"/>
          </a:p>
        </p:txBody>
      </p:sp>
      <p:sp>
        <p:nvSpPr>
          <p:cNvPr id="5" name="Shape 2"/>
          <p:cNvSpPr/>
          <p:nvPr/>
        </p:nvSpPr>
        <p:spPr>
          <a:xfrm>
            <a:off x="457200" y="1188720"/>
            <a:ext cx="1477670" cy="2148840"/>
          </a:xfrm>
          <a:prstGeom prst="roundRect">
            <a:avLst>
              <a:gd name="adj" fmla="val 3713"/>
            </a:avLst>
          </a:prstGeom>
          <a:solidFill>
            <a:srgbClr val="F2F6FC"/>
          </a:solidFill>
          <a:ln w="9525">
            <a:solidFill>
              <a:srgbClr val="D5DCEA"/>
            </a:solidFill>
            <a:prstDash val="solid"/>
          </a:ln>
        </p:spPr>
      </p:sp>
      <p:sp>
        <p:nvSpPr>
          <p:cNvPr id="6" name="Shape 3"/>
          <p:cNvSpPr/>
          <p:nvPr/>
        </p:nvSpPr>
        <p:spPr>
          <a:xfrm>
            <a:off x="994867" y="1298448"/>
            <a:ext cx="402336" cy="402336"/>
          </a:xfrm>
          <a:prstGeom prst="ellipse">
            <a:avLst/>
          </a:prstGeom>
          <a:solidFill>
            <a:srgbClr val="2E5496"/>
          </a:solidFill>
          <a:ln w="12700">
            <a:solidFill>
              <a:srgbClr val="2E5496"/>
            </a:solidFill>
            <a:prstDash val="solid"/>
          </a:ln>
        </p:spPr>
      </p:sp>
      <p:sp>
        <p:nvSpPr>
          <p:cNvPr id="7" name="Text 4"/>
          <p:cNvSpPr/>
          <p:nvPr/>
        </p:nvSpPr>
        <p:spPr>
          <a:xfrm>
            <a:off x="994867"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8" name="Text 5"/>
          <p:cNvSpPr/>
          <p:nvPr/>
        </p:nvSpPr>
        <p:spPr>
          <a:xfrm>
            <a:off x="530352"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Holy Word</a:t>
            </a:r>
            <a:endParaRPr lang="en-US" sz="1150" dirty="0"/>
          </a:p>
        </p:txBody>
      </p:sp>
      <p:sp>
        <p:nvSpPr>
          <p:cNvPr id="9" name="Text 6"/>
          <p:cNvSpPr/>
          <p:nvPr/>
        </p:nvSpPr>
        <p:spPr>
          <a:xfrm>
            <a:off x="530352" y="2157984"/>
            <a:ext cx="1331366" cy="79552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The gospel must be heard or read — it goes to the mind</a:t>
            </a:r>
            <a:endParaRPr lang="en-US" sz="1150" dirty="0"/>
          </a:p>
        </p:txBody>
      </p:sp>
      <p:sp>
        <p:nvSpPr>
          <p:cNvPr id="10" name="Text 7"/>
          <p:cNvSpPr/>
          <p:nvPr/>
        </p:nvSpPr>
        <p:spPr>
          <a:xfrm>
            <a:off x="530352" y="2953512"/>
            <a:ext cx="1331366"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εὐαγγέλιον</a:t>
            </a:r>
            <a:endParaRPr lang="en-US" sz="900" dirty="0"/>
          </a:p>
        </p:txBody>
      </p:sp>
      <p:sp>
        <p:nvSpPr>
          <p:cNvPr id="11" name="Shape 8"/>
          <p:cNvSpPr/>
          <p:nvPr/>
        </p:nvSpPr>
        <p:spPr>
          <a:xfrm>
            <a:off x="1939442" y="2144268"/>
            <a:ext cx="201168" cy="237744"/>
          </a:xfrm>
          <a:prstGeom prst="rightArrow">
            <a:avLst/>
          </a:prstGeom>
          <a:solidFill>
            <a:srgbClr val="6B7280"/>
          </a:solidFill>
          <a:ln w="12700">
            <a:solidFill>
              <a:srgbClr val="6B7280"/>
            </a:solidFill>
            <a:prstDash val="solid"/>
          </a:ln>
        </p:spPr>
      </p:sp>
      <p:sp>
        <p:nvSpPr>
          <p:cNvPr id="12" name="Shape 9"/>
          <p:cNvSpPr/>
          <p:nvPr/>
        </p:nvSpPr>
        <p:spPr>
          <a:xfrm>
            <a:off x="2145182" y="1188720"/>
            <a:ext cx="1477670" cy="2148840"/>
          </a:xfrm>
          <a:prstGeom prst="roundRect">
            <a:avLst>
              <a:gd name="adj" fmla="val 3713"/>
            </a:avLst>
          </a:prstGeom>
          <a:solidFill>
            <a:srgbClr val="F2F6FC"/>
          </a:solidFill>
          <a:ln w="9525">
            <a:solidFill>
              <a:srgbClr val="D5DCEA"/>
            </a:solidFill>
            <a:prstDash val="solid"/>
          </a:ln>
        </p:spPr>
      </p:sp>
      <p:sp>
        <p:nvSpPr>
          <p:cNvPr id="13" name="Shape 10"/>
          <p:cNvSpPr/>
          <p:nvPr/>
        </p:nvSpPr>
        <p:spPr>
          <a:xfrm>
            <a:off x="2682850" y="1298448"/>
            <a:ext cx="402336" cy="402336"/>
          </a:xfrm>
          <a:prstGeom prst="ellipse">
            <a:avLst/>
          </a:prstGeom>
          <a:solidFill>
            <a:srgbClr val="2E5496"/>
          </a:solidFill>
          <a:ln w="12700">
            <a:solidFill>
              <a:srgbClr val="2E5496"/>
            </a:solidFill>
            <a:prstDash val="solid"/>
          </a:ln>
        </p:spPr>
      </p:sp>
      <p:sp>
        <p:nvSpPr>
          <p:cNvPr id="14" name="Text 11"/>
          <p:cNvSpPr/>
          <p:nvPr/>
        </p:nvSpPr>
        <p:spPr>
          <a:xfrm>
            <a:off x="2682850"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5" name="Text 12"/>
          <p:cNvSpPr/>
          <p:nvPr/>
        </p:nvSpPr>
        <p:spPr>
          <a:xfrm>
            <a:off x="2218334"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In power</a:t>
            </a:r>
            <a:endParaRPr lang="en-US" sz="1150" dirty="0"/>
          </a:p>
        </p:txBody>
      </p:sp>
      <p:sp>
        <p:nvSpPr>
          <p:cNvPr id="16" name="Text 13"/>
          <p:cNvSpPr/>
          <p:nvPr/>
        </p:nvSpPr>
        <p:spPr>
          <a:xfrm>
            <a:off x="2218334" y="2157984"/>
            <a:ext cx="1331366" cy="79552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The power of God to salvation (Rom 1:16)</a:t>
            </a:r>
            <a:endParaRPr lang="en-US" sz="1150" dirty="0"/>
          </a:p>
        </p:txBody>
      </p:sp>
      <p:sp>
        <p:nvSpPr>
          <p:cNvPr id="17" name="Text 14"/>
          <p:cNvSpPr/>
          <p:nvPr/>
        </p:nvSpPr>
        <p:spPr>
          <a:xfrm>
            <a:off x="2218334" y="2953512"/>
            <a:ext cx="1331366"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δύναμις</a:t>
            </a:r>
            <a:endParaRPr lang="en-US" sz="900" dirty="0"/>
          </a:p>
        </p:txBody>
      </p:sp>
      <p:sp>
        <p:nvSpPr>
          <p:cNvPr id="18" name="Shape 15"/>
          <p:cNvSpPr/>
          <p:nvPr/>
        </p:nvSpPr>
        <p:spPr>
          <a:xfrm>
            <a:off x="3627425" y="2144268"/>
            <a:ext cx="201168" cy="237744"/>
          </a:xfrm>
          <a:prstGeom prst="rightArrow">
            <a:avLst/>
          </a:prstGeom>
          <a:solidFill>
            <a:srgbClr val="6B7280"/>
          </a:solidFill>
          <a:ln w="12700">
            <a:solidFill>
              <a:srgbClr val="6B7280"/>
            </a:solidFill>
            <a:prstDash val="solid"/>
          </a:ln>
        </p:spPr>
      </p:sp>
      <p:sp>
        <p:nvSpPr>
          <p:cNvPr id="19" name="Shape 16"/>
          <p:cNvSpPr/>
          <p:nvPr/>
        </p:nvSpPr>
        <p:spPr>
          <a:xfrm>
            <a:off x="3833165" y="1188720"/>
            <a:ext cx="1477670" cy="2148840"/>
          </a:xfrm>
          <a:prstGeom prst="roundRect">
            <a:avLst>
              <a:gd name="adj" fmla="val 3713"/>
            </a:avLst>
          </a:prstGeom>
          <a:solidFill>
            <a:srgbClr val="F2F6FC"/>
          </a:solidFill>
          <a:ln w="9525">
            <a:solidFill>
              <a:srgbClr val="D5DCEA"/>
            </a:solidFill>
            <a:prstDash val="solid"/>
          </a:ln>
        </p:spPr>
      </p:sp>
      <p:sp>
        <p:nvSpPr>
          <p:cNvPr id="20" name="Shape 17"/>
          <p:cNvSpPr/>
          <p:nvPr/>
        </p:nvSpPr>
        <p:spPr>
          <a:xfrm>
            <a:off x="4370832" y="1298448"/>
            <a:ext cx="402336" cy="402336"/>
          </a:xfrm>
          <a:prstGeom prst="ellipse">
            <a:avLst/>
          </a:prstGeom>
          <a:solidFill>
            <a:srgbClr val="2E5496"/>
          </a:solidFill>
          <a:ln w="12700">
            <a:solidFill>
              <a:srgbClr val="2E5496"/>
            </a:solidFill>
            <a:prstDash val="solid"/>
          </a:ln>
        </p:spPr>
      </p:sp>
      <p:sp>
        <p:nvSpPr>
          <p:cNvPr id="21" name="Text 18"/>
          <p:cNvSpPr/>
          <p:nvPr/>
        </p:nvSpPr>
        <p:spPr>
          <a:xfrm>
            <a:off x="4370832"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a:t>
            </a:r>
            <a:endParaRPr lang="en-US" sz="1300" dirty="0"/>
          </a:p>
        </p:txBody>
      </p:sp>
      <p:sp>
        <p:nvSpPr>
          <p:cNvPr id="22" name="Text 19"/>
          <p:cNvSpPr/>
          <p:nvPr/>
        </p:nvSpPr>
        <p:spPr>
          <a:xfrm>
            <a:off x="3906317"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Holy Spirit</a:t>
            </a:r>
            <a:endParaRPr lang="en-US" sz="1150" dirty="0"/>
          </a:p>
        </p:txBody>
      </p:sp>
      <p:sp>
        <p:nvSpPr>
          <p:cNvPr id="23" name="Text 20"/>
          <p:cNvSpPr/>
          <p:nvPr/>
        </p:nvSpPr>
        <p:spPr>
          <a:xfrm>
            <a:off x="3906317" y="2157984"/>
            <a:ext cx="1331366" cy="79552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Carries it to the heart and gives life — regeneration</a:t>
            </a:r>
            <a:endParaRPr lang="en-US" sz="1150" dirty="0"/>
          </a:p>
        </p:txBody>
      </p:sp>
      <p:sp>
        <p:nvSpPr>
          <p:cNvPr id="24" name="Text 21"/>
          <p:cNvSpPr/>
          <p:nvPr/>
        </p:nvSpPr>
        <p:spPr>
          <a:xfrm>
            <a:off x="3906317" y="2953512"/>
            <a:ext cx="1331366"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much assurance · πληροφορία</a:t>
            </a:r>
            <a:endParaRPr lang="en-US" sz="900" dirty="0"/>
          </a:p>
        </p:txBody>
      </p:sp>
      <p:sp>
        <p:nvSpPr>
          <p:cNvPr id="25" name="Shape 22"/>
          <p:cNvSpPr/>
          <p:nvPr/>
        </p:nvSpPr>
        <p:spPr>
          <a:xfrm>
            <a:off x="5315407" y="2144268"/>
            <a:ext cx="201168" cy="237744"/>
          </a:xfrm>
          <a:prstGeom prst="rightArrow">
            <a:avLst/>
          </a:prstGeom>
          <a:solidFill>
            <a:srgbClr val="6B7280"/>
          </a:solidFill>
          <a:ln w="12700">
            <a:solidFill>
              <a:srgbClr val="6B7280"/>
            </a:solidFill>
            <a:prstDash val="solid"/>
          </a:ln>
        </p:spPr>
      </p:sp>
      <p:sp>
        <p:nvSpPr>
          <p:cNvPr id="26" name="Shape 23"/>
          <p:cNvSpPr/>
          <p:nvPr/>
        </p:nvSpPr>
        <p:spPr>
          <a:xfrm>
            <a:off x="5521147" y="1188720"/>
            <a:ext cx="1477670" cy="2148840"/>
          </a:xfrm>
          <a:prstGeom prst="roundRect">
            <a:avLst>
              <a:gd name="adj" fmla="val 3713"/>
            </a:avLst>
          </a:prstGeom>
          <a:solidFill>
            <a:srgbClr val="F2F6FC"/>
          </a:solidFill>
          <a:ln w="9525">
            <a:solidFill>
              <a:srgbClr val="D5DCEA"/>
            </a:solidFill>
            <a:prstDash val="solid"/>
          </a:ln>
        </p:spPr>
      </p:sp>
      <p:sp>
        <p:nvSpPr>
          <p:cNvPr id="27" name="Shape 24"/>
          <p:cNvSpPr/>
          <p:nvPr/>
        </p:nvSpPr>
        <p:spPr>
          <a:xfrm>
            <a:off x="6058814" y="1298448"/>
            <a:ext cx="402336" cy="402336"/>
          </a:xfrm>
          <a:prstGeom prst="ellipse">
            <a:avLst/>
          </a:prstGeom>
          <a:solidFill>
            <a:srgbClr val="2E5496"/>
          </a:solidFill>
          <a:ln w="12700">
            <a:solidFill>
              <a:srgbClr val="2E5496"/>
            </a:solidFill>
            <a:prstDash val="solid"/>
          </a:ln>
        </p:spPr>
      </p:sp>
      <p:sp>
        <p:nvSpPr>
          <p:cNvPr id="28" name="Text 25"/>
          <p:cNvSpPr/>
          <p:nvPr/>
        </p:nvSpPr>
        <p:spPr>
          <a:xfrm>
            <a:off x="6058814"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D</a:t>
            </a:r>
            <a:endParaRPr lang="en-US" sz="1300" dirty="0"/>
          </a:p>
        </p:txBody>
      </p:sp>
      <p:sp>
        <p:nvSpPr>
          <p:cNvPr id="29" name="Text 26"/>
          <p:cNvSpPr/>
          <p:nvPr/>
        </p:nvSpPr>
        <p:spPr>
          <a:xfrm>
            <a:off x="5594299"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Holy walk</a:t>
            </a:r>
            <a:endParaRPr lang="en-US" sz="1150" dirty="0"/>
          </a:p>
        </p:txBody>
      </p:sp>
      <p:sp>
        <p:nvSpPr>
          <p:cNvPr id="30" name="Text 27"/>
          <p:cNvSpPr/>
          <p:nvPr/>
        </p:nvSpPr>
        <p:spPr>
          <a:xfrm>
            <a:off x="5594299" y="2157984"/>
            <a:ext cx="1331366" cy="79552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“What kind of men we were among you”</a:t>
            </a:r>
            <a:endParaRPr lang="en-US" sz="1150" dirty="0"/>
          </a:p>
        </p:txBody>
      </p:sp>
      <p:sp>
        <p:nvSpPr>
          <p:cNvPr id="31" name="Text 28"/>
          <p:cNvSpPr/>
          <p:nvPr/>
        </p:nvSpPr>
        <p:spPr>
          <a:xfrm>
            <a:off x="5594299" y="2953512"/>
            <a:ext cx="1331366"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1:5d · 2 Tim 2:21</a:t>
            </a:r>
            <a:endParaRPr lang="en-US" sz="900" dirty="0"/>
          </a:p>
        </p:txBody>
      </p:sp>
      <p:sp>
        <p:nvSpPr>
          <p:cNvPr id="32" name="Shape 29"/>
          <p:cNvSpPr/>
          <p:nvPr/>
        </p:nvSpPr>
        <p:spPr>
          <a:xfrm>
            <a:off x="7003390" y="2144268"/>
            <a:ext cx="201168" cy="237744"/>
          </a:xfrm>
          <a:prstGeom prst="rightArrow">
            <a:avLst/>
          </a:prstGeom>
          <a:solidFill>
            <a:srgbClr val="6B7280"/>
          </a:solidFill>
          <a:ln w="12700">
            <a:solidFill>
              <a:srgbClr val="6B7280"/>
            </a:solidFill>
            <a:prstDash val="solid"/>
          </a:ln>
        </p:spPr>
      </p:sp>
      <p:sp>
        <p:nvSpPr>
          <p:cNvPr id="33" name="Shape 30"/>
          <p:cNvSpPr/>
          <p:nvPr/>
        </p:nvSpPr>
        <p:spPr>
          <a:xfrm>
            <a:off x="7209130" y="1188720"/>
            <a:ext cx="1477670" cy="2148840"/>
          </a:xfrm>
          <a:prstGeom prst="roundRect">
            <a:avLst>
              <a:gd name="adj" fmla="val 3713"/>
            </a:avLst>
          </a:prstGeom>
          <a:solidFill>
            <a:srgbClr val="1F3864"/>
          </a:solidFill>
          <a:ln w="9525">
            <a:solidFill>
              <a:srgbClr val="1F3864"/>
            </a:solidFill>
            <a:prstDash val="solid"/>
          </a:ln>
        </p:spPr>
      </p:sp>
      <p:sp>
        <p:nvSpPr>
          <p:cNvPr id="34" name="Shape 31"/>
          <p:cNvSpPr/>
          <p:nvPr/>
        </p:nvSpPr>
        <p:spPr>
          <a:xfrm>
            <a:off x="7746797" y="1298448"/>
            <a:ext cx="402336" cy="402336"/>
          </a:xfrm>
          <a:prstGeom prst="ellipse">
            <a:avLst/>
          </a:prstGeom>
          <a:solidFill>
            <a:srgbClr val="FFFFFF"/>
          </a:solidFill>
          <a:ln w="12700">
            <a:solidFill>
              <a:srgbClr val="FFFFFF"/>
            </a:solidFill>
            <a:prstDash val="solid"/>
          </a:ln>
        </p:spPr>
      </p:sp>
      <p:sp>
        <p:nvSpPr>
          <p:cNvPr id="35" name="Text 32"/>
          <p:cNvSpPr/>
          <p:nvPr/>
        </p:nvSpPr>
        <p:spPr>
          <a:xfrm>
            <a:off x="7746797" y="1298448"/>
            <a:ext cx="402336" cy="402336"/>
          </a:xfrm>
          <a:prstGeom prst="rect">
            <a:avLst/>
          </a:prstGeom>
          <a:noFill/>
          <a:ln/>
        </p:spPr>
        <p:txBody>
          <a:bodyPr wrap="square" lIns="0" tIns="0" rIns="0" bIns="0" rtlCol="0" anchor="ctr"/>
          <a:lstStyle/>
          <a:p>
            <a:pPr algn="ctr" indent="0" marL="0">
              <a:buNone/>
            </a:pPr>
            <a:r>
              <a:rPr lang="en-US" sz="1300" b="1" dirty="0">
                <a:solidFill>
                  <a:srgbClr val="1F3864"/>
                </a:solidFill>
                <a:latin typeface="Arial" pitchFamily="34" charset="0"/>
                <a:ea typeface="Arial" pitchFamily="34" charset="-122"/>
                <a:cs typeface="Arial" pitchFamily="34" charset="-120"/>
              </a:rPr>
              <a:t>E</a:t>
            </a:r>
            <a:endParaRPr lang="en-US" sz="1300" dirty="0"/>
          </a:p>
        </p:txBody>
      </p:sp>
      <p:sp>
        <p:nvSpPr>
          <p:cNvPr id="36" name="Text 33"/>
          <p:cNvSpPr/>
          <p:nvPr/>
        </p:nvSpPr>
        <p:spPr>
          <a:xfrm>
            <a:off x="7282282" y="1773936"/>
            <a:ext cx="1331366"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Holy people</a:t>
            </a:r>
            <a:endParaRPr lang="en-US" sz="1150" dirty="0"/>
          </a:p>
        </p:txBody>
      </p:sp>
      <p:sp>
        <p:nvSpPr>
          <p:cNvPr id="37" name="Text 34"/>
          <p:cNvSpPr/>
          <p:nvPr/>
        </p:nvSpPr>
        <p:spPr>
          <a:xfrm>
            <a:off x="7282282" y="2157984"/>
            <a:ext cx="1331366" cy="795528"/>
          </a:xfrm>
          <a:prstGeom prst="rect">
            <a:avLst/>
          </a:prstGeom>
          <a:noFill/>
          <a:ln/>
        </p:spPr>
        <p:txBody>
          <a:bodyPr wrap="square" lIns="0" tIns="0" rIns="0" bIns="0" rtlCol="0" anchor="t"/>
          <a:lstStyle/>
          <a:p>
            <a:pPr algn="ctr" indent="0" marL="0">
              <a:buNone/>
            </a:pPr>
            <a:r>
              <a:rPr lang="en-US" sz="1150" dirty="0">
                <a:solidFill>
                  <a:srgbClr val="FFFFFF"/>
                </a:solidFill>
                <a:latin typeface="Arial" pitchFamily="34" charset="0"/>
                <a:ea typeface="Arial" pitchFamily="34" charset="-122"/>
                <a:cs typeface="Arial" pitchFamily="34" charset="-120"/>
              </a:rPr>
              <a:t>Saints of God — a church that stands out</a:t>
            </a:r>
            <a:endParaRPr lang="en-US" sz="1150" dirty="0"/>
          </a:p>
        </p:txBody>
      </p:sp>
      <p:sp>
        <p:nvSpPr>
          <p:cNvPr id="38" name="Text 35"/>
          <p:cNvSpPr/>
          <p:nvPr/>
        </p:nvSpPr>
        <p:spPr>
          <a:xfrm>
            <a:off x="7282282" y="2953512"/>
            <a:ext cx="1331366" cy="329184"/>
          </a:xfrm>
          <a:prstGeom prst="rect">
            <a:avLst/>
          </a:prstGeom>
          <a:noFill/>
          <a:ln/>
        </p:spPr>
        <p:txBody>
          <a:bodyPr wrap="square" lIns="0" tIns="0" rIns="0" bIns="0" rtlCol="0" anchor="b"/>
          <a:lstStyle/>
          <a:p>
            <a:pPr algn="ctr" indent="0" marL="0">
              <a:buNone/>
            </a:pPr>
            <a:r>
              <a:rPr lang="en-US" sz="900" i="1" dirty="0">
                <a:solidFill>
                  <a:srgbClr val="DCE4F2"/>
                </a:solidFill>
                <a:latin typeface="Arial" pitchFamily="34" charset="0"/>
                <a:ea typeface="Arial" pitchFamily="34" charset="-122"/>
                <a:cs typeface="Arial" pitchFamily="34" charset="-120"/>
              </a:rPr>
              <a:t>the result</a:t>
            </a:r>
            <a:endParaRPr lang="en-US" sz="900" dirty="0"/>
          </a:p>
        </p:txBody>
      </p:sp>
      <p:sp>
        <p:nvSpPr>
          <p:cNvPr id="39" name="Shape 36"/>
          <p:cNvSpPr/>
          <p:nvPr/>
        </p:nvSpPr>
        <p:spPr>
          <a:xfrm>
            <a:off x="457200" y="3566160"/>
            <a:ext cx="8229600" cy="731520"/>
          </a:xfrm>
          <a:prstGeom prst="roundRect">
            <a:avLst>
              <a:gd name="adj" fmla="val 7500"/>
            </a:avLst>
          </a:prstGeom>
          <a:solidFill>
            <a:srgbClr val="1F3864"/>
          </a:solidFill>
          <a:ln w="12700">
            <a:solidFill>
              <a:srgbClr val="1F3864"/>
            </a:solidFill>
            <a:prstDash val="solid"/>
          </a:ln>
        </p:spPr>
      </p:sp>
      <p:sp>
        <p:nvSpPr>
          <p:cNvPr id="40" name="Text 37"/>
          <p:cNvSpPr/>
          <p:nvPr/>
        </p:nvSpPr>
        <p:spPr>
          <a:xfrm>
            <a:off x="621792" y="3566160"/>
            <a:ext cx="7900416" cy="73152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Holy Word + Holy Spirit + holy walk = holy people. We give people the gospel; the Holy Spirit does the rest.</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Discuss and apply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1:1–5 · from the study's posted questions and applications</a:t>
            </a:r>
            <a:endParaRPr lang="en-US" sz="1200" dirty="0"/>
          </a:p>
        </p:txBody>
      </p:sp>
      <p:sp>
        <p:nvSpPr>
          <p:cNvPr id="5" name="Shape 2"/>
          <p:cNvSpPr/>
          <p:nvPr/>
        </p:nvSpPr>
        <p:spPr>
          <a:xfrm>
            <a:off x="457200" y="1115568"/>
            <a:ext cx="4023360" cy="384048"/>
          </a:xfrm>
          <a:prstGeom prst="rect">
            <a:avLst/>
          </a:prstGeom>
          <a:solidFill>
            <a:srgbClr val="2E5496"/>
          </a:solidFill>
          <a:ln w="12700">
            <a:solidFill>
              <a:srgbClr val="2E5496"/>
            </a:solidFill>
            <a:prstDash val="solid"/>
          </a:ln>
        </p:spPr>
      </p:sp>
      <p:sp>
        <p:nvSpPr>
          <p:cNvPr id="6" name="Text 3"/>
          <p:cNvSpPr/>
          <p:nvPr/>
        </p:nvSpPr>
        <p:spPr>
          <a:xfrm>
            <a:off x="56692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Discuss</a:t>
            </a:r>
            <a:endParaRPr lang="en-US" sz="1300" dirty="0"/>
          </a:p>
        </p:txBody>
      </p:sp>
      <p:sp>
        <p:nvSpPr>
          <p:cNvPr id="7" name="Shape 4"/>
          <p:cNvSpPr/>
          <p:nvPr/>
        </p:nvSpPr>
        <p:spPr>
          <a:xfrm>
            <a:off x="457200" y="1499616"/>
            <a:ext cx="4023360" cy="2359152"/>
          </a:xfrm>
          <a:prstGeom prst="rect">
            <a:avLst/>
          </a:prstGeom>
          <a:solidFill>
            <a:srgbClr val="F2F6FC"/>
          </a:solidFill>
          <a:ln w="9525">
            <a:solidFill>
              <a:srgbClr val="D5DCEA"/>
            </a:solidFill>
            <a:prstDash val="solid"/>
          </a:ln>
        </p:spPr>
      </p:sp>
      <p:sp>
        <p:nvSpPr>
          <p:cNvPr id="8" name="Shape 5"/>
          <p:cNvSpPr/>
          <p:nvPr/>
        </p:nvSpPr>
        <p:spPr>
          <a:xfrm>
            <a:off x="4663440" y="1115568"/>
            <a:ext cx="4023360" cy="384048"/>
          </a:xfrm>
          <a:prstGeom prst="rect">
            <a:avLst/>
          </a:prstGeom>
          <a:solidFill>
            <a:srgbClr val="375623"/>
          </a:solidFill>
          <a:ln w="12700">
            <a:solidFill>
              <a:srgbClr val="375623"/>
            </a:solidFill>
            <a:prstDash val="solid"/>
          </a:ln>
        </p:spPr>
      </p:sp>
      <p:sp>
        <p:nvSpPr>
          <p:cNvPr id="9" name="Text 6"/>
          <p:cNvSpPr/>
          <p:nvPr/>
        </p:nvSpPr>
        <p:spPr>
          <a:xfrm>
            <a:off x="477316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Apply</a:t>
            </a:r>
            <a:endParaRPr lang="en-US" sz="1300" dirty="0"/>
          </a:p>
        </p:txBody>
      </p:sp>
      <p:sp>
        <p:nvSpPr>
          <p:cNvPr id="10" name="Shape 7"/>
          <p:cNvSpPr/>
          <p:nvPr/>
        </p:nvSpPr>
        <p:spPr>
          <a:xfrm>
            <a:off x="4663440" y="1499616"/>
            <a:ext cx="4023360" cy="2359152"/>
          </a:xfrm>
          <a:prstGeom prst="rect">
            <a:avLst/>
          </a:prstGeom>
          <a:solidFill>
            <a:srgbClr val="F2F6FC"/>
          </a:solidFill>
          <a:ln w="9525">
            <a:solidFill>
              <a:srgbClr val="D5DCEA"/>
            </a:solidFill>
            <a:prstDash val="solid"/>
          </a:ln>
        </p:spPr>
      </p:sp>
      <p:sp>
        <p:nvSpPr>
          <p:cNvPr id="11" name="Shape 8"/>
          <p:cNvSpPr/>
          <p:nvPr/>
        </p:nvSpPr>
        <p:spPr>
          <a:xfrm>
            <a:off x="566928" y="1636776"/>
            <a:ext cx="347472" cy="347472"/>
          </a:xfrm>
          <a:prstGeom prst="ellipse">
            <a:avLst/>
          </a:prstGeom>
          <a:solidFill>
            <a:srgbClr val="2E5496"/>
          </a:solidFill>
          <a:ln w="12700">
            <a:solidFill>
              <a:srgbClr val="2E5496"/>
            </a:solidFill>
            <a:prstDash val="solid"/>
          </a:ln>
        </p:spPr>
      </p:sp>
      <p:sp>
        <p:nvSpPr>
          <p:cNvPr id="12" name="Text 9"/>
          <p:cNvSpPr/>
          <p:nvPr/>
        </p:nvSpPr>
        <p:spPr>
          <a:xfrm>
            <a:off x="566928" y="16367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3" name="Text 10"/>
          <p:cNvSpPr/>
          <p:nvPr/>
        </p:nvSpPr>
        <p:spPr>
          <a:xfrm>
            <a:off x="1005840" y="1591056"/>
            <a:ext cx="3364992" cy="1042416"/>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Why does Paul NOT use the title “Apostle” here, as he does in Galatians and 1 Corinthians?</a:t>
            </a:r>
            <a:endParaRPr lang="en-US" sz="1250" dirty="0"/>
          </a:p>
        </p:txBody>
      </p:sp>
      <p:sp>
        <p:nvSpPr>
          <p:cNvPr id="14" name="Shape 11"/>
          <p:cNvSpPr/>
          <p:nvPr/>
        </p:nvSpPr>
        <p:spPr>
          <a:xfrm>
            <a:off x="566928" y="2724912"/>
            <a:ext cx="347472" cy="347472"/>
          </a:xfrm>
          <a:prstGeom prst="ellipse">
            <a:avLst/>
          </a:prstGeom>
          <a:solidFill>
            <a:srgbClr val="2E5496"/>
          </a:solidFill>
          <a:ln w="12700">
            <a:solidFill>
              <a:srgbClr val="2E5496"/>
            </a:solidFill>
            <a:prstDash val="solid"/>
          </a:ln>
        </p:spPr>
      </p:sp>
      <p:sp>
        <p:nvSpPr>
          <p:cNvPr id="15" name="Text 12"/>
          <p:cNvSpPr/>
          <p:nvPr/>
        </p:nvSpPr>
        <p:spPr>
          <a:xfrm>
            <a:off x="566928" y="272491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6" name="Text 13"/>
          <p:cNvSpPr/>
          <p:nvPr/>
        </p:nvSpPr>
        <p:spPr>
          <a:xfrm>
            <a:off x="1005840" y="2679192"/>
            <a:ext cx="3364992" cy="1042416"/>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How does “dynamis” (power) differ from ordinary human persuasion, and what role does the Holy Spirit play?</a:t>
            </a:r>
            <a:endParaRPr lang="en-US" sz="1250" dirty="0"/>
          </a:p>
        </p:txBody>
      </p:sp>
      <p:sp>
        <p:nvSpPr>
          <p:cNvPr id="17" name="Text 14"/>
          <p:cNvSpPr/>
          <p:nvPr/>
        </p:nvSpPr>
        <p:spPr>
          <a:xfrm>
            <a:off x="4791456" y="1591056"/>
            <a:ext cx="3767328" cy="1042416"/>
          </a:xfrm>
          <a:prstGeom prst="rect">
            <a:avLst/>
          </a:prstGeom>
          <a:noFill/>
          <a:ln/>
        </p:spPr>
        <p:txBody>
          <a:bodyPr wrap="square" lIns="0" tIns="0" rIns="0" bIns="0" rtlCol="0" anchor="t"/>
          <a:lstStyle/>
          <a:p>
            <a:pPr indent="0" marL="0">
              <a:buNone/>
            </a:pPr>
            <a:r>
              <a:rPr lang="en-US" sz="1250" b="1" dirty="0">
                <a:solidFill>
                  <a:srgbClr val="1F3864"/>
                </a:solidFill>
                <a:latin typeface="Arial" pitchFamily="34" charset="0"/>
                <a:ea typeface="Arial" pitchFamily="34" charset="-122"/>
                <a:cs typeface="Arial" pitchFamily="34" charset="-120"/>
              </a:rPr>
              <a:t>Examine the Source of Your Activity</a:t>
            </a:r>
            <a:endParaRPr lang="en-US" sz="1250" dirty="0"/>
          </a:p>
          <a:p>
            <a:pPr indent="0" marL="0">
              <a:buNone/>
            </a:pPr>
            <a:r>
              <a:rPr lang="en-US" sz="1200" dirty="0">
                <a:solidFill>
                  <a:srgbClr val="262626"/>
                </a:solidFill>
                <a:latin typeface="Arial" pitchFamily="34" charset="0"/>
                <a:ea typeface="Arial" pitchFamily="34" charset="-122"/>
                <a:cs typeface="Arial" pitchFamily="34" charset="-120"/>
              </a:rPr>
              <a:t>Before any ministry this week, pray: “Lord, I am doing this because I trust You, love You, and am looking for You.”</a:t>
            </a:r>
            <a:endParaRPr lang="en-US" sz="1250" dirty="0"/>
          </a:p>
        </p:txBody>
      </p:sp>
      <p:sp>
        <p:nvSpPr>
          <p:cNvPr id="18" name="Text 15"/>
          <p:cNvSpPr/>
          <p:nvPr/>
        </p:nvSpPr>
        <p:spPr>
          <a:xfrm>
            <a:off x="4791456" y="2679192"/>
            <a:ext cx="3767328" cy="1042416"/>
          </a:xfrm>
          <a:prstGeom prst="rect">
            <a:avLst/>
          </a:prstGeom>
          <a:noFill/>
          <a:ln/>
        </p:spPr>
        <p:txBody>
          <a:bodyPr wrap="square" lIns="0" tIns="0" rIns="0" bIns="0" rtlCol="0" anchor="t"/>
          <a:lstStyle/>
          <a:p>
            <a:pPr indent="0" marL="0">
              <a:buNone/>
            </a:pPr>
            <a:r>
              <a:rPr lang="en-US" sz="1250" b="1" dirty="0">
                <a:solidFill>
                  <a:srgbClr val="1F3864"/>
                </a:solidFill>
                <a:latin typeface="Arial" pitchFamily="34" charset="0"/>
                <a:ea typeface="Arial" pitchFamily="34" charset="-122"/>
                <a:cs typeface="Arial" pitchFamily="34" charset="-120"/>
              </a:rPr>
              <a:t>Build an Intercessory Prayer List</a:t>
            </a:r>
            <a:endParaRPr lang="en-US" sz="1250" dirty="0"/>
          </a:p>
          <a:p>
            <a:pPr indent="0" marL="0">
              <a:buNone/>
            </a:pPr>
            <a:r>
              <a:rPr lang="en-US" sz="1200" dirty="0">
                <a:solidFill>
                  <a:srgbClr val="262626"/>
                </a:solidFill>
                <a:latin typeface="Arial" pitchFamily="34" charset="0"/>
                <a:ea typeface="Arial" pitchFamily="34" charset="-122"/>
                <a:cs typeface="Arial" pitchFamily="34" charset="-120"/>
              </a:rPr>
              <a:t>Write out people in your church by name and pray through the list at least three times this week.</a:t>
            </a:r>
            <a:endParaRPr lang="en-US" sz="1250" dirty="0"/>
          </a:p>
        </p:txBody>
      </p:sp>
      <p:sp>
        <p:nvSpPr>
          <p:cNvPr id="19" name="Shape 16"/>
          <p:cNvSpPr/>
          <p:nvPr/>
        </p:nvSpPr>
        <p:spPr>
          <a:xfrm>
            <a:off x="457200" y="4023360"/>
            <a:ext cx="8229600" cy="566928"/>
          </a:xfrm>
          <a:prstGeom prst="roundRect">
            <a:avLst>
              <a:gd name="adj" fmla="val 9677"/>
            </a:avLst>
          </a:prstGeom>
          <a:solidFill>
            <a:srgbClr val="1F3864"/>
          </a:solidFill>
          <a:ln w="12700">
            <a:solidFill>
              <a:srgbClr val="1F3864"/>
            </a:solidFill>
            <a:prstDash val="solid"/>
          </a:ln>
        </p:spPr>
      </p:sp>
      <p:sp>
        <p:nvSpPr>
          <p:cNvPr id="20" name="Text 17"/>
          <p:cNvSpPr/>
          <p:nvPr/>
        </p:nvSpPr>
        <p:spPr>
          <a:xfrm>
            <a:off x="621792" y="4023360"/>
            <a:ext cx="7900416" cy="566928"/>
          </a:xfrm>
          <a:prstGeom prst="rect">
            <a:avLst/>
          </a:prstGeom>
          <a:noFill/>
          <a:ln/>
        </p:spPr>
        <p:txBody>
          <a:bodyPr wrap="square" lIns="0" tIns="0" rIns="0" bIns="0" rtlCol="0" anchor="ctr"/>
          <a:lstStyle/>
          <a:p>
            <a:pPr indent="0" marL="0">
              <a:buNone/>
            </a:pPr>
            <a:r>
              <a:rPr lang="en-US" sz="1200" b="1" dirty="0">
                <a:solidFill>
                  <a:srgbClr val="C9D5EE"/>
                </a:solidFill>
                <a:latin typeface="Arial" pitchFamily="34" charset="0"/>
                <a:ea typeface="Arial" pitchFamily="34" charset="-122"/>
                <a:cs typeface="Arial" pitchFamily="34" charset="-120"/>
              </a:rPr>
              <a:t>In one line:  </a:t>
            </a:r>
            <a:pPr indent="0" marL="0">
              <a:buNone/>
            </a:pPr>
            <a:r>
              <a:rPr lang="en-US" sz="1200" dirty="0">
                <a:solidFill>
                  <a:srgbClr val="FFFFFF"/>
                </a:solidFill>
                <a:latin typeface="Arial" pitchFamily="34" charset="0"/>
                <a:ea typeface="Arial" pitchFamily="34" charset="-122"/>
                <a:cs typeface="Arial" pitchFamily="34" charset="-120"/>
              </a:rPr>
              <a:t>A church secure in God, busy from the right source, reached by a gospel that came in word, in power and in a holy life.</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nchor="ctr"/>
          <a:lstStyle/>
          <a:p>
            <a:pPr indent="0" marL="0">
              <a:buNone/>
            </a:pPr>
            <a:r>
              <a:rPr lang="en-US" sz="1400" dirty="0">
                <a:solidFill>
                  <a:srgbClr val="C9D5EE"/>
                </a:solidFill>
                <a:latin typeface="Arial" pitchFamily="34" charset="0"/>
                <a:ea typeface="Arial" pitchFamily="34" charset="-122"/>
                <a:cs typeface="Arial" pitchFamily="34" charset="-120"/>
              </a:rPr>
              <a:t>Study 2 of 10 · 1 Thessalonians 1:6–10</a:t>
            </a: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lIns="0" tIns="0" rIns="0" bIns="0" rtlCol="0" anchor="ctr"/>
          <a:lstStyle/>
          <a:p>
            <a:pPr algn="l" indent="0" marL="0">
              <a:buNone/>
            </a:pPr>
            <a:r>
              <a:rPr lang="en-US" sz="3400" b="1" dirty="0">
                <a:solidFill>
                  <a:srgbClr val="FFFFFF"/>
                </a:solidFill>
                <a:latin typeface="Arial" pitchFamily="34" charset="0"/>
                <a:ea typeface="Arial" pitchFamily="34" charset="-122"/>
                <a:cs typeface="Arial" pitchFamily="34" charset="-120"/>
              </a:rPr>
              <a:t>The Many Faces of the Gospel</a:t>
            </a: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lIns="0" tIns="0" rIns="0" bIns="0" rtlCol="0" anchor="ctr"/>
          <a:lstStyle/>
          <a:p>
            <a:pPr indent="0" marL="0">
              <a:buNone/>
            </a:pPr>
            <a:r>
              <a:rPr lang="en-US" sz="1500" i="1" dirty="0">
                <a:solidFill>
                  <a:srgbClr val="E6ECF7"/>
                </a:solidFill>
                <a:latin typeface="Arial" pitchFamily="34" charset="0"/>
                <a:ea typeface="Arial" pitchFamily="34" charset="-122"/>
                <a:cs typeface="Arial" pitchFamily="34" charset="-120"/>
              </a:rPr>
              <a:t>The gospel, once truly received, becomes visible in a transformed life, unstoppable in its spread, and certain in its future hope — leaving no room for a merely private, silent, or present-tense faith.</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Three faces of one gospel</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1:6–10 · Outline I–III</a:t>
            </a:r>
            <a:endParaRPr lang="en-US" sz="1200" dirty="0"/>
          </a:p>
        </p:txBody>
      </p:sp>
      <p:sp>
        <p:nvSpPr>
          <p:cNvPr id="5" name="Shape 2"/>
          <p:cNvSpPr/>
          <p:nvPr/>
        </p:nvSpPr>
        <p:spPr>
          <a:xfrm>
            <a:off x="457200" y="1188720"/>
            <a:ext cx="2499360" cy="365760"/>
          </a:xfrm>
          <a:prstGeom prst="rect">
            <a:avLst/>
          </a:prstGeom>
          <a:solidFill>
            <a:srgbClr val="2E5496"/>
          </a:solidFill>
          <a:ln w="12700">
            <a:solidFill>
              <a:srgbClr val="2E5496"/>
            </a:solidFill>
            <a:prstDash val="solid"/>
          </a:ln>
        </p:spPr>
      </p:sp>
      <p:sp>
        <p:nvSpPr>
          <p:cNvPr id="6" name="Text 3"/>
          <p:cNvSpPr/>
          <p:nvPr/>
        </p:nvSpPr>
        <p:spPr>
          <a:xfrm>
            <a:off x="548640" y="1234440"/>
            <a:ext cx="2316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In person · 1:6–7</a:t>
            </a:r>
            <a:endParaRPr lang="en-US" sz="1200" dirty="0"/>
          </a:p>
        </p:txBody>
      </p:sp>
      <p:sp>
        <p:nvSpPr>
          <p:cNvPr id="7" name="Shape 4"/>
          <p:cNvSpPr/>
          <p:nvPr/>
        </p:nvSpPr>
        <p:spPr>
          <a:xfrm>
            <a:off x="457200" y="1554480"/>
            <a:ext cx="2499360" cy="2057400"/>
          </a:xfrm>
          <a:prstGeom prst="rect">
            <a:avLst/>
          </a:prstGeom>
          <a:solidFill>
            <a:srgbClr val="F2F6FC"/>
          </a:solidFill>
          <a:ln w="9525">
            <a:solidFill>
              <a:srgbClr val="D5DCEA"/>
            </a:solidFill>
            <a:prstDash val="solid"/>
          </a:ln>
        </p:spPr>
      </p:sp>
      <p:sp>
        <p:nvSpPr>
          <p:cNvPr id="8" name="Text 5"/>
          <p:cNvSpPr/>
          <p:nvPr/>
        </p:nvSpPr>
        <p:spPr>
          <a:xfrm>
            <a:off x="548640" y="1627632"/>
            <a:ext cx="2316480" cy="192938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They imitated Paul — and the Lord</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Received the word in much affliction</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With joy of the Holy Spirit</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Became an example to others</a:t>
            </a:r>
            <a:endParaRPr lang="en-US" sz="1250" dirty="0"/>
          </a:p>
        </p:txBody>
      </p:sp>
      <p:sp>
        <p:nvSpPr>
          <p:cNvPr id="9" name="Shape 6"/>
          <p:cNvSpPr/>
          <p:nvPr/>
        </p:nvSpPr>
        <p:spPr>
          <a:xfrm>
            <a:off x="3020568" y="2281428"/>
            <a:ext cx="237744" cy="237744"/>
          </a:xfrm>
          <a:prstGeom prst="rightArrow">
            <a:avLst/>
          </a:prstGeom>
          <a:solidFill>
            <a:srgbClr val="6B7280"/>
          </a:solidFill>
          <a:ln w="12700">
            <a:solidFill>
              <a:srgbClr val="6B7280"/>
            </a:solidFill>
            <a:prstDash val="solid"/>
          </a:ln>
        </p:spPr>
      </p:sp>
      <p:sp>
        <p:nvSpPr>
          <p:cNvPr id="10" name="Shape 7"/>
          <p:cNvSpPr/>
          <p:nvPr/>
        </p:nvSpPr>
        <p:spPr>
          <a:xfrm>
            <a:off x="3322320" y="1188720"/>
            <a:ext cx="2499360" cy="365760"/>
          </a:xfrm>
          <a:prstGeom prst="rect">
            <a:avLst/>
          </a:prstGeom>
          <a:solidFill>
            <a:srgbClr val="2E5496"/>
          </a:solidFill>
          <a:ln w="12700">
            <a:solidFill>
              <a:srgbClr val="2E5496"/>
            </a:solidFill>
            <a:prstDash val="solid"/>
          </a:ln>
        </p:spPr>
      </p:sp>
      <p:sp>
        <p:nvSpPr>
          <p:cNvPr id="11" name="Text 8"/>
          <p:cNvSpPr/>
          <p:nvPr/>
        </p:nvSpPr>
        <p:spPr>
          <a:xfrm>
            <a:off x="3413760" y="1234440"/>
            <a:ext cx="2316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In proclamation · 1:8–9</a:t>
            </a:r>
            <a:endParaRPr lang="en-US" sz="1200" dirty="0"/>
          </a:p>
        </p:txBody>
      </p:sp>
      <p:sp>
        <p:nvSpPr>
          <p:cNvPr id="12" name="Shape 9"/>
          <p:cNvSpPr/>
          <p:nvPr/>
        </p:nvSpPr>
        <p:spPr>
          <a:xfrm>
            <a:off x="3322320" y="1554480"/>
            <a:ext cx="2499360" cy="2057400"/>
          </a:xfrm>
          <a:prstGeom prst="rect">
            <a:avLst/>
          </a:prstGeom>
          <a:solidFill>
            <a:srgbClr val="F2F6FC"/>
          </a:solidFill>
          <a:ln w="9525">
            <a:solidFill>
              <a:srgbClr val="D5DCEA"/>
            </a:solidFill>
            <a:prstDash val="solid"/>
          </a:ln>
        </p:spPr>
      </p:sp>
      <p:sp>
        <p:nvSpPr>
          <p:cNvPr id="13" name="Text 10"/>
          <p:cNvSpPr/>
          <p:nvPr/>
        </p:nvSpPr>
        <p:spPr>
          <a:xfrm>
            <a:off x="3413760" y="1627632"/>
            <a:ext cx="2316480" cy="192938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 word “sounded forth” — an echo</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Macedonia, Achaia, every place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Turned to God from idols</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To serve the living and true God</a:t>
            </a:r>
            <a:endParaRPr lang="en-US" sz="1250" dirty="0"/>
          </a:p>
        </p:txBody>
      </p:sp>
      <p:sp>
        <p:nvSpPr>
          <p:cNvPr id="14" name="Shape 11"/>
          <p:cNvSpPr/>
          <p:nvPr/>
        </p:nvSpPr>
        <p:spPr>
          <a:xfrm>
            <a:off x="5885688" y="2281428"/>
            <a:ext cx="237744" cy="237744"/>
          </a:xfrm>
          <a:prstGeom prst="rightArrow">
            <a:avLst/>
          </a:prstGeom>
          <a:solidFill>
            <a:srgbClr val="6B7280"/>
          </a:solidFill>
          <a:ln w="12700">
            <a:solidFill>
              <a:srgbClr val="6B7280"/>
            </a:solidFill>
            <a:prstDash val="solid"/>
          </a:ln>
        </p:spPr>
      </p:sp>
      <p:sp>
        <p:nvSpPr>
          <p:cNvPr id="15" name="Shape 12"/>
          <p:cNvSpPr/>
          <p:nvPr/>
        </p:nvSpPr>
        <p:spPr>
          <a:xfrm>
            <a:off x="6187440" y="1188720"/>
            <a:ext cx="2499360" cy="365760"/>
          </a:xfrm>
          <a:prstGeom prst="rect">
            <a:avLst/>
          </a:prstGeom>
          <a:solidFill>
            <a:srgbClr val="375623"/>
          </a:solidFill>
          <a:ln w="12700">
            <a:solidFill>
              <a:srgbClr val="375623"/>
            </a:solidFill>
            <a:prstDash val="solid"/>
          </a:ln>
        </p:spPr>
      </p:sp>
      <p:sp>
        <p:nvSpPr>
          <p:cNvPr id="16" name="Text 13"/>
          <p:cNvSpPr/>
          <p:nvPr/>
        </p:nvSpPr>
        <p:spPr>
          <a:xfrm>
            <a:off x="6278880" y="1234440"/>
            <a:ext cx="2316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In prospect · 1:10</a:t>
            </a:r>
            <a:endParaRPr lang="en-US" sz="1200" dirty="0"/>
          </a:p>
        </p:txBody>
      </p:sp>
      <p:sp>
        <p:nvSpPr>
          <p:cNvPr id="17" name="Shape 14"/>
          <p:cNvSpPr/>
          <p:nvPr/>
        </p:nvSpPr>
        <p:spPr>
          <a:xfrm>
            <a:off x="6187440" y="1554480"/>
            <a:ext cx="2499360" cy="2057400"/>
          </a:xfrm>
          <a:prstGeom prst="rect">
            <a:avLst/>
          </a:prstGeom>
          <a:solidFill>
            <a:srgbClr val="F2F6FC"/>
          </a:solidFill>
          <a:ln w="9525">
            <a:solidFill>
              <a:srgbClr val="D5DCEA"/>
            </a:solidFill>
            <a:prstDash val="solid"/>
          </a:ln>
        </p:spPr>
      </p:sp>
      <p:sp>
        <p:nvSpPr>
          <p:cNvPr id="18" name="Text 15"/>
          <p:cNvSpPr/>
          <p:nvPr/>
        </p:nvSpPr>
        <p:spPr>
          <a:xfrm>
            <a:off x="6278880" y="1627632"/>
            <a:ext cx="2316480" cy="192938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Rapture — wait for His Son from heaven</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Resurrection — whom He raised</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Rescue — from the wrath to come</a:t>
            </a:r>
            <a:endParaRPr lang="en-US" sz="1250" dirty="0"/>
          </a:p>
        </p:txBody>
      </p:sp>
      <p:sp>
        <p:nvSpPr>
          <p:cNvPr id="19" name="Shape 16"/>
          <p:cNvSpPr/>
          <p:nvPr/>
        </p:nvSpPr>
        <p:spPr>
          <a:xfrm>
            <a:off x="457200" y="3794760"/>
            <a:ext cx="8229600" cy="685800"/>
          </a:xfrm>
          <a:prstGeom prst="roundRect">
            <a:avLst>
              <a:gd name="adj" fmla="val 8000"/>
            </a:avLst>
          </a:prstGeom>
          <a:solidFill>
            <a:srgbClr val="1F3864"/>
          </a:solidFill>
          <a:ln w="12700">
            <a:solidFill>
              <a:srgbClr val="1F3864"/>
            </a:solidFill>
            <a:prstDash val="solid"/>
          </a:ln>
        </p:spPr>
      </p:sp>
      <p:sp>
        <p:nvSpPr>
          <p:cNvPr id="20" name="Text 17"/>
          <p:cNvSpPr/>
          <p:nvPr/>
        </p:nvSpPr>
        <p:spPr>
          <a:xfrm>
            <a:off x="621792" y="3794760"/>
            <a:ext cx="7900416" cy="68580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A life worth imitating, a testimony that echoes, a hope that waits. God does not wait for maturity before He produces something worth celebrating.</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The chain of imitation</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1:6–7 · I.A–B — What they determined and demonstrated</a:t>
            </a:r>
            <a:endParaRPr lang="en-US" sz="1200" dirty="0"/>
          </a:p>
        </p:txBody>
      </p:sp>
      <p:sp>
        <p:nvSpPr>
          <p:cNvPr id="5" name="Shape 2"/>
          <p:cNvSpPr/>
          <p:nvPr/>
        </p:nvSpPr>
        <p:spPr>
          <a:xfrm>
            <a:off x="457200" y="1188720"/>
            <a:ext cx="1899666" cy="2011680"/>
          </a:xfrm>
          <a:prstGeom prst="roundRect">
            <a:avLst>
              <a:gd name="adj" fmla="val 2888"/>
            </a:avLst>
          </a:prstGeom>
          <a:solidFill>
            <a:srgbClr val="F2F6FC"/>
          </a:solidFill>
          <a:ln w="9525">
            <a:solidFill>
              <a:srgbClr val="D5DCEA"/>
            </a:solidFill>
            <a:prstDash val="solid"/>
          </a:ln>
        </p:spPr>
      </p:sp>
      <p:sp>
        <p:nvSpPr>
          <p:cNvPr id="6" name="Shape 3"/>
          <p:cNvSpPr/>
          <p:nvPr/>
        </p:nvSpPr>
        <p:spPr>
          <a:xfrm>
            <a:off x="1205865" y="1298448"/>
            <a:ext cx="402336" cy="402336"/>
          </a:xfrm>
          <a:prstGeom prst="ellipse">
            <a:avLst/>
          </a:prstGeom>
          <a:solidFill>
            <a:srgbClr val="2E5496"/>
          </a:solidFill>
          <a:ln w="12700">
            <a:solidFill>
              <a:srgbClr val="2E5496"/>
            </a:solidFill>
            <a:prstDash val="solid"/>
          </a:ln>
        </p:spPr>
      </p:sp>
      <p:sp>
        <p:nvSpPr>
          <p:cNvPr id="7" name="Text 4"/>
          <p:cNvSpPr/>
          <p:nvPr/>
        </p:nvSpPr>
        <p:spPr>
          <a:xfrm>
            <a:off x="1205865"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8" name="Text 5"/>
          <p:cNvSpPr/>
          <p:nvPr/>
        </p:nvSpPr>
        <p:spPr>
          <a:xfrm>
            <a:off x="530352" y="1773936"/>
            <a:ext cx="1753362"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Christ</a:t>
            </a:r>
            <a:endParaRPr lang="en-US" sz="1150" dirty="0"/>
          </a:p>
        </p:txBody>
      </p:sp>
      <p:sp>
        <p:nvSpPr>
          <p:cNvPr id="9" name="Text 6"/>
          <p:cNvSpPr/>
          <p:nvPr/>
        </p:nvSpPr>
        <p:spPr>
          <a:xfrm>
            <a:off x="530352" y="2157984"/>
            <a:ext cx="1753362" cy="65836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The exact image of the Father (Heb 1:3)</a:t>
            </a:r>
            <a:endParaRPr lang="en-US" sz="1150" dirty="0"/>
          </a:p>
        </p:txBody>
      </p:sp>
      <p:sp>
        <p:nvSpPr>
          <p:cNvPr id="10" name="Text 7"/>
          <p:cNvSpPr/>
          <p:nvPr/>
        </p:nvSpPr>
        <p:spPr>
          <a:xfrm>
            <a:off x="530352" y="2816352"/>
            <a:ext cx="1753362"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the supreme example</a:t>
            </a:r>
            <a:endParaRPr lang="en-US" sz="900" dirty="0"/>
          </a:p>
        </p:txBody>
      </p:sp>
      <p:sp>
        <p:nvSpPr>
          <p:cNvPr id="11" name="Shape 8"/>
          <p:cNvSpPr/>
          <p:nvPr/>
        </p:nvSpPr>
        <p:spPr>
          <a:xfrm>
            <a:off x="2361438" y="2075688"/>
            <a:ext cx="201168" cy="237744"/>
          </a:xfrm>
          <a:prstGeom prst="rightArrow">
            <a:avLst/>
          </a:prstGeom>
          <a:solidFill>
            <a:srgbClr val="6B7280"/>
          </a:solidFill>
          <a:ln w="12700">
            <a:solidFill>
              <a:srgbClr val="6B7280"/>
            </a:solidFill>
            <a:prstDash val="solid"/>
          </a:ln>
        </p:spPr>
      </p:sp>
      <p:sp>
        <p:nvSpPr>
          <p:cNvPr id="12" name="Shape 9"/>
          <p:cNvSpPr/>
          <p:nvPr/>
        </p:nvSpPr>
        <p:spPr>
          <a:xfrm>
            <a:off x="2567178" y="1188720"/>
            <a:ext cx="1899666" cy="2011680"/>
          </a:xfrm>
          <a:prstGeom prst="roundRect">
            <a:avLst>
              <a:gd name="adj" fmla="val 2888"/>
            </a:avLst>
          </a:prstGeom>
          <a:solidFill>
            <a:srgbClr val="F2F6FC"/>
          </a:solidFill>
          <a:ln w="9525">
            <a:solidFill>
              <a:srgbClr val="D5DCEA"/>
            </a:solidFill>
            <a:prstDash val="solid"/>
          </a:ln>
        </p:spPr>
      </p:sp>
      <p:sp>
        <p:nvSpPr>
          <p:cNvPr id="13" name="Shape 10"/>
          <p:cNvSpPr/>
          <p:nvPr/>
        </p:nvSpPr>
        <p:spPr>
          <a:xfrm>
            <a:off x="3315843" y="1298448"/>
            <a:ext cx="402336" cy="402336"/>
          </a:xfrm>
          <a:prstGeom prst="ellipse">
            <a:avLst/>
          </a:prstGeom>
          <a:solidFill>
            <a:srgbClr val="2E5496"/>
          </a:solidFill>
          <a:ln w="12700">
            <a:solidFill>
              <a:srgbClr val="2E5496"/>
            </a:solidFill>
            <a:prstDash val="solid"/>
          </a:ln>
        </p:spPr>
      </p:sp>
      <p:sp>
        <p:nvSpPr>
          <p:cNvPr id="14" name="Text 11"/>
          <p:cNvSpPr/>
          <p:nvPr/>
        </p:nvSpPr>
        <p:spPr>
          <a:xfrm>
            <a:off x="3315843"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5" name="Text 12"/>
          <p:cNvSpPr/>
          <p:nvPr/>
        </p:nvSpPr>
        <p:spPr>
          <a:xfrm>
            <a:off x="2640330" y="1773936"/>
            <a:ext cx="1753362"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Paul</a:t>
            </a:r>
            <a:endParaRPr lang="en-US" sz="1150" dirty="0"/>
          </a:p>
        </p:txBody>
      </p:sp>
      <p:sp>
        <p:nvSpPr>
          <p:cNvPr id="16" name="Text 13"/>
          <p:cNvSpPr/>
          <p:nvPr/>
        </p:nvSpPr>
        <p:spPr>
          <a:xfrm>
            <a:off x="2640330" y="2157984"/>
            <a:ext cx="1753362" cy="65836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“For to me, to live is Christ”</a:t>
            </a:r>
            <a:endParaRPr lang="en-US" sz="1150" dirty="0"/>
          </a:p>
        </p:txBody>
      </p:sp>
      <p:sp>
        <p:nvSpPr>
          <p:cNvPr id="17" name="Text 14"/>
          <p:cNvSpPr/>
          <p:nvPr/>
        </p:nvSpPr>
        <p:spPr>
          <a:xfrm>
            <a:off x="2640330" y="2816352"/>
            <a:ext cx="1753362"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a life on display</a:t>
            </a:r>
            <a:endParaRPr lang="en-US" sz="900" dirty="0"/>
          </a:p>
        </p:txBody>
      </p:sp>
      <p:sp>
        <p:nvSpPr>
          <p:cNvPr id="18" name="Shape 15"/>
          <p:cNvSpPr/>
          <p:nvPr/>
        </p:nvSpPr>
        <p:spPr>
          <a:xfrm>
            <a:off x="4471416" y="2075688"/>
            <a:ext cx="201168" cy="237744"/>
          </a:xfrm>
          <a:prstGeom prst="rightArrow">
            <a:avLst/>
          </a:prstGeom>
          <a:solidFill>
            <a:srgbClr val="6B7280"/>
          </a:solidFill>
          <a:ln w="12700">
            <a:solidFill>
              <a:srgbClr val="6B7280"/>
            </a:solidFill>
            <a:prstDash val="solid"/>
          </a:ln>
        </p:spPr>
      </p:sp>
      <p:sp>
        <p:nvSpPr>
          <p:cNvPr id="19" name="Shape 16"/>
          <p:cNvSpPr/>
          <p:nvPr/>
        </p:nvSpPr>
        <p:spPr>
          <a:xfrm>
            <a:off x="4677156" y="1188720"/>
            <a:ext cx="1899666" cy="2011680"/>
          </a:xfrm>
          <a:prstGeom prst="roundRect">
            <a:avLst>
              <a:gd name="adj" fmla="val 2888"/>
            </a:avLst>
          </a:prstGeom>
          <a:solidFill>
            <a:srgbClr val="1F3864"/>
          </a:solidFill>
          <a:ln w="9525">
            <a:solidFill>
              <a:srgbClr val="1F3864"/>
            </a:solidFill>
            <a:prstDash val="solid"/>
          </a:ln>
        </p:spPr>
      </p:sp>
      <p:sp>
        <p:nvSpPr>
          <p:cNvPr id="20" name="Shape 17"/>
          <p:cNvSpPr/>
          <p:nvPr/>
        </p:nvSpPr>
        <p:spPr>
          <a:xfrm>
            <a:off x="5425821" y="1298448"/>
            <a:ext cx="402336" cy="402336"/>
          </a:xfrm>
          <a:prstGeom prst="ellipse">
            <a:avLst/>
          </a:prstGeom>
          <a:solidFill>
            <a:srgbClr val="FFFFFF"/>
          </a:solidFill>
          <a:ln w="12700">
            <a:solidFill>
              <a:srgbClr val="FFFFFF"/>
            </a:solidFill>
            <a:prstDash val="solid"/>
          </a:ln>
        </p:spPr>
      </p:sp>
      <p:sp>
        <p:nvSpPr>
          <p:cNvPr id="21" name="Text 18"/>
          <p:cNvSpPr/>
          <p:nvPr/>
        </p:nvSpPr>
        <p:spPr>
          <a:xfrm>
            <a:off x="5425821" y="1298448"/>
            <a:ext cx="402336" cy="402336"/>
          </a:xfrm>
          <a:prstGeom prst="rect">
            <a:avLst/>
          </a:prstGeom>
          <a:noFill/>
          <a:ln/>
        </p:spPr>
        <p:txBody>
          <a:bodyPr wrap="square" lIns="0" tIns="0" rIns="0" bIns="0" rtlCol="0" anchor="ctr"/>
          <a:lstStyle/>
          <a:p>
            <a:pPr algn="ctr" indent="0" marL="0">
              <a:buNone/>
            </a:pPr>
            <a:r>
              <a:rPr lang="en-US" sz="1300" b="1" dirty="0">
                <a:solidFill>
                  <a:srgbClr val="1F3864"/>
                </a:solidFill>
                <a:latin typeface="Arial" pitchFamily="34" charset="0"/>
                <a:ea typeface="Arial" pitchFamily="34" charset="-122"/>
                <a:cs typeface="Arial" pitchFamily="34" charset="-120"/>
              </a:rPr>
              <a:t>C</a:t>
            </a:r>
            <a:endParaRPr lang="en-US" sz="1300" dirty="0"/>
          </a:p>
        </p:txBody>
      </p:sp>
      <p:sp>
        <p:nvSpPr>
          <p:cNvPr id="22" name="Text 19"/>
          <p:cNvSpPr/>
          <p:nvPr/>
        </p:nvSpPr>
        <p:spPr>
          <a:xfrm>
            <a:off x="4750308" y="1773936"/>
            <a:ext cx="1753362"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Thessalonica</a:t>
            </a:r>
            <a:endParaRPr lang="en-US" sz="1150" dirty="0"/>
          </a:p>
        </p:txBody>
      </p:sp>
      <p:sp>
        <p:nvSpPr>
          <p:cNvPr id="23" name="Text 20"/>
          <p:cNvSpPr/>
          <p:nvPr/>
        </p:nvSpPr>
        <p:spPr>
          <a:xfrm>
            <a:off x="4750308" y="2157984"/>
            <a:ext cx="1753362" cy="658368"/>
          </a:xfrm>
          <a:prstGeom prst="rect">
            <a:avLst/>
          </a:prstGeom>
          <a:noFill/>
          <a:ln/>
        </p:spPr>
        <p:txBody>
          <a:bodyPr wrap="square" lIns="0" tIns="0" rIns="0" bIns="0" rtlCol="0" anchor="t"/>
          <a:lstStyle/>
          <a:p>
            <a:pPr algn="ctr" indent="0" marL="0">
              <a:buNone/>
            </a:pPr>
            <a:r>
              <a:rPr lang="en-US" sz="1150" dirty="0">
                <a:solidFill>
                  <a:srgbClr val="FFFFFF"/>
                </a:solidFill>
                <a:latin typeface="Arial" pitchFamily="34" charset="0"/>
                <a:ea typeface="Arial" pitchFamily="34" charset="-122"/>
                <a:cs typeface="Arial" pitchFamily="34" charset="-120"/>
              </a:rPr>
              <a:t>Imitators of Paul and of the Lord</a:t>
            </a:r>
            <a:endParaRPr lang="en-US" sz="1150" dirty="0"/>
          </a:p>
        </p:txBody>
      </p:sp>
      <p:sp>
        <p:nvSpPr>
          <p:cNvPr id="24" name="Text 21"/>
          <p:cNvSpPr/>
          <p:nvPr/>
        </p:nvSpPr>
        <p:spPr>
          <a:xfrm>
            <a:off x="4750308" y="2816352"/>
            <a:ext cx="1753362" cy="329184"/>
          </a:xfrm>
          <a:prstGeom prst="rect">
            <a:avLst/>
          </a:prstGeom>
          <a:noFill/>
          <a:ln/>
        </p:spPr>
        <p:txBody>
          <a:bodyPr wrap="square" lIns="0" tIns="0" rIns="0" bIns="0" rtlCol="0" anchor="b"/>
          <a:lstStyle/>
          <a:p>
            <a:pPr algn="ctr" indent="0" marL="0">
              <a:buNone/>
            </a:pPr>
            <a:r>
              <a:rPr lang="en-US" sz="900" i="1" dirty="0">
                <a:solidFill>
                  <a:srgbClr val="DCE4F2"/>
                </a:solidFill>
                <a:latin typeface="Arial" pitchFamily="34" charset="0"/>
                <a:ea typeface="Arial" pitchFamily="34" charset="-122"/>
                <a:cs typeface="Arial" pitchFamily="34" charset="-120"/>
              </a:rPr>
              <a:t>μιμηταί · v.6</a:t>
            </a:r>
            <a:endParaRPr lang="en-US" sz="900" dirty="0"/>
          </a:p>
        </p:txBody>
      </p:sp>
      <p:sp>
        <p:nvSpPr>
          <p:cNvPr id="25" name="Shape 22"/>
          <p:cNvSpPr/>
          <p:nvPr/>
        </p:nvSpPr>
        <p:spPr>
          <a:xfrm>
            <a:off x="6581394" y="2075688"/>
            <a:ext cx="201168" cy="237744"/>
          </a:xfrm>
          <a:prstGeom prst="rightArrow">
            <a:avLst/>
          </a:prstGeom>
          <a:solidFill>
            <a:srgbClr val="6B7280"/>
          </a:solidFill>
          <a:ln w="12700">
            <a:solidFill>
              <a:srgbClr val="6B7280"/>
            </a:solidFill>
            <a:prstDash val="solid"/>
          </a:ln>
        </p:spPr>
      </p:sp>
      <p:sp>
        <p:nvSpPr>
          <p:cNvPr id="26" name="Shape 23"/>
          <p:cNvSpPr/>
          <p:nvPr/>
        </p:nvSpPr>
        <p:spPr>
          <a:xfrm>
            <a:off x="6787134" y="1188720"/>
            <a:ext cx="1899666" cy="2011680"/>
          </a:xfrm>
          <a:prstGeom prst="roundRect">
            <a:avLst>
              <a:gd name="adj" fmla="val 2888"/>
            </a:avLst>
          </a:prstGeom>
          <a:solidFill>
            <a:srgbClr val="F2F6FC"/>
          </a:solidFill>
          <a:ln w="9525">
            <a:solidFill>
              <a:srgbClr val="D5DCEA"/>
            </a:solidFill>
            <a:prstDash val="solid"/>
          </a:ln>
        </p:spPr>
      </p:sp>
      <p:sp>
        <p:nvSpPr>
          <p:cNvPr id="27" name="Shape 24"/>
          <p:cNvSpPr/>
          <p:nvPr/>
        </p:nvSpPr>
        <p:spPr>
          <a:xfrm>
            <a:off x="7535799" y="1298448"/>
            <a:ext cx="402336" cy="402336"/>
          </a:xfrm>
          <a:prstGeom prst="ellipse">
            <a:avLst/>
          </a:prstGeom>
          <a:solidFill>
            <a:srgbClr val="2E5496"/>
          </a:solidFill>
          <a:ln w="12700">
            <a:solidFill>
              <a:srgbClr val="2E5496"/>
            </a:solidFill>
            <a:prstDash val="solid"/>
          </a:ln>
        </p:spPr>
      </p:sp>
      <p:sp>
        <p:nvSpPr>
          <p:cNvPr id="28" name="Text 25"/>
          <p:cNvSpPr/>
          <p:nvPr/>
        </p:nvSpPr>
        <p:spPr>
          <a:xfrm>
            <a:off x="7535799"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D</a:t>
            </a:r>
            <a:endParaRPr lang="en-US" sz="1300" dirty="0"/>
          </a:p>
        </p:txBody>
      </p:sp>
      <p:sp>
        <p:nvSpPr>
          <p:cNvPr id="29" name="Text 26"/>
          <p:cNvSpPr/>
          <p:nvPr/>
        </p:nvSpPr>
        <p:spPr>
          <a:xfrm>
            <a:off x="6860286" y="1773936"/>
            <a:ext cx="1753362"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Macedonia &amp; Achaia</a:t>
            </a:r>
            <a:endParaRPr lang="en-US" sz="1150" dirty="0"/>
          </a:p>
        </p:txBody>
      </p:sp>
      <p:sp>
        <p:nvSpPr>
          <p:cNvPr id="30" name="Text 27"/>
          <p:cNvSpPr/>
          <p:nvPr/>
        </p:nvSpPr>
        <p:spPr>
          <a:xfrm>
            <a:off x="6860286" y="2157984"/>
            <a:ext cx="1753362" cy="65836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A pattern stamped and reproduced</a:t>
            </a:r>
            <a:endParaRPr lang="en-US" sz="1150" dirty="0"/>
          </a:p>
        </p:txBody>
      </p:sp>
      <p:sp>
        <p:nvSpPr>
          <p:cNvPr id="31" name="Text 28"/>
          <p:cNvSpPr/>
          <p:nvPr/>
        </p:nvSpPr>
        <p:spPr>
          <a:xfrm>
            <a:off x="6860286" y="2816352"/>
            <a:ext cx="1753362"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τύπον · v.7</a:t>
            </a:r>
            <a:endParaRPr lang="en-US" sz="900" dirty="0"/>
          </a:p>
        </p:txBody>
      </p:sp>
      <p:sp>
        <p:nvSpPr>
          <p:cNvPr id="32" name="Shape 29"/>
          <p:cNvSpPr/>
          <p:nvPr/>
        </p:nvSpPr>
        <p:spPr>
          <a:xfrm>
            <a:off x="457200" y="3383280"/>
            <a:ext cx="4023360" cy="365760"/>
          </a:xfrm>
          <a:prstGeom prst="rect">
            <a:avLst/>
          </a:prstGeom>
          <a:solidFill>
            <a:srgbClr val="2E5496"/>
          </a:solidFill>
          <a:ln w="12700">
            <a:solidFill>
              <a:srgbClr val="2E5496"/>
            </a:solidFill>
            <a:prstDash val="solid"/>
          </a:ln>
        </p:spPr>
      </p:sp>
      <p:sp>
        <p:nvSpPr>
          <p:cNvPr id="33" name="Text 30"/>
          <p:cNvSpPr/>
          <p:nvPr/>
        </p:nvSpPr>
        <p:spPr>
          <a:xfrm>
            <a:off x="548640" y="3429000"/>
            <a:ext cx="3840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“Imitate me, just as I imitate Christ”</a:t>
            </a:r>
            <a:endParaRPr lang="en-US" sz="1200" dirty="0"/>
          </a:p>
        </p:txBody>
      </p:sp>
      <p:sp>
        <p:nvSpPr>
          <p:cNvPr id="34" name="Shape 31"/>
          <p:cNvSpPr/>
          <p:nvPr/>
        </p:nvSpPr>
        <p:spPr>
          <a:xfrm>
            <a:off x="457200" y="3749040"/>
            <a:ext cx="4023360" cy="868680"/>
          </a:xfrm>
          <a:prstGeom prst="rect">
            <a:avLst/>
          </a:prstGeom>
          <a:solidFill>
            <a:srgbClr val="F2F6FC"/>
          </a:solidFill>
          <a:ln w="9525">
            <a:solidFill>
              <a:srgbClr val="D5DCEA"/>
            </a:solidFill>
            <a:prstDash val="solid"/>
          </a:ln>
        </p:spPr>
      </p:sp>
      <p:sp>
        <p:nvSpPr>
          <p:cNvPr id="35" name="Text 32"/>
          <p:cNvSpPr/>
          <p:nvPr/>
        </p:nvSpPr>
        <p:spPr>
          <a:xfrm>
            <a:off x="548640" y="3822192"/>
            <a:ext cx="3840480" cy="74066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1 Cor 11:1 — the chain always ends in Christ</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Paul was a signpost, never the destination</a:t>
            </a:r>
            <a:endParaRPr lang="en-US" sz="1250" dirty="0"/>
          </a:p>
        </p:txBody>
      </p:sp>
      <p:sp>
        <p:nvSpPr>
          <p:cNvPr id="36" name="Shape 33"/>
          <p:cNvSpPr/>
          <p:nvPr/>
        </p:nvSpPr>
        <p:spPr>
          <a:xfrm>
            <a:off x="4663440" y="3383280"/>
            <a:ext cx="4023360" cy="365760"/>
          </a:xfrm>
          <a:prstGeom prst="rect">
            <a:avLst/>
          </a:prstGeom>
          <a:solidFill>
            <a:srgbClr val="375623"/>
          </a:solidFill>
          <a:ln w="12700">
            <a:solidFill>
              <a:srgbClr val="375623"/>
            </a:solidFill>
            <a:prstDash val="solid"/>
          </a:ln>
        </p:spPr>
      </p:sp>
      <p:sp>
        <p:nvSpPr>
          <p:cNvPr id="37" name="Text 34"/>
          <p:cNvSpPr/>
          <p:nvPr/>
        </p:nvSpPr>
        <p:spPr>
          <a:xfrm>
            <a:off x="4754880" y="3429000"/>
            <a:ext cx="3840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Discipleship is caught as much as taught</a:t>
            </a:r>
            <a:endParaRPr lang="en-US" sz="1200" dirty="0"/>
          </a:p>
        </p:txBody>
      </p:sp>
      <p:sp>
        <p:nvSpPr>
          <p:cNvPr id="38" name="Shape 35"/>
          <p:cNvSpPr/>
          <p:nvPr/>
        </p:nvSpPr>
        <p:spPr>
          <a:xfrm>
            <a:off x="4663440" y="3749040"/>
            <a:ext cx="4023360" cy="868680"/>
          </a:xfrm>
          <a:prstGeom prst="rect">
            <a:avLst/>
          </a:prstGeom>
          <a:solidFill>
            <a:srgbClr val="F2F6FC"/>
          </a:solidFill>
          <a:ln w="9525">
            <a:solidFill>
              <a:srgbClr val="D5DCEA"/>
            </a:solidFill>
            <a:prstDash val="solid"/>
          </a:ln>
        </p:spPr>
      </p:sp>
      <p:sp>
        <p:nvSpPr>
          <p:cNvPr id="39" name="Text 36"/>
          <p:cNvSpPr/>
          <p:nvPr/>
        </p:nvSpPr>
        <p:spPr>
          <a:xfrm>
            <a:off x="4754880" y="3822192"/>
            <a:ext cx="3840480" cy="74066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Someone may be imitating you right now</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Would it draw them nearer to Christ?</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Joy in much affliction</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1:6 · I.A.3–4 — Persecution eclipsed by joy</a:t>
            </a:r>
            <a:endParaRPr lang="en-US" sz="1200" dirty="0"/>
          </a:p>
        </p:txBody>
      </p:sp>
      <p:sp>
        <p:nvSpPr>
          <p:cNvPr id="5" name="Shape 2"/>
          <p:cNvSpPr/>
          <p:nvPr/>
        </p:nvSpPr>
        <p:spPr>
          <a:xfrm>
            <a:off x="457200" y="1188720"/>
            <a:ext cx="3931920" cy="566928"/>
          </a:xfrm>
          <a:prstGeom prst="rect">
            <a:avLst/>
          </a:prstGeom>
          <a:solidFill>
            <a:srgbClr val="6B7280"/>
          </a:solidFill>
          <a:ln w="12700">
            <a:solidFill>
              <a:srgbClr val="6B7280"/>
            </a:solidFill>
            <a:prstDash val="solid"/>
          </a:ln>
        </p:spPr>
      </p:sp>
      <p:sp>
        <p:nvSpPr>
          <p:cNvPr id="6" name="Text 3"/>
          <p:cNvSpPr/>
          <p:nvPr/>
        </p:nvSpPr>
        <p:spPr>
          <a:xfrm>
            <a:off x="548640" y="1234440"/>
            <a:ext cx="374904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Happiness</a:t>
            </a:r>
            <a:endParaRPr lang="en-US" sz="1200" dirty="0"/>
          </a:p>
        </p:txBody>
      </p:sp>
      <p:sp>
        <p:nvSpPr>
          <p:cNvPr id="7" name="Shape 4"/>
          <p:cNvSpPr/>
          <p:nvPr/>
        </p:nvSpPr>
        <p:spPr>
          <a:xfrm>
            <a:off x="457200" y="1755648"/>
            <a:ext cx="3931920" cy="1673352"/>
          </a:xfrm>
          <a:prstGeom prst="rect">
            <a:avLst/>
          </a:prstGeom>
          <a:solidFill>
            <a:srgbClr val="F2F6FC"/>
          </a:solidFill>
          <a:ln w="9525">
            <a:solidFill>
              <a:srgbClr val="D5DCEA"/>
            </a:solidFill>
            <a:prstDash val="solid"/>
          </a:ln>
        </p:spPr>
      </p:sp>
      <p:sp>
        <p:nvSpPr>
          <p:cNvPr id="8" name="Text 5"/>
          <p:cNvSpPr/>
          <p:nvPr/>
        </p:nvSpPr>
        <p:spPr>
          <a:xfrm>
            <a:off x="548640" y="1828800"/>
            <a:ext cx="3749040" cy="154533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Depends on what happens to you</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Needs circumstances to cooperate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Cannot survive the climate of affliction</a:t>
            </a:r>
            <a:endParaRPr lang="en-US" sz="1250" dirty="0"/>
          </a:p>
        </p:txBody>
      </p:sp>
      <p:sp>
        <p:nvSpPr>
          <p:cNvPr id="9" name="Shape 6"/>
          <p:cNvSpPr/>
          <p:nvPr/>
        </p:nvSpPr>
        <p:spPr>
          <a:xfrm>
            <a:off x="4754880" y="1188720"/>
            <a:ext cx="3931920" cy="566928"/>
          </a:xfrm>
          <a:prstGeom prst="rect">
            <a:avLst/>
          </a:prstGeom>
          <a:solidFill>
            <a:srgbClr val="2E5496"/>
          </a:solidFill>
          <a:ln w="12700">
            <a:solidFill>
              <a:srgbClr val="2E5496"/>
            </a:solidFill>
            <a:prstDash val="solid"/>
          </a:ln>
        </p:spPr>
      </p:sp>
      <p:sp>
        <p:nvSpPr>
          <p:cNvPr id="10" name="Text 7"/>
          <p:cNvSpPr/>
          <p:nvPr/>
        </p:nvSpPr>
        <p:spPr>
          <a:xfrm>
            <a:off x="4846320" y="1234440"/>
            <a:ext cx="374904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Joy of the Holy Spirit</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χαρᾶς πνεύματος ἁγίου</a:t>
            </a:r>
            <a:pPr indent="0" marL="0">
              <a:buNone/>
            </a:pPr>
            <a:r>
              <a:rPr lang="en-US" sz="850" dirty="0">
                <a:solidFill>
                  <a:srgbClr val="DCE4F2"/>
                </a:solidFill>
                <a:latin typeface="Arial" pitchFamily="34" charset="0"/>
                <a:ea typeface="Arial" pitchFamily="34" charset="-122"/>
                <a:cs typeface="Arial" pitchFamily="34" charset="-120"/>
              </a:rPr>
              <a:t>  genitive of source</a:t>
            </a:r>
            <a:endParaRPr lang="en-US" sz="1200" dirty="0"/>
          </a:p>
        </p:txBody>
      </p:sp>
      <p:sp>
        <p:nvSpPr>
          <p:cNvPr id="11" name="Shape 8"/>
          <p:cNvSpPr/>
          <p:nvPr/>
        </p:nvSpPr>
        <p:spPr>
          <a:xfrm>
            <a:off x="4754880" y="1755648"/>
            <a:ext cx="3931920" cy="1673352"/>
          </a:xfrm>
          <a:prstGeom prst="rect">
            <a:avLst/>
          </a:prstGeom>
          <a:solidFill>
            <a:srgbClr val="F2F6FC"/>
          </a:solidFill>
          <a:ln w="9525">
            <a:solidFill>
              <a:srgbClr val="D5DCEA"/>
            </a:solidFill>
            <a:prstDash val="solid"/>
          </a:ln>
        </p:spPr>
      </p:sp>
      <p:sp>
        <p:nvSpPr>
          <p:cNvPr id="12" name="Text 9"/>
          <p:cNvSpPr/>
          <p:nvPr/>
        </p:nvSpPr>
        <p:spPr>
          <a:xfrm>
            <a:off x="4846320" y="1828800"/>
            <a:ext cx="3749040" cy="154533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Rooted in God — the Spirit is its source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Fruit of the Spirit (Gal 5:22)</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Grows inside affliction (θλίψει)</a:t>
            </a:r>
            <a:endParaRPr lang="en-US" sz="1250" dirty="0"/>
          </a:p>
        </p:txBody>
      </p:sp>
      <p:sp>
        <p:nvSpPr>
          <p:cNvPr id="13" name="Text 10"/>
          <p:cNvSpPr/>
          <p:nvPr/>
        </p:nvSpPr>
        <p:spPr>
          <a:xfrm>
            <a:off x="4389120" y="2125980"/>
            <a:ext cx="365760" cy="365760"/>
          </a:xfrm>
          <a:prstGeom prst="rect">
            <a:avLst/>
          </a:prstGeom>
          <a:noFill/>
          <a:ln/>
        </p:spPr>
        <p:txBody>
          <a:bodyPr wrap="square" lIns="0" tIns="0" rIns="0" bIns="0" rtlCol="0" anchor="ctr"/>
          <a:lstStyle/>
          <a:p>
            <a:pPr algn="ctr" indent="0" marL="0">
              <a:buNone/>
            </a:pPr>
            <a:r>
              <a:rPr lang="en-US" sz="1100" b="1" dirty="0">
                <a:solidFill>
                  <a:srgbClr val="6B7280"/>
                </a:solidFill>
                <a:latin typeface="Arial" pitchFamily="34" charset="0"/>
                <a:ea typeface="Arial" pitchFamily="34" charset="-122"/>
                <a:cs typeface="Arial" pitchFamily="34" charset="-120"/>
              </a:rPr>
              <a:t>vs</a:t>
            </a:r>
            <a:endParaRPr lang="en-US" sz="1100" dirty="0"/>
          </a:p>
        </p:txBody>
      </p:sp>
      <p:sp>
        <p:nvSpPr>
          <p:cNvPr id="14" name="Shape 11"/>
          <p:cNvSpPr/>
          <p:nvPr/>
        </p:nvSpPr>
        <p:spPr>
          <a:xfrm>
            <a:off x="457200" y="3657600"/>
            <a:ext cx="8229600" cy="868680"/>
          </a:xfrm>
          <a:prstGeom prst="roundRect">
            <a:avLst>
              <a:gd name="adj" fmla="val 6316"/>
            </a:avLst>
          </a:prstGeom>
          <a:solidFill>
            <a:srgbClr val="1F3864"/>
          </a:solidFill>
          <a:ln w="12700">
            <a:solidFill>
              <a:srgbClr val="1F3864"/>
            </a:solidFill>
            <a:prstDash val="solid"/>
          </a:ln>
        </p:spPr>
      </p:sp>
      <p:sp>
        <p:nvSpPr>
          <p:cNvPr id="15" name="Text 12"/>
          <p:cNvSpPr/>
          <p:nvPr/>
        </p:nvSpPr>
        <p:spPr>
          <a:xfrm>
            <a:off x="621792" y="3657600"/>
            <a:ext cx="7900416" cy="868680"/>
          </a:xfrm>
          <a:prstGeom prst="rect">
            <a:avLst/>
          </a:prstGeom>
          <a:noFill/>
          <a:ln/>
        </p:spPr>
        <p:txBody>
          <a:bodyPr wrap="square" lIns="0" tIns="0" rIns="0" bIns="0" rtlCol="0" anchor="ctr"/>
          <a:lstStyle/>
          <a:p>
            <a:pPr indent="0" marL="0">
              <a:buNone/>
            </a:pPr>
            <a:r>
              <a:rPr lang="en-US" sz="1200" b="1" dirty="0">
                <a:solidFill>
                  <a:srgbClr val="C9D5EE"/>
                </a:solidFill>
                <a:latin typeface="Arial" pitchFamily="34" charset="0"/>
                <a:ea typeface="Arial" pitchFamily="34" charset="-122"/>
                <a:cs typeface="Arial" pitchFamily="34" charset="-120"/>
              </a:rPr>
              <a:t>The test:  </a:t>
            </a:r>
            <a:pPr indent="0" marL="0">
              <a:buNone/>
            </a:pPr>
            <a:r>
              <a:rPr lang="en-US" sz="1200" dirty="0">
                <a:solidFill>
                  <a:srgbClr val="FFFFFF"/>
                </a:solidFill>
                <a:latin typeface="Arial" pitchFamily="34" charset="0"/>
                <a:ea typeface="Arial" pitchFamily="34" charset="-122"/>
                <a:cs typeface="Arial" pitchFamily="34" charset="-120"/>
              </a:rPr>
              <a:t>“Was God glorified in this?” If yes — or if you know you were walking in obedience — you have the joy of the Holy Spirit, whatever it cost you.</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The word sounded forth</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1:8–9a · II.A–B — The realm and reach of their witness</a:t>
            </a:r>
            <a:endParaRPr lang="en-US" sz="1200" dirty="0"/>
          </a:p>
        </p:txBody>
      </p:sp>
      <p:sp>
        <p:nvSpPr>
          <p:cNvPr id="5" name="Shape 2"/>
          <p:cNvSpPr/>
          <p:nvPr/>
        </p:nvSpPr>
        <p:spPr>
          <a:xfrm>
            <a:off x="457200" y="1188720"/>
            <a:ext cx="1899666" cy="1965960"/>
          </a:xfrm>
          <a:prstGeom prst="roundRect">
            <a:avLst>
              <a:gd name="adj" fmla="val 2888"/>
            </a:avLst>
          </a:prstGeom>
          <a:solidFill>
            <a:srgbClr val="1F3864"/>
          </a:solidFill>
          <a:ln w="9525">
            <a:solidFill>
              <a:srgbClr val="1F3864"/>
            </a:solidFill>
            <a:prstDash val="solid"/>
          </a:ln>
        </p:spPr>
      </p:sp>
      <p:sp>
        <p:nvSpPr>
          <p:cNvPr id="6" name="Shape 3"/>
          <p:cNvSpPr/>
          <p:nvPr/>
        </p:nvSpPr>
        <p:spPr>
          <a:xfrm>
            <a:off x="1205865" y="1298448"/>
            <a:ext cx="402336" cy="402336"/>
          </a:xfrm>
          <a:prstGeom prst="ellipse">
            <a:avLst/>
          </a:prstGeom>
          <a:solidFill>
            <a:srgbClr val="FFFFFF"/>
          </a:solidFill>
          <a:ln w="12700">
            <a:solidFill>
              <a:srgbClr val="FFFFFF"/>
            </a:solidFill>
            <a:prstDash val="solid"/>
          </a:ln>
        </p:spPr>
      </p:sp>
      <p:sp>
        <p:nvSpPr>
          <p:cNvPr id="7" name="Text 4"/>
          <p:cNvSpPr/>
          <p:nvPr/>
        </p:nvSpPr>
        <p:spPr>
          <a:xfrm>
            <a:off x="1205865" y="1298448"/>
            <a:ext cx="402336" cy="402336"/>
          </a:xfrm>
          <a:prstGeom prst="rect">
            <a:avLst/>
          </a:prstGeom>
          <a:noFill/>
          <a:ln/>
        </p:spPr>
        <p:txBody>
          <a:bodyPr wrap="square" lIns="0" tIns="0" rIns="0" bIns="0" rtlCol="0" anchor="ctr"/>
          <a:lstStyle/>
          <a:p>
            <a:pPr algn="ctr" indent="0" marL="0">
              <a:buNone/>
            </a:pPr>
            <a:r>
              <a:rPr lang="en-US" sz="1300" b="1" dirty="0">
                <a:solidFill>
                  <a:srgbClr val="1F3864"/>
                </a:solidFill>
                <a:latin typeface="Arial" pitchFamily="34" charset="0"/>
                <a:ea typeface="Arial" pitchFamily="34" charset="-122"/>
                <a:cs typeface="Arial" pitchFamily="34" charset="-120"/>
              </a:rPr>
              <a:t>A</a:t>
            </a:r>
            <a:endParaRPr lang="en-US" sz="1300" dirty="0"/>
          </a:p>
        </p:txBody>
      </p:sp>
      <p:sp>
        <p:nvSpPr>
          <p:cNvPr id="8" name="Text 5"/>
          <p:cNvSpPr/>
          <p:nvPr/>
        </p:nvSpPr>
        <p:spPr>
          <a:xfrm>
            <a:off x="530352" y="1773936"/>
            <a:ext cx="1753362"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Thessalonica</a:t>
            </a:r>
            <a:endParaRPr lang="en-US" sz="1150" dirty="0"/>
          </a:p>
        </p:txBody>
      </p:sp>
      <p:sp>
        <p:nvSpPr>
          <p:cNvPr id="9" name="Text 6"/>
          <p:cNvSpPr/>
          <p:nvPr/>
        </p:nvSpPr>
        <p:spPr>
          <a:xfrm>
            <a:off x="530352" y="2157984"/>
            <a:ext cx="1753362" cy="612648"/>
          </a:xfrm>
          <a:prstGeom prst="rect">
            <a:avLst/>
          </a:prstGeom>
          <a:noFill/>
          <a:ln/>
        </p:spPr>
        <p:txBody>
          <a:bodyPr wrap="square" lIns="0" tIns="0" rIns="0" bIns="0" rtlCol="0" anchor="t"/>
          <a:lstStyle/>
          <a:p>
            <a:pPr algn="ctr" indent="0" marL="0">
              <a:buNone/>
            </a:pPr>
            <a:r>
              <a:rPr lang="en-US" sz="1150" dirty="0">
                <a:solidFill>
                  <a:srgbClr val="FFFFFF"/>
                </a:solidFill>
                <a:latin typeface="Arial" pitchFamily="34" charset="0"/>
                <a:ea typeface="Arial" pitchFamily="34" charset="-122"/>
                <a:cs typeface="Arial" pitchFamily="34" charset="-120"/>
              </a:rPr>
              <a:t>On the Via Egnatia, with a busy harbor</a:t>
            </a:r>
            <a:endParaRPr lang="en-US" sz="1150" dirty="0"/>
          </a:p>
        </p:txBody>
      </p:sp>
      <p:sp>
        <p:nvSpPr>
          <p:cNvPr id="10" name="Text 7"/>
          <p:cNvSpPr/>
          <p:nvPr/>
        </p:nvSpPr>
        <p:spPr>
          <a:xfrm>
            <a:off x="530352" y="2770632"/>
            <a:ext cx="1753362" cy="329184"/>
          </a:xfrm>
          <a:prstGeom prst="rect">
            <a:avLst/>
          </a:prstGeom>
          <a:noFill/>
          <a:ln/>
        </p:spPr>
        <p:txBody>
          <a:bodyPr wrap="square" lIns="0" tIns="0" rIns="0" bIns="0" rtlCol="0" anchor="b"/>
          <a:lstStyle/>
          <a:p>
            <a:pPr algn="ctr" indent="0" marL="0">
              <a:buNone/>
            </a:pPr>
            <a:r>
              <a:rPr lang="en-US" sz="900" i="1" dirty="0">
                <a:solidFill>
                  <a:srgbClr val="DCE4F2"/>
                </a:solidFill>
                <a:latin typeface="Arial" pitchFamily="34" charset="0"/>
                <a:ea typeface="Arial" pitchFamily="34" charset="-122"/>
                <a:cs typeface="Arial" pitchFamily="34" charset="-120"/>
              </a:rPr>
              <a:t>a crossroads of the empire</a:t>
            </a:r>
            <a:endParaRPr lang="en-US" sz="900" dirty="0"/>
          </a:p>
        </p:txBody>
      </p:sp>
      <p:sp>
        <p:nvSpPr>
          <p:cNvPr id="11" name="Shape 8"/>
          <p:cNvSpPr/>
          <p:nvPr/>
        </p:nvSpPr>
        <p:spPr>
          <a:xfrm>
            <a:off x="2361438" y="2052828"/>
            <a:ext cx="201168" cy="237744"/>
          </a:xfrm>
          <a:prstGeom prst="rightArrow">
            <a:avLst/>
          </a:prstGeom>
          <a:solidFill>
            <a:srgbClr val="6B7280"/>
          </a:solidFill>
          <a:ln w="12700">
            <a:solidFill>
              <a:srgbClr val="6B7280"/>
            </a:solidFill>
            <a:prstDash val="solid"/>
          </a:ln>
        </p:spPr>
      </p:sp>
      <p:sp>
        <p:nvSpPr>
          <p:cNvPr id="12" name="Shape 9"/>
          <p:cNvSpPr/>
          <p:nvPr/>
        </p:nvSpPr>
        <p:spPr>
          <a:xfrm>
            <a:off x="2567178" y="1188720"/>
            <a:ext cx="1899666" cy="1965960"/>
          </a:xfrm>
          <a:prstGeom prst="roundRect">
            <a:avLst>
              <a:gd name="adj" fmla="val 2888"/>
            </a:avLst>
          </a:prstGeom>
          <a:solidFill>
            <a:srgbClr val="F2F6FC"/>
          </a:solidFill>
          <a:ln w="9525">
            <a:solidFill>
              <a:srgbClr val="D5DCEA"/>
            </a:solidFill>
            <a:prstDash val="solid"/>
          </a:ln>
        </p:spPr>
      </p:sp>
      <p:sp>
        <p:nvSpPr>
          <p:cNvPr id="13" name="Shape 10"/>
          <p:cNvSpPr/>
          <p:nvPr/>
        </p:nvSpPr>
        <p:spPr>
          <a:xfrm>
            <a:off x="3315843" y="1298448"/>
            <a:ext cx="402336" cy="402336"/>
          </a:xfrm>
          <a:prstGeom prst="ellipse">
            <a:avLst/>
          </a:prstGeom>
          <a:solidFill>
            <a:srgbClr val="2E5496"/>
          </a:solidFill>
          <a:ln w="12700">
            <a:solidFill>
              <a:srgbClr val="2E5496"/>
            </a:solidFill>
            <a:prstDash val="solid"/>
          </a:ln>
        </p:spPr>
      </p:sp>
      <p:sp>
        <p:nvSpPr>
          <p:cNvPr id="14" name="Text 11"/>
          <p:cNvSpPr/>
          <p:nvPr/>
        </p:nvSpPr>
        <p:spPr>
          <a:xfrm>
            <a:off x="3315843"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5" name="Text 12"/>
          <p:cNvSpPr/>
          <p:nvPr/>
        </p:nvSpPr>
        <p:spPr>
          <a:xfrm>
            <a:off x="2640330" y="1773936"/>
            <a:ext cx="1753362"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Macedonia</a:t>
            </a:r>
            <a:endParaRPr lang="en-US" sz="1150" dirty="0"/>
          </a:p>
        </p:txBody>
      </p:sp>
      <p:sp>
        <p:nvSpPr>
          <p:cNvPr id="16" name="Text 13"/>
          <p:cNvSpPr/>
          <p:nvPr/>
        </p:nvSpPr>
        <p:spPr>
          <a:xfrm>
            <a:off x="2640330" y="2157984"/>
            <a:ext cx="1753362" cy="61264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Philippi, Amphipolis, Apollonia, Berea</a:t>
            </a:r>
            <a:endParaRPr lang="en-US" sz="1150" dirty="0"/>
          </a:p>
        </p:txBody>
      </p:sp>
      <p:sp>
        <p:nvSpPr>
          <p:cNvPr id="17" name="Text 14"/>
          <p:cNvSpPr/>
          <p:nvPr/>
        </p:nvSpPr>
        <p:spPr>
          <a:xfrm>
            <a:off x="2640330" y="2770632"/>
            <a:ext cx="1753362"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the northern province</a:t>
            </a:r>
            <a:endParaRPr lang="en-US" sz="900" dirty="0"/>
          </a:p>
        </p:txBody>
      </p:sp>
      <p:sp>
        <p:nvSpPr>
          <p:cNvPr id="18" name="Shape 15"/>
          <p:cNvSpPr/>
          <p:nvPr/>
        </p:nvSpPr>
        <p:spPr>
          <a:xfrm>
            <a:off x="4471416" y="2052828"/>
            <a:ext cx="201168" cy="237744"/>
          </a:xfrm>
          <a:prstGeom prst="rightArrow">
            <a:avLst/>
          </a:prstGeom>
          <a:solidFill>
            <a:srgbClr val="6B7280"/>
          </a:solidFill>
          <a:ln w="12700">
            <a:solidFill>
              <a:srgbClr val="6B7280"/>
            </a:solidFill>
            <a:prstDash val="solid"/>
          </a:ln>
        </p:spPr>
      </p:sp>
      <p:sp>
        <p:nvSpPr>
          <p:cNvPr id="19" name="Shape 16"/>
          <p:cNvSpPr/>
          <p:nvPr/>
        </p:nvSpPr>
        <p:spPr>
          <a:xfrm>
            <a:off x="4677156" y="1188720"/>
            <a:ext cx="1899666" cy="1965960"/>
          </a:xfrm>
          <a:prstGeom prst="roundRect">
            <a:avLst>
              <a:gd name="adj" fmla="val 2888"/>
            </a:avLst>
          </a:prstGeom>
          <a:solidFill>
            <a:srgbClr val="F2F6FC"/>
          </a:solidFill>
          <a:ln w="9525">
            <a:solidFill>
              <a:srgbClr val="D5DCEA"/>
            </a:solidFill>
            <a:prstDash val="solid"/>
          </a:ln>
        </p:spPr>
      </p:sp>
      <p:sp>
        <p:nvSpPr>
          <p:cNvPr id="20" name="Shape 17"/>
          <p:cNvSpPr/>
          <p:nvPr/>
        </p:nvSpPr>
        <p:spPr>
          <a:xfrm>
            <a:off x="5425821" y="1298448"/>
            <a:ext cx="402336" cy="402336"/>
          </a:xfrm>
          <a:prstGeom prst="ellipse">
            <a:avLst/>
          </a:prstGeom>
          <a:solidFill>
            <a:srgbClr val="2E5496"/>
          </a:solidFill>
          <a:ln w="12700">
            <a:solidFill>
              <a:srgbClr val="2E5496"/>
            </a:solidFill>
            <a:prstDash val="solid"/>
          </a:ln>
        </p:spPr>
      </p:sp>
      <p:sp>
        <p:nvSpPr>
          <p:cNvPr id="21" name="Text 18"/>
          <p:cNvSpPr/>
          <p:nvPr/>
        </p:nvSpPr>
        <p:spPr>
          <a:xfrm>
            <a:off x="5425821"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a:t>
            </a:r>
            <a:endParaRPr lang="en-US" sz="1300" dirty="0"/>
          </a:p>
        </p:txBody>
      </p:sp>
      <p:sp>
        <p:nvSpPr>
          <p:cNvPr id="22" name="Text 19"/>
          <p:cNvSpPr/>
          <p:nvPr/>
        </p:nvSpPr>
        <p:spPr>
          <a:xfrm>
            <a:off x="4750308" y="1773936"/>
            <a:ext cx="1753362"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Achaia</a:t>
            </a:r>
            <a:endParaRPr lang="en-US" sz="1150" dirty="0"/>
          </a:p>
        </p:txBody>
      </p:sp>
      <p:sp>
        <p:nvSpPr>
          <p:cNvPr id="23" name="Text 20"/>
          <p:cNvSpPr/>
          <p:nvPr/>
        </p:nvSpPr>
        <p:spPr>
          <a:xfrm>
            <a:off x="4750308" y="2157984"/>
            <a:ext cx="1753362" cy="61264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Corinth and the south</a:t>
            </a:r>
            <a:endParaRPr lang="en-US" sz="1150" dirty="0"/>
          </a:p>
        </p:txBody>
      </p:sp>
      <p:sp>
        <p:nvSpPr>
          <p:cNvPr id="24" name="Text 21"/>
          <p:cNvSpPr/>
          <p:nvPr/>
        </p:nvSpPr>
        <p:spPr>
          <a:xfrm>
            <a:off x="4750308" y="2770632"/>
            <a:ext cx="1753362"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Paul writes from Corinth</a:t>
            </a:r>
            <a:endParaRPr lang="en-US" sz="900" dirty="0"/>
          </a:p>
        </p:txBody>
      </p:sp>
      <p:sp>
        <p:nvSpPr>
          <p:cNvPr id="25" name="Shape 22"/>
          <p:cNvSpPr/>
          <p:nvPr/>
        </p:nvSpPr>
        <p:spPr>
          <a:xfrm>
            <a:off x="6581394" y="2052828"/>
            <a:ext cx="201168" cy="237744"/>
          </a:xfrm>
          <a:prstGeom prst="rightArrow">
            <a:avLst/>
          </a:prstGeom>
          <a:solidFill>
            <a:srgbClr val="6B7280"/>
          </a:solidFill>
          <a:ln w="12700">
            <a:solidFill>
              <a:srgbClr val="6B7280"/>
            </a:solidFill>
            <a:prstDash val="solid"/>
          </a:ln>
        </p:spPr>
      </p:sp>
      <p:sp>
        <p:nvSpPr>
          <p:cNvPr id="26" name="Shape 23"/>
          <p:cNvSpPr/>
          <p:nvPr/>
        </p:nvSpPr>
        <p:spPr>
          <a:xfrm>
            <a:off x="6787134" y="1188720"/>
            <a:ext cx="1899666" cy="1965960"/>
          </a:xfrm>
          <a:prstGeom prst="roundRect">
            <a:avLst>
              <a:gd name="adj" fmla="val 2888"/>
            </a:avLst>
          </a:prstGeom>
          <a:solidFill>
            <a:srgbClr val="F2F6FC"/>
          </a:solidFill>
          <a:ln w="9525">
            <a:solidFill>
              <a:srgbClr val="D5DCEA"/>
            </a:solidFill>
            <a:prstDash val="solid"/>
          </a:ln>
        </p:spPr>
      </p:sp>
      <p:sp>
        <p:nvSpPr>
          <p:cNvPr id="27" name="Shape 24"/>
          <p:cNvSpPr/>
          <p:nvPr/>
        </p:nvSpPr>
        <p:spPr>
          <a:xfrm>
            <a:off x="7535799" y="1298448"/>
            <a:ext cx="402336" cy="402336"/>
          </a:xfrm>
          <a:prstGeom prst="ellipse">
            <a:avLst/>
          </a:prstGeom>
          <a:solidFill>
            <a:srgbClr val="2E5496"/>
          </a:solidFill>
          <a:ln w="12700">
            <a:solidFill>
              <a:srgbClr val="2E5496"/>
            </a:solidFill>
            <a:prstDash val="solid"/>
          </a:ln>
        </p:spPr>
      </p:sp>
      <p:sp>
        <p:nvSpPr>
          <p:cNvPr id="28" name="Text 25"/>
          <p:cNvSpPr/>
          <p:nvPr/>
        </p:nvSpPr>
        <p:spPr>
          <a:xfrm>
            <a:off x="7535799"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D</a:t>
            </a:r>
            <a:endParaRPr lang="en-US" sz="1300" dirty="0"/>
          </a:p>
        </p:txBody>
      </p:sp>
      <p:sp>
        <p:nvSpPr>
          <p:cNvPr id="29" name="Text 26"/>
          <p:cNvSpPr/>
          <p:nvPr/>
        </p:nvSpPr>
        <p:spPr>
          <a:xfrm>
            <a:off x="6860286" y="1773936"/>
            <a:ext cx="1753362"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Every place</a:t>
            </a:r>
            <a:endParaRPr lang="en-US" sz="1150" dirty="0"/>
          </a:p>
        </p:txBody>
      </p:sp>
      <p:sp>
        <p:nvSpPr>
          <p:cNvPr id="30" name="Text 27"/>
          <p:cNvSpPr/>
          <p:nvPr/>
        </p:nvSpPr>
        <p:spPr>
          <a:xfrm>
            <a:off x="6860286" y="2157984"/>
            <a:ext cx="1753362" cy="61264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“We do not need to say anything”</a:t>
            </a:r>
            <a:endParaRPr lang="en-US" sz="1150" dirty="0"/>
          </a:p>
        </p:txBody>
      </p:sp>
      <p:sp>
        <p:nvSpPr>
          <p:cNvPr id="31" name="Text 28"/>
          <p:cNvSpPr/>
          <p:nvPr/>
        </p:nvSpPr>
        <p:spPr>
          <a:xfrm>
            <a:off x="6860286" y="2770632"/>
            <a:ext cx="1753362"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v.8b–9a</a:t>
            </a:r>
            <a:endParaRPr lang="en-US" sz="900" dirty="0"/>
          </a:p>
        </p:txBody>
      </p:sp>
      <p:sp>
        <p:nvSpPr>
          <p:cNvPr id="32" name="Shape 29"/>
          <p:cNvSpPr/>
          <p:nvPr/>
        </p:nvSpPr>
        <p:spPr>
          <a:xfrm>
            <a:off x="457200" y="3337560"/>
            <a:ext cx="8229600" cy="548640"/>
          </a:xfrm>
          <a:prstGeom prst="roundRect">
            <a:avLst>
              <a:gd name="adj" fmla="val 10000"/>
            </a:avLst>
          </a:prstGeom>
          <a:solidFill>
            <a:srgbClr val="1F3864"/>
          </a:solidFill>
          <a:ln w="12700">
            <a:solidFill>
              <a:srgbClr val="1F3864"/>
            </a:solidFill>
            <a:prstDash val="solid"/>
          </a:ln>
        </p:spPr>
      </p:sp>
      <p:sp>
        <p:nvSpPr>
          <p:cNvPr id="33" name="Text 30"/>
          <p:cNvSpPr/>
          <p:nvPr/>
        </p:nvSpPr>
        <p:spPr>
          <a:xfrm>
            <a:off x="621792" y="3337560"/>
            <a:ext cx="7900416" cy="548640"/>
          </a:xfrm>
          <a:prstGeom prst="rect">
            <a:avLst/>
          </a:prstGeom>
          <a:noFill/>
          <a:ln/>
        </p:spPr>
        <p:txBody>
          <a:bodyPr wrap="square" lIns="0" tIns="0" rIns="0" bIns="0" rtlCol="0" anchor="ctr"/>
          <a:lstStyle/>
          <a:p>
            <a:pPr indent="0" marL="0">
              <a:buNone/>
            </a:pPr>
            <a:r>
              <a:rPr lang="en-US" sz="1400" b="1" dirty="0">
                <a:solidFill>
                  <a:srgbClr val="E4D6F7"/>
                </a:solidFill>
                <a:latin typeface="Arial" pitchFamily="34" charset="0"/>
                <a:ea typeface="Arial" pitchFamily="34" charset="-122"/>
                <a:cs typeface="Arial" pitchFamily="34" charset="-120"/>
              </a:rPr>
              <a:t>ἐξήχηται  </a:t>
            </a:r>
            <a:pPr indent="0" marL="0">
              <a:buNone/>
            </a:pPr>
            <a:r>
              <a:rPr lang="en-US" sz="1200" dirty="0">
                <a:solidFill>
                  <a:srgbClr val="FFFFFF"/>
                </a:solidFill>
                <a:latin typeface="Arial" pitchFamily="34" charset="0"/>
                <a:ea typeface="Arial" pitchFamily="34" charset="-122"/>
                <a:cs typeface="Arial" pitchFamily="34" charset="-120"/>
              </a:rPr>
              <a:t>has sounded forth — an echo still ringing (perfect tense)</a:t>
            </a:r>
            <a:endParaRPr lang="en-US" sz="1200" dirty="0"/>
          </a:p>
        </p:txBody>
      </p:sp>
      <p:sp>
        <p:nvSpPr>
          <p:cNvPr id="34" name="Shape 31"/>
          <p:cNvSpPr/>
          <p:nvPr/>
        </p:nvSpPr>
        <p:spPr>
          <a:xfrm>
            <a:off x="457200" y="3977640"/>
            <a:ext cx="8229600" cy="640080"/>
          </a:xfrm>
          <a:prstGeom prst="rect">
            <a:avLst/>
          </a:prstGeom>
          <a:solidFill>
            <a:srgbClr val="375623"/>
          </a:solidFill>
          <a:ln w="12700">
            <a:solidFill>
              <a:srgbClr val="375623"/>
            </a:solidFill>
            <a:prstDash val="solid"/>
          </a:ln>
        </p:spPr>
      </p:sp>
      <p:sp>
        <p:nvSpPr>
          <p:cNvPr id="35" name="Text 32"/>
          <p:cNvSpPr/>
          <p:nvPr/>
        </p:nvSpPr>
        <p:spPr>
          <a:xfrm>
            <a:off x="621792" y="3977640"/>
            <a:ext cx="7900416" cy="64008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An echo doesn’t need to be louder than the original sound to carry it further — only faithful to it.</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“You turned to God from idols to serve”</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1:9b · II.C — The results of their witness</a:t>
            </a:r>
            <a:endParaRPr lang="en-US" sz="1200" dirty="0"/>
          </a:p>
        </p:txBody>
      </p:sp>
      <p:sp>
        <p:nvSpPr>
          <p:cNvPr id="5" name="Shape 2"/>
          <p:cNvSpPr/>
          <p:nvPr/>
        </p:nvSpPr>
        <p:spPr>
          <a:xfrm>
            <a:off x="457200" y="1188720"/>
            <a:ext cx="3931920" cy="566928"/>
          </a:xfrm>
          <a:prstGeom prst="rect">
            <a:avLst/>
          </a:prstGeom>
          <a:solidFill>
            <a:srgbClr val="6B7280"/>
          </a:solidFill>
          <a:ln w="12700">
            <a:solidFill>
              <a:srgbClr val="6B7280"/>
            </a:solidFill>
            <a:prstDash val="solid"/>
          </a:ln>
        </p:spPr>
      </p:sp>
      <p:sp>
        <p:nvSpPr>
          <p:cNvPr id="6" name="Text 3"/>
          <p:cNvSpPr/>
          <p:nvPr/>
        </p:nvSpPr>
        <p:spPr>
          <a:xfrm>
            <a:off x="548640" y="1234440"/>
            <a:ext cx="374904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A common misreading</a:t>
            </a:r>
            <a:endParaRPr lang="en-US" sz="1200" dirty="0"/>
          </a:p>
        </p:txBody>
      </p:sp>
      <p:sp>
        <p:nvSpPr>
          <p:cNvPr id="7" name="Shape 4"/>
          <p:cNvSpPr/>
          <p:nvPr/>
        </p:nvSpPr>
        <p:spPr>
          <a:xfrm>
            <a:off x="457200" y="1755648"/>
            <a:ext cx="3931920" cy="1719072"/>
          </a:xfrm>
          <a:prstGeom prst="rect">
            <a:avLst/>
          </a:prstGeom>
          <a:solidFill>
            <a:srgbClr val="F2F6FC"/>
          </a:solidFill>
          <a:ln w="9525">
            <a:solidFill>
              <a:srgbClr val="D5DCEA"/>
            </a:solidFill>
            <a:prstDash val="solid"/>
          </a:ln>
        </p:spPr>
      </p:sp>
      <p:sp>
        <p:nvSpPr>
          <p:cNvPr id="8" name="Text 5"/>
          <p:cNvSpPr/>
          <p:nvPr/>
        </p:nvSpPr>
        <p:spPr>
          <a:xfrm>
            <a:off x="548640" y="1828800"/>
            <a:ext cx="3749040" cy="159105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Turning from idols was the condition for salvation</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Clean up first, then qualify for grace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No one still wrestling with an idol could have assurance</a:t>
            </a:r>
            <a:endParaRPr lang="en-US" sz="1250" dirty="0"/>
          </a:p>
        </p:txBody>
      </p:sp>
      <p:sp>
        <p:nvSpPr>
          <p:cNvPr id="9" name="Shape 6"/>
          <p:cNvSpPr/>
          <p:nvPr/>
        </p:nvSpPr>
        <p:spPr>
          <a:xfrm>
            <a:off x="4754880" y="1188720"/>
            <a:ext cx="3931920" cy="566928"/>
          </a:xfrm>
          <a:prstGeom prst="rect">
            <a:avLst/>
          </a:prstGeom>
          <a:solidFill>
            <a:srgbClr val="375623"/>
          </a:solidFill>
          <a:ln w="12700">
            <a:solidFill>
              <a:srgbClr val="375623"/>
            </a:solidFill>
            <a:prstDash val="solid"/>
          </a:ln>
        </p:spPr>
      </p:sp>
      <p:sp>
        <p:nvSpPr>
          <p:cNvPr id="10" name="Text 7"/>
          <p:cNvSpPr/>
          <p:nvPr/>
        </p:nvSpPr>
        <p:spPr>
          <a:xfrm>
            <a:off x="4846320" y="1234440"/>
            <a:ext cx="374904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What the verse says  ✓</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ἐπεστρέψατε → δουλεύειν</a:t>
            </a:r>
            <a:pPr indent="0" marL="0">
              <a:buNone/>
            </a:pPr>
            <a:r>
              <a:rPr lang="en-US" sz="850" dirty="0">
                <a:solidFill>
                  <a:srgbClr val="DCE4F2"/>
                </a:solidFill>
                <a:latin typeface="Arial" pitchFamily="34" charset="0"/>
                <a:ea typeface="Arial" pitchFamily="34" charset="-122"/>
                <a:cs typeface="Arial" pitchFamily="34" charset="-120"/>
              </a:rPr>
              <a:t>  turned → to serve</a:t>
            </a:r>
            <a:endParaRPr lang="en-US" sz="1200" dirty="0"/>
          </a:p>
        </p:txBody>
      </p:sp>
      <p:sp>
        <p:nvSpPr>
          <p:cNvPr id="11" name="Shape 8"/>
          <p:cNvSpPr/>
          <p:nvPr/>
        </p:nvSpPr>
        <p:spPr>
          <a:xfrm>
            <a:off x="4754880" y="1755648"/>
            <a:ext cx="3931920" cy="1719072"/>
          </a:xfrm>
          <a:prstGeom prst="rect">
            <a:avLst/>
          </a:prstGeom>
          <a:solidFill>
            <a:srgbClr val="F2F6FC"/>
          </a:solidFill>
          <a:ln w="9525">
            <a:solidFill>
              <a:srgbClr val="D5DCEA"/>
            </a:solidFill>
            <a:prstDash val="solid"/>
          </a:ln>
        </p:spPr>
      </p:sp>
      <p:sp>
        <p:nvSpPr>
          <p:cNvPr id="12" name="Text 9"/>
          <p:cNvSpPr/>
          <p:nvPr/>
        </p:nvSpPr>
        <p:spPr>
          <a:xfrm>
            <a:off x="4846320" y="1828800"/>
            <a:ext cx="3749040" cy="159105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Turned to God — living and true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From idols — what followed necessarily</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To serve — the fruit of salvation, not its price</a:t>
            </a:r>
            <a:endParaRPr lang="en-US" sz="1250" dirty="0"/>
          </a:p>
        </p:txBody>
      </p:sp>
      <p:sp>
        <p:nvSpPr>
          <p:cNvPr id="13" name="Text 10"/>
          <p:cNvSpPr/>
          <p:nvPr/>
        </p:nvSpPr>
        <p:spPr>
          <a:xfrm>
            <a:off x="4389120" y="2148840"/>
            <a:ext cx="365760" cy="365760"/>
          </a:xfrm>
          <a:prstGeom prst="rect">
            <a:avLst/>
          </a:prstGeom>
          <a:noFill/>
          <a:ln/>
        </p:spPr>
        <p:txBody>
          <a:bodyPr wrap="square" lIns="0" tIns="0" rIns="0" bIns="0" rtlCol="0" anchor="ctr"/>
          <a:lstStyle/>
          <a:p>
            <a:pPr algn="ctr" indent="0" marL="0">
              <a:buNone/>
            </a:pPr>
            <a:r>
              <a:rPr lang="en-US" sz="1100" b="1" dirty="0">
                <a:solidFill>
                  <a:srgbClr val="6B7280"/>
                </a:solidFill>
                <a:latin typeface="Arial" pitchFamily="34" charset="0"/>
                <a:ea typeface="Arial" pitchFamily="34" charset="-122"/>
                <a:cs typeface="Arial" pitchFamily="34" charset="-120"/>
              </a:rPr>
              <a:t>vs</a:t>
            </a:r>
            <a:endParaRPr lang="en-US" sz="1100" dirty="0"/>
          </a:p>
        </p:txBody>
      </p:sp>
      <p:sp>
        <p:nvSpPr>
          <p:cNvPr id="14" name="Shape 11"/>
          <p:cNvSpPr/>
          <p:nvPr/>
        </p:nvSpPr>
        <p:spPr>
          <a:xfrm>
            <a:off x="457200" y="3703320"/>
            <a:ext cx="8229600" cy="822960"/>
          </a:xfrm>
          <a:prstGeom prst="roundRect">
            <a:avLst>
              <a:gd name="adj" fmla="val 6667"/>
            </a:avLst>
          </a:prstGeom>
          <a:solidFill>
            <a:srgbClr val="1F3864"/>
          </a:solidFill>
          <a:ln w="12700">
            <a:solidFill>
              <a:srgbClr val="1F3864"/>
            </a:solidFill>
            <a:prstDash val="solid"/>
          </a:ln>
        </p:spPr>
      </p:sp>
      <p:sp>
        <p:nvSpPr>
          <p:cNvPr id="15" name="Text 12"/>
          <p:cNvSpPr/>
          <p:nvPr/>
        </p:nvSpPr>
        <p:spPr>
          <a:xfrm>
            <a:off x="621792" y="3703320"/>
            <a:ext cx="7900416" cy="82296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They didn’t turn from idols to be saved. They turned from idols because they had been saved. Don’t confuse description with condition.</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Rapture · Resurrection · Rescue</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1:10 · III.A–C — The gospel in prospect</a:t>
            </a:r>
            <a:endParaRPr lang="en-US" sz="1200" dirty="0"/>
          </a:p>
        </p:txBody>
      </p:sp>
      <p:sp>
        <p:nvSpPr>
          <p:cNvPr id="5" name="Shape 2"/>
          <p:cNvSpPr/>
          <p:nvPr/>
        </p:nvSpPr>
        <p:spPr>
          <a:xfrm>
            <a:off x="457200" y="1188720"/>
            <a:ext cx="2499360" cy="566928"/>
          </a:xfrm>
          <a:prstGeom prst="rect">
            <a:avLst/>
          </a:prstGeom>
          <a:solidFill>
            <a:srgbClr val="2E5496"/>
          </a:solidFill>
          <a:ln w="12700">
            <a:solidFill>
              <a:srgbClr val="2E5496"/>
            </a:solidFill>
            <a:prstDash val="solid"/>
          </a:ln>
        </p:spPr>
      </p:sp>
      <p:sp>
        <p:nvSpPr>
          <p:cNvPr id="6" name="Text 3"/>
          <p:cNvSpPr/>
          <p:nvPr/>
        </p:nvSpPr>
        <p:spPr>
          <a:xfrm>
            <a:off x="548640" y="1234440"/>
            <a:ext cx="2316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Rapture · 10a</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ἀναμένειν</a:t>
            </a:r>
            <a:pPr indent="0" marL="0">
              <a:buNone/>
            </a:pPr>
            <a:r>
              <a:rPr lang="en-US" sz="850" dirty="0">
                <a:solidFill>
                  <a:srgbClr val="DCE4F2"/>
                </a:solidFill>
                <a:latin typeface="Arial" pitchFamily="34" charset="0"/>
                <a:ea typeface="Arial" pitchFamily="34" charset="-122"/>
                <a:cs typeface="Arial" pitchFamily="34" charset="-120"/>
              </a:rPr>
              <a:t>  to wait for · G362</a:t>
            </a:r>
            <a:endParaRPr lang="en-US" sz="1200" dirty="0"/>
          </a:p>
        </p:txBody>
      </p:sp>
      <p:sp>
        <p:nvSpPr>
          <p:cNvPr id="7" name="Shape 4"/>
          <p:cNvSpPr/>
          <p:nvPr/>
        </p:nvSpPr>
        <p:spPr>
          <a:xfrm>
            <a:off x="457200" y="1755648"/>
            <a:ext cx="2499360" cy="1764792"/>
          </a:xfrm>
          <a:prstGeom prst="rect">
            <a:avLst/>
          </a:prstGeom>
          <a:solidFill>
            <a:srgbClr val="F2F6FC"/>
          </a:solidFill>
          <a:ln w="9525">
            <a:solidFill>
              <a:srgbClr val="D5DCEA"/>
            </a:solidFill>
            <a:prstDash val="solid"/>
          </a:ln>
        </p:spPr>
      </p:sp>
      <p:sp>
        <p:nvSpPr>
          <p:cNvPr id="8" name="Text 5"/>
          <p:cNvSpPr/>
          <p:nvPr/>
        </p:nvSpPr>
        <p:spPr>
          <a:xfrm>
            <a:off x="548640" y="1828800"/>
            <a:ext cx="2316480" cy="163677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“His Son from heaven”</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No sign attached (John 14:3)</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Present tense: a lifestyle of readiness</a:t>
            </a:r>
            <a:endParaRPr lang="en-US" sz="1250" dirty="0"/>
          </a:p>
        </p:txBody>
      </p:sp>
      <p:sp>
        <p:nvSpPr>
          <p:cNvPr id="9" name="Shape 6"/>
          <p:cNvSpPr/>
          <p:nvPr/>
        </p:nvSpPr>
        <p:spPr>
          <a:xfrm>
            <a:off x="3020568" y="2235708"/>
            <a:ext cx="237744" cy="237744"/>
          </a:xfrm>
          <a:prstGeom prst="rightArrow">
            <a:avLst/>
          </a:prstGeom>
          <a:solidFill>
            <a:srgbClr val="6B7280"/>
          </a:solidFill>
          <a:ln w="12700">
            <a:solidFill>
              <a:srgbClr val="6B7280"/>
            </a:solidFill>
            <a:prstDash val="solid"/>
          </a:ln>
        </p:spPr>
      </p:sp>
      <p:sp>
        <p:nvSpPr>
          <p:cNvPr id="10" name="Shape 7"/>
          <p:cNvSpPr/>
          <p:nvPr/>
        </p:nvSpPr>
        <p:spPr>
          <a:xfrm>
            <a:off x="3322320" y="1188720"/>
            <a:ext cx="2499360" cy="566928"/>
          </a:xfrm>
          <a:prstGeom prst="rect">
            <a:avLst/>
          </a:prstGeom>
          <a:solidFill>
            <a:srgbClr val="2E5496"/>
          </a:solidFill>
          <a:ln w="12700">
            <a:solidFill>
              <a:srgbClr val="2E5496"/>
            </a:solidFill>
            <a:prstDash val="solid"/>
          </a:ln>
        </p:spPr>
      </p:sp>
      <p:sp>
        <p:nvSpPr>
          <p:cNvPr id="11" name="Text 8"/>
          <p:cNvSpPr/>
          <p:nvPr/>
        </p:nvSpPr>
        <p:spPr>
          <a:xfrm>
            <a:off x="3413760" y="1234440"/>
            <a:ext cx="2316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Resurrection · 10b</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“whom He raised”</a:t>
            </a:r>
            <a:pPr indent="0" marL="0">
              <a:buNone/>
            </a:pPr>
            <a:r>
              <a:rPr lang="en-US" sz="850" dirty="0">
                <a:solidFill>
                  <a:srgbClr val="DCE4F2"/>
                </a:solidFill>
                <a:latin typeface="Arial" pitchFamily="34" charset="0"/>
                <a:ea typeface="Arial" pitchFamily="34" charset="-122"/>
                <a:cs typeface="Arial" pitchFamily="34" charset="-120"/>
              </a:rPr>
              <a:t>  from the dead</a:t>
            </a:r>
            <a:endParaRPr lang="en-US" sz="1200" dirty="0"/>
          </a:p>
        </p:txBody>
      </p:sp>
      <p:sp>
        <p:nvSpPr>
          <p:cNvPr id="12" name="Shape 9"/>
          <p:cNvSpPr/>
          <p:nvPr/>
        </p:nvSpPr>
        <p:spPr>
          <a:xfrm>
            <a:off x="3322320" y="1755648"/>
            <a:ext cx="2499360" cy="1764792"/>
          </a:xfrm>
          <a:prstGeom prst="rect">
            <a:avLst/>
          </a:prstGeom>
          <a:solidFill>
            <a:srgbClr val="F2F6FC"/>
          </a:solidFill>
          <a:ln w="9525">
            <a:solidFill>
              <a:srgbClr val="D5DCEA"/>
            </a:solidFill>
            <a:prstDash val="solid"/>
          </a:ln>
        </p:spPr>
      </p:sp>
      <p:sp>
        <p:nvSpPr>
          <p:cNvPr id="13" name="Text 10"/>
          <p:cNvSpPr/>
          <p:nvPr/>
        </p:nvSpPr>
        <p:spPr>
          <a:xfrm>
            <a:off x="3413760" y="1828800"/>
            <a:ext cx="2316480" cy="163677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Proof that the “living God” is living</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 hinge the whole hope swings on</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Not aspiration — inheritance</a:t>
            </a:r>
            <a:endParaRPr lang="en-US" sz="1250" dirty="0"/>
          </a:p>
        </p:txBody>
      </p:sp>
      <p:sp>
        <p:nvSpPr>
          <p:cNvPr id="14" name="Shape 11"/>
          <p:cNvSpPr/>
          <p:nvPr/>
        </p:nvSpPr>
        <p:spPr>
          <a:xfrm>
            <a:off x="5885688" y="2235708"/>
            <a:ext cx="237744" cy="237744"/>
          </a:xfrm>
          <a:prstGeom prst="rightArrow">
            <a:avLst/>
          </a:prstGeom>
          <a:solidFill>
            <a:srgbClr val="6B7280"/>
          </a:solidFill>
          <a:ln w="12700">
            <a:solidFill>
              <a:srgbClr val="6B7280"/>
            </a:solidFill>
            <a:prstDash val="solid"/>
          </a:ln>
        </p:spPr>
      </p:sp>
      <p:sp>
        <p:nvSpPr>
          <p:cNvPr id="15" name="Shape 12"/>
          <p:cNvSpPr/>
          <p:nvPr/>
        </p:nvSpPr>
        <p:spPr>
          <a:xfrm>
            <a:off x="6187440" y="1188720"/>
            <a:ext cx="2499360" cy="566928"/>
          </a:xfrm>
          <a:prstGeom prst="rect">
            <a:avLst/>
          </a:prstGeom>
          <a:solidFill>
            <a:srgbClr val="375623"/>
          </a:solidFill>
          <a:ln w="12700">
            <a:solidFill>
              <a:srgbClr val="375623"/>
            </a:solidFill>
            <a:prstDash val="solid"/>
          </a:ln>
        </p:spPr>
      </p:sp>
      <p:sp>
        <p:nvSpPr>
          <p:cNvPr id="16" name="Text 13"/>
          <p:cNvSpPr/>
          <p:nvPr/>
        </p:nvSpPr>
        <p:spPr>
          <a:xfrm>
            <a:off x="6278880" y="1234440"/>
            <a:ext cx="2316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Rescue · 10c</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ὀργῆς</a:t>
            </a:r>
            <a:pPr indent="0" marL="0">
              <a:buNone/>
            </a:pPr>
            <a:r>
              <a:rPr lang="en-US" sz="850" dirty="0">
                <a:solidFill>
                  <a:srgbClr val="DCE4F2"/>
                </a:solidFill>
                <a:latin typeface="Arial" pitchFamily="34" charset="0"/>
                <a:ea typeface="Arial" pitchFamily="34" charset="-122"/>
                <a:cs typeface="Arial" pitchFamily="34" charset="-120"/>
              </a:rPr>
              <a:t>  wrath · G3709</a:t>
            </a:r>
            <a:endParaRPr lang="en-US" sz="1200" dirty="0"/>
          </a:p>
        </p:txBody>
      </p:sp>
      <p:sp>
        <p:nvSpPr>
          <p:cNvPr id="17" name="Shape 14"/>
          <p:cNvSpPr/>
          <p:nvPr/>
        </p:nvSpPr>
        <p:spPr>
          <a:xfrm>
            <a:off x="6187440" y="1755648"/>
            <a:ext cx="2499360" cy="1764792"/>
          </a:xfrm>
          <a:prstGeom prst="rect">
            <a:avLst/>
          </a:prstGeom>
          <a:solidFill>
            <a:srgbClr val="F2F6FC"/>
          </a:solidFill>
          <a:ln w="9525">
            <a:solidFill>
              <a:srgbClr val="D5DCEA"/>
            </a:solidFill>
            <a:prstDash val="solid"/>
          </a:ln>
        </p:spPr>
      </p:sp>
      <p:sp>
        <p:nvSpPr>
          <p:cNvPr id="18" name="Text 15"/>
          <p:cNvSpPr/>
          <p:nvPr/>
        </p:nvSpPr>
        <p:spPr>
          <a:xfrm>
            <a:off x="6278880" y="1828800"/>
            <a:ext cx="2316480" cy="163677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“Who delivers us from the wrath to come”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An earthly outpouring — the tribulation</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Removed before it, not through it</a:t>
            </a:r>
            <a:endParaRPr lang="en-US" sz="1250" dirty="0"/>
          </a:p>
        </p:txBody>
      </p:sp>
      <p:sp>
        <p:nvSpPr>
          <p:cNvPr id="19" name="Shape 16"/>
          <p:cNvSpPr/>
          <p:nvPr/>
        </p:nvSpPr>
        <p:spPr>
          <a:xfrm>
            <a:off x="457200" y="3703320"/>
            <a:ext cx="8229600" cy="868680"/>
          </a:xfrm>
          <a:prstGeom prst="roundRect">
            <a:avLst>
              <a:gd name="adj" fmla="val 6316"/>
            </a:avLst>
          </a:prstGeom>
          <a:solidFill>
            <a:srgbClr val="1F3864"/>
          </a:solidFill>
          <a:ln w="12700">
            <a:solidFill>
              <a:srgbClr val="1F3864"/>
            </a:solidFill>
            <a:prstDash val="solid"/>
          </a:ln>
        </p:spPr>
      </p:sp>
      <p:sp>
        <p:nvSpPr>
          <p:cNvPr id="20" name="Text 17"/>
          <p:cNvSpPr/>
          <p:nvPr/>
        </p:nvSpPr>
        <p:spPr>
          <a:xfrm>
            <a:off x="621792" y="3703320"/>
            <a:ext cx="7900416" cy="86868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Christmas decorations in November tell you Thanksgiving is close — because Thanksgiving always comes first. Signs of the Second Coming tell us the Rapture is close.</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Discuss and apply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1:6–10 · from the study's posted questions and applications</a:t>
            </a:r>
            <a:endParaRPr lang="en-US" sz="1200" dirty="0"/>
          </a:p>
        </p:txBody>
      </p:sp>
      <p:sp>
        <p:nvSpPr>
          <p:cNvPr id="5" name="Shape 2"/>
          <p:cNvSpPr/>
          <p:nvPr/>
        </p:nvSpPr>
        <p:spPr>
          <a:xfrm>
            <a:off x="457200" y="1115568"/>
            <a:ext cx="4023360" cy="384048"/>
          </a:xfrm>
          <a:prstGeom prst="rect">
            <a:avLst/>
          </a:prstGeom>
          <a:solidFill>
            <a:srgbClr val="2E5496"/>
          </a:solidFill>
          <a:ln w="12700">
            <a:solidFill>
              <a:srgbClr val="2E5496"/>
            </a:solidFill>
            <a:prstDash val="solid"/>
          </a:ln>
        </p:spPr>
      </p:sp>
      <p:sp>
        <p:nvSpPr>
          <p:cNvPr id="6" name="Text 3"/>
          <p:cNvSpPr/>
          <p:nvPr/>
        </p:nvSpPr>
        <p:spPr>
          <a:xfrm>
            <a:off x="56692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Discuss</a:t>
            </a:r>
            <a:endParaRPr lang="en-US" sz="1300" dirty="0"/>
          </a:p>
        </p:txBody>
      </p:sp>
      <p:sp>
        <p:nvSpPr>
          <p:cNvPr id="7" name="Shape 4"/>
          <p:cNvSpPr/>
          <p:nvPr/>
        </p:nvSpPr>
        <p:spPr>
          <a:xfrm>
            <a:off x="457200" y="1499616"/>
            <a:ext cx="4023360" cy="2359152"/>
          </a:xfrm>
          <a:prstGeom prst="rect">
            <a:avLst/>
          </a:prstGeom>
          <a:solidFill>
            <a:srgbClr val="F2F6FC"/>
          </a:solidFill>
          <a:ln w="9525">
            <a:solidFill>
              <a:srgbClr val="D5DCEA"/>
            </a:solidFill>
            <a:prstDash val="solid"/>
          </a:ln>
        </p:spPr>
      </p:sp>
      <p:sp>
        <p:nvSpPr>
          <p:cNvPr id="8" name="Shape 5"/>
          <p:cNvSpPr/>
          <p:nvPr/>
        </p:nvSpPr>
        <p:spPr>
          <a:xfrm>
            <a:off x="4663440" y="1115568"/>
            <a:ext cx="4023360" cy="384048"/>
          </a:xfrm>
          <a:prstGeom prst="rect">
            <a:avLst/>
          </a:prstGeom>
          <a:solidFill>
            <a:srgbClr val="375623"/>
          </a:solidFill>
          <a:ln w="12700">
            <a:solidFill>
              <a:srgbClr val="375623"/>
            </a:solidFill>
            <a:prstDash val="solid"/>
          </a:ln>
        </p:spPr>
      </p:sp>
      <p:sp>
        <p:nvSpPr>
          <p:cNvPr id="9" name="Text 6"/>
          <p:cNvSpPr/>
          <p:nvPr/>
        </p:nvSpPr>
        <p:spPr>
          <a:xfrm>
            <a:off x="477316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Apply</a:t>
            </a:r>
            <a:endParaRPr lang="en-US" sz="1300" dirty="0"/>
          </a:p>
        </p:txBody>
      </p:sp>
      <p:sp>
        <p:nvSpPr>
          <p:cNvPr id="10" name="Shape 7"/>
          <p:cNvSpPr/>
          <p:nvPr/>
        </p:nvSpPr>
        <p:spPr>
          <a:xfrm>
            <a:off x="4663440" y="1499616"/>
            <a:ext cx="4023360" cy="2359152"/>
          </a:xfrm>
          <a:prstGeom prst="rect">
            <a:avLst/>
          </a:prstGeom>
          <a:solidFill>
            <a:srgbClr val="F2F6FC"/>
          </a:solidFill>
          <a:ln w="9525">
            <a:solidFill>
              <a:srgbClr val="D5DCEA"/>
            </a:solidFill>
            <a:prstDash val="solid"/>
          </a:ln>
        </p:spPr>
      </p:sp>
      <p:sp>
        <p:nvSpPr>
          <p:cNvPr id="11" name="Shape 8"/>
          <p:cNvSpPr/>
          <p:nvPr/>
        </p:nvSpPr>
        <p:spPr>
          <a:xfrm>
            <a:off x="566928" y="1636776"/>
            <a:ext cx="347472" cy="347472"/>
          </a:xfrm>
          <a:prstGeom prst="ellipse">
            <a:avLst/>
          </a:prstGeom>
          <a:solidFill>
            <a:srgbClr val="2E5496"/>
          </a:solidFill>
          <a:ln w="12700">
            <a:solidFill>
              <a:srgbClr val="2E5496"/>
            </a:solidFill>
            <a:prstDash val="solid"/>
          </a:ln>
        </p:spPr>
      </p:sp>
      <p:sp>
        <p:nvSpPr>
          <p:cNvPr id="12" name="Text 9"/>
          <p:cNvSpPr/>
          <p:nvPr/>
        </p:nvSpPr>
        <p:spPr>
          <a:xfrm>
            <a:off x="566928" y="16367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3" name="Text 10"/>
          <p:cNvSpPr/>
          <p:nvPr/>
        </p:nvSpPr>
        <p:spPr>
          <a:xfrm>
            <a:off x="1005840" y="1591056"/>
            <a:ext cx="3364992" cy="1042416"/>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Verse 9 says they “turned to God from idols to serve the living and true God.” Why does the order matter, and why is turning from idols not the condition for salvation?</a:t>
            </a:r>
            <a:endParaRPr lang="en-US" sz="1250" dirty="0"/>
          </a:p>
        </p:txBody>
      </p:sp>
      <p:sp>
        <p:nvSpPr>
          <p:cNvPr id="14" name="Shape 11"/>
          <p:cNvSpPr/>
          <p:nvPr/>
        </p:nvSpPr>
        <p:spPr>
          <a:xfrm>
            <a:off x="566928" y="2724912"/>
            <a:ext cx="347472" cy="347472"/>
          </a:xfrm>
          <a:prstGeom prst="ellipse">
            <a:avLst/>
          </a:prstGeom>
          <a:solidFill>
            <a:srgbClr val="2E5496"/>
          </a:solidFill>
          <a:ln w="12700">
            <a:solidFill>
              <a:srgbClr val="2E5496"/>
            </a:solidFill>
            <a:prstDash val="solid"/>
          </a:ln>
        </p:spPr>
      </p:sp>
      <p:sp>
        <p:nvSpPr>
          <p:cNvPr id="15" name="Text 12"/>
          <p:cNvSpPr/>
          <p:nvPr/>
        </p:nvSpPr>
        <p:spPr>
          <a:xfrm>
            <a:off x="566928" y="272491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6" name="Text 13"/>
          <p:cNvSpPr/>
          <p:nvPr/>
        </p:nvSpPr>
        <p:spPr>
          <a:xfrm>
            <a:off x="1005840" y="2679192"/>
            <a:ext cx="3364992" cy="1042416"/>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The Thessalonians waited for Christ with no sign attached (1:10). How does a signless, any-moment hope change the way a believer lives day to day?</a:t>
            </a:r>
            <a:endParaRPr lang="en-US" sz="1250" dirty="0"/>
          </a:p>
        </p:txBody>
      </p:sp>
      <p:sp>
        <p:nvSpPr>
          <p:cNvPr id="17" name="Text 14"/>
          <p:cNvSpPr/>
          <p:nvPr/>
        </p:nvSpPr>
        <p:spPr>
          <a:xfrm>
            <a:off x="4791456" y="1591056"/>
            <a:ext cx="3767328" cy="1042416"/>
          </a:xfrm>
          <a:prstGeom prst="rect">
            <a:avLst/>
          </a:prstGeom>
          <a:noFill/>
          <a:ln/>
        </p:spPr>
        <p:txBody>
          <a:bodyPr wrap="square" lIns="0" tIns="0" rIns="0" bIns="0" rtlCol="0" anchor="t"/>
          <a:lstStyle/>
          <a:p>
            <a:pPr indent="0" marL="0">
              <a:buNone/>
            </a:pPr>
            <a:r>
              <a:rPr lang="en-US" sz="1250" b="1" dirty="0">
                <a:solidFill>
                  <a:srgbClr val="1F3864"/>
                </a:solidFill>
                <a:latin typeface="Arial" pitchFamily="34" charset="0"/>
                <a:ea typeface="Arial" pitchFamily="34" charset="-122"/>
                <a:cs typeface="Arial" pitchFamily="34" charset="-120"/>
              </a:rPr>
              <a:t>Become Someone Worth Imitating</a:t>
            </a:r>
            <a:endParaRPr lang="en-US" sz="1250" dirty="0"/>
          </a:p>
          <a:p>
            <a:pPr indent="0" marL="0">
              <a:buNone/>
            </a:pPr>
            <a:r>
              <a:rPr lang="en-US" sz="1200" dirty="0">
                <a:solidFill>
                  <a:srgbClr val="262626"/>
                </a:solidFill>
                <a:latin typeface="Arial" pitchFamily="34" charset="0"/>
                <a:ea typeface="Arial" pitchFamily="34" charset="-122"/>
                <a:cs typeface="Arial" pitchFamily="34" charset="-120"/>
              </a:rPr>
              <a:t>Name one person who may be imitating you, and have one honest conversation about following Christ, not just you.</a:t>
            </a:r>
            <a:endParaRPr lang="en-US" sz="1250" dirty="0"/>
          </a:p>
        </p:txBody>
      </p:sp>
      <p:sp>
        <p:nvSpPr>
          <p:cNvPr id="18" name="Text 15"/>
          <p:cNvSpPr/>
          <p:nvPr/>
        </p:nvSpPr>
        <p:spPr>
          <a:xfrm>
            <a:off x="4791456" y="2679192"/>
            <a:ext cx="3767328" cy="1042416"/>
          </a:xfrm>
          <a:prstGeom prst="rect">
            <a:avLst/>
          </a:prstGeom>
          <a:noFill/>
          <a:ln/>
        </p:spPr>
        <p:txBody>
          <a:bodyPr wrap="square" lIns="0" tIns="0" rIns="0" bIns="0" rtlCol="0" anchor="t"/>
          <a:lstStyle/>
          <a:p>
            <a:pPr indent="0" marL="0">
              <a:buNone/>
            </a:pPr>
            <a:r>
              <a:rPr lang="en-US" sz="1250" b="1" dirty="0">
                <a:solidFill>
                  <a:srgbClr val="1F3864"/>
                </a:solidFill>
                <a:latin typeface="Arial" pitchFamily="34" charset="0"/>
                <a:ea typeface="Arial" pitchFamily="34" charset="-122"/>
                <a:cs typeface="Arial" pitchFamily="34" charset="-120"/>
              </a:rPr>
              <a:t>Live Ready, Not Anxious</a:t>
            </a:r>
            <a:endParaRPr lang="en-US" sz="1250" dirty="0"/>
          </a:p>
          <a:p>
            <a:pPr indent="0" marL="0">
              <a:buNone/>
            </a:pPr>
            <a:r>
              <a:rPr lang="en-US" sz="1200" dirty="0">
                <a:solidFill>
                  <a:srgbClr val="262626"/>
                </a:solidFill>
                <a:latin typeface="Arial" pitchFamily="34" charset="0"/>
                <a:ea typeface="Arial" pitchFamily="34" charset="-122"/>
                <a:cs typeface="Arial" pitchFamily="34" charset="-120"/>
              </a:rPr>
              <a:t>Choose one responsibility you’d want to be found tending if Christ returned this week, and give it deliberate attention.</a:t>
            </a:r>
            <a:endParaRPr lang="en-US" sz="1250" dirty="0"/>
          </a:p>
        </p:txBody>
      </p:sp>
      <p:sp>
        <p:nvSpPr>
          <p:cNvPr id="19" name="Shape 16"/>
          <p:cNvSpPr/>
          <p:nvPr/>
        </p:nvSpPr>
        <p:spPr>
          <a:xfrm>
            <a:off x="457200" y="4023360"/>
            <a:ext cx="8229600" cy="566928"/>
          </a:xfrm>
          <a:prstGeom prst="roundRect">
            <a:avLst>
              <a:gd name="adj" fmla="val 9677"/>
            </a:avLst>
          </a:prstGeom>
          <a:solidFill>
            <a:srgbClr val="1F3864"/>
          </a:solidFill>
          <a:ln w="12700">
            <a:solidFill>
              <a:srgbClr val="1F3864"/>
            </a:solidFill>
            <a:prstDash val="solid"/>
          </a:ln>
        </p:spPr>
      </p:sp>
      <p:sp>
        <p:nvSpPr>
          <p:cNvPr id="20" name="Text 17"/>
          <p:cNvSpPr/>
          <p:nvPr/>
        </p:nvSpPr>
        <p:spPr>
          <a:xfrm>
            <a:off x="621792" y="4023360"/>
            <a:ext cx="7900416" cy="566928"/>
          </a:xfrm>
          <a:prstGeom prst="rect">
            <a:avLst/>
          </a:prstGeom>
          <a:noFill/>
          <a:ln/>
        </p:spPr>
        <p:txBody>
          <a:bodyPr wrap="square" lIns="0" tIns="0" rIns="0" bIns="0" rtlCol="0" anchor="ctr"/>
          <a:lstStyle/>
          <a:p>
            <a:pPr indent="0" marL="0">
              <a:buNone/>
            </a:pPr>
            <a:r>
              <a:rPr lang="en-US" sz="1200" b="1" dirty="0">
                <a:solidFill>
                  <a:srgbClr val="C9D5EE"/>
                </a:solidFill>
                <a:latin typeface="Arial" pitchFamily="34" charset="0"/>
                <a:ea typeface="Arial" pitchFamily="34" charset="-122"/>
                <a:cs typeface="Arial" pitchFamily="34" charset="-120"/>
              </a:rPr>
              <a:t>In one line:  </a:t>
            </a:r>
            <a:pPr indent="0" marL="0">
              <a:buNone/>
            </a:pPr>
            <a:r>
              <a:rPr lang="en-US" sz="1200" dirty="0">
                <a:solidFill>
                  <a:srgbClr val="FFFFFF"/>
                </a:solidFill>
                <a:latin typeface="Arial" pitchFamily="34" charset="0"/>
                <a:ea typeface="Arial" pitchFamily="34" charset="-122"/>
                <a:cs typeface="Arial" pitchFamily="34" charset="-120"/>
              </a:rPr>
              <a:t>Live the gospel so it is worth imitating, speak it so it echoes past you, and wait for the Son who is coming.</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nchor="ctr"/>
          <a:lstStyle/>
          <a:p>
            <a:pPr indent="0" marL="0">
              <a:buNone/>
            </a:pPr>
            <a:r>
              <a:rPr lang="en-US" sz="1400" dirty="0">
                <a:solidFill>
                  <a:srgbClr val="C9D5EE"/>
                </a:solidFill>
                <a:latin typeface="Arial" pitchFamily="34" charset="0"/>
                <a:ea typeface="Arial" pitchFamily="34" charset="-122"/>
                <a:cs typeface="Arial" pitchFamily="34" charset="-120"/>
              </a:rPr>
              <a:t>Study 3 of 10 · 1 Thessalonians 2:1–12</a:t>
            </a: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lIns="0" tIns="0" rIns="0" bIns="0" rtlCol="0" anchor="ctr"/>
          <a:lstStyle/>
          <a:p>
            <a:pPr algn="l" indent="0" marL="0">
              <a:buNone/>
            </a:pPr>
            <a:r>
              <a:rPr lang="en-US" sz="3400" b="1" dirty="0">
                <a:solidFill>
                  <a:srgbClr val="FFFFFF"/>
                </a:solidFill>
                <a:latin typeface="Arial" pitchFamily="34" charset="0"/>
                <a:ea typeface="Arial" pitchFamily="34" charset="-122"/>
                <a:cs typeface="Arial" pitchFamily="34" charset="-120"/>
              </a:rPr>
              <a:t>Delivering the Gospel</a:t>
            </a: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lIns="0" tIns="0" rIns="0" bIns="0" rtlCol="0" anchor="ctr"/>
          <a:lstStyle/>
          <a:p>
            <a:pPr indent="0" marL="0">
              <a:buNone/>
            </a:pPr>
            <a:r>
              <a:rPr lang="en-US" sz="1500" i="1" dirty="0">
                <a:solidFill>
                  <a:srgbClr val="E6ECF7"/>
                </a:solidFill>
                <a:latin typeface="Arial" pitchFamily="34" charset="0"/>
                <a:ea typeface="Arial" pitchFamily="34" charset="-122"/>
                <a:cs typeface="Arial" pitchFamily="34" charset="-120"/>
              </a:rPr>
              <a:t>Paul is not writing autobiography; he is defending his ministry — and in doing so paints a master class in delivering the gospel faithfully. Are you carrying the gospel, or getting in its way?</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Delivering the gospel, verse by verse</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2:1–12 · Outline I–II</a:t>
            </a:r>
            <a:endParaRPr lang="en-US" sz="1200" dirty="0"/>
          </a:p>
        </p:txBody>
      </p:sp>
      <p:sp>
        <p:nvSpPr>
          <p:cNvPr id="5" name="Shape 2"/>
          <p:cNvSpPr/>
          <p:nvPr/>
        </p:nvSpPr>
        <p:spPr>
          <a:xfrm>
            <a:off x="457200" y="1115568"/>
            <a:ext cx="777240" cy="457200"/>
          </a:xfrm>
          <a:prstGeom prst="rect">
            <a:avLst/>
          </a:prstGeom>
          <a:solidFill>
            <a:srgbClr val="2E5496"/>
          </a:solidFill>
          <a:ln w="12700">
            <a:solidFill>
              <a:srgbClr val="2E5496"/>
            </a:solidFill>
            <a:prstDash val="solid"/>
          </a:ln>
        </p:spPr>
      </p:sp>
      <p:sp>
        <p:nvSpPr>
          <p:cNvPr id="6" name="Text 3"/>
          <p:cNvSpPr/>
          <p:nvPr/>
        </p:nvSpPr>
        <p:spPr>
          <a:xfrm>
            <a:off x="457200" y="1115568"/>
            <a:ext cx="77724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a:t>
            </a:r>
            <a:endParaRPr lang="en-US" sz="1100" dirty="0"/>
          </a:p>
        </p:txBody>
      </p:sp>
      <p:sp>
        <p:nvSpPr>
          <p:cNvPr id="7" name="Shape 4"/>
          <p:cNvSpPr/>
          <p:nvPr/>
        </p:nvSpPr>
        <p:spPr>
          <a:xfrm>
            <a:off x="1234440" y="1115568"/>
            <a:ext cx="7452360" cy="457200"/>
          </a:xfrm>
          <a:prstGeom prst="rect">
            <a:avLst/>
          </a:prstGeom>
          <a:solidFill>
            <a:srgbClr val="F2F6FC"/>
          </a:solidFill>
          <a:ln w="9525">
            <a:solidFill>
              <a:srgbClr val="D5DCEA"/>
            </a:solidFill>
            <a:prstDash val="solid"/>
          </a:ln>
        </p:spPr>
      </p:sp>
      <p:sp>
        <p:nvSpPr>
          <p:cNvPr id="8" name="Text 5"/>
          <p:cNvSpPr/>
          <p:nvPr/>
        </p:nvSpPr>
        <p:spPr>
          <a:xfrm>
            <a:off x="1344168" y="1115568"/>
            <a:ext cx="4389120" cy="457200"/>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His coming — not in vain</a:t>
            </a:r>
            <a:endParaRPr lang="en-US" sz="1150" dirty="0"/>
          </a:p>
        </p:txBody>
      </p:sp>
      <p:sp>
        <p:nvSpPr>
          <p:cNvPr id="9" name="Text 6"/>
          <p:cNvSpPr/>
          <p:nvPr/>
        </p:nvSpPr>
        <p:spPr>
          <a:xfrm>
            <a:off x="5806440" y="1115568"/>
            <a:ext cx="2788920" cy="45720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κενός</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empty — a wasted trip</a:t>
            </a:r>
            <a:endParaRPr lang="en-US" sz="1300" dirty="0"/>
          </a:p>
        </p:txBody>
      </p:sp>
      <p:sp>
        <p:nvSpPr>
          <p:cNvPr id="10" name="Shape 7"/>
          <p:cNvSpPr/>
          <p:nvPr/>
        </p:nvSpPr>
        <p:spPr>
          <a:xfrm>
            <a:off x="457200" y="1627632"/>
            <a:ext cx="777240" cy="457200"/>
          </a:xfrm>
          <a:prstGeom prst="rect">
            <a:avLst/>
          </a:prstGeom>
          <a:solidFill>
            <a:srgbClr val="2E5496"/>
          </a:solidFill>
          <a:ln w="12700">
            <a:solidFill>
              <a:srgbClr val="2E5496"/>
            </a:solidFill>
            <a:prstDash val="solid"/>
          </a:ln>
        </p:spPr>
      </p:sp>
      <p:sp>
        <p:nvSpPr>
          <p:cNvPr id="11" name="Text 8"/>
          <p:cNvSpPr/>
          <p:nvPr/>
        </p:nvSpPr>
        <p:spPr>
          <a:xfrm>
            <a:off x="457200" y="1627632"/>
            <a:ext cx="77724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v.2</a:t>
            </a:r>
            <a:endParaRPr lang="en-US" sz="1100" dirty="0"/>
          </a:p>
        </p:txBody>
      </p:sp>
      <p:sp>
        <p:nvSpPr>
          <p:cNvPr id="12" name="Shape 9"/>
          <p:cNvSpPr/>
          <p:nvPr/>
        </p:nvSpPr>
        <p:spPr>
          <a:xfrm>
            <a:off x="1234440" y="1627632"/>
            <a:ext cx="7452360" cy="457200"/>
          </a:xfrm>
          <a:prstGeom prst="rect">
            <a:avLst/>
          </a:prstGeom>
          <a:solidFill>
            <a:srgbClr val="FFFFFF"/>
          </a:solidFill>
          <a:ln w="9525">
            <a:solidFill>
              <a:srgbClr val="D5DCEA"/>
            </a:solidFill>
            <a:prstDash val="solid"/>
          </a:ln>
        </p:spPr>
      </p:sp>
      <p:sp>
        <p:nvSpPr>
          <p:cNvPr id="13" name="Text 10"/>
          <p:cNvSpPr/>
          <p:nvPr/>
        </p:nvSpPr>
        <p:spPr>
          <a:xfrm>
            <a:off x="1344168" y="1627632"/>
            <a:ext cx="4389120" cy="457200"/>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His circumstance — beaten at Philippi, bold at Thessalonica</a:t>
            </a:r>
            <a:endParaRPr lang="en-US" sz="1150" dirty="0"/>
          </a:p>
        </p:txBody>
      </p:sp>
      <p:sp>
        <p:nvSpPr>
          <p:cNvPr id="14" name="Text 11"/>
          <p:cNvSpPr/>
          <p:nvPr/>
        </p:nvSpPr>
        <p:spPr>
          <a:xfrm>
            <a:off x="5806440" y="1627632"/>
            <a:ext cx="2788920" cy="45720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παρρησιάζομαι</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spoke boldly, in the open</a:t>
            </a:r>
            <a:endParaRPr lang="en-US" sz="1300" dirty="0"/>
          </a:p>
        </p:txBody>
      </p:sp>
      <p:sp>
        <p:nvSpPr>
          <p:cNvPr id="15" name="Shape 12"/>
          <p:cNvSpPr/>
          <p:nvPr/>
        </p:nvSpPr>
        <p:spPr>
          <a:xfrm>
            <a:off x="457200" y="2139696"/>
            <a:ext cx="777240" cy="457200"/>
          </a:xfrm>
          <a:prstGeom prst="rect">
            <a:avLst/>
          </a:prstGeom>
          <a:solidFill>
            <a:srgbClr val="2E5496"/>
          </a:solidFill>
          <a:ln w="12700">
            <a:solidFill>
              <a:srgbClr val="2E5496"/>
            </a:solidFill>
            <a:prstDash val="solid"/>
          </a:ln>
        </p:spPr>
      </p:sp>
      <p:sp>
        <p:nvSpPr>
          <p:cNvPr id="16" name="Text 13"/>
          <p:cNvSpPr/>
          <p:nvPr/>
        </p:nvSpPr>
        <p:spPr>
          <a:xfrm>
            <a:off x="457200" y="2139696"/>
            <a:ext cx="77724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vv.3–4</a:t>
            </a:r>
            <a:endParaRPr lang="en-US" sz="1100" dirty="0"/>
          </a:p>
        </p:txBody>
      </p:sp>
      <p:sp>
        <p:nvSpPr>
          <p:cNvPr id="17" name="Shape 14"/>
          <p:cNvSpPr/>
          <p:nvPr/>
        </p:nvSpPr>
        <p:spPr>
          <a:xfrm>
            <a:off x="1234440" y="2139696"/>
            <a:ext cx="7452360" cy="457200"/>
          </a:xfrm>
          <a:prstGeom prst="rect">
            <a:avLst/>
          </a:prstGeom>
          <a:solidFill>
            <a:srgbClr val="F2F6FC"/>
          </a:solidFill>
          <a:ln w="9525">
            <a:solidFill>
              <a:srgbClr val="D5DCEA"/>
            </a:solidFill>
            <a:prstDash val="solid"/>
          </a:ln>
        </p:spPr>
      </p:sp>
      <p:sp>
        <p:nvSpPr>
          <p:cNvPr id="18" name="Text 15"/>
          <p:cNvSpPr/>
          <p:nvPr/>
        </p:nvSpPr>
        <p:spPr>
          <a:xfrm>
            <a:off x="1344168" y="2139696"/>
            <a:ext cx="4389120" cy="457200"/>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His assertions — no error, uncleanness or deceit; approved and entrusted</a:t>
            </a:r>
            <a:endParaRPr lang="en-US" sz="1150" dirty="0"/>
          </a:p>
        </p:txBody>
      </p:sp>
      <p:sp>
        <p:nvSpPr>
          <p:cNvPr id="19" name="Text 16"/>
          <p:cNvSpPr/>
          <p:nvPr/>
        </p:nvSpPr>
        <p:spPr>
          <a:xfrm>
            <a:off x="5806440" y="2139696"/>
            <a:ext cx="2788920" cy="45720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δοκιμάζω · πιστεύω</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tested · entrusted</a:t>
            </a:r>
            <a:endParaRPr lang="en-US" sz="1300" dirty="0"/>
          </a:p>
        </p:txBody>
      </p:sp>
      <p:sp>
        <p:nvSpPr>
          <p:cNvPr id="20" name="Shape 17"/>
          <p:cNvSpPr/>
          <p:nvPr/>
        </p:nvSpPr>
        <p:spPr>
          <a:xfrm>
            <a:off x="457200" y="2651760"/>
            <a:ext cx="777240" cy="457200"/>
          </a:xfrm>
          <a:prstGeom prst="rect">
            <a:avLst/>
          </a:prstGeom>
          <a:solidFill>
            <a:srgbClr val="2E5496"/>
          </a:solidFill>
          <a:ln w="12700">
            <a:solidFill>
              <a:srgbClr val="2E5496"/>
            </a:solidFill>
            <a:prstDash val="solid"/>
          </a:ln>
        </p:spPr>
      </p:sp>
      <p:sp>
        <p:nvSpPr>
          <p:cNvPr id="21" name="Text 18"/>
          <p:cNvSpPr/>
          <p:nvPr/>
        </p:nvSpPr>
        <p:spPr>
          <a:xfrm>
            <a:off x="457200" y="2651760"/>
            <a:ext cx="77724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vv.5–6</a:t>
            </a:r>
            <a:endParaRPr lang="en-US" sz="1100" dirty="0"/>
          </a:p>
        </p:txBody>
      </p:sp>
      <p:sp>
        <p:nvSpPr>
          <p:cNvPr id="22" name="Shape 19"/>
          <p:cNvSpPr/>
          <p:nvPr/>
        </p:nvSpPr>
        <p:spPr>
          <a:xfrm>
            <a:off x="1234440" y="2651760"/>
            <a:ext cx="7452360" cy="457200"/>
          </a:xfrm>
          <a:prstGeom prst="rect">
            <a:avLst/>
          </a:prstGeom>
          <a:solidFill>
            <a:srgbClr val="FFFFFF"/>
          </a:solidFill>
          <a:ln w="9525">
            <a:solidFill>
              <a:srgbClr val="D5DCEA"/>
            </a:solidFill>
            <a:prstDash val="solid"/>
          </a:ln>
        </p:spPr>
      </p:sp>
      <p:sp>
        <p:nvSpPr>
          <p:cNvPr id="23" name="Text 20"/>
          <p:cNvSpPr/>
          <p:nvPr/>
        </p:nvSpPr>
        <p:spPr>
          <a:xfrm>
            <a:off x="1344168" y="2651760"/>
            <a:ext cx="4389120" cy="457200"/>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What he refused — guile, gain and glory</a:t>
            </a:r>
            <a:endParaRPr lang="en-US" sz="1150" dirty="0"/>
          </a:p>
        </p:txBody>
      </p:sp>
      <p:sp>
        <p:nvSpPr>
          <p:cNvPr id="24" name="Text 21"/>
          <p:cNvSpPr/>
          <p:nvPr/>
        </p:nvSpPr>
        <p:spPr>
          <a:xfrm>
            <a:off x="5806440" y="2651760"/>
            <a:ext cx="2788920" cy="45720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God is witness</a:t>
            </a:r>
            <a:endParaRPr lang="en-US" sz="1300" dirty="0"/>
          </a:p>
        </p:txBody>
      </p:sp>
      <p:sp>
        <p:nvSpPr>
          <p:cNvPr id="25" name="Shape 22"/>
          <p:cNvSpPr/>
          <p:nvPr/>
        </p:nvSpPr>
        <p:spPr>
          <a:xfrm>
            <a:off x="457200" y="3163824"/>
            <a:ext cx="777240" cy="457200"/>
          </a:xfrm>
          <a:prstGeom prst="rect">
            <a:avLst/>
          </a:prstGeom>
          <a:solidFill>
            <a:srgbClr val="2E5496"/>
          </a:solidFill>
          <a:ln w="12700">
            <a:solidFill>
              <a:srgbClr val="2E5496"/>
            </a:solidFill>
            <a:prstDash val="solid"/>
          </a:ln>
        </p:spPr>
      </p:sp>
      <p:sp>
        <p:nvSpPr>
          <p:cNvPr id="26" name="Text 23"/>
          <p:cNvSpPr/>
          <p:nvPr/>
        </p:nvSpPr>
        <p:spPr>
          <a:xfrm>
            <a:off x="457200" y="3163824"/>
            <a:ext cx="77724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vv.7–9</a:t>
            </a:r>
            <a:endParaRPr lang="en-US" sz="1100" dirty="0"/>
          </a:p>
        </p:txBody>
      </p:sp>
      <p:sp>
        <p:nvSpPr>
          <p:cNvPr id="27" name="Shape 24"/>
          <p:cNvSpPr/>
          <p:nvPr/>
        </p:nvSpPr>
        <p:spPr>
          <a:xfrm>
            <a:off x="1234440" y="3163824"/>
            <a:ext cx="7452360" cy="457200"/>
          </a:xfrm>
          <a:prstGeom prst="rect">
            <a:avLst/>
          </a:prstGeom>
          <a:solidFill>
            <a:srgbClr val="F2F6FC"/>
          </a:solidFill>
          <a:ln w="9525">
            <a:solidFill>
              <a:srgbClr val="D5DCEA"/>
            </a:solidFill>
            <a:prstDash val="solid"/>
          </a:ln>
        </p:spPr>
      </p:sp>
      <p:sp>
        <p:nvSpPr>
          <p:cNvPr id="28" name="Text 25"/>
          <p:cNvSpPr/>
          <p:nvPr/>
        </p:nvSpPr>
        <p:spPr>
          <a:xfrm>
            <a:off x="1344168" y="3163824"/>
            <a:ext cx="4389120" cy="457200"/>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What he revealed and reserved — a mother’s love; working night and day</a:t>
            </a:r>
            <a:endParaRPr lang="en-US" sz="1150" dirty="0"/>
          </a:p>
        </p:txBody>
      </p:sp>
      <p:sp>
        <p:nvSpPr>
          <p:cNvPr id="29" name="Text 26"/>
          <p:cNvSpPr/>
          <p:nvPr/>
        </p:nvSpPr>
        <p:spPr>
          <a:xfrm>
            <a:off x="5806440" y="3163824"/>
            <a:ext cx="2788920" cy="45720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τροφός</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nursing mother</a:t>
            </a:r>
            <a:endParaRPr lang="en-US" sz="1300" dirty="0"/>
          </a:p>
        </p:txBody>
      </p:sp>
      <p:sp>
        <p:nvSpPr>
          <p:cNvPr id="30" name="Shape 27"/>
          <p:cNvSpPr/>
          <p:nvPr/>
        </p:nvSpPr>
        <p:spPr>
          <a:xfrm>
            <a:off x="457200" y="3675888"/>
            <a:ext cx="777240" cy="457200"/>
          </a:xfrm>
          <a:prstGeom prst="rect">
            <a:avLst/>
          </a:prstGeom>
          <a:solidFill>
            <a:srgbClr val="2E5496"/>
          </a:solidFill>
          <a:ln w="12700">
            <a:solidFill>
              <a:srgbClr val="2E5496"/>
            </a:solidFill>
            <a:prstDash val="solid"/>
          </a:ln>
        </p:spPr>
      </p:sp>
      <p:sp>
        <p:nvSpPr>
          <p:cNvPr id="31" name="Text 28"/>
          <p:cNvSpPr/>
          <p:nvPr/>
        </p:nvSpPr>
        <p:spPr>
          <a:xfrm>
            <a:off x="457200" y="3675888"/>
            <a:ext cx="77724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v.10</a:t>
            </a:r>
            <a:endParaRPr lang="en-US" sz="1100" dirty="0"/>
          </a:p>
        </p:txBody>
      </p:sp>
      <p:sp>
        <p:nvSpPr>
          <p:cNvPr id="32" name="Shape 29"/>
          <p:cNvSpPr/>
          <p:nvPr/>
        </p:nvSpPr>
        <p:spPr>
          <a:xfrm>
            <a:off x="1234440" y="3675888"/>
            <a:ext cx="7452360" cy="457200"/>
          </a:xfrm>
          <a:prstGeom prst="rect">
            <a:avLst/>
          </a:prstGeom>
          <a:solidFill>
            <a:srgbClr val="FFFFFF"/>
          </a:solidFill>
          <a:ln w="9525">
            <a:solidFill>
              <a:srgbClr val="D5DCEA"/>
            </a:solidFill>
            <a:prstDash val="solid"/>
          </a:ln>
        </p:spPr>
      </p:sp>
      <p:sp>
        <p:nvSpPr>
          <p:cNvPr id="33" name="Text 30"/>
          <p:cNvSpPr/>
          <p:nvPr/>
        </p:nvSpPr>
        <p:spPr>
          <a:xfrm>
            <a:off x="1344168" y="3675888"/>
            <a:ext cx="4389120" cy="457200"/>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His attitude — devoutly, justly, blamelessly</a:t>
            </a:r>
            <a:endParaRPr lang="en-US" sz="1150" dirty="0"/>
          </a:p>
        </p:txBody>
      </p:sp>
      <p:sp>
        <p:nvSpPr>
          <p:cNvPr id="34" name="Text 31"/>
          <p:cNvSpPr/>
          <p:nvPr/>
        </p:nvSpPr>
        <p:spPr>
          <a:xfrm>
            <a:off x="5806440" y="3675888"/>
            <a:ext cx="2788920" cy="45720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ὁσίως · δικαίως · ἀμέμπτως</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a life that matched the message</a:t>
            </a:r>
            <a:endParaRPr lang="en-US" sz="1300" dirty="0"/>
          </a:p>
        </p:txBody>
      </p:sp>
      <p:sp>
        <p:nvSpPr>
          <p:cNvPr id="35" name="Shape 32"/>
          <p:cNvSpPr/>
          <p:nvPr/>
        </p:nvSpPr>
        <p:spPr>
          <a:xfrm>
            <a:off x="457200" y="4187952"/>
            <a:ext cx="777240" cy="457200"/>
          </a:xfrm>
          <a:prstGeom prst="rect">
            <a:avLst/>
          </a:prstGeom>
          <a:solidFill>
            <a:srgbClr val="375623"/>
          </a:solidFill>
          <a:ln w="12700">
            <a:solidFill>
              <a:srgbClr val="375623"/>
            </a:solidFill>
            <a:prstDash val="solid"/>
          </a:ln>
        </p:spPr>
      </p:sp>
      <p:sp>
        <p:nvSpPr>
          <p:cNvPr id="36" name="Text 33"/>
          <p:cNvSpPr/>
          <p:nvPr/>
        </p:nvSpPr>
        <p:spPr>
          <a:xfrm>
            <a:off x="457200" y="4187952"/>
            <a:ext cx="77724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vv.11–12</a:t>
            </a:r>
            <a:endParaRPr lang="en-US" sz="1100" dirty="0"/>
          </a:p>
        </p:txBody>
      </p:sp>
      <p:sp>
        <p:nvSpPr>
          <p:cNvPr id="37" name="Shape 34"/>
          <p:cNvSpPr/>
          <p:nvPr/>
        </p:nvSpPr>
        <p:spPr>
          <a:xfrm>
            <a:off x="1234440" y="4187952"/>
            <a:ext cx="7452360" cy="457200"/>
          </a:xfrm>
          <a:prstGeom prst="rect">
            <a:avLst/>
          </a:prstGeom>
          <a:solidFill>
            <a:srgbClr val="F2F6FC"/>
          </a:solidFill>
          <a:ln w="9525">
            <a:solidFill>
              <a:srgbClr val="D5DCEA"/>
            </a:solidFill>
            <a:prstDash val="solid"/>
          </a:ln>
        </p:spPr>
      </p:sp>
      <p:sp>
        <p:nvSpPr>
          <p:cNvPr id="38" name="Text 35"/>
          <p:cNvSpPr/>
          <p:nvPr/>
        </p:nvSpPr>
        <p:spPr>
          <a:xfrm>
            <a:off x="1344168" y="4187952"/>
            <a:ext cx="4389120" cy="457200"/>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His apprehensions — a father’s charge: walk worthy of God</a:t>
            </a:r>
            <a:endParaRPr lang="en-US" sz="1150" dirty="0"/>
          </a:p>
        </p:txBody>
      </p:sp>
      <p:sp>
        <p:nvSpPr>
          <p:cNvPr id="39" name="Text 36"/>
          <p:cNvSpPr/>
          <p:nvPr/>
        </p:nvSpPr>
        <p:spPr>
          <a:xfrm>
            <a:off x="5806440" y="4187952"/>
            <a:ext cx="2788920" cy="45720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ἀξίως</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of equal weight — a balance scale</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Where success and failure belong</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2:1 · I.A — Paul’s coming</a:t>
            </a:r>
            <a:endParaRPr lang="en-US" sz="1200" dirty="0"/>
          </a:p>
        </p:txBody>
      </p:sp>
      <p:sp>
        <p:nvSpPr>
          <p:cNvPr id="5" name="Shape 2"/>
          <p:cNvSpPr/>
          <p:nvPr/>
        </p:nvSpPr>
        <p:spPr>
          <a:xfrm>
            <a:off x="457200" y="1188720"/>
            <a:ext cx="3931920" cy="365760"/>
          </a:xfrm>
          <a:prstGeom prst="rect">
            <a:avLst/>
          </a:prstGeom>
          <a:solidFill>
            <a:srgbClr val="375623"/>
          </a:solidFill>
          <a:ln w="12700">
            <a:solidFill>
              <a:srgbClr val="375623"/>
            </a:solidFill>
            <a:prstDash val="solid"/>
          </a:ln>
        </p:spPr>
      </p:sp>
      <p:sp>
        <p:nvSpPr>
          <p:cNvPr id="6" name="Text 3"/>
          <p:cNvSpPr/>
          <p:nvPr/>
        </p:nvSpPr>
        <p:spPr>
          <a:xfrm>
            <a:off x="548640" y="1234440"/>
            <a:ext cx="374904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Success belongs to God</a:t>
            </a:r>
            <a:endParaRPr lang="en-US" sz="1200" dirty="0"/>
          </a:p>
        </p:txBody>
      </p:sp>
      <p:sp>
        <p:nvSpPr>
          <p:cNvPr id="7" name="Shape 4"/>
          <p:cNvSpPr/>
          <p:nvPr/>
        </p:nvSpPr>
        <p:spPr>
          <a:xfrm>
            <a:off x="457200" y="1554480"/>
            <a:ext cx="3931920" cy="1828800"/>
          </a:xfrm>
          <a:prstGeom prst="rect">
            <a:avLst/>
          </a:prstGeom>
          <a:solidFill>
            <a:srgbClr val="F2F6FC"/>
          </a:solidFill>
          <a:ln w="9525">
            <a:solidFill>
              <a:srgbClr val="D5DCEA"/>
            </a:solidFill>
            <a:prstDash val="solid"/>
          </a:ln>
        </p:spPr>
      </p:sp>
      <p:sp>
        <p:nvSpPr>
          <p:cNvPr id="8" name="Text 5"/>
          <p:cNvSpPr/>
          <p:nvPr/>
        </p:nvSpPr>
        <p:spPr>
          <a:xfrm>
            <a:off x="548640" y="1627632"/>
            <a:ext cx="3749040" cy="170078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Any fruit is God’s doing — He gets the credit</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 gospel carries its own power</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 messenger cannot manufacture conversion</a:t>
            </a:r>
            <a:endParaRPr lang="en-US" sz="1250" dirty="0"/>
          </a:p>
        </p:txBody>
      </p:sp>
      <p:sp>
        <p:nvSpPr>
          <p:cNvPr id="9" name="Shape 6"/>
          <p:cNvSpPr/>
          <p:nvPr/>
        </p:nvSpPr>
        <p:spPr>
          <a:xfrm>
            <a:off x="4754880" y="1188720"/>
            <a:ext cx="3931920" cy="365760"/>
          </a:xfrm>
          <a:prstGeom prst="rect">
            <a:avLst/>
          </a:prstGeom>
          <a:solidFill>
            <a:srgbClr val="6B7280"/>
          </a:solidFill>
          <a:ln w="12700">
            <a:solidFill>
              <a:srgbClr val="6B7280"/>
            </a:solidFill>
            <a:prstDash val="solid"/>
          </a:ln>
        </p:spPr>
      </p:sp>
      <p:sp>
        <p:nvSpPr>
          <p:cNvPr id="10" name="Text 7"/>
          <p:cNvSpPr/>
          <p:nvPr/>
        </p:nvSpPr>
        <p:spPr>
          <a:xfrm>
            <a:off x="4846320" y="1234440"/>
            <a:ext cx="374904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Failure belongs to man</a:t>
            </a:r>
            <a:endParaRPr lang="en-US" sz="1200" dirty="0"/>
          </a:p>
        </p:txBody>
      </p:sp>
      <p:sp>
        <p:nvSpPr>
          <p:cNvPr id="11" name="Shape 8"/>
          <p:cNvSpPr/>
          <p:nvPr/>
        </p:nvSpPr>
        <p:spPr>
          <a:xfrm>
            <a:off x="4754880" y="1554480"/>
            <a:ext cx="3931920" cy="1828800"/>
          </a:xfrm>
          <a:prstGeom prst="rect">
            <a:avLst/>
          </a:prstGeom>
          <a:solidFill>
            <a:srgbClr val="F2F6FC"/>
          </a:solidFill>
          <a:ln w="9525">
            <a:solidFill>
              <a:srgbClr val="D5DCEA"/>
            </a:solidFill>
            <a:prstDash val="solid"/>
          </a:ln>
        </p:spPr>
      </p:sp>
      <p:sp>
        <p:nvSpPr>
          <p:cNvPr id="12" name="Text 9"/>
          <p:cNvSpPr/>
          <p:nvPr/>
        </p:nvSpPr>
        <p:spPr>
          <a:xfrm>
            <a:off x="4846320" y="1627632"/>
            <a:ext cx="3749040" cy="170078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To the messenger — if he failed in content or conviction</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To the hearers — if they failed in faith or follow-up</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Not to a faithful messenger whose hearers refuse</a:t>
            </a:r>
            <a:endParaRPr lang="en-US" sz="1250" dirty="0"/>
          </a:p>
        </p:txBody>
      </p:sp>
      <p:sp>
        <p:nvSpPr>
          <p:cNvPr id="13" name="Text 10"/>
          <p:cNvSpPr/>
          <p:nvPr/>
        </p:nvSpPr>
        <p:spPr>
          <a:xfrm>
            <a:off x="4389120" y="2103120"/>
            <a:ext cx="365760" cy="365760"/>
          </a:xfrm>
          <a:prstGeom prst="rect">
            <a:avLst/>
          </a:prstGeom>
          <a:noFill/>
          <a:ln/>
        </p:spPr>
        <p:txBody>
          <a:bodyPr wrap="square" lIns="0" tIns="0" rIns="0" bIns="0" rtlCol="0" anchor="ctr"/>
          <a:lstStyle/>
          <a:p>
            <a:pPr algn="ctr" indent="0" marL="0">
              <a:buNone/>
            </a:pPr>
            <a:r>
              <a:rPr lang="en-US" sz="1100" b="1" dirty="0">
                <a:solidFill>
                  <a:srgbClr val="6B7280"/>
                </a:solidFill>
                <a:latin typeface="Arial" pitchFamily="34" charset="0"/>
                <a:ea typeface="Arial" pitchFamily="34" charset="-122"/>
                <a:cs typeface="Arial" pitchFamily="34" charset="-120"/>
              </a:rPr>
              <a:t>vs</a:t>
            </a:r>
            <a:endParaRPr lang="en-US" sz="1100" dirty="0"/>
          </a:p>
        </p:txBody>
      </p:sp>
      <p:sp>
        <p:nvSpPr>
          <p:cNvPr id="14" name="Shape 11"/>
          <p:cNvSpPr/>
          <p:nvPr/>
        </p:nvSpPr>
        <p:spPr>
          <a:xfrm>
            <a:off x="457200" y="3611880"/>
            <a:ext cx="8229600" cy="914400"/>
          </a:xfrm>
          <a:prstGeom prst="roundRect">
            <a:avLst>
              <a:gd name="adj" fmla="val 6000"/>
            </a:avLst>
          </a:prstGeom>
          <a:solidFill>
            <a:srgbClr val="1F3864"/>
          </a:solidFill>
          <a:ln w="12700">
            <a:solidFill>
              <a:srgbClr val="1F3864"/>
            </a:solidFill>
            <a:prstDash val="solid"/>
          </a:ln>
        </p:spPr>
      </p:sp>
      <p:sp>
        <p:nvSpPr>
          <p:cNvPr id="15" name="Text 12"/>
          <p:cNvSpPr/>
          <p:nvPr/>
        </p:nvSpPr>
        <p:spPr>
          <a:xfrm>
            <a:off x="621792" y="3611880"/>
            <a:ext cx="7900416" cy="91440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“If I go out and witness to ten people and nine reject it, I was not a failure nine times. If I presented the gospel faithfully and didn’t get in God’s way, I am not a failure at all.”</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Three ways to corrupt the message</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2:3 · II.A.1a — The truth shown</a:t>
            </a:r>
            <a:endParaRPr lang="en-US" sz="1200" dirty="0"/>
          </a:p>
        </p:txBody>
      </p:sp>
      <p:sp>
        <p:nvSpPr>
          <p:cNvPr id="5" name="Shape 2"/>
          <p:cNvSpPr/>
          <p:nvPr/>
        </p:nvSpPr>
        <p:spPr>
          <a:xfrm>
            <a:off x="457200" y="1188720"/>
            <a:ext cx="2621280" cy="566928"/>
          </a:xfrm>
          <a:prstGeom prst="rect">
            <a:avLst/>
          </a:prstGeom>
          <a:solidFill>
            <a:srgbClr val="2E5496"/>
          </a:solidFill>
          <a:ln w="12700">
            <a:solidFill>
              <a:srgbClr val="2E5496"/>
            </a:solidFill>
            <a:prstDash val="solid"/>
          </a:ln>
        </p:spPr>
      </p:sp>
      <p:sp>
        <p:nvSpPr>
          <p:cNvPr id="6" name="Text 3"/>
          <p:cNvSpPr/>
          <p:nvPr/>
        </p:nvSpPr>
        <p:spPr>
          <a:xfrm>
            <a:off x="548640" y="1234440"/>
            <a:ext cx="24384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Not from error</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πλάνη</a:t>
            </a:r>
            <a:pPr indent="0" marL="0">
              <a:buNone/>
            </a:pPr>
            <a:r>
              <a:rPr lang="en-US" sz="850" dirty="0">
                <a:solidFill>
                  <a:srgbClr val="DCE4F2"/>
                </a:solidFill>
                <a:latin typeface="Arial" pitchFamily="34" charset="0"/>
                <a:ea typeface="Arial" pitchFamily="34" charset="-122"/>
                <a:cs typeface="Arial" pitchFamily="34" charset="-120"/>
              </a:rPr>
              <a:t>  planē · G4106</a:t>
            </a:r>
            <a:endParaRPr lang="en-US" sz="1200" dirty="0"/>
          </a:p>
        </p:txBody>
      </p:sp>
      <p:sp>
        <p:nvSpPr>
          <p:cNvPr id="7" name="Shape 4"/>
          <p:cNvSpPr/>
          <p:nvPr/>
        </p:nvSpPr>
        <p:spPr>
          <a:xfrm>
            <a:off x="457200" y="1755648"/>
            <a:ext cx="2621280" cy="2084832"/>
          </a:xfrm>
          <a:prstGeom prst="rect">
            <a:avLst/>
          </a:prstGeom>
          <a:solidFill>
            <a:srgbClr val="F2F6FC"/>
          </a:solidFill>
          <a:ln w="9525">
            <a:solidFill>
              <a:srgbClr val="D5DCEA"/>
            </a:solidFill>
            <a:prstDash val="solid"/>
          </a:ln>
        </p:spPr>
      </p:sp>
      <p:sp>
        <p:nvSpPr>
          <p:cNvPr id="8" name="Text 5"/>
          <p:cNvSpPr/>
          <p:nvPr/>
        </p:nvSpPr>
        <p:spPr>
          <a:xfrm>
            <a:off x="548640" y="1828800"/>
            <a:ext cx="2438400" cy="1956816"/>
          </a:xfrm>
          <a:prstGeom prst="rect">
            <a:avLst/>
          </a:prstGeom>
          <a:noFill/>
          <a:ln/>
        </p:spPr>
        <p:txBody>
          <a:bodyPr wrap="square" lIns="0" tIns="0" rIns="0" bIns="0" rtlCol="0" anchor="t"/>
          <a:lstStyle/>
          <a:p>
            <a:pPr indent="0" marL="0">
              <a:spcAft>
                <a:spcPts val="100"/>
              </a:spcAft>
              <a:buNone/>
            </a:pPr>
            <a:r>
              <a:rPr lang="en-US" sz="1250" b="1" dirty="0">
                <a:solidFill>
                  <a:srgbClr val="1F3864"/>
                </a:solidFill>
                <a:latin typeface="Arial" pitchFamily="34" charset="0"/>
                <a:ea typeface="Arial" pitchFamily="34" charset="-122"/>
                <a:cs typeface="Arial" pitchFamily="34" charset="-120"/>
              </a:rPr>
              <a:t>Content</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Not a drifting, untethered teaching</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Checked against Scripture — and found true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 gospel is verifiable</a:t>
            </a:r>
            <a:endParaRPr lang="en-US" sz="1250" dirty="0"/>
          </a:p>
        </p:txBody>
      </p:sp>
      <p:sp>
        <p:nvSpPr>
          <p:cNvPr id="9" name="Shape 6"/>
          <p:cNvSpPr/>
          <p:nvPr/>
        </p:nvSpPr>
        <p:spPr>
          <a:xfrm>
            <a:off x="3261360" y="1188720"/>
            <a:ext cx="2621280" cy="566928"/>
          </a:xfrm>
          <a:prstGeom prst="rect">
            <a:avLst/>
          </a:prstGeom>
          <a:solidFill>
            <a:srgbClr val="2E5496"/>
          </a:solidFill>
          <a:ln w="12700">
            <a:solidFill>
              <a:srgbClr val="2E5496"/>
            </a:solidFill>
            <a:prstDash val="solid"/>
          </a:ln>
        </p:spPr>
      </p:sp>
      <p:sp>
        <p:nvSpPr>
          <p:cNvPr id="10" name="Text 7"/>
          <p:cNvSpPr/>
          <p:nvPr/>
        </p:nvSpPr>
        <p:spPr>
          <a:xfrm>
            <a:off x="3352800" y="1234440"/>
            <a:ext cx="24384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Nor uncleanness</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ἀκαθαρσία</a:t>
            </a:r>
            <a:pPr indent="0" marL="0">
              <a:buNone/>
            </a:pPr>
            <a:r>
              <a:rPr lang="en-US" sz="850" dirty="0">
                <a:solidFill>
                  <a:srgbClr val="DCE4F2"/>
                </a:solidFill>
                <a:latin typeface="Arial" pitchFamily="34" charset="0"/>
                <a:ea typeface="Arial" pitchFamily="34" charset="-122"/>
                <a:cs typeface="Arial" pitchFamily="34" charset="-120"/>
              </a:rPr>
              <a:t>  akatharsia · G167</a:t>
            </a:r>
            <a:endParaRPr lang="en-US" sz="1200" dirty="0"/>
          </a:p>
        </p:txBody>
      </p:sp>
      <p:sp>
        <p:nvSpPr>
          <p:cNvPr id="11" name="Shape 8"/>
          <p:cNvSpPr/>
          <p:nvPr/>
        </p:nvSpPr>
        <p:spPr>
          <a:xfrm>
            <a:off x="3261360" y="1755648"/>
            <a:ext cx="2621280" cy="2084832"/>
          </a:xfrm>
          <a:prstGeom prst="rect">
            <a:avLst/>
          </a:prstGeom>
          <a:solidFill>
            <a:srgbClr val="F2F6FC"/>
          </a:solidFill>
          <a:ln w="9525">
            <a:solidFill>
              <a:srgbClr val="D5DCEA"/>
            </a:solidFill>
            <a:prstDash val="solid"/>
          </a:ln>
        </p:spPr>
      </p:sp>
      <p:sp>
        <p:nvSpPr>
          <p:cNvPr id="12" name="Text 9"/>
          <p:cNvSpPr/>
          <p:nvPr/>
        </p:nvSpPr>
        <p:spPr>
          <a:xfrm>
            <a:off x="3352800" y="1828800"/>
            <a:ext cx="2438400" cy="1956816"/>
          </a:xfrm>
          <a:prstGeom prst="rect">
            <a:avLst/>
          </a:prstGeom>
          <a:noFill/>
          <a:ln/>
        </p:spPr>
        <p:txBody>
          <a:bodyPr wrap="square" lIns="0" tIns="0" rIns="0" bIns="0" rtlCol="0" anchor="t"/>
          <a:lstStyle/>
          <a:p>
            <a:pPr indent="0" marL="0">
              <a:spcAft>
                <a:spcPts val="100"/>
              </a:spcAft>
              <a:buNone/>
            </a:pPr>
            <a:r>
              <a:rPr lang="en-US" sz="1250" b="1" dirty="0">
                <a:solidFill>
                  <a:srgbClr val="1F3864"/>
                </a:solidFill>
                <a:latin typeface="Arial" pitchFamily="34" charset="0"/>
                <a:ea typeface="Arial" pitchFamily="34" charset="-122"/>
                <a:cs typeface="Arial" pitchFamily="34" charset="-120"/>
              </a:rPr>
              <a:t>Conduct</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Pagan worship was saturated with immorality</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Paul’s ministry had none of it</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 gospel is pure</a:t>
            </a:r>
            <a:endParaRPr lang="en-US" sz="1250" dirty="0"/>
          </a:p>
        </p:txBody>
      </p:sp>
      <p:sp>
        <p:nvSpPr>
          <p:cNvPr id="13" name="Shape 10"/>
          <p:cNvSpPr/>
          <p:nvPr/>
        </p:nvSpPr>
        <p:spPr>
          <a:xfrm>
            <a:off x="6065520" y="1188720"/>
            <a:ext cx="2621280" cy="566928"/>
          </a:xfrm>
          <a:prstGeom prst="rect">
            <a:avLst/>
          </a:prstGeom>
          <a:solidFill>
            <a:srgbClr val="2E5496"/>
          </a:solidFill>
          <a:ln w="12700">
            <a:solidFill>
              <a:srgbClr val="2E5496"/>
            </a:solidFill>
            <a:prstDash val="solid"/>
          </a:ln>
        </p:spPr>
      </p:sp>
      <p:sp>
        <p:nvSpPr>
          <p:cNvPr id="14" name="Text 11"/>
          <p:cNvSpPr/>
          <p:nvPr/>
        </p:nvSpPr>
        <p:spPr>
          <a:xfrm>
            <a:off x="6156960" y="1234440"/>
            <a:ext cx="24384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Nor deceit</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δόλος</a:t>
            </a:r>
            <a:pPr indent="0" marL="0">
              <a:buNone/>
            </a:pPr>
            <a:r>
              <a:rPr lang="en-US" sz="850" dirty="0">
                <a:solidFill>
                  <a:srgbClr val="DCE4F2"/>
                </a:solidFill>
                <a:latin typeface="Arial" pitchFamily="34" charset="0"/>
                <a:ea typeface="Arial" pitchFamily="34" charset="-122"/>
                <a:cs typeface="Arial" pitchFamily="34" charset="-120"/>
              </a:rPr>
              <a:t>  dolos · G1388</a:t>
            </a:r>
            <a:endParaRPr lang="en-US" sz="1200" dirty="0"/>
          </a:p>
        </p:txBody>
      </p:sp>
      <p:sp>
        <p:nvSpPr>
          <p:cNvPr id="15" name="Shape 12"/>
          <p:cNvSpPr/>
          <p:nvPr/>
        </p:nvSpPr>
        <p:spPr>
          <a:xfrm>
            <a:off x="6065520" y="1755648"/>
            <a:ext cx="2621280" cy="2084832"/>
          </a:xfrm>
          <a:prstGeom prst="rect">
            <a:avLst/>
          </a:prstGeom>
          <a:solidFill>
            <a:srgbClr val="F2F6FC"/>
          </a:solidFill>
          <a:ln w="9525">
            <a:solidFill>
              <a:srgbClr val="D5DCEA"/>
            </a:solidFill>
            <a:prstDash val="solid"/>
          </a:ln>
        </p:spPr>
      </p:sp>
      <p:sp>
        <p:nvSpPr>
          <p:cNvPr id="16" name="Text 13"/>
          <p:cNvSpPr/>
          <p:nvPr/>
        </p:nvSpPr>
        <p:spPr>
          <a:xfrm>
            <a:off x="6156960" y="1828800"/>
            <a:ext cx="2438400" cy="1956816"/>
          </a:xfrm>
          <a:prstGeom prst="rect">
            <a:avLst/>
          </a:prstGeom>
          <a:noFill/>
          <a:ln/>
        </p:spPr>
        <p:txBody>
          <a:bodyPr wrap="square" lIns="0" tIns="0" rIns="0" bIns="0" rtlCol="0" anchor="t"/>
          <a:lstStyle/>
          <a:p>
            <a:pPr indent="0" marL="0">
              <a:spcAft>
                <a:spcPts val="100"/>
              </a:spcAft>
              <a:buNone/>
            </a:pPr>
            <a:r>
              <a:rPr lang="en-US" sz="1250" b="1" dirty="0">
                <a:solidFill>
                  <a:srgbClr val="1F3864"/>
                </a:solidFill>
                <a:latin typeface="Arial" pitchFamily="34" charset="0"/>
                <a:ea typeface="Arial" pitchFamily="34" charset="-122"/>
                <a:cs typeface="Arial" pitchFamily="34" charset="-120"/>
              </a:rPr>
              <a:t>Method</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No traps, no bait</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Nothing hidden behind an attractive presentation</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No misleading promises</a:t>
            </a:r>
            <a:endParaRPr lang="en-US" sz="1250" dirty="0"/>
          </a:p>
        </p:txBody>
      </p:sp>
      <p:sp>
        <p:nvSpPr>
          <p:cNvPr id="17" name="Shape 14"/>
          <p:cNvSpPr/>
          <p:nvPr/>
        </p:nvSpPr>
        <p:spPr>
          <a:xfrm>
            <a:off x="457200" y="4023360"/>
            <a:ext cx="8229600" cy="548640"/>
          </a:xfrm>
          <a:prstGeom prst="roundRect">
            <a:avLst>
              <a:gd name="adj" fmla="val 10000"/>
            </a:avLst>
          </a:prstGeom>
          <a:solidFill>
            <a:srgbClr val="1F3864"/>
          </a:solidFill>
          <a:ln w="12700">
            <a:solidFill>
              <a:srgbClr val="1F3864"/>
            </a:solidFill>
            <a:prstDash val="solid"/>
          </a:ln>
        </p:spPr>
      </p:sp>
      <p:sp>
        <p:nvSpPr>
          <p:cNvPr id="18" name="Text 15"/>
          <p:cNvSpPr/>
          <p:nvPr/>
        </p:nvSpPr>
        <p:spPr>
          <a:xfrm>
            <a:off x="621792" y="4023360"/>
            <a:ext cx="7900416" cy="54864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Content, character, method — a messenger can corrupt the gospel at any of the three.</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What the gospel promises — and what it doesn’t</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2:3 · Free from deceit (misleading promises)</a:t>
            </a:r>
            <a:endParaRPr lang="en-US" sz="1200" dirty="0"/>
          </a:p>
        </p:txBody>
      </p:sp>
      <p:sp>
        <p:nvSpPr>
          <p:cNvPr id="5" name="Shape 2"/>
          <p:cNvSpPr/>
          <p:nvPr/>
        </p:nvSpPr>
        <p:spPr>
          <a:xfrm>
            <a:off x="457200" y="1188720"/>
            <a:ext cx="3931920" cy="365760"/>
          </a:xfrm>
          <a:prstGeom prst="rect">
            <a:avLst/>
          </a:prstGeom>
          <a:solidFill>
            <a:srgbClr val="6B7280"/>
          </a:solidFill>
          <a:ln w="12700">
            <a:solidFill>
              <a:srgbClr val="6B7280"/>
            </a:solidFill>
            <a:prstDash val="solid"/>
          </a:ln>
        </p:spPr>
      </p:sp>
      <p:sp>
        <p:nvSpPr>
          <p:cNvPr id="6" name="Text 3"/>
          <p:cNvSpPr/>
          <p:nvPr/>
        </p:nvSpPr>
        <p:spPr>
          <a:xfrm>
            <a:off x="548640" y="1234440"/>
            <a:ext cx="374904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  Off the table</a:t>
            </a:r>
            <a:endParaRPr lang="en-US" sz="1200" dirty="0"/>
          </a:p>
        </p:txBody>
      </p:sp>
      <p:sp>
        <p:nvSpPr>
          <p:cNvPr id="7" name="Shape 4"/>
          <p:cNvSpPr/>
          <p:nvPr/>
        </p:nvSpPr>
        <p:spPr>
          <a:xfrm>
            <a:off x="457200" y="1554480"/>
            <a:ext cx="3931920" cy="1965960"/>
          </a:xfrm>
          <a:prstGeom prst="rect">
            <a:avLst/>
          </a:prstGeom>
          <a:solidFill>
            <a:srgbClr val="F2F6FC"/>
          </a:solidFill>
          <a:ln w="9525">
            <a:solidFill>
              <a:srgbClr val="D5DCEA"/>
            </a:solidFill>
            <a:prstDash val="solid"/>
          </a:ln>
        </p:spPr>
      </p:sp>
      <p:sp>
        <p:nvSpPr>
          <p:cNvPr id="8" name="Text 5"/>
          <p:cNvSpPr/>
          <p:nvPr/>
        </p:nvSpPr>
        <p:spPr>
          <a:xfrm>
            <a:off x="548640" y="1627632"/>
            <a:ext cx="3749040" cy="183794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“You will be more prosperous.” — you might get fired</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“You will be happier.” — some lives got harder</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“Your marriage will be better.” — some spouses left</a:t>
            </a:r>
            <a:endParaRPr lang="en-US" sz="1250" dirty="0"/>
          </a:p>
        </p:txBody>
      </p:sp>
      <p:sp>
        <p:nvSpPr>
          <p:cNvPr id="9" name="Shape 6"/>
          <p:cNvSpPr/>
          <p:nvPr/>
        </p:nvSpPr>
        <p:spPr>
          <a:xfrm>
            <a:off x="4754880" y="1188720"/>
            <a:ext cx="3931920" cy="365760"/>
          </a:xfrm>
          <a:prstGeom prst="rect">
            <a:avLst/>
          </a:prstGeom>
          <a:solidFill>
            <a:srgbClr val="375623"/>
          </a:solidFill>
          <a:ln w="12700">
            <a:solidFill>
              <a:srgbClr val="375623"/>
            </a:solidFill>
            <a:prstDash val="solid"/>
          </a:ln>
        </p:spPr>
      </p:sp>
      <p:sp>
        <p:nvSpPr>
          <p:cNvPr id="10" name="Text 7"/>
          <p:cNvSpPr/>
          <p:nvPr/>
        </p:nvSpPr>
        <p:spPr>
          <a:xfrm>
            <a:off x="4846320" y="1234440"/>
            <a:ext cx="374904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  What Paul offered</a:t>
            </a:r>
            <a:endParaRPr lang="en-US" sz="1200" dirty="0"/>
          </a:p>
        </p:txBody>
      </p:sp>
      <p:sp>
        <p:nvSpPr>
          <p:cNvPr id="11" name="Shape 8"/>
          <p:cNvSpPr/>
          <p:nvPr/>
        </p:nvSpPr>
        <p:spPr>
          <a:xfrm>
            <a:off x="4754880" y="1554480"/>
            <a:ext cx="3931920" cy="1965960"/>
          </a:xfrm>
          <a:prstGeom prst="rect">
            <a:avLst/>
          </a:prstGeom>
          <a:solidFill>
            <a:srgbClr val="F2F6FC"/>
          </a:solidFill>
          <a:ln w="9525">
            <a:solidFill>
              <a:srgbClr val="D5DCEA"/>
            </a:solidFill>
            <a:prstDash val="solid"/>
          </a:ln>
        </p:spPr>
      </p:sp>
      <p:sp>
        <p:nvSpPr>
          <p:cNvPr id="12" name="Text 9"/>
          <p:cNvSpPr/>
          <p:nvPr/>
        </p:nvSpPr>
        <p:spPr>
          <a:xfrm>
            <a:off x="4846320" y="1627632"/>
            <a:ext cx="3749040" cy="183794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You will have eternal life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Your sins will be forgiven</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 personal relationship with the God of the universe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 home in heaven — a place prepared for you</a:t>
            </a:r>
            <a:endParaRPr lang="en-US" sz="1250" dirty="0"/>
          </a:p>
        </p:txBody>
      </p:sp>
      <p:sp>
        <p:nvSpPr>
          <p:cNvPr id="13" name="Text 10"/>
          <p:cNvSpPr/>
          <p:nvPr/>
        </p:nvSpPr>
        <p:spPr>
          <a:xfrm>
            <a:off x="4389120" y="2171700"/>
            <a:ext cx="365760" cy="365760"/>
          </a:xfrm>
          <a:prstGeom prst="rect">
            <a:avLst/>
          </a:prstGeom>
          <a:noFill/>
          <a:ln/>
        </p:spPr>
        <p:txBody>
          <a:bodyPr wrap="square" lIns="0" tIns="0" rIns="0" bIns="0" rtlCol="0" anchor="ctr"/>
          <a:lstStyle/>
          <a:p>
            <a:pPr algn="ctr" indent="0" marL="0">
              <a:buNone/>
            </a:pPr>
            <a:r>
              <a:rPr lang="en-US" sz="1100" b="1" dirty="0">
                <a:solidFill>
                  <a:srgbClr val="6B7280"/>
                </a:solidFill>
                <a:latin typeface="Arial" pitchFamily="34" charset="0"/>
                <a:ea typeface="Arial" pitchFamily="34" charset="-122"/>
                <a:cs typeface="Arial" pitchFamily="34" charset="-120"/>
              </a:rPr>
              <a:t>vs</a:t>
            </a:r>
            <a:endParaRPr lang="en-US" sz="1100" dirty="0"/>
          </a:p>
        </p:txBody>
      </p:sp>
      <p:sp>
        <p:nvSpPr>
          <p:cNvPr id="14" name="Shape 11"/>
          <p:cNvSpPr/>
          <p:nvPr/>
        </p:nvSpPr>
        <p:spPr>
          <a:xfrm>
            <a:off x="457200" y="3749040"/>
            <a:ext cx="8229600" cy="685800"/>
          </a:xfrm>
          <a:prstGeom prst="roundRect">
            <a:avLst>
              <a:gd name="adj" fmla="val 8000"/>
            </a:avLst>
          </a:prstGeom>
          <a:solidFill>
            <a:srgbClr val="1F3864"/>
          </a:solidFill>
          <a:ln w="12700">
            <a:solidFill>
              <a:srgbClr val="1F3864"/>
            </a:solidFill>
            <a:prstDash val="solid"/>
          </a:ln>
        </p:spPr>
      </p:sp>
      <p:sp>
        <p:nvSpPr>
          <p:cNvPr id="15" name="Text 12"/>
          <p:cNvSpPr/>
          <p:nvPr/>
        </p:nvSpPr>
        <p:spPr>
          <a:xfrm>
            <a:off x="621792" y="3749040"/>
            <a:ext cx="7900416" cy="68580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Don’t make promises the gospel doesn’t make. Don’t withhold the promises it does make.</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Approved, entrusted — so we speak</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2:4 · II.A.1b–2 — The truth spoken</a:t>
            </a:r>
            <a:endParaRPr lang="en-US" sz="1200" dirty="0"/>
          </a:p>
        </p:txBody>
      </p:sp>
      <p:sp>
        <p:nvSpPr>
          <p:cNvPr id="5" name="Shape 2"/>
          <p:cNvSpPr/>
          <p:nvPr/>
        </p:nvSpPr>
        <p:spPr>
          <a:xfrm>
            <a:off x="457200" y="1188720"/>
            <a:ext cx="1899666" cy="2103120"/>
          </a:xfrm>
          <a:prstGeom prst="roundRect">
            <a:avLst>
              <a:gd name="adj" fmla="val 2888"/>
            </a:avLst>
          </a:prstGeom>
          <a:solidFill>
            <a:srgbClr val="F2F6FC"/>
          </a:solidFill>
          <a:ln w="9525">
            <a:solidFill>
              <a:srgbClr val="D5DCEA"/>
            </a:solidFill>
            <a:prstDash val="solid"/>
          </a:ln>
        </p:spPr>
      </p:sp>
      <p:sp>
        <p:nvSpPr>
          <p:cNvPr id="6" name="Shape 3"/>
          <p:cNvSpPr/>
          <p:nvPr/>
        </p:nvSpPr>
        <p:spPr>
          <a:xfrm>
            <a:off x="1205865" y="1298448"/>
            <a:ext cx="402336" cy="402336"/>
          </a:xfrm>
          <a:prstGeom prst="ellipse">
            <a:avLst/>
          </a:prstGeom>
          <a:solidFill>
            <a:srgbClr val="2E5496"/>
          </a:solidFill>
          <a:ln w="12700">
            <a:solidFill>
              <a:srgbClr val="2E5496"/>
            </a:solidFill>
            <a:prstDash val="solid"/>
          </a:ln>
        </p:spPr>
      </p:sp>
      <p:sp>
        <p:nvSpPr>
          <p:cNvPr id="7" name="Text 4"/>
          <p:cNvSpPr/>
          <p:nvPr/>
        </p:nvSpPr>
        <p:spPr>
          <a:xfrm>
            <a:off x="1205865"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8" name="Text 5"/>
          <p:cNvSpPr/>
          <p:nvPr/>
        </p:nvSpPr>
        <p:spPr>
          <a:xfrm>
            <a:off x="530352" y="1773936"/>
            <a:ext cx="1753362"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Tested</a:t>
            </a:r>
            <a:endParaRPr lang="en-US" sz="1150" dirty="0"/>
          </a:p>
        </p:txBody>
      </p:sp>
      <p:sp>
        <p:nvSpPr>
          <p:cNvPr id="9" name="Text 6"/>
          <p:cNvSpPr/>
          <p:nvPr/>
        </p:nvSpPr>
        <p:spPr>
          <a:xfrm>
            <a:off x="530352" y="2157984"/>
            <a:ext cx="1753362" cy="74980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Assayed in the fire and found genuine</a:t>
            </a:r>
            <a:endParaRPr lang="en-US" sz="1150" dirty="0"/>
          </a:p>
        </p:txBody>
      </p:sp>
      <p:sp>
        <p:nvSpPr>
          <p:cNvPr id="10" name="Text 7"/>
          <p:cNvSpPr/>
          <p:nvPr/>
        </p:nvSpPr>
        <p:spPr>
          <a:xfrm>
            <a:off x="530352" y="2907792"/>
            <a:ext cx="1753362"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δοκιμάζω</a:t>
            </a:r>
            <a:endParaRPr lang="en-US" sz="900" dirty="0"/>
          </a:p>
        </p:txBody>
      </p:sp>
      <p:sp>
        <p:nvSpPr>
          <p:cNvPr id="11" name="Shape 8"/>
          <p:cNvSpPr/>
          <p:nvPr/>
        </p:nvSpPr>
        <p:spPr>
          <a:xfrm>
            <a:off x="2361438" y="2121408"/>
            <a:ext cx="201168" cy="237744"/>
          </a:xfrm>
          <a:prstGeom prst="rightArrow">
            <a:avLst/>
          </a:prstGeom>
          <a:solidFill>
            <a:srgbClr val="6B7280"/>
          </a:solidFill>
          <a:ln w="12700">
            <a:solidFill>
              <a:srgbClr val="6B7280"/>
            </a:solidFill>
            <a:prstDash val="solid"/>
          </a:ln>
        </p:spPr>
      </p:sp>
      <p:sp>
        <p:nvSpPr>
          <p:cNvPr id="12" name="Shape 9"/>
          <p:cNvSpPr/>
          <p:nvPr/>
        </p:nvSpPr>
        <p:spPr>
          <a:xfrm>
            <a:off x="2567178" y="1188720"/>
            <a:ext cx="1899666" cy="2103120"/>
          </a:xfrm>
          <a:prstGeom prst="roundRect">
            <a:avLst>
              <a:gd name="adj" fmla="val 2888"/>
            </a:avLst>
          </a:prstGeom>
          <a:solidFill>
            <a:srgbClr val="F2F6FC"/>
          </a:solidFill>
          <a:ln w="9525">
            <a:solidFill>
              <a:srgbClr val="D5DCEA"/>
            </a:solidFill>
            <a:prstDash val="solid"/>
          </a:ln>
        </p:spPr>
      </p:sp>
      <p:sp>
        <p:nvSpPr>
          <p:cNvPr id="13" name="Shape 10"/>
          <p:cNvSpPr/>
          <p:nvPr/>
        </p:nvSpPr>
        <p:spPr>
          <a:xfrm>
            <a:off x="3315843" y="1298448"/>
            <a:ext cx="402336" cy="402336"/>
          </a:xfrm>
          <a:prstGeom prst="ellipse">
            <a:avLst/>
          </a:prstGeom>
          <a:solidFill>
            <a:srgbClr val="2E5496"/>
          </a:solidFill>
          <a:ln w="12700">
            <a:solidFill>
              <a:srgbClr val="2E5496"/>
            </a:solidFill>
            <a:prstDash val="solid"/>
          </a:ln>
        </p:spPr>
      </p:sp>
      <p:sp>
        <p:nvSpPr>
          <p:cNvPr id="14" name="Text 11"/>
          <p:cNvSpPr/>
          <p:nvPr/>
        </p:nvSpPr>
        <p:spPr>
          <a:xfrm>
            <a:off x="3315843"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5" name="Text 12"/>
          <p:cNvSpPr/>
          <p:nvPr/>
        </p:nvSpPr>
        <p:spPr>
          <a:xfrm>
            <a:off x="2640330" y="1773936"/>
            <a:ext cx="1753362"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Entrusted</a:t>
            </a:r>
            <a:endParaRPr lang="en-US" sz="1150" dirty="0"/>
          </a:p>
        </p:txBody>
      </p:sp>
      <p:sp>
        <p:nvSpPr>
          <p:cNvPr id="16" name="Text 13"/>
          <p:cNvSpPr/>
          <p:nvPr/>
        </p:nvSpPr>
        <p:spPr>
          <a:xfrm>
            <a:off x="2640330" y="2157984"/>
            <a:ext cx="1753362" cy="74980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Paul trusted God; God trusted Paul with the gospel</a:t>
            </a:r>
            <a:endParaRPr lang="en-US" sz="1150" dirty="0"/>
          </a:p>
        </p:txBody>
      </p:sp>
      <p:sp>
        <p:nvSpPr>
          <p:cNvPr id="17" name="Text 14"/>
          <p:cNvSpPr/>
          <p:nvPr/>
        </p:nvSpPr>
        <p:spPr>
          <a:xfrm>
            <a:off x="2640330" y="2907792"/>
            <a:ext cx="1753362"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πιστεύω — same verb</a:t>
            </a:r>
            <a:endParaRPr lang="en-US" sz="900" dirty="0"/>
          </a:p>
        </p:txBody>
      </p:sp>
      <p:sp>
        <p:nvSpPr>
          <p:cNvPr id="18" name="Shape 15"/>
          <p:cNvSpPr/>
          <p:nvPr/>
        </p:nvSpPr>
        <p:spPr>
          <a:xfrm>
            <a:off x="4471416" y="2121408"/>
            <a:ext cx="201168" cy="237744"/>
          </a:xfrm>
          <a:prstGeom prst="rightArrow">
            <a:avLst/>
          </a:prstGeom>
          <a:solidFill>
            <a:srgbClr val="6B7280"/>
          </a:solidFill>
          <a:ln w="12700">
            <a:solidFill>
              <a:srgbClr val="6B7280"/>
            </a:solidFill>
            <a:prstDash val="solid"/>
          </a:ln>
        </p:spPr>
      </p:sp>
      <p:sp>
        <p:nvSpPr>
          <p:cNvPr id="19" name="Shape 16"/>
          <p:cNvSpPr/>
          <p:nvPr/>
        </p:nvSpPr>
        <p:spPr>
          <a:xfrm>
            <a:off x="4677156" y="1188720"/>
            <a:ext cx="1899666" cy="2103120"/>
          </a:xfrm>
          <a:prstGeom prst="roundRect">
            <a:avLst>
              <a:gd name="adj" fmla="val 2888"/>
            </a:avLst>
          </a:prstGeom>
          <a:solidFill>
            <a:srgbClr val="F2F6FC"/>
          </a:solidFill>
          <a:ln w="9525">
            <a:solidFill>
              <a:srgbClr val="D5DCEA"/>
            </a:solidFill>
            <a:prstDash val="solid"/>
          </a:ln>
        </p:spPr>
      </p:sp>
      <p:sp>
        <p:nvSpPr>
          <p:cNvPr id="20" name="Shape 17"/>
          <p:cNvSpPr/>
          <p:nvPr/>
        </p:nvSpPr>
        <p:spPr>
          <a:xfrm>
            <a:off x="5425821" y="1298448"/>
            <a:ext cx="402336" cy="402336"/>
          </a:xfrm>
          <a:prstGeom prst="ellipse">
            <a:avLst/>
          </a:prstGeom>
          <a:solidFill>
            <a:srgbClr val="2E5496"/>
          </a:solidFill>
          <a:ln w="12700">
            <a:solidFill>
              <a:srgbClr val="2E5496"/>
            </a:solidFill>
            <a:prstDash val="solid"/>
          </a:ln>
        </p:spPr>
      </p:sp>
      <p:sp>
        <p:nvSpPr>
          <p:cNvPr id="21" name="Text 18"/>
          <p:cNvSpPr/>
          <p:nvPr/>
        </p:nvSpPr>
        <p:spPr>
          <a:xfrm>
            <a:off x="5425821"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a:t>
            </a:r>
            <a:endParaRPr lang="en-US" sz="1300" dirty="0"/>
          </a:p>
        </p:txBody>
      </p:sp>
      <p:sp>
        <p:nvSpPr>
          <p:cNvPr id="22" name="Text 19"/>
          <p:cNvSpPr/>
          <p:nvPr/>
        </p:nvSpPr>
        <p:spPr>
          <a:xfrm>
            <a:off x="4750308" y="1773936"/>
            <a:ext cx="1753362"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Spoken</a:t>
            </a:r>
            <a:endParaRPr lang="en-US" sz="1150" dirty="0"/>
          </a:p>
        </p:txBody>
      </p:sp>
      <p:sp>
        <p:nvSpPr>
          <p:cNvPr id="23" name="Text 20"/>
          <p:cNvSpPr/>
          <p:nvPr/>
        </p:nvSpPr>
        <p:spPr>
          <a:xfrm>
            <a:off x="4750308" y="2157984"/>
            <a:ext cx="1753362" cy="74980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“Even so we speak” — three words</a:t>
            </a:r>
            <a:endParaRPr lang="en-US" sz="1150" dirty="0"/>
          </a:p>
        </p:txBody>
      </p:sp>
      <p:sp>
        <p:nvSpPr>
          <p:cNvPr id="24" name="Text 21"/>
          <p:cNvSpPr/>
          <p:nvPr/>
        </p:nvSpPr>
        <p:spPr>
          <a:xfrm>
            <a:off x="4750308" y="2907792"/>
            <a:ext cx="1753362"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2 Cor 5:20 — ambassadors</a:t>
            </a:r>
            <a:endParaRPr lang="en-US" sz="900" dirty="0"/>
          </a:p>
        </p:txBody>
      </p:sp>
      <p:sp>
        <p:nvSpPr>
          <p:cNvPr id="25" name="Shape 22"/>
          <p:cNvSpPr/>
          <p:nvPr/>
        </p:nvSpPr>
        <p:spPr>
          <a:xfrm>
            <a:off x="6581394" y="2121408"/>
            <a:ext cx="201168" cy="237744"/>
          </a:xfrm>
          <a:prstGeom prst="rightArrow">
            <a:avLst/>
          </a:prstGeom>
          <a:solidFill>
            <a:srgbClr val="6B7280"/>
          </a:solidFill>
          <a:ln w="12700">
            <a:solidFill>
              <a:srgbClr val="6B7280"/>
            </a:solidFill>
            <a:prstDash val="solid"/>
          </a:ln>
        </p:spPr>
      </p:sp>
      <p:sp>
        <p:nvSpPr>
          <p:cNvPr id="26" name="Shape 23"/>
          <p:cNvSpPr/>
          <p:nvPr/>
        </p:nvSpPr>
        <p:spPr>
          <a:xfrm>
            <a:off x="6787134" y="1188720"/>
            <a:ext cx="1899666" cy="2103120"/>
          </a:xfrm>
          <a:prstGeom prst="roundRect">
            <a:avLst>
              <a:gd name="adj" fmla="val 2888"/>
            </a:avLst>
          </a:prstGeom>
          <a:solidFill>
            <a:srgbClr val="1F3864"/>
          </a:solidFill>
          <a:ln w="9525">
            <a:solidFill>
              <a:srgbClr val="1F3864"/>
            </a:solidFill>
            <a:prstDash val="solid"/>
          </a:ln>
        </p:spPr>
      </p:sp>
      <p:sp>
        <p:nvSpPr>
          <p:cNvPr id="27" name="Shape 24"/>
          <p:cNvSpPr/>
          <p:nvPr/>
        </p:nvSpPr>
        <p:spPr>
          <a:xfrm>
            <a:off x="7535799" y="1298448"/>
            <a:ext cx="402336" cy="402336"/>
          </a:xfrm>
          <a:prstGeom prst="ellipse">
            <a:avLst/>
          </a:prstGeom>
          <a:solidFill>
            <a:srgbClr val="FFFFFF"/>
          </a:solidFill>
          <a:ln w="12700">
            <a:solidFill>
              <a:srgbClr val="FFFFFF"/>
            </a:solidFill>
            <a:prstDash val="solid"/>
          </a:ln>
        </p:spPr>
      </p:sp>
      <p:sp>
        <p:nvSpPr>
          <p:cNvPr id="28" name="Text 25"/>
          <p:cNvSpPr/>
          <p:nvPr/>
        </p:nvSpPr>
        <p:spPr>
          <a:xfrm>
            <a:off x="7535799" y="1298448"/>
            <a:ext cx="402336" cy="402336"/>
          </a:xfrm>
          <a:prstGeom prst="rect">
            <a:avLst/>
          </a:prstGeom>
          <a:noFill/>
          <a:ln/>
        </p:spPr>
        <p:txBody>
          <a:bodyPr wrap="square" lIns="0" tIns="0" rIns="0" bIns="0" rtlCol="0" anchor="ctr"/>
          <a:lstStyle/>
          <a:p>
            <a:pPr algn="ctr" indent="0" marL="0">
              <a:buNone/>
            </a:pPr>
            <a:r>
              <a:rPr lang="en-US" sz="1300" b="1" dirty="0">
                <a:solidFill>
                  <a:srgbClr val="1F3864"/>
                </a:solidFill>
                <a:latin typeface="Arial" pitchFamily="34" charset="0"/>
                <a:ea typeface="Arial" pitchFamily="34" charset="-122"/>
                <a:cs typeface="Arial" pitchFamily="34" charset="-120"/>
              </a:rPr>
              <a:t>D</a:t>
            </a:r>
            <a:endParaRPr lang="en-US" sz="1300" dirty="0"/>
          </a:p>
        </p:txBody>
      </p:sp>
      <p:sp>
        <p:nvSpPr>
          <p:cNvPr id="29" name="Text 26"/>
          <p:cNvSpPr/>
          <p:nvPr/>
        </p:nvSpPr>
        <p:spPr>
          <a:xfrm>
            <a:off x="6860286" y="1773936"/>
            <a:ext cx="1753362"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Undisturbed</a:t>
            </a:r>
            <a:endParaRPr lang="en-US" sz="1150" dirty="0"/>
          </a:p>
        </p:txBody>
      </p:sp>
      <p:sp>
        <p:nvSpPr>
          <p:cNvPr id="30" name="Text 27"/>
          <p:cNvSpPr/>
          <p:nvPr/>
        </p:nvSpPr>
        <p:spPr>
          <a:xfrm>
            <a:off x="6860286" y="2157984"/>
            <a:ext cx="1753362" cy="749808"/>
          </a:xfrm>
          <a:prstGeom prst="rect">
            <a:avLst/>
          </a:prstGeom>
          <a:noFill/>
          <a:ln/>
        </p:spPr>
        <p:txBody>
          <a:bodyPr wrap="square" lIns="0" tIns="0" rIns="0" bIns="0" rtlCol="0" anchor="t"/>
          <a:lstStyle/>
          <a:p>
            <a:pPr algn="ctr" indent="0" marL="0">
              <a:buNone/>
            </a:pPr>
            <a:r>
              <a:rPr lang="en-US" sz="1150" dirty="0">
                <a:solidFill>
                  <a:srgbClr val="FFFFFF"/>
                </a:solidFill>
                <a:latin typeface="Arial" pitchFamily="34" charset="0"/>
                <a:ea typeface="Arial" pitchFamily="34" charset="-122"/>
                <a:cs typeface="Arial" pitchFamily="34" charset="-120"/>
              </a:rPr>
              <a:t>Not pleasing men, but God who tests our hearts</a:t>
            </a:r>
            <a:endParaRPr lang="en-US" sz="1150" dirty="0"/>
          </a:p>
        </p:txBody>
      </p:sp>
      <p:sp>
        <p:nvSpPr>
          <p:cNvPr id="31" name="Text 28"/>
          <p:cNvSpPr/>
          <p:nvPr/>
        </p:nvSpPr>
        <p:spPr>
          <a:xfrm>
            <a:off x="6860286" y="2907792"/>
            <a:ext cx="1753362" cy="329184"/>
          </a:xfrm>
          <a:prstGeom prst="rect">
            <a:avLst/>
          </a:prstGeom>
          <a:noFill/>
          <a:ln/>
        </p:spPr>
        <p:txBody>
          <a:bodyPr wrap="square" lIns="0" tIns="0" rIns="0" bIns="0" rtlCol="0" anchor="b"/>
          <a:lstStyle/>
          <a:p>
            <a:pPr algn="ctr" indent="0" marL="0">
              <a:buNone/>
            </a:pPr>
            <a:r>
              <a:rPr lang="en-US" sz="900" i="1" dirty="0">
                <a:solidFill>
                  <a:srgbClr val="DCE4F2"/>
                </a:solidFill>
                <a:latin typeface="Arial" pitchFamily="34" charset="0"/>
                <a:ea typeface="Arial" pitchFamily="34" charset="-122"/>
                <a:cs typeface="Arial" pitchFamily="34" charset="-120"/>
              </a:rPr>
              <a:t>v.4c</a:t>
            </a:r>
            <a:endParaRPr lang="en-US" sz="900" dirty="0"/>
          </a:p>
        </p:txBody>
      </p:sp>
      <p:sp>
        <p:nvSpPr>
          <p:cNvPr id="32" name="Shape 29"/>
          <p:cNvSpPr/>
          <p:nvPr/>
        </p:nvSpPr>
        <p:spPr>
          <a:xfrm>
            <a:off x="457200" y="3474720"/>
            <a:ext cx="8229600" cy="914400"/>
          </a:xfrm>
          <a:prstGeom prst="roundRect">
            <a:avLst>
              <a:gd name="adj" fmla="val 6000"/>
            </a:avLst>
          </a:prstGeom>
          <a:solidFill>
            <a:srgbClr val="1F3864"/>
          </a:solidFill>
          <a:ln w="12700">
            <a:solidFill>
              <a:srgbClr val="1F3864"/>
            </a:solidFill>
            <a:prstDash val="solid"/>
          </a:ln>
        </p:spPr>
      </p:sp>
      <p:sp>
        <p:nvSpPr>
          <p:cNvPr id="33" name="Text 30"/>
          <p:cNvSpPr/>
          <p:nvPr/>
        </p:nvSpPr>
        <p:spPr>
          <a:xfrm>
            <a:off x="621792" y="3474720"/>
            <a:ext cx="7900416" cy="91440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God has believed in you enough to put His gospel in your hands. The Great Commission is not a clergy assignment; it is a whole-church commission.</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What Paul refused, revealed and reserved</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2:5–9 · II.B — Paul’s actions</a:t>
            </a:r>
            <a:endParaRPr lang="en-US" sz="1200" dirty="0"/>
          </a:p>
        </p:txBody>
      </p:sp>
      <p:sp>
        <p:nvSpPr>
          <p:cNvPr id="5" name="Shape 2"/>
          <p:cNvSpPr/>
          <p:nvPr/>
        </p:nvSpPr>
        <p:spPr>
          <a:xfrm>
            <a:off x="457200" y="1188720"/>
            <a:ext cx="2615184" cy="1572768"/>
          </a:xfrm>
          <a:prstGeom prst="rect">
            <a:avLst/>
          </a:prstGeom>
          <a:solidFill>
            <a:srgbClr val="F2F6FC"/>
          </a:solidFill>
          <a:ln w="9525">
            <a:solidFill>
              <a:srgbClr val="D5DCEA"/>
            </a:solidFill>
            <a:prstDash val="solid"/>
          </a:ln>
        </p:spPr>
      </p:sp>
      <p:sp>
        <p:nvSpPr>
          <p:cNvPr id="6" name="Shape 3"/>
          <p:cNvSpPr/>
          <p:nvPr/>
        </p:nvSpPr>
        <p:spPr>
          <a:xfrm>
            <a:off x="594360" y="1325880"/>
            <a:ext cx="420624" cy="420624"/>
          </a:xfrm>
          <a:prstGeom prst="ellipse">
            <a:avLst/>
          </a:prstGeom>
          <a:solidFill>
            <a:srgbClr val="2E5496"/>
          </a:solidFill>
          <a:ln w="12700">
            <a:solidFill>
              <a:srgbClr val="2E5496"/>
            </a:solidFill>
            <a:prstDash val="solid"/>
          </a:ln>
        </p:spPr>
      </p:sp>
      <p:sp>
        <p:nvSpPr>
          <p:cNvPr id="7" name="Text 4"/>
          <p:cNvSpPr/>
          <p:nvPr/>
        </p:nvSpPr>
        <p:spPr>
          <a:xfrm>
            <a:off x="594360" y="13258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8" name="Text 5"/>
          <p:cNvSpPr/>
          <p:nvPr/>
        </p:nvSpPr>
        <p:spPr>
          <a:xfrm>
            <a:off x="1115568" y="132588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No guile · v.5a</a:t>
            </a:r>
            <a:endParaRPr lang="en-US" sz="1200" dirty="0"/>
          </a:p>
        </p:txBody>
      </p:sp>
      <p:sp>
        <p:nvSpPr>
          <p:cNvPr id="9" name="Text 6"/>
          <p:cNvSpPr/>
          <p:nvPr/>
        </p:nvSpPr>
        <p:spPr>
          <a:xfrm>
            <a:off x="594360" y="182880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Flattery to manipulate implies the gospel isn’t good enough</a:t>
            </a:r>
            <a:endParaRPr lang="en-US" sz="1200" dirty="0"/>
          </a:p>
        </p:txBody>
      </p:sp>
      <p:sp>
        <p:nvSpPr>
          <p:cNvPr id="10" name="Shape 7"/>
          <p:cNvSpPr/>
          <p:nvPr/>
        </p:nvSpPr>
        <p:spPr>
          <a:xfrm>
            <a:off x="3264408" y="1188720"/>
            <a:ext cx="2615184" cy="1572768"/>
          </a:xfrm>
          <a:prstGeom prst="rect">
            <a:avLst/>
          </a:prstGeom>
          <a:solidFill>
            <a:srgbClr val="F2F6FC"/>
          </a:solidFill>
          <a:ln w="9525">
            <a:solidFill>
              <a:srgbClr val="D5DCEA"/>
            </a:solidFill>
            <a:prstDash val="solid"/>
          </a:ln>
        </p:spPr>
      </p:sp>
      <p:sp>
        <p:nvSpPr>
          <p:cNvPr id="11" name="Shape 8"/>
          <p:cNvSpPr/>
          <p:nvPr/>
        </p:nvSpPr>
        <p:spPr>
          <a:xfrm>
            <a:off x="3401568" y="1325880"/>
            <a:ext cx="420624" cy="420624"/>
          </a:xfrm>
          <a:prstGeom prst="ellipse">
            <a:avLst/>
          </a:prstGeom>
          <a:solidFill>
            <a:srgbClr val="2E5496"/>
          </a:solidFill>
          <a:ln w="12700">
            <a:solidFill>
              <a:srgbClr val="2E5496"/>
            </a:solidFill>
            <a:prstDash val="solid"/>
          </a:ln>
        </p:spPr>
      </p:sp>
      <p:sp>
        <p:nvSpPr>
          <p:cNvPr id="12" name="Text 9"/>
          <p:cNvSpPr/>
          <p:nvPr/>
        </p:nvSpPr>
        <p:spPr>
          <a:xfrm>
            <a:off x="3401568" y="13258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3" name="Text 10"/>
          <p:cNvSpPr/>
          <p:nvPr/>
        </p:nvSpPr>
        <p:spPr>
          <a:xfrm>
            <a:off x="3922776" y="132588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No gain · v.5b</a:t>
            </a:r>
            <a:endParaRPr lang="en-US" sz="1200" dirty="0"/>
          </a:p>
        </p:txBody>
      </p:sp>
      <p:sp>
        <p:nvSpPr>
          <p:cNvPr id="14" name="Text 11"/>
          <p:cNvSpPr/>
          <p:nvPr/>
        </p:nvSpPr>
        <p:spPr>
          <a:xfrm>
            <a:off x="3401568" y="182880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No cloak for covetousness — “God is witness”</a:t>
            </a:r>
            <a:endParaRPr lang="en-US" sz="1200" dirty="0"/>
          </a:p>
        </p:txBody>
      </p:sp>
      <p:sp>
        <p:nvSpPr>
          <p:cNvPr id="15" name="Shape 12"/>
          <p:cNvSpPr/>
          <p:nvPr/>
        </p:nvSpPr>
        <p:spPr>
          <a:xfrm>
            <a:off x="6071616" y="1188720"/>
            <a:ext cx="2615184" cy="1572768"/>
          </a:xfrm>
          <a:prstGeom prst="rect">
            <a:avLst/>
          </a:prstGeom>
          <a:solidFill>
            <a:srgbClr val="F2F6FC"/>
          </a:solidFill>
          <a:ln w="9525">
            <a:solidFill>
              <a:srgbClr val="D5DCEA"/>
            </a:solidFill>
            <a:prstDash val="solid"/>
          </a:ln>
        </p:spPr>
      </p:sp>
      <p:sp>
        <p:nvSpPr>
          <p:cNvPr id="16" name="Shape 13"/>
          <p:cNvSpPr/>
          <p:nvPr/>
        </p:nvSpPr>
        <p:spPr>
          <a:xfrm>
            <a:off x="6208776" y="1325880"/>
            <a:ext cx="420624" cy="420624"/>
          </a:xfrm>
          <a:prstGeom prst="ellipse">
            <a:avLst/>
          </a:prstGeom>
          <a:solidFill>
            <a:srgbClr val="2E5496"/>
          </a:solidFill>
          <a:ln w="12700">
            <a:solidFill>
              <a:srgbClr val="2E5496"/>
            </a:solidFill>
            <a:prstDash val="solid"/>
          </a:ln>
        </p:spPr>
      </p:sp>
      <p:sp>
        <p:nvSpPr>
          <p:cNvPr id="17" name="Text 14"/>
          <p:cNvSpPr/>
          <p:nvPr/>
        </p:nvSpPr>
        <p:spPr>
          <a:xfrm>
            <a:off x="6208776" y="13258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a:t>
            </a:r>
            <a:endParaRPr lang="en-US" sz="1300" dirty="0"/>
          </a:p>
        </p:txBody>
      </p:sp>
      <p:sp>
        <p:nvSpPr>
          <p:cNvPr id="18" name="Text 15"/>
          <p:cNvSpPr/>
          <p:nvPr/>
        </p:nvSpPr>
        <p:spPr>
          <a:xfrm>
            <a:off x="6729984" y="132588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No glory · v.6</a:t>
            </a:r>
            <a:endParaRPr lang="en-US" sz="1200" dirty="0"/>
          </a:p>
        </p:txBody>
      </p:sp>
      <p:sp>
        <p:nvSpPr>
          <p:cNvPr id="19" name="Text 16"/>
          <p:cNvSpPr/>
          <p:nvPr/>
        </p:nvSpPr>
        <p:spPr>
          <a:xfrm>
            <a:off x="6208776" y="182880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He had an apostle’s rights — and chose not to use them</a:t>
            </a:r>
            <a:endParaRPr lang="en-US" sz="1200" dirty="0"/>
          </a:p>
        </p:txBody>
      </p:sp>
      <p:sp>
        <p:nvSpPr>
          <p:cNvPr id="20" name="Shape 17"/>
          <p:cNvSpPr/>
          <p:nvPr/>
        </p:nvSpPr>
        <p:spPr>
          <a:xfrm>
            <a:off x="457200" y="2926080"/>
            <a:ext cx="2615184" cy="1572768"/>
          </a:xfrm>
          <a:prstGeom prst="rect">
            <a:avLst/>
          </a:prstGeom>
          <a:solidFill>
            <a:srgbClr val="F2F6FC"/>
          </a:solidFill>
          <a:ln w="9525">
            <a:solidFill>
              <a:srgbClr val="D5DCEA"/>
            </a:solidFill>
            <a:prstDash val="solid"/>
          </a:ln>
        </p:spPr>
      </p:sp>
      <p:sp>
        <p:nvSpPr>
          <p:cNvPr id="21" name="Shape 18"/>
          <p:cNvSpPr/>
          <p:nvPr/>
        </p:nvSpPr>
        <p:spPr>
          <a:xfrm>
            <a:off x="594360" y="3063240"/>
            <a:ext cx="420624" cy="420624"/>
          </a:xfrm>
          <a:prstGeom prst="ellipse">
            <a:avLst/>
          </a:prstGeom>
          <a:solidFill>
            <a:srgbClr val="375623"/>
          </a:solidFill>
          <a:ln w="12700">
            <a:solidFill>
              <a:srgbClr val="375623"/>
            </a:solidFill>
            <a:prstDash val="solid"/>
          </a:ln>
        </p:spPr>
      </p:sp>
      <p:sp>
        <p:nvSpPr>
          <p:cNvPr id="22" name="Text 19"/>
          <p:cNvSpPr/>
          <p:nvPr/>
        </p:nvSpPr>
        <p:spPr>
          <a:xfrm>
            <a:off x="594360" y="306324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D</a:t>
            </a:r>
            <a:endParaRPr lang="en-US" sz="1300" dirty="0"/>
          </a:p>
        </p:txBody>
      </p:sp>
      <p:sp>
        <p:nvSpPr>
          <p:cNvPr id="23" name="Text 20"/>
          <p:cNvSpPr/>
          <p:nvPr/>
        </p:nvSpPr>
        <p:spPr>
          <a:xfrm>
            <a:off x="1115568" y="306324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A mother’s love · v.7</a:t>
            </a:r>
            <a:endParaRPr lang="en-US" sz="1200" dirty="0"/>
          </a:p>
        </p:txBody>
      </p:sp>
      <p:sp>
        <p:nvSpPr>
          <p:cNvPr id="24" name="Text 21"/>
          <p:cNvSpPr/>
          <p:nvPr/>
        </p:nvSpPr>
        <p:spPr>
          <a:xfrm>
            <a:off x="594360" y="356616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τροφός — a nursing mother gives of her own substance</a:t>
            </a:r>
            <a:endParaRPr lang="en-US" sz="1200" dirty="0"/>
          </a:p>
        </p:txBody>
      </p:sp>
      <p:sp>
        <p:nvSpPr>
          <p:cNvPr id="25" name="Shape 22"/>
          <p:cNvSpPr/>
          <p:nvPr/>
        </p:nvSpPr>
        <p:spPr>
          <a:xfrm>
            <a:off x="3264408" y="2926080"/>
            <a:ext cx="2615184" cy="1572768"/>
          </a:xfrm>
          <a:prstGeom prst="rect">
            <a:avLst/>
          </a:prstGeom>
          <a:solidFill>
            <a:srgbClr val="F2F6FC"/>
          </a:solidFill>
          <a:ln w="9525">
            <a:solidFill>
              <a:srgbClr val="D5DCEA"/>
            </a:solidFill>
            <a:prstDash val="solid"/>
          </a:ln>
        </p:spPr>
      </p:sp>
      <p:sp>
        <p:nvSpPr>
          <p:cNvPr id="26" name="Shape 23"/>
          <p:cNvSpPr/>
          <p:nvPr/>
        </p:nvSpPr>
        <p:spPr>
          <a:xfrm>
            <a:off x="3401568" y="3063240"/>
            <a:ext cx="420624" cy="420624"/>
          </a:xfrm>
          <a:prstGeom prst="ellipse">
            <a:avLst/>
          </a:prstGeom>
          <a:solidFill>
            <a:srgbClr val="375623"/>
          </a:solidFill>
          <a:ln w="12700">
            <a:solidFill>
              <a:srgbClr val="375623"/>
            </a:solidFill>
            <a:prstDash val="solid"/>
          </a:ln>
        </p:spPr>
      </p:sp>
      <p:sp>
        <p:nvSpPr>
          <p:cNvPr id="27" name="Text 24"/>
          <p:cNvSpPr/>
          <p:nvPr/>
        </p:nvSpPr>
        <p:spPr>
          <a:xfrm>
            <a:off x="3401568" y="306324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E</a:t>
            </a:r>
            <a:endParaRPr lang="en-US" sz="1300" dirty="0"/>
          </a:p>
        </p:txBody>
      </p:sp>
      <p:sp>
        <p:nvSpPr>
          <p:cNvPr id="28" name="Text 25"/>
          <p:cNvSpPr/>
          <p:nvPr/>
        </p:nvSpPr>
        <p:spPr>
          <a:xfrm>
            <a:off x="3922776" y="306324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His own life · v.8</a:t>
            </a:r>
            <a:endParaRPr lang="en-US" sz="1200" dirty="0"/>
          </a:p>
        </p:txBody>
      </p:sp>
      <p:sp>
        <p:nvSpPr>
          <p:cNvPr id="29" name="Text 26"/>
          <p:cNvSpPr/>
          <p:nvPr/>
        </p:nvSpPr>
        <p:spPr>
          <a:xfrm>
            <a:off x="3401568" y="356616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Not a hands-on job but an arms-around job</a:t>
            </a:r>
            <a:endParaRPr lang="en-US" sz="1200" dirty="0"/>
          </a:p>
        </p:txBody>
      </p:sp>
      <p:sp>
        <p:nvSpPr>
          <p:cNvPr id="30" name="Shape 27"/>
          <p:cNvSpPr/>
          <p:nvPr/>
        </p:nvSpPr>
        <p:spPr>
          <a:xfrm>
            <a:off x="6071616" y="2926080"/>
            <a:ext cx="2615184" cy="1572768"/>
          </a:xfrm>
          <a:prstGeom prst="rect">
            <a:avLst/>
          </a:prstGeom>
          <a:solidFill>
            <a:srgbClr val="F2F6FC"/>
          </a:solidFill>
          <a:ln w="9525">
            <a:solidFill>
              <a:srgbClr val="D5DCEA"/>
            </a:solidFill>
            <a:prstDash val="solid"/>
          </a:ln>
        </p:spPr>
      </p:sp>
      <p:sp>
        <p:nvSpPr>
          <p:cNvPr id="31" name="Shape 28"/>
          <p:cNvSpPr/>
          <p:nvPr/>
        </p:nvSpPr>
        <p:spPr>
          <a:xfrm>
            <a:off x="6208776" y="3063240"/>
            <a:ext cx="420624" cy="420624"/>
          </a:xfrm>
          <a:prstGeom prst="ellipse">
            <a:avLst/>
          </a:prstGeom>
          <a:solidFill>
            <a:srgbClr val="7030A0"/>
          </a:solidFill>
          <a:ln w="12700">
            <a:solidFill>
              <a:srgbClr val="7030A0"/>
            </a:solidFill>
            <a:prstDash val="solid"/>
          </a:ln>
        </p:spPr>
      </p:sp>
      <p:sp>
        <p:nvSpPr>
          <p:cNvPr id="32" name="Text 29"/>
          <p:cNvSpPr/>
          <p:nvPr/>
        </p:nvSpPr>
        <p:spPr>
          <a:xfrm>
            <a:off x="6208776" y="306324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F</a:t>
            </a:r>
            <a:endParaRPr lang="en-US" sz="1300" dirty="0"/>
          </a:p>
        </p:txBody>
      </p:sp>
      <p:sp>
        <p:nvSpPr>
          <p:cNvPr id="33" name="Text 30"/>
          <p:cNvSpPr/>
          <p:nvPr/>
        </p:nvSpPr>
        <p:spPr>
          <a:xfrm>
            <a:off x="6729984" y="306324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Night and day · v.9</a:t>
            </a:r>
            <a:endParaRPr lang="en-US" sz="1200" dirty="0"/>
          </a:p>
        </p:txBody>
      </p:sp>
      <p:sp>
        <p:nvSpPr>
          <p:cNvPr id="34" name="Text 31"/>
          <p:cNvSpPr/>
          <p:nvPr/>
        </p:nvSpPr>
        <p:spPr>
          <a:xfrm>
            <a:off x="6208776" y="356616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He worked so as not to burden them — no one could say he preached for profit</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A mother and a father</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2:7–12 · II.B.2 and II.D — Two pictures of ministry</a:t>
            </a:r>
            <a:endParaRPr lang="en-US" sz="1200" dirty="0"/>
          </a:p>
        </p:txBody>
      </p:sp>
      <p:sp>
        <p:nvSpPr>
          <p:cNvPr id="5" name="Shape 2"/>
          <p:cNvSpPr/>
          <p:nvPr/>
        </p:nvSpPr>
        <p:spPr>
          <a:xfrm>
            <a:off x="457200" y="1188720"/>
            <a:ext cx="2499360" cy="566928"/>
          </a:xfrm>
          <a:prstGeom prst="rect">
            <a:avLst/>
          </a:prstGeom>
          <a:solidFill>
            <a:srgbClr val="2E5496"/>
          </a:solidFill>
          <a:ln w="12700">
            <a:solidFill>
              <a:srgbClr val="2E5496"/>
            </a:solidFill>
            <a:prstDash val="solid"/>
          </a:ln>
        </p:spPr>
      </p:sp>
      <p:sp>
        <p:nvSpPr>
          <p:cNvPr id="6" name="Text 3"/>
          <p:cNvSpPr/>
          <p:nvPr/>
        </p:nvSpPr>
        <p:spPr>
          <a:xfrm>
            <a:off x="548640" y="1234440"/>
            <a:ext cx="2316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A nursing mother · vv.7–8</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τροφός</a:t>
            </a:r>
            <a:pPr indent="0" marL="0">
              <a:buNone/>
            </a:pPr>
            <a:r>
              <a:rPr lang="en-US" sz="850" dirty="0">
                <a:solidFill>
                  <a:srgbClr val="DCE4F2"/>
                </a:solidFill>
                <a:latin typeface="Arial" pitchFamily="34" charset="0"/>
                <a:ea typeface="Arial" pitchFamily="34" charset="-122"/>
                <a:cs typeface="Arial" pitchFamily="34" charset="-120"/>
              </a:rPr>
              <a:t>  trophos · G5162</a:t>
            </a:r>
            <a:endParaRPr lang="en-US" sz="1200" dirty="0"/>
          </a:p>
        </p:txBody>
      </p:sp>
      <p:sp>
        <p:nvSpPr>
          <p:cNvPr id="7" name="Shape 4"/>
          <p:cNvSpPr/>
          <p:nvPr/>
        </p:nvSpPr>
        <p:spPr>
          <a:xfrm>
            <a:off x="457200" y="1755648"/>
            <a:ext cx="2499360" cy="1947672"/>
          </a:xfrm>
          <a:prstGeom prst="rect">
            <a:avLst/>
          </a:prstGeom>
          <a:solidFill>
            <a:srgbClr val="F2F6FC"/>
          </a:solidFill>
          <a:ln w="9525">
            <a:solidFill>
              <a:srgbClr val="D5DCEA"/>
            </a:solidFill>
            <a:prstDash val="solid"/>
          </a:ln>
        </p:spPr>
      </p:sp>
      <p:sp>
        <p:nvSpPr>
          <p:cNvPr id="8" name="Text 5"/>
          <p:cNvSpPr/>
          <p:nvPr/>
        </p:nvSpPr>
        <p:spPr>
          <a:xfrm>
            <a:off x="548640" y="1828800"/>
            <a:ext cx="2316480" cy="181965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Holds, feeds, warms</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Gives of her own substance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Imparts the gospel and her own life</a:t>
            </a:r>
            <a:endParaRPr lang="en-US" sz="1250" dirty="0"/>
          </a:p>
        </p:txBody>
      </p:sp>
      <p:sp>
        <p:nvSpPr>
          <p:cNvPr id="9" name="Shape 6"/>
          <p:cNvSpPr/>
          <p:nvPr/>
        </p:nvSpPr>
        <p:spPr>
          <a:xfrm>
            <a:off x="3020568" y="2327148"/>
            <a:ext cx="237744" cy="237744"/>
          </a:xfrm>
          <a:prstGeom prst="rightArrow">
            <a:avLst/>
          </a:prstGeom>
          <a:solidFill>
            <a:srgbClr val="6B7280"/>
          </a:solidFill>
          <a:ln w="12700">
            <a:solidFill>
              <a:srgbClr val="6B7280"/>
            </a:solidFill>
            <a:prstDash val="solid"/>
          </a:ln>
        </p:spPr>
      </p:sp>
      <p:sp>
        <p:nvSpPr>
          <p:cNvPr id="10" name="Shape 7"/>
          <p:cNvSpPr/>
          <p:nvPr/>
        </p:nvSpPr>
        <p:spPr>
          <a:xfrm>
            <a:off x="3322320" y="1188720"/>
            <a:ext cx="2499360" cy="566928"/>
          </a:xfrm>
          <a:prstGeom prst="rect">
            <a:avLst/>
          </a:prstGeom>
          <a:solidFill>
            <a:srgbClr val="1F3864"/>
          </a:solidFill>
          <a:ln w="12700">
            <a:solidFill>
              <a:srgbClr val="1F3864"/>
            </a:solidFill>
            <a:prstDash val="solid"/>
          </a:ln>
        </p:spPr>
      </p:sp>
      <p:sp>
        <p:nvSpPr>
          <p:cNvPr id="11" name="Text 8"/>
          <p:cNvSpPr/>
          <p:nvPr/>
        </p:nvSpPr>
        <p:spPr>
          <a:xfrm>
            <a:off x="3413760" y="1234440"/>
            <a:ext cx="2316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Before two witnesses · v.10</a:t>
            </a:r>
            <a:endParaRPr lang="en-US" sz="1200" dirty="0"/>
          </a:p>
        </p:txBody>
      </p:sp>
      <p:sp>
        <p:nvSpPr>
          <p:cNvPr id="12" name="Shape 9"/>
          <p:cNvSpPr/>
          <p:nvPr/>
        </p:nvSpPr>
        <p:spPr>
          <a:xfrm>
            <a:off x="3322320" y="1755648"/>
            <a:ext cx="2499360" cy="1947672"/>
          </a:xfrm>
          <a:prstGeom prst="rect">
            <a:avLst/>
          </a:prstGeom>
          <a:solidFill>
            <a:srgbClr val="F2F6FC"/>
          </a:solidFill>
          <a:ln w="9525">
            <a:solidFill>
              <a:srgbClr val="D5DCEA"/>
            </a:solidFill>
            <a:prstDash val="solid"/>
          </a:ln>
        </p:spPr>
      </p:sp>
      <p:sp>
        <p:nvSpPr>
          <p:cNvPr id="13" name="Text 10"/>
          <p:cNvSpPr/>
          <p:nvPr/>
        </p:nvSpPr>
        <p:spPr>
          <a:xfrm>
            <a:off x="3413760" y="1828800"/>
            <a:ext cx="2316480" cy="181965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Devoutly — ὁσίως</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Justly — δικαίως</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Blamelessly — ἀμέμπτως</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“You are witnesses, and God also”</a:t>
            </a:r>
            <a:endParaRPr lang="en-US" sz="1250" dirty="0"/>
          </a:p>
        </p:txBody>
      </p:sp>
      <p:sp>
        <p:nvSpPr>
          <p:cNvPr id="14" name="Shape 11"/>
          <p:cNvSpPr/>
          <p:nvPr/>
        </p:nvSpPr>
        <p:spPr>
          <a:xfrm>
            <a:off x="5885688" y="2327148"/>
            <a:ext cx="237744" cy="237744"/>
          </a:xfrm>
          <a:prstGeom prst="rightArrow">
            <a:avLst/>
          </a:prstGeom>
          <a:solidFill>
            <a:srgbClr val="6B7280"/>
          </a:solidFill>
          <a:ln w="12700">
            <a:solidFill>
              <a:srgbClr val="6B7280"/>
            </a:solidFill>
            <a:prstDash val="solid"/>
          </a:ln>
        </p:spPr>
      </p:sp>
      <p:sp>
        <p:nvSpPr>
          <p:cNvPr id="15" name="Shape 12"/>
          <p:cNvSpPr/>
          <p:nvPr/>
        </p:nvSpPr>
        <p:spPr>
          <a:xfrm>
            <a:off x="6187440" y="1188720"/>
            <a:ext cx="2499360" cy="566928"/>
          </a:xfrm>
          <a:prstGeom prst="rect">
            <a:avLst/>
          </a:prstGeom>
          <a:solidFill>
            <a:srgbClr val="375623"/>
          </a:solidFill>
          <a:ln w="12700">
            <a:solidFill>
              <a:srgbClr val="375623"/>
            </a:solidFill>
            <a:prstDash val="solid"/>
          </a:ln>
        </p:spPr>
      </p:sp>
      <p:sp>
        <p:nvSpPr>
          <p:cNvPr id="16" name="Text 13"/>
          <p:cNvSpPr/>
          <p:nvPr/>
        </p:nvSpPr>
        <p:spPr>
          <a:xfrm>
            <a:off x="6278880" y="1234440"/>
            <a:ext cx="2316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A father · vv.11–12</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παρακαλοῦντες</a:t>
            </a:r>
            <a:pPr indent="0" marL="0">
              <a:buNone/>
            </a:pPr>
            <a:r>
              <a:rPr lang="en-US" sz="850" dirty="0">
                <a:solidFill>
                  <a:srgbClr val="DCE4F2"/>
                </a:solidFill>
                <a:latin typeface="Arial" pitchFamily="34" charset="0"/>
                <a:ea typeface="Arial" pitchFamily="34" charset="-122"/>
                <a:cs typeface="Arial" pitchFamily="34" charset="-120"/>
              </a:rPr>
              <a:t>  exhorting · G3870</a:t>
            </a:r>
            <a:endParaRPr lang="en-US" sz="1200" dirty="0"/>
          </a:p>
        </p:txBody>
      </p:sp>
      <p:sp>
        <p:nvSpPr>
          <p:cNvPr id="17" name="Shape 14"/>
          <p:cNvSpPr/>
          <p:nvPr/>
        </p:nvSpPr>
        <p:spPr>
          <a:xfrm>
            <a:off x="6187440" y="1755648"/>
            <a:ext cx="2499360" cy="1947672"/>
          </a:xfrm>
          <a:prstGeom prst="rect">
            <a:avLst/>
          </a:prstGeom>
          <a:solidFill>
            <a:srgbClr val="F2F6FC"/>
          </a:solidFill>
          <a:ln w="9525">
            <a:solidFill>
              <a:srgbClr val="D5DCEA"/>
            </a:solidFill>
            <a:prstDash val="solid"/>
          </a:ln>
        </p:spPr>
      </p:sp>
      <p:sp>
        <p:nvSpPr>
          <p:cNvPr id="18" name="Text 15"/>
          <p:cNvSpPr/>
          <p:nvPr/>
        </p:nvSpPr>
        <p:spPr>
          <a:xfrm>
            <a:off x="6278880" y="1828800"/>
            <a:ext cx="2316480" cy="181965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Exhorted — called alongside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Comforted — arm around the shoulder</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Charged — testified (μαρτυρόμενοι)</a:t>
            </a:r>
            <a:endParaRPr lang="en-US" sz="1250" dirty="0"/>
          </a:p>
        </p:txBody>
      </p:sp>
      <p:sp>
        <p:nvSpPr>
          <p:cNvPr id="19" name="Shape 16"/>
          <p:cNvSpPr/>
          <p:nvPr/>
        </p:nvSpPr>
        <p:spPr>
          <a:xfrm>
            <a:off x="457200" y="3886200"/>
            <a:ext cx="8229600" cy="731520"/>
          </a:xfrm>
          <a:prstGeom prst="roundRect">
            <a:avLst>
              <a:gd name="adj" fmla="val 7500"/>
            </a:avLst>
          </a:prstGeom>
          <a:solidFill>
            <a:srgbClr val="1F3864"/>
          </a:solidFill>
          <a:ln w="12700">
            <a:solidFill>
              <a:srgbClr val="1F3864"/>
            </a:solidFill>
            <a:prstDash val="solid"/>
          </a:ln>
        </p:spPr>
      </p:sp>
      <p:sp>
        <p:nvSpPr>
          <p:cNvPr id="20" name="Text 17"/>
          <p:cNvSpPr/>
          <p:nvPr/>
        </p:nvSpPr>
        <p:spPr>
          <a:xfrm>
            <a:off x="621792" y="3886200"/>
            <a:ext cx="7900416" cy="731520"/>
          </a:xfrm>
          <a:prstGeom prst="rect">
            <a:avLst/>
          </a:prstGeom>
          <a:noFill/>
          <a:ln/>
        </p:spPr>
        <p:txBody>
          <a:bodyPr wrap="square" lIns="0" tIns="0" rIns="0" bIns="0" rtlCol="0" anchor="ctr"/>
          <a:lstStyle/>
          <a:p>
            <a:pPr indent="0" marL="0">
              <a:buNone/>
            </a:pPr>
            <a:r>
              <a:rPr lang="en-US" sz="1200" b="1" dirty="0">
                <a:solidFill>
                  <a:srgbClr val="C9D5EE"/>
                </a:solidFill>
                <a:latin typeface="Arial" pitchFamily="34" charset="0"/>
                <a:ea typeface="Arial" pitchFamily="34" charset="-122"/>
                <a:cs typeface="Arial" pitchFamily="34" charset="-120"/>
              </a:rPr>
              <a:t>The goal · v.12:  </a:t>
            </a:r>
            <a:pPr indent="0" marL="0">
              <a:buNone/>
            </a:pPr>
            <a:r>
              <a:rPr lang="en-US" sz="1200" dirty="0">
                <a:solidFill>
                  <a:srgbClr val="FFFFFF"/>
                </a:solidFill>
                <a:latin typeface="Arial" pitchFamily="34" charset="0"/>
                <a:ea typeface="Arial" pitchFamily="34" charset="-122"/>
                <a:cs typeface="Arial" pitchFamily="34" charset="-120"/>
              </a:rPr>
              <a:t>“that you would walk worthy (ἀξίως) of God who calls you” — a life that carries the same weight as the calling.</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Discuss and apply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2:1–12 · from the study's posted questions and applications</a:t>
            </a:r>
            <a:endParaRPr lang="en-US" sz="1200" dirty="0"/>
          </a:p>
        </p:txBody>
      </p:sp>
      <p:sp>
        <p:nvSpPr>
          <p:cNvPr id="5" name="Shape 2"/>
          <p:cNvSpPr/>
          <p:nvPr/>
        </p:nvSpPr>
        <p:spPr>
          <a:xfrm>
            <a:off x="457200" y="1115568"/>
            <a:ext cx="4023360" cy="384048"/>
          </a:xfrm>
          <a:prstGeom prst="rect">
            <a:avLst/>
          </a:prstGeom>
          <a:solidFill>
            <a:srgbClr val="2E5496"/>
          </a:solidFill>
          <a:ln w="12700">
            <a:solidFill>
              <a:srgbClr val="2E5496"/>
            </a:solidFill>
            <a:prstDash val="solid"/>
          </a:ln>
        </p:spPr>
      </p:sp>
      <p:sp>
        <p:nvSpPr>
          <p:cNvPr id="6" name="Text 3"/>
          <p:cNvSpPr/>
          <p:nvPr/>
        </p:nvSpPr>
        <p:spPr>
          <a:xfrm>
            <a:off x="56692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Discuss</a:t>
            </a:r>
            <a:endParaRPr lang="en-US" sz="1300" dirty="0"/>
          </a:p>
        </p:txBody>
      </p:sp>
      <p:sp>
        <p:nvSpPr>
          <p:cNvPr id="7" name="Shape 4"/>
          <p:cNvSpPr/>
          <p:nvPr/>
        </p:nvSpPr>
        <p:spPr>
          <a:xfrm>
            <a:off x="457200" y="1499616"/>
            <a:ext cx="4023360" cy="2359152"/>
          </a:xfrm>
          <a:prstGeom prst="rect">
            <a:avLst/>
          </a:prstGeom>
          <a:solidFill>
            <a:srgbClr val="F2F6FC"/>
          </a:solidFill>
          <a:ln w="9525">
            <a:solidFill>
              <a:srgbClr val="D5DCEA"/>
            </a:solidFill>
            <a:prstDash val="solid"/>
          </a:ln>
        </p:spPr>
      </p:sp>
      <p:sp>
        <p:nvSpPr>
          <p:cNvPr id="8" name="Shape 5"/>
          <p:cNvSpPr/>
          <p:nvPr/>
        </p:nvSpPr>
        <p:spPr>
          <a:xfrm>
            <a:off x="4663440" y="1115568"/>
            <a:ext cx="4023360" cy="384048"/>
          </a:xfrm>
          <a:prstGeom prst="rect">
            <a:avLst/>
          </a:prstGeom>
          <a:solidFill>
            <a:srgbClr val="375623"/>
          </a:solidFill>
          <a:ln w="12700">
            <a:solidFill>
              <a:srgbClr val="375623"/>
            </a:solidFill>
            <a:prstDash val="solid"/>
          </a:ln>
        </p:spPr>
      </p:sp>
      <p:sp>
        <p:nvSpPr>
          <p:cNvPr id="9" name="Text 6"/>
          <p:cNvSpPr/>
          <p:nvPr/>
        </p:nvSpPr>
        <p:spPr>
          <a:xfrm>
            <a:off x="477316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Apply</a:t>
            </a:r>
            <a:endParaRPr lang="en-US" sz="1300" dirty="0"/>
          </a:p>
        </p:txBody>
      </p:sp>
      <p:sp>
        <p:nvSpPr>
          <p:cNvPr id="10" name="Shape 7"/>
          <p:cNvSpPr/>
          <p:nvPr/>
        </p:nvSpPr>
        <p:spPr>
          <a:xfrm>
            <a:off x="4663440" y="1499616"/>
            <a:ext cx="4023360" cy="2359152"/>
          </a:xfrm>
          <a:prstGeom prst="rect">
            <a:avLst/>
          </a:prstGeom>
          <a:solidFill>
            <a:srgbClr val="F2F6FC"/>
          </a:solidFill>
          <a:ln w="9525">
            <a:solidFill>
              <a:srgbClr val="D5DCEA"/>
            </a:solidFill>
            <a:prstDash val="solid"/>
          </a:ln>
        </p:spPr>
      </p:sp>
      <p:sp>
        <p:nvSpPr>
          <p:cNvPr id="11" name="Shape 8"/>
          <p:cNvSpPr/>
          <p:nvPr/>
        </p:nvSpPr>
        <p:spPr>
          <a:xfrm>
            <a:off x="566928" y="1636776"/>
            <a:ext cx="347472" cy="347472"/>
          </a:xfrm>
          <a:prstGeom prst="ellipse">
            <a:avLst/>
          </a:prstGeom>
          <a:solidFill>
            <a:srgbClr val="2E5496"/>
          </a:solidFill>
          <a:ln w="12700">
            <a:solidFill>
              <a:srgbClr val="2E5496"/>
            </a:solidFill>
            <a:prstDash val="solid"/>
          </a:ln>
        </p:spPr>
      </p:sp>
      <p:sp>
        <p:nvSpPr>
          <p:cNvPr id="12" name="Text 9"/>
          <p:cNvSpPr/>
          <p:nvPr/>
        </p:nvSpPr>
        <p:spPr>
          <a:xfrm>
            <a:off x="566928" y="16367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3" name="Text 10"/>
          <p:cNvSpPr/>
          <p:nvPr/>
        </p:nvSpPr>
        <p:spPr>
          <a:xfrm>
            <a:off x="1005840" y="1591056"/>
            <a:ext cx="3364992" cy="1042416"/>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Paul denies three things in verse 3 — error, uncleanness and deceit. What specific danger does each one represent for a gospel messenger today?</a:t>
            </a:r>
            <a:endParaRPr lang="en-US" sz="1250" dirty="0"/>
          </a:p>
        </p:txBody>
      </p:sp>
      <p:sp>
        <p:nvSpPr>
          <p:cNvPr id="14" name="Shape 11"/>
          <p:cNvSpPr/>
          <p:nvPr/>
        </p:nvSpPr>
        <p:spPr>
          <a:xfrm>
            <a:off x="566928" y="2724912"/>
            <a:ext cx="347472" cy="347472"/>
          </a:xfrm>
          <a:prstGeom prst="ellipse">
            <a:avLst/>
          </a:prstGeom>
          <a:solidFill>
            <a:srgbClr val="2E5496"/>
          </a:solidFill>
          <a:ln w="12700">
            <a:solidFill>
              <a:srgbClr val="2E5496"/>
            </a:solidFill>
            <a:prstDash val="solid"/>
          </a:ln>
        </p:spPr>
      </p:sp>
      <p:sp>
        <p:nvSpPr>
          <p:cNvPr id="15" name="Text 12"/>
          <p:cNvSpPr/>
          <p:nvPr/>
        </p:nvSpPr>
        <p:spPr>
          <a:xfrm>
            <a:off x="566928" y="272491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6" name="Text 13"/>
          <p:cNvSpPr/>
          <p:nvPr/>
        </p:nvSpPr>
        <p:spPr>
          <a:xfrm>
            <a:off x="1005840" y="2679192"/>
            <a:ext cx="3364992" cy="1042416"/>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Paul uses a nursing mother (v.7) and a father (v.11). What is distinctive about each image, and what would a ministry shaped by both look like in your group?</a:t>
            </a:r>
            <a:endParaRPr lang="en-US" sz="1250" dirty="0"/>
          </a:p>
        </p:txBody>
      </p:sp>
      <p:sp>
        <p:nvSpPr>
          <p:cNvPr id="17" name="Text 14"/>
          <p:cNvSpPr/>
          <p:nvPr/>
        </p:nvSpPr>
        <p:spPr>
          <a:xfrm>
            <a:off x="4791456" y="1591056"/>
            <a:ext cx="3767328" cy="1042416"/>
          </a:xfrm>
          <a:prstGeom prst="rect">
            <a:avLst/>
          </a:prstGeom>
          <a:noFill/>
          <a:ln/>
        </p:spPr>
        <p:txBody>
          <a:bodyPr wrap="square" lIns="0" tIns="0" rIns="0" bIns="0" rtlCol="0" anchor="t"/>
          <a:lstStyle/>
          <a:p>
            <a:pPr indent="0" marL="0">
              <a:buNone/>
            </a:pPr>
            <a:r>
              <a:rPr lang="en-US" sz="1250" b="1" dirty="0">
                <a:solidFill>
                  <a:srgbClr val="1F3864"/>
                </a:solidFill>
                <a:latin typeface="Arial" pitchFamily="34" charset="0"/>
                <a:ea typeface="Arial" pitchFamily="34" charset="-122"/>
                <a:cs typeface="Arial" pitchFamily="34" charset="-120"/>
              </a:rPr>
              <a:t>Refuse the Three G’s</a:t>
            </a:r>
            <a:endParaRPr lang="en-US" sz="1250" dirty="0"/>
          </a:p>
          <a:p>
            <a:pPr indent="0" marL="0">
              <a:buNone/>
            </a:pPr>
            <a:r>
              <a:rPr lang="en-US" sz="1200" dirty="0">
                <a:solidFill>
                  <a:srgbClr val="262626"/>
                </a:solidFill>
                <a:latin typeface="Arial" pitchFamily="34" charset="0"/>
                <a:ea typeface="Arial" pitchFamily="34" charset="-122"/>
                <a:cs typeface="Arial" pitchFamily="34" charset="-120"/>
              </a:rPr>
              <a:t>Find one place this week where you’d seek recognition for a spiritual contribution — and deliberately step back.</a:t>
            </a:r>
            <a:endParaRPr lang="en-US" sz="1250" dirty="0"/>
          </a:p>
        </p:txBody>
      </p:sp>
      <p:sp>
        <p:nvSpPr>
          <p:cNvPr id="18" name="Text 15"/>
          <p:cNvSpPr/>
          <p:nvPr/>
        </p:nvSpPr>
        <p:spPr>
          <a:xfrm>
            <a:off x="4791456" y="2679192"/>
            <a:ext cx="3767328" cy="1042416"/>
          </a:xfrm>
          <a:prstGeom prst="rect">
            <a:avLst/>
          </a:prstGeom>
          <a:noFill/>
          <a:ln/>
        </p:spPr>
        <p:txBody>
          <a:bodyPr wrap="square" lIns="0" tIns="0" rIns="0" bIns="0" rtlCol="0" anchor="t"/>
          <a:lstStyle/>
          <a:p>
            <a:pPr indent="0" marL="0">
              <a:buNone/>
            </a:pPr>
            <a:r>
              <a:rPr lang="en-US" sz="1250" b="1" dirty="0">
                <a:solidFill>
                  <a:srgbClr val="1F3864"/>
                </a:solidFill>
                <a:latin typeface="Arial" pitchFamily="34" charset="0"/>
                <a:ea typeface="Arial" pitchFamily="34" charset="-122"/>
                <a:cs typeface="Arial" pitchFamily="34" charset="-120"/>
              </a:rPr>
              <a:t>Impart Not Just the Gospel, But Your Life</a:t>
            </a:r>
            <a:endParaRPr lang="en-US" sz="1250" dirty="0"/>
          </a:p>
          <a:p>
            <a:pPr indent="0" marL="0">
              <a:buNone/>
            </a:pPr>
            <a:r>
              <a:rPr lang="en-US" sz="1200" dirty="0">
                <a:solidFill>
                  <a:srgbClr val="262626"/>
                </a:solidFill>
                <a:latin typeface="Arial" pitchFamily="34" charset="0"/>
                <a:ea typeface="Arial" pitchFamily="34" charset="-122"/>
                <a:cs typeface="Arial" pitchFamily="34" charset="-120"/>
              </a:rPr>
              <a:t>Schedule one meal, coffee or visit this month with someone who isn’t yet a believer — simply to be present.</a:t>
            </a:r>
            <a:endParaRPr lang="en-US" sz="1250" dirty="0"/>
          </a:p>
        </p:txBody>
      </p:sp>
      <p:sp>
        <p:nvSpPr>
          <p:cNvPr id="19" name="Shape 16"/>
          <p:cNvSpPr/>
          <p:nvPr/>
        </p:nvSpPr>
        <p:spPr>
          <a:xfrm>
            <a:off x="457200" y="4023360"/>
            <a:ext cx="8229600" cy="566928"/>
          </a:xfrm>
          <a:prstGeom prst="roundRect">
            <a:avLst>
              <a:gd name="adj" fmla="val 9677"/>
            </a:avLst>
          </a:prstGeom>
          <a:solidFill>
            <a:srgbClr val="1F3864"/>
          </a:solidFill>
          <a:ln w="12700">
            <a:solidFill>
              <a:srgbClr val="1F3864"/>
            </a:solidFill>
            <a:prstDash val="solid"/>
          </a:ln>
        </p:spPr>
      </p:sp>
      <p:sp>
        <p:nvSpPr>
          <p:cNvPr id="20" name="Text 17"/>
          <p:cNvSpPr/>
          <p:nvPr/>
        </p:nvSpPr>
        <p:spPr>
          <a:xfrm>
            <a:off x="621792" y="4023360"/>
            <a:ext cx="7900416" cy="566928"/>
          </a:xfrm>
          <a:prstGeom prst="rect">
            <a:avLst/>
          </a:prstGeom>
          <a:noFill/>
          <a:ln/>
        </p:spPr>
        <p:txBody>
          <a:bodyPr wrap="square" lIns="0" tIns="0" rIns="0" bIns="0" rtlCol="0" anchor="ctr"/>
          <a:lstStyle/>
          <a:p>
            <a:pPr indent="0" marL="0">
              <a:buNone/>
            </a:pPr>
            <a:r>
              <a:rPr lang="en-US" sz="1200" b="1" dirty="0">
                <a:solidFill>
                  <a:srgbClr val="C9D5EE"/>
                </a:solidFill>
                <a:latin typeface="Arial" pitchFamily="34" charset="0"/>
                <a:ea typeface="Arial" pitchFamily="34" charset="-122"/>
                <a:cs typeface="Arial" pitchFamily="34" charset="-120"/>
              </a:rPr>
              <a:t>In one line:  </a:t>
            </a:r>
            <a:pPr indent="0" marL="0">
              <a:buNone/>
            </a:pPr>
            <a:r>
              <a:rPr lang="en-US" sz="1200" dirty="0">
                <a:solidFill>
                  <a:srgbClr val="FFFFFF"/>
                </a:solidFill>
                <a:latin typeface="Arial" pitchFamily="34" charset="0"/>
                <a:ea typeface="Arial" pitchFamily="34" charset="-122"/>
                <a:cs typeface="Arial" pitchFamily="34" charset="-120"/>
              </a:rPr>
              <a:t>Carry the gospel — don’t dilute it, don’t exploit it, don’t perform it. Just deliver it, and don’t get in God’s way.</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nchor="ctr"/>
          <a:lstStyle/>
          <a:p>
            <a:pPr indent="0" marL="0">
              <a:buNone/>
            </a:pPr>
            <a:r>
              <a:rPr lang="en-US" sz="1400" dirty="0">
                <a:solidFill>
                  <a:srgbClr val="C9D5EE"/>
                </a:solidFill>
                <a:latin typeface="Arial" pitchFamily="34" charset="0"/>
                <a:ea typeface="Arial" pitchFamily="34" charset="-122"/>
                <a:cs typeface="Arial" pitchFamily="34" charset="-120"/>
              </a:rPr>
              <a:t>Study 4 of 10 · 1 Thessalonians 2:13–20</a:t>
            </a: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lIns="0" tIns="0" rIns="0" bIns="0" rtlCol="0" anchor="ctr"/>
          <a:lstStyle/>
          <a:p>
            <a:pPr algn="l" indent="0" marL="0">
              <a:buNone/>
            </a:pPr>
            <a:r>
              <a:rPr lang="en-US" sz="3400" b="1" dirty="0">
                <a:solidFill>
                  <a:srgbClr val="FFFFFF"/>
                </a:solidFill>
                <a:latin typeface="Arial" pitchFamily="34" charset="0"/>
                <a:ea typeface="Arial" pitchFamily="34" charset="-122"/>
                <a:cs typeface="Arial" pitchFamily="34" charset="-120"/>
              </a:rPr>
              <a:t>A Successful Life of Service</a:t>
            </a: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lIns="0" tIns="0" rIns="0" bIns="0" rtlCol="0" anchor="ctr"/>
          <a:lstStyle/>
          <a:p>
            <a:pPr indent="0" marL="0">
              <a:buNone/>
            </a:pPr>
            <a:r>
              <a:rPr lang="en-US" sz="1500" i="1" dirty="0">
                <a:solidFill>
                  <a:srgbClr val="E6ECF7"/>
                </a:solidFill>
                <a:latin typeface="Arial" pitchFamily="34" charset="0"/>
                <a:ea typeface="Arial" pitchFamily="34" charset="-122"/>
                <a:cs typeface="Arial" pitchFamily="34" charset="-120"/>
              </a:rPr>
              <a:t>The word received as the word of God, suffering imitated well, and a hope that Paul calls his crown — what is your glory and joy?</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Converts, countrymen, crown</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2:13–20 · Outline I–III</a:t>
            </a:r>
            <a:endParaRPr lang="en-US" sz="1200" dirty="0"/>
          </a:p>
        </p:txBody>
      </p:sp>
      <p:sp>
        <p:nvSpPr>
          <p:cNvPr id="5" name="Shape 2"/>
          <p:cNvSpPr/>
          <p:nvPr/>
        </p:nvSpPr>
        <p:spPr>
          <a:xfrm>
            <a:off x="457200" y="1188720"/>
            <a:ext cx="2499360" cy="365760"/>
          </a:xfrm>
          <a:prstGeom prst="rect">
            <a:avLst/>
          </a:prstGeom>
          <a:solidFill>
            <a:srgbClr val="2E5496"/>
          </a:solidFill>
          <a:ln w="12700">
            <a:solidFill>
              <a:srgbClr val="2E5496"/>
            </a:solidFill>
            <a:prstDash val="solid"/>
          </a:ln>
        </p:spPr>
      </p:sp>
      <p:sp>
        <p:nvSpPr>
          <p:cNvPr id="6" name="Text 3"/>
          <p:cNvSpPr/>
          <p:nvPr/>
        </p:nvSpPr>
        <p:spPr>
          <a:xfrm>
            <a:off x="548640" y="1234440"/>
            <a:ext cx="2316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I · The converts</a:t>
            </a:r>
            <a:endParaRPr lang="en-US" sz="1200" dirty="0"/>
          </a:p>
        </p:txBody>
      </p:sp>
      <p:sp>
        <p:nvSpPr>
          <p:cNvPr id="7" name="Shape 4"/>
          <p:cNvSpPr/>
          <p:nvPr/>
        </p:nvSpPr>
        <p:spPr>
          <a:xfrm>
            <a:off x="457200" y="1554480"/>
            <a:ext cx="2499360" cy="2148840"/>
          </a:xfrm>
          <a:prstGeom prst="rect">
            <a:avLst/>
          </a:prstGeom>
          <a:solidFill>
            <a:srgbClr val="F2F6FC"/>
          </a:solidFill>
          <a:ln w="9525">
            <a:solidFill>
              <a:srgbClr val="D5DCEA"/>
            </a:solidFill>
            <a:prstDash val="solid"/>
          </a:ln>
        </p:spPr>
      </p:sp>
      <p:sp>
        <p:nvSpPr>
          <p:cNvPr id="8" name="Text 5"/>
          <p:cNvSpPr/>
          <p:nvPr/>
        </p:nvSpPr>
        <p:spPr>
          <a:xfrm>
            <a:off x="548640" y="1627632"/>
            <a:ext cx="2316480" cy="2020824"/>
          </a:xfrm>
          <a:prstGeom prst="rect">
            <a:avLst/>
          </a:prstGeom>
          <a:noFill/>
          <a:ln/>
        </p:spPr>
        <p:txBody>
          <a:bodyPr wrap="square" lIns="0" tIns="0" rIns="0" bIns="0" rtlCol="0" anchor="t"/>
          <a:lstStyle/>
          <a:p>
            <a:pPr indent="0" marL="0">
              <a:spcAft>
                <a:spcPts val="100"/>
              </a:spcAft>
              <a:buNone/>
            </a:pPr>
            <a:r>
              <a:rPr lang="en-US" sz="1250" b="1" dirty="0">
                <a:solidFill>
                  <a:srgbClr val="1F3864"/>
                </a:solidFill>
                <a:latin typeface="Arial" pitchFamily="34" charset="0"/>
                <a:ea typeface="Arial" pitchFamily="34" charset="-122"/>
                <a:cs typeface="Arial" pitchFamily="34" charset="-120"/>
              </a:rPr>
              <a:t>2:13–14 · Their success</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Welcomed the word as the Word of God</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It keeps working in those who believe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Followed the Judean churches — in suffering</a:t>
            </a:r>
            <a:endParaRPr lang="en-US" sz="1250" dirty="0"/>
          </a:p>
        </p:txBody>
      </p:sp>
      <p:sp>
        <p:nvSpPr>
          <p:cNvPr id="9" name="Shape 6"/>
          <p:cNvSpPr/>
          <p:nvPr/>
        </p:nvSpPr>
        <p:spPr>
          <a:xfrm>
            <a:off x="3020568" y="2327148"/>
            <a:ext cx="237744" cy="237744"/>
          </a:xfrm>
          <a:prstGeom prst="rightArrow">
            <a:avLst/>
          </a:prstGeom>
          <a:solidFill>
            <a:srgbClr val="6B7280"/>
          </a:solidFill>
          <a:ln w="12700">
            <a:solidFill>
              <a:srgbClr val="6B7280"/>
            </a:solidFill>
            <a:prstDash val="solid"/>
          </a:ln>
        </p:spPr>
      </p:sp>
      <p:sp>
        <p:nvSpPr>
          <p:cNvPr id="10" name="Shape 7"/>
          <p:cNvSpPr/>
          <p:nvPr/>
        </p:nvSpPr>
        <p:spPr>
          <a:xfrm>
            <a:off x="3322320" y="1188720"/>
            <a:ext cx="2499360" cy="365760"/>
          </a:xfrm>
          <a:prstGeom prst="rect">
            <a:avLst/>
          </a:prstGeom>
          <a:solidFill>
            <a:srgbClr val="6B7280"/>
          </a:solidFill>
          <a:ln w="12700">
            <a:solidFill>
              <a:srgbClr val="6B7280"/>
            </a:solidFill>
            <a:prstDash val="solid"/>
          </a:ln>
        </p:spPr>
      </p:sp>
      <p:sp>
        <p:nvSpPr>
          <p:cNvPr id="11" name="Text 8"/>
          <p:cNvSpPr/>
          <p:nvPr/>
        </p:nvSpPr>
        <p:spPr>
          <a:xfrm>
            <a:off x="3413760" y="1234440"/>
            <a:ext cx="2316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II · The countrymen</a:t>
            </a:r>
            <a:endParaRPr lang="en-US" sz="1200" dirty="0"/>
          </a:p>
        </p:txBody>
      </p:sp>
      <p:sp>
        <p:nvSpPr>
          <p:cNvPr id="12" name="Shape 9"/>
          <p:cNvSpPr/>
          <p:nvPr/>
        </p:nvSpPr>
        <p:spPr>
          <a:xfrm>
            <a:off x="3322320" y="1554480"/>
            <a:ext cx="2499360" cy="2148840"/>
          </a:xfrm>
          <a:prstGeom prst="rect">
            <a:avLst/>
          </a:prstGeom>
          <a:solidFill>
            <a:srgbClr val="F2F6FC"/>
          </a:solidFill>
          <a:ln w="9525">
            <a:solidFill>
              <a:srgbClr val="D5DCEA"/>
            </a:solidFill>
            <a:prstDash val="solid"/>
          </a:ln>
        </p:spPr>
      </p:sp>
      <p:sp>
        <p:nvSpPr>
          <p:cNvPr id="13" name="Text 10"/>
          <p:cNvSpPr/>
          <p:nvPr/>
        </p:nvSpPr>
        <p:spPr>
          <a:xfrm>
            <a:off x="3413760" y="1627632"/>
            <a:ext cx="2316480" cy="2020824"/>
          </a:xfrm>
          <a:prstGeom prst="rect">
            <a:avLst/>
          </a:prstGeom>
          <a:noFill/>
          <a:ln/>
        </p:spPr>
        <p:txBody>
          <a:bodyPr wrap="square" lIns="0" tIns="0" rIns="0" bIns="0" rtlCol="0" anchor="t"/>
          <a:lstStyle/>
          <a:p>
            <a:pPr indent="0" marL="0">
              <a:spcAft>
                <a:spcPts val="100"/>
              </a:spcAft>
              <a:buNone/>
            </a:pPr>
            <a:r>
              <a:rPr lang="en-US" sz="1250" b="1" dirty="0">
                <a:solidFill>
                  <a:srgbClr val="1F3864"/>
                </a:solidFill>
                <a:latin typeface="Arial" pitchFamily="34" charset="0"/>
                <a:ea typeface="Arial" pitchFamily="34" charset="-122"/>
                <a:cs typeface="Arial" pitchFamily="34" charset="-120"/>
              </a:rPr>
              <a:t>2:15–16 · Their sin</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Killed the Lord and the prophets</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Persecuted Paul; forbade preaching to Gentiles</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Wrath has come upon them</a:t>
            </a:r>
            <a:endParaRPr lang="en-US" sz="1250" dirty="0"/>
          </a:p>
        </p:txBody>
      </p:sp>
      <p:sp>
        <p:nvSpPr>
          <p:cNvPr id="14" name="Shape 11"/>
          <p:cNvSpPr/>
          <p:nvPr/>
        </p:nvSpPr>
        <p:spPr>
          <a:xfrm>
            <a:off x="5885688" y="2327148"/>
            <a:ext cx="237744" cy="237744"/>
          </a:xfrm>
          <a:prstGeom prst="rightArrow">
            <a:avLst/>
          </a:prstGeom>
          <a:solidFill>
            <a:srgbClr val="6B7280"/>
          </a:solidFill>
          <a:ln w="12700">
            <a:solidFill>
              <a:srgbClr val="6B7280"/>
            </a:solidFill>
            <a:prstDash val="solid"/>
          </a:ln>
        </p:spPr>
      </p:sp>
      <p:sp>
        <p:nvSpPr>
          <p:cNvPr id="15" name="Shape 12"/>
          <p:cNvSpPr/>
          <p:nvPr/>
        </p:nvSpPr>
        <p:spPr>
          <a:xfrm>
            <a:off x="6187440" y="1188720"/>
            <a:ext cx="2499360" cy="365760"/>
          </a:xfrm>
          <a:prstGeom prst="rect">
            <a:avLst/>
          </a:prstGeom>
          <a:solidFill>
            <a:srgbClr val="375623"/>
          </a:solidFill>
          <a:ln w="12700">
            <a:solidFill>
              <a:srgbClr val="375623"/>
            </a:solidFill>
            <a:prstDash val="solid"/>
          </a:ln>
        </p:spPr>
      </p:sp>
      <p:sp>
        <p:nvSpPr>
          <p:cNvPr id="16" name="Text 13"/>
          <p:cNvSpPr/>
          <p:nvPr/>
        </p:nvSpPr>
        <p:spPr>
          <a:xfrm>
            <a:off x="6278880" y="1234440"/>
            <a:ext cx="2316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III · The crown</a:t>
            </a:r>
            <a:endParaRPr lang="en-US" sz="1200" dirty="0"/>
          </a:p>
        </p:txBody>
      </p:sp>
      <p:sp>
        <p:nvSpPr>
          <p:cNvPr id="17" name="Shape 14"/>
          <p:cNvSpPr/>
          <p:nvPr/>
        </p:nvSpPr>
        <p:spPr>
          <a:xfrm>
            <a:off x="6187440" y="1554480"/>
            <a:ext cx="2499360" cy="2148840"/>
          </a:xfrm>
          <a:prstGeom prst="rect">
            <a:avLst/>
          </a:prstGeom>
          <a:solidFill>
            <a:srgbClr val="F2F6FC"/>
          </a:solidFill>
          <a:ln w="9525">
            <a:solidFill>
              <a:srgbClr val="D5DCEA"/>
            </a:solidFill>
            <a:prstDash val="solid"/>
          </a:ln>
        </p:spPr>
      </p:sp>
      <p:sp>
        <p:nvSpPr>
          <p:cNvPr id="18" name="Text 15"/>
          <p:cNvSpPr/>
          <p:nvPr/>
        </p:nvSpPr>
        <p:spPr>
          <a:xfrm>
            <a:off x="6278880" y="1627632"/>
            <a:ext cx="2316480" cy="2020824"/>
          </a:xfrm>
          <a:prstGeom prst="rect">
            <a:avLst/>
          </a:prstGeom>
          <a:noFill/>
          <a:ln/>
        </p:spPr>
        <p:txBody>
          <a:bodyPr wrap="square" lIns="0" tIns="0" rIns="0" bIns="0" rtlCol="0" anchor="t"/>
          <a:lstStyle/>
          <a:p>
            <a:pPr indent="0" marL="0">
              <a:spcAft>
                <a:spcPts val="100"/>
              </a:spcAft>
              <a:buNone/>
            </a:pPr>
            <a:r>
              <a:rPr lang="en-US" sz="1250" b="1" dirty="0">
                <a:solidFill>
                  <a:srgbClr val="1F3864"/>
                </a:solidFill>
                <a:latin typeface="Arial" pitchFamily="34" charset="0"/>
                <a:ea typeface="Arial" pitchFamily="34" charset="-122"/>
                <a:cs typeface="Arial" pitchFamily="34" charset="-120"/>
              </a:rPr>
              <a:t>2:17–20 · Its sureness</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Torn away in presence, not in heart</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Hindered by Satan</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“You are our glory and joy”</a:t>
            </a:r>
            <a:endParaRPr lang="en-US" sz="1250" dirty="0"/>
          </a:p>
        </p:txBody>
      </p:sp>
      <p:sp>
        <p:nvSpPr>
          <p:cNvPr id="19" name="Shape 16"/>
          <p:cNvSpPr/>
          <p:nvPr/>
        </p:nvSpPr>
        <p:spPr>
          <a:xfrm>
            <a:off x="457200" y="3886200"/>
            <a:ext cx="8229600" cy="731520"/>
          </a:xfrm>
          <a:prstGeom prst="roundRect">
            <a:avLst>
              <a:gd name="adj" fmla="val 7500"/>
            </a:avLst>
          </a:prstGeom>
          <a:solidFill>
            <a:srgbClr val="1F3864"/>
          </a:solidFill>
          <a:ln w="12700">
            <a:solidFill>
              <a:srgbClr val="1F3864"/>
            </a:solidFill>
            <a:prstDash val="solid"/>
          </a:ln>
        </p:spPr>
      </p:sp>
      <p:sp>
        <p:nvSpPr>
          <p:cNvPr id="20" name="Text 17"/>
          <p:cNvSpPr/>
          <p:nvPr/>
        </p:nvSpPr>
        <p:spPr>
          <a:xfrm>
            <a:off x="621792" y="3886200"/>
            <a:ext cx="7900416" cy="73152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The success of these converts is not measured in comfort or ease. It is measured in faithfulness under fire.</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How they received the Word</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2:13 · I.A — Divine authenticity and divine achievement</a:t>
            </a:r>
            <a:endParaRPr lang="en-US" sz="1200" dirty="0"/>
          </a:p>
        </p:txBody>
      </p:sp>
      <p:sp>
        <p:nvSpPr>
          <p:cNvPr id="5" name="Shape 2"/>
          <p:cNvSpPr/>
          <p:nvPr/>
        </p:nvSpPr>
        <p:spPr>
          <a:xfrm>
            <a:off x="457200" y="1188720"/>
            <a:ext cx="3931920" cy="566928"/>
          </a:xfrm>
          <a:prstGeom prst="rect">
            <a:avLst/>
          </a:prstGeom>
          <a:solidFill>
            <a:srgbClr val="2E5496"/>
          </a:solidFill>
          <a:ln w="12700">
            <a:solidFill>
              <a:srgbClr val="2E5496"/>
            </a:solidFill>
            <a:prstDash val="solid"/>
          </a:ln>
        </p:spPr>
      </p:sp>
      <p:sp>
        <p:nvSpPr>
          <p:cNvPr id="6" name="Text 3"/>
          <p:cNvSpPr/>
          <p:nvPr/>
        </p:nvSpPr>
        <p:spPr>
          <a:xfrm>
            <a:off x="548640" y="1234440"/>
            <a:ext cx="374904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Divine authenticity · 13a</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δέχομαι</a:t>
            </a:r>
            <a:pPr indent="0" marL="0">
              <a:buNone/>
            </a:pPr>
            <a:r>
              <a:rPr lang="en-US" sz="850" dirty="0">
                <a:solidFill>
                  <a:srgbClr val="DCE4F2"/>
                </a:solidFill>
                <a:latin typeface="Arial" pitchFamily="34" charset="0"/>
                <a:ea typeface="Arial" pitchFamily="34" charset="-122"/>
                <a:cs typeface="Arial" pitchFamily="34" charset="-120"/>
              </a:rPr>
              <a:t>  welcomed · G1209</a:t>
            </a:r>
            <a:endParaRPr lang="en-US" sz="1200" dirty="0"/>
          </a:p>
        </p:txBody>
      </p:sp>
      <p:sp>
        <p:nvSpPr>
          <p:cNvPr id="7" name="Shape 4"/>
          <p:cNvSpPr/>
          <p:nvPr/>
        </p:nvSpPr>
        <p:spPr>
          <a:xfrm>
            <a:off x="457200" y="1755648"/>
            <a:ext cx="3931920" cy="1764792"/>
          </a:xfrm>
          <a:prstGeom prst="rect">
            <a:avLst/>
          </a:prstGeom>
          <a:solidFill>
            <a:srgbClr val="F2F6FC"/>
          </a:solidFill>
          <a:ln w="9525">
            <a:solidFill>
              <a:srgbClr val="D5DCEA"/>
            </a:solidFill>
            <a:prstDash val="solid"/>
          </a:ln>
        </p:spPr>
      </p:sp>
      <p:sp>
        <p:nvSpPr>
          <p:cNvPr id="8" name="Text 5"/>
          <p:cNvSpPr/>
          <p:nvPr/>
        </p:nvSpPr>
        <p:spPr>
          <a:xfrm>
            <a:off x="548640" y="1828800"/>
            <a:ext cx="3749040" cy="163677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Not the word of men — the Word of God</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An active, intentional welcome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Verbal, plenary inspiration: every word, every part</a:t>
            </a:r>
            <a:endParaRPr lang="en-US" sz="1250" dirty="0"/>
          </a:p>
        </p:txBody>
      </p:sp>
      <p:sp>
        <p:nvSpPr>
          <p:cNvPr id="9" name="Shape 6"/>
          <p:cNvSpPr/>
          <p:nvPr/>
        </p:nvSpPr>
        <p:spPr>
          <a:xfrm>
            <a:off x="4754880" y="1188720"/>
            <a:ext cx="3931920" cy="566928"/>
          </a:xfrm>
          <a:prstGeom prst="rect">
            <a:avLst/>
          </a:prstGeom>
          <a:solidFill>
            <a:srgbClr val="375623"/>
          </a:solidFill>
          <a:ln w="12700">
            <a:solidFill>
              <a:srgbClr val="375623"/>
            </a:solidFill>
            <a:prstDash val="solid"/>
          </a:ln>
        </p:spPr>
      </p:sp>
      <p:sp>
        <p:nvSpPr>
          <p:cNvPr id="10" name="Text 7"/>
          <p:cNvSpPr/>
          <p:nvPr/>
        </p:nvSpPr>
        <p:spPr>
          <a:xfrm>
            <a:off x="4846320" y="1234440"/>
            <a:ext cx="374904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Divine achievement · 13b</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ἐνεργέω</a:t>
            </a:r>
            <a:pPr indent="0" marL="0">
              <a:buNone/>
            </a:pPr>
            <a:r>
              <a:rPr lang="en-US" sz="850" dirty="0">
                <a:solidFill>
                  <a:srgbClr val="DCE4F2"/>
                </a:solidFill>
                <a:latin typeface="Arial" pitchFamily="34" charset="0"/>
                <a:ea typeface="Arial" pitchFamily="34" charset="-122"/>
                <a:cs typeface="Arial" pitchFamily="34" charset="-120"/>
              </a:rPr>
              <a:t>  effectively works · G1754</a:t>
            </a:r>
            <a:endParaRPr lang="en-US" sz="1200" dirty="0"/>
          </a:p>
        </p:txBody>
      </p:sp>
      <p:sp>
        <p:nvSpPr>
          <p:cNvPr id="11" name="Shape 8"/>
          <p:cNvSpPr/>
          <p:nvPr/>
        </p:nvSpPr>
        <p:spPr>
          <a:xfrm>
            <a:off x="4754880" y="1755648"/>
            <a:ext cx="3931920" cy="1764792"/>
          </a:xfrm>
          <a:prstGeom prst="rect">
            <a:avLst/>
          </a:prstGeom>
          <a:solidFill>
            <a:srgbClr val="F2F6FC"/>
          </a:solidFill>
          <a:ln w="9525">
            <a:solidFill>
              <a:srgbClr val="D5DCEA"/>
            </a:solidFill>
            <a:prstDash val="solid"/>
          </a:ln>
        </p:spPr>
      </p:sp>
      <p:sp>
        <p:nvSpPr>
          <p:cNvPr id="12" name="Text 9"/>
          <p:cNvSpPr/>
          <p:nvPr/>
        </p:nvSpPr>
        <p:spPr>
          <a:xfrm>
            <a:off x="4846320" y="1828800"/>
            <a:ext cx="3749040" cy="163677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Works — present tense, not “worked”</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Ongoing operation in believers</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Discipleship for a lifetime, not only salvation</a:t>
            </a:r>
            <a:endParaRPr lang="en-US" sz="1250" dirty="0"/>
          </a:p>
        </p:txBody>
      </p:sp>
      <p:sp>
        <p:nvSpPr>
          <p:cNvPr id="13" name="Text 10"/>
          <p:cNvSpPr/>
          <p:nvPr/>
        </p:nvSpPr>
        <p:spPr>
          <a:xfrm>
            <a:off x="4389120" y="2171700"/>
            <a:ext cx="365760" cy="365760"/>
          </a:xfrm>
          <a:prstGeom prst="rect">
            <a:avLst/>
          </a:prstGeom>
          <a:noFill/>
          <a:ln/>
        </p:spPr>
        <p:txBody>
          <a:bodyPr wrap="square" lIns="0" tIns="0" rIns="0" bIns="0" rtlCol="0" anchor="ctr"/>
          <a:lstStyle/>
          <a:p>
            <a:pPr algn="ctr" indent="0" marL="0">
              <a:buNone/>
            </a:pPr>
            <a:r>
              <a:rPr lang="en-US" sz="1100" b="1" dirty="0">
                <a:solidFill>
                  <a:srgbClr val="6B7280"/>
                </a:solidFill>
                <a:latin typeface="Arial" pitchFamily="34" charset="0"/>
                <a:ea typeface="Arial" pitchFamily="34" charset="-122"/>
                <a:cs typeface="Arial" pitchFamily="34" charset="-120"/>
              </a:rPr>
              <a:t>vs</a:t>
            </a:r>
            <a:endParaRPr lang="en-US" sz="1100" dirty="0"/>
          </a:p>
        </p:txBody>
      </p:sp>
      <p:sp>
        <p:nvSpPr>
          <p:cNvPr id="14" name="Shape 11"/>
          <p:cNvSpPr/>
          <p:nvPr/>
        </p:nvSpPr>
        <p:spPr>
          <a:xfrm>
            <a:off x="457200" y="3749040"/>
            <a:ext cx="8229600" cy="731520"/>
          </a:xfrm>
          <a:prstGeom prst="roundRect">
            <a:avLst>
              <a:gd name="adj" fmla="val 7500"/>
            </a:avLst>
          </a:prstGeom>
          <a:solidFill>
            <a:srgbClr val="1F3864"/>
          </a:solidFill>
          <a:ln w="12700">
            <a:solidFill>
              <a:srgbClr val="1F3864"/>
            </a:solidFill>
            <a:prstDash val="solid"/>
          </a:ln>
        </p:spPr>
      </p:sp>
      <p:sp>
        <p:nvSpPr>
          <p:cNvPr id="15" name="Text 12"/>
          <p:cNvSpPr/>
          <p:nvPr/>
        </p:nvSpPr>
        <p:spPr>
          <a:xfrm>
            <a:off x="621792" y="3749040"/>
            <a:ext cx="7900416" cy="73152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A word from men can be debated, modified, or ignored. The Word of God demands a response. It carries authority.</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Imitators — in consequence</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2:14 · I.B — How they acted on the Word</a:t>
            </a:r>
            <a:endParaRPr lang="en-US" sz="1200" dirty="0"/>
          </a:p>
        </p:txBody>
      </p:sp>
      <p:sp>
        <p:nvSpPr>
          <p:cNvPr id="5" name="Shape 2"/>
          <p:cNvSpPr/>
          <p:nvPr/>
        </p:nvSpPr>
        <p:spPr>
          <a:xfrm>
            <a:off x="457200" y="1188720"/>
            <a:ext cx="1899666" cy="2011680"/>
          </a:xfrm>
          <a:prstGeom prst="roundRect">
            <a:avLst>
              <a:gd name="adj" fmla="val 2888"/>
            </a:avLst>
          </a:prstGeom>
          <a:solidFill>
            <a:srgbClr val="F2F6FC"/>
          </a:solidFill>
          <a:ln w="9525">
            <a:solidFill>
              <a:srgbClr val="D5DCEA"/>
            </a:solidFill>
            <a:prstDash val="solid"/>
          </a:ln>
        </p:spPr>
      </p:sp>
      <p:sp>
        <p:nvSpPr>
          <p:cNvPr id="6" name="Shape 3"/>
          <p:cNvSpPr/>
          <p:nvPr/>
        </p:nvSpPr>
        <p:spPr>
          <a:xfrm>
            <a:off x="1205865" y="1298448"/>
            <a:ext cx="402336" cy="402336"/>
          </a:xfrm>
          <a:prstGeom prst="ellipse">
            <a:avLst/>
          </a:prstGeom>
          <a:solidFill>
            <a:srgbClr val="2E5496"/>
          </a:solidFill>
          <a:ln w="12700">
            <a:solidFill>
              <a:srgbClr val="2E5496"/>
            </a:solidFill>
            <a:prstDash val="solid"/>
          </a:ln>
        </p:spPr>
      </p:sp>
      <p:sp>
        <p:nvSpPr>
          <p:cNvPr id="7" name="Text 4"/>
          <p:cNvSpPr/>
          <p:nvPr/>
        </p:nvSpPr>
        <p:spPr>
          <a:xfrm>
            <a:off x="1205865"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8" name="Text 5"/>
          <p:cNvSpPr/>
          <p:nvPr/>
        </p:nvSpPr>
        <p:spPr>
          <a:xfrm>
            <a:off x="530352" y="1773936"/>
            <a:ext cx="1753362"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Judea</a:t>
            </a:r>
            <a:endParaRPr lang="en-US" sz="1150" dirty="0"/>
          </a:p>
        </p:txBody>
      </p:sp>
      <p:sp>
        <p:nvSpPr>
          <p:cNvPr id="9" name="Text 6"/>
          <p:cNvSpPr/>
          <p:nvPr/>
        </p:nvSpPr>
        <p:spPr>
          <a:xfrm>
            <a:off x="530352" y="2157984"/>
            <a:ext cx="1753362" cy="65836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The churches received the gospel</a:t>
            </a:r>
            <a:endParaRPr lang="en-US" sz="1150" dirty="0"/>
          </a:p>
        </p:txBody>
      </p:sp>
      <p:sp>
        <p:nvSpPr>
          <p:cNvPr id="10" name="Text 7"/>
          <p:cNvSpPr/>
          <p:nvPr/>
        </p:nvSpPr>
        <p:spPr>
          <a:xfrm>
            <a:off x="530352" y="2816352"/>
            <a:ext cx="1753362"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in Christ Jesus</a:t>
            </a:r>
            <a:endParaRPr lang="en-US" sz="900" dirty="0"/>
          </a:p>
        </p:txBody>
      </p:sp>
      <p:sp>
        <p:nvSpPr>
          <p:cNvPr id="11" name="Shape 8"/>
          <p:cNvSpPr/>
          <p:nvPr/>
        </p:nvSpPr>
        <p:spPr>
          <a:xfrm>
            <a:off x="2361438" y="2075688"/>
            <a:ext cx="201168" cy="237744"/>
          </a:xfrm>
          <a:prstGeom prst="rightArrow">
            <a:avLst/>
          </a:prstGeom>
          <a:solidFill>
            <a:srgbClr val="6B7280"/>
          </a:solidFill>
          <a:ln w="12700">
            <a:solidFill>
              <a:srgbClr val="6B7280"/>
            </a:solidFill>
            <a:prstDash val="solid"/>
          </a:ln>
        </p:spPr>
      </p:sp>
      <p:sp>
        <p:nvSpPr>
          <p:cNvPr id="12" name="Shape 9"/>
          <p:cNvSpPr/>
          <p:nvPr/>
        </p:nvSpPr>
        <p:spPr>
          <a:xfrm>
            <a:off x="2567178" y="1188720"/>
            <a:ext cx="1899666" cy="2011680"/>
          </a:xfrm>
          <a:prstGeom prst="roundRect">
            <a:avLst>
              <a:gd name="adj" fmla="val 2888"/>
            </a:avLst>
          </a:prstGeom>
          <a:solidFill>
            <a:srgbClr val="F2F6FC"/>
          </a:solidFill>
          <a:ln w="9525">
            <a:solidFill>
              <a:srgbClr val="D5DCEA"/>
            </a:solidFill>
            <a:prstDash val="solid"/>
          </a:ln>
        </p:spPr>
      </p:sp>
      <p:sp>
        <p:nvSpPr>
          <p:cNvPr id="13" name="Shape 10"/>
          <p:cNvSpPr/>
          <p:nvPr/>
        </p:nvSpPr>
        <p:spPr>
          <a:xfrm>
            <a:off x="3315843" y="1298448"/>
            <a:ext cx="402336" cy="402336"/>
          </a:xfrm>
          <a:prstGeom prst="ellipse">
            <a:avLst/>
          </a:prstGeom>
          <a:solidFill>
            <a:srgbClr val="2E5496"/>
          </a:solidFill>
          <a:ln w="12700">
            <a:solidFill>
              <a:srgbClr val="2E5496"/>
            </a:solidFill>
            <a:prstDash val="solid"/>
          </a:ln>
        </p:spPr>
      </p:sp>
      <p:sp>
        <p:nvSpPr>
          <p:cNvPr id="14" name="Text 11"/>
          <p:cNvSpPr/>
          <p:nvPr/>
        </p:nvSpPr>
        <p:spPr>
          <a:xfrm>
            <a:off x="3315843"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5" name="Text 12"/>
          <p:cNvSpPr/>
          <p:nvPr/>
        </p:nvSpPr>
        <p:spPr>
          <a:xfrm>
            <a:off x="2640330" y="1773936"/>
            <a:ext cx="1753362"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Persecuted</a:t>
            </a:r>
            <a:endParaRPr lang="en-US" sz="1150" dirty="0"/>
          </a:p>
        </p:txBody>
      </p:sp>
      <p:sp>
        <p:nvSpPr>
          <p:cNvPr id="16" name="Text 13"/>
          <p:cNvSpPr/>
          <p:nvPr/>
        </p:nvSpPr>
        <p:spPr>
          <a:xfrm>
            <a:off x="2640330" y="2157984"/>
            <a:ext cx="1753362" cy="65836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By the Judeans — their own people</a:t>
            </a:r>
            <a:endParaRPr lang="en-US" sz="1150" dirty="0"/>
          </a:p>
        </p:txBody>
      </p:sp>
      <p:sp>
        <p:nvSpPr>
          <p:cNvPr id="17" name="Text 14"/>
          <p:cNvSpPr/>
          <p:nvPr/>
        </p:nvSpPr>
        <p:spPr>
          <a:xfrm>
            <a:off x="2640330" y="2816352"/>
            <a:ext cx="1753362"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v.14b</a:t>
            </a:r>
            <a:endParaRPr lang="en-US" sz="900" dirty="0"/>
          </a:p>
        </p:txBody>
      </p:sp>
      <p:sp>
        <p:nvSpPr>
          <p:cNvPr id="18" name="Shape 15"/>
          <p:cNvSpPr/>
          <p:nvPr/>
        </p:nvSpPr>
        <p:spPr>
          <a:xfrm>
            <a:off x="4471416" y="2075688"/>
            <a:ext cx="201168" cy="237744"/>
          </a:xfrm>
          <a:prstGeom prst="rightArrow">
            <a:avLst/>
          </a:prstGeom>
          <a:solidFill>
            <a:srgbClr val="6B7280"/>
          </a:solidFill>
          <a:ln w="12700">
            <a:solidFill>
              <a:srgbClr val="6B7280"/>
            </a:solidFill>
            <a:prstDash val="solid"/>
          </a:ln>
        </p:spPr>
      </p:sp>
      <p:sp>
        <p:nvSpPr>
          <p:cNvPr id="19" name="Shape 16"/>
          <p:cNvSpPr/>
          <p:nvPr/>
        </p:nvSpPr>
        <p:spPr>
          <a:xfrm>
            <a:off x="4677156" y="1188720"/>
            <a:ext cx="1899666" cy="2011680"/>
          </a:xfrm>
          <a:prstGeom prst="roundRect">
            <a:avLst>
              <a:gd name="adj" fmla="val 2888"/>
            </a:avLst>
          </a:prstGeom>
          <a:solidFill>
            <a:srgbClr val="1F3864"/>
          </a:solidFill>
          <a:ln w="9525">
            <a:solidFill>
              <a:srgbClr val="1F3864"/>
            </a:solidFill>
            <a:prstDash val="solid"/>
          </a:ln>
        </p:spPr>
      </p:sp>
      <p:sp>
        <p:nvSpPr>
          <p:cNvPr id="20" name="Shape 17"/>
          <p:cNvSpPr/>
          <p:nvPr/>
        </p:nvSpPr>
        <p:spPr>
          <a:xfrm>
            <a:off x="5425821" y="1298448"/>
            <a:ext cx="402336" cy="402336"/>
          </a:xfrm>
          <a:prstGeom prst="ellipse">
            <a:avLst/>
          </a:prstGeom>
          <a:solidFill>
            <a:srgbClr val="FFFFFF"/>
          </a:solidFill>
          <a:ln w="12700">
            <a:solidFill>
              <a:srgbClr val="FFFFFF"/>
            </a:solidFill>
            <a:prstDash val="solid"/>
          </a:ln>
        </p:spPr>
      </p:sp>
      <p:sp>
        <p:nvSpPr>
          <p:cNvPr id="21" name="Text 18"/>
          <p:cNvSpPr/>
          <p:nvPr/>
        </p:nvSpPr>
        <p:spPr>
          <a:xfrm>
            <a:off x="5425821" y="1298448"/>
            <a:ext cx="402336" cy="402336"/>
          </a:xfrm>
          <a:prstGeom prst="rect">
            <a:avLst/>
          </a:prstGeom>
          <a:noFill/>
          <a:ln/>
        </p:spPr>
        <p:txBody>
          <a:bodyPr wrap="square" lIns="0" tIns="0" rIns="0" bIns="0" rtlCol="0" anchor="ctr"/>
          <a:lstStyle/>
          <a:p>
            <a:pPr algn="ctr" indent="0" marL="0">
              <a:buNone/>
            </a:pPr>
            <a:r>
              <a:rPr lang="en-US" sz="1300" b="1" dirty="0">
                <a:solidFill>
                  <a:srgbClr val="1F3864"/>
                </a:solidFill>
                <a:latin typeface="Arial" pitchFamily="34" charset="0"/>
                <a:ea typeface="Arial" pitchFamily="34" charset="-122"/>
                <a:cs typeface="Arial" pitchFamily="34" charset="-120"/>
              </a:rPr>
              <a:t>C</a:t>
            </a:r>
            <a:endParaRPr lang="en-US" sz="1300" dirty="0"/>
          </a:p>
        </p:txBody>
      </p:sp>
      <p:sp>
        <p:nvSpPr>
          <p:cNvPr id="22" name="Text 19"/>
          <p:cNvSpPr/>
          <p:nvPr/>
        </p:nvSpPr>
        <p:spPr>
          <a:xfrm>
            <a:off x="4750308" y="1773936"/>
            <a:ext cx="1753362"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Thessalonica</a:t>
            </a:r>
            <a:endParaRPr lang="en-US" sz="1150" dirty="0"/>
          </a:p>
        </p:txBody>
      </p:sp>
      <p:sp>
        <p:nvSpPr>
          <p:cNvPr id="23" name="Text 20"/>
          <p:cNvSpPr/>
          <p:nvPr/>
        </p:nvSpPr>
        <p:spPr>
          <a:xfrm>
            <a:off x="4750308" y="2157984"/>
            <a:ext cx="1753362" cy="658368"/>
          </a:xfrm>
          <a:prstGeom prst="rect">
            <a:avLst/>
          </a:prstGeom>
          <a:noFill/>
          <a:ln/>
        </p:spPr>
        <p:txBody>
          <a:bodyPr wrap="square" lIns="0" tIns="0" rIns="0" bIns="0" rtlCol="0" anchor="t"/>
          <a:lstStyle/>
          <a:p>
            <a:pPr algn="ctr" indent="0" marL="0">
              <a:buNone/>
            </a:pPr>
            <a:r>
              <a:rPr lang="en-US" sz="1150" dirty="0">
                <a:solidFill>
                  <a:srgbClr val="FFFFFF"/>
                </a:solidFill>
                <a:latin typeface="Arial" pitchFamily="34" charset="0"/>
                <a:ea typeface="Arial" pitchFamily="34" charset="-122"/>
                <a:cs typeface="Arial" pitchFamily="34" charset="-120"/>
              </a:rPr>
              <a:t>You received the same Word</a:t>
            </a:r>
            <a:endParaRPr lang="en-US" sz="1150" dirty="0"/>
          </a:p>
        </p:txBody>
      </p:sp>
      <p:sp>
        <p:nvSpPr>
          <p:cNvPr id="24" name="Text 21"/>
          <p:cNvSpPr/>
          <p:nvPr/>
        </p:nvSpPr>
        <p:spPr>
          <a:xfrm>
            <a:off x="4750308" y="2816352"/>
            <a:ext cx="1753362" cy="329184"/>
          </a:xfrm>
          <a:prstGeom prst="rect">
            <a:avLst/>
          </a:prstGeom>
          <a:noFill/>
          <a:ln/>
        </p:spPr>
        <p:txBody>
          <a:bodyPr wrap="square" lIns="0" tIns="0" rIns="0" bIns="0" rtlCol="0" anchor="b"/>
          <a:lstStyle/>
          <a:p>
            <a:pPr algn="ctr" indent="0" marL="0">
              <a:buNone/>
            </a:pPr>
            <a:r>
              <a:rPr lang="en-US" sz="900" i="1" dirty="0">
                <a:solidFill>
                  <a:srgbClr val="DCE4F2"/>
                </a:solidFill>
                <a:latin typeface="Arial" pitchFamily="34" charset="0"/>
                <a:ea typeface="Arial" pitchFamily="34" charset="-122"/>
                <a:cs typeface="Arial" pitchFamily="34" charset="-120"/>
              </a:rPr>
              <a:t>μιμητής — imitators</a:t>
            </a:r>
            <a:endParaRPr lang="en-US" sz="900" dirty="0"/>
          </a:p>
        </p:txBody>
      </p:sp>
      <p:sp>
        <p:nvSpPr>
          <p:cNvPr id="25" name="Shape 22"/>
          <p:cNvSpPr/>
          <p:nvPr/>
        </p:nvSpPr>
        <p:spPr>
          <a:xfrm>
            <a:off x="6581394" y="2075688"/>
            <a:ext cx="201168" cy="237744"/>
          </a:xfrm>
          <a:prstGeom prst="rightArrow">
            <a:avLst/>
          </a:prstGeom>
          <a:solidFill>
            <a:srgbClr val="6B7280"/>
          </a:solidFill>
          <a:ln w="12700">
            <a:solidFill>
              <a:srgbClr val="6B7280"/>
            </a:solidFill>
            <a:prstDash val="solid"/>
          </a:ln>
        </p:spPr>
      </p:sp>
      <p:sp>
        <p:nvSpPr>
          <p:cNvPr id="26" name="Shape 23"/>
          <p:cNvSpPr/>
          <p:nvPr/>
        </p:nvSpPr>
        <p:spPr>
          <a:xfrm>
            <a:off x="6787134" y="1188720"/>
            <a:ext cx="1899666" cy="2011680"/>
          </a:xfrm>
          <a:prstGeom prst="roundRect">
            <a:avLst>
              <a:gd name="adj" fmla="val 2888"/>
            </a:avLst>
          </a:prstGeom>
          <a:solidFill>
            <a:srgbClr val="F2F6FC"/>
          </a:solidFill>
          <a:ln w="9525">
            <a:solidFill>
              <a:srgbClr val="D5DCEA"/>
            </a:solidFill>
            <a:prstDash val="solid"/>
          </a:ln>
        </p:spPr>
      </p:sp>
      <p:sp>
        <p:nvSpPr>
          <p:cNvPr id="27" name="Shape 24"/>
          <p:cNvSpPr/>
          <p:nvPr/>
        </p:nvSpPr>
        <p:spPr>
          <a:xfrm>
            <a:off x="7535799" y="1298448"/>
            <a:ext cx="402336" cy="402336"/>
          </a:xfrm>
          <a:prstGeom prst="ellipse">
            <a:avLst/>
          </a:prstGeom>
          <a:solidFill>
            <a:srgbClr val="2E5496"/>
          </a:solidFill>
          <a:ln w="12700">
            <a:solidFill>
              <a:srgbClr val="2E5496"/>
            </a:solidFill>
            <a:prstDash val="solid"/>
          </a:ln>
        </p:spPr>
      </p:sp>
      <p:sp>
        <p:nvSpPr>
          <p:cNvPr id="28" name="Text 25"/>
          <p:cNvSpPr/>
          <p:nvPr/>
        </p:nvSpPr>
        <p:spPr>
          <a:xfrm>
            <a:off x="7535799"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D</a:t>
            </a:r>
            <a:endParaRPr lang="en-US" sz="1300" dirty="0"/>
          </a:p>
        </p:txBody>
      </p:sp>
      <p:sp>
        <p:nvSpPr>
          <p:cNvPr id="29" name="Text 26"/>
          <p:cNvSpPr/>
          <p:nvPr/>
        </p:nvSpPr>
        <p:spPr>
          <a:xfrm>
            <a:off x="6860286" y="1773936"/>
            <a:ext cx="1753362"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Persecuted</a:t>
            </a:r>
            <a:endParaRPr lang="en-US" sz="1150" dirty="0"/>
          </a:p>
        </p:txBody>
      </p:sp>
      <p:sp>
        <p:nvSpPr>
          <p:cNvPr id="30" name="Text 27"/>
          <p:cNvSpPr/>
          <p:nvPr/>
        </p:nvSpPr>
        <p:spPr>
          <a:xfrm>
            <a:off x="6860286" y="2157984"/>
            <a:ext cx="1753362" cy="65836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By your own countrymen, Jews and Gentiles</a:t>
            </a:r>
            <a:endParaRPr lang="en-US" sz="1150" dirty="0"/>
          </a:p>
        </p:txBody>
      </p:sp>
      <p:sp>
        <p:nvSpPr>
          <p:cNvPr id="31" name="Text 28"/>
          <p:cNvSpPr/>
          <p:nvPr/>
        </p:nvSpPr>
        <p:spPr>
          <a:xfrm>
            <a:off x="6860286" y="2816352"/>
            <a:ext cx="1753362"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συμφυλέτης</a:t>
            </a:r>
            <a:endParaRPr lang="en-US" sz="900" dirty="0"/>
          </a:p>
        </p:txBody>
      </p:sp>
      <p:sp>
        <p:nvSpPr>
          <p:cNvPr id="32" name="Shape 29"/>
          <p:cNvSpPr/>
          <p:nvPr/>
        </p:nvSpPr>
        <p:spPr>
          <a:xfrm>
            <a:off x="457200" y="3429000"/>
            <a:ext cx="8229600" cy="1188720"/>
          </a:xfrm>
          <a:prstGeom prst="roundRect">
            <a:avLst>
              <a:gd name="adj" fmla="val 4615"/>
            </a:avLst>
          </a:prstGeom>
          <a:solidFill>
            <a:srgbClr val="1F3864"/>
          </a:solidFill>
          <a:ln w="12700">
            <a:solidFill>
              <a:srgbClr val="1F3864"/>
            </a:solidFill>
            <a:prstDash val="solid"/>
          </a:ln>
        </p:spPr>
      </p:sp>
      <p:sp>
        <p:nvSpPr>
          <p:cNvPr id="33" name="Text 30"/>
          <p:cNvSpPr/>
          <p:nvPr/>
        </p:nvSpPr>
        <p:spPr>
          <a:xfrm>
            <a:off x="621792" y="3429000"/>
            <a:ext cx="7900416" cy="118872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They heard the Word, believed the Word, acted on the Word — and paid for it with suffering. That is the mark of genuine reception: faithful reception produces a predictable result — not comfort, but conflict.</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The sin of Paul’s countrymen</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2:15–16 · II.A–E — Five expressions</a:t>
            </a:r>
            <a:endParaRPr lang="en-US" sz="1200" dirty="0"/>
          </a:p>
        </p:txBody>
      </p:sp>
      <p:sp>
        <p:nvSpPr>
          <p:cNvPr id="5" name="Shape 2"/>
          <p:cNvSpPr/>
          <p:nvPr/>
        </p:nvSpPr>
        <p:spPr>
          <a:xfrm>
            <a:off x="457200" y="1188720"/>
            <a:ext cx="2615184" cy="1572768"/>
          </a:xfrm>
          <a:prstGeom prst="rect">
            <a:avLst/>
          </a:prstGeom>
          <a:solidFill>
            <a:srgbClr val="F2F6FC"/>
          </a:solidFill>
          <a:ln w="9525">
            <a:solidFill>
              <a:srgbClr val="D5DCEA"/>
            </a:solidFill>
            <a:prstDash val="solid"/>
          </a:ln>
        </p:spPr>
      </p:sp>
      <p:sp>
        <p:nvSpPr>
          <p:cNvPr id="6" name="Shape 3"/>
          <p:cNvSpPr/>
          <p:nvPr/>
        </p:nvSpPr>
        <p:spPr>
          <a:xfrm>
            <a:off x="594360" y="1325880"/>
            <a:ext cx="420624" cy="420624"/>
          </a:xfrm>
          <a:prstGeom prst="ellipse">
            <a:avLst/>
          </a:prstGeom>
          <a:solidFill>
            <a:srgbClr val="2E5496"/>
          </a:solidFill>
          <a:ln w="12700">
            <a:solidFill>
              <a:srgbClr val="2E5496"/>
            </a:solidFill>
            <a:prstDash val="solid"/>
          </a:ln>
        </p:spPr>
      </p:sp>
      <p:sp>
        <p:nvSpPr>
          <p:cNvPr id="7" name="Text 4"/>
          <p:cNvSpPr/>
          <p:nvPr/>
        </p:nvSpPr>
        <p:spPr>
          <a:xfrm>
            <a:off x="594360" y="13258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8" name="Text 5"/>
          <p:cNvSpPr/>
          <p:nvPr/>
        </p:nvSpPr>
        <p:spPr>
          <a:xfrm>
            <a:off x="1115568" y="132588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Provocation · 15a</a:t>
            </a:r>
            <a:endParaRPr lang="en-US" sz="1200" dirty="0"/>
          </a:p>
        </p:txBody>
      </p:sp>
      <p:sp>
        <p:nvSpPr>
          <p:cNvPr id="9" name="Text 6"/>
          <p:cNvSpPr/>
          <p:nvPr/>
        </p:nvSpPr>
        <p:spPr>
          <a:xfrm>
            <a:off x="594360" y="182880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Killed the Lord Jesus and their own prophets, and persecuted Paul</a:t>
            </a:r>
            <a:endParaRPr lang="en-US" sz="1200" dirty="0"/>
          </a:p>
        </p:txBody>
      </p:sp>
      <p:sp>
        <p:nvSpPr>
          <p:cNvPr id="10" name="Shape 7"/>
          <p:cNvSpPr/>
          <p:nvPr/>
        </p:nvSpPr>
        <p:spPr>
          <a:xfrm>
            <a:off x="3264408" y="1188720"/>
            <a:ext cx="2615184" cy="1572768"/>
          </a:xfrm>
          <a:prstGeom prst="rect">
            <a:avLst/>
          </a:prstGeom>
          <a:solidFill>
            <a:srgbClr val="F2F6FC"/>
          </a:solidFill>
          <a:ln w="9525">
            <a:solidFill>
              <a:srgbClr val="D5DCEA"/>
            </a:solidFill>
            <a:prstDash val="solid"/>
          </a:ln>
        </p:spPr>
      </p:sp>
      <p:sp>
        <p:nvSpPr>
          <p:cNvPr id="11" name="Shape 8"/>
          <p:cNvSpPr/>
          <p:nvPr/>
        </p:nvSpPr>
        <p:spPr>
          <a:xfrm>
            <a:off x="3401568" y="1325880"/>
            <a:ext cx="420624" cy="420624"/>
          </a:xfrm>
          <a:prstGeom prst="ellipse">
            <a:avLst/>
          </a:prstGeom>
          <a:solidFill>
            <a:srgbClr val="2E5496"/>
          </a:solidFill>
          <a:ln w="12700">
            <a:solidFill>
              <a:srgbClr val="2E5496"/>
            </a:solidFill>
            <a:prstDash val="solid"/>
          </a:ln>
        </p:spPr>
      </p:sp>
      <p:sp>
        <p:nvSpPr>
          <p:cNvPr id="12" name="Text 9"/>
          <p:cNvSpPr/>
          <p:nvPr/>
        </p:nvSpPr>
        <p:spPr>
          <a:xfrm>
            <a:off x="3401568" y="13258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3" name="Text 10"/>
          <p:cNvSpPr/>
          <p:nvPr/>
        </p:nvSpPr>
        <p:spPr>
          <a:xfrm>
            <a:off x="3922776" y="132588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Presumption · 15b</a:t>
            </a:r>
            <a:endParaRPr lang="en-US" sz="1200" dirty="0"/>
          </a:p>
        </p:txBody>
      </p:sp>
      <p:sp>
        <p:nvSpPr>
          <p:cNvPr id="14" name="Text 11"/>
          <p:cNvSpPr/>
          <p:nvPr/>
        </p:nvSpPr>
        <p:spPr>
          <a:xfrm>
            <a:off x="3401568" y="182880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“They do not please God” — they pleased themselves</a:t>
            </a:r>
            <a:endParaRPr lang="en-US" sz="1200" dirty="0"/>
          </a:p>
        </p:txBody>
      </p:sp>
      <p:sp>
        <p:nvSpPr>
          <p:cNvPr id="15" name="Shape 12"/>
          <p:cNvSpPr/>
          <p:nvPr/>
        </p:nvSpPr>
        <p:spPr>
          <a:xfrm>
            <a:off x="6071616" y="1188720"/>
            <a:ext cx="2615184" cy="1572768"/>
          </a:xfrm>
          <a:prstGeom prst="rect">
            <a:avLst/>
          </a:prstGeom>
          <a:solidFill>
            <a:srgbClr val="F2F6FC"/>
          </a:solidFill>
          <a:ln w="9525">
            <a:solidFill>
              <a:srgbClr val="D5DCEA"/>
            </a:solidFill>
            <a:prstDash val="solid"/>
          </a:ln>
        </p:spPr>
      </p:sp>
      <p:sp>
        <p:nvSpPr>
          <p:cNvPr id="16" name="Shape 13"/>
          <p:cNvSpPr/>
          <p:nvPr/>
        </p:nvSpPr>
        <p:spPr>
          <a:xfrm>
            <a:off x="6208776" y="1325880"/>
            <a:ext cx="420624" cy="420624"/>
          </a:xfrm>
          <a:prstGeom prst="ellipse">
            <a:avLst/>
          </a:prstGeom>
          <a:solidFill>
            <a:srgbClr val="2E5496"/>
          </a:solidFill>
          <a:ln w="12700">
            <a:solidFill>
              <a:srgbClr val="2E5496"/>
            </a:solidFill>
            <a:prstDash val="solid"/>
          </a:ln>
        </p:spPr>
      </p:sp>
      <p:sp>
        <p:nvSpPr>
          <p:cNvPr id="17" name="Text 14"/>
          <p:cNvSpPr/>
          <p:nvPr/>
        </p:nvSpPr>
        <p:spPr>
          <a:xfrm>
            <a:off x="6208776" y="13258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a:t>
            </a:r>
            <a:endParaRPr lang="en-US" sz="1300" dirty="0"/>
          </a:p>
        </p:txBody>
      </p:sp>
      <p:sp>
        <p:nvSpPr>
          <p:cNvPr id="18" name="Text 15"/>
          <p:cNvSpPr/>
          <p:nvPr/>
        </p:nvSpPr>
        <p:spPr>
          <a:xfrm>
            <a:off x="6729984" y="132588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Perversity · 15c</a:t>
            </a:r>
            <a:endParaRPr lang="en-US" sz="1200" dirty="0"/>
          </a:p>
        </p:txBody>
      </p:sp>
      <p:sp>
        <p:nvSpPr>
          <p:cNvPr id="19" name="Text 16"/>
          <p:cNvSpPr/>
          <p:nvPr/>
        </p:nvSpPr>
        <p:spPr>
          <a:xfrm>
            <a:off x="6208776" y="182880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“Contrary to all men” — the gift used as a wall, not a door</a:t>
            </a:r>
            <a:endParaRPr lang="en-US" sz="1200" dirty="0"/>
          </a:p>
        </p:txBody>
      </p:sp>
      <p:sp>
        <p:nvSpPr>
          <p:cNvPr id="20" name="Shape 17"/>
          <p:cNvSpPr/>
          <p:nvPr/>
        </p:nvSpPr>
        <p:spPr>
          <a:xfrm>
            <a:off x="457200" y="2926080"/>
            <a:ext cx="2615184" cy="1572768"/>
          </a:xfrm>
          <a:prstGeom prst="rect">
            <a:avLst/>
          </a:prstGeom>
          <a:solidFill>
            <a:srgbClr val="F2F6FC"/>
          </a:solidFill>
          <a:ln w="9525">
            <a:solidFill>
              <a:srgbClr val="D5DCEA"/>
            </a:solidFill>
            <a:prstDash val="solid"/>
          </a:ln>
        </p:spPr>
      </p:sp>
      <p:sp>
        <p:nvSpPr>
          <p:cNvPr id="21" name="Shape 18"/>
          <p:cNvSpPr/>
          <p:nvPr/>
        </p:nvSpPr>
        <p:spPr>
          <a:xfrm>
            <a:off x="594360" y="3063240"/>
            <a:ext cx="420624" cy="420624"/>
          </a:xfrm>
          <a:prstGeom prst="ellipse">
            <a:avLst/>
          </a:prstGeom>
          <a:solidFill>
            <a:srgbClr val="2E5496"/>
          </a:solidFill>
          <a:ln w="12700">
            <a:solidFill>
              <a:srgbClr val="2E5496"/>
            </a:solidFill>
            <a:prstDash val="solid"/>
          </a:ln>
        </p:spPr>
      </p:sp>
      <p:sp>
        <p:nvSpPr>
          <p:cNvPr id="22" name="Text 19"/>
          <p:cNvSpPr/>
          <p:nvPr/>
        </p:nvSpPr>
        <p:spPr>
          <a:xfrm>
            <a:off x="594360" y="306324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D</a:t>
            </a:r>
            <a:endParaRPr lang="en-US" sz="1300" dirty="0"/>
          </a:p>
        </p:txBody>
      </p:sp>
      <p:sp>
        <p:nvSpPr>
          <p:cNvPr id="23" name="Text 20"/>
          <p:cNvSpPr/>
          <p:nvPr/>
        </p:nvSpPr>
        <p:spPr>
          <a:xfrm>
            <a:off x="1115568" y="306324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Prejudice · 16a</a:t>
            </a:r>
            <a:endParaRPr lang="en-US" sz="1200" dirty="0"/>
          </a:p>
        </p:txBody>
      </p:sp>
      <p:sp>
        <p:nvSpPr>
          <p:cNvPr id="24" name="Text 21"/>
          <p:cNvSpPr/>
          <p:nvPr/>
        </p:nvSpPr>
        <p:spPr>
          <a:xfrm>
            <a:off x="594360" y="356616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Forbidding the gospel to the Gentiles “that they may be saved”</a:t>
            </a:r>
            <a:endParaRPr lang="en-US" sz="1200" dirty="0"/>
          </a:p>
        </p:txBody>
      </p:sp>
      <p:sp>
        <p:nvSpPr>
          <p:cNvPr id="25" name="Shape 22"/>
          <p:cNvSpPr/>
          <p:nvPr/>
        </p:nvSpPr>
        <p:spPr>
          <a:xfrm>
            <a:off x="3264408" y="2926080"/>
            <a:ext cx="2615184" cy="1572768"/>
          </a:xfrm>
          <a:prstGeom prst="rect">
            <a:avLst/>
          </a:prstGeom>
          <a:solidFill>
            <a:srgbClr val="F2F6FC"/>
          </a:solidFill>
          <a:ln w="9525">
            <a:solidFill>
              <a:srgbClr val="D5DCEA"/>
            </a:solidFill>
            <a:prstDash val="solid"/>
          </a:ln>
        </p:spPr>
      </p:sp>
      <p:sp>
        <p:nvSpPr>
          <p:cNvPr id="26" name="Shape 23"/>
          <p:cNvSpPr/>
          <p:nvPr/>
        </p:nvSpPr>
        <p:spPr>
          <a:xfrm>
            <a:off x="3401568" y="3063240"/>
            <a:ext cx="420624" cy="420624"/>
          </a:xfrm>
          <a:prstGeom prst="ellipse">
            <a:avLst/>
          </a:prstGeom>
          <a:solidFill>
            <a:srgbClr val="6B7280"/>
          </a:solidFill>
          <a:ln w="12700">
            <a:solidFill>
              <a:srgbClr val="6B7280"/>
            </a:solidFill>
            <a:prstDash val="solid"/>
          </a:ln>
        </p:spPr>
      </p:sp>
      <p:sp>
        <p:nvSpPr>
          <p:cNvPr id="27" name="Text 24"/>
          <p:cNvSpPr/>
          <p:nvPr/>
        </p:nvSpPr>
        <p:spPr>
          <a:xfrm>
            <a:off x="3401568" y="306324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E</a:t>
            </a:r>
            <a:endParaRPr lang="en-US" sz="1300" dirty="0"/>
          </a:p>
        </p:txBody>
      </p:sp>
      <p:sp>
        <p:nvSpPr>
          <p:cNvPr id="28" name="Text 25"/>
          <p:cNvSpPr/>
          <p:nvPr/>
        </p:nvSpPr>
        <p:spPr>
          <a:xfrm>
            <a:off x="3922776" y="306324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Punishment · 16b</a:t>
            </a:r>
            <a:endParaRPr lang="en-US" sz="1200" dirty="0"/>
          </a:p>
        </p:txBody>
      </p:sp>
      <p:sp>
        <p:nvSpPr>
          <p:cNvPr id="29" name="Text 26"/>
          <p:cNvSpPr/>
          <p:nvPr/>
        </p:nvSpPr>
        <p:spPr>
          <a:xfrm>
            <a:off x="3401568" y="356616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“To fill up the measure” — wrath has come upon them</a:t>
            </a:r>
            <a:endParaRPr lang="en-US" sz="1200" dirty="0"/>
          </a:p>
        </p:txBody>
      </p:sp>
      <p:sp>
        <p:nvSpPr>
          <p:cNvPr id="30" name="Shape 27"/>
          <p:cNvSpPr/>
          <p:nvPr/>
        </p:nvSpPr>
        <p:spPr>
          <a:xfrm>
            <a:off x="6071616" y="2926080"/>
            <a:ext cx="2615184" cy="1572768"/>
          </a:xfrm>
          <a:prstGeom prst="rect">
            <a:avLst/>
          </a:prstGeom>
          <a:solidFill>
            <a:srgbClr val="F2F6FC"/>
          </a:solidFill>
          <a:ln w="9525">
            <a:solidFill>
              <a:srgbClr val="D5DCEA"/>
            </a:solidFill>
            <a:prstDash val="solid"/>
          </a:ln>
        </p:spPr>
      </p:sp>
      <p:sp>
        <p:nvSpPr>
          <p:cNvPr id="31" name="Shape 28"/>
          <p:cNvSpPr/>
          <p:nvPr/>
        </p:nvSpPr>
        <p:spPr>
          <a:xfrm>
            <a:off x="6208776" y="3063240"/>
            <a:ext cx="420624" cy="420624"/>
          </a:xfrm>
          <a:prstGeom prst="ellipse">
            <a:avLst/>
          </a:prstGeom>
          <a:solidFill>
            <a:srgbClr val="7030A0"/>
          </a:solidFill>
          <a:ln w="12700">
            <a:solidFill>
              <a:srgbClr val="7030A0"/>
            </a:solidFill>
            <a:prstDash val="solid"/>
          </a:ln>
        </p:spPr>
      </p:sp>
      <p:sp>
        <p:nvSpPr>
          <p:cNvPr id="32" name="Text 29"/>
          <p:cNvSpPr/>
          <p:nvPr/>
        </p:nvSpPr>
        <p:spPr>
          <a:xfrm>
            <a:off x="6208776" y="306324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Gk</a:t>
            </a:r>
            <a:endParaRPr lang="en-US" sz="1300" dirty="0"/>
          </a:p>
        </p:txBody>
      </p:sp>
      <p:sp>
        <p:nvSpPr>
          <p:cNvPr id="33" name="Text 30"/>
          <p:cNvSpPr/>
          <p:nvPr/>
        </p:nvSpPr>
        <p:spPr>
          <a:xfrm>
            <a:off x="6729984" y="306324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ἀναπληρόω · G378</a:t>
            </a:r>
            <a:endParaRPr lang="en-US" sz="1200" dirty="0"/>
          </a:p>
        </p:txBody>
      </p:sp>
      <p:sp>
        <p:nvSpPr>
          <p:cNvPr id="34" name="Text 31"/>
          <p:cNvSpPr/>
          <p:nvPr/>
        </p:nvSpPr>
        <p:spPr>
          <a:xfrm>
            <a:off x="6208776" y="356616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God’s patience is real, but it has a limit — His justice is as certain as His grace</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“Wrath has come” — as certain as if done</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2:16b · II.E — Their punishment</a:t>
            </a:r>
            <a:endParaRPr lang="en-US" sz="1200" dirty="0"/>
          </a:p>
        </p:txBody>
      </p:sp>
      <p:sp>
        <p:nvSpPr>
          <p:cNvPr id="5" name="Shape 2"/>
          <p:cNvSpPr/>
          <p:nvPr/>
        </p:nvSpPr>
        <p:spPr>
          <a:xfrm>
            <a:off x="457200" y="1188720"/>
            <a:ext cx="1477670" cy="2103120"/>
          </a:xfrm>
          <a:prstGeom prst="roundRect">
            <a:avLst>
              <a:gd name="adj" fmla="val 3713"/>
            </a:avLst>
          </a:prstGeom>
          <a:solidFill>
            <a:srgbClr val="F2F6FC"/>
          </a:solidFill>
          <a:ln w="9525">
            <a:solidFill>
              <a:srgbClr val="D5DCEA"/>
            </a:solidFill>
            <a:prstDash val="solid"/>
          </a:ln>
        </p:spPr>
      </p:sp>
      <p:sp>
        <p:nvSpPr>
          <p:cNvPr id="6" name="Shape 3"/>
          <p:cNvSpPr/>
          <p:nvPr/>
        </p:nvSpPr>
        <p:spPr>
          <a:xfrm>
            <a:off x="994867" y="1298448"/>
            <a:ext cx="402336" cy="402336"/>
          </a:xfrm>
          <a:prstGeom prst="ellipse">
            <a:avLst/>
          </a:prstGeom>
          <a:solidFill>
            <a:srgbClr val="2E5496"/>
          </a:solidFill>
          <a:ln w="12700">
            <a:solidFill>
              <a:srgbClr val="2E5496"/>
            </a:solidFill>
            <a:prstDash val="solid"/>
          </a:ln>
        </p:spPr>
      </p:sp>
      <p:sp>
        <p:nvSpPr>
          <p:cNvPr id="7" name="Text 4"/>
          <p:cNvSpPr/>
          <p:nvPr/>
        </p:nvSpPr>
        <p:spPr>
          <a:xfrm>
            <a:off x="994867"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8" name="Text 5"/>
          <p:cNvSpPr/>
          <p:nvPr/>
        </p:nvSpPr>
        <p:spPr>
          <a:xfrm>
            <a:off x="530352"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The Amorites</a:t>
            </a:r>
            <a:endParaRPr lang="en-US" sz="1150" dirty="0"/>
          </a:p>
        </p:txBody>
      </p:sp>
      <p:sp>
        <p:nvSpPr>
          <p:cNvPr id="9" name="Text 6"/>
          <p:cNvSpPr/>
          <p:nvPr/>
        </p:nvSpPr>
        <p:spPr>
          <a:xfrm>
            <a:off x="530352" y="2157984"/>
            <a:ext cx="1331366" cy="74980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Four hundred more years of patience</a:t>
            </a:r>
            <a:endParaRPr lang="en-US" sz="1150" dirty="0"/>
          </a:p>
        </p:txBody>
      </p:sp>
      <p:sp>
        <p:nvSpPr>
          <p:cNvPr id="10" name="Text 7"/>
          <p:cNvSpPr/>
          <p:nvPr/>
        </p:nvSpPr>
        <p:spPr>
          <a:xfrm>
            <a:off x="530352" y="2907792"/>
            <a:ext cx="1331366"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Gen 15</a:t>
            </a:r>
            <a:endParaRPr lang="en-US" sz="900" dirty="0"/>
          </a:p>
        </p:txBody>
      </p:sp>
      <p:sp>
        <p:nvSpPr>
          <p:cNvPr id="11" name="Shape 8"/>
          <p:cNvSpPr/>
          <p:nvPr/>
        </p:nvSpPr>
        <p:spPr>
          <a:xfrm>
            <a:off x="1939442" y="2121408"/>
            <a:ext cx="201168" cy="237744"/>
          </a:xfrm>
          <a:prstGeom prst="rightArrow">
            <a:avLst/>
          </a:prstGeom>
          <a:solidFill>
            <a:srgbClr val="6B7280"/>
          </a:solidFill>
          <a:ln w="12700">
            <a:solidFill>
              <a:srgbClr val="6B7280"/>
            </a:solidFill>
            <a:prstDash val="solid"/>
          </a:ln>
        </p:spPr>
      </p:sp>
      <p:sp>
        <p:nvSpPr>
          <p:cNvPr id="12" name="Shape 9"/>
          <p:cNvSpPr/>
          <p:nvPr/>
        </p:nvSpPr>
        <p:spPr>
          <a:xfrm>
            <a:off x="2145182" y="1188720"/>
            <a:ext cx="1477670" cy="2103120"/>
          </a:xfrm>
          <a:prstGeom prst="roundRect">
            <a:avLst>
              <a:gd name="adj" fmla="val 3713"/>
            </a:avLst>
          </a:prstGeom>
          <a:solidFill>
            <a:srgbClr val="F2F6FC"/>
          </a:solidFill>
          <a:ln w="9525">
            <a:solidFill>
              <a:srgbClr val="D5DCEA"/>
            </a:solidFill>
            <a:prstDash val="solid"/>
          </a:ln>
        </p:spPr>
      </p:sp>
      <p:sp>
        <p:nvSpPr>
          <p:cNvPr id="13" name="Shape 10"/>
          <p:cNvSpPr/>
          <p:nvPr/>
        </p:nvSpPr>
        <p:spPr>
          <a:xfrm>
            <a:off x="2682850" y="1298448"/>
            <a:ext cx="402336" cy="402336"/>
          </a:xfrm>
          <a:prstGeom prst="ellipse">
            <a:avLst/>
          </a:prstGeom>
          <a:solidFill>
            <a:srgbClr val="2E5496"/>
          </a:solidFill>
          <a:ln w="12700">
            <a:solidFill>
              <a:srgbClr val="2E5496"/>
            </a:solidFill>
            <a:prstDash val="solid"/>
          </a:ln>
        </p:spPr>
      </p:sp>
      <p:sp>
        <p:nvSpPr>
          <p:cNvPr id="14" name="Text 11"/>
          <p:cNvSpPr/>
          <p:nvPr/>
        </p:nvSpPr>
        <p:spPr>
          <a:xfrm>
            <a:off x="2682850"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5" name="Text 12"/>
          <p:cNvSpPr/>
          <p:nvPr/>
        </p:nvSpPr>
        <p:spPr>
          <a:xfrm>
            <a:off x="2218334"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The cross</a:t>
            </a:r>
            <a:endParaRPr lang="en-US" sz="1150" dirty="0"/>
          </a:p>
        </p:txBody>
      </p:sp>
      <p:sp>
        <p:nvSpPr>
          <p:cNvPr id="16" name="Text 13"/>
          <p:cNvSpPr/>
          <p:nvPr/>
        </p:nvSpPr>
        <p:spPr>
          <a:xfrm>
            <a:off x="2218334" y="2157984"/>
            <a:ext cx="1331366" cy="74980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The leaders demanded the crucifixion</a:t>
            </a:r>
            <a:endParaRPr lang="en-US" sz="1150" dirty="0"/>
          </a:p>
        </p:txBody>
      </p:sp>
      <p:sp>
        <p:nvSpPr>
          <p:cNvPr id="17" name="Text 14"/>
          <p:cNvSpPr/>
          <p:nvPr/>
        </p:nvSpPr>
        <p:spPr>
          <a:xfrm>
            <a:off x="2218334" y="2907792"/>
            <a:ext cx="1331366"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Matt 26–28</a:t>
            </a:r>
            <a:endParaRPr lang="en-US" sz="900" dirty="0"/>
          </a:p>
        </p:txBody>
      </p:sp>
      <p:sp>
        <p:nvSpPr>
          <p:cNvPr id="18" name="Shape 15"/>
          <p:cNvSpPr/>
          <p:nvPr/>
        </p:nvSpPr>
        <p:spPr>
          <a:xfrm>
            <a:off x="3627425" y="2121408"/>
            <a:ext cx="201168" cy="237744"/>
          </a:xfrm>
          <a:prstGeom prst="rightArrow">
            <a:avLst/>
          </a:prstGeom>
          <a:solidFill>
            <a:srgbClr val="6B7280"/>
          </a:solidFill>
          <a:ln w="12700">
            <a:solidFill>
              <a:srgbClr val="6B7280"/>
            </a:solidFill>
            <a:prstDash val="solid"/>
          </a:ln>
        </p:spPr>
      </p:sp>
      <p:sp>
        <p:nvSpPr>
          <p:cNvPr id="19" name="Shape 16"/>
          <p:cNvSpPr/>
          <p:nvPr/>
        </p:nvSpPr>
        <p:spPr>
          <a:xfrm>
            <a:off x="3833165" y="1188720"/>
            <a:ext cx="1477670" cy="2103120"/>
          </a:xfrm>
          <a:prstGeom prst="roundRect">
            <a:avLst>
              <a:gd name="adj" fmla="val 3713"/>
            </a:avLst>
          </a:prstGeom>
          <a:solidFill>
            <a:srgbClr val="1F3864"/>
          </a:solidFill>
          <a:ln w="9525">
            <a:solidFill>
              <a:srgbClr val="1F3864"/>
            </a:solidFill>
            <a:prstDash val="solid"/>
          </a:ln>
        </p:spPr>
      </p:sp>
      <p:sp>
        <p:nvSpPr>
          <p:cNvPr id="20" name="Shape 17"/>
          <p:cNvSpPr/>
          <p:nvPr/>
        </p:nvSpPr>
        <p:spPr>
          <a:xfrm>
            <a:off x="4370832" y="1298448"/>
            <a:ext cx="402336" cy="402336"/>
          </a:xfrm>
          <a:prstGeom prst="ellipse">
            <a:avLst/>
          </a:prstGeom>
          <a:solidFill>
            <a:srgbClr val="FFFFFF"/>
          </a:solidFill>
          <a:ln w="12700">
            <a:solidFill>
              <a:srgbClr val="FFFFFF"/>
            </a:solidFill>
            <a:prstDash val="solid"/>
          </a:ln>
        </p:spPr>
      </p:sp>
      <p:sp>
        <p:nvSpPr>
          <p:cNvPr id="21" name="Text 18"/>
          <p:cNvSpPr/>
          <p:nvPr/>
        </p:nvSpPr>
        <p:spPr>
          <a:xfrm>
            <a:off x="4370832" y="1298448"/>
            <a:ext cx="402336" cy="402336"/>
          </a:xfrm>
          <a:prstGeom prst="rect">
            <a:avLst/>
          </a:prstGeom>
          <a:noFill/>
          <a:ln/>
        </p:spPr>
        <p:txBody>
          <a:bodyPr wrap="square" lIns="0" tIns="0" rIns="0" bIns="0" rtlCol="0" anchor="ctr"/>
          <a:lstStyle/>
          <a:p>
            <a:pPr algn="ctr" indent="0" marL="0">
              <a:buNone/>
            </a:pPr>
            <a:r>
              <a:rPr lang="en-US" sz="1300" b="1" dirty="0">
                <a:solidFill>
                  <a:srgbClr val="1F3864"/>
                </a:solidFill>
                <a:latin typeface="Arial" pitchFamily="34" charset="0"/>
                <a:ea typeface="Arial" pitchFamily="34" charset="-122"/>
                <a:cs typeface="Arial" pitchFamily="34" charset="-120"/>
              </a:rPr>
              <a:t>C</a:t>
            </a:r>
            <a:endParaRPr lang="en-US" sz="1300" dirty="0"/>
          </a:p>
        </p:txBody>
      </p:sp>
      <p:sp>
        <p:nvSpPr>
          <p:cNvPr id="22" name="Text 19"/>
          <p:cNvSpPr/>
          <p:nvPr/>
        </p:nvSpPr>
        <p:spPr>
          <a:xfrm>
            <a:off x="3906317" y="1773936"/>
            <a:ext cx="1331366"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AD 70</a:t>
            </a:r>
            <a:endParaRPr lang="en-US" sz="1150" dirty="0"/>
          </a:p>
        </p:txBody>
      </p:sp>
      <p:sp>
        <p:nvSpPr>
          <p:cNvPr id="23" name="Text 20"/>
          <p:cNvSpPr/>
          <p:nvPr/>
        </p:nvSpPr>
        <p:spPr>
          <a:xfrm>
            <a:off x="3906317" y="2157984"/>
            <a:ext cx="1331366" cy="749808"/>
          </a:xfrm>
          <a:prstGeom prst="rect">
            <a:avLst/>
          </a:prstGeom>
          <a:noFill/>
          <a:ln/>
        </p:spPr>
        <p:txBody>
          <a:bodyPr wrap="square" lIns="0" tIns="0" rIns="0" bIns="0" rtlCol="0" anchor="t"/>
          <a:lstStyle/>
          <a:p>
            <a:pPr algn="ctr" indent="0" marL="0">
              <a:buNone/>
            </a:pPr>
            <a:r>
              <a:rPr lang="en-US" sz="1150" dirty="0">
                <a:solidFill>
                  <a:srgbClr val="FFFFFF"/>
                </a:solidFill>
                <a:latin typeface="Arial" pitchFamily="34" charset="0"/>
                <a:ea typeface="Arial" pitchFamily="34" charset="-122"/>
                <a:cs typeface="Arial" pitchFamily="34" charset="-120"/>
              </a:rPr>
              <a:t>Not one stone left upon another</a:t>
            </a:r>
            <a:endParaRPr lang="en-US" sz="1150" dirty="0"/>
          </a:p>
        </p:txBody>
      </p:sp>
      <p:sp>
        <p:nvSpPr>
          <p:cNvPr id="24" name="Text 21"/>
          <p:cNvSpPr/>
          <p:nvPr/>
        </p:nvSpPr>
        <p:spPr>
          <a:xfrm>
            <a:off x="3906317" y="2907792"/>
            <a:ext cx="1331366" cy="329184"/>
          </a:xfrm>
          <a:prstGeom prst="rect">
            <a:avLst/>
          </a:prstGeom>
          <a:noFill/>
          <a:ln/>
        </p:spPr>
        <p:txBody>
          <a:bodyPr wrap="square" lIns="0" tIns="0" rIns="0" bIns="0" rtlCol="0" anchor="b"/>
          <a:lstStyle/>
          <a:p>
            <a:pPr algn="ctr" indent="0" marL="0">
              <a:buNone/>
            </a:pPr>
            <a:r>
              <a:rPr lang="en-US" sz="900" i="1" dirty="0">
                <a:solidFill>
                  <a:srgbClr val="DCE4F2"/>
                </a:solidFill>
                <a:latin typeface="Arial" pitchFamily="34" charset="0"/>
                <a:ea typeface="Arial" pitchFamily="34" charset="-122"/>
                <a:cs typeface="Arial" pitchFamily="34" charset="-120"/>
              </a:rPr>
              <a:t>almost 40 years later</a:t>
            </a:r>
            <a:endParaRPr lang="en-US" sz="900" dirty="0"/>
          </a:p>
        </p:txBody>
      </p:sp>
      <p:sp>
        <p:nvSpPr>
          <p:cNvPr id="25" name="Shape 22"/>
          <p:cNvSpPr/>
          <p:nvPr/>
        </p:nvSpPr>
        <p:spPr>
          <a:xfrm>
            <a:off x="5315407" y="2121408"/>
            <a:ext cx="201168" cy="237744"/>
          </a:xfrm>
          <a:prstGeom prst="rightArrow">
            <a:avLst/>
          </a:prstGeom>
          <a:solidFill>
            <a:srgbClr val="6B7280"/>
          </a:solidFill>
          <a:ln w="12700">
            <a:solidFill>
              <a:srgbClr val="6B7280"/>
            </a:solidFill>
            <a:prstDash val="solid"/>
          </a:ln>
        </p:spPr>
      </p:sp>
      <p:sp>
        <p:nvSpPr>
          <p:cNvPr id="26" name="Shape 23"/>
          <p:cNvSpPr/>
          <p:nvPr/>
        </p:nvSpPr>
        <p:spPr>
          <a:xfrm>
            <a:off x="5521147" y="1188720"/>
            <a:ext cx="1477670" cy="2103120"/>
          </a:xfrm>
          <a:prstGeom prst="roundRect">
            <a:avLst>
              <a:gd name="adj" fmla="val 3713"/>
            </a:avLst>
          </a:prstGeom>
          <a:solidFill>
            <a:srgbClr val="F2F6FC"/>
          </a:solidFill>
          <a:ln w="9525">
            <a:solidFill>
              <a:srgbClr val="D5DCEA"/>
            </a:solidFill>
            <a:prstDash val="solid"/>
          </a:ln>
        </p:spPr>
      </p:sp>
      <p:sp>
        <p:nvSpPr>
          <p:cNvPr id="27" name="Shape 24"/>
          <p:cNvSpPr/>
          <p:nvPr/>
        </p:nvSpPr>
        <p:spPr>
          <a:xfrm>
            <a:off x="6058814" y="1298448"/>
            <a:ext cx="402336" cy="402336"/>
          </a:xfrm>
          <a:prstGeom prst="ellipse">
            <a:avLst/>
          </a:prstGeom>
          <a:solidFill>
            <a:srgbClr val="2E5496"/>
          </a:solidFill>
          <a:ln w="12700">
            <a:solidFill>
              <a:srgbClr val="2E5496"/>
            </a:solidFill>
            <a:prstDash val="solid"/>
          </a:ln>
        </p:spPr>
      </p:sp>
      <p:sp>
        <p:nvSpPr>
          <p:cNvPr id="28" name="Text 25"/>
          <p:cNvSpPr/>
          <p:nvPr/>
        </p:nvSpPr>
        <p:spPr>
          <a:xfrm>
            <a:off x="6058814"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D</a:t>
            </a:r>
            <a:endParaRPr lang="en-US" sz="1300" dirty="0"/>
          </a:p>
        </p:txBody>
      </p:sp>
      <p:sp>
        <p:nvSpPr>
          <p:cNvPr id="29" name="Text 26"/>
          <p:cNvSpPr/>
          <p:nvPr/>
        </p:nvSpPr>
        <p:spPr>
          <a:xfrm>
            <a:off x="5594299"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The treaty</a:t>
            </a:r>
            <a:endParaRPr lang="en-US" sz="1150" dirty="0"/>
          </a:p>
        </p:txBody>
      </p:sp>
      <p:sp>
        <p:nvSpPr>
          <p:cNvPr id="30" name="Text 27"/>
          <p:cNvSpPr/>
          <p:nvPr/>
        </p:nvSpPr>
        <p:spPr>
          <a:xfrm>
            <a:off x="5594299" y="2157984"/>
            <a:ext cx="1331366" cy="74980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Seven years with the Antichrist — broken in the middle</a:t>
            </a:r>
            <a:endParaRPr lang="en-US" sz="1150" dirty="0"/>
          </a:p>
        </p:txBody>
      </p:sp>
      <p:sp>
        <p:nvSpPr>
          <p:cNvPr id="31" name="Text 28"/>
          <p:cNvSpPr/>
          <p:nvPr/>
        </p:nvSpPr>
        <p:spPr>
          <a:xfrm>
            <a:off x="5594299" y="2907792"/>
            <a:ext cx="1331366"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Dan 9:27</a:t>
            </a:r>
            <a:endParaRPr lang="en-US" sz="900" dirty="0"/>
          </a:p>
        </p:txBody>
      </p:sp>
      <p:sp>
        <p:nvSpPr>
          <p:cNvPr id="32" name="Shape 29"/>
          <p:cNvSpPr/>
          <p:nvPr/>
        </p:nvSpPr>
        <p:spPr>
          <a:xfrm>
            <a:off x="7003390" y="2121408"/>
            <a:ext cx="201168" cy="237744"/>
          </a:xfrm>
          <a:prstGeom prst="rightArrow">
            <a:avLst/>
          </a:prstGeom>
          <a:solidFill>
            <a:srgbClr val="6B7280"/>
          </a:solidFill>
          <a:ln w="12700">
            <a:solidFill>
              <a:srgbClr val="6B7280"/>
            </a:solidFill>
            <a:prstDash val="solid"/>
          </a:ln>
        </p:spPr>
      </p:sp>
      <p:sp>
        <p:nvSpPr>
          <p:cNvPr id="33" name="Shape 30"/>
          <p:cNvSpPr/>
          <p:nvPr/>
        </p:nvSpPr>
        <p:spPr>
          <a:xfrm>
            <a:off x="7209130" y="1188720"/>
            <a:ext cx="1477670" cy="2103120"/>
          </a:xfrm>
          <a:prstGeom prst="roundRect">
            <a:avLst>
              <a:gd name="adj" fmla="val 3713"/>
            </a:avLst>
          </a:prstGeom>
          <a:solidFill>
            <a:srgbClr val="F2F6FC"/>
          </a:solidFill>
          <a:ln w="9525">
            <a:solidFill>
              <a:srgbClr val="D5DCEA"/>
            </a:solidFill>
            <a:prstDash val="solid"/>
          </a:ln>
        </p:spPr>
      </p:sp>
      <p:sp>
        <p:nvSpPr>
          <p:cNvPr id="34" name="Shape 31"/>
          <p:cNvSpPr/>
          <p:nvPr/>
        </p:nvSpPr>
        <p:spPr>
          <a:xfrm>
            <a:off x="7746797" y="1298448"/>
            <a:ext cx="402336" cy="402336"/>
          </a:xfrm>
          <a:prstGeom prst="ellipse">
            <a:avLst/>
          </a:prstGeom>
          <a:solidFill>
            <a:srgbClr val="2E5496"/>
          </a:solidFill>
          <a:ln w="12700">
            <a:solidFill>
              <a:srgbClr val="2E5496"/>
            </a:solidFill>
            <a:prstDash val="solid"/>
          </a:ln>
        </p:spPr>
      </p:sp>
      <p:sp>
        <p:nvSpPr>
          <p:cNvPr id="35" name="Text 32"/>
          <p:cNvSpPr/>
          <p:nvPr/>
        </p:nvSpPr>
        <p:spPr>
          <a:xfrm>
            <a:off x="7746797"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E</a:t>
            </a:r>
            <a:endParaRPr lang="en-US" sz="1300" dirty="0"/>
          </a:p>
        </p:txBody>
      </p:sp>
      <p:sp>
        <p:nvSpPr>
          <p:cNvPr id="36" name="Text 33"/>
          <p:cNvSpPr/>
          <p:nvPr/>
        </p:nvSpPr>
        <p:spPr>
          <a:xfrm>
            <a:off x="7282282"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Tribulation</a:t>
            </a:r>
            <a:endParaRPr lang="en-US" sz="1150" dirty="0"/>
          </a:p>
        </p:txBody>
      </p:sp>
      <p:sp>
        <p:nvSpPr>
          <p:cNvPr id="37" name="Text 34"/>
          <p:cNvSpPr/>
          <p:nvPr/>
        </p:nvSpPr>
        <p:spPr>
          <a:xfrm>
            <a:off x="7282282" y="2157984"/>
            <a:ext cx="1331366" cy="74980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Judgment ahead for the nation</a:t>
            </a:r>
            <a:endParaRPr lang="en-US" sz="1150" dirty="0"/>
          </a:p>
        </p:txBody>
      </p:sp>
      <p:sp>
        <p:nvSpPr>
          <p:cNvPr id="38" name="Text 35"/>
          <p:cNvSpPr/>
          <p:nvPr/>
        </p:nvSpPr>
        <p:spPr>
          <a:xfrm>
            <a:off x="7282282" y="2907792"/>
            <a:ext cx="1331366"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Dan 9 · Rev 16</a:t>
            </a:r>
            <a:endParaRPr lang="en-US" sz="900" dirty="0"/>
          </a:p>
        </p:txBody>
      </p:sp>
      <p:sp>
        <p:nvSpPr>
          <p:cNvPr id="39" name="Shape 36"/>
          <p:cNvSpPr/>
          <p:nvPr/>
        </p:nvSpPr>
        <p:spPr>
          <a:xfrm>
            <a:off x="457200" y="3474720"/>
            <a:ext cx="8229600" cy="914400"/>
          </a:xfrm>
          <a:prstGeom prst="roundRect">
            <a:avLst>
              <a:gd name="adj" fmla="val 6000"/>
            </a:avLst>
          </a:prstGeom>
          <a:solidFill>
            <a:srgbClr val="1F3864"/>
          </a:solidFill>
          <a:ln w="12700">
            <a:solidFill>
              <a:srgbClr val="1F3864"/>
            </a:solidFill>
            <a:prstDash val="solid"/>
          </a:ln>
        </p:spPr>
      </p:sp>
      <p:sp>
        <p:nvSpPr>
          <p:cNvPr id="40" name="Text 37"/>
          <p:cNvSpPr/>
          <p:nvPr/>
        </p:nvSpPr>
        <p:spPr>
          <a:xfrm>
            <a:off x="621792" y="3474720"/>
            <a:ext cx="7900416" cy="914400"/>
          </a:xfrm>
          <a:prstGeom prst="rect">
            <a:avLst/>
          </a:prstGeom>
          <a:noFill/>
          <a:ln/>
        </p:spPr>
        <p:txBody>
          <a:bodyPr wrap="square" lIns="0" tIns="0" rIns="0" bIns="0" rtlCol="0" anchor="ctr"/>
          <a:lstStyle/>
          <a:p>
            <a:pPr indent="0" marL="0">
              <a:buNone/>
            </a:pPr>
            <a:r>
              <a:rPr lang="en-US" sz="1200" b="1" dirty="0">
                <a:solidFill>
                  <a:srgbClr val="C9D5EE"/>
                </a:solidFill>
                <a:latin typeface="Arial" pitchFamily="34" charset="0"/>
                <a:ea typeface="Arial" pitchFamily="34" charset="-122"/>
                <a:cs typeface="Arial" pitchFamily="34" charset="-120"/>
              </a:rPr>
              <a:t>Romans 8:30 logic:  </a:t>
            </a:r>
            <a:pPr indent="0" marL="0">
              <a:buNone/>
            </a:pPr>
            <a:r>
              <a:rPr lang="en-US" sz="1200" dirty="0">
                <a:solidFill>
                  <a:srgbClr val="FFFFFF"/>
                </a:solidFill>
                <a:latin typeface="Arial" pitchFamily="34" charset="0"/>
                <a:ea typeface="Arial" pitchFamily="34" charset="-122"/>
                <a:cs typeface="Arial" pitchFamily="34" charset="-120"/>
              </a:rPr>
              <a:t>“whom He justified, these He also glorified.” Are you glorified yet? No — but it is as certain as if it had already happened. So is this wrath.</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Torn away, hindered, rewarded</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2:17–20 · III.A–B — Paul’s desire and delight</a:t>
            </a:r>
            <a:endParaRPr lang="en-US" sz="1200" dirty="0"/>
          </a:p>
        </p:txBody>
      </p:sp>
      <p:sp>
        <p:nvSpPr>
          <p:cNvPr id="5" name="Shape 2"/>
          <p:cNvSpPr/>
          <p:nvPr/>
        </p:nvSpPr>
        <p:spPr>
          <a:xfrm>
            <a:off x="457200" y="1115568"/>
            <a:ext cx="777240" cy="566928"/>
          </a:xfrm>
          <a:prstGeom prst="rect">
            <a:avLst/>
          </a:prstGeom>
          <a:solidFill>
            <a:srgbClr val="2E5496"/>
          </a:solidFill>
          <a:ln w="12700">
            <a:solidFill>
              <a:srgbClr val="2E5496"/>
            </a:solidFill>
            <a:prstDash val="solid"/>
          </a:ln>
        </p:spPr>
      </p:sp>
      <p:sp>
        <p:nvSpPr>
          <p:cNvPr id="6" name="Text 3"/>
          <p:cNvSpPr/>
          <p:nvPr/>
        </p:nvSpPr>
        <p:spPr>
          <a:xfrm>
            <a:off x="457200" y="1115568"/>
            <a:ext cx="77724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v.17</a:t>
            </a:r>
            <a:endParaRPr lang="en-US" sz="1100" dirty="0"/>
          </a:p>
        </p:txBody>
      </p:sp>
      <p:sp>
        <p:nvSpPr>
          <p:cNvPr id="7" name="Shape 4"/>
          <p:cNvSpPr/>
          <p:nvPr/>
        </p:nvSpPr>
        <p:spPr>
          <a:xfrm>
            <a:off x="1234440" y="1115568"/>
            <a:ext cx="7452360" cy="566928"/>
          </a:xfrm>
          <a:prstGeom prst="rect">
            <a:avLst/>
          </a:prstGeom>
          <a:solidFill>
            <a:srgbClr val="F2F6FC"/>
          </a:solidFill>
          <a:ln w="9525">
            <a:solidFill>
              <a:srgbClr val="D5DCEA"/>
            </a:solidFill>
            <a:prstDash val="solid"/>
          </a:ln>
        </p:spPr>
      </p:sp>
      <p:sp>
        <p:nvSpPr>
          <p:cNvPr id="8" name="Text 5"/>
          <p:cNvSpPr/>
          <p:nvPr/>
        </p:nvSpPr>
        <p:spPr>
          <a:xfrm>
            <a:off x="1344168" y="1115568"/>
            <a:ext cx="4389120" cy="566928"/>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Taken away in presence, not in heart</a:t>
            </a:r>
            <a:endParaRPr lang="en-US" sz="1150" dirty="0"/>
          </a:p>
        </p:txBody>
      </p:sp>
      <p:sp>
        <p:nvSpPr>
          <p:cNvPr id="9" name="Text 6"/>
          <p:cNvSpPr/>
          <p:nvPr/>
        </p:nvSpPr>
        <p:spPr>
          <a:xfrm>
            <a:off x="5806440" y="1115568"/>
            <a:ext cx="2788920" cy="56692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ἀπορφανίζω</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orphaned — torn from his children</a:t>
            </a:r>
            <a:endParaRPr lang="en-US" sz="1300" dirty="0"/>
          </a:p>
        </p:txBody>
      </p:sp>
      <p:sp>
        <p:nvSpPr>
          <p:cNvPr id="10" name="Shape 7"/>
          <p:cNvSpPr/>
          <p:nvPr/>
        </p:nvSpPr>
        <p:spPr>
          <a:xfrm>
            <a:off x="457200" y="1755648"/>
            <a:ext cx="777240" cy="566928"/>
          </a:xfrm>
          <a:prstGeom prst="rect">
            <a:avLst/>
          </a:prstGeom>
          <a:solidFill>
            <a:srgbClr val="2E5496"/>
          </a:solidFill>
          <a:ln w="12700">
            <a:solidFill>
              <a:srgbClr val="2E5496"/>
            </a:solidFill>
            <a:prstDash val="solid"/>
          </a:ln>
        </p:spPr>
      </p:sp>
      <p:sp>
        <p:nvSpPr>
          <p:cNvPr id="11" name="Text 8"/>
          <p:cNvSpPr/>
          <p:nvPr/>
        </p:nvSpPr>
        <p:spPr>
          <a:xfrm>
            <a:off x="457200" y="1755648"/>
            <a:ext cx="77724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v.18</a:t>
            </a:r>
            <a:endParaRPr lang="en-US" sz="1100" dirty="0"/>
          </a:p>
        </p:txBody>
      </p:sp>
      <p:sp>
        <p:nvSpPr>
          <p:cNvPr id="12" name="Shape 9"/>
          <p:cNvSpPr/>
          <p:nvPr/>
        </p:nvSpPr>
        <p:spPr>
          <a:xfrm>
            <a:off x="1234440" y="1755648"/>
            <a:ext cx="7452360" cy="566928"/>
          </a:xfrm>
          <a:prstGeom prst="rect">
            <a:avLst/>
          </a:prstGeom>
          <a:solidFill>
            <a:srgbClr val="FFFFFF"/>
          </a:solidFill>
          <a:ln w="9525">
            <a:solidFill>
              <a:srgbClr val="D5DCEA"/>
            </a:solidFill>
            <a:prstDash val="solid"/>
          </a:ln>
        </p:spPr>
      </p:sp>
      <p:sp>
        <p:nvSpPr>
          <p:cNvPr id="13" name="Text 10"/>
          <p:cNvSpPr/>
          <p:nvPr/>
        </p:nvSpPr>
        <p:spPr>
          <a:xfrm>
            <a:off x="1344168" y="1755648"/>
            <a:ext cx="4389120" cy="566928"/>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Satan hindered us — though not everything is Satan’s fault (James 1)</a:t>
            </a:r>
            <a:endParaRPr lang="en-US" sz="1150" dirty="0"/>
          </a:p>
        </p:txBody>
      </p:sp>
      <p:sp>
        <p:nvSpPr>
          <p:cNvPr id="14" name="Text 11"/>
          <p:cNvSpPr/>
          <p:nvPr/>
        </p:nvSpPr>
        <p:spPr>
          <a:xfrm>
            <a:off x="5806440" y="1755648"/>
            <a:ext cx="2788920" cy="56692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ἐγκόπτω</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cut the path — strategic opposition</a:t>
            </a:r>
            <a:endParaRPr lang="en-US" sz="1300" dirty="0"/>
          </a:p>
        </p:txBody>
      </p:sp>
      <p:sp>
        <p:nvSpPr>
          <p:cNvPr id="15" name="Shape 12"/>
          <p:cNvSpPr/>
          <p:nvPr/>
        </p:nvSpPr>
        <p:spPr>
          <a:xfrm>
            <a:off x="457200" y="2395728"/>
            <a:ext cx="777240" cy="566928"/>
          </a:xfrm>
          <a:prstGeom prst="rect">
            <a:avLst/>
          </a:prstGeom>
          <a:solidFill>
            <a:srgbClr val="2E5496"/>
          </a:solidFill>
          <a:ln w="12700">
            <a:solidFill>
              <a:srgbClr val="2E5496"/>
            </a:solidFill>
            <a:prstDash val="solid"/>
          </a:ln>
        </p:spPr>
      </p:sp>
      <p:sp>
        <p:nvSpPr>
          <p:cNvPr id="16" name="Text 13"/>
          <p:cNvSpPr/>
          <p:nvPr/>
        </p:nvSpPr>
        <p:spPr>
          <a:xfrm>
            <a:off x="457200" y="2395728"/>
            <a:ext cx="77724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v.19a</a:t>
            </a:r>
            <a:endParaRPr lang="en-US" sz="1100" dirty="0"/>
          </a:p>
        </p:txBody>
      </p:sp>
      <p:sp>
        <p:nvSpPr>
          <p:cNvPr id="17" name="Shape 14"/>
          <p:cNvSpPr/>
          <p:nvPr/>
        </p:nvSpPr>
        <p:spPr>
          <a:xfrm>
            <a:off x="1234440" y="2395728"/>
            <a:ext cx="7452360" cy="566928"/>
          </a:xfrm>
          <a:prstGeom prst="rect">
            <a:avLst/>
          </a:prstGeom>
          <a:solidFill>
            <a:srgbClr val="F2F6FC"/>
          </a:solidFill>
          <a:ln w="9525">
            <a:solidFill>
              <a:srgbClr val="D5DCEA"/>
            </a:solidFill>
            <a:prstDash val="solid"/>
          </a:ln>
        </p:spPr>
      </p:sp>
      <p:sp>
        <p:nvSpPr>
          <p:cNvPr id="18" name="Text 15"/>
          <p:cNvSpPr/>
          <p:nvPr/>
        </p:nvSpPr>
        <p:spPr>
          <a:xfrm>
            <a:off x="1344168" y="2395728"/>
            <a:ext cx="4389120" cy="566928"/>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Our hope, joy, crown — at the judgment seat of Christ</a:t>
            </a:r>
            <a:endParaRPr lang="en-US" sz="1150" dirty="0"/>
          </a:p>
        </p:txBody>
      </p:sp>
      <p:sp>
        <p:nvSpPr>
          <p:cNvPr id="19" name="Text 16"/>
          <p:cNvSpPr/>
          <p:nvPr/>
        </p:nvSpPr>
        <p:spPr>
          <a:xfrm>
            <a:off x="5806440" y="2395728"/>
            <a:ext cx="2788920" cy="56692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στέφανος</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the victor’s wreath — people won</a:t>
            </a:r>
            <a:endParaRPr lang="en-US" sz="1300" dirty="0"/>
          </a:p>
        </p:txBody>
      </p:sp>
      <p:sp>
        <p:nvSpPr>
          <p:cNvPr id="20" name="Shape 17"/>
          <p:cNvSpPr/>
          <p:nvPr/>
        </p:nvSpPr>
        <p:spPr>
          <a:xfrm>
            <a:off x="457200" y="3035808"/>
            <a:ext cx="777240" cy="566928"/>
          </a:xfrm>
          <a:prstGeom prst="rect">
            <a:avLst/>
          </a:prstGeom>
          <a:solidFill>
            <a:srgbClr val="2E5496"/>
          </a:solidFill>
          <a:ln w="12700">
            <a:solidFill>
              <a:srgbClr val="2E5496"/>
            </a:solidFill>
            <a:prstDash val="solid"/>
          </a:ln>
        </p:spPr>
      </p:sp>
      <p:sp>
        <p:nvSpPr>
          <p:cNvPr id="21" name="Text 18"/>
          <p:cNvSpPr/>
          <p:nvPr/>
        </p:nvSpPr>
        <p:spPr>
          <a:xfrm>
            <a:off x="457200" y="3035808"/>
            <a:ext cx="77724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v.19b</a:t>
            </a:r>
            <a:endParaRPr lang="en-US" sz="1100" dirty="0"/>
          </a:p>
        </p:txBody>
      </p:sp>
      <p:sp>
        <p:nvSpPr>
          <p:cNvPr id="22" name="Shape 19"/>
          <p:cNvSpPr/>
          <p:nvPr/>
        </p:nvSpPr>
        <p:spPr>
          <a:xfrm>
            <a:off x="1234440" y="3035808"/>
            <a:ext cx="7452360" cy="566928"/>
          </a:xfrm>
          <a:prstGeom prst="rect">
            <a:avLst/>
          </a:prstGeom>
          <a:solidFill>
            <a:srgbClr val="FFFFFF"/>
          </a:solidFill>
          <a:ln w="9525">
            <a:solidFill>
              <a:srgbClr val="D5DCEA"/>
            </a:solidFill>
            <a:prstDash val="solid"/>
          </a:ln>
        </p:spPr>
      </p:sp>
      <p:sp>
        <p:nvSpPr>
          <p:cNvPr id="23" name="Text 20"/>
          <p:cNvSpPr/>
          <p:nvPr/>
        </p:nvSpPr>
        <p:spPr>
          <a:xfrm>
            <a:off x="1344168" y="3035808"/>
            <a:ext cx="4389120" cy="566928"/>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“In the presence of our Lord Jesus Christ at His coming”</a:t>
            </a:r>
            <a:endParaRPr lang="en-US" sz="1150" dirty="0"/>
          </a:p>
        </p:txBody>
      </p:sp>
      <p:sp>
        <p:nvSpPr>
          <p:cNvPr id="24" name="Text 21"/>
          <p:cNvSpPr/>
          <p:nvPr/>
        </p:nvSpPr>
        <p:spPr>
          <a:xfrm>
            <a:off x="5806440" y="3035808"/>
            <a:ext cx="2788920" cy="56692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παρουσία</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here, the Rapture</a:t>
            </a:r>
            <a:endParaRPr lang="en-US" sz="1300" dirty="0"/>
          </a:p>
        </p:txBody>
      </p:sp>
      <p:sp>
        <p:nvSpPr>
          <p:cNvPr id="25" name="Shape 22"/>
          <p:cNvSpPr/>
          <p:nvPr/>
        </p:nvSpPr>
        <p:spPr>
          <a:xfrm>
            <a:off x="457200" y="3675888"/>
            <a:ext cx="777240" cy="566928"/>
          </a:xfrm>
          <a:prstGeom prst="rect">
            <a:avLst/>
          </a:prstGeom>
          <a:solidFill>
            <a:srgbClr val="375623"/>
          </a:solidFill>
          <a:ln w="12700">
            <a:solidFill>
              <a:srgbClr val="375623"/>
            </a:solidFill>
            <a:prstDash val="solid"/>
          </a:ln>
        </p:spPr>
      </p:sp>
      <p:sp>
        <p:nvSpPr>
          <p:cNvPr id="26" name="Text 23"/>
          <p:cNvSpPr/>
          <p:nvPr/>
        </p:nvSpPr>
        <p:spPr>
          <a:xfrm>
            <a:off x="457200" y="3675888"/>
            <a:ext cx="77724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v.20</a:t>
            </a:r>
            <a:endParaRPr lang="en-US" sz="1100" dirty="0"/>
          </a:p>
        </p:txBody>
      </p:sp>
      <p:sp>
        <p:nvSpPr>
          <p:cNvPr id="27" name="Shape 24"/>
          <p:cNvSpPr/>
          <p:nvPr/>
        </p:nvSpPr>
        <p:spPr>
          <a:xfrm>
            <a:off x="1234440" y="3675888"/>
            <a:ext cx="7452360" cy="566928"/>
          </a:xfrm>
          <a:prstGeom prst="rect">
            <a:avLst/>
          </a:prstGeom>
          <a:solidFill>
            <a:srgbClr val="F2F6FC"/>
          </a:solidFill>
          <a:ln w="9525">
            <a:solidFill>
              <a:srgbClr val="D5DCEA"/>
            </a:solidFill>
            <a:prstDash val="solid"/>
          </a:ln>
        </p:spPr>
      </p:sp>
      <p:sp>
        <p:nvSpPr>
          <p:cNvPr id="28" name="Text 25"/>
          <p:cNvSpPr/>
          <p:nvPr/>
        </p:nvSpPr>
        <p:spPr>
          <a:xfrm>
            <a:off x="1344168" y="3675888"/>
            <a:ext cx="4389120" cy="566928"/>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“For you are our glory and joy”</a:t>
            </a:r>
            <a:endParaRPr lang="en-US" sz="1150" dirty="0"/>
          </a:p>
        </p:txBody>
      </p:sp>
      <p:sp>
        <p:nvSpPr>
          <p:cNvPr id="29" name="Text 26"/>
          <p:cNvSpPr/>
          <p:nvPr/>
        </p:nvSpPr>
        <p:spPr>
          <a:xfrm>
            <a:off x="5806440" y="3675888"/>
            <a:ext cx="2788920" cy="56692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δόξα</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they reflect what God did</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Use things and love people</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2:19–20 · Conclusion — John Phillips</a:t>
            </a:r>
            <a:endParaRPr lang="en-US" sz="1200" dirty="0"/>
          </a:p>
        </p:txBody>
      </p:sp>
      <p:sp>
        <p:nvSpPr>
          <p:cNvPr id="5" name="Shape 2"/>
          <p:cNvSpPr/>
          <p:nvPr/>
        </p:nvSpPr>
        <p:spPr>
          <a:xfrm>
            <a:off x="457200" y="1188720"/>
            <a:ext cx="3931920" cy="365760"/>
          </a:xfrm>
          <a:prstGeom prst="rect">
            <a:avLst/>
          </a:prstGeom>
          <a:solidFill>
            <a:srgbClr val="6B7280"/>
          </a:solidFill>
          <a:ln w="12700">
            <a:solidFill>
              <a:srgbClr val="6B7280"/>
            </a:solidFill>
            <a:prstDash val="solid"/>
          </a:ln>
        </p:spPr>
      </p:sp>
      <p:sp>
        <p:nvSpPr>
          <p:cNvPr id="6" name="Text 3"/>
          <p:cNvSpPr/>
          <p:nvPr/>
        </p:nvSpPr>
        <p:spPr>
          <a:xfrm>
            <a:off x="548640" y="1234440"/>
            <a:ext cx="374904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Solomon</a:t>
            </a:r>
            <a:endParaRPr lang="en-US" sz="1200" dirty="0"/>
          </a:p>
        </p:txBody>
      </p:sp>
      <p:sp>
        <p:nvSpPr>
          <p:cNvPr id="7" name="Shape 4"/>
          <p:cNvSpPr/>
          <p:nvPr/>
        </p:nvSpPr>
        <p:spPr>
          <a:xfrm>
            <a:off x="457200" y="1554480"/>
            <a:ext cx="3931920" cy="1965960"/>
          </a:xfrm>
          <a:prstGeom prst="rect">
            <a:avLst/>
          </a:prstGeom>
          <a:solidFill>
            <a:srgbClr val="F2F6FC"/>
          </a:solidFill>
          <a:ln w="9525">
            <a:solidFill>
              <a:srgbClr val="D5DCEA"/>
            </a:solidFill>
            <a:prstDash val="solid"/>
          </a:ln>
        </p:spPr>
      </p:sp>
      <p:sp>
        <p:nvSpPr>
          <p:cNvPr id="8" name="Text 5"/>
          <p:cNvSpPr/>
          <p:nvPr/>
        </p:nvSpPr>
        <p:spPr>
          <a:xfrm>
            <a:off x="548640" y="1627632"/>
            <a:ext cx="3749040" cy="183794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 good start</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Rejoiced in women, power and riches</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Loved things and used people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 colossal failure in God’s eyes</a:t>
            </a:r>
            <a:endParaRPr lang="en-US" sz="1250" dirty="0"/>
          </a:p>
        </p:txBody>
      </p:sp>
      <p:sp>
        <p:nvSpPr>
          <p:cNvPr id="9" name="Shape 6"/>
          <p:cNvSpPr/>
          <p:nvPr/>
        </p:nvSpPr>
        <p:spPr>
          <a:xfrm>
            <a:off x="4754880" y="1188720"/>
            <a:ext cx="3931920" cy="365760"/>
          </a:xfrm>
          <a:prstGeom prst="rect">
            <a:avLst/>
          </a:prstGeom>
          <a:solidFill>
            <a:srgbClr val="375623"/>
          </a:solidFill>
          <a:ln w="12700">
            <a:solidFill>
              <a:srgbClr val="375623"/>
            </a:solidFill>
            <a:prstDash val="solid"/>
          </a:ln>
        </p:spPr>
      </p:sp>
      <p:sp>
        <p:nvSpPr>
          <p:cNvPr id="10" name="Text 7"/>
          <p:cNvSpPr/>
          <p:nvPr/>
        </p:nvSpPr>
        <p:spPr>
          <a:xfrm>
            <a:off x="4846320" y="1234440"/>
            <a:ext cx="374904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David — and Paul</a:t>
            </a:r>
            <a:endParaRPr lang="en-US" sz="1200" dirty="0"/>
          </a:p>
        </p:txBody>
      </p:sp>
      <p:sp>
        <p:nvSpPr>
          <p:cNvPr id="11" name="Shape 8"/>
          <p:cNvSpPr/>
          <p:nvPr/>
        </p:nvSpPr>
        <p:spPr>
          <a:xfrm>
            <a:off x="4754880" y="1554480"/>
            <a:ext cx="3931920" cy="1965960"/>
          </a:xfrm>
          <a:prstGeom prst="rect">
            <a:avLst/>
          </a:prstGeom>
          <a:solidFill>
            <a:srgbClr val="F2F6FC"/>
          </a:solidFill>
          <a:ln w="9525">
            <a:solidFill>
              <a:srgbClr val="D5DCEA"/>
            </a:solidFill>
            <a:prstDash val="solid"/>
          </a:ln>
        </p:spPr>
      </p:sp>
      <p:sp>
        <p:nvSpPr>
          <p:cNvPr id="12" name="Text 9"/>
          <p:cNvSpPr/>
          <p:nvPr/>
        </p:nvSpPr>
        <p:spPr>
          <a:xfrm>
            <a:off x="4846320" y="1627632"/>
            <a:ext cx="3749040" cy="183794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 mid-life failure — and repentance (Ps 51)</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Served God faithfully</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Used things and loved people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Paul: people as crowns laid at Jesus’ feet</a:t>
            </a:r>
            <a:endParaRPr lang="en-US" sz="1250" dirty="0"/>
          </a:p>
        </p:txBody>
      </p:sp>
      <p:sp>
        <p:nvSpPr>
          <p:cNvPr id="13" name="Text 10"/>
          <p:cNvSpPr/>
          <p:nvPr/>
        </p:nvSpPr>
        <p:spPr>
          <a:xfrm>
            <a:off x="4389120" y="2171700"/>
            <a:ext cx="365760" cy="365760"/>
          </a:xfrm>
          <a:prstGeom prst="rect">
            <a:avLst/>
          </a:prstGeom>
          <a:noFill/>
          <a:ln/>
        </p:spPr>
        <p:txBody>
          <a:bodyPr wrap="square" lIns="0" tIns="0" rIns="0" bIns="0" rtlCol="0" anchor="ctr"/>
          <a:lstStyle/>
          <a:p>
            <a:pPr algn="ctr" indent="0" marL="0">
              <a:buNone/>
            </a:pPr>
            <a:r>
              <a:rPr lang="en-US" sz="1100" b="1" dirty="0">
                <a:solidFill>
                  <a:srgbClr val="6B7280"/>
                </a:solidFill>
                <a:latin typeface="Arial" pitchFamily="34" charset="0"/>
                <a:ea typeface="Arial" pitchFamily="34" charset="-122"/>
                <a:cs typeface="Arial" pitchFamily="34" charset="-120"/>
              </a:rPr>
              <a:t>vs</a:t>
            </a:r>
            <a:endParaRPr lang="en-US" sz="1100" dirty="0"/>
          </a:p>
        </p:txBody>
      </p:sp>
      <p:sp>
        <p:nvSpPr>
          <p:cNvPr id="14" name="Shape 11"/>
          <p:cNvSpPr/>
          <p:nvPr/>
        </p:nvSpPr>
        <p:spPr>
          <a:xfrm>
            <a:off x="457200" y="3749040"/>
            <a:ext cx="8229600" cy="777240"/>
          </a:xfrm>
          <a:prstGeom prst="roundRect">
            <a:avLst>
              <a:gd name="adj" fmla="val 7059"/>
            </a:avLst>
          </a:prstGeom>
          <a:solidFill>
            <a:srgbClr val="1F3864"/>
          </a:solidFill>
          <a:ln w="12700">
            <a:solidFill>
              <a:srgbClr val="1F3864"/>
            </a:solidFill>
            <a:prstDash val="solid"/>
          </a:ln>
        </p:spPr>
      </p:sp>
      <p:sp>
        <p:nvSpPr>
          <p:cNvPr id="15" name="Text 12"/>
          <p:cNvSpPr/>
          <p:nvPr/>
        </p:nvSpPr>
        <p:spPr>
          <a:xfrm>
            <a:off x="621792" y="3749040"/>
            <a:ext cx="7900416" cy="77724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“Only one life will soon be past; only what’s done for Christ will last.”  What is your glory and joy?</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Discuss and apply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2:13–20 · from the study's posted questions and applications</a:t>
            </a:r>
            <a:endParaRPr lang="en-US" sz="1200" dirty="0"/>
          </a:p>
        </p:txBody>
      </p:sp>
      <p:sp>
        <p:nvSpPr>
          <p:cNvPr id="5" name="Shape 2"/>
          <p:cNvSpPr/>
          <p:nvPr/>
        </p:nvSpPr>
        <p:spPr>
          <a:xfrm>
            <a:off x="457200" y="1115568"/>
            <a:ext cx="4023360" cy="384048"/>
          </a:xfrm>
          <a:prstGeom prst="rect">
            <a:avLst/>
          </a:prstGeom>
          <a:solidFill>
            <a:srgbClr val="2E5496"/>
          </a:solidFill>
          <a:ln w="12700">
            <a:solidFill>
              <a:srgbClr val="2E5496"/>
            </a:solidFill>
            <a:prstDash val="solid"/>
          </a:ln>
        </p:spPr>
      </p:sp>
      <p:sp>
        <p:nvSpPr>
          <p:cNvPr id="6" name="Text 3"/>
          <p:cNvSpPr/>
          <p:nvPr/>
        </p:nvSpPr>
        <p:spPr>
          <a:xfrm>
            <a:off x="56692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Discuss</a:t>
            </a:r>
            <a:endParaRPr lang="en-US" sz="1300" dirty="0"/>
          </a:p>
        </p:txBody>
      </p:sp>
      <p:sp>
        <p:nvSpPr>
          <p:cNvPr id="7" name="Shape 4"/>
          <p:cNvSpPr/>
          <p:nvPr/>
        </p:nvSpPr>
        <p:spPr>
          <a:xfrm>
            <a:off x="457200" y="1499616"/>
            <a:ext cx="4023360" cy="2359152"/>
          </a:xfrm>
          <a:prstGeom prst="rect">
            <a:avLst/>
          </a:prstGeom>
          <a:solidFill>
            <a:srgbClr val="F2F6FC"/>
          </a:solidFill>
          <a:ln w="9525">
            <a:solidFill>
              <a:srgbClr val="D5DCEA"/>
            </a:solidFill>
            <a:prstDash val="solid"/>
          </a:ln>
        </p:spPr>
      </p:sp>
      <p:sp>
        <p:nvSpPr>
          <p:cNvPr id="8" name="Shape 5"/>
          <p:cNvSpPr/>
          <p:nvPr/>
        </p:nvSpPr>
        <p:spPr>
          <a:xfrm>
            <a:off x="4663440" y="1115568"/>
            <a:ext cx="4023360" cy="384048"/>
          </a:xfrm>
          <a:prstGeom prst="rect">
            <a:avLst/>
          </a:prstGeom>
          <a:solidFill>
            <a:srgbClr val="375623"/>
          </a:solidFill>
          <a:ln w="12700">
            <a:solidFill>
              <a:srgbClr val="375623"/>
            </a:solidFill>
            <a:prstDash val="solid"/>
          </a:ln>
        </p:spPr>
      </p:sp>
      <p:sp>
        <p:nvSpPr>
          <p:cNvPr id="9" name="Text 6"/>
          <p:cNvSpPr/>
          <p:nvPr/>
        </p:nvSpPr>
        <p:spPr>
          <a:xfrm>
            <a:off x="477316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Apply</a:t>
            </a:r>
            <a:endParaRPr lang="en-US" sz="1300" dirty="0"/>
          </a:p>
        </p:txBody>
      </p:sp>
      <p:sp>
        <p:nvSpPr>
          <p:cNvPr id="10" name="Shape 7"/>
          <p:cNvSpPr/>
          <p:nvPr/>
        </p:nvSpPr>
        <p:spPr>
          <a:xfrm>
            <a:off x="4663440" y="1499616"/>
            <a:ext cx="4023360" cy="2359152"/>
          </a:xfrm>
          <a:prstGeom prst="rect">
            <a:avLst/>
          </a:prstGeom>
          <a:solidFill>
            <a:srgbClr val="F2F6FC"/>
          </a:solidFill>
          <a:ln w="9525">
            <a:solidFill>
              <a:srgbClr val="D5DCEA"/>
            </a:solidFill>
            <a:prstDash val="solid"/>
          </a:ln>
        </p:spPr>
      </p:sp>
      <p:sp>
        <p:nvSpPr>
          <p:cNvPr id="11" name="Shape 8"/>
          <p:cNvSpPr/>
          <p:nvPr/>
        </p:nvSpPr>
        <p:spPr>
          <a:xfrm>
            <a:off x="566928" y="1636776"/>
            <a:ext cx="347472" cy="347472"/>
          </a:xfrm>
          <a:prstGeom prst="ellipse">
            <a:avLst/>
          </a:prstGeom>
          <a:solidFill>
            <a:srgbClr val="2E5496"/>
          </a:solidFill>
          <a:ln w="12700">
            <a:solidFill>
              <a:srgbClr val="2E5496"/>
            </a:solidFill>
            <a:prstDash val="solid"/>
          </a:ln>
        </p:spPr>
      </p:sp>
      <p:sp>
        <p:nvSpPr>
          <p:cNvPr id="12" name="Text 9"/>
          <p:cNvSpPr/>
          <p:nvPr/>
        </p:nvSpPr>
        <p:spPr>
          <a:xfrm>
            <a:off x="566928" y="16367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3" name="Text 10"/>
          <p:cNvSpPr/>
          <p:nvPr/>
        </p:nvSpPr>
        <p:spPr>
          <a:xfrm>
            <a:off x="1005840" y="1591056"/>
            <a:ext cx="3364992" cy="1042416"/>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The Word “effectively works” (energeō) in believers — present tense, ongoing. What does this say about the role of Scripture beyond the moment of salvation?</a:t>
            </a:r>
            <a:endParaRPr lang="en-US" sz="1250" dirty="0"/>
          </a:p>
        </p:txBody>
      </p:sp>
      <p:sp>
        <p:nvSpPr>
          <p:cNvPr id="14" name="Shape 11"/>
          <p:cNvSpPr/>
          <p:nvPr/>
        </p:nvSpPr>
        <p:spPr>
          <a:xfrm>
            <a:off x="566928" y="2724912"/>
            <a:ext cx="347472" cy="347472"/>
          </a:xfrm>
          <a:prstGeom prst="ellipse">
            <a:avLst/>
          </a:prstGeom>
          <a:solidFill>
            <a:srgbClr val="2E5496"/>
          </a:solidFill>
          <a:ln w="12700">
            <a:solidFill>
              <a:srgbClr val="2E5496"/>
            </a:solidFill>
            <a:prstDash val="solid"/>
          </a:ln>
        </p:spPr>
      </p:sp>
      <p:sp>
        <p:nvSpPr>
          <p:cNvPr id="15" name="Text 12"/>
          <p:cNvSpPr/>
          <p:nvPr/>
        </p:nvSpPr>
        <p:spPr>
          <a:xfrm>
            <a:off x="566928" y="272491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6" name="Text 13"/>
          <p:cNvSpPr/>
          <p:nvPr/>
        </p:nvSpPr>
        <p:spPr>
          <a:xfrm>
            <a:off x="1005840" y="2679192"/>
            <a:ext cx="3364992" cy="1042416"/>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The sermon contrasts Solomon and David. What does Paul’s crown (stephanos) reveal about what he truly valued?</a:t>
            </a:r>
            <a:endParaRPr lang="en-US" sz="1250" dirty="0"/>
          </a:p>
        </p:txBody>
      </p:sp>
      <p:sp>
        <p:nvSpPr>
          <p:cNvPr id="17" name="Text 14"/>
          <p:cNvSpPr/>
          <p:nvPr/>
        </p:nvSpPr>
        <p:spPr>
          <a:xfrm>
            <a:off x="4791456" y="1591056"/>
            <a:ext cx="3767328" cy="1042416"/>
          </a:xfrm>
          <a:prstGeom prst="rect">
            <a:avLst/>
          </a:prstGeom>
          <a:noFill/>
          <a:ln/>
        </p:spPr>
        <p:txBody>
          <a:bodyPr wrap="square" lIns="0" tIns="0" rIns="0" bIns="0" rtlCol="0" anchor="t"/>
          <a:lstStyle/>
          <a:p>
            <a:pPr indent="0" marL="0">
              <a:buNone/>
            </a:pPr>
            <a:r>
              <a:rPr lang="en-US" sz="1250" b="1" dirty="0">
                <a:solidFill>
                  <a:srgbClr val="1F3864"/>
                </a:solidFill>
                <a:latin typeface="Arial" pitchFamily="34" charset="0"/>
                <a:ea typeface="Arial" pitchFamily="34" charset="-122"/>
                <a:cs typeface="Arial" pitchFamily="34" charset="-120"/>
              </a:rPr>
              <a:t>Receive the Word as the Word of God</a:t>
            </a:r>
            <a:endParaRPr lang="en-US" sz="1250" dirty="0"/>
          </a:p>
          <a:p>
            <a:pPr indent="0" marL="0">
              <a:buNone/>
            </a:pPr>
            <a:r>
              <a:rPr lang="en-US" sz="1200" dirty="0">
                <a:solidFill>
                  <a:srgbClr val="262626"/>
                </a:solidFill>
                <a:latin typeface="Arial" pitchFamily="34" charset="0"/>
                <a:ea typeface="Arial" pitchFamily="34" charset="-122"/>
                <a:cs typeface="Arial" pitchFamily="34" charset="-120"/>
              </a:rPr>
              <a:t>Before your next time in the Word, pray: “Lord, I receive this as Your Word, not a man’s word. Let it work in me.”</a:t>
            </a:r>
            <a:endParaRPr lang="en-US" sz="1250" dirty="0"/>
          </a:p>
        </p:txBody>
      </p:sp>
      <p:sp>
        <p:nvSpPr>
          <p:cNvPr id="18" name="Text 15"/>
          <p:cNvSpPr/>
          <p:nvPr/>
        </p:nvSpPr>
        <p:spPr>
          <a:xfrm>
            <a:off x="4791456" y="2679192"/>
            <a:ext cx="3767328" cy="1042416"/>
          </a:xfrm>
          <a:prstGeom prst="rect">
            <a:avLst/>
          </a:prstGeom>
          <a:noFill/>
          <a:ln/>
        </p:spPr>
        <p:txBody>
          <a:bodyPr wrap="square" lIns="0" tIns="0" rIns="0" bIns="0" rtlCol="0" anchor="t"/>
          <a:lstStyle/>
          <a:p>
            <a:pPr indent="0" marL="0">
              <a:buNone/>
            </a:pPr>
            <a:r>
              <a:rPr lang="en-US" sz="1250" b="1" dirty="0">
                <a:solidFill>
                  <a:srgbClr val="1F3864"/>
                </a:solidFill>
                <a:latin typeface="Arial" pitchFamily="34" charset="0"/>
                <a:ea typeface="Arial" pitchFamily="34" charset="-122"/>
                <a:cs typeface="Arial" pitchFamily="34" charset="-120"/>
              </a:rPr>
              <a:t>Use Things and Love People</a:t>
            </a:r>
            <a:endParaRPr lang="en-US" sz="1250" dirty="0"/>
          </a:p>
          <a:p>
            <a:pPr indent="0" marL="0">
              <a:buNone/>
            </a:pPr>
            <a:r>
              <a:rPr lang="en-US" sz="1200" dirty="0">
                <a:solidFill>
                  <a:srgbClr val="262626"/>
                </a:solidFill>
                <a:latin typeface="Arial" pitchFamily="34" charset="0"/>
                <a:ea typeface="Arial" pitchFamily="34" charset="-122"/>
                <a:cs typeface="Arial" pitchFamily="34" charset="-120"/>
              </a:rPr>
              <a:t>Name one person whose growth in Christ you are investing in — or ask God this week to show you who it should be.</a:t>
            </a:r>
            <a:endParaRPr lang="en-US" sz="1250" dirty="0"/>
          </a:p>
        </p:txBody>
      </p:sp>
      <p:sp>
        <p:nvSpPr>
          <p:cNvPr id="19" name="Shape 16"/>
          <p:cNvSpPr/>
          <p:nvPr/>
        </p:nvSpPr>
        <p:spPr>
          <a:xfrm>
            <a:off x="457200" y="4023360"/>
            <a:ext cx="8229600" cy="566928"/>
          </a:xfrm>
          <a:prstGeom prst="roundRect">
            <a:avLst>
              <a:gd name="adj" fmla="val 9677"/>
            </a:avLst>
          </a:prstGeom>
          <a:solidFill>
            <a:srgbClr val="1F3864"/>
          </a:solidFill>
          <a:ln w="12700">
            <a:solidFill>
              <a:srgbClr val="1F3864"/>
            </a:solidFill>
            <a:prstDash val="solid"/>
          </a:ln>
        </p:spPr>
      </p:sp>
      <p:sp>
        <p:nvSpPr>
          <p:cNvPr id="20" name="Text 17"/>
          <p:cNvSpPr/>
          <p:nvPr/>
        </p:nvSpPr>
        <p:spPr>
          <a:xfrm>
            <a:off x="621792" y="4023360"/>
            <a:ext cx="7900416" cy="566928"/>
          </a:xfrm>
          <a:prstGeom prst="rect">
            <a:avLst/>
          </a:prstGeom>
          <a:noFill/>
          <a:ln/>
        </p:spPr>
        <p:txBody>
          <a:bodyPr wrap="square" lIns="0" tIns="0" rIns="0" bIns="0" rtlCol="0" anchor="ctr"/>
          <a:lstStyle/>
          <a:p>
            <a:pPr indent="0" marL="0">
              <a:buNone/>
            </a:pPr>
            <a:r>
              <a:rPr lang="en-US" sz="1200" b="1" dirty="0">
                <a:solidFill>
                  <a:srgbClr val="C9D5EE"/>
                </a:solidFill>
                <a:latin typeface="Arial" pitchFamily="34" charset="0"/>
                <a:ea typeface="Arial" pitchFamily="34" charset="-122"/>
                <a:cs typeface="Arial" pitchFamily="34" charset="-120"/>
              </a:rPr>
              <a:t>In one line:  </a:t>
            </a:r>
            <a:pPr indent="0" marL="0">
              <a:buNone/>
            </a:pPr>
            <a:r>
              <a:rPr lang="en-US" sz="1200" dirty="0">
                <a:solidFill>
                  <a:srgbClr val="FFFFFF"/>
                </a:solidFill>
                <a:latin typeface="Arial" pitchFamily="34" charset="0"/>
                <a:ea typeface="Arial" pitchFamily="34" charset="-122"/>
                <a:cs typeface="Arial" pitchFamily="34" charset="-120"/>
              </a:rPr>
              <a:t>The Word received as God’s Word keeps working, will cost something — and the people we serve become our crown.</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nchor="ctr"/>
          <a:lstStyle/>
          <a:p>
            <a:pPr indent="0" marL="0">
              <a:buNone/>
            </a:pPr>
            <a:r>
              <a:rPr lang="en-US" sz="1400" dirty="0">
                <a:solidFill>
                  <a:srgbClr val="C9D5EE"/>
                </a:solidFill>
                <a:latin typeface="Arial" pitchFamily="34" charset="0"/>
                <a:ea typeface="Arial" pitchFamily="34" charset="-122"/>
                <a:cs typeface="Arial" pitchFamily="34" charset="-120"/>
              </a:rPr>
              <a:t>Study 5 of 10 · 1 Thessalonians 3:1–13</a:t>
            </a: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lIns="0" tIns="0" rIns="0" bIns="0" rtlCol="0" anchor="ctr"/>
          <a:lstStyle/>
          <a:p>
            <a:pPr algn="l" indent="0" marL="0">
              <a:buNone/>
            </a:pPr>
            <a:r>
              <a:rPr lang="en-US" sz="3400" b="1" dirty="0">
                <a:solidFill>
                  <a:srgbClr val="FFFFFF"/>
                </a:solidFill>
                <a:latin typeface="Arial" pitchFamily="34" charset="0"/>
                <a:ea typeface="Arial" pitchFamily="34" charset="-122"/>
                <a:cs typeface="Arial" pitchFamily="34" charset="-120"/>
              </a:rPr>
              <a:t>Facing Tribulation</a:t>
            </a: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lIns="0" tIns="0" rIns="0" bIns="0" rtlCol="0" anchor="ctr"/>
          <a:lstStyle/>
          <a:p>
            <a:pPr indent="0" marL="0">
              <a:buNone/>
            </a:pPr>
            <a:r>
              <a:rPr lang="en-US" sz="1500" i="1" dirty="0">
                <a:solidFill>
                  <a:srgbClr val="E6ECF7"/>
                </a:solidFill>
                <a:latin typeface="Arial" pitchFamily="34" charset="0"/>
                <a:ea typeface="Arial" pitchFamily="34" charset="-122"/>
                <a:cs typeface="Arial" pitchFamily="34" charset="-120"/>
              </a:rPr>
              <a:t>Paul sends Timothy to a suffering church — to establish and encourage them — and finds his own life bound up with their standing firm.</a:t>
            </a:r>
            <a:endParaRPr lang="en-US" sz="15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From Berea to Corinth</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Introduction · The background in Acts 17–18</a:t>
            </a:r>
            <a:endParaRPr lang="en-US" sz="1200" dirty="0"/>
          </a:p>
        </p:txBody>
      </p:sp>
      <p:sp>
        <p:nvSpPr>
          <p:cNvPr id="5" name="Shape 2"/>
          <p:cNvSpPr/>
          <p:nvPr/>
        </p:nvSpPr>
        <p:spPr>
          <a:xfrm>
            <a:off x="457200" y="1188720"/>
            <a:ext cx="1477670" cy="2011680"/>
          </a:xfrm>
          <a:prstGeom prst="roundRect">
            <a:avLst>
              <a:gd name="adj" fmla="val 3713"/>
            </a:avLst>
          </a:prstGeom>
          <a:solidFill>
            <a:srgbClr val="F2F6FC"/>
          </a:solidFill>
          <a:ln w="9525">
            <a:solidFill>
              <a:srgbClr val="D5DCEA"/>
            </a:solidFill>
            <a:prstDash val="solid"/>
          </a:ln>
        </p:spPr>
      </p:sp>
      <p:sp>
        <p:nvSpPr>
          <p:cNvPr id="6" name="Shape 3"/>
          <p:cNvSpPr/>
          <p:nvPr/>
        </p:nvSpPr>
        <p:spPr>
          <a:xfrm>
            <a:off x="994867" y="1298448"/>
            <a:ext cx="402336" cy="402336"/>
          </a:xfrm>
          <a:prstGeom prst="ellipse">
            <a:avLst/>
          </a:prstGeom>
          <a:solidFill>
            <a:srgbClr val="2E5496"/>
          </a:solidFill>
          <a:ln w="12700">
            <a:solidFill>
              <a:srgbClr val="2E5496"/>
            </a:solidFill>
            <a:prstDash val="solid"/>
          </a:ln>
        </p:spPr>
      </p:sp>
      <p:sp>
        <p:nvSpPr>
          <p:cNvPr id="7" name="Text 4"/>
          <p:cNvSpPr/>
          <p:nvPr/>
        </p:nvSpPr>
        <p:spPr>
          <a:xfrm>
            <a:off x="994867"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8" name="Text 5"/>
          <p:cNvSpPr/>
          <p:nvPr/>
        </p:nvSpPr>
        <p:spPr>
          <a:xfrm>
            <a:off x="530352"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Berea</a:t>
            </a:r>
            <a:endParaRPr lang="en-US" sz="1150" dirty="0"/>
          </a:p>
        </p:txBody>
      </p:sp>
      <p:sp>
        <p:nvSpPr>
          <p:cNvPr id="9" name="Text 6"/>
          <p:cNvSpPr/>
          <p:nvPr/>
        </p:nvSpPr>
        <p:spPr>
          <a:xfrm>
            <a:off x="530352" y="2157984"/>
            <a:ext cx="1331366" cy="65836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Paul forced to leave; brothers escort him</a:t>
            </a:r>
            <a:endParaRPr lang="en-US" sz="1150" dirty="0"/>
          </a:p>
        </p:txBody>
      </p:sp>
      <p:sp>
        <p:nvSpPr>
          <p:cNvPr id="10" name="Text 7"/>
          <p:cNvSpPr/>
          <p:nvPr/>
        </p:nvSpPr>
        <p:spPr>
          <a:xfrm>
            <a:off x="530352" y="2816352"/>
            <a:ext cx="1331366"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Acts 17</a:t>
            </a:r>
            <a:endParaRPr lang="en-US" sz="900" dirty="0"/>
          </a:p>
        </p:txBody>
      </p:sp>
      <p:sp>
        <p:nvSpPr>
          <p:cNvPr id="11" name="Shape 8"/>
          <p:cNvSpPr/>
          <p:nvPr/>
        </p:nvSpPr>
        <p:spPr>
          <a:xfrm>
            <a:off x="1939442" y="2075688"/>
            <a:ext cx="201168" cy="237744"/>
          </a:xfrm>
          <a:prstGeom prst="rightArrow">
            <a:avLst/>
          </a:prstGeom>
          <a:solidFill>
            <a:srgbClr val="6B7280"/>
          </a:solidFill>
          <a:ln w="12700">
            <a:solidFill>
              <a:srgbClr val="6B7280"/>
            </a:solidFill>
            <a:prstDash val="solid"/>
          </a:ln>
        </p:spPr>
      </p:sp>
      <p:sp>
        <p:nvSpPr>
          <p:cNvPr id="12" name="Shape 9"/>
          <p:cNvSpPr/>
          <p:nvPr/>
        </p:nvSpPr>
        <p:spPr>
          <a:xfrm>
            <a:off x="2145182" y="1188720"/>
            <a:ext cx="1477670" cy="2011680"/>
          </a:xfrm>
          <a:prstGeom prst="roundRect">
            <a:avLst>
              <a:gd name="adj" fmla="val 3713"/>
            </a:avLst>
          </a:prstGeom>
          <a:solidFill>
            <a:srgbClr val="F2F6FC"/>
          </a:solidFill>
          <a:ln w="9525">
            <a:solidFill>
              <a:srgbClr val="D5DCEA"/>
            </a:solidFill>
            <a:prstDash val="solid"/>
          </a:ln>
        </p:spPr>
      </p:sp>
      <p:sp>
        <p:nvSpPr>
          <p:cNvPr id="13" name="Shape 10"/>
          <p:cNvSpPr/>
          <p:nvPr/>
        </p:nvSpPr>
        <p:spPr>
          <a:xfrm>
            <a:off x="2682850" y="1298448"/>
            <a:ext cx="402336" cy="402336"/>
          </a:xfrm>
          <a:prstGeom prst="ellipse">
            <a:avLst/>
          </a:prstGeom>
          <a:solidFill>
            <a:srgbClr val="2E5496"/>
          </a:solidFill>
          <a:ln w="12700">
            <a:solidFill>
              <a:srgbClr val="2E5496"/>
            </a:solidFill>
            <a:prstDash val="solid"/>
          </a:ln>
        </p:spPr>
      </p:sp>
      <p:sp>
        <p:nvSpPr>
          <p:cNvPr id="14" name="Text 11"/>
          <p:cNvSpPr/>
          <p:nvPr/>
        </p:nvSpPr>
        <p:spPr>
          <a:xfrm>
            <a:off x="2682850"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5" name="Text 12"/>
          <p:cNvSpPr/>
          <p:nvPr/>
        </p:nvSpPr>
        <p:spPr>
          <a:xfrm>
            <a:off x="2218334"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Athens</a:t>
            </a:r>
            <a:endParaRPr lang="en-US" sz="1150" dirty="0"/>
          </a:p>
        </p:txBody>
      </p:sp>
      <p:sp>
        <p:nvSpPr>
          <p:cNvPr id="16" name="Text 13"/>
          <p:cNvSpPr/>
          <p:nvPr/>
        </p:nvSpPr>
        <p:spPr>
          <a:xfrm>
            <a:off x="2218334" y="2157984"/>
            <a:ext cx="1331366" cy="65836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Paul stays alone; sends Timothy back</a:t>
            </a:r>
            <a:endParaRPr lang="en-US" sz="1150" dirty="0"/>
          </a:p>
        </p:txBody>
      </p:sp>
      <p:sp>
        <p:nvSpPr>
          <p:cNvPr id="17" name="Text 14"/>
          <p:cNvSpPr/>
          <p:nvPr/>
        </p:nvSpPr>
        <p:spPr>
          <a:xfrm>
            <a:off x="2218334" y="2816352"/>
            <a:ext cx="1331366"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3:1–2</a:t>
            </a:r>
            <a:endParaRPr lang="en-US" sz="900" dirty="0"/>
          </a:p>
        </p:txBody>
      </p:sp>
      <p:sp>
        <p:nvSpPr>
          <p:cNvPr id="18" name="Shape 15"/>
          <p:cNvSpPr/>
          <p:nvPr/>
        </p:nvSpPr>
        <p:spPr>
          <a:xfrm>
            <a:off x="3627425" y="2075688"/>
            <a:ext cx="201168" cy="237744"/>
          </a:xfrm>
          <a:prstGeom prst="rightArrow">
            <a:avLst/>
          </a:prstGeom>
          <a:solidFill>
            <a:srgbClr val="6B7280"/>
          </a:solidFill>
          <a:ln w="12700">
            <a:solidFill>
              <a:srgbClr val="6B7280"/>
            </a:solidFill>
            <a:prstDash val="solid"/>
          </a:ln>
        </p:spPr>
      </p:sp>
      <p:sp>
        <p:nvSpPr>
          <p:cNvPr id="19" name="Shape 16"/>
          <p:cNvSpPr/>
          <p:nvPr/>
        </p:nvSpPr>
        <p:spPr>
          <a:xfrm>
            <a:off x="3833165" y="1188720"/>
            <a:ext cx="1477670" cy="2011680"/>
          </a:xfrm>
          <a:prstGeom prst="roundRect">
            <a:avLst>
              <a:gd name="adj" fmla="val 3713"/>
            </a:avLst>
          </a:prstGeom>
          <a:solidFill>
            <a:srgbClr val="1F3864"/>
          </a:solidFill>
          <a:ln w="9525">
            <a:solidFill>
              <a:srgbClr val="1F3864"/>
            </a:solidFill>
            <a:prstDash val="solid"/>
          </a:ln>
        </p:spPr>
      </p:sp>
      <p:sp>
        <p:nvSpPr>
          <p:cNvPr id="20" name="Shape 17"/>
          <p:cNvSpPr/>
          <p:nvPr/>
        </p:nvSpPr>
        <p:spPr>
          <a:xfrm>
            <a:off x="4370832" y="1298448"/>
            <a:ext cx="402336" cy="402336"/>
          </a:xfrm>
          <a:prstGeom prst="ellipse">
            <a:avLst/>
          </a:prstGeom>
          <a:solidFill>
            <a:srgbClr val="FFFFFF"/>
          </a:solidFill>
          <a:ln w="12700">
            <a:solidFill>
              <a:srgbClr val="FFFFFF"/>
            </a:solidFill>
            <a:prstDash val="solid"/>
          </a:ln>
        </p:spPr>
      </p:sp>
      <p:sp>
        <p:nvSpPr>
          <p:cNvPr id="21" name="Text 18"/>
          <p:cNvSpPr/>
          <p:nvPr/>
        </p:nvSpPr>
        <p:spPr>
          <a:xfrm>
            <a:off x="4370832" y="1298448"/>
            <a:ext cx="402336" cy="402336"/>
          </a:xfrm>
          <a:prstGeom prst="rect">
            <a:avLst/>
          </a:prstGeom>
          <a:noFill/>
          <a:ln/>
        </p:spPr>
        <p:txBody>
          <a:bodyPr wrap="square" lIns="0" tIns="0" rIns="0" bIns="0" rtlCol="0" anchor="ctr"/>
          <a:lstStyle/>
          <a:p>
            <a:pPr algn="ctr" indent="0" marL="0">
              <a:buNone/>
            </a:pPr>
            <a:r>
              <a:rPr lang="en-US" sz="1300" b="1" dirty="0">
                <a:solidFill>
                  <a:srgbClr val="1F3864"/>
                </a:solidFill>
                <a:latin typeface="Arial" pitchFamily="34" charset="0"/>
                <a:ea typeface="Arial" pitchFamily="34" charset="-122"/>
                <a:cs typeface="Arial" pitchFamily="34" charset="-120"/>
              </a:rPr>
              <a:t>C</a:t>
            </a:r>
            <a:endParaRPr lang="en-US" sz="1300" dirty="0"/>
          </a:p>
        </p:txBody>
      </p:sp>
      <p:sp>
        <p:nvSpPr>
          <p:cNvPr id="22" name="Text 19"/>
          <p:cNvSpPr/>
          <p:nvPr/>
        </p:nvSpPr>
        <p:spPr>
          <a:xfrm>
            <a:off x="3906317" y="1773936"/>
            <a:ext cx="1331366"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Thessalonica</a:t>
            </a:r>
            <a:endParaRPr lang="en-US" sz="1150" dirty="0"/>
          </a:p>
        </p:txBody>
      </p:sp>
      <p:sp>
        <p:nvSpPr>
          <p:cNvPr id="23" name="Text 20"/>
          <p:cNvSpPr/>
          <p:nvPr/>
        </p:nvSpPr>
        <p:spPr>
          <a:xfrm>
            <a:off x="3906317" y="2157984"/>
            <a:ext cx="1331366" cy="658368"/>
          </a:xfrm>
          <a:prstGeom prst="rect">
            <a:avLst/>
          </a:prstGeom>
          <a:noFill/>
          <a:ln/>
        </p:spPr>
        <p:txBody>
          <a:bodyPr wrap="square" lIns="0" tIns="0" rIns="0" bIns="0" rtlCol="0" anchor="t"/>
          <a:lstStyle/>
          <a:p>
            <a:pPr algn="ctr" indent="0" marL="0">
              <a:buNone/>
            </a:pPr>
            <a:r>
              <a:rPr lang="en-US" sz="1150" dirty="0">
                <a:solidFill>
                  <a:srgbClr val="FFFFFF"/>
                </a:solidFill>
                <a:latin typeface="Arial" pitchFamily="34" charset="0"/>
                <a:ea typeface="Arial" pitchFamily="34" charset="-122"/>
                <a:cs typeface="Arial" pitchFamily="34" charset="-120"/>
              </a:rPr>
              <a:t>Timothy establishes and encourages the church</a:t>
            </a:r>
            <a:endParaRPr lang="en-US" sz="1150" dirty="0"/>
          </a:p>
        </p:txBody>
      </p:sp>
      <p:sp>
        <p:nvSpPr>
          <p:cNvPr id="24" name="Text 21"/>
          <p:cNvSpPr/>
          <p:nvPr/>
        </p:nvSpPr>
        <p:spPr>
          <a:xfrm>
            <a:off x="3906317" y="2816352"/>
            <a:ext cx="1331366" cy="329184"/>
          </a:xfrm>
          <a:prstGeom prst="rect">
            <a:avLst/>
          </a:prstGeom>
          <a:noFill/>
          <a:ln/>
        </p:spPr>
        <p:txBody>
          <a:bodyPr wrap="square" lIns="0" tIns="0" rIns="0" bIns="0" rtlCol="0" anchor="b"/>
          <a:lstStyle/>
          <a:p>
            <a:pPr algn="ctr" indent="0" marL="0">
              <a:buNone/>
            </a:pPr>
            <a:r>
              <a:rPr lang="en-US" sz="900" i="1" dirty="0">
                <a:solidFill>
                  <a:srgbClr val="DCE4F2"/>
                </a:solidFill>
                <a:latin typeface="Arial" pitchFamily="34" charset="0"/>
                <a:ea typeface="Arial" pitchFamily="34" charset="-122"/>
                <a:cs typeface="Arial" pitchFamily="34" charset="-120"/>
              </a:rPr>
              <a:t>3:2–5</a:t>
            </a:r>
            <a:endParaRPr lang="en-US" sz="900" dirty="0"/>
          </a:p>
        </p:txBody>
      </p:sp>
      <p:sp>
        <p:nvSpPr>
          <p:cNvPr id="25" name="Shape 22"/>
          <p:cNvSpPr/>
          <p:nvPr/>
        </p:nvSpPr>
        <p:spPr>
          <a:xfrm>
            <a:off x="5315407" y="2075688"/>
            <a:ext cx="201168" cy="237744"/>
          </a:xfrm>
          <a:prstGeom prst="rightArrow">
            <a:avLst/>
          </a:prstGeom>
          <a:solidFill>
            <a:srgbClr val="6B7280"/>
          </a:solidFill>
          <a:ln w="12700">
            <a:solidFill>
              <a:srgbClr val="6B7280"/>
            </a:solidFill>
            <a:prstDash val="solid"/>
          </a:ln>
        </p:spPr>
      </p:sp>
      <p:sp>
        <p:nvSpPr>
          <p:cNvPr id="26" name="Shape 23"/>
          <p:cNvSpPr/>
          <p:nvPr/>
        </p:nvSpPr>
        <p:spPr>
          <a:xfrm>
            <a:off x="5521147" y="1188720"/>
            <a:ext cx="1477670" cy="2011680"/>
          </a:xfrm>
          <a:prstGeom prst="roundRect">
            <a:avLst>
              <a:gd name="adj" fmla="val 3713"/>
            </a:avLst>
          </a:prstGeom>
          <a:solidFill>
            <a:srgbClr val="F2F6FC"/>
          </a:solidFill>
          <a:ln w="9525">
            <a:solidFill>
              <a:srgbClr val="D5DCEA"/>
            </a:solidFill>
            <a:prstDash val="solid"/>
          </a:ln>
        </p:spPr>
      </p:sp>
      <p:sp>
        <p:nvSpPr>
          <p:cNvPr id="27" name="Shape 24"/>
          <p:cNvSpPr/>
          <p:nvPr/>
        </p:nvSpPr>
        <p:spPr>
          <a:xfrm>
            <a:off x="6058814" y="1298448"/>
            <a:ext cx="402336" cy="402336"/>
          </a:xfrm>
          <a:prstGeom prst="ellipse">
            <a:avLst/>
          </a:prstGeom>
          <a:solidFill>
            <a:srgbClr val="2E5496"/>
          </a:solidFill>
          <a:ln w="12700">
            <a:solidFill>
              <a:srgbClr val="2E5496"/>
            </a:solidFill>
            <a:prstDash val="solid"/>
          </a:ln>
        </p:spPr>
      </p:sp>
      <p:sp>
        <p:nvSpPr>
          <p:cNvPr id="28" name="Text 25"/>
          <p:cNvSpPr/>
          <p:nvPr/>
        </p:nvSpPr>
        <p:spPr>
          <a:xfrm>
            <a:off x="6058814"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D</a:t>
            </a:r>
            <a:endParaRPr lang="en-US" sz="1300" dirty="0"/>
          </a:p>
        </p:txBody>
      </p:sp>
      <p:sp>
        <p:nvSpPr>
          <p:cNvPr id="29" name="Text 26"/>
          <p:cNvSpPr/>
          <p:nvPr/>
        </p:nvSpPr>
        <p:spPr>
          <a:xfrm>
            <a:off x="5594299"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Corinth</a:t>
            </a:r>
            <a:endParaRPr lang="en-US" sz="1150" dirty="0"/>
          </a:p>
        </p:txBody>
      </p:sp>
      <p:sp>
        <p:nvSpPr>
          <p:cNvPr id="30" name="Text 27"/>
          <p:cNvSpPr/>
          <p:nvPr/>
        </p:nvSpPr>
        <p:spPr>
          <a:xfrm>
            <a:off x="5594299" y="2157984"/>
            <a:ext cx="1331366" cy="65836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Silas and Timothy find Paul (Acts 18:5)</a:t>
            </a:r>
            <a:endParaRPr lang="en-US" sz="1150" dirty="0"/>
          </a:p>
        </p:txBody>
      </p:sp>
      <p:sp>
        <p:nvSpPr>
          <p:cNvPr id="31" name="Text 28"/>
          <p:cNvSpPr/>
          <p:nvPr/>
        </p:nvSpPr>
        <p:spPr>
          <a:xfrm>
            <a:off x="5594299" y="2816352"/>
            <a:ext cx="1331366"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Timothy’s report · 3:6</a:t>
            </a:r>
            <a:endParaRPr lang="en-US" sz="900" dirty="0"/>
          </a:p>
        </p:txBody>
      </p:sp>
      <p:sp>
        <p:nvSpPr>
          <p:cNvPr id="32" name="Shape 29"/>
          <p:cNvSpPr/>
          <p:nvPr/>
        </p:nvSpPr>
        <p:spPr>
          <a:xfrm>
            <a:off x="7003390" y="2075688"/>
            <a:ext cx="201168" cy="237744"/>
          </a:xfrm>
          <a:prstGeom prst="rightArrow">
            <a:avLst/>
          </a:prstGeom>
          <a:solidFill>
            <a:srgbClr val="6B7280"/>
          </a:solidFill>
          <a:ln w="12700">
            <a:solidFill>
              <a:srgbClr val="6B7280"/>
            </a:solidFill>
            <a:prstDash val="solid"/>
          </a:ln>
        </p:spPr>
      </p:sp>
      <p:sp>
        <p:nvSpPr>
          <p:cNvPr id="33" name="Shape 30"/>
          <p:cNvSpPr/>
          <p:nvPr/>
        </p:nvSpPr>
        <p:spPr>
          <a:xfrm>
            <a:off x="7209130" y="1188720"/>
            <a:ext cx="1477670" cy="2011680"/>
          </a:xfrm>
          <a:prstGeom prst="roundRect">
            <a:avLst>
              <a:gd name="adj" fmla="val 3713"/>
            </a:avLst>
          </a:prstGeom>
          <a:solidFill>
            <a:srgbClr val="F2F6FC"/>
          </a:solidFill>
          <a:ln w="9525">
            <a:solidFill>
              <a:srgbClr val="D5DCEA"/>
            </a:solidFill>
            <a:prstDash val="solid"/>
          </a:ln>
        </p:spPr>
      </p:sp>
      <p:sp>
        <p:nvSpPr>
          <p:cNvPr id="34" name="Shape 31"/>
          <p:cNvSpPr/>
          <p:nvPr/>
        </p:nvSpPr>
        <p:spPr>
          <a:xfrm>
            <a:off x="7746797" y="1298448"/>
            <a:ext cx="402336" cy="402336"/>
          </a:xfrm>
          <a:prstGeom prst="ellipse">
            <a:avLst/>
          </a:prstGeom>
          <a:solidFill>
            <a:srgbClr val="2E5496"/>
          </a:solidFill>
          <a:ln w="12700">
            <a:solidFill>
              <a:srgbClr val="2E5496"/>
            </a:solidFill>
            <a:prstDash val="solid"/>
          </a:ln>
        </p:spPr>
      </p:sp>
      <p:sp>
        <p:nvSpPr>
          <p:cNvPr id="35" name="Text 32"/>
          <p:cNvSpPr/>
          <p:nvPr/>
        </p:nvSpPr>
        <p:spPr>
          <a:xfrm>
            <a:off x="7746797"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E</a:t>
            </a:r>
            <a:endParaRPr lang="en-US" sz="1300" dirty="0"/>
          </a:p>
        </p:txBody>
      </p:sp>
      <p:sp>
        <p:nvSpPr>
          <p:cNvPr id="36" name="Text 33"/>
          <p:cNvSpPr/>
          <p:nvPr/>
        </p:nvSpPr>
        <p:spPr>
          <a:xfrm>
            <a:off x="7282282"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The letter</a:t>
            </a:r>
            <a:endParaRPr lang="en-US" sz="1150" dirty="0"/>
          </a:p>
        </p:txBody>
      </p:sp>
      <p:sp>
        <p:nvSpPr>
          <p:cNvPr id="37" name="Text 34"/>
          <p:cNvSpPr/>
          <p:nvPr/>
        </p:nvSpPr>
        <p:spPr>
          <a:xfrm>
            <a:off x="7282282" y="2157984"/>
            <a:ext cx="1331366" cy="65836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Written from Corinth, looking back</a:t>
            </a:r>
            <a:endParaRPr lang="en-US" sz="1150" dirty="0"/>
          </a:p>
        </p:txBody>
      </p:sp>
      <p:sp>
        <p:nvSpPr>
          <p:cNvPr id="38" name="Text 35"/>
          <p:cNvSpPr/>
          <p:nvPr/>
        </p:nvSpPr>
        <p:spPr>
          <a:xfrm>
            <a:off x="7282282" y="2816352"/>
            <a:ext cx="1331366"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1 Thessalonians</a:t>
            </a:r>
            <a:endParaRPr lang="en-US" sz="900" dirty="0"/>
          </a:p>
        </p:txBody>
      </p:sp>
      <p:sp>
        <p:nvSpPr>
          <p:cNvPr id="39" name="Shape 36"/>
          <p:cNvSpPr/>
          <p:nvPr/>
        </p:nvSpPr>
        <p:spPr>
          <a:xfrm>
            <a:off x="457200" y="3429000"/>
            <a:ext cx="8229600" cy="1143000"/>
          </a:xfrm>
          <a:prstGeom prst="roundRect">
            <a:avLst>
              <a:gd name="adj" fmla="val 4800"/>
            </a:avLst>
          </a:prstGeom>
          <a:solidFill>
            <a:srgbClr val="1F3864"/>
          </a:solidFill>
          <a:ln w="12700">
            <a:solidFill>
              <a:srgbClr val="1F3864"/>
            </a:solidFill>
            <a:prstDash val="solid"/>
          </a:ln>
        </p:spPr>
      </p:sp>
      <p:sp>
        <p:nvSpPr>
          <p:cNvPr id="40" name="Text 37"/>
          <p:cNvSpPr/>
          <p:nvPr/>
        </p:nvSpPr>
        <p:spPr>
          <a:xfrm>
            <a:off x="621792" y="3429000"/>
            <a:ext cx="7900416" cy="114300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Paul could scarcely bear not knowing how they were doing. They had endured all kinds of tribulation; he had been chased out. So he sent Timothy back to find out how the young church was making out.</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Why Timothy — and why he went</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3:2 · I.B — The proposal</a:t>
            </a:r>
            <a:endParaRPr lang="en-US" sz="1200" dirty="0"/>
          </a:p>
        </p:txBody>
      </p:sp>
      <p:sp>
        <p:nvSpPr>
          <p:cNvPr id="5" name="Shape 2"/>
          <p:cNvSpPr/>
          <p:nvPr/>
        </p:nvSpPr>
        <p:spPr>
          <a:xfrm>
            <a:off x="457200" y="1188720"/>
            <a:ext cx="3383280" cy="566928"/>
          </a:xfrm>
          <a:prstGeom prst="rect">
            <a:avLst/>
          </a:prstGeom>
          <a:solidFill>
            <a:srgbClr val="2E5496"/>
          </a:solidFill>
          <a:ln w="12700">
            <a:solidFill>
              <a:srgbClr val="2E5496"/>
            </a:solidFill>
            <a:prstDash val="solid"/>
          </a:ln>
        </p:spPr>
      </p:sp>
      <p:sp>
        <p:nvSpPr>
          <p:cNvPr id="6" name="Text 3"/>
          <p:cNvSpPr/>
          <p:nvPr/>
        </p:nvSpPr>
        <p:spPr>
          <a:xfrm>
            <a:off x="548640" y="1234440"/>
            <a:ext cx="32004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 messenger chosen</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διάκονος</a:t>
            </a:r>
            <a:pPr indent="0" marL="0">
              <a:buNone/>
            </a:pPr>
            <a:r>
              <a:rPr lang="en-US" sz="850" dirty="0">
                <a:solidFill>
                  <a:srgbClr val="DCE4F2"/>
                </a:solidFill>
                <a:latin typeface="Arial" pitchFamily="34" charset="0"/>
                <a:ea typeface="Arial" pitchFamily="34" charset="-122"/>
                <a:cs typeface="Arial" pitchFamily="34" charset="-120"/>
              </a:rPr>
              <a:t>  minister · G1249</a:t>
            </a:r>
            <a:endParaRPr lang="en-US" sz="1200" dirty="0"/>
          </a:p>
        </p:txBody>
      </p:sp>
      <p:sp>
        <p:nvSpPr>
          <p:cNvPr id="7" name="Shape 4"/>
          <p:cNvSpPr/>
          <p:nvPr/>
        </p:nvSpPr>
        <p:spPr>
          <a:xfrm>
            <a:off x="457200" y="1755648"/>
            <a:ext cx="3383280" cy="2267712"/>
          </a:xfrm>
          <a:prstGeom prst="rect">
            <a:avLst/>
          </a:prstGeom>
          <a:solidFill>
            <a:srgbClr val="F2F6FC"/>
          </a:solidFill>
          <a:ln w="9525">
            <a:solidFill>
              <a:srgbClr val="D5DCEA"/>
            </a:solidFill>
            <a:prstDash val="solid"/>
          </a:ln>
        </p:spPr>
      </p:sp>
      <p:sp>
        <p:nvSpPr>
          <p:cNvPr id="8" name="Text 5"/>
          <p:cNvSpPr/>
          <p:nvPr/>
        </p:nvSpPr>
        <p:spPr>
          <a:xfrm>
            <a:off x="548640" y="1828800"/>
            <a:ext cx="3200400" cy="2139696"/>
          </a:xfrm>
          <a:prstGeom prst="rect">
            <a:avLst/>
          </a:prstGeom>
          <a:noFill/>
          <a:ln/>
        </p:spPr>
        <p:txBody>
          <a:bodyPr wrap="square" lIns="0" tIns="0" rIns="0" bIns="0" rtlCol="0" anchor="t"/>
          <a:lstStyle/>
          <a:p>
            <a:pPr marL="127000" indent="-127000">
              <a:spcAft>
                <a:spcPts val="300"/>
              </a:spcAft>
              <a:buSzPct val="100000"/>
              <a:buChar char="•"/>
            </a:pPr>
            <a:r>
              <a:rPr lang="en-US" sz="1150" dirty="0">
                <a:solidFill>
                  <a:srgbClr val="262626"/>
                </a:solidFill>
                <a:latin typeface="Arial" pitchFamily="34" charset="0"/>
                <a:ea typeface="Arial" pitchFamily="34" charset="-122"/>
                <a:cs typeface="Arial" pitchFamily="34" charset="-120"/>
              </a:rPr>
              <a:t>Our brother</a:t>
            </a:r>
            <a:endParaRPr lang="en-US" sz="1150" dirty="0"/>
          </a:p>
          <a:p>
            <a:pPr marL="127000" indent="-127000">
              <a:spcAft>
                <a:spcPts val="300"/>
              </a:spcAft>
              <a:buSzPct val="100000"/>
              <a:buChar char="•"/>
            </a:pPr>
            <a:r>
              <a:rPr lang="en-US" sz="1150" dirty="0">
                <a:solidFill>
                  <a:srgbClr val="262626"/>
                </a:solidFill>
                <a:latin typeface="Arial" pitchFamily="34" charset="0"/>
                <a:ea typeface="Arial" pitchFamily="34" charset="-122"/>
                <a:cs typeface="Arial" pitchFamily="34" charset="-120"/>
              </a:rPr>
              <a:t>Minister of God</a:t>
            </a:r>
            <a:endParaRPr lang="en-US" sz="1150" dirty="0"/>
          </a:p>
          <a:p>
            <a:pPr marL="127000" indent="-127000">
              <a:spcAft>
                <a:spcPts val="300"/>
              </a:spcAft>
              <a:buSzPct val="100000"/>
              <a:buChar char="•"/>
            </a:pPr>
            <a:r>
              <a:rPr lang="en-US" sz="1150" dirty="0">
                <a:solidFill>
                  <a:srgbClr val="262626"/>
                </a:solidFill>
                <a:latin typeface="Arial" pitchFamily="34" charset="0"/>
                <a:ea typeface="Arial" pitchFamily="34" charset="-122"/>
                <a:cs typeface="Arial" pitchFamily="34" charset="-120"/>
              </a:rPr>
              <a:t>Fellow laborer in the gospel</a:t>
            </a:r>
            <a:endParaRPr lang="en-US" sz="1150" dirty="0"/>
          </a:p>
          <a:p>
            <a:pPr indent="0" marL="0">
              <a:buNone/>
            </a:pPr>
            <a:r>
              <a:rPr lang="en-US" sz="575" dirty="0">
                <a:solidFill>
                  <a:srgbClr val="000000"/>
                </a:solidFill>
                <a:latin typeface="Arial" pitchFamily="34" charset="0"/>
                <a:ea typeface="Arial" pitchFamily="34" charset="-122"/>
                <a:cs typeface="Arial" pitchFamily="34" charset="-120"/>
              </a:rPr>
              <a:t> </a:t>
            </a:r>
            <a:endParaRPr lang="en-US" sz="1150" dirty="0"/>
          </a:p>
          <a:p>
            <a:pPr indent="0" marL="0">
              <a:spcAft>
                <a:spcPts val="300"/>
              </a:spcAft>
              <a:buNone/>
            </a:pPr>
            <a:r>
              <a:rPr lang="en-US" sz="1150" dirty="0">
                <a:solidFill>
                  <a:srgbClr val="262626"/>
                </a:solidFill>
                <a:latin typeface="Arial" pitchFamily="34" charset="0"/>
                <a:ea typeface="Arial" pitchFamily="34" charset="-122"/>
                <a:cs typeface="Arial" pitchFamily="34" charset="-120"/>
              </a:rPr>
              <a:t>A full commendation for a young man — someone the church already knew and trusted.</a:t>
            </a:r>
            <a:endParaRPr lang="en-US" sz="1150" dirty="0"/>
          </a:p>
        </p:txBody>
      </p:sp>
      <p:sp>
        <p:nvSpPr>
          <p:cNvPr id="9" name="Text 6"/>
          <p:cNvSpPr/>
          <p:nvPr/>
        </p:nvSpPr>
        <p:spPr>
          <a:xfrm>
            <a:off x="4069080" y="1188720"/>
            <a:ext cx="4617720" cy="292608"/>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The messenger charged</a:t>
            </a:r>
            <a:endParaRPr lang="en-US" sz="1200" dirty="0"/>
          </a:p>
        </p:txBody>
      </p:sp>
      <p:sp>
        <p:nvSpPr>
          <p:cNvPr id="10" name="Shape 7"/>
          <p:cNvSpPr/>
          <p:nvPr/>
        </p:nvSpPr>
        <p:spPr>
          <a:xfrm>
            <a:off x="4069080" y="1591056"/>
            <a:ext cx="384048" cy="384048"/>
          </a:xfrm>
          <a:prstGeom prst="ellipse">
            <a:avLst/>
          </a:prstGeom>
          <a:solidFill>
            <a:srgbClr val="2E5496"/>
          </a:solidFill>
          <a:ln w="12700">
            <a:solidFill>
              <a:srgbClr val="2E5496"/>
            </a:solidFill>
            <a:prstDash val="solid"/>
          </a:ln>
        </p:spPr>
      </p:sp>
      <p:sp>
        <p:nvSpPr>
          <p:cNvPr id="11" name="Text 8"/>
          <p:cNvSpPr/>
          <p:nvPr/>
        </p:nvSpPr>
        <p:spPr>
          <a:xfrm>
            <a:off x="4069080" y="15910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2" name="Text 9"/>
          <p:cNvSpPr/>
          <p:nvPr/>
        </p:nvSpPr>
        <p:spPr>
          <a:xfrm>
            <a:off x="4572000" y="1536192"/>
            <a:ext cx="4114800" cy="786384"/>
          </a:xfrm>
          <a:prstGeom prst="rect">
            <a:avLst/>
          </a:prstGeom>
          <a:noFill/>
          <a:ln/>
        </p:spPr>
        <p:txBody>
          <a:bodyPr wrap="square" lIns="0" tIns="0" rIns="0" bIns="0" rtlCol="0" anchor="t"/>
          <a:lstStyle/>
          <a:p>
            <a:pPr indent="0" marL="0">
              <a:buNone/>
            </a:pPr>
            <a:r>
              <a:rPr lang="en-US" sz="1150" b="1" dirty="0">
                <a:solidFill>
                  <a:srgbClr val="1F3864"/>
                </a:solidFill>
                <a:latin typeface="Arial" pitchFamily="34" charset="0"/>
                <a:ea typeface="Arial" pitchFamily="34" charset="-122"/>
                <a:cs typeface="Arial" pitchFamily="34" charset="-120"/>
              </a:rPr>
              <a:t>To establish — στηρίζω</a:t>
            </a:r>
            <a:endParaRPr lang="en-US" sz="1150" dirty="0"/>
          </a:p>
          <a:p>
            <a:pPr indent="0" marL="0">
              <a:buNone/>
            </a:pPr>
            <a:r>
              <a:rPr lang="en-US" sz="1050" dirty="0">
                <a:solidFill>
                  <a:srgbClr val="262626"/>
                </a:solidFill>
                <a:latin typeface="Arial" pitchFamily="34" charset="0"/>
                <a:ea typeface="Arial" pitchFamily="34" charset="-122"/>
                <a:cs typeface="Arial" pitchFamily="34" charset="-120"/>
              </a:rPr>
              <a:t>Make them firm: the faith believed (Jude 3) and their trust in it</a:t>
            </a:r>
            <a:endParaRPr lang="en-US" sz="1150" dirty="0"/>
          </a:p>
        </p:txBody>
      </p:sp>
      <p:sp>
        <p:nvSpPr>
          <p:cNvPr id="13" name="Shape 10"/>
          <p:cNvSpPr/>
          <p:nvPr/>
        </p:nvSpPr>
        <p:spPr>
          <a:xfrm>
            <a:off x="4069080" y="2414016"/>
            <a:ext cx="384048" cy="384048"/>
          </a:xfrm>
          <a:prstGeom prst="ellipse">
            <a:avLst/>
          </a:prstGeom>
          <a:solidFill>
            <a:srgbClr val="2E5496"/>
          </a:solidFill>
          <a:ln w="12700">
            <a:solidFill>
              <a:srgbClr val="2E5496"/>
            </a:solidFill>
            <a:prstDash val="solid"/>
          </a:ln>
        </p:spPr>
      </p:sp>
      <p:sp>
        <p:nvSpPr>
          <p:cNvPr id="14" name="Text 11"/>
          <p:cNvSpPr/>
          <p:nvPr/>
        </p:nvSpPr>
        <p:spPr>
          <a:xfrm>
            <a:off x="4069080" y="24140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5" name="Text 12"/>
          <p:cNvSpPr/>
          <p:nvPr/>
        </p:nvSpPr>
        <p:spPr>
          <a:xfrm>
            <a:off x="4572000" y="2359152"/>
            <a:ext cx="4114800" cy="786384"/>
          </a:xfrm>
          <a:prstGeom prst="rect">
            <a:avLst/>
          </a:prstGeom>
          <a:noFill/>
          <a:ln/>
        </p:spPr>
        <p:txBody>
          <a:bodyPr wrap="square" lIns="0" tIns="0" rIns="0" bIns="0" rtlCol="0" anchor="t"/>
          <a:lstStyle/>
          <a:p>
            <a:pPr indent="0" marL="0">
              <a:buNone/>
            </a:pPr>
            <a:r>
              <a:rPr lang="en-US" sz="1150" b="1" dirty="0">
                <a:solidFill>
                  <a:srgbClr val="1F3864"/>
                </a:solidFill>
                <a:latin typeface="Arial" pitchFamily="34" charset="0"/>
                <a:ea typeface="Arial" pitchFamily="34" charset="-122"/>
                <a:cs typeface="Arial" pitchFamily="34" charset="-120"/>
              </a:rPr>
              <a:t>To encourage — παρακαλέω</a:t>
            </a:r>
            <a:endParaRPr lang="en-US" sz="1150" dirty="0"/>
          </a:p>
          <a:p>
            <a:pPr indent="0" marL="0">
              <a:buNone/>
            </a:pPr>
            <a:r>
              <a:rPr lang="en-US" sz="1050" dirty="0">
                <a:solidFill>
                  <a:srgbClr val="262626"/>
                </a:solidFill>
                <a:latin typeface="Arial" pitchFamily="34" charset="0"/>
                <a:ea typeface="Arial" pitchFamily="34" charset="-122"/>
                <a:cs typeface="Arial" pitchFamily="34" charset="-120"/>
              </a:rPr>
              <a:t>Come alongside them in their afflictions, as the Paraclete does</a:t>
            </a:r>
            <a:endParaRPr lang="en-US" sz="1150" dirty="0"/>
          </a:p>
        </p:txBody>
      </p:sp>
      <p:sp>
        <p:nvSpPr>
          <p:cNvPr id="16" name="Shape 13"/>
          <p:cNvSpPr/>
          <p:nvPr/>
        </p:nvSpPr>
        <p:spPr>
          <a:xfrm>
            <a:off x="4069080" y="3236976"/>
            <a:ext cx="384048" cy="384048"/>
          </a:xfrm>
          <a:prstGeom prst="ellipse">
            <a:avLst/>
          </a:prstGeom>
          <a:solidFill>
            <a:srgbClr val="375623"/>
          </a:solidFill>
          <a:ln w="12700">
            <a:solidFill>
              <a:srgbClr val="375623"/>
            </a:solidFill>
            <a:prstDash val="solid"/>
          </a:ln>
        </p:spPr>
      </p:sp>
      <p:sp>
        <p:nvSpPr>
          <p:cNvPr id="17" name="Text 14"/>
          <p:cNvSpPr/>
          <p:nvPr/>
        </p:nvSpPr>
        <p:spPr>
          <a:xfrm>
            <a:off x="4069080" y="32369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8" name="Text 15"/>
          <p:cNvSpPr/>
          <p:nvPr/>
        </p:nvSpPr>
        <p:spPr>
          <a:xfrm>
            <a:off x="4572000" y="3182112"/>
            <a:ext cx="4114800" cy="786384"/>
          </a:xfrm>
          <a:prstGeom prst="rect">
            <a:avLst/>
          </a:prstGeom>
          <a:noFill/>
          <a:ln/>
        </p:spPr>
        <p:txBody>
          <a:bodyPr wrap="square" lIns="0" tIns="0" rIns="0" bIns="0" rtlCol="0" anchor="t"/>
          <a:lstStyle/>
          <a:p>
            <a:pPr indent="0" marL="0">
              <a:buNone/>
            </a:pPr>
            <a:r>
              <a:rPr lang="en-US" sz="1150" b="1" dirty="0">
                <a:solidFill>
                  <a:srgbClr val="1F3864"/>
                </a:solidFill>
                <a:latin typeface="Arial" pitchFamily="34" charset="0"/>
                <a:ea typeface="Arial" pitchFamily="34" charset="-122"/>
                <a:cs typeface="Arial" pitchFamily="34" charset="-120"/>
              </a:rPr>
              <a:t>The two great needs</a:t>
            </a:r>
            <a:endParaRPr lang="en-US" sz="1150" dirty="0"/>
          </a:p>
          <a:p>
            <a:pPr indent="0" marL="0">
              <a:buNone/>
            </a:pPr>
            <a:r>
              <a:rPr lang="en-US" sz="1050" dirty="0">
                <a:solidFill>
                  <a:srgbClr val="262626"/>
                </a:solidFill>
                <a:latin typeface="Arial" pitchFamily="34" charset="0"/>
                <a:ea typeface="Arial" pitchFamily="34" charset="-122"/>
                <a:cs typeface="Arial" pitchFamily="34" charset="-120"/>
              </a:rPr>
              <a:t>Something solid to stand on, and someone to stand with them</a:t>
            </a:r>
            <a:endParaRPr lang="en-US" sz="1150" dirty="0"/>
          </a:p>
        </p:txBody>
      </p:sp>
      <p:sp>
        <p:nvSpPr>
          <p:cNvPr id="19" name="Shape 16"/>
          <p:cNvSpPr/>
          <p:nvPr/>
        </p:nvSpPr>
        <p:spPr>
          <a:xfrm>
            <a:off x="457200" y="4160520"/>
            <a:ext cx="8229600" cy="457200"/>
          </a:xfrm>
          <a:prstGeom prst="roundRect">
            <a:avLst>
              <a:gd name="adj" fmla="val 12000"/>
            </a:avLst>
          </a:prstGeom>
          <a:solidFill>
            <a:srgbClr val="1F3864"/>
          </a:solidFill>
          <a:ln w="12700">
            <a:solidFill>
              <a:srgbClr val="1F3864"/>
            </a:solidFill>
            <a:prstDash val="solid"/>
          </a:ln>
        </p:spPr>
      </p:sp>
      <p:sp>
        <p:nvSpPr>
          <p:cNvPr id="20" name="Text 17"/>
          <p:cNvSpPr/>
          <p:nvPr/>
        </p:nvSpPr>
        <p:spPr>
          <a:xfrm>
            <a:off x="621792" y="4160520"/>
            <a:ext cx="7900416" cy="457200"/>
          </a:xfrm>
          <a:prstGeom prst="rect">
            <a:avLst/>
          </a:prstGeom>
          <a:noFill/>
          <a:ln/>
        </p:spPr>
        <p:txBody>
          <a:bodyPr wrap="square" lIns="0" tIns="0" rIns="0" bIns="0" rtlCol="0" anchor="ctr"/>
          <a:lstStyle/>
          <a:p>
            <a:pPr indent="0" marL="0">
              <a:buNone/>
            </a:pPr>
            <a:r>
              <a:rPr lang="en-US" sz="1150" dirty="0">
                <a:solidFill>
                  <a:srgbClr val="FFFFFF"/>
                </a:solidFill>
                <a:latin typeface="Arial" pitchFamily="34" charset="0"/>
                <a:ea typeface="Arial" pitchFamily="34" charset="-122"/>
                <a:cs typeface="Arial" pitchFamily="34" charset="-120"/>
              </a:rPr>
              <a:t>What the minister begins (stērizō, v.2), God completes (stērizō, v.13).</a:t>
            </a:r>
            <a:endParaRPr lang="en-US" sz="11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Appointed to this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3:3–5 · I.C–D — The petition and the plan</a:t>
            </a:r>
            <a:endParaRPr lang="en-US" sz="1200" dirty="0"/>
          </a:p>
        </p:txBody>
      </p:sp>
      <p:sp>
        <p:nvSpPr>
          <p:cNvPr id="5" name="Shape 2"/>
          <p:cNvSpPr/>
          <p:nvPr/>
        </p:nvSpPr>
        <p:spPr>
          <a:xfrm>
            <a:off x="457200" y="1188720"/>
            <a:ext cx="2499360" cy="566928"/>
          </a:xfrm>
          <a:prstGeom prst="rect">
            <a:avLst/>
          </a:prstGeom>
          <a:solidFill>
            <a:srgbClr val="2E5496"/>
          </a:solidFill>
          <a:ln w="12700">
            <a:solidFill>
              <a:srgbClr val="2E5496"/>
            </a:solidFill>
            <a:prstDash val="solid"/>
          </a:ln>
        </p:spPr>
      </p:sp>
      <p:sp>
        <p:nvSpPr>
          <p:cNvPr id="6" name="Text 3"/>
          <p:cNvSpPr/>
          <p:nvPr/>
        </p:nvSpPr>
        <p:spPr>
          <a:xfrm>
            <a:off x="548640" y="1234440"/>
            <a:ext cx="2316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Not shaken · v.3</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σαίνω · κεῖμαι</a:t>
            </a:r>
            <a:pPr indent="0" marL="0">
              <a:buNone/>
            </a:pPr>
            <a:r>
              <a:rPr lang="en-US" sz="850" dirty="0">
                <a:solidFill>
                  <a:srgbClr val="DCE4F2"/>
                </a:solidFill>
                <a:latin typeface="Arial" pitchFamily="34" charset="0"/>
                <a:ea typeface="Arial" pitchFamily="34" charset="-122"/>
                <a:cs typeface="Arial" pitchFamily="34" charset="-120"/>
              </a:rPr>
              <a:t>  shaken · appointed</a:t>
            </a:r>
            <a:endParaRPr lang="en-US" sz="1200" dirty="0"/>
          </a:p>
        </p:txBody>
      </p:sp>
      <p:sp>
        <p:nvSpPr>
          <p:cNvPr id="7" name="Shape 4"/>
          <p:cNvSpPr/>
          <p:nvPr/>
        </p:nvSpPr>
        <p:spPr>
          <a:xfrm>
            <a:off x="457200" y="1755648"/>
            <a:ext cx="2499360" cy="1947672"/>
          </a:xfrm>
          <a:prstGeom prst="rect">
            <a:avLst/>
          </a:prstGeom>
          <a:solidFill>
            <a:srgbClr val="F2F6FC"/>
          </a:solidFill>
          <a:ln w="9525">
            <a:solidFill>
              <a:srgbClr val="D5DCEA"/>
            </a:solidFill>
            <a:prstDash val="solid"/>
          </a:ln>
        </p:spPr>
      </p:sp>
      <p:sp>
        <p:nvSpPr>
          <p:cNvPr id="8" name="Text 5"/>
          <p:cNvSpPr/>
          <p:nvPr/>
        </p:nvSpPr>
        <p:spPr>
          <a:xfrm>
            <a:off x="548640" y="1828800"/>
            <a:ext cx="2316480" cy="181965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Not “no tribulation” — but not shaken by it</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“We are appointed to this”</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Part of the calling, not a surprise</a:t>
            </a:r>
            <a:endParaRPr lang="en-US" sz="1250" dirty="0"/>
          </a:p>
        </p:txBody>
      </p:sp>
      <p:sp>
        <p:nvSpPr>
          <p:cNvPr id="9" name="Shape 6"/>
          <p:cNvSpPr/>
          <p:nvPr/>
        </p:nvSpPr>
        <p:spPr>
          <a:xfrm>
            <a:off x="3020568" y="2327148"/>
            <a:ext cx="237744" cy="237744"/>
          </a:xfrm>
          <a:prstGeom prst="rightArrow">
            <a:avLst/>
          </a:prstGeom>
          <a:solidFill>
            <a:srgbClr val="6B7280"/>
          </a:solidFill>
          <a:ln w="12700">
            <a:solidFill>
              <a:srgbClr val="6B7280"/>
            </a:solidFill>
            <a:prstDash val="solid"/>
          </a:ln>
        </p:spPr>
      </p:sp>
      <p:sp>
        <p:nvSpPr>
          <p:cNvPr id="10" name="Shape 7"/>
          <p:cNvSpPr/>
          <p:nvPr/>
        </p:nvSpPr>
        <p:spPr>
          <a:xfrm>
            <a:off x="3322320" y="1188720"/>
            <a:ext cx="2499360" cy="566928"/>
          </a:xfrm>
          <a:prstGeom prst="rect">
            <a:avLst/>
          </a:prstGeom>
          <a:solidFill>
            <a:srgbClr val="2E5496"/>
          </a:solidFill>
          <a:ln w="12700">
            <a:solidFill>
              <a:srgbClr val="2E5496"/>
            </a:solidFill>
            <a:prstDash val="solid"/>
          </a:ln>
        </p:spPr>
      </p:sp>
      <p:sp>
        <p:nvSpPr>
          <p:cNvPr id="11" name="Text 8"/>
          <p:cNvSpPr/>
          <p:nvPr/>
        </p:nvSpPr>
        <p:spPr>
          <a:xfrm>
            <a:off x="3413760" y="1234440"/>
            <a:ext cx="2316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Foretold · v.4</a:t>
            </a:r>
            <a:endParaRPr lang="en-US" sz="1200" dirty="0"/>
          </a:p>
        </p:txBody>
      </p:sp>
      <p:sp>
        <p:nvSpPr>
          <p:cNvPr id="12" name="Shape 9"/>
          <p:cNvSpPr/>
          <p:nvPr/>
        </p:nvSpPr>
        <p:spPr>
          <a:xfrm>
            <a:off x="3322320" y="1755648"/>
            <a:ext cx="2499360" cy="1947672"/>
          </a:xfrm>
          <a:prstGeom prst="rect">
            <a:avLst/>
          </a:prstGeom>
          <a:solidFill>
            <a:srgbClr val="F2F6FC"/>
          </a:solidFill>
          <a:ln w="9525">
            <a:solidFill>
              <a:srgbClr val="D5DCEA"/>
            </a:solidFill>
            <a:prstDash val="solid"/>
          </a:ln>
        </p:spPr>
      </p:sp>
      <p:sp>
        <p:nvSpPr>
          <p:cNvPr id="13" name="Text 10"/>
          <p:cNvSpPr/>
          <p:nvPr/>
        </p:nvSpPr>
        <p:spPr>
          <a:xfrm>
            <a:off x="3413760" y="1828800"/>
            <a:ext cx="2316480" cy="181965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“We told you before” — again and again</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Taught before persecution came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“Just as it happened, and you know”</a:t>
            </a:r>
            <a:endParaRPr lang="en-US" sz="1250" dirty="0"/>
          </a:p>
        </p:txBody>
      </p:sp>
      <p:sp>
        <p:nvSpPr>
          <p:cNvPr id="14" name="Shape 11"/>
          <p:cNvSpPr/>
          <p:nvPr/>
        </p:nvSpPr>
        <p:spPr>
          <a:xfrm>
            <a:off x="5885688" y="2327148"/>
            <a:ext cx="237744" cy="237744"/>
          </a:xfrm>
          <a:prstGeom prst="rightArrow">
            <a:avLst/>
          </a:prstGeom>
          <a:solidFill>
            <a:srgbClr val="6B7280"/>
          </a:solidFill>
          <a:ln w="12700">
            <a:solidFill>
              <a:srgbClr val="6B7280"/>
            </a:solidFill>
            <a:prstDash val="solid"/>
          </a:ln>
        </p:spPr>
      </p:sp>
      <p:sp>
        <p:nvSpPr>
          <p:cNvPr id="15" name="Shape 12"/>
          <p:cNvSpPr/>
          <p:nvPr/>
        </p:nvSpPr>
        <p:spPr>
          <a:xfrm>
            <a:off x="6187440" y="1188720"/>
            <a:ext cx="2499360" cy="566928"/>
          </a:xfrm>
          <a:prstGeom prst="rect">
            <a:avLst/>
          </a:prstGeom>
          <a:solidFill>
            <a:srgbClr val="6B7280"/>
          </a:solidFill>
          <a:ln w="12700">
            <a:solidFill>
              <a:srgbClr val="6B7280"/>
            </a:solidFill>
            <a:prstDash val="solid"/>
          </a:ln>
        </p:spPr>
      </p:sp>
      <p:sp>
        <p:nvSpPr>
          <p:cNvPr id="16" name="Text 13"/>
          <p:cNvSpPr/>
          <p:nvPr/>
        </p:nvSpPr>
        <p:spPr>
          <a:xfrm>
            <a:off x="6278880" y="1234440"/>
            <a:ext cx="2316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 tempter · v.5</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πειράζω</a:t>
            </a:r>
            <a:pPr indent="0" marL="0">
              <a:buNone/>
            </a:pPr>
            <a:r>
              <a:rPr lang="en-US" sz="850" dirty="0">
                <a:solidFill>
                  <a:srgbClr val="DCE4F2"/>
                </a:solidFill>
                <a:latin typeface="Arial" pitchFamily="34" charset="0"/>
                <a:ea typeface="Arial" pitchFamily="34" charset="-122"/>
                <a:cs typeface="Arial" pitchFamily="34" charset="-120"/>
              </a:rPr>
              <a:t>  to tempt · G3985</a:t>
            </a:r>
            <a:endParaRPr lang="en-US" sz="1200" dirty="0"/>
          </a:p>
        </p:txBody>
      </p:sp>
      <p:sp>
        <p:nvSpPr>
          <p:cNvPr id="17" name="Shape 14"/>
          <p:cNvSpPr/>
          <p:nvPr/>
        </p:nvSpPr>
        <p:spPr>
          <a:xfrm>
            <a:off x="6187440" y="1755648"/>
            <a:ext cx="2499360" cy="1947672"/>
          </a:xfrm>
          <a:prstGeom prst="rect">
            <a:avLst/>
          </a:prstGeom>
          <a:solidFill>
            <a:srgbClr val="F2F6FC"/>
          </a:solidFill>
          <a:ln w="9525">
            <a:solidFill>
              <a:srgbClr val="D5DCEA"/>
            </a:solidFill>
            <a:prstDash val="solid"/>
          </a:ln>
        </p:spPr>
      </p:sp>
      <p:sp>
        <p:nvSpPr>
          <p:cNvPr id="18" name="Text 15"/>
          <p:cNvSpPr/>
          <p:nvPr/>
        </p:nvSpPr>
        <p:spPr>
          <a:xfrm>
            <a:off x="6278880" y="1828800"/>
            <a:ext cx="2316480" cy="181965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No news is not good news</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Satan uses suffering to erode faith</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“Lest our labor might be in vain”</a:t>
            </a:r>
            <a:endParaRPr lang="en-US" sz="1250" dirty="0"/>
          </a:p>
        </p:txBody>
      </p:sp>
      <p:sp>
        <p:nvSpPr>
          <p:cNvPr id="19" name="Shape 16"/>
          <p:cNvSpPr/>
          <p:nvPr/>
        </p:nvSpPr>
        <p:spPr>
          <a:xfrm>
            <a:off x="457200" y="3886200"/>
            <a:ext cx="8229600" cy="731520"/>
          </a:xfrm>
          <a:prstGeom prst="roundRect">
            <a:avLst>
              <a:gd name="adj" fmla="val 7500"/>
            </a:avLst>
          </a:prstGeom>
          <a:solidFill>
            <a:srgbClr val="1F3864"/>
          </a:solidFill>
          <a:ln w="12700">
            <a:solidFill>
              <a:srgbClr val="1F3864"/>
            </a:solidFill>
            <a:prstDash val="solid"/>
          </a:ln>
        </p:spPr>
      </p:sp>
      <p:sp>
        <p:nvSpPr>
          <p:cNvPr id="20" name="Text 17"/>
          <p:cNvSpPr/>
          <p:nvPr/>
        </p:nvSpPr>
        <p:spPr>
          <a:xfrm>
            <a:off x="621792" y="3886200"/>
            <a:ext cx="7900416" cy="73152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Suffering is not evidence that God has abandoned us; it is the predictable consequence of faithful gospel reception in a hostile world.</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Good news from Thessalonica</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3:6–10 · II.A–C — Paul’s consolation</a:t>
            </a:r>
            <a:endParaRPr lang="en-US" sz="1200" dirty="0"/>
          </a:p>
        </p:txBody>
      </p:sp>
      <p:sp>
        <p:nvSpPr>
          <p:cNvPr id="5" name="Shape 2"/>
          <p:cNvSpPr/>
          <p:nvPr/>
        </p:nvSpPr>
        <p:spPr>
          <a:xfrm>
            <a:off x="457200" y="1115568"/>
            <a:ext cx="777240" cy="566928"/>
          </a:xfrm>
          <a:prstGeom prst="rect">
            <a:avLst/>
          </a:prstGeom>
          <a:solidFill>
            <a:srgbClr val="2E5496"/>
          </a:solidFill>
          <a:ln w="12700">
            <a:solidFill>
              <a:srgbClr val="2E5496"/>
            </a:solidFill>
            <a:prstDash val="solid"/>
          </a:ln>
        </p:spPr>
      </p:sp>
      <p:sp>
        <p:nvSpPr>
          <p:cNvPr id="6" name="Text 3"/>
          <p:cNvSpPr/>
          <p:nvPr/>
        </p:nvSpPr>
        <p:spPr>
          <a:xfrm>
            <a:off x="457200" y="1115568"/>
            <a:ext cx="77724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v.6</a:t>
            </a:r>
            <a:endParaRPr lang="en-US" sz="1100" dirty="0"/>
          </a:p>
        </p:txBody>
      </p:sp>
      <p:sp>
        <p:nvSpPr>
          <p:cNvPr id="7" name="Shape 4"/>
          <p:cNvSpPr/>
          <p:nvPr/>
        </p:nvSpPr>
        <p:spPr>
          <a:xfrm>
            <a:off x="1234440" y="1115568"/>
            <a:ext cx="7452360" cy="566928"/>
          </a:xfrm>
          <a:prstGeom prst="rect">
            <a:avLst/>
          </a:prstGeom>
          <a:solidFill>
            <a:srgbClr val="F2F6FC"/>
          </a:solidFill>
          <a:ln w="9525">
            <a:solidFill>
              <a:srgbClr val="D5DCEA"/>
            </a:solidFill>
            <a:prstDash val="solid"/>
          </a:ln>
        </p:spPr>
      </p:sp>
      <p:sp>
        <p:nvSpPr>
          <p:cNvPr id="8" name="Text 5"/>
          <p:cNvSpPr/>
          <p:nvPr/>
        </p:nvSpPr>
        <p:spPr>
          <a:xfrm>
            <a:off x="1344168" y="1115568"/>
            <a:ext cx="4389120" cy="566928"/>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Timothy’s report: your faith and love; you long to see us</a:t>
            </a:r>
            <a:endParaRPr lang="en-US" sz="1150" dirty="0"/>
          </a:p>
        </p:txBody>
      </p:sp>
      <p:sp>
        <p:nvSpPr>
          <p:cNvPr id="9" name="Text 6"/>
          <p:cNvSpPr/>
          <p:nvPr/>
        </p:nvSpPr>
        <p:spPr>
          <a:xfrm>
            <a:off x="5806440" y="1115568"/>
            <a:ext cx="2788920" cy="56692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εὐαγγελίζω</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news as good as the gospel</a:t>
            </a:r>
            <a:endParaRPr lang="en-US" sz="1300" dirty="0"/>
          </a:p>
        </p:txBody>
      </p:sp>
      <p:sp>
        <p:nvSpPr>
          <p:cNvPr id="10" name="Shape 7"/>
          <p:cNvSpPr/>
          <p:nvPr/>
        </p:nvSpPr>
        <p:spPr>
          <a:xfrm>
            <a:off x="457200" y="1755648"/>
            <a:ext cx="777240" cy="566928"/>
          </a:xfrm>
          <a:prstGeom prst="rect">
            <a:avLst/>
          </a:prstGeom>
          <a:solidFill>
            <a:srgbClr val="2E5496"/>
          </a:solidFill>
          <a:ln w="12700">
            <a:solidFill>
              <a:srgbClr val="2E5496"/>
            </a:solidFill>
            <a:prstDash val="solid"/>
          </a:ln>
        </p:spPr>
      </p:sp>
      <p:sp>
        <p:nvSpPr>
          <p:cNvPr id="11" name="Text 8"/>
          <p:cNvSpPr/>
          <p:nvPr/>
        </p:nvSpPr>
        <p:spPr>
          <a:xfrm>
            <a:off x="457200" y="1755648"/>
            <a:ext cx="77724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v.7</a:t>
            </a:r>
            <a:endParaRPr lang="en-US" sz="1100" dirty="0"/>
          </a:p>
        </p:txBody>
      </p:sp>
      <p:sp>
        <p:nvSpPr>
          <p:cNvPr id="12" name="Shape 9"/>
          <p:cNvSpPr/>
          <p:nvPr/>
        </p:nvSpPr>
        <p:spPr>
          <a:xfrm>
            <a:off x="1234440" y="1755648"/>
            <a:ext cx="7452360" cy="566928"/>
          </a:xfrm>
          <a:prstGeom prst="rect">
            <a:avLst/>
          </a:prstGeom>
          <a:solidFill>
            <a:srgbClr val="FFFFFF"/>
          </a:solidFill>
          <a:ln w="9525">
            <a:solidFill>
              <a:srgbClr val="D5DCEA"/>
            </a:solidFill>
            <a:prstDash val="solid"/>
          </a:ln>
        </p:spPr>
      </p:sp>
      <p:sp>
        <p:nvSpPr>
          <p:cNvPr id="13" name="Text 10"/>
          <p:cNvSpPr/>
          <p:nvPr/>
        </p:nvSpPr>
        <p:spPr>
          <a:xfrm>
            <a:off x="1344168" y="1755648"/>
            <a:ext cx="4389120" cy="566928"/>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In all our affliction we were comforted by your faith</a:t>
            </a:r>
            <a:endParaRPr lang="en-US" sz="1150" dirty="0"/>
          </a:p>
        </p:txBody>
      </p:sp>
      <p:sp>
        <p:nvSpPr>
          <p:cNvPr id="14" name="Text 11"/>
          <p:cNvSpPr/>
          <p:nvPr/>
        </p:nvSpPr>
        <p:spPr>
          <a:xfrm>
            <a:off x="5806440" y="1755648"/>
            <a:ext cx="2788920" cy="56692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παρακαλέω</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comfort is a two-way street</a:t>
            </a:r>
            <a:endParaRPr lang="en-US" sz="1300" dirty="0"/>
          </a:p>
        </p:txBody>
      </p:sp>
      <p:sp>
        <p:nvSpPr>
          <p:cNvPr id="15" name="Shape 12"/>
          <p:cNvSpPr/>
          <p:nvPr/>
        </p:nvSpPr>
        <p:spPr>
          <a:xfrm>
            <a:off x="457200" y="2395728"/>
            <a:ext cx="777240" cy="566928"/>
          </a:xfrm>
          <a:prstGeom prst="rect">
            <a:avLst/>
          </a:prstGeom>
          <a:solidFill>
            <a:srgbClr val="2E5496"/>
          </a:solidFill>
          <a:ln w="12700">
            <a:solidFill>
              <a:srgbClr val="2E5496"/>
            </a:solidFill>
            <a:prstDash val="solid"/>
          </a:ln>
        </p:spPr>
      </p:sp>
      <p:sp>
        <p:nvSpPr>
          <p:cNvPr id="16" name="Text 13"/>
          <p:cNvSpPr/>
          <p:nvPr/>
        </p:nvSpPr>
        <p:spPr>
          <a:xfrm>
            <a:off x="457200" y="2395728"/>
            <a:ext cx="77724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v.8</a:t>
            </a:r>
            <a:endParaRPr lang="en-US" sz="1100" dirty="0"/>
          </a:p>
        </p:txBody>
      </p:sp>
      <p:sp>
        <p:nvSpPr>
          <p:cNvPr id="17" name="Shape 14"/>
          <p:cNvSpPr/>
          <p:nvPr/>
        </p:nvSpPr>
        <p:spPr>
          <a:xfrm>
            <a:off x="1234440" y="2395728"/>
            <a:ext cx="7452360" cy="566928"/>
          </a:xfrm>
          <a:prstGeom prst="rect">
            <a:avLst/>
          </a:prstGeom>
          <a:solidFill>
            <a:srgbClr val="F2F6FC"/>
          </a:solidFill>
          <a:ln w="9525">
            <a:solidFill>
              <a:srgbClr val="D5DCEA"/>
            </a:solidFill>
            <a:prstDash val="solid"/>
          </a:ln>
        </p:spPr>
      </p:sp>
      <p:sp>
        <p:nvSpPr>
          <p:cNvPr id="18" name="Text 15"/>
          <p:cNvSpPr/>
          <p:nvPr/>
        </p:nvSpPr>
        <p:spPr>
          <a:xfrm>
            <a:off x="1344168" y="2395728"/>
            <a:ext cx="4389120" cy="566928"/>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“For now we live, if you stand fast in the Lord”</a:t>
            </a:r>
            <a:endParaRPr lang="en-US" sz="1150" dirty="0"/>
          </a:p>
        </p:txBody>
      </p:sp>
      <p:sp>
        <p:nvSpPr>
          <p:cNvPr id="19" name="Text 16"/>
          <p:cNvSpPr/>
          <p:nvPr/>
        </p:nvSpPr>
        <p:spPr>
          <a:xfrm>
            <a:off x="5806440" y="2395728"/>
            <a:ext cx="2788920" cy="56692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στήκω</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their firmness, his vitality</a:t>
            </a:r>
            <a:endParaRPr lang="en-US" sz="1300" dirty="0"/>
          </a:p>
        </p:txBody>
      </p:sp>
      <p:sp>
        <p:nvSpPr>
          <p:cNvPr id="20" name="Shape 17"/>
          <p:cNvSpPr/>
          <p:nvPr/>
        </p:nvSpPr>
        <p:spPr>
          <a:xfrm>
            <a:off x="457200" y="3035808"/>
            <a:ext cx="777240" cy="566928"/>
          </a:xfrm>
          <a:prstGeom prst="rect">
            <a:avLst/>
          </a:prstGeom>
          <a:solidFill>
            <a:srgbClr val="2E5496"/>
          </a:solidFill>
          <a:ln w="12700">
            <a:solidFill>
              <a:srgbClr val="2E5496"/>
            </a:solidFill>
            <a:prstDash val="solid"/>
          </a:ln>
        </p:spPr>
      </p:sp>
      <p:sp>
        <p:nvSpPr>
          <p:cNvPr id="21" name="Text 18"/>
          <p:cNvSpPr/>
          <p:nvPr/>
        </p:nvSpPr>
        <p:spPr>
          <a:xfrm>
            <a:off x="457200" y="3035808"/>
            <a:ext cx="77724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v.9</a:t>
            </a:r>
            <a:endParaRPr lang="en-US" sz="1100" dirty="0"/>
          </a:p>
        </p:txBody>
      </p:sp>
      <p:sp>
        <p:nvSpPr>
          <p:cNvPr id="22" name="Shape 19"/>
          <p:cNvSpPr/>
          <p:nvPr/>
        </p:nvSpPr>
        <p:spPr>
          <a:xfrm>
            <a:off x="1234440" y="3035808"/>
            <a:ext cx="7452360" cy="566928"/>
          </a:xfrm>
          <a:prstGeom prst="rect">
            <a:avLst/>
          </a:prstGeom>
          <a:solidFill>
            <a:srgbClr val="FFFFFF"/>
          </a:solidFill>
          <a:ln w="9525">
            <a:solidFill>
              <a:srgbClr val="D5DCEA"/>
            </a:solidFill>
            <a:prstDash val="solid"/>
          </a:ln>
        </p:spPr>
      </p:sp>
      <p:sp>
        <p:nvSpPr>
          <p:cNvPr id="23" name="Text 20"/>
          <p:cNvSpPr/>
          <p:nvPr/>
        </p:nvSpPr>
        <p:spPr>
          <a:xfrm>
            <a:off x="1344168" y="3035808"/>
            <a:ext cx="4389120" cy="566928"/>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What thanks can we render to God for you — all the joy</a:t>
            </a:r>
            <a:endParaRPr lang="en-US" sz="1150" dirty="0"/>
          </a:p>
        </p:txBody>
      </p:sp>
      <p:sp>
        <p:nvSpPr>
          <p:cNvPr id="24" name="Text 21"/>
          <p:cNvSpPr/>
          <p:nvPr/>
        </p:nvSpPr>
        <p:spPr>
          <a:xfrm>
            <a:off x="5806440" y="3035808"/>
            <a:ext cx="2788920" cy="56692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God gets the credit</a:t>
            </a:r>
            <a:endParaRPr lang="en-US" sz="1300" dirty="0"/>
          </a:p>
        </p:txBody>
      </p:sp>
      <p:sp>
        <p:nvSpPr>
          <p:cNvPr id="25" name="Shape 22"/>
          <p:cNvSpPr/>
          <p:nvPr/>
        </p:nvSpPr>
        <p:spPr>
          <a:xfrm>
            <a:off x="457200" y="3675888"/>
            <a:ext cx="777240" cy="566928"/>
          </a:xfrm>
          <a:prstGeom prst="rect">
            <a:avLst/>
          </a:prstGeom>
          <a:solidFill>
            <a:srgbClr val="375623"/>
          </a:solidFill>
          <a:ln w="12700">
            <a:solidFill>
              <a:srgbClr val="375623"/>
            </a:solidFill>
            <a:prstDash val="solid"/>
          </a:ln>
        </p:spPr>
      </p:sp>
      <p:sp>
        <p:nvSpPr>
          <p:cNvPr id="26" name="Text 23"/>
          <p:cNvSpPr/>
          <p:nvPr/>
        </p:nvSpPr>
        <p:spPr>
          <a:xfrm>
            <a:off x="457200" y="3675888"/>
            <a:ext cx="77724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v.10</a:t>
            </a:r>
            <a:endParaRPr lang="en-US" sz="1100" dirty="0"/>
          </a:p>
        </p:txBody>
      </p:sp>
      <p:sp>
        <p:nvSpPr>
          <p:cNvPr id="27" name="Shape 24"/>
          <p:cNvSpPr/>
          <p:nvPr/>
        </p:nvSpPr>
        <p:spPr>
          <a:xfrm>
            <a:off x="1234440" y="3675888"/>
            <a:ext cx="7452360" cy="566928"/>
          </a:xfrm>
          <a:prstGeom prst="rect">
            <a:avLst/>
          </a:prstGeom>
          <a:solidFill>
            <a:srgbClr val="F2F6FC"/>
          </a:solidFill>
          <a:ln w="9525">
            <a:solidFill>
              <a:srgbClr val="D5DCEA"/>
            </a:solidFill>
            <a:prstDash val="solid"/>
          </a:ln>
        </p:spPr>
      </p:sp>
      <p:sp>
        <p:nvSpPr>
          <p:cNvPr id="28" name="Text 25"/>
          <p:cNvSpPr/>
          <p:nvPr/>
        </p:nvSpPr>
        <p:spPr>
          <a:xfrm>
            <a:off x="1344168" y="3675888"/>
            <a:ext cx="4389120" cy="566928"/>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Praying night and day, exceedingly, to see you and complete your faith</a:t>
            </a:r>
            <a:endParaRPr lang="en-US" sz="1150" dirty="0"/>
          </a:p>
        </p:txBody>
      </p:sp>
      <p:sp>
        <p:nvSpPr>
          <p:cNvPr id="29" name="Text 26"/>
          <p:cNvSpPr/>
          <p:nvPr/>
        </p:nvSpPr>
        <p:spPr>
          <a:xfrm>
            <a:off x="5806440" y="3675888"/>
            <a:ext cx="2788920" cy="56692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καταρτίζω</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bring to full strength</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Paul’s prayer: love, holiness, readiness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3:11–13 · III.A–C — Paul’s craving</a:t>
            </a:r>
            <a:endParaRPr lang="en-US" sz="1200" dirty="0"/>
          </a:p>
        </p:txBody>
      </p:sp>
      <p:sp>
        <p:nvSpPr>
          <p:cNvPr id="5" name="Shape 2"/>
          <p:cNvSpPr/>
          <p:nvPr/>
        </p:nvSpPr>
        <p:spPr>
          <a:xfrm>
            <a:off x="457200" y="1188720"/>
            <a:ext cx="1899666" cy="2103120"/>
          </a:xfrm>
          <a:prstGeom prst="roundRect">
            <a:avLst>
              <a:gd name="adj" fmla="val 2888"/>
            </a:avLst>
          </a:prstGeom>
          <a:solidFill>
            <a:srgbClr val="F2F6FC"/>
          </a:solidFill>
          <a:ln w="9525">
            <a:solidFill>
              <a:srgbClr val="D5DCEA"/>
            </a:solidFill>
            <a:prstDash val="solid"/>
          </a:ln>
        </p:spPr>
      </p:sp>
      <p:sp>
        <p:nvSpPr>
          <p:cNvPr id="6" name="Shape 3"/>
          <p:cNvSpPr/>
          <p:nvPr/>
        </p:nvSpPr>
        <p:spPr>
          <a:xfrm>
            <a:off x="1205865" y="1298448"/>
            <a:ext cx="402336" cy="402336"/>
          </a:xfrm>
          <a:prstGeom prst="ellipse">
            <a:avLst/>
          </a:prstGeom>
          <a:solidFill>
            <a:srgbClr val="2E5496"/>
          </a:solidFill>
          <a:ln w="12700">
            <a:solidFill>
              <a:srgbClr val="2E5496"/>
            </a:solidFill>
            <a:prstDash val="solid"/>
          </a:ln>
        </p:spPr>
      </p:sp>
      <p:sp>
        <p:nvSpPr>
          <p:cNvPr id="7" name="Text 4"/>
          <p:cNvSpPr/>
          <p:nvPr/>
        </p:nvSpPr>
        <p:spPr>
          <a:xfrm>
            <a:off x="1205865"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8" name="Text 5"/>
          <p:cNvSpPr/>
          <p:nvPr/>
        </p:nvSpPr>
        <p:spPr>
          <a:xfrm>
            <a:off x="530352" y="1773936"/>
            <a:ext cx="1753362"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Direct our way</a:t>
            </a:r>
            <a:endParaRPr lang="en-US" sz="1150" dirty="0"/>
          </a:p>
        </p:txBody>
      </p:sp>
      <p:sp>
        <p:nvSpPr>
          <p:cNvPr id="9" name="Text 6"/>
          <p:cNvSpPr/>
          <p:nvPr/>
        </p:nvSpPr>
        <p:spPr>
          <a:xfrm>
            <a:off x="530352" y="2157984"/>
            <a:ext cx="1753362" cy="74980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Father and Son named — one singular verb</a:t>
            </a:r>
            <a:endParaRPr lang="en-US" sz="1150" dirty="0"/>
          </a:p>
        </p:txBody>
      </p:sp>
      <p:sp>
        <p:nvSpPr>
          <p:cNvPr id="10" name="Text 7"/>
          <p:cNvSpPr/>
          <p:nvPr/>
        </p:nvSpPr>
        <p:spPr>
          <a:xfrm>
            <a:off x="530352" y="2907792"/>
            <a:ext cx="1753362"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v.11 · optative</a:t>
            </a:r>
            <a:endParaRPr lang="en-US" sz="900" dirty="0"/>
          </a:p>
        </p:txBody>
      </p:sp>
      <p:sp>
        <p:nvSpPr>
          <p:cNvPr id="11" name="Shape 8"/>
          <p:cNvSpPr/>
          <p:nvPr/>
        </p:nvSpPr>
        <p:spPr>
          <a:xfrm>
            <a:off x="2361438" y="2121408"/>
            <a:ext cx="201168" cy="237744"/>
          </a:xfrm>
          <a:prstGeom prst="rightArrow">
            <a:avLst/>
          </a:prstGeom>
          <a:solidFill>
            <a:srgbClr val="6B7280"/>
          </a:solidFill>
          <a:ln w="12700">
            <a:solidFill>
              <a:srgbClr val="6B7280"/>
            </a:solidFill>
            <a:prstDash val="solid"/>
          </a:ln>
        </p:spPr>
      </p:sp>
      <p:sp>
        <p:nvSpPr>
          <p:cNvPr id="12" name="Shape 9"/>
          <p:cNvSpPr/>
          <p:nvPr/>
        </p:nvSpPr>
        <p:spPr>
          <a:xfrm>
            <a:off x="2567178" y="1188720"/>
            <a:ext cx="1899666" cy="2103120"/>
          </a:xfrm>
          <a:prstGeom prst="roundRect">
            <a:avLst>
              <a:gd name="adj" fmla="val 2888"/>
            </a:avLst>
          </a:prstGeom>
          <a:solidFill>
            <a:srgbClr val="F2F6FC"/>
          </a:solidFill>
          <a:ln w="9525">
            <a:solidFill>
              <a:srgbClr val="D5DCEA"/>
            </a:solidFill>
            <a:prstDash val="solid"/>
          </a:ln>
        </p:spPr>
      </p:sp>
      <p:sp>
        <p:nvSpPr>
          <p:cNvPr id="13" name="Shape 10"/>
          <p:cNvSpPr/>
          <p:nvPr/>
        </p:nvSpPr>
        <p:spPr>
          <a:xfrm>
            <a:off x="3315843" y="1298448"/>
            <a:ext cx="402336" cy="402336"/>
          </a:xfrm>
          <a:prstGeom prst="ellipse">
            <a:avLst/>
          </a:prstGeom>
          <a:solidFill>
            <a:srgbClr val="2E5496"/>
          </a:solidFill>
          <a:ln w="12700">
            <a:solidFill>
              <a:srgbClr val="2E5496"/>
            </a:solidFill>
            <a:prstDash val="solid"/>
          </a:ln>
        </p:spPr>
      </p:sp>
      <p:sp>
        <p:nvSpPr>
          <p:cNvPr id="14" name="Text 11"/>
          <p:cNvSpPr/>
          <p:nvPr/>
        </p:nvSpPr>
        <p:spPr>
          <a:xfrm>
            <a:off x="3315843"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5" name="Text 12"/>
          <p:cNvSpPr/>
          <p:nvPr/>
        </p:nvSpPr>
        <p:spPr>
          <a:xfrm>
            <a:off x="2640330" y="1773936"/>
            <a:ext cx="1753362"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Abound in love</a:t>
            </a:r>
            <a:endParaRPr lang="en-US" sz="1150" dirty="0"/>
          </a:p>
        </p:txBody>
      </p:sp>
      <p:sp>
        <p:nvSpPr>
          <p:cNvPr id="16" name="Text 13"/>
          <p:cNvSpPr/>
          <p:nvPr/>
        </p:nvSpPr>
        <p:spPr>
          <a:xfrm>
            <a:off x="2640330" y="2157984"/>
            <a:ext cx="1753362" cy="74980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To one another and to all — overflowing</a:t>
            </a:r>
            <a:endParaRPr lang="en-US" sz="1150" dirty="0"/>
          </a:p>
        </p:txBody>
      </p:sp>
      <p:sp>
        <p:nvSpPr>
          <p:cNvPr id="17" name="Text 14"/>
          <p:cNvSpPr/>
          <p:nvPr/>
        </p:nvSpPr>
        <p:spPr>
          <a:xfrm>
            <a:off x="2640330" y="2907792"/>
            <a:ext cx="1753362"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περισσεύω · v.12</a:t>
            </a:r>
            <a:endParaRPr lang="en-US" sz="900" dirty="0"/>
          </a:p>
        </p:txBody>
      </p:sp>
      <p:sp>
        <p:nvSpPr>
          <p:cNvPr id="18" name="Shape 15"/>
          <p:cNvSpPr/>
          <p:nvPr/>
        </p:nvSpPr>
        <p:spPr>
          <a:xfrm>
            <a:off x="4471416" y="2121408"/>
            <a:ext cx="201168" cy="237744"/>
          </a:xfrm>
          <a:prstGeom prst="rightArrow">
            <a:avLst/>
          </a:prstGeom>
          <a:solidFill>
            <a:srgbClr val="6B7280"/>
          </a:solidFill>
          <a:ln w="12700">
            <a:solidFill>
              <a:srgbClr val="6B7280"/>
            </a:solidFill>
            <a:prstDash val="solid"/>
          </a:ln>
        </p:spPr>
      </p:sp>
      <p:sp>
        <p:nvSpPr>
          <p:cNvPr id="19" name="Shape 16"/>
          <p:cNvSpPr/>
          <p:nvPr/>
        </p:nvSpPr>
        <p:spPr>
          <a:xfrm>
            <a:off x="4677156" y="1188720"/>
            <a:ext cx="1899666" cy="2103120"/>
          </a:xfrm>
          <a:prstGeom prst="roundRect">
            <a:avLst>
              <a:gd name="adj" fmla="val 2888"/>
            </a:avLst>
          </a:prstGeom>
          <a:solidFill>
            <a:srgbClr val="F2F6FC"/>
          </a:solidFill>
          <a:ln w="9525">
            <a:solidFill>
              <a:srgbClr val="D5DCEA"/>
            </a:solidFill>
            <a:prstDash val="solid"/>
          </a:ln>
        </p:spPr>
      </p:sp>
      <p:sp>
        <p:nvSpPr>
          <p:cNvPr id="20" name="Shape 17"/>
          <p:cNvSpPr/>
          <p:nvPr/>
        </p:nvSpPr>
        <p:spPr>
          <a:xfrm>
            <a:off x="5425821" y="1298448"/>
            <a:ext cx="402336" cy="402336"/>
          </a:xfrm>
          <a:prstGeom prst="ellipse">
            <a:avLst/>
          </a:prstGeom>
          <a:solidFill>
            <a:srgbClr val="2E5496"/>
          </a:solidFill>
          <a:ln w="12700">
            <a:solidFill>
              <a:srgbClr val="2E5496"/>
            </a:solidFill>
            <a:prstDash val="solid"/>
          </a:ln>
        </p:spPr>
      </p:sp>
      <p:sp>
        <p:nvSpPr>
          <p:cNvPr id="21" name="Text 18"/>
          <p:cNvSpPr/>
          <p:nvPr/>
        </p:nvSpPr>
        <p:spPr>
          <a:xfrm>
            <a:off x="5425821"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a:t>
            </a:r>
            <a:endParaRPr lang="en-US" sz="1300" dirty="0"/>
          </a:p>
        </p:txBody>
      </p:sp>
      <p:sp>
        <p:nvSpPr>
          <p:cNvPr id="22" name="Text 19"/>
          <p:cNvSpPr/>
          <p:nvPr/>
        </p:nvSpPr>
        <p:spPr>
          <a:xfrm>
            <a:off x="4750308" y="1773936"/>
            <a:ext cx="1753362"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Hearts established</a:t>
            </a:r>
            <a:endParaRPr lang="en-US" sz="1150" dirty="0"/>
          </a:p>
        </p:txBody>
      </p:sp>
      <p:sp>
        <p:nvSpPr>
          <p:cNvPr id="23" name="Text 20"/>
          <p:cNvSpPr/>
          <p:nvPr/>
        </p:nvSpPr>
        <p:spPr>
          <a:xfrm>
            <a:off x="4750308" y="2157984"/>
            <a:ext cx="1753362" cy="74980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Blameless in holiness before God</a:t>
            </a:r>
            <a:endParaRPr lang="en-US" sz="1150" dirty="0"/>
          </a:p>
        </p:txBody>
      </p:sp>
      <p:sp>
        <p:nvSpPr>
          <p:cNvPr id="24" name="Text 21"/>
          <p:cNvSpPr/>
          <p:nvPr/>
        </p:nvSpPr>
        <p:spPr>
          <a:xfrm>
            <a:off x="4750308" y="2907792"/>
            <a:ext cx="1753362"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ἀμέμπτως · v.13a</a:t>
            </a:r>
            <a:endParaRPr lang="en-US" sz="900" dirty="0"/>
          </a:p>
        </p:txBody>
      </p:sp>
      <p:sp>
        <p:nvSpPr>
          <p:cNvPr id="25" name="Shape 22"/>
          <p:cNvSpPr/>
          <p:nvPr/>
        </p:nvSpPr>
        <p:spPr>
          <a:xfrm>
            <a:off x="6581394" y="2121408"/>
            <a:ext cx="201168" cy="237744"/>
          </a:xfrm>
          <a:prstGeom prst="rightArrow">
            <a:avLst/>
          </a:prstGeom>
          <a:solidFill>
            <a:srgbClr val="6B7280"/>
          </a:solidFill>
          <a:ln w="12700">
            <a:solidFill>
              <a:srgbClr val="6B7280"/>
            </a:solidFill>
            <a:prstDash val="solid"/>
          </a:ln>
        </p:spPr>
      </p:sp>
      <p:sp>
        <p:nvSpPr>
          <p:cNvPr id="26" name="Shape 23"/>
          <p:cNvSpPr/>
          <p:nvPr/>
        </p:nvSpPr>
        <p:spPr>
          <a:xfrm>
            <a:off x="6787134" y="1188720"/>
            <a:ext cx="1899666" cy="2103120"/>
          </a:xfrm>
          <a:prstGeom prst="roundRect">
            <a:avLst>
              <a:gd name="adj" fmla="val 2888"/>
            </a:avLst>
          </a:prstGeom>
          <a:solidFill>
            <a:srgbClr val="1F3864"/>
          </a:solidFill>
          <a:ln w="9525">
            <a:solidFill>
              <a:srgbClr val="1F3864"/>
            </a:solidFill>
            <a:prstDash val="solid"/>
          </a:ln>
        </p:spPr>
      </p:sp>
      <p:sp>
        <p:nvSpPr>
          <p:cNvPr id="27" name="Shape 24"/>
          <p:cNvSpPr/>
          <p:nvPr/>
        </p:nvSpPr>
        <p:spPr>
          <a:xfrm>
            <a:off x="7535799" y="1298448"/>
            <a:ext cx="402336" cy="402336"/>
          </a:xfrm>
          <a:prstGeom prst="ellipse">
            <a:avLst/>
          </a:prstGeom>
          <a:solidFill>
            <a:srgbClr val="FFFFFF"/>
          </a:solidFill>
          <a:ln w="12700">
            <a:solidFill>
              <a:srgbClr val="FFFFFF"/>
            </a:solidFill>
            <a:prstDash val="solid"/>
          </a:ln>
        </p:spPr>
      </p:sp>
      <p:sp>
        <p:nvSpPr>
          <p:cNvPr id="28" name="Text 25"/>
          <p:cNvSpPr/>
          <p:nvPr/>
        </p:nvSpPr>
        <p:spPr>
          <a:xfrm>
            <a:off x="7535799" y="1298448"/>
            <a:ext cx="402336" cy="402336"/>
          </a:xfrm>
          <a:prstGeom prst="rect">
            <a:avLst/>
          </a:prstGeom>
          <a:noFill/>
          <a:ln/>
        </p:spPr>
        <p:txBody>
          <a:bodyPr wrap="square" lIns="0" tIns="0" rIns="0" bIns="0" rtlCol="0" anchor="ctr"/>
          <a:lstStyle/>
          <a:p>
            <a:pPr algn="ctr" indent="0" marL="0">
              <a:buNone/>
            </a:pPr>
            <a:r>
              <a:rPr lang="en-US" sz="1300" b="1" dirty="0">
                <a:solidFill>
                  <a:srgbClr val="1F3864"/>
                </a:solidFill>
                <a:latin typeface="Arial" pitchFamily="34" charset="0"/>
                <a:ea typeface="Arial" pitchFamily="34" charset="-122"/>
                <a:cs typeface="Arial" pitchFamily="34" charset="-120"/>
              </a:rPr>
              <a:t>D</a:t>
            </a:r>
            <a:endParaRPr lang="en-US" sz="1300" dirty="0"/>
          </a:p>
        </p:txBody>
      </p:sp>
      <p:sp>
        <p:nvSpPr>
          <p:cNvPr id="29" name="Text 26"/>
          <p:cNvSpPr/>
          <p:nvPr/>
        </p:nvSpPr>
        <p:spPr>
          <a:xfrm>
            <a:off x="6860286" y="1773936"/>
            <a:ext cx="1753362"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At His coming</a:t>
            </a:r>
            <a:endParaRPr lang="en-US" sz="1150" dirty="0"/>
          </a:p>
        </p:txBody>
      </p:sp>
      <p:sp>
        <p:nvSpPr>
          <p:cNvPr id="30" name="Text 27"/>
          <p:cNvSpPr/>
          <p:nvPr/>
        </p:nvSpPr>
        <p:spPr>
          <a:xfrm>
            <a:off x="6860286" y="2157984"/>
            <a:ext cx="1753362" cy="749808"/>
          </a:xfrm>
          <a:prstGeom prst="rect">
            <a:avLst/>
          </a:prstGeom>
          <a:noFill/>
          <a:ln/>
        </p:spPr>
        <p:txBody>
          <a:bodyPr wrap="square" lIns="0" tIns="0" rIns="0" bIns="0" rtlCol="0" anchor="t"/>
          <a:lstStyle/>
          <a:p>
            <a:pPr algn="ctr" indent="0" marL="0">
              <a:buNone/>
            </a:pPr>
            <a:r>
              <a:rPr lang="en-US" sz="1150" dirty="0">
                <a:solidFill>
                  <a:srgbClr val="FFFFFF"/>
                </a:solidFill>
                <a:latin typeface="Arial" pitchFamily="34" charset="0"/>
                <a:ea typeface="Arial" pitchFamily="34" charset="-122"/>
                <a:cs typeface="Arial" pitchFamily="34" charset="-120"/>
              </a:rPr>
              <a:t>With all His saints</a:t>
            </a:r>
            <a:endParaRPr lang="en-US" sz="1150" dirty="0"/>
          </a:p>
        </p:txBody>
      </p:sp>
      <p:sp>
        <p:nvSpPr>
          <p:cNvPr id="31" name="Text 28"/>
          <p:cNvSpPr/>
          <p:nvPr/>
        </p:nvSpPr>
        <p:spPr>
          <a:xfrm>
            <a:off x="6860286" y="2907792"/>
            <a:ext cx="1753362" cy="329184"/>
          </a:xfrm>
          <a:prstGeom prst="rect">
            <a:avLst/>
          </a:prstGeom>
          <a:noFill/>
          <a:ln/>
        </p:spPr>
        <p:txBody>
          <a:bodyPr wrap="square" lIns="0" tIns="0" rIns="0" bIns="0" rtlCol="0" anchor="b"/>
          <a:lstStyle/>
          <a:p>
            <a:pPr algn="ctr" indent="0" marL="0">
              <a:buNone/>
            </a:pPr>
            <a:r>
              <a:rPr lang="en-US" sz="900" i="1" dirty="0">
                <a:solidFill>
                  <a:srgbClr val="DCE4F2"/>
                </a:solidFill>
                <a:latin typeface="Arial" pitchFamily="34" charset="0"/>
                <a:ea typeface="Arial" pitchFamily="34" charset="-122"/>
                <a:cs typeface="Arial" pitchFamily="34" charset="-120"/>
              </a:rPr>
              <a:t>παρουσία · v.13b</a:t>
            </a:r>
            <a:endParaRPr lang="en-US" sz="900" dirty="0"/>
          </a:p>
        </p:txBody>
      </p:sp>
      <p:sp>
        <p:nvSpPr>
          <p:cNvPr id="32" name="Shape 29"/>
          <p:cNvSpPr/>
          <p:nvPr/>
        </p:nvSpPr>
        <p:spPr>
          <a:xfrm>
            <a:off x="457200" y="3474720"/>
            <a:ext cx="8229600" cy="685800"/>
          </a:xfrm>
          <a:prstGeom prst="roundRect">
            <a:avLst>
              <a:gd name="adj" fmla="val 8000"/>
            </a:avLst>
          </a:prstGeom>
          <a:solidFill>
            <a:srgbClr val="1F3864"/>
          </a:solidFill>
          <a:ln w="12700">
            <a:solidFill>
              <a:srgbClr val="1F3864"/>
            </a:solidFill>
            <a:prstDash val="solid"/>
          </a:ln>
        </p:spPr>
      </p:sp>
      <p:sp>
        <p:nvSpPr>
          <p:cNvPr id="33" name="Text 30"/>
          <p:cNvSpPr/>
          <p:nvPr/>
        </p:nvSpPr>
        <p:spPr>
          <a:xfrm>
            <a:off x="621792" y="3474720"/>
            <a:ext cx="7900416" cy="68580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Love produces holiness; holiness makes the heart blameless at the coming of the Lord.</a:t>
            </a:r>
            <a:endParaRPr lang="en-US" sz="1200" dirty="0"/>
          </a:p>
        </p:txBody>
      </p:sp>
      <p:sp>
        <p:nvSpPr>
          <p:cNvPr id="34" name="Shape 31"/>
          <p:cNvSpPr/>
          <p:nvPr/>
        </p:nvSpPr>
        <p:spPr>
          <a:xfrm>
            <a:off x="457200" y="4242816"/>
            <a:ext cx="8229600" cy="384048"/>
          </a:xfrm>
          <a:prstGeom prst="rect">
            <a:avLst/>
          </a:prstGeom>
          <a:solidFill>
            <a:srgbClr val="375623"/>
          </a:solidFill>
          <a:ln w="12700">
            <a:solidFill>
              <a:srgbClr val="375623"/>
            </a:solidFill>
            <a:prstDash val="solid"/>
          </a:ln>
        </p:spPr>
      </p:sp>
      <p:sp>
        <p:nvSpPr>
          <p:cNvPr id="35" name="Text 32"/>
          <p:cNvSpPr/>
          <p:nvPr/>
        </p:nvSpPr>
        <p:spPr>
          <a:xfrm>
            <a:off x="621792" y="4242816"/>
            <a:ext cx="7900416" cy="384048"/>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Blameless does not mean sinless — free of any reasonable charge, because sin is dealt with as God requires.</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Coming for His saints — coming with them</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3:13b · III.C.2 — The return of the saints with the Lord</a:t>
            </a:r>
            <a:endParaRPr lang="en-US" sz="1200" dirty="0"/>
          </a:p>
        </p:txBody>
      </p:sp>
      <p:sp>
        <p:nvSpPr>
          <p:cNvPr id="5" name="Shape 2"/>
          <p:cNvSpPr/>
          <p:nvPr/>
        </p:nvSpPr>
        <p:spPr>
          <a:xfrm>
            <a:off x="457200" y="1188720"/>
            <a:ext cx="3931920" cy="566928"/>
          </a:xfrm>
          <a:prstGeom prst="rect">
            <a:avLst/>
          </a:prstGeom>
          <a:solidFill>
            <a:srgbClr val="2E5496"/>
          </a:solidFill>
          <a:ln w="12700">
            <a:solidFill>
              <a:srgbClr val="2E5496"/>
            </a:solidFill>
            <a:prstDash val="solid"/>
          </a:ln>
        </p:spPr>
      </p:sp>
      <p:sp>
        <p:nvSpPr>
          <p:cNvPr id="6" name="Text 3"/>
          <p:cNvSpPr/>
          <p:nvPr/>
        </p:nvSpPr>
        <p:spPr>
          <a:xfrm>
            <a:off x="548640" y="1234440"/>
            <a:ext cx="374904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For His saints — the Rapture</a:t>
            </a:r>
            <a:endParaRPr lang="en-US" sz="1200" dirty="0"/>
          </a:p>
        </p:txBody>
      </p:sp>
      <p:sp>
        <p:nvSpPr>
          <p:cNvPr id="7" name="Shape 4"/>
          <p:cNvSpPr/>
          <p:nvPr/>
        </p:nvSpPr>
        <p:spPr>
          <a:xfrm>
            <a:off x="457200" y="1755648"/>
            <a:ext cx="3931920" cy="1810512"/>
          </a:xfrm>
          <a:prstGeom prst="rect">
            <a:avLst/>
          </a:prstGeom>
          <a:solidFill>
            <a:srgbClr val="F2F6FC"/>
          </a:solidFill>
          <a:ln w="9525">
            <a:solidFill>
              <a:srgbClr val="D5DCEA"/>
            </a:solidFill>
            <a:prstDash val="solid"/>
          </a:ln>
        </p:spPr>
      </p:sp>
      <p:sp>
        <p:nvSpPr>
          <p:cNvPr id="8" name="Text 5"/>
          <p:cNvSpPr/>
          <p:nvPr/>
        </p:nvSpPr>
        <p:spPr>
          <a:xfrm>
            <a:off x="548640" y="1828800"/>
            <a:ext cx="3749040" cy="168249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Christ comes for His church (4:13–18)</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 dead in Christ rise; the living are caught up</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Signless — at any moment</a:t>
            </a:r>
            <a:endParaRPr lang="en-US" sz="1250" dirty="0"/>
          </a:p>
        </p:txBody>
      </p:sp>
      <p:sp>
        <p:nvSpPr>
          <p:cNvPr id="9" name="Shape 6"/>
          <p:cNvSpPr/>
          <p:nvPr/>
        </p:nvSpPr>
        <p:spPr>
          <a:xfrm>
            <a:off x="4754880" y="1188720"/>
            <a:ext cx="3931920" cy="566928"/>
          </a:xfrm>
          <a:prstGeom prst="rect">
            <a:avLst/>
          </a:prstGeom>
          <a:solidFill>
            <a:srgbClr val="375623"/>
          </a:solidFill>
          <a:ln w="12700">
            <a:solidFill>
              <a:srgbClr val="375623"/>
            </a:solidFill>
            <a:prstDash val="solid"/>
          </a:ln>
        </p:spPr>
      </p:sp>
      <p:sp>
        <p:nvSpPr>
          <p:cNvPr id="10" name="Text 7"/>
          <p:cNvSpPr/>
          <p:nvPr/>
        </p:nvSpPr>
        <p:spPr>
          <a:xfrm>
            <a:off x="4846320" y="1234440"/>
            <a:ext cx="374904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With His saints — 3:13</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παρουσία</a:t>
            </a:r>
            <a:pPr indent="0" marL="0">
              <a:buNone/>
            </a:pPr>
            <a:r>
              <a:rPr lang="en-US" sz="850" dirty="0">
                <a:solidFill>
                  <a:srgbClr val="DCE4F2"/>
                </a:solidFill>
                <a:latin typeface="Arial" pitchFamily="34" charset="0"/>
                <a:ea typeface="Arial" pitchFamily="34" charset="-122"/>
                <a:cs typeface="Arial" pitchFamily="34" charset="-120"/>
              </a:rPr>
              <a:t>  coming · G3952</a:t>
            </a:r>
            <a:endParaRPr lang="en-US" sz="1200" dirty="0"/>
          </a:p>
        </p:txBody>
      </p:sp>
      <p:sp>
        <p:nvSpPr>
          <p:cNvPr id="11" name="Shape 8"/>
          <p:cNvSpPr/>
          <p:nvPr/>
        </p:nvSpPr>
        <p:spPr>
          <a:xfrm>
            <a:off x="4754880" y="1755648"/>
            <a:ext cx="3931920" cy="1810512"/>
          </a:xfrm>
          <a:prstGeom prst="rect">
            <a:avLst/>
          </a:prstGeom>
          <a:solidFill>
            <a:srgbClr val="F2F6FC"/>
          </a:solidFill>
          <a:ln w="9525">
            <a:solidFill>
              <a:srgbClr val="D5DCEA"/>
            </a:solidFill>
            <a:prstDash val="solid"/>
          </a:ln>
        </p:spPr>
      </p:sp>
      <p:sp>
        <p:nvSpPr>
          <p:cNvPr id="12" name="Text 9"/>
          <p:cNvSpPr/>
          <p:nvPr/>
        </p:nvSpPr>
        <p:spPr>
          <a:xfrm>
            <a:off x="4846320" y="1828800"/>
            <a:ext cx="3749040" cy="168249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 public, triumphant Second Coming</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 saints who have gone to be with Christ come with Him</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Christians, not angels</a:t>
            </a:r>
            <a:endParaRPr lang="en-US" sz="1250" dirty="0"/>
          </a:p>
        </p:txBody>
      </p:sp>
      <p:sp>
        <p:nvSpPr>
          <p:cNvPr id="13" name="Text 10"/>
          <p:cNvSpPr/>
          <p:nvPr/>
        </p:nvSpPr>
        <p:spPr>
          <a:xfrm>
            <a:off x="4389120" y="2194560"/>
            <a:ext cx="365760" cy="365760"/>
          </a:xfrm>
          <a:prstGeom prst="rect">
            <a:avLst/>
          </a:prstGeom>
          <a:noFill/>
          <a:ln/>
        </p:spPr>
        <p:txBody>
          <a:bodyPr wrap="square" lIns="0" tIns="0" rIns="0" bIns="0" rtlCol="0" anchor="ctr"/>
          <a:lstStyle/>
          <a:p>
            <a:pPr algn="ctr" indent="0" marL="0">
              <a:buNone/>
            </a:pPr>
            <a:r>
              <a:rPr lang="en-US" sz="1100" b="1" dirty="0">
                <a:solidFill>
                  <a:srgbClr val="6B7280"/>
                </a:solidFill>
                <a:latin typeface="Arial" pitchFamily="34" charset="0"/>
                <a:ea typeface="Arial" pitchFamily="34" charset="-122"/>
                <a:cs typeface="Arial" pitchFamily="34" charset="-120"/>
              </a:rPr>
              <a:t>vs</a:t>
            </a:r>
            <a:endParaRPr lang="en-US" sz="1100" dirty="0"/>
          </a:p>
        </p:txBody>
      </p:sp>
      <p:sp>
        <p:nvSpPr>
          <p:cNvPr id="14" name="Shape 11"/>
          <p:cNvSpPr/>
          <p:nvPr/>
        </p:nvSpPr>
        <p:spPr>
          <a:xfrm>
            <a:off x="457200" y="3794760"/>
            <a:ext cx="8229600" cy="777240"/>
          </a:xfrm>
          <a:prstGeom prst="roundRect">
            <a:avLst>
              <a:gd name="adj" fmla="val 7059"/>
            </a:avLst>
          </a:prstGeom>
          <a:solidFill>
            <a:srgbClr val="1F3864"/>
          </a:solidFill>
          <a:ln w="12700">
            <a:solidFill>
              <a:srgbClr val="1F3864"/>
            </a:solidFill>
            <a:prstDash val="solid"/>
          </a:ln>
        </p:spPr>
      </p:sp>
      <p:sp>
        <p:nvSpPr>
          <p:cNvPr id="15" name="Text 12"/>
          <p:cNvSpPr/>
          <p:nvPr/>
        </p:nvSpPr>
        <p:spPr>
          <a:xfrm>
            <a:off x="621792" y="3794760"/>
            <a:ext cx="7900416" cy="77724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Paul’s prayer is that when that day arrives, these believers would be found blameless — hearts established, lives marked by the holiness that comes from abounding love.</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Discuss and apply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3:1–13 · from the study's posted questions and applications</a:t>
            </a:r>
            <a:endParaRPr lang="en-US" sz="1200" dirty="0"/>
          </a:p>
        </p:txBody>
      </p:sp>
      <p:sp>
        <p:nvSpPr>
          <p:cNvPr id="5" name="Shape 2"/>
          <p:cNvSpPr/>
          <p:nvPr/>
        </p:nvSpPr>
        <p:spPr>
          <a:xfrm>
            <a:off x="457200" y="1115568"/>
            <a:ext cx="4023360" cy="384048"/>
          </a:xfrm>
          <a:prstGeom prst="rect">
            <a:avLst/>
          </a:prstGeom>
          <a:solidFill>
            <a:srgbClr val="2E5496"/>
          </a:solidFill>
          <a:ln w="12700">
            <a:solidFill>
              <a:srgbClr val="2E5496"/>
            </a:solidFill>
            <a:prstDash val="solid"/>
          </a:ln>
        </p:spPr>
      </p:sp>
      <p:sp>
        <p:nvSpPr>
          <p:cNvPr id="6" name="Text 3"/>
          <p:cNvSpPr/>
          <p:nvPr/>
        </p:nvSpPr>
        <p:spPr>
          <a:xfrm>
            <a:off x="56692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Discuss</a:t>
            </a:r>
            <a:endParaRPr lang="en-US" sz="1300" dirty="0"/>
          </a:p>
        </p:txBody>
      </p:sp>
      <p:sp>
        <p:nvSpPr>
          <p:cNvPr id="7" name="Shape 4"/>
          <p:cNvSpPr/>
          <p:nvPr/>
        </p:nvSpPr>
        <p:spPr>
          <a:xfrm>
            <a:off x="457200" y="1499616"/>
            <a:ext cx="4023360" cy="2359152"/>
          </a:xfrm>
          <a:prstGeom prst="rect">
            <a:avLst/>
          </a:prstGeom>
          <a:solidFill>
            <a:srgbClr val="F2F6FC"/>
          </a:solidFill>
          <a:ln w="9525">
            <a:solidFill>
              <a:srgbClr val="D5DCEA"/>
            </a:solidFill>
            <a:prstDash val="solid"/>
          </a:ln>
        </p:spPr>
      </p:sp>
      <p:sp>
        <p:nvSpPr>
          <p:cNvPr id="8" name="Shape 5"/>
          <p:cNvSpPr/>
          <p:nvPr/>
        </p:nvSpPr>
        <p:spPr>
          <a:xfrm>
            <a:off x="4663440" y="1115568"/>
            <a:ext cx="4023360" cy="384048"/>
          </a:xfrm>
          <a:prstGeom prst="rect">
            <a:avLst/>
          </a:prstGeom>
          <a:solidFill>
            <a:srgbClr val="375623"/>
          </a:solidFill>
          <a:ln w="12700">
            <a:solidFill>
              <a:srgbClr val="375623"/>
            </a:solidFill>
            <a:prstDash val="solid"/>
          </a:ln>
        </p:spPr>
      </p:sp>
      <p:sp>
        <p:nvSpPr>
          <p:cNvPr id="9" name="Text 6"/>
          <p:cNvSpPr/>
          <p:nvPr/>
        </p:nvSpPr>
        <p:spPr>
          <a:xfrm>
            <a:off x="477316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Apply</a:t>
            </a:r>
            <a:endParaRPr lang="en-US" sz="1300" dirty="0"/>
          </a:p>
        </p:txBody>
      </p:sp>
      <p:sp>
        <p:nvSpPr>
          <p:cNvPr id="10" name="Shape 7"/>
          <p:cNvSpPr/>
          <p:nvPr/>
        </p:nvSpPr>
        <p:spPr>
          <a:xfrm>
            <a:off x="4663440" y="1499616"/>
            <a:ext cx="4023360" cy="2359152"/>
          </a:xfrm>
          <a:prstGeom prst="rect">
            <a:avLst/>
          </a:prstGeom>
          <a:solidFill>
            <a:srgbClr val="F2F6FC"/>
          </a:solidFill>
          <a:ln w="9525">
            <a:solidFill>
              <a:srgbClr val="D5DCEA"/>
            </a:solidFill>
            <a:prstDash val="solid"/>
          </a:ln>
        </p:spPr>
      </p:sp>
      <p:sp>
        <p:nvSpPr>
          <p:cNvPr id="11" name="Shape 8"/>
          <p:cNvSpPr/>
          <p:nvPr/>
        </p:nvSpPr>
        <p:spPr>
          <a:xfrm>
            <a:off x="566928" y="1636776"/>
            <a:ext cx="347472" cy="347472"/>
          </a:xfrm>
          <a:prstGeom prst="ellipse">
            <a:avLst/>
          </a:prstGeom>
          <a:solidFill>
            <a:srgbClr val="2E5496"/>
          </a:solidFill>
          <a:ln w="12700">
            <a:solidFill>
              <a:srgbClr val="2E5496"/>
            </a:solidFill>
            <a:prstDash val="solid"/>
          </a:ln>
        </p:spPr>
      </p:sp>
      <p:sp>
        <p:nvSpPr>
          <p:cNvPr id="12" name="Text 9"/>
          <p:cNvSpPr/>
          <p:nvPr/>
        </p:nvSpPr>
        <p:spPr>
          <a:xfrm>
            <a:off x="566928" y="16367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3" name="Text 10"/>
          <p:cNvSpPr/>
          <p:nvPr/>
        </p:nvSpPr>
        <p:spPr>
          <a:xfrm>
            <a:off x="1005840" y="1591056"/>
            <a:ext cx="3364992" cy="1042416"/>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Verse 3 says believers are “appointed” to tribulation (keimai). What does this mean for how we interpret suffering — and how does it change our response?</a:t>
            </a:r>
            <a:endParaRPr lang="en-US" sz="1250" dirty="0"/>
          </a:p>
        </p:txBody>
      </p:sp>
      <p:sp>
        <p:nvSpPr>
          <p:cNvPr id="14" name="Shape 11"/>
          <p:cNvSpPr/>
          <p:nvPr/>
        </p:nvSpPr>
        <p:spPr>
          <a:xfrm>
            <a:off x="566928" y="2724912"/>
            <a:ext cx="347472" cy="347472"/>
          </a:xfrm>
          <a:prstGeom prst="ellipse">
            <a:avLst/>
          </a:prstGeom>
          <a:solidFill>
            <a:srgbClr val="2E5496"/>
          </a:solidFill>
          <a:ln w="12700">
            <a:solidFill>
              <a:srgbClr val="2E5496"/>
            </a:solidFill>
            <a:prstDash val="solid"/>
          </a:ln>
        </p:spPr>
      </p:sp>
      <p:sp>
        <p:nvSpPr>
          <p:cNvPr id="15" name="Text 12"/>
          <p:cNvSpPr/>
          <p:nvPr/>
        </p:nvSpPr>
        <p:spPr>
          <a:xfrm>
            <a:off x="566928" y="272491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6" name="Text 13"/>
          <p:cNvSpPr/>
          <p:nvPr/>
        </p:nvSpPr>
        <p:spPr>
          <a:xfrm>
            <a:off x="1005840" y="2679192"/>
            <a:ext cx="3364992" cy="1042416"/>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Verse 8 says “we live, if you stand fast in the Lord.” Is this hyperbole, or does Paul mean it? What does it reveal about pastoral ministry?</a:t>
            </a:r>
            <a:endParaRPr lang="en-US" sz="1250" dirty="0"/>
          </a:p>
        </p:txBody>
      </p:sp>
      <p:sp>
        <p:nvSpPr>
          <p:cNvPr id="17" name="Text 14"/>
          <p:cNvSpPr/>
          <p:nvPr/>
        </p:nvSpPr>
        <p:spPr>
          <a:xfrm>
            <a:off x="4791456" y="1591056"/>
            <a:ext cx="3767328" cy="1042416"/>
          </a:xfrm>
          <a:prstGeom prst="rect">
            <a:avLst/>
          </a:prstGeom>
          <a:noFill/>
          <a:ln/>
        </p:spPr>
        <p:txBody>
          <a:bodyPr wrap="square" lIns="0" tIns="0" rIns="0" bIns="0" rtlCol="0" anchor="t"/>
          <a:lstStyle/>
          <a:p>
            <a:pPr indent="0" marL="0">
              <a:buNone/>
            </a:pPr>
            <a:r>
              <a:rPr lang="en-US" sz="1250" b="1" dirty="0">
                <a:solidFill>
                  <a:srgbClr val="1F3864"/>
                </a:solidFill>
                <a:latin typeface="Arial" pitchFamily="34" charset="0"/>
                <a:ea typeface="Arial" pitchFamily="34" charset="-122"/>
                <a:cs typeface="Arial" pitchFamily="34" charset="-120"/>
              </a:rPr>
              <a:t>Expect Tribulation; Prepare Others</a:t>
            </a:r>
            <a:endParaRPr lang="en-US" sz="1250" dirty="0"/>
          </a:p>
          <a:p>
            <a:pPr indent="0" marL="0">
              <a:buNone/>
            </a:pPr>
            <a:r>
              <a:rPr lang="en-US" sz="1200" dirty="0">
                <a:solidFill>
                  <a:srgbClr val="262626"/>
                </a:solidFill>
                <a:latin typeface="Arial" pitchFamily="34" charset="0"/>
                <a:ea typeface="Arial" pitchFamily="34" charset="-122"/>
                <a:cs typeface="Arial" pitchFamily="34" charset="-120"/>
              </a:rPr>
              <a:t>Have one honest conversation with a younger believer about suffering — share verse 3: “we are appointed to this.”</a:t>
            </a:r>
            <a:endParaRPr lang="en-US" sz="1250" dirty="0"/>
          </a:p>
        </p:txBody>
      </p:sp>
      <p:sp>
        <p:nvSpPr>
          <p:cNvPr id="18" name="Text 15"/>
          <p:cNvSpPr/>
          <p:nvPr/>
        </p:nvSpPr>
        <p:spPr>
          <a:xfrm>
            <a:off x="4791456" y="2679192"/>
            <a:ext cx="3767328" cy="1042416"/>
          </a:xfrm>
          <a:prstGeom prst="rect">
            <a:avLst/>
          </a:prstGeom>
          <a:noFill/>
          <a:ln/>
        </p:spPr>
        <p:txBody>
          <a:bodyPr wrap="square" lIns="0" tIns="0" rIns="0" bIns="0" rtlCol="0" anchor="t"/>
          <a:lstStyle/>
          <a:p>
            <a:pPr indent="0" marL="0">
              <a:buNone/>
            </a:pPr>
            <a:r>
              <a:rPr lang="en-US" sz="1250" b="1" dirty="0">
                <a:solidFill>
                  <a:srgbClr val="1F3864"/>
                </a:solidFill>
                <a:latin typeface="Arial" pitchFamily="34" charset="0"/>
                <a:ea typeface="Arial" pitchFamily="34" charset="-122"/>
                <a:cs typeface="Arial" pitchFamily="34" charset="-120"/>
              </a:rPr>
              <a:t>Your Faithfulness Is a Lifeline</a:t>
            </a:r>
            <a:endParaRPr lang="en-US" sz="1250" dirty="0"/>
          </a:p>
          <a:p>
            <a:pPr indent="0" marL="0">
              <a:buNone/>
            </a:pPr>
            <a:r>
              <a:rPr lang="en-US" sz="1200" dirty="0">
                <a:solidFill>
                  <a:srgbClr val="262626"/>
                </a:solidFill>
                <a:latin typeface="Arial" pitchFamily="34" charset="0"/>
                <a:ea typeface="Arial" pitchFamily="34" charset="-122"/>
                <a:cs typeface="Arial" pitchFamily="34" charset="-120"/>
              </a:rPr>
              <a:t>Message someone whose faith has strengthened you and tell them specifically what their steadfastness has meant.</a:t>
            </a:r>
            <a:endParaRPr lang="en-US" sz="1250" dirty="0"/>
          </a:p>
        </p:txBody>
      </p:sp>
      <p:sp>
        <p:nvSpPr>
          <p:cNvPr id="19" name="Shape 16"/>
          <p:cNvSpPr/>
          <p:nvPr/>
        </p:nvSpPr>
        <p:spPr>
          <a:xfrm>
            <a:off x="457200" y="4023360"/>
            <a:ext cx="8229600" cy="566928"/>
          </a:xfrm>
          <a:prstGeom prst="roundRect">
            <a:avLst>
              <a:gd name="adj" fmla="val 9677"/>
            </a:avLst>
          </a:prstGeom>
          <a:solidFill>
            <a:srgbClr val="1F3864"/>
          </a:solidFill>
          <a:ln w="12700">
            <a:solidFill>
              <a:srgbClr val="1F3864"/>
            </a:solidFill>
            <a:prstDash val="solid"/>
          </a:ln>
        </p:spPr>
      </p:sp>
      <p:sp>
        <p:nvSpPr>
          <p:cNvPr id="20" name="Text 17"/>
          <p:cNvSpPr/>
          <p:nvPr/>
        </p:nvSpPr>
        <p:spPr>
          <a:xfrm>
            <a:off x="621792" y="4023360"/>
            <a:ext cx="7900416" cy="566928"/>
          </a:xfrm>
          <a:prstGeom prst="rect">
            <a:avLst/>
          </a:prstGeom>
          <a:noFill/>
          <a:ln/>
        </p:spPr>
        <p:txBody>
          <a:bodyPr wrap="square" lIns="0" tIns="0" rIns="0" bIns="0" rtlCol="0" anchor="ctr"/>
          <a:lstStyle/>
          <a:p>
            <a:pPr indent="0" marL="0">
              <a:buNone/>
            </a:pPr>
            <a:r>
              <a:rPr lang="en-US" sz="1200" b="1" dirty="0">
                <a:solidFill>
                  <a:srgbClr val="C9D5EE"/>
                </a:solidFill>
                <a:latin typeface="Arial" pitchFamily="34" charset="0"/>
                <a:ea typeface="Arial" pitchFamily="34" charset="-122"/>
                <a:cs typeface="Arial" pitchFamily="34" charset="-120"/>
              </a:rPr>
              <a:t>In one line:  </a:t>
            </a:r>
            <a:pPr indent="0" marL="0">
              <a:buNone/>
            </a:pPr>
            <a:r>
              <a:rPr lang="en-US" sz="1200" dirty="0">
                <a:solidFill>
                  <a:srgbClr val="FFFFFF"/>
                </a:solidFill>
                <a:latin typeface="Arial" pitchFamily="34" charset="0"/>
                <a:ea typeface="Arial" pitchFamily="34" charset="-122"/>
                <a:cs typeface="Arial" pitchFamily="34" charset="-120"/>
              </a:rPr>
              <a:t>Tribulation is part of the calling — so establish one another, stand fast together, and let love grow into holiness until He comes.</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nchor="ctr"/>
          <a:lstStyle/>
          <a:p>
            <a:pPr indent="0" marL="0">
              <a:buNone/>
            </a:pPr>
            <a:r>
              <a:rPr lang="en-US" sz="1400" dirty="0">
                <a:solidFill>
                  <a:srgbClr val="C9D5EE"/>
                </a:solidFill>
                <a:latin typeface="Arial" pitchFamily="34" charset="0"/>
                <a:ea typeface="Arial" pitchFamily="34" charset="-122"/>
                <a:cs typeface="Arial" pitchFamily="34" charset="-120"/>
              </a:rPr>
              <a:t>Study 6 of 10 · 1 Thessalonians 4:1–12</a:t>
            </a: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lIns="0" tIns="0" rIns="0" bIns="0" rtlCol="0" anchor="ctr"/>
          <a:lstStyle/>
          <a:p>
            <a:pPr algn="l" indent="0" marL="0">
              <a:buNone/>
            </a:pPr>
            <a:r>
              <a:rPr lang="en-US" sz="3400" b="1" dirty="0">
                <a:solidFill>
                  <a:srgbClr val="FFFFFF"/>
                </a:solidFill>
                <a:latin typeface="Arial" pitchFamily="34" charset="0"/>
                <a:ea typeface="Arial" pitchFamily="34" charset="-122"/>
                <a:cs typeface="Arial" pitchFamily="34" charset="-120"/>
              </a:rPr>
              <a:t>A Life That Pleases God</a:t>
            </a: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lIns="0" tIns="0" rIns="0" bIns="0" rtlCol="0" anchor="ctr"/>
          <a:lstStyle/>
          <a:p>
            <a:pPr indent="0" marL="0">
              <a:buNone/>
            </a:pPr>
            <a:r>
              <a:rPr lang="en-US" sz="1500" i="1" dirty="0">
                <a:solidFill>
                  <a:srgbClr val="E6ECF7"/>
                </a:solidFill>
                <a:latin typeface="Arial" pitchFamily="34" charset="0"/>
                <a:ea typeface="Arial" pitchFamily="34" charset="-122"/>
                <a:cs typeface="Arial" pitchFamily="34" charset="-120"/>
              </a:rPr>
              <a:t>A life that pleases God is not produced by rules or resolutions, but by the outworking of four God-given realities: our potential, our purity, our progress, and our purpose.</a:t>
            </a:r>
            <a:endParaRPr lang="en-US" sz="15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Four God-given realities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4:1–12 · Outline I–IV</a:t>
            </a:r>
            <a:endParaRPr lang="en-US" sz="1200" dirty="0"/>
          </a:p>
        </p:txBody>
      </p:sp>
      <p:sp>
        <p:nvSpPr>
          <p:cNvPr id="5" name="Shape 2"/>
          <p:cNvSpPr/>
          <p:nvPr/>
        </p:nvSpPr>
        <p:spPr>
          <a:xfrm>
            <a:off x="457200" y="1188720"/>
            <a:ext cx="1783080" cy="365760"/>
          </a:xfrm>
          <a:prstGeom prst="rect">
            <a:avLst/>
          </a:prstGeom>
          <a:solidFill>
            <a:srgbClr val="2E5496"/>
          </a:solidFill>
          <a:ln w="12700">
            <a:solidFill>
              <a:srgbClr val="2E5496"/>
            </a:solidFill>
            <a:prstDash val="solid"/>
          </a:ln>
        </p:spPr>
      </p:sp>
      <p:sp>
        <p:nvSpPr>
          <p:cNvPr id="6" name="Text 3"/>
          <p:cNvSpPr/>
          <p:nvPr/>
        </p:nvSpPr>
        <p:spPr>
          <a:xfrm>
            <a:off x="548640" y="1234440"/>
            <a:ext cx="160020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Potential · 4:1–2</a:t>
            </a:r>
            <a:endParaRPr lang="en-US" sz="1200" dirty="0"/>
          </a:p>
        </p:txBody>
      </p:sp>
      <p:sp>
        <p:nvSpPr>
          <p:cNvPr id="7" name="Shape 4"/>
          <p:cNvSpPr/>
          <p:nvPr/>
        </p:nvSpPr>
        <p:spPr>
          <a:xfrm>
            <a:off x="457200" y="1554480"/>
            <a:ext cx="1783080" cy="2011680"/>
          </a:xfrm>
          <a:prstGeom prst="rect">
            <a:avLst/>
          </a:prstGeom>
          <a:solidFill>
            <a:srgbClr val="F2F6FC"/>
          </a:solidFill>
          <a:ln w="9525">
            <a:solidFill>
              <a:srgbClr val="D5DCEA"/>
            </a:solidFill>
            <a:prstDash val="solid"/>
          </a:ln>
        </p:spPr>
      </p:sp>
      <p:sp>
        <p:nvSpPr>
          <p:cNvPr id="8" name="Text 5"/>
          <p:cNvSpPr/>
          <p:nvPr/>
        </p:nvSpPr>
        <p:spPr>
          <a:xfrm>
            <a:off x="548640" y="1627632"/>
            <a:ext cx="1600200" cy="1883664"/>
          </a:xfrm>
          <a:prstGeom prst="rect">
            <a:avLst/>
          </a:prstGeom>
          <a:noFill/>
          <a:ln/>
        </p:spPr>
        <p:txBody>
          <a:bodyPr wrap="square" lIns="0" tIns="0" rIns="0" bIns="0" rtlCol="0" anchor="t"/>
          <a:lstStyle/>
          <a:p>
            <a:pPr marL="127000" indent="-127000">
              <a:spcAft>
                <a:spcPts val="300"/>
              </a:spcAft>
              <a:buSzPct val="100000"/>
              <a:buChar char="•"/>
            </a:pPr>
            <a:r>
              <a:rPr lang="en-US" sz="1100" dirty="0">
                <a:solidFill>
                  <a:srgbClr val="262626"/>
                </a:solidFill>
                <a:latin typeface="Arial" pitchFamily="34" charset="0"/>
                <a:ea typeface="Arial" pitchFamily="34" charset="-122"/>
                <a:cs typeface="Arial" pitchFamily="34" charset="-120"/>
              </a:rPr>
              <a:t>What is committed to us</a:t>
            </a:r>
            <a:endParaRPr lang="en-US" sz="1100" dirty="0"/>
          </a:p>
          <a:p>
            <a:pPr marL="127000" indent="-127000">
              <a:spcAft>
                <a:spcPts val="300"/>
              </a:spcAft>
              <a:buSzPct val="100000"/>
              <a:buChar char="•"/>
            </a:pPr>
            <a:r>
              <a:rPr lang="en-US" sz="1100" dirty="0">
                <a:solidFill>
                  <a:srgbClr val="262626"/>
                </a:solidFill>
                <a:latin typeface="Arial" pitchFamily="34" charset="0"/>
                <a:ea typeface="Arial" pitchFamily="34" charset="-122"/>
                <a:cs typeface="Arial" pitchFamily="34" charset="-120"/>
              </a:rPr>
              <a:t>Received and repeated — practiced</a:t>
            </a:r>
            <a:endParaRPr lang="en-US" sz="1100" dirty="0"/>
          </a:p>
          <a:p>
            <a:pPr marL="127000" indent="-127000">
              <a:spcAft>
                <a:spcPts val="300"/>
              </a:spcAft>
              <a:buSzPct val="100000"/>
              <a:buChar char="•"/>
            </a:pPr>
            <a:r>
              <a:rPr lang="en-US" sz="1100" dirty="0">
                <a:solidFill>
                  <a:srgbClr val="262626"/>
                </a:solidFill>
                <a:latin typeface="Arial" pitchFamily="34" charset="0"/>
                <a:ea typeface="Arial" pitchFamily="34" charset="-122"/>
                <a:cs typeface="Arial" pitchFamily="34" charset="-120"/>
              </a:rPr>
              <a:t>The commandments of the Lord Jesus</a:t>
            </a:r>
            <a:endParaRPr lang="en-US" sz="1100" dirty="0"/>
          </a:p>
        </p:txBody>
      </p:sp>
      <p:sp>
        <p:nvSpPr>
          <p:cNvPr id="9" name="Shape 6"/>
          <p:cNvSpPr/>
          <p:nvPr/>
        </p:nvSpPr>
        <p:spPr>
          <a:xfrm>
            <a:off x="2304288" y="2258568"/>
            <a:ext cx="237744" cy="237744"/>
          </a:xfrm>
          <a:prstGeom prst="rightArrow">
            <a:avLst/>
          </a:prstGeom>
          <a:solidFill>
            <a:srgbClr val="6B7280"/>
          </a:solidFill>
          <a:ln w="12700">
            <a:solidFill>
              <a:srgbClr val="6B7280"/>
            </a:solidFill>
            <a:prstDash val="solid"/>
          </a:ln>
        </p:spPr>
      </p:sp>
      <p:sp>
        <p:nvSpPr>
          <p:cNvPr id="10" name="Shape 7"/>
          <p:cNvSpPr/>
          <p:nvPr/>
        </p:nvSpPr>
        <p:spPr>
          <a:xfrm>
            <a:off x="2606040" y="1188720"/>
            <a:ext cx="1783080" cy="365760"/>
          </a:xfrm>
          <a:prstGeom prst="rect">
            <a:avLst/>
          </a:prstGeom>
          <a:solidFill>
            <a:srgbClr val="2E5496"/>
          </a:solidFill>
          <a:ln w="12700">
            <a:solidFill>
              <a:srgbClr val="2E5496"/>
            </a:solidFill>
            <a:prstDash val="solid"/>
          </a:ln>
        </p:spPr>
      </p:sp>
      <p:sp>
        <p:nvSpPr>
          <p:cNvPr id="11" name="Text 8"/>
          <p:cNvSpPr/>
          <p:nvPr/>
        </p:nvSpPr>
        <p:spPr>
          <a:xfrm>
            <a:off x="2697480" y="1234440"/>
            <a:ext cx="160020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Purity · 4:3–8</a:t>
            </a:r>
            <a:endParaRPr lang="en-US" sz="1200" dirty="0"/>
          </a:p>
        </p:txBody>
      </p:sp>
      <p:sp>
        <p:nvSpPr>
          <p:cNvPr id="12" name="Shape 9"/>
          <p:cNvSpPr/>
          <p:nvPr/>
        </p:nvSpPr>
        <p:spPr>
          <a:xfrm>
            <a:off x="2606040" y="1554480"/>
            <a:ext cx="1783080" cy="2011680"/>
          </a:xfrm>
          <a:prstGeom prst="rect">
            <a:avLst/>
          </a:prstGeom>
          <a:solidFill>
            <a:srgbClr val="F2F6FC"/>
          </a:solidFill>
          <a:ln w="9525">
            <a:solidFill>
              <a:srgbClr val="D5DCEA"/>
            </a:solidFill>
            <a:prstDash val="solid"/>
          </a:ln>
        </p:spPr>
      </p:sp>
      <p:sp>
        <p:nvSpPr>
          <p:cNvPr id="13" name="Text 10"/>
          <p:cNvSpPr/>
          <p:nvPr/>
        </p:nvSpPr>
        <p:spPr>
          <a:xfrm>
            <a:off x="2697480" y="1627632"/>
            <a:ext cx="1600200" cy="1883664"/>
          </a:xfrm>
          <a:prstGeom prst="rect">
            <a:avLst/>
          </a:prstGeom>
          <a:noFill/>
          <a:ln/>
        </p:spPr>
        <p:txBody>
          <a:bodyPr wrap="square" lIns="0" tIns="0" rIns="0" bIns="0" rtlCol="0" anchor="t"/>
          <a:lstStyle/>
          <a:p>
            <a:pPr marL="127000" indent="-127000">
              <a:spcAft>
                <a:spcPts val="300"/>
              </a:spcAft>
              <a:buSzPct val="100000"/>
              <a:buChar char="•"/>
            </a:pPr>
            <a:r>
              <a:rPr lang="en-US" sz="1100" dirty="0">
                <a:solidFill>
                  <a:srgbClr val="262626"/>
                </a:solidFill>
                <a:latin typeface="Arial" pitchFamily="34" charset="0"/>
                <a:ea typeface="Arial" pitchFamily="34" charset="-122"/>
                <a:cs typeface="Arial" pitchFamily="34" charset="-120"/>
              </a:rPr>
              <a:t>Sanctification is God’s will</a:t>
            </a:r>
            <a:endParaRPr lang="en-US" sz="1100" dirty="0"/>
          </a:p>
          <a:p>
            <a:pPr marL="127000" indent="-127000">
              <a:spcAft>
                <a:spcPts val="300"/>
              </a:spcAft>
              <a:buSzPct val="100000"/>
              <a:buChar char="•"/>
            </a:pPr>
            <a:r>
              <a:rPr lang="en-US" sz="1100" dirty="0">
                <a:solidFill>
                  <a:srgbClr val="262626"/>
                </a:solidFill>
                <a:latin typeface="Arial" pitchFamily="34" charset="0"/>
                <a:ea typeface="Arial" pitchFamily="34" charset="-122"/>
                <a:cs typeface="Arial" pitchFamily="34" charset="-120"/>
              </a:rPr>
              <a:t>Abstain from sexual immorality</a:t>
            </a:r>
            <a:endParaRPr lang="en-US" sz="1100" dirty="0"/>
          </a:p>
          <a:p>
            <a:pPr marL="127000" indent="-127000">
              <a:spcAft>
                <a:spcPts val="300"/>
              </a:spcAft>
              <a:buSzPct val="100000"/>
              <a:buChar char="•"/>
            </a:pPr>
            <a:r>
              <a:rPr lang="en-US" sz="1100" dirty="0">
                <a:solidFill>
                  <a:srgbClr val="262626"/>
                </a:solidFill>
                <a:latin typeface="Arial" pitchFamily="34" charset="0"/>
                <a:ea typeface="Arial" pitchFamily="34" charset="-122"/>
                <a:cs typeface="Arial" pitchFamily="34" charset="-120"/>
              </a:rPr>
              <a:t>A sin against Father, Son and Spirit</a:t>
            </a:r>
            <a:endParaRPr lang="en-US" sz="1100" dirty="0"/>
          </a:p>
        </p:txBody>
      </p:sp>
      <p:sp>
        <p:nvSpPr>
          <p:cNvPr id="14" name="Shape 11"/>
          <p:cNvSpPr/>
          <p:nvPr/>
        </p:nvSpPr>
        <p:spPr>
          <a:xfrm>
            <a:off x="4453128" y="2258568"/>
            <a:ext cx="237744" cy="237744"/>
          </a:xfrm>
          <a:prstGeom prst="rightArrow">
            <a:avLst/>
          </a:prstGeom>
          <a:solidFill>
            <a:srgbClr val="6B7280"/>
          </a:solidFill>
          <a:ln w="12700">
            <a:solidFill>
              <a:srgbClr val="6B7280"/>
            </a:solidFill>
            <a:prstDash val="solid"/>
          </a:ln>
        </p:spPr>
      </p:sp>
      <p:sp>
        <p:nvSpPr>
          <p:cNvPr id="15" name="Shape 12"/>
          <p:cNvSpPr/>
          <p:nvPr/>
        </p:nvSpPr>
        <p:spPr>
          <a:xfrm>
            <a:off x="4754880" y="1188720"/>
            <a:ext cx="1783080" cy="365760"/>
          </a:xfrm>
          <a:prstGeom prst="rect">
            <a:avLst/>
          </a:prstGeom>
          <a:solidFill>
            <a:srgbClr val="2E5496"/>
          </a:solidFill>
          <a:ln w="12700">
            <a:solidFill>
              <a:srgbClr val="2E5496"/>
            </a:solidFill>
            <a:prstDash val="solid"/>
          </a:ln>
        </p:spPr>
      </p:sp>
      <p:sp>
        <p:nvSpPr>
          <p:cNvPr id="16" name="Text 13"/>
          <p:cNvSpPr/>
          <p:nvPr/>
        </p:nvSpPr>
        <p:spPr>
          <a:xfrm>
            <a:off x="4846320" y="1234440"/>
            <a:ext cx="160020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Progress · 4:9–10</a:t>
            </a:r>
            <a:endParaRPr lang="en-US" sz="1200" dirty="0"/>
          </a:p>
        </p:txBody>
      </p:sp>
      <p:sp>
        <p:nvSpPr>
          <p:cNvPr id="17" name="Shape 14"/>
          <p:cNvSpPr/>
          <p:nvPr/>
        </p:nvSpPr>
        <p:spPr>
          <a:xfrm>
            <a:off x="4754880" y="1554480"/>
            <a:ext cx="1783080" cy="2011680"/>
          </a:xfrm>
          <a:prstGeom prst="rect">
            <a:avLst/>
          </a:prstGeom>
          <a:solidFill>
            <a:srgbClr val="F2F6FC"/>
          </a:solidFill>
          <a:ln w="9525">
            <a:solidFill>
              <a:srgbClr val="D5DCEA"/>
            </a:solidFill>
            <a:prstDash val="solid"/>
          </a:ln>
        </p:spPr>
      </p:sp>
      <p:sp>
        <p:nvSpPr>
          <p:cNvPr id="18" name="Text 15"/>
          <p:cNvSpPr/>
          <p:nvPr/>
        </p:nvSpPr>
        <p:spPr>
          <a:xfrm>
            <a:off x="4846320" y="1627632"/>
            <a:ext cx="1600200" cy="1883664"/>
          </a:xfrm>
          <a:prstGeom prst="rect">
            <a:avLst/>
          </a:prstGeom>
          <a:noFill/>
          <a:ln/>
        </p:spPr>
        <p:txBody>
          <a:bodyPr wrap="square" lIns="0" tIns="0" rIns="0" bIns="0" rtlCol="0" anchor="t"/>
          <a:lstStyle/>
          <a:p>
            <a:pPr marL="127000" indent="-127000">
              <a:spcAft>
                <a:spcPts val="300"/>
              </a:spcAft>
              <a:buSzPct val="100000"/>
              <a:buChar char="•"/>
            </a:pPr>
            <a:r>
              <a:rPr lang="en-US" sz="1100" dirty="0">
                <a:solidFill>
                  <a:srgbClr val="262626"/>
                </a:solidFill>
                <a:latin typeface="Arial" pitchFamily="34" charset="0"/>
                <a:ea typeface="Arial" pitchFamily="34" charset="-122"/>
                <a:cs typeface="Arial" pitchFamily="34" charset="-120"/>
              </a:rPr>
              <a:t>Taught by God to love</a:t>
            </a:r>
            <a:endParaRPr lang="en-US" sz="1100" dirty="0"/>
          </a:p>
          <a:p>
            <a:pPr marL="127000" indent="-127000">
              <a:spcAft>
                <a:spcPts val="300"/>
              </a:spcAft>
              <a:buSzPct val="100000"/>
              <a:buChar char="•"/>
            </a:pPr>
            <a:r>
              <a:rPr lang="en-US" sz="1100" dirty="0">
                <a:solidFill>
                  <a:srgbClr val="262626"/>
                </a:solidFill>
                <a:latin typeface="Arial" pitchFamily="34" charset="0"/>
                <a:ea typeface="Arial" pitchFamily="34" charset="-122"/>
                <a:cs typeface="Arial" pitchFamily="34" charset="-120"/>
              </a:rPr>
              <a:t>Already loving all Macedonia</a:t>
            </a:r>
            <a:endParaRPr lang="en-US" sz="1100" dirty="0"/>
          </a:p>
          <a:p>
            <a:pPr marL="127000" indent="-127000">
              <a:spcAft>
                <a:spcPts val="300"/>
              </a:spcAft>
              <a:buSzPct val="100000"/>
              <a:buChar char="•"/>
            </a:pPr>
            <a:r>
              <a:rPr lang="en-US" sz="1100" dirty="0">
                <a:solidFill>
                  <a:srgbClr val="262626"/>
                </a:solidFill>
                <a:latin typeface="Arial" pitchFamily="34" charset="0"/>
                <a:ea typeface="Arial" pitchFamily="34" charset="-122"/>
                <a:cs typeface="Arial" pitchFamily="34" charset="-120"/>
              </a:rPr>
              <a:t>“Increase more and more”</a:t>
            </a:r>
            <a:endParaRPr lang="en-US" sz="1100" dirty="0"/>
          </a:p>
        </p:txBody>
      </p:sp>
      <p:sp>
        <p:nvSpPr>
          <p:cNvPr id="19" name="Shape 16"/>
          <p:cNvSpPr/>
          <p:nvPr/>
        </p:nvSpPr>
        <p:spPr>
          <a:xfrm>
            <a:off x="6601968" y="2258568"/>
            <a:ext cx="237744" cy="237744"/>
          </a:xfrm>
          <a:prstGeom prst="rightArrow">
            <a:avLst/>
          </a:prstGeom>
          <a:solidFill>
            <a:srgbClr val="6B7280"/>
          </a:solidFill>
          <a:ln w="12700">
            <a:solidFill>
              <a:srgbClr val="6B7280"/>
            </a:solidFill>
            <a:prstDash val="solid"/>
          </a:ln>
        </p:spPr>
      </p:sp>
      <p:sp>
        <p:nvSpPr>
          <p:cNvPr id="20" name="Shape 17"/>
          <p:cNvSpPr/>
          <p:nvPr/>
        </p:nvSpPr>
        <p:spPr>
          <a:xfrm>
            <a:off x="6903720" y="1188720"/>
            <a:ext cx="1783080" cy="365760"/>
          </a:xfrm>
          <a:prstGeom prst="rect">
            <a:avLst/>
          </a:prstGeom>
          <a:solidFill>
            <a:srgbClr val="375623"/>
          </a:solidFill>
          <a:ln w="12700">
            <a:solidFill>
              <a:srgbClr val="375623"/>
            </a:solidFill>
            <a:prstDash val="solid"/>
          </a:ln>
        </p:spPr>
      </p:sp>
      <p:sp>
        <p:nvSpPr>
          <p:cNvPr id="21" name="Text 18"/>
          <p:cNvSpPr/>
          <p:nvPr/>
        </p:nvSpPr>
        <p:spPr>
          <a:xfrm>
            <a:off x="6995160" y="1234440"/>
            <a:ext cx="160020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Purpose · 4:11–12</a:t>
            </a:r>
            <a:endParaRPr lang="en-US" sz="1200" dirty="0"/>
          </a:p>
        </p:txBody>
      </p:sp>
      <p:sp>
        <p:nvSpPr>
          <p:cNvPr id="22" name="Shape 19"/>
          <p:cNvSpPr/>
          <p:nvPr/>
        </p:nvSpPr>
        <p:spPr>
          <a:xfrm>
            <a:off x="6903720" y="1554480"/>
            <a:ext cx="1783080" cy="2011680"/>
          </a:xfrm>
          <a:prstGeom prst="rect">
            <a:avLst/>
          </a:prstGeom>
          <a:solidFill>
            <a:srgbClr val="F2F6FC"/>
          </a:solidFill>
          <a:ln w="9525">
            <a:solidFill>
              <a:srgbClr val="D5DCEA"/>
            </a:solidFill>
            <a:prstDash val="solid"/>
          </a:ln>
        </p:spPr>
      </p:sp>
      <p:sp>
        <p:nvSpPr>
          <p:cNvPr id="23" name="Text 20"/>
          <p:cNvSpPr/>
          <p:nvPr/>
        </p:nvSpPr>
        <p:spPr>
          <a:xfrm>
            <a:off x="6995160" y="1627632"/>
            <a:ext cx="1600200" cy="1883664"/>
          </a:xfrm>
          <a:prstGeom prst="rect">
            <a:avLst/>
          </a:prstGeom>
          <a:noFill/>
          <a:ln/>
        </p:spPr>
        <p:txBody>
          <a:bodyPr wrap="square" lIns="0" tIns="0" rIns="0" bIns="0" rtlCol="0" anchor="t"/>
          <a:lstStyle/>
          <a:p>
            <a:pPr marL="127000" indent="-127000">
              <a:spcAft>
                <a:spcPts val="300"/>
              </a:spcAft>
              <a:buSzPct val="100000"/>
              <a:buChar char="•"/>
            </a:pPr>
            <a:r>
              <a:rPr lang="en-US" sz="1100" dirty="0">
                <a:solidFill>
                  <a:srgbClr val="262626"/>
                </a:solidFill>
                <a:latin typeface="Arial" pitchFamily="34" charset="0"/>
                <a:ea typeface="Arial" pitchFamily="34" charset="-122"/>
                <a:cs typeface="Arial" pitchFamily="34" charset="-120"/>
              </a:rPr>
              <a:t>A quiet life</a:t>
            </a:r>
            <a:endParaRPr lang="en-US" sz="1100" dirty="0"/>
          </a:p>
          <a:p>
            <a:pPr marL="127000" indent="-127000">
              <a:spcAft>
                <a:spcPts val="300"/>
              </a:spcAft>
              <a:buSzPct val="100000"/>
              <a:buChar char="•"/>
            </a:pPr>
            <a:r>
              <a:rPr lang="en-US" sz="1100" dirty="0">
                <a:solidFill>
                  <a:srgbClr val="262626"/>
                </a:solidFill>
                <a:latin typeface="Arial" pitchFamily="34" charset="0"/>
                <a:ea typeface="Arial" pitchFamily="34" charset="-122"/>
                <a:cs typeface="Arial" pitchFamily="34" charset="-120"/>
              </a:rPr>
              <a:t>Mind your own business; work</a:t>
            </a:r>
            <a:endParaRPr lang="en-US" sz="1100" dirty="0"/>
          </a:p>
          <a:p>
            <a:pPr marL="127000" indent="-127000">
              <a:spcAft>
                <a:spcPts val="300"/>
              </a:spcAft>
              <a:buSzPct val="100000"/>
              <a:buChar char="•"/>
            </a:pPr>
            <a:r>
              <a:rPr lang="en-US" sz="1100" dirty="0">
                <a:solidFill>
                  <a:srgbClr val="262626"/>
                </a:solidFill>
                <a:latin typeface="Arial" pitchFamily="34" charset="0"/>
                <a:ea typeface="Arial" pitchFamily="34" charset="-122"/>
                <a:cs typeface="Arial" pitchFamily="34" charset="-120"/>
              </a:rPr>
              <a:t>Walk properly before outsiders</a:t>
            </a:r>
            <a:endParaRPr lang="en-US" sz="1100" dirty="0"/>
          </a:p>
        </p:txBody>
      </p:sp>
      <p:sp>
        <p:nvSpPr>
          <p:cNvPr id="24" name="Shape 21"/>
          <p:cNvSpPr/>
          <p:nvPr/>
        </p:nvSpPr>
        <p:spPr>
          <a:xfrm>
            <a:off x="457200" y="3749040"/>
            <a:ext cx="8229600" cy="868680"/>
          </a:xfrm>
          <a:prstGeom prst="roundRect">
            <a:avLst>
              <a:gd name="adj" fmla="val 6316"/>
            </a:avLst>
          </a:prstGeom>
          <a:solidFill>
            <a:srgbClr val="1F3864"/>
          </a:solidFill>
          <a:ln w="12700">
            <a:solidFill>
              <a:srgbClr val="1F3864"/>
            </a:solidFill>
            <a:prstDash val="solid"/>
          </a:ln>
        </p:spPr>
      </p:sp>
      <p:sp>
        <p:nvSpPr>
          <p:cNvPr id="25" name="Text 22"/>
          <p:cNvSpPr/>
          <p:nvPr/>
        </p:nvSpPr>
        <p:spPr>
          <a:xfrm>
            <a:off x="621792" y="3749040"/>
            <a:ext cx="7900416" cy="86868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The Christian life is not a set of prohibitions to be avoided. It is an outworking of a loving desire to please God. That’s it.</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“We urge you … more and more”</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4:1–2 · I — Our potential</a:t>
            </a:r>
            <a:endParaRPr lang="en-US" sz="1200" dirty="0"/>
          </a:p>
        </p:txBody>
      </p:sp>
      <p:sp>
        <p:nvSpPr>
          <p:cNvPr id="5" name="Shape 2"/>
          <p:cNvSpPr/>
          <p:nvPr/>
        </p:nvSpPr>
        <p:spPr>
          <a:xfrm>
            <a:off x="457200" y="1115568"/>
            <a:ext cx="777240" cy="566928"/>
          </a:xfrm>
          <a:prstGeom prst="rect">
            <a:avLst/>
          </a:prstGeom>
          <a:solidFill>
            <a:srgbClr val="2E5496"/>
          </a:solidFill>
          <a:ln w="12700">
            <a:solidFill>
              <a:srgbClr val="2E5496"/>
            </a:solidFill>
            <a:prstDash val="solid"/>
          </a:ln>
        </p:spPr>
      </p:sp>
      <p:sp>
        <p:nvSpPr>
          <p:cNvPr id="6" name="Text 3"/>
          <p:cNvSpPr/>
          <p:nvPr/>
        </p:nvSpPr>
        <p:spPr>
          <a:xfrm>
            <a:off x="457200" y="1115568"/>
            <a:ext cx="77724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a:t>
            </a:r>
            <a:endParaRPr lang="en-US" sz="1100" dirty="0"/>
          </a:p>
        </p:txBody>
      </p:sp>
      <p:sp>
        <p:nvSpPr>
          <p:cNvPr id="7" name="Shape 4"/>
          <p:cNvSpPr/>
          <p:nvPr/>
        </p:nvSpPr>
        <p:spPr>
          <a:xfrm>
            <a:off x="1234440" y="1115568"/>
            <a:ext cx="7452360" cy="566928"/>
          </a:xfrm>
          <a:prstGeom prst="rect">
            <a:avLst/>
          </a:prstGeom>
          <a:solidFill>
            <a:srgbClr val="F2F6FC"/>
          </a:solidFill>
          <a:ln w="9525">
            <a:solidFill>
              <a:srgbClr val="D5DCEA"/>
            </a:solidFill>
            <a:prstDash val="solid"/>
          </a:ln>
        </p:spPr>
      </p:sp>
      <p:sp>
        <p:nvSpPr>
          <p:cNvPr id="8" name="Text 5"/>
          <p:cNvSpPr/>
          <p:nvPr/>
        </p:nvSpPr>
        <p:spPr>
          <a:xfrm>
            <a:off x="1344168" y="1115568"/>
            <a:ext cx="4389120" cy="566928"/>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“Finally” — the hinge from doctrine to daily life</a:t>
            </a:r>
            <a:endParaRPr lang="en-US" sz="1150" dirty="0"/>
          </a:p>
        </p:txBody>
      </p:sp>
      <p:sp>
        <p:nvSpPr>
          <p:cNvPr id="9" name="Text 6"/>
          <p:cNvSpPr/>
          <p:nvPr/>
        </p:nvSpPr>
        <p:spPr>
          <a:xfrm>
            <a:off x="5806440" y="1115568"/>
            <a:ext cx="2788920" cy="56692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Λοιπὸν</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from now on — not “the end”</a:t>
            </a:r>
            <a:endParaRPr lang="en-US" sz="1300" dirty="0"/>
          </a:p>
        </p:txBody>
      </p:sp>
      <p:sp>
        <p:nvSpPr>
          <p:cNvPr id="10" name="Shape 7"/>
          <p:cNvSpPr/>
          <p:nvPr/>
        </p:nvSpPr>
        <p:spPr>
          <a:xfrm>
            <a:off x="457200" y="1755648"/>
            <a:ext cx="777240" cy="566928"/>
          </a:xfrm>
          <a:prstGeom prst="rect">
            <a:avLst/>
          </a:prstGeom>
          <a:solidFill>
            <a:srgbClr val="2E5496"/>
          </a:solidFill>
          <a:ln w="12700">
            <a:solidFill>
              <a:srgbClr val="2E5496"/>
            </a:solidFill>
            <a:prstDash val="solid"/>
          </a:ln>
        </p:spPr>
      </p:sp>
      <p:sp>
        <p:nvSpPr>
          <p:cNvPr id="11" name="Text 8"/>
          <p:cNvSpPr/>
          <p:nvPr/>
        </p:nvSpPr>
        <p:spPr>
          <a:xfrm>
            <a:off x="457200" y="1755648"/>
            <a:ext cx="77724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a:t>
            </a:r>
            <a:endParaRPr lang="en-US" sz="1100" dirty="0"/>
          </a:p>
        </p:txBody>
      </p:sp>
      <p:sp>
        <p:nvSpPr>
          <p:cNvPr id="12" name="Shape 9"/>
          <p:cNvSpPr/>
          <p:nvPr/>
        </p:nvSpPr>
        <p:spPr>
          <a:xfrm>
            <a:off x="1234440" y="1755648"/>
            <a:ext cx="7452360" cy="566928"/>
          </a:xfrm>
          <a:prstGeom prst="rect">
            <a:avLst/>
          </a:prstGeom>
          <a:solidFill>
            <a:srgbClr val="FFFFFF"/>
          </a:solidFill>
          <a:ln w="9525">
            <a:solidFill>
              <a:srgbClr val="D5DCEA"/>
            </a:solidFill>
            <a:prstDash val="solid"/>
          </a:ln>
        </p:spPr>
      </p:sp>
      <p:sp>
        <p:nvSpPr>
          <p:cNvPr id="13" name="Text 10"/>
          <p:cNvSpPr/>
          <p:nvPr/>
        </p:nvSpPr>
        <p:spPr>
          <a:xfrm>
            <a:off x="1344168" y="1755648"/>
            <a:ext cx="4389120" cy="566928"/>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“We urge you” — not a command but earnest pleading</a:t>
            </a:r>
            <a:endParaRPr lang="en-US" sz="1150" dirty="0"/>
          </a:p>
        </p:txBody>
      </p:sp>
      <p:sp>
        <p:nvSpPr>
          <p:cNvPr id="14" name="Text 11"/>
          <p:cNvSpPr/>
          <p:nvPr/>
        </p:nvSpPr>
        <p:spPr>
          <a:xfrm>
            <a:off x="5806440" y="1755648"/>
            <a:ext cx="2788920" cy="56692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παρακαλοῦμεν</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we beg — same root as Paraclete</a:t>
            </a:r>
            <a:endParaRPr lang="en-US" sz="1300" dirty="0"/>
          </a:p>
        </p:txBody>
      </p:sp>
      <p:sp>
        <p:nvSpPr>
          <p:cNvPr id="15" name="Shape 12"/>
          <p:cNvSpPr/>
          <p:nvPr/>
        </p:nvSpPr>
        <p:spPr>
          <a:xfrm>
            <a:off x="457200" y="2395728"/>
            <a:ext cx="777240" cy="566928"/>
          </a:xfrm>
          <a:prstGeom prst="rect">
            <a:avLst/>
          </a:prstGeom>
          <a:solidFill>
            <a:srgbClr val="2E5496"/>
          </a:solidFill>
          <a:ln w="12700">
            <a:solidFill>
              <a:srgbClr val="2E5496"/>
            </a:solidFill>
            <a:prstDash val="solid"/>
          </a:ln>
        </p:spPr>
      </p:sp>
      <p:sp>
        <p:nvSpPr>
          <p:cNvPr id="16" name="Text 13"/>
          <p:cNvSpPr/>
          <p:nvPr/>
        </p:nvSpPr>
        <p:spPr>
          <a:xfrm>
            <a:off x="457200" y="2395728"/>
            <a:ext cx="77724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a:t>
            </a:r>
            <a:endParaRPr lang="en-US" sz="1100" dirty="0"/>
          </a:p>
        </p:txBody>
      </p:sp>
      <p:sp>
        <p:nvSpPr>
          <p:cNvPr id="17" name="Shape 14"/>
          <p:cNvSpPr/>
          <p:nvPr/>
        </p:nvSpPr>
        <p:spPr>
          <a:xfrm>
            <a:off x="1234440" y="2395728"/>
            <a:ext cx="7452360" cy="566928"/>
          </a:xfrm>
          <a:prstGeom prst="rect">
            <a:avLst/>
          </a:prstGeom>
          <a:solidFill>
            <a:srgbClr val="F2F6FC"/>
          </a:solidFill>
          <a:ln w="9525">
            <a:solidFill>
              <a:srgbClr val="D5DCEA"/>
            </a:solidFill>
            <a:prstDash val="solid"/>
          </a:ln>
        </p:spPr>
      </p:sp>
      <p:sp>
        <p:nvSpPr>
          <p:cNvPr id="18" name="Text 15"/>
          <p:cNvSpPr/>
          <p:nvPr/>
        </p:nvSpPr>
        <p:spPr>
          <a:xfrm>
            <a:off x="1344168" y="2395728"/>
            <a:ext cx="4389120" cy="566928"/>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“Abound more and more” — the standard is overflow</a:t>
            </a:r>
            <a:endParaRPr lang="en-US" sz="1150" dirty="0"/>
          </a:p>
        </p:txBody>
      </p:sp>
      <p:sp>
        <p:nvSpPr>
          <p:cNvPr id="19" name="Text 16"/>
          <p:cNvSpPr/>
          <p:nvPr/>
        </p:nvSpPr>
        <p:spPr>
          <a:xfrm>
            <a:off x="5806440" y="2395728"/>
            <a:ext cx="2788920" cy="56692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περισσεύητε</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a river breaching its banks</a:t>
            </a:r>
            <a:endParaRPr lang="en-US" sz="1300" dirty="0"/>
          </a:p>
        </p:txBody>
      </p:sp>
      <p:sp>
        <p:nvSpPr>
          <p:cNvPr id="20" name="Shape 17"/>
          <p:cNvSpPr/>
          <p:nvPr/>
        </p:nvSpPr>
        <p:spPr>
          <a:xfrm>
            <a:off x="457200" y="3035808"/>
            <a:ext cx="777240" cy="566928"/>
          </a:xfrm>
          <a:prstGeom prst="rect">
            <a:avLst/>
          </a:prstGeom>
          <a:solidFill>
            <a:srgbClr val="2E5496"/>
          </a:solidFill>
          <a:ln w="12700">
            <a:solidFill>
              <a:srgbClr val="2E5496"/>
            </a:solidFill>
            <a:prstDash val="solid"/>
          </a:ln>
        </p:spPr>
      </p:sp>
      <p:sp>
        <p:nvSpPr>
          <p:cNvPr id="21" name="Text 18"/>
          <p:cNvSpPr/>
          <p:nvPr/>
        </p:nvSpPr>
        <p:spPr>
          <a:xfrm>
            <a:off x="457200" y="3035808"/>
            <a:ext cx="77724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v.1b</a:t>
            </a:r>
            <a:endParaRPr lang="en-US" sz="1100" dirty="0"/>
          </a:p>
        </p:txBody>
      </p:sp>
      <p:sp>
        <p:nvSpPr>
          <p:cNvPr id="22" name="Shape 19"/>
          <p:cNvSpPr/>
          <p:nvPr/>
        </p:nvSpPr>
        <p:spPr>
          <a:xfrm>
            <a:off x="1234440" y="3035808"/>
            <a:ext cx="7452360" cy="566928"/>
          </a:xfrm>
          <a:prstGeom prst="rect">
            <a:avLst/>
          </a:prstGeom>
          <a:solidFill>
            <a:srgbClr val="FFFFFF"/>
          </a:solidFill>
          <a:ln w="9525">
            <a:solidFill>
              <a:srgbClr val="D5DCEA"/>
            </a:solidFill>
            <a:prstDash val="solid"/>
          </a:ln>
        </p:spPr>
      </p:sp>
      <p:sp>
        <p:nvSpPr>
          <p:cNvPr id="23" name="Text 20"/>
          <p:cNvSpPr/>
          <p:nvPr/>
        </p:nvSpPr>
        <p:spPr>
          <a:xfrm>
            <a:off x="1344168" y="3035808"/>
            <a:ext cx="4389120" cy="566928"/>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“Just as you received from us” — the old truths, repeated and practiced</a:t>
            </a:r>
            <a:endParaRPr lang="en-US" sz="1150" dirty="0"/>
          </a:p>
        </p:txBody>
      </p:sp>
      <p:sp>
        <p:nvSpPr>
          <p:cNvPr id="24" name="Text 21"/>
          <p:cNvSpPr/>
          <p:nvPr/>
        </p:nvSpPr>
        <p:spPr>
          <a:xfrm>
            <a:off x="5806440" y="3035808"/>
            <a:ext cx="2788920" cy="56692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“Practice, man, practice”</a:t>
            </a:r>
            <a:endParaRPr lang="en-US" sz="1300" dirty="0"/>
          </a:p>
        </p:txBody>
      </p:sp>
      <p:sp>
        <p:nvSpPr>
          <p:cNvPr id="25" name="Shape 22"/>
          <p:cNvSpPr/>
          <p:nvPr/>
        </p:nvSpPr>
        <p:spPr>
          <a:xfrm>
            <a:off x="457200" y="3675888"/>
            <a:ext cx="777240" cy="566928"/>
          </a:xfrm>
          <a:prstGeom prst="rect">
            <a:avLst/>
          </a:prstGeom>
          <a:solidFill>
            <a:srgbClr val="375623"/>
          </a:solidFill>
          <a:ln w="12700">
            <a:solidFill>
              <a:srgbClr val="375623"/>
            </a:solidFill>
            <a:prstDash val="solid"/>
          </a:ln>
        </p:spPr>
      </p:sp>
      <p:sp>
        <p:nvSpPr>
          <p:cNvPr id="26" name="Text 23"/>
          <p:cNvSpPr/>
          <p:nvPr/>
        </p:nvSpPr>
        <p:spPr>
          <a:xfrm>
            <a:off x="457200" y="3675888"/>
            <a:ext cx="77724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v.2</a:t>
            </a:r>
            <a:endParaRPr lang="en-US" sz="1100" dirty="0"/>
          </a:p>
        </p:txBody>
      </p:sp>
      <p:sp>
        <p:nvSpPr>
          <p:cNvPr id="27" name="Shape 24"/>
          <p:cNvSpPr/>
          <p:nvPr/>
        </p:nvSpPr>
        <p:spPr>
          <a:xfrm>
            <a:off x="1234440" y="3675888"/>
            <a:ext cx="7452360" cy="566928"/>
          </a:xfrm>
          <a:prstGeom prst="rect">
            <a:avLst/>
          </a:prstGeom>
          <a:solidFill>
            <a:srgbClr val="F2F6FC"/>
          </a:solidFill>
          <a:ln w="9525">
            <a:solidFill>
              <a:srgbClr val="D5DCEA"/>
            </a:solidFill>
            <a:prstDash val="solid"/>
          </a:ln>
        </p:spPr>
      </p:sp>
      <p:sp>
        <p:nvSpPr>
          <p:cNvPr id="28" name="Text 25"/>
          <p:cNvSpPr/>
          <p:nvPr/>
        </p:nvSpPr>
        <p:spPr>
          <a:xfrm>
            <a:off x="1344168" y="3675888"/>
            <a:ext cx="4389120" cy="566928"/>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“The commandments we gave you through the Lord Jesus”</a:t>
            </a:r>
            <a:endParaRPr lang="en-US" sz="1150" dirty="0"/>
          </a:p>
        </p:txBody>
      </p:sp>
      <p:sp>
        <p:nvSpPr>
          <p:cNvPr id="29" name="Text 26"/>
          <p:cNvSpPr/>
          <p:nvPr/>
        </p:nvSpPr>
        <p:spPr>
          <a:xfrm>
            <a:off x="5806440" y="3675888"/>
            <a:ext cx="2788920" cy="56692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taught in a few months, c. AD 51</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Three phases of sanctification</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4:3 · II.A.1 — The need for sanctification</a:t>
            </a:r>
            <a:endParaRPr lang="en-US" sz="1200" dirty="0"/>
          </a:p>
        </p:txBody>
      </p:sp>
      <p:sp>
        <p:nvSpPr>
          <p:cNvPr id="5" name="Shape 2"/>
          <p:cNvSpPr/>
          <p:nvPr/>
        </p:nvSpPr>
        <p:spPr>
          <a:xfrm>
            <a:off x="457200" y="1188720"/>
            <a:ext cx="2602992" cy="1965960"/>
          </a:xfrm>
          <a:prstGeom prst="roundRect">
            <a:avLst>
              <a:gd name="adj" fmla="val 2791"/>
            </a:avLst>
          </a:prstGeom>
          <a:solidFill>
            <a:srgbClr val="F2F6FC"/>
          </a:solidFill>
          <a:ln w="9525">
            <a:solidFill>
              <a:srgbClr val="D5DCEA"/>
            </a:solidFill>
            <a:prstDash val="solid"/>
          </a:ln>
        </p:spPr>
      </p:sp>
      <p:sp>
        <p:nvSpPr>
          <p:cNvPr id="6" name="Shape 3"/>
          <p:cNvSpPr/>
          <p:nvPr/>
        </p:nvSpPr>
        <p:spPr>
          <a:xfrm>
            <a:off x="1557528" y="1298448"/>
            <a:ext cx="402336" cy="402336"/>
          </a:xfrm>
          <a:prstGeom prst="ellipse">
            <a:avLst/>
          </a:prstGeom>
          <a:solidFill>
            <a:srgbClr val="2E5496"/>
          </a:solidFill>
          <a:ln w="12700">
            <a:solidFill>
              <a:srgbClr val="2E5496"/>
            </a:solidFill>
            <a:prstDash val="solid"/>
          </a:ln>
        </p:spPr>
      </p:sp>
      <p:sp>
        <p:nvSpPr>
          <p:cNvPr id="7" name="Text 4"/>
          <p:cNvSpPr/>
          <p:nvPr/>
        </p:nvSpPr>
        <p:spPr>
          <a:xfrm>
            <a:off x="1557528"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8" name="Text 5"/>
          <p:cNvSpPr/>
          <p:nvPr/>
        </p:nvSpPr>
        <p:spPr>
          <a:xfrm>
            <a:off x="530352" y="1773936"/>
            <a:ext cx="2456688"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From the penalty</a:t>
            </a:r>
            <a:endParaRPr lang="en-US" sz="1150" dirty="0"/>
          </a:p>
        </p:txBody>
      </p:sp>
      <p:sp>
        <p:nvSpPr>
          <p:cNvPr id="9" name="Text 6"/>
          <p:cNvSpPr/>
          <p:nvPr/>
        </p:nvSpPr>
        <p:spPr>
          <a:xfrm>
            <a:off x="530352" y="2157984"/>
            <a:ext cx="2456688" cy="61264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At salvation — positional, permanent and complete</a:t>
            </a:r>
            <a:endParaRPr lang="en-US" sz="1150" dirty="0"/>
          </a:p>
        </p:txBody>
      </p:sp>
      <p:sp>
        <p:nvSpPr>
          <p:cNvPr id="10" name="Text 7"/>
          <p:cNvSpPr/>
          <p:nvPr/>
        </p:nvSpPr>
        <p:spPr>
          <a:xfrm>
            <a:off x="530352" y="2770632"/>
            <a:ext cx="2456688"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past</a:t>
            </a:r>
            <a:endParaRPr lang="en-US" sz="900" dirty="0"/>
          </a:p>
        </p:txBody>
      </p:sp>
      <p:sp>
        <p:nvSpPr>
          <p:cNvPr id="11" name="Shape 8"/>
          <p:cNvSpPr/>
          <p:nvPr/>
        </p:nvSpPr>
        <p:spPr>
          <a:xfrm>
            <a:off x="3064764" y="2052828"/>
            <a:ext cx="201168" cy="237744"/>
          </a:xfrm>
          <a:prstGeom prst="rightArrow">
            <a:avLst/>
          </a:prstGeom>
          <a:solidFill>
            <a:srgbClr val="6B7280"/>
          </a:solidFill>
          <a:ln w="12700">
            <a:solidFill>
              <a:srgbClr val="6B7280"/>
            </a:solidFill>
            <a:prstDash val="solid"/>
          </a:ln>
        </p:spPr>
      </p:sp>
      <p:sp>
        <p:nvSpPr>
          <p:cNvPr id="12" name="Shape 9"/>
          <p:cNvSpPr/>
          <p:nvPr/>
        </p:nvSpPr>
        <p:spPr>
          <a:xfrm>
            <a:off x="3270504" y="1188720"/>
            <a:ext cx="2602992" cy="1965960"/>
          </a:xfrm>
          <a:prstGeom prst="roundRect">
            <a:avLst>
              <a:gd name="adj" fmla="val 2791"/>
            </a:avLst>
          </a:prstGeom>
          <a:solidFill>
            <a:srgbClr val="1F3864"/>
          </a:solidFill>
          <a:ln w="9525">
            <a:solidFill>
              <a:srgbClr val="1F3864"/>
            </a:solidFill>
            <a:prstDash val="solid"/>
          </a:ln>
        </p:spPr>
      </p:sp>
      <p:sp>
        <p:nvSpPr>
          <p:cNvPr id="13" name="Shape 10"/>
          <p:cNvSpPr/>
          <p:nvPr/>
        </p:nvSpPr>
        <p:spPr>
          <a:xfrm>
            <a:off x="4370832" y="1298448"/>
            <a:ext cx="402336" cy="402336"/>
          </a:xfrm>
          <a:prstGeom prst="ellipse">
            <a:avLst/>
          </a:prstGeom>
          <a:solidFill>
            <a:srgbClr val="FFFFFF"/>
          </a:solidFill>
          <a:ln w="12700">
            <a:solidFill>
              <a:srgbClr val="FFFFFF"/>
            </a:solidFill>
            <a:prstDash val="solid"/>
          </a:ln>
        </p:spPr>
      </p:sp>
      <p:sp>
        <p:nvSpPr>
          <p:cNvPr id="14" name="Text 11"/>
          <p:cNvSpPr/>
          <p:nvPr/>
        </p:nvSpPr>
        <p:spPr>
          <a:xfrm>
            <a:off x="4370832" y="1298448"/>
            <a:ext cx="402336" cy="402336"/>
          </a:xfrm>
          <a:prstGeom prst="rect">
            <a:avLst/>
          </a:prstGeom>
          <a:noFill/>
          <a:ln/>
        </p:spPr>
        <p:txBody>
          <a:bodyPr wrap="square" lIns="0" tIns="0" rIns="0" bIns="0" rtlCol="0" anchor="ctr"/>
          <a:lstStyle/>
          <a:p>
            <a:pPr algn="ctr" indent="0" marL="0">
              <a:buNone/>
            </a:pPr>
            <a:r>
              <a:rPr lang="en-US" sz="1300" b="1" dirty="0">
                <a:solidFill>
                  <a:srgbClr val="1F3864"/>
                </a:solidFill>
                <a:latin typeface="Arial" pitchFamily="34" charset="0"/>
                <a:ea typeface="Arial" pitchFamily="34" charset="-122"/>
                <a:cs typeface="Arial" pitchFamily="34" charset="-120"/>
              </a:rPr>
              <a:t>B</a:t>
            </a:r>
            <a:endParaRPr lang="en-US" sz="1300" dirty="0"/>
          </a:p>
        </p:txBody>
      </p:sp>
      <p:sp>
        <p:nvSpPr>
          <p:cNvPr id="15" name="Text 12"/>
          <p:cNvSpPr/>
          <p:nvPr/>
        </p:nvSpPr>
        <p:spPr>
          <a:xfrm>
            <a:off x="3343656" y="1773936"/>
            <a:ext cx="2456688"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From the power</a:t>
            </a:r>
            <a:endParaRPr lang="en-US" sz="1150" dirty="0"/>
          </a:p>
        </p:txBody>
      </p:sp>
      <p:sp>
        <p:nvSpPr>
          <p:cNvPr id="16" name="Text 13"/>
          <p:cNvSpPr/>
          <p:nvPr/>
        </p:nvSpPr>
        <p:spPr>
          <a:xfrm>
            <a:off x="3343656" y="2157984"/>
            <a:ext cx="2456688" cy="612648"/>
          </a:xfrm>
          <a:prstGeom prst="rect">
            <a:avLst/>
          </a:prstGeom>
          <a:noFill/>
          <a:ln/>
        </p:spPr>
        <p:txBody>
          <a:bodyPr wrap="square" lIns="0" tIns="0" rIns="0" bIns="0" rtlCol="0" anchor="t"/>
          <a:lstStyle/>
          <a:p>
            <a:pPr algn="ctr" indent="0" marL="0">
              <a:buNone/>
            </a:pPr>
            <a:r>
              <a:rPr lang="en-US" sz="1150" dirty="0">
                <a:solidFill>
                  <a:srgbClr val="FFFFFF"/>
                </a:solidFill>
                <a:latin typeface="Arial" pitchFamily="34" charset="0"/>
                <a:ea typeface="Arial" pitchFamily="34" charset="-122"/>
                <a:cs typeface="Arial" pitchFamily="34" charset="-120"/>
              </a:rPr>
              <a:t>An ongoing process in this life — Paul’s focus here</a:t>
            </a:r>
            <a:endParaRPr lang="en-US" sz="1150" dirty="0"/>
          </a:p>
        </p:txBody>
      </p:sp>
      <p:sp>
        <p:nvSpPr>
          <p:cNvPr id="17" name="Text 14"/>
          <p:cNvSpPr/>
          <p:nvPr/>
        </p:nvSpPr>
        <p:spPr>
          <a:xfrm>
            <a:off x="3343656" y="2770632"/>
            <a:ext cx="2456688" cy="329184"/>
          </a:xfrm>
          <a:prstGeom prst="rect">
            <a:avLst/>
          </a:prstGeom>
          <a:noFill/>
          <a:ln/>
        </p:spPr>
        <p:txBody>
          <a:bodyPr wrap="square" lIns="0" tIns="0" rIns="0" bIns="0" rtlCol="0" anchor="b"/>
          <a:lstStyle/>
          <a:p>
            <a:pPr algn="ctr" indent="0" marL="0">
              <a:buNone/>
            </a:pPr>
            <a:r>
              <a:rPr lang="en-US" sz="900" i="1" dirty="0">
                <a:solidFill>
                  <a:srgbClr val="DCE4F2"/>
                </a:solidFill>
                <a:latin typeface="Arial" pitchFamily="34" charset="0"/>
                <a:ea typeface="Arial" pitchFamily="34" charset="-122"/>
                <a:cs typeface="Arial" pitchFamily="34" charset="-120"/>
              </a:rPr>
              <a:t>present · progressive</a:t>
            </a:r>
            <a:endParaRPr lang="en-US" sz="900" dirty="0"/>
          </a:p>
        </p:txBody>
      </p:sp>
      <p:sp>
        <p:nvSpPr>
          <p:cNvPr id="18" name="Shape 15"/>
          <p:cNvSpPr/>
          <p:nvPr/>
        </p:nvSpPr>
        <p:spPr>
          <a:xfrm>
            <a:off x="5878068" y="2052828"/>
            <a:ext cx="201168" cy="237744"/>
          </a:xfrm>
          <a:prstGeom prst="rightArrow">
            <a:avLst/>
          </a:prstGeom>
          <a:solidFill>
            <a:srgbClr val="6B7280"/>
          </a:solidFill>
          <a:ln w="12700">
            <a:solidFill>
              <a:srgbClr val="6B7280"/>
            </a:solidFill>
            <a:prstDash val="solid"/>
          </a:ln>
        </p:spPr>
      </p:sp>
      <p:sp>
        <p:nvSpPr>
          <p:cNvPr id="19" name="Shape 16"/>
          <p:cNvSpPr/>
          <p:nvPr/>
        </p:nvSpPr>
        <p:spPr>
          <a:xfrm>
            <a:off x="6083808" y="1188720"/>
            <a:ext cx="2602992" cy="1965960"/>
          </a:xfrm>
          <a:prstGeom prst="roundRect">
            <a:avLst>
              <a:gd name="adj" fmla="val 2791"/>
            </a:avLst>
          </a:prstGeom>
          <a:solidFill>
            <a:srgbClr val="F2F6FC"/>
          </a:solidFill>
          <a:ln w="9525">
            <a:solidFill>
              <a:srgbClr val="D5DCEA"/>
            </a:solidFill>
            <a:prstDash val="solid"/>
          </a:ln>
        </p:spPr>
      </p:sp>
      <p:sp>
        <p:nvSpPr>
          <p:cNvPr id="20" name="Shape 17"/>
          <p:cNvSpPr/>
          <p:nvPr/>
        </p:nvSpPr>
        <p:spPr>
          <a:xfrm>
            <a:off x="7184136" y="1298448"/>
            <a:ext cx="402336" cy="402336"/>
          </a:xfrm>
          <a:prstGeom prst="ellipse">
            <a:avLst/>
          </a:prstGeom>
          <a:solidFill>
            <a:srgbClr val="2E5496"/>
          </a:solidFill>
          <a:ln w="12700">
            <a:solidFill>
              <a:srgbClr val="2E5496"/>
            </a:solidFill>
            <a:prstDash val="solid"/>
          </a:ln>
        </p:spPr>
      </p:sp>
      <p:sp>
        <p:nvSpPr>
          <p:cNvPr id="21" name="Text 18"/>
          <p:cNvSpPr/>
          <p:nvPr/>
        </p:nvSpPr>
        <p:spPr>
          <a:xfrm>
            <a:off x="7184136"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a:t>
            </a:r>
            <a:endParaRPr lang="en-US" sz="1300" dirty="0"/>
          </a:p>
        </p:txBody>
      </p:sp>
      <p:sp>
        <p:nvSpPr>
          <p:cNvPr id="22" name="Text 19"/>
          <p:cNvSpPr/>
          <p:nvPr/>
        </p:nvSpPr>
        <p:spPr>
          <a:xfrm>
            <a:off x="6156960" y="1773936"/>
            <a:ext cx="2456688"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From the presence</a:t>
            </a:r>
            <a:endParaRPr lang="en-US" sz="1150" dirty="0"/>
          </a:p>
        </p:txBody>
      </p:sp>
      <p:sp>
        <p:nvSpPr>
          <p:cNvPr id="23" name="Text 20"/>
          <p:cNvSpPr/>
          <p:nvPr/>
        </p:nvSpPr>
        <p:spPr>
          <a:xfrm>
            <a:off x="6156960" y="2157984"/>
            <a:ext cx="2456688" cy="61264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At death or the Rapture — changed, like Him (1 Cor 15)</a:t>
            </a:r>
            <a:endParaRPr lang="en-US" sz="1150" dirty="0"/>
          </a:p>
        </p:txBody>
      </p:sp>
      <p:sp>
        <p:nvSpPr>
          <p:cNvPr id="24" name="Text 21"/>
          <p:cNvSpPr/>
          <p:nvPr/>
        </p:nvSpPr>
        <p:spPr>
          <a:xfrm>
            <a:off x="6156960" y="2770632"/>
            <a:ext cx="2456688"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future</a:t>
            </a:r>
            <a:endParaRPr lang="en-US" sz="900" dirty="0"/>
          </a:p>
        </p:txBody>
      </p:sp>
      <p:sp>
        <p:nvSpPr>
          <p:cNvPr id="25" name="Shape 22"/>
          <p:cNvSpPr/>
          <p:nvPr/>
        </p:nvSpPr>
        <p:spPr>
          <a:xfrm>
            <a:off x="457200" y="3337560"/>
            <a:ext cx="4023360" cy="365760"/>
          </a:xfrm>
          <a:prstGeom prst="rect">
            <a:avLst/>
          </a:prstGeom>
          <a:solidFill>
            <a:srgbClr val="2E5496"/>
          </a:solidFill>
          <a:ln w="12700">
            <a:solidFill>
              <a:srgbClr val="2E5496"/>
            </a:solidFill>
            <a:prstDash val="solid"/>
          </a:ln>
        </p:spPr>
      </p:sp>
      <p:sp>
        <p:nvSpPr>
          <p:cNvPr id="26" name="Text 23"/>
          <p:cNvSpPr/>
          <p:nvPr/>
        </p:nvSpPr>
        <p:spPr>
          <a:xfrm>
            <a:off x="548640" y="3383280"/>
            <a:ext cx="3840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ἁγιασμός — sanctification</a:t>
            </a:r>
            <a:endParaRPr lang="en-US" sz="1200" dirty="0"/>
          </a:p>
        </p:txBody>
      </p:sp>
      <p:sp>
        <p:nvSpPr>
          <p:cNvPr id="27" name="Shape 24"/>
          <p:cNvSpPr/>
          <p:nvPr/>
        </p:nvSpPr>
        <p:spPr>
          <a:xfrm>
            <a:off x="457200" y="3703320"/>
            <a:ext cx="4023360" cy="914400"/>
          </a:xfrm>
          <a:prstGeom prst="rect">
            <a:avLst/>
          </a:prstGeom>
          <a:solidFill>
            <a:srgbClr val="F2F6FC"/>
          </a:solidFill>
          <a:ln w="9525">
            <a:solidFill>
              <a:srgbClr val="D5DCEA"/>
            </a:solidFill>
            <a:prstDash val="solid"/>
          </a:ln>
        </p:spPr>
      </p:sp>
      <p:sp>
        <p:nvSpPr>
          <p:cNvPr id="28" name="Text 25"/>
          <p:cNvSpPr/>
          <p:nvPr/>
        </p:nvSpPr>
        <p:spPr>
          <a:xfrm>
            <a:off x="548640" y="3776472"/>
            <a:ext cx="3840480" cy="78638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Set apart to God from the world</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Appears in vv.3, 4 and 7</a:t>
            </a:r>
            <a:endParaRPr lang="en-US" sz="1250" dirty="0"/>
          </a:p>
        </p:txBody>
      </p:sp>
      <p:sp>
        <p:nvSpPr>
          <p:cNvPr id="29" name="Shape 26"/>
          <p:cNvSpPr/>
          <p:nvPr/>
        </p:nvSpPr>
        <p:spPr>
          <a:xfrm>
            <a:off x="4663440" y="3337560"/>
            <a:ext cx="4023360" cy="365760"/>
          </a:xfrm>
          <a:prstGeom prst="rect">
            <a:avLst/>
          </a:prstGeom>
          <a:solidFill>
            <a:srgbClr val="6B7280"/>
          </a:solidFill>
          <a:ln w="12700">
            <a:solidFill>
              <a:srgbClr val="6B7280"/>
            </a:solidFill>
            <a:prstDash val="solid"/>
          </a:ln>
        </p:spPr>
      </p:sp>
      <p:sp>
        <p:nvSpPr>
          <p:cNvPr id="30" name="Text 27"/>
          <p:cNvSpPr/>
          <p:nvPr/>
        </p:nvSpPr>
        <p:spPr>
          <a:xfrm>
            <a:off x="4754880" y="3383280"/>
            <a:ext cx="3840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πορνεία — sexual immorality</a:t>
            </a:r>
            <a:endParaRPr lang="en-US" sz="1200" dirty="0"/>
          </a:p>
        </p:txBody>
      </p:sp>
      <p:sp>
        <p:nvSpPr>
          <p:cNvPr id="31" name="Shape 28"/>
          <p:cNvSpPr/>
          <p:nvPr/>
        </p:nvSpPr>
        <p:spPr>
          <a:xfrm>
            <a:off x="4663440" y="3703320"/>
            <a:ext cx="4023360" cy="914400"/>
          </a:xfrm>
          <a:prstGeom prst="rect">
            <a:avLst/>
          </a:prstGeom>
          <a:solidFill>
            <a:srgbClr val="F2F6FC"/>
          </a:solidFill>
          <a:ln w="9525">
            <a:solidFill>
              <a:srgbClr val="D5DCEA"/>
            </a:solidFill>
            <a:prstDash val="solid"/>
          </a:ln>
        </p:spPr>
      </p:sp>
      <p:sp>
        <p:nvSpPr>
          <p:cNvPr id="32" name="Text 29"/>
          <p:cNvSpPr/>
          <p:nvPr/>
        </p:nvSpPr>
        <p:spPr>
          <a:xfrm>
            <a:off x="4754880" y="3776472"/>
            <a:ext cx="3840480" cy="78638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All sexual sin outside marriage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Then condoned — even in worship</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A sin against the whole Godhead</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4:3–8 · II.A–C — Our purity</a:t>
            </a:r>
            <a:endParaRPr lang="en-US" sz="1200" dirty="0"/>
          </a:p>
        </p:txBody>
      </p:sp>
      <p:sp>
        <p:nvSpPr>
          <p:cNvPr id="5" name="Shape 2"/>
          <p:cNvSpPr/>
          <p:nvPr/>
        </p:nvSpPr>
        <p:spPr>
          <a:xfrm>
            <a:off x="457200" y="1188720"/>
            <a:ext cx="2621280" cy="566928"/>
          </a:xfrm>
          <a:prstGeom prst="rect">
            <a:avLst/>
          </a:prstGeom>
          <a:solidFill>
            <a:srgbClr val="2E5496"/>
          </a:solidFill>
          <a:ln w="12700">
            <a:solidFill>
              <a:srgbClr val="2E5496"/>
            </a:solidFill>
            <a:prstDash val="solid"/>
          </a:ln>
        </p:spPr>
      </p:sp>
      <p:sp>
        <p:nvSpPr>
          <p:cNvPr id="6" name="Text 3"/>
          <p:cNvSpPr/>
          <p:nvPr/>
        </p:nvSpPr>
        <p:spPr>
          <a:xfrm>
            <a:off x="548640" y="1234440"/>
            <a:ext cx="24384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Against the Father · vv.3–5</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σκεῦος</a:t>
            </a:r>
            <a:pPr indent="0" marL="0">
              <a:buNone/>
            </a:pPr>
            <a:r>
              <a:rPr lang="en-US" sz="850" dirty="0">
                <a:solidFill>
                  <a:srgbClr val="DCE4F2"/>
                </a:solidFill>
                <a:latin typeface="Arial" pitchFamily="34" charset="0"/>
                <a:ea typeface="Arial" pitchFamily="34" charset="-122"/>
                <a:cs typeface="Arial" pitchFamily="34" charset="-120"/>
              </a:rPr>
              <a:t>  vessel · the body</a:t>
            </a:r>
            <a:endParaRPr lang="en-US" sz="1200" dirty="0"/>
          </a:p>
        </p:txBody>
      </p:sp>
      <p:sp>
        <p:nvSpPr>
          <p:cNvPr id="7" name="Shape 4"/>
          <p:cNvSpPr/>
          <p:nvPr/>
        </p:nvSpPr>
        <p:spPr>
          <a:xfrm>
            <a:off x="457200" y="1755648"/>
            <a:ext cx="2621280" cy="1947672"/>
          </a:xfrm>
          <a:prstGeom prst="rect">
            <a:avLst/>
          </a:prstGeom>
          <a:solidFill>
            <a:srgbClr val="F2F6FC"/>
          </a:solidFill>
          <a:ln w="9525">
            <a:solidFill>
              <a:srgbClr val="D5DCEA"/>
            </a:solidFill>
            <a:prstDash val="solid"/>
          </a:ln>
        </p:spPr>
      </p:sp>
      <p:sp>
        <p:nvSpPr>
          <p:cNvPr id="8" name="Text 5"/>
          <p:cNvSpPr/>
          <p:nvPr/>
        </p:nvSpPr>
        <p:spPr>
          <a:xfrm>
            <a:off x="548640" y="1828800"/>
            <a:ext cx="2438400" cy="181965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God’s will: your sanctification</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Control your own body</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Not like the Gentiles who don’t know God</a:t>
            </a:r>
            <a:endParaRPr lang="en-US" sz="1250" dirty="0"/>
          </a:p>
        </p:txBody>
      </p:sp>
      <p:sp>
        <p:nvSpPr>
          <p:cNvPr id="9" name="Shape 6"/>
          <p:cNvSpPr/>
          <p:nvPr/>
        </p:nvSpPr>
        <p:spPr>
          <a:xfrm>
            <a:off x="3261360" y="1188720"/>
            <a:ext cx="2621280" cy="566928"/>
          </a:xfrm>
          <a:prstGeom prst="rect">
            <a:avLst/>
          </a:prstGeom>
          <a:solidFill>
            <a:srgbClr val="2E5496"/>
          </a:solidFill>
          <a:ln w="12700">
            <a:solidFill>
              <a:srgbClr val="2E5496"/>
            </a:solidFill>
            <a:prstDash val="solid"/>
          </a:ln>
        </p:spPr>
      </p:sp>
      <p:sp>
        <p:nvSpPr>
          <p:cNvPr id="10" name="Text 7"/>
          <p:cNvSpPr/>
          <p:nvPr/>
        </p:nvSpPr>
        <p:spPr>
          <a:xfrm>
            <a:off x="3352800" y="1234440"/>
            <a:ext cx="24384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Against the Son · v.6</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ὑπερβαίνειν</a:t>
            </a:r>
            <a:pPr indent="0" marL="0">
              <a:buNone/>
            </a:pPr>
            <a:r>
              <a:rPr lang="en-US" sz="850" dirty="0">
                <a:solidFill>
                  <a:srgbClr val="DCE4F2"/>
                </a:solidFill>
                <a:latin typeface="Arial" pitchFamily="34" charset="0"/>
                <a:ea typeface="Arial" pitchFamily="34" charset="-122"/>
                <a:cs typeface="Arial" pitchFamily="34" charset="-120"/>
              </a:rPr>
              <a:t>  to overstep</a:t>
            </a:r>
            <a:endParaRPr lang="en-US" sz="1200" dirty="0"/>
          </a:p>
        </p:txBody>
      </p:sp>
      <p:sp>
        <p:nvSpPr>
          <p:cNvPr id="11" name="Shape 8"/>
          <p:cNvSpPr/>
          <p:nvPr/>
        </p:nvSpPr>
        <p:spPr>
          <a:xfrm>
            <a:off x="3261360" y="1755648"/>
            <a:ext cx="2621280" cy="1947672"/>
          </a:xfrm>
          <a:prstGeom prst="rect">
            <a:avLst/>
          </a:prstGeom>
          <a:solidFill>
            <a:srgbClr val="F2F6FC"/>
          </a:solidFill>
          <a:ln w="9525">
            <a:solidFill>
              <a:srgbClr val="D5DCEA"/>
            </a:solidFill>
            <a:prstDash val="solid"/>
          </a:ln>
        </p:spPr>
      </p:sp>
      <p:sp>
        <p:nvSpPr>
          <p:cNvPr id="12" name="Text 9"/>
          <p:cNvSpPr/>
          <p:nvPr/>
        </p:nvSpPr>
        <p:spPr>
          <a:xfrm>
            <a:off x="3352800" y="1828800"/>
            <a:ext cx="2438400" cy="181965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Going beyond the boundary</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Defrauding a brother — πλεονεκτεῖν</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 Lord is the avenger — ἔκδικος</a:t>
            </a:r>
            <a:endParaRPr lang="en-US" sz="1250" dirty="0"/>
          </a:p>
        </p:txBody>
      </p:sp>
      <p:sp>
        <p:nvSpPr>
          <p:cNvPr id="13" name="Shape 10"/>
          <p:cNvSpPr/>
          <p:nvPr/>
        </p:nvSpPr>
        <p:spPr>
          <a:xfrm>
            <a:off x="6065520" y="1188720"/>
            <a:ext cx="2621280" cy="566928"/>
          </a:xfrm>
          <a:prstGeom prst="rect">
            <a:avLst/>
          </a:prstGeom>
          <a:solidFill>
            <a:srgbClr val="375623"/>
          </a:solidFill>
          <a:ln w="12700">
            <a:solidFill>
              <a:srgbClr val="375623"/>
            </a:solidFill>
            <a:prstDash val="solid"/>
          </a:ln>
        </p:spPr>
      </p:sp>
      <p:sp>
        <p:nvSpPr>
          <p:cNvPr id="14" name="Text 11"/>
          <p:cNvSpPr/>
          <p:nvPr/>
        </p:nvSpPr>
        <p:spPr>
          <a:xfrm>
            <a:off x="6156960" y="1234440"/>
            <a:ext cx="24384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Against the Spirit · vv.7–8</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ἁγιασμός</a:t>
            </a:r>
            <a:pPr indent="0" marL="0">
              <a:buNone/>
            </a:pPr>
            <a:r>
              <a:rPr lang="en-US" sz="850" dirty="0">
                <a:solidFill>
                  <a:srgbClr val="DCE4F2"/>
                </a:solidFill>
                <a:latin typeface="Arial" pitchFamily="34" charset="0"/>
                <a:ea typeface="Arial" pitchFamily="34" charset="-122"/>
                <a:cs typeface="Arial" pitchFamily="34" charset="-120"/>
              </a:rPr>
              <a:t>  called in holiness</a:t>
            </a:r>
            <a:endParaRPr lang="en-US" sz="1200" dirty="0"/>
          </a:p>
        </p:txBody>
      </p:sp>
      <p:sp>
        <p:nvSpPr>
          <p:cNvPr id="15" name="Shape 12"/>
          <p:cNvSpPr/>
          <p:nvPr/>
        </p:nvSpPr>
        <p:spPr>
          <a:xfrm>
            <a:off x="6065520" y="1755648"/>
            <a:ext cx="2621280" cy="1947672"/>
          </a:xfrm>
          <a:prstGeom prst="rect">
            <a:avLst/>
          </a:prstGeom>
          <a:solidFill>
            <a:srgbClr val="F2F6FC"/>
          </a:solidFill>
          <a:ln w="9525">
            <a:solidFill>
              <a:srgbClr val="D5DCEA"/>
            </a:solidFill>
            <a:prstDash val="solid"/>
          </a:ln>
        </p:spPr>
      </p:sp>
      <p:sp>
        <p:nvSpPr>
          <p:cNvPr id="16" name="Text 13"/>
          <p:cNvSpPr/>
          <p:nvPr/>
        </p:nvSpPr>
        <p:spPr>
          <a:xfrm>
            <a:off x="6156960" y="1828800"/>
            <a:ext cx="2438400" cy="181965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Not called to uncleanness</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Rejecting this is rejecting God</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Who has given us His Holy Spirit</a:t>
            </a:r>
            <a:endParaRPr lang="en-US" sz="1250" dirty="0"/>
          </a:p>
        </p:txBody>
      </p:sp>
      <p:sp>
        <p:nvSpPr>
          <p:cNvPr id="17" name="Shape 14"/>
          <p:cNvSpPr/>
          <p:nvPr/>
        </p:nvSpPr>
        <p:spPr>
          <a:xfrm>
            <a:off x="457200" y="3886200"/>
            <a:ext cx="8229600" cy="731520"/>
          </a:xfrm>
          <a:prstGeom prst="roundRect">
            <a:avLst>
              <a:gd name="adj" fmla="val 7500"/>
            </a:avLst>
          </a:prstGeom>
          <a:solidFill>
            <a:srgbClr val="1F3864"/>
          </a:solidFill>
          <a:ln w="12700">
            <a:solidFill>
              <a:srgbClr val="1F3864"/>
            </a:solidFill>
            <a:prstDash val="solid"/>
          </a:ln>
        </p:spPr>
      </p:sp>
      <p:sp>
        <p:nvSpPr>
          <p:cNvPr id="18" name="Text 15"/>
          <p:cNvSpPr/>
          <p:nvPr/>
        </p:nvSpPr>
        <p:spPr>
          <a:xfrm>
            <a:off x="621792" y="3886200"/>
            <a:ext cx="7900416" cy="73152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When God says do this, or do not do this, He has already given us the ability to obey. We cannot say, “I can’t do it.”</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In Adam or in Christ</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4:7 · II.C.1 — The rule</a:t>
            </a:r>
            <a:endParaRPr lang="en-US" sz="1200" dirty="0"/>
          </a:p>
        </p:txBody>
      </p:sp>
      <p:sp>
        <p:nvSpPr>
          <p:cNvPr id="5" name="Shape 2"/>
          <p:cNvSpPr/>
          <p:nvPr/>
        </p:nvSpPr>
        <p:spPr>
          <a:xfrm>
            <a:off x="457200" y="1188720"/>
            <a:ext cx="3931920" cy="365760"/>
          </a:xfrm>
          <a:prstGeom prst="rect">
            <a:avLst/>
          </a:prstGeom>
          <a:solidFill>
            <a:srgbClr val="6B7280"/>
          </a:solidFill>
          <a:ln w="12700">
            <a:solidFill>
              <a:srgbClr val="6B7280"/>
            </a:solidFill>
            <a:prstDash val="solid"/>
          </a:ln>
        </p:spPr>
      </p:sp>
      <p:sp>
        <p:nvSpPr>
          <p:cNvPr id="6" name="Text 3"/>
          <p:cNvSpPr/>
          <p:nvPr/>
        </p:nvSpPr>
        <p:spPr>
          <a:xfrm>
            <a:off x="548640" y="1234440"/>
            <a:ext cx="374904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In Adam</a:t>
            </a:r>
            <a:endParaRPr lang="en-US" sz="1200" dirty="0"/>
          </a:p>
        </p:txBody>
      </p:sp>
      <p:sp>
        <p:nvSpPr>
          <p:cNvPr id="7" name="Shape 4"/>
          <p:cNvSpPr/>
          <p:nvPr/>
        </p:nvSpPr>
        <p:spPr>
          <a:xfrm>
            <a:off x="457200" y="1554480"/>
            <a:ext cx="3931920" cy="1874520"/>
          </a:xfrm>
          <a:prstGeom prst="rect">
            <a:avLst/>
          </a:prstGeom>
          <a:solidFill>
            <a:srgbClr val="F2F6FC"/>
          </a:solidFill>
          <a:ln w="9525">
            <a:solidFill>
              <a:srgbClr val="D5DCEA"/>
            </a:solidFill>
            <a:prstDash val="solid"/>
          </a:ln>
        </p:spPr>
      </p:sp>
      <p:sp>
        <p:nvSpPr>
          <p:cNvPr id="8" name="Text 5"/>
          <p:cNvSpPr/>
          <p:nvPr/>
        </p:nvSpPr>
        <p:spPr>
          <a:xfrm>
            <a:off x="548640" y="1627632"/>
            <a:ext cx="3749040" cy="174650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Controlled by the Fall</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Uncleanness — by natural birth</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 natural man delights in vileness</a:t>
            </a:r>
            <a:endParaRPr lang="en-US" sz="1250" dirty="0"/>
          </a:p>
        </p:txBody>
      </p:sp>
      <p:sp>
        <p:nvSpPr>
          <p:cNvPr id="9" name="Shape 6"/>
          <p:cNvSpPr/>
          <p:nvPr/>
        </p:nvSpPr>
        <p:spPr>
          <a:xfrm>
            <a:off x="4754880" y="1188720"/>
            <a:ext cx="3931920" cy="365760"/>
          </a:xfrm>
          <a:prstGeom prst="rect">
            <a:avLst/>
          </a:prstGeom>
          <a:solidFill>
            <a:srgbClr val="375623"/>
          </a:solidFill>
          <a:ln w="12700">
            <a:solidFill>
              <a:srgbClr val="375623"/>
            </a:solidFill>
            <a:prstDash val="solid"/>
          </a:ln>
        </p:spPr>
      </p:sp>
      <p:sp>
        <p:nvSpPr>
          <p:cNvPr id="10" name="Text 7"/>
          <p:cNvSpPr/>
          <p:nvPr/>
        </p:nvSpPr>
        <p:spPr>
          <a:xfrm>
            <a:off x="4846320" y="1234440"/>
            <a:ext cx="374904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In Christ</a:t>
            </a:r>
            <a:endParaRPr lang="en-US" sz="1200" dirty="0"/>
          </a:p>
        </p:txBody>
      </p:sp>
      <p:sp>
        <p:nvSpPr>
          <p:cNvPr id="11" name="Shape 8"/>
          <p:cNvSpPr/>
          <p:nvPr/>
        </p:nvSpPr>
        <p:spPr>
          <a:xfrm>
            <a:off x="4754880" y="1554480"/>
            <a:ext cx="3931920" cy="1874520"/>
          </a:xfrm>
          <a:prstGeom prst="rect">
            <a:avLst/>
          </a:prstGeom>
          <a:solidFill>
            <a:srgbClr val="F2F6FC"/>
          </a:solidFill>
          <a:ln w="9525">
            <a:solidFill>
              <a:srgbClr val="D5DCEA"/>
            </a:solidFill>
            <a:prstDash val="solid"/>
          </a:ln>
        </p:spPr>
      </p:sp>
      <p:sp>
        <p:nvSpPr>
          <p:cNvPr id="12" name="Text 9"/>
          <p:cNvSpPr/>
          <p:nvPr/>
        </p:nvSpPr>
        <p:spPr>
          <a:xfrm>
            <a:off x="4846320" y="1627632"/>
            <a:ext cx="3749040" cy="174650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Controlled by the Call</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Holiness — by the new birth</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 new man delights in virtue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 Spirit is in us (1 Cor 6:19–20)</a:t>
            </a:r>
            <a:endParaRPr lang="en-US" sz="1250" dirty="0"/>
          </a:p>
        </p:txBody>
      </p:sp>
      <p:sp>
        <p:nvSpPr>
          <p:cNvPr id="13" name="Text 10"/>
          <p:cNvSpPr/>
          <p:nvPr/>
        </p:nvSpPr>
        <p:spPr>
          <a:xfrm>
            <a:off x="4389120" y="2125980"/>
            <a:ext cx="365760" cy="365760"/>
          </a:xfrm>
          <a:prstGeom prst="rect">
            <a:avLst/>
          </a:prstGeom>
          <a:noFill/>
          <a:ln/>
        </p:spPr>
        <p:txBody>
          <a:bodyPr wrap="square" lIns="0" tIns="0" rIns="0" bIns="0" rtlCol="0" anchor="ctr"/>
          <a:lstStyle/>
          <a:p>
            <a:pPr algn="ctr" indent="0" marL="0">
              <a:buNone/>
            </a:pPr>
            <a:r>
              <a:rPr lang="en-US" sz="1100" b="1" dirty="0">
                <a:solidFill>
                  <a:srgbClr val="6B7280"/>
                </a:solidFill>
                <a:latin typeface="Arial" pitchFamily="34" charset="0"/>
                <a:ea typeface="Arial" pitchFamily="34" charset="-122"/>
                <a:cs typeface="Arial" pitchFamily="34" charset="-120"/>
              </a:rPr>
              <a:t>vs</a:t>
            </a:r>
            <a:endParaRPr lang="en-US" sz="1100" dirty="0"/>
          </a:p>
        </p:txBody>
      </p:sp>
      <p:sp>
        <p:nvSpPr>
          <p:cNvPr id="14" name="Shape 11"/>
          <p:cNvSpPr/>
          <p:nvPr/>
        </p:nvSpPr>
        <p:spPr>
          <a:xfrm>
            <a:off x="457200" y="3657600"/>
            <a:ext cx="8229600" cy="868680"/>
          </a:xfrm>
          <a:prstGeom prst="roundRect">
            <a:avLst>
              <a:gd name="adj" fmla="val 6316"/>
            </a:avLst>
          </a:prstGeom>
          <a:solidFill>
            <a:srgbClr val="1F3864"/>
          </a:solidFill>
          <a:ln w="12700">
            <a:solidFill>
              <a:srgbClr val="1F3864"/>
            </a:solidFill>
            <a:prstDash val="solid"/>
          </a:ln>
        </p:spPr>
      </p:sp>
      <p:sp>
        <p:nvSpPr>
          <p:cNvPr id="15" name="Text 12"/>
          <p:cNvSpPr/>
          <p:nvPr/>
        </p:nvSpPr>
        <p:spPr>
          <a:xfrm>
            <a:off x="621792" y="3657600"/>
            <a:ext cx="7900416" cy="868680"/>
          </a:xfrm>
          <a:prstGeom prst="rect">
            <a:avLst/>
          </a:prstGeom>
          <a:noFill/>
          <a:ln/>
        </p:spPr>
        <p:txBody>
          <a:bodyPr wrap="square" lIns="0" tIns="0" rIns="0" bIns="0" rtlCol="0" anchor="ctr"/>
          <a:lstStyle/>
          <a:p>
            <a:pPr indent="0" marL="0">
              <a:buNone/>
            </a:pPr>
            <a:r>
              <a:rPr lang="en-US" sz="1200" b="1" dirty="0">
                <a:solidFill>
                  <a:srgbClr val="C9D5EE"/>
                </a:solidFill>
                <a:latin typeface="Arial" pitchFamily="34" charset="0"/>
                <a:ea typeface="Arial" pitchFamily="34" charset="-122"/>
                <a:cs typeface="Arial" pitchFamily="34" charset="-120"/>
              </a:rPr>
              <a:t>John Phillips:  </a:t>
            </a:r>
            <a:pPr indent="0" marL="0">
              <a:buNone/>
            </a:pPr>
            <a:r>
              <a:rPr lang="en-US" sz="1200" dirty="0">
                <a:solidFill>
                  <a:srgbClr val="FFFFFF"/>
                </a:solidFill>
                <a:latin typeface="Arial" pitchFamily="34" charset="0"/>
                <a:ea typeface="Arial" pitchFamily="34" charset="-122"/>
                <a:cs typeface="Arial" pitchFamily="34" charset="-120"/>
              </a:rPr>
              <a:t>“In Adam we are controlled by the fall; in Christ we are controlled by the call.”  You are called by a holy God — therefore be holy.</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Taught by God to love</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4:9–10 · III — Our progress</a:t>
            </a:r>
            <a:endParaRPr lang="en-US" sz="1200" dirty="0"/>
          </a:p>
        </p:txBody>
      </p:sp>
      <p:sp>
        <p:nvSpPr>
          <p:cNvPr id="5" name="Shape 2"/>
          <p:cNvSpPr/>
          <p:nvPr/>
        </p:nvSpPr>
        <p:spPr>
          <a:xfrm>
            <a:off x="457200" y="1188720"/>
            <a:ext cx="2602992" cy="1691640"/>
          </a:xfrm>
          <a:prstGeom prst="roundRect">
            <a:avLst>
              <a:gd name="adj" fmla="val 3243"/>
            </a:avLst>
          </a:prstGeom>
          <a:solidFill>
            <a:srgbClr val="F2F6FC"/>
          </a:solidFill>
          <a:ln w="9525">
            <a:solidFill>
              <a:srgbClr val="D5DCEA"/>
            </a:solidFill>
            <a:prstDash val="solid"/>
          </a:ln>
        </p:spPr>
      </p:sp>
      <p:sp>
        <p:nvSpPr>
          <p:cNvPr id="6" name="Shape 3"/>
          <p:cNvSpPr/>
          <p:nvPr/>
        </p:nvSpPr>
        <p:spPr>
          <a:xfrm>
            <a:off x="1557528" y="1298448"/>
            <a:ext cx="402336" cy="402336"/>
          </a:xfrm>
          <a:prstGeom prst="ellipse">
            <a:avLst/>
          </a:prstGeom>
          <a:solidFill>
            <a:srgbClr val="2E5496"/>
          </a:solidFill>
          <a:ln w="12700">
            <a:solidFill>
              <a:srgbClr val="2E5496"/>
            </a:solidFill>
            <a:prstDash val="solid"/>
          </a:ln>
        </p:spPr>
      </p:sp>
      <p:sp>
        <p:nvSpPr>
          <p:cNvPr id="7" name="Text 4"/>
          <p:cNvSpPr/>
          <p:nvPr/>
        </p:nvSpPr>
        <p:spPr>
          <a:xfrm>
            <a:off x="1557528"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8" name="Text 5"/>
          <p:cNvSpPr/>
          <p:nvPr/>
        </p:nvSpPr>
        <p:spPr>
          <a:xfrm>
            <a:off x="530352" y="1773936"/>
            <a:ext cx="2456688"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Human</a:t>
            </a:r>
            <a:endParaRPr lang="en-US" sz="1150" dirty="0"/>
          </a:p>
        </p:txBody>
      </p:sp>
      <p:sp>
        <p:nvSpPr>
          <p:cNvPr id="9" name="Text 6"/>
          <p:cNvSpPr/>
          <p:nvPr/>
        </p:nvSpPr>
        <p:spPr>
          <a:xfrm>
            <a:off x="530352" y="2157984"/>
            <a:ext cx="2456688" cy="33832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Love those who love you</a:t>
            </a:r>
            <a:endParaRPr lang="en-US" sz="1150" dirty="0"/>
          </a:p>
        </p:txBody>
      </p:sp>
      <p:sp>
        <p:nvSpPr>
          <p:cNvPr id="10" name="Text 7"/>
          <p:cNvSpPr/>
          <p:nvPr/>
        </p:nvSpPr>
        <p:spPr>
          <a:xfrm>
            <a:off x="530352" y="2496312"/>
            <a:ext cx="2456688"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natural</a:t>
            </a:r>
            <a:endParaRPr lang="en-US" sz="900" dirty="0"/>
          </a:p>
        </p:txBody>
      </p:sp>
      <p:sp>
        <p:nvSpPr>
          <p:cNvPr id="11" name="Shape 8"/>
          <p:cNvSpPr/>
          <p:nvPr/>
        </p:nvSpPr>
        <p:spPr>
          <a:xfrm>
            <a:off x="3064764" y="1915668"/>
            <a:ext cx="201168" cy="237744"/>
          </a:xfrm>
          <a:prstGeom prst="rightArrow">
            <a:avLst/>
          </a:prstGeom>
          <a:solidFill>
            <a:srgbClr val="6B7280"/>
          </a:solidFill>
          <a:ln w="12700">
            <a:solidFill>
              <a:srgbClr val="6B7280"/>
            </a:solidFill>
            <a:prstDash val="solid"/>
          </a:ln>
        </p:spPr>
      </p:sp>
      <p:sp>
        <p:nvSpPr>
          <p:cNvPr id="12" name="Shape 9"/>
          <p:cNvSpPr/>
          <p:nvPr/>
        </p:nvSpPr>
        <p:spPr>
          <a:xfrm>
            <a:off x="3270504" y="1188720"/>
            <a:ext cx="2602992" cy="1691640"/>
          </a:xfrm>
          <a:prstGeom prst="roundRect">
            <a:avLst>
              <a:gd name="adj" fmla="val 3243"/>
            </a:avLst>
          </a:prstGeom>
          <a:solidFill>
            <a:srgbClr val="F2F6FC"/>
          </a:solidFill>
          <a:ln w="9525">
            <a:solidFill>
              <a:srgbClr val="D5DCEA"/>
            </a:solidFill>
            <a:prstDash val="solid"/>
          </a:ln>
        </p:spPr>
      </p:sp>
      <p:sp>
        <p:nvSpPr>
          <p:cNvPr id="13" name="Shape 10"/>
          <p:cNvSpPr/>
          <p:nvPr/>
        </p:nvSpPr>
        <p:spPr>
          <a:xfrm>
            <a:off x="4370832" y="1298448"/>
            <a:ext cx="402336" cy="402336"/>
          </a:xfrm>
          <a:prstGeom prst="ellipse">
            <a:avLst/>
          </a:prstGeom>
          <a:solidFill>
            <a:srgbClr val="2E5496"/>
          </a:solidFill>
          <a:ln w="12700">
            <a:solidFill>
              <a:srgbClr val="2E5496"/>
            </a:solidFill>
            <a:prstDash val="solid"/>
          </a:ln>
        </p:spPr>
      </p:sp>
      <p:sp>
        <p:nvSpPr>
          <p:cNvPr id="14" name="Text 11"/>
          <p:cNvSpPr/>
          <p:nvPr/>
        </p:nvSpPr>
        <p:spPr>
          <a:xfrm>
            <a:off x="4370832"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5" name="Text 12"/>
          <p:cNvSpPr/>
          <p:nvPr/>
        </p:nvSpPr>
        <p:spPr>
          <a:xfrm>
            <a:off x="3343656" y="1773936"/>
            <a:ext cx="2456688"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Demonic</a:t>
            </a:r>
            <a:endParaRPr lang="en-US" sz="1150" dirty="0"/>
          </a:p>
        </p:txBody>
      </p:sp>
      <p:sp>
        <p:nvSpPr>
          <p:cNvPr id="16" name="Text 13"/>
          <p:cNvSpPr/>
          <p:nvPr/>
        </p:nvSpPr>
        <p:spPr>
          <a:xfrm>
            <a:off x="3343656" y="2157984"/>
            <a:ext cx="2456688" cy="33832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Hate those who love you</a:t>
            </a:r>
            <a:endParaRPr lang="en-US" sz="1150" dirty="0"/>
          </a:p>
        </p:txBody>
      </p:sp>
      <p:sp>
        <p:nvSpPr>
          <p:cNvPr id="17" name="Text 14"/>
          <p:cNvSpPr/>
          <p:nvPr/>
        </p:nvSpPr>
        <p:spPr>
          <a:xfrm>
            <a:off x="3343656" y="2496312"/>
            <a:ext cx="2456688"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devilish</a:t>
            </a:r>
            <a:endParaRPr lang="en-US" sz="900" dirty="0"/>
          </a:p>
        </p:txBody>
      </p:sp>
      <p:sp>
        <p:nvSpPr>
          <p:cNvPr id="18" name="Shape 15"/>
          <p:cNvSpPr/>
          <p:nvPr/>
        </p:nvSpPr>
        <p:spPr>
          <a:xfrm>
            <a:off x="5878068" y="1915668"/>
            <a:ext cx="201168" cy="237744"/>
          </a:xfrm>
          <a:prstGeom prst="rightArrow">
            <a:avLst/>
          </a:prstGeom>
          <a:solidFill>
            <a:srgbClr val="6B7280"/>
          </a:solidFill>
          <a:ln w="12700">
            <a:solidFill>
              <a:srgbClr val="6B7280"/>
            </a:solidFill>
            <a:prstDash val="solid"/>
          </a:ln>
        </p:spPr>
      </p:sp>
      <p:sp>
        <p:nvSpPr>
          <p:cNvPr id="19" name="Shape 16"/>
          <p:cNvSpPr/>
          <p:nvPr/>
        </p:nvSpPr>
        <p:spPr>
          <a:xfrm>
            <a:off x="6083808" y="1188720"/>
            <a:ext cx="2602992" cy="1691640"/>
          </a:xfrm>
          <a:prstGeom prst="roundRect">
            <a:avLst>
              <a:gd name="adj" fmla="val 3243"/>
            </a:avLst>
          </a:prstGeom>
          <a:solidFill>
            <a:srgbClr val="1F3864"/>
          </a:solidFill>
          <a:ln w="9525">
            <a:solidFill>
              <a:srgbClr val="1F3864"/>
            </a:solidFill>
            <a:prstDash val="solid"/>
          </a:ln>
        </p:spPr>
      </p:sp>
      <p:sp>
        <p:nvSpPr>
          <p:cNvPr id="20" name="Shape 17"/>
          <p:cNvSpPr/>
          <p:nvPr/>
        </p:nvSpPr>
        <p:spPr>
          <a:xfrm>
            <a:off x="7184136" y="1298448"/>
            <a:ext cx="402336" cy="402336"/>
          </a:xfrm>
          <a:prstGeom prst="ellipse">
            <a:avLst/>
          </a:prstGeom>
          <a:solidFill>
            <a:srgbClr val="FFFFFF"/>
          </a:solidFill>
          <a:ln w="12700">
            <a:solidFill>
              <a:srgbClr val="FFFFFF"/>
            </a:solidFill>
            <a:prstDash val="solid"/>
          </a:ln>
        </p:spPr>
      </p:sp>
      <p:sp>
        <p:nvSpPr>
          <p:cNvPr id="21" name="Text 18"/>
          <p:cNvSpPr/>
          <p:nvPr/>
        </p:nvSpPr>
        <p:spPr>
          <a:xfrm>
            <a:off x="7184136" y="1298448"/>
            <a:ext cx="402336" cy="402336"/>
          </a:xfrm>
          <a:prstGeom prst="rect">
            <a:avLst/>
          </a:prstGeom>
          <a:noFill/>
          <a:ln/>
        </p:spPr>
        <p:txBody>
          <a:bodyPr wrap="square" lIns="0" tIns="0" rIns="0" bIns="0" rtlCol="0" anchor="ctr"/>
          <a:lstStyle/>
          <a:p>
            <a:pPr algn="ctr" indent="0" marL="0">
              <a:buNone/>
            </a:pPr>
            <a:r>
              <a:rPr lang="en-US" sz="1300" b="1" dirty="0">
                <a:solidFill>
                  <a:srgbClr val="1F3864"/>
                </a:solidFill>
                <a:latin typeface="Arial" pitchFamily="34" charset="0"/>
                <a:ea typeface="Arial" pitchFamily="34" charset="-122"/>
                <a:cs typeface="Arial" pitchFamily="34" charset="-120"/>
              </a:rPr>
              <a:t>C</a:t>
            </a:r>
            <a:endParaRPr lang="en-US" sz="1300" dirty="0"/>
          </a:p>
        </p:txBody>
      </p:sp>
      <p:sp>
        <p:nvSpPr>
          <p:cNvPr id="22" name="Text 19"/>
          <p:cNvSpPr/>
          <p:nvPr/>
        </p:nvSpPr>
        <p:spPr>
          <a:xfrm>
            <a:off x="6156960" y="1773936"/>
            <a:ext cx="2456688"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Divine</a:t>
            </a:r>
            <a:endParaRPr lang="en-US" sz="1150" dirty="0"/>
          </a:p>
        </p:txBody>
      </p:sp>
      <p:sp>
        <p:nvSpPr>
          <p:cNvPr id="23" name="Text 20"/>
          <p:cNvSpPr/>
          <p:nvPr/>
        </p:nvSpPr>
        <p:spPr>
          <a:xfrm>
            <a:off x="6156960" y="2157984"/>
            <a:ext cx="2456688" cy="338328"/>
          </a:xfrm>
          <a:prstGeom prst="rect">
            <a:avLst/>
          </a:prstGeom>
          <a:noFill/>
          <a:ln/>
        </p:spPr>
        <p:txBody>
          <a:bodyPr wrap="square" lIns="0" tIns="0" rIns="0" bIns="0" rtlCol="0" anchor="t"/>
          <a:lstStyle/>
          <a:p>
            <a:pPr algn="ctr" indent="0" marL="0">
              <a:buNone/>
            </a:pPr>
            <a:r>
              <a:rPr lang="en-US" sz="1150" dirty="0">
                <a:solidFill>
                  <a:srgbClr val="FFFFFF"/>
                </a:solidFill>
                <a:latin typeface="Arial" pitchFamily="34" charset="0"/>
                <a:ea typeface="Arial" pitchFamily="34" charset="-122"/>
                <a:cs typeface="Arial" pitchFamily="34" charset="-120"/>
              </a:rPr>
              <a:t>Love those who hate you</a:t>
            </a:r>
            <a:endParaRPr lang="en-US" sz="1150" dirty="0"/>
          </a:p>
        </p:txBody>
      </p:sp>
      <p:sp>
        <p:nvSpPr>
          <p:cNvPr id="24" name="Text 21"/>
          <p:cNvSpPr/>
          <p:nvPr/>
        </p:nvSpPr>
        <p:spPr>
          <a:xfrm>
            <a:off x="6156960" y="2496312"/>
            <a:ext cx="2456688" cy="329184"/>
          </a:xfrm>
          <a:prstGeom prst="rect">
            <a:avLst/>
          </a:prstGeom>
          <a:noFill/>
          <a:ln/>
        </p:spPr>
        <p:txBody>
          <a:bodyPr wrap="square" lIns="0" tIns="0" rIns="0" bIns="0" rtlCol="0" anchor="b"/>
          <a:lstStyle/>
          <a:p>
            <a:pPr algn="ctr" indent="0" marL="0">
              <a:buNone/>
            </a:pPr>
            <a:r>
              <a:rPr lang="en-US" sz="900" i="1" dirty="0">
                <a:solidFill>
                  <a:srgbClr val="DCE4F2"/>
                </a:solidFill>
                <a:latin typeface="Arial" pitchFamily="34" charset="0"/>
                <a:ea typeface="Arial" pitchFamily="34" charset="-122"/>
                <a:cs typeface="Arial" pitchFamily="34" charset="-120"/>
              </a:rPr>
              <a:t>Rom 5:8</a:t>
            </a:r>
            <a:endParaRPr lang="en-US" sz="900" dirty="0"/>
          </a:p>
        </p:txBody>
      </p:sp>
      <p:sp>
        <p:nvSpPr>
          <p:cNvPr id="25" name="Shape 22"/>
          <p:cNvSpPr/>
          <p:nvPr/>
        </p:nvSpPr>
        <p:spPr>
          <a:xfrm>
            <a:off x="457200" y="3063240"/>
            <a:ext cx="4023360" cy="566928"/>
          </a:xfrm>
          <a:prstGeom prst="rect">
            <a:avLst/>
          </a:prstGeom>
          <a:solidFill>
            <a:srgbClr val="2E5496"/>
          </a:solidFill>
          <a:ln w="12700">
            <a:solidFill>
              <a:srgbClr val="2E5496"/>
            </a:solidFill>
            <a:prstDash val="solid"/>
          </a:ln>
        </p:spPr>
      </p:sp>
      <p:sp>
        <p:nvSpPr>
          <p:cNvPr id="26" name="Text 23"/>
          <p:cNvSpPr/>
          <p:nvPr/>
        </p:nvSpPr>
        <p:spPr>
          <a:xfrm>
            <a:off x="548640" y="3108960"/>
            <a:ext cx="3840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Love explained · v.9</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θεοδίδακτοι</a:t>
            </a:r>
            <a:pPr indent="0" marL="0">
              <a:buNone/>
            </a:pPr>
            <a:r>
              <a:rPr lang="en-US" sz="850" dirty="0">
                <a:solidFill>
                  <a:srgbClr val="DCE4F2"/>
                </a:solidFill>
                <a:latin typeface="Arial" pitchFamily="34" charset="0"/>
                <a:ea typeface="Arial" pitchFamily="34" charset="-122"/>
                <a:cs typeface="Arial" pitchFamily="34" charset="-120"/>
              </a:rPr>
              <a:t>  taught by God</a:t>
            </a:r>
            <a:endParaRPr lang="en-US" sz="1200" dirty="0"/>
          </a:p>
        </p:txBody>
      </p:sp>
      <p:sp>
        <p:nvSpPr>
          <p:cNvPr id="27" name="Shape 24"/>
          <p:cNvSpPr/>
          <p:nvPr/>
        </p:nvSpPr>
        <p:spPr>
          <a:xfrm>
            <a:off x="457200" y="3630168"/>
            <a:ext cx="4023360" cy="987552"/>
          </a:xfrm>
          <a:prstGeom prst="rect">
            <a:avLst/>
          </a:prstGeom>
          <a:solidFill>
            <a:srgbClr val="F2F6FC"/>
          </a:solidFill>
          <a:ln w="9525">
            <a:solidFill>
              <a:srgbClr val="D5DCEA"/>
            </a:solidFill>
            <a:prstDash val="solid"/>
          </a:ln>
        </p:spPr>
      </p:sp>
      <p:sp>
        <p:nvSpPr>
          <p:cNvPr id="28" name="Text 25"/>
          <p:cNvSpPr/>
          <p:nvPr/>
        </p:nvSpPr>
        <p:spPr>
          <a:xfrm>
            <a:off x="548640" y="3703320"/>
            <a:ext cx="3840480" cy="859536"/>
          </a:xfrm>
          <a:prstGeom prst="rect">
            <a:avLst/>
          </a:prstGeom>
          <a:noFill/>
          <a:ln/>
        </p:spPr>
        <p:txBody>
          <a:bodyPr wrap="square" lIns="0" tIns="0" rIns="0" bIns="0" rtlCol="0" anchor="t"/>
          <a:lstStyle/>
          <a:p>
            <a:pPr marL="127000" indent="-127000">
              <a:spcAft>
                <a:spcPts val="300"/>
              </a:spcAft>
              <a:buSzPct val="100000"/>
              <a:buChar char="•"/>
            </a:pPr>
            <a:r>
              <a:rPr lang="en-US" sz="1200" dirty="0">
                <a:solidFill>
                  <a:srgbClr val="262626"/>
                </a:solidFill>
                <a:latin typeface="Arial" pitchFamily="34" charset="0"/>
                <a:ea typeface="Arial" pitchFamily="34" charset="-122"/>
                <a:cs typeface="Arial" pitchFamily="34" charset="-120"/>
              </a:rPr>
              <a:t>φιλαδελφία — family love, planted at the new birth</a:t>
            </a:r>
            <a:endParaRPr lang="en-US" sz="1200" dirty="0"/>
          </a:p>
          <a:p>
            <a:pPr marL="127000" indent="-127000">
              <a:spcAft>
                <a:spcPts val="300"/>
              </a:spcAft>
              <a:buSzPct val="100000"/>
              <a:buChar char="•"/>
            </a:pPr>
            <a:r>
              <a:rPr lang="en-US" sz="1200" dirty="0">
                <a:solidFill>
                  <a:srgbClr val="262626"/>
                </a:solidFill>
                <a:latin typeface="Arial" pitchFamily="34" charset="0"/>
                <a:ea typeface="Arial" pitchFamily="34" charset="-122"/>
                <a:cs typeface="Arial" pitchFamily="34" charset="-120"/>
              </a:rPr>
              <a:t>Taught by the cross and the Spirit</a:t>
            </a:r>
            <a:endParaRPr lang="en-US" sz="1200" dirty="0"/>
          </a:p>
        </p:txBody>
      </p:sp>
      <p:sp>
        <p:nvSpPr>
          <p:cNvPr id="29" name="Shape 26"/>
          <p:cNvSpPr/>
          <p:nvPr/>
        </p:nvSpPr>
        <p:spPr>
          <a:xfrm>
            <a:off x="4663440" y="3063240"/>
            <a:ext cx="4023360" cy="365760"/>
          </a:xfrm>
          <a:prstGeom prst="rect">
            <a:avLst/>
          </a:prstGeom>
          <a:solidFill>
            <a:srgbClr val="375623"/>
          </a:solidFill>
          <a:ln w="12700">
            <a:solidFill>
              <a:srgbClr val="375623"/>
            </a:solidFill>
            <a:prstDash val="solid"/>
          </a:ln>
        </p:spPr>
      </p:sp>
      <p:sp>
        <p:nvSpPr>
          <p:cNvPr id="30" name="Text 27"/>
          <p:cNvSpPr/>
          <p:nvPr/>
        </p:nvSpPr>
        <p:spPr>
          <a:xfrm>
            <a:off x="4754880" y="3108960"/>
            <a:ext cx="3840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Love executed · v.10</a:t>
            </a:r>
            <a:endParaRPr lang="en-US" sz="1200" dirty="0"/>
          </a:p>
        </p:txBody>
      </p:sp>
      <p:sp>
        <p:nvSpPr>
          <p:cNvPr id="31" name="Shape 28"/>
          <p:cNvSpPr/>
          <p:nvPr/>
        </p:nvSpPr>
        <p:spPr>
          <a:xfrm>
            <a:off x="4663440" y="3429000"/>
            <a:ext cx="4023360" cy="1188720"/>
          </a:xfrm>
          <a:prstGeom prst="rect">
            <a:avLst/>
          </a:prstGeom>
          <a:solidFill>
            <a:srgbClr val="F2F6FC"/>
          </a:solidFill>
          <a:ln w="9525">
            <a:solidFill>
              <a:srgbClr val="D5DCEA"/>
            </a:solidFill>
            <a:prstDash val="solid"/>
          </a:ln>
        </p:spPr>
      </p:sp>
      <p:sp>
        <p:nvSpPr>
          <p:cNvPr id="32" name="Text 29"/>
          <p:cNvSpPr/>
          <p:nvPr/>
        </p:nvSpPr>
        <p:spPr>
          <a:xfrm>
            <a:off x="4754880" y="3502152"/>
            <a:ext cx="3840480" cy="1060704"/>
          </a:xfrm>
          <a:prstGeom prst="rect">
            <a:avLst/>
          </a:prstGeom>
          <a:noFill/>
          <a:ln/>
        </p:spPr>
        <p:txBody>
          <a:bodyPr wrap="square" lIns="0" tIns="0" rIns="0" bIns="0" rtlCol="0" anchor="t"/>
          <a:lstStyle/>
          <a:p>
            <a:pPr marL="127000" indent="-127000">
              <a:spcAft>
                <a:spcPts val="300"/>
              </a:spcAft>
              <a:buSzPct val="100000"/>
              <a:buChar char="•"/>
            </a:pPr>
            <a:r>
              <a:rPr lang="en-US" sz="1200" dirty="0">
                <a:solidFill>
                  <a:srgbClr val="262626"/>
                </a:solidFill>
                <a:latin typeface="Arial" pitchFamily="34" charset="0"/>
                <a:ea typeface="Arial" pitchFamily="34" charset="-122"/>
                <a:cs typeface="Arial" pitchFamily="34" charset="-120"/>
              </a:rPr>
              <a:t>Toward all the brethren in all Macedonia</a:t>
            </a:r>
            <a:endParaRPr lang="en-US" sz="1200" dirty="0"/>
          </a:p>
          <a:p>
            <a:pPr marL="127000" indent="-127000">
              <a:spcAft>
                <a:spcPts val="300"/>
              </a:spcAft>
              <a:buSzPct val="100000"/>
              <a:buChar char="•"/>
            </a:pPr>
            <a:r>
              <a:rPr lang="en-US" sz="1200" dirty="0">
                <a:solidFill>
                  <a:srgbClr val="262626"/>
                </a:solidFill>
                <a:latin typeface="Arial" pitchFamily="34" charset="0"/>
                <a:ea typeface="Arial" pitchFamily="34" charset="-122"/>
                <a:cs typeface="Arial" pitchFamily="34" charset="-120"/>
              </a:rPr>
              <a:t>Commended — not corrected</a:t>
            </a:r>
            <a:endParaRPr lang="en-US" sz="1200" dirty="0"/>
          </a:p>
          <a:p>
            <a:pPr marL="127000" indent="-127000">
              <a:spcAft>
                <a:spcPts val="300"/>
              </a:spcAft>
              <a:buSzPct val="100000"/>
              <a:buChar char="•"/>
            </a:pPr>
            <a:r>
              <a:rPr lang="en-US" sz="1200" dirty="0">
                <a:solidFill>
                  <a:srgbClr val="262626"/>
                </a:solidFill>
                <a:latin typeface="Arial" pitchFamily="34" charset="0"/>
                <a:ea typeface="Arial" pitchFamily="34" charset="-122"/>
                <a:cs typeface="Arial" pitchFamily="34" charset="-120"/>
              </a:rPr>
              <a:t>“Increase more and more”</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A quiet, working, watched life</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4:11–12 · IV — Our purpose</a:t>
            </a:r>
            <a:endParaRPr lang="en-US" sz="1200" dirty="0"/>
          </a:p>
        </p:txBody>
      </p:sp>
      <p:sp>
        <p:nvSpPr>
          <p:cNvPr id="5" name="Shape 2"/>
          <p:cNvSpPr/>
          <p:nvPr/>
        </p:nvSpPr>
        <p:spPr>
          <a:xfrm>
            <a:off x="457200" y="1115568"/>
            <a:ext cx="777240" cy="566928"/>
          </a:xfrm>
          <a:prstGeom prst="rect">
            <a:avLst/>
          </a:prstGeom>
          <a:solidFill>
            <a:srgbClr val="2E5496"/>
          </a:solidFill>
          <a:ln w="12700">
            <a:solidFill>
              <a:srgbClr val="2E5496"/>
            </a:solidFill>
            <a:prstDash val="solid"/>
          </a:ln>
        </p:spPr>
      </p:sp>
      <p:sp>
        <p:nvSpPr>
          <p:cNvPr id="6" name="Text 3"/>
          <p:cNvSpPr/>
          <p:nvPr/>
        </p:nvSpPr>
        <p:spPr>
          <a:xfrm>
            <a:off x="457200" y="1115568"/>
            <a:ext cx="77724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v.11a</a:t>
            </a:r>
            <a:endParaRPr lang="en-US" sz="1100" dirty="0"/>
          </a:p>
        </p:txBody>
      </p:sp>
      <p:sp>
        <p:nvSpPr>
          <p:cNvPr id="7" name="Shape 4"/>
          <p:cNvSpPr/>
          <p:nvPr/>
        </p:nvSpPr>
        <p:spPr>
          <a:xfrm>
            <a:off x="1234440" y="1115568"/>
            <a:ext cx="7452360" cy="566928"/>
          </a:xfrm>
          <a:prstGeom prst="rect">
            <a:avLst/>
          </a:prstGeom>
          <a:solidFill>
            <a:srgbClr val="F2F6FC"/>
          </a:solidFill>
          <a:ln w="9525">
            <a:solidFill>
              <a:srgbClr val="D5DCEA"/>
            </a:solidFill>
            <a:prstDash val="solid"/>
          </a:ln>
        </p:spPr>
      </p:sp>
      <p:sp>
        <p:nvSpPr>
          <p:cNvPr id="8" name="Text 5"/>
          <p:cNvSpPr/>
          <p:nvPr/>
        </p:nvSpPr>
        <p:spPr>
          <a:xfrm>
            <a:off x="1344168" y="1115568"/>
            <a:ext cx="4389120" cy="566928"/>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Aspire to lead a quiet life — settled, not frantic</a:t>
            </a:r>
            <a:endParaRPr lang="en-US" sz="1150" dirty="0"/>
          </a:p>
        </p:txBody>
      </p:sp>
      <p:sp>
        <p:nvSpPr>
          <p:cNvPr id="9" name="Text 6"/>
          <p:cNvSpPr/>
          <p:nvPr/>
        </p:nvSpPr>
        <p:spPr>
          <a:xfrm>
            <a:off x="5806440" y="1115568"/>
            <a:ext cx="2788920" cy="56692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ἡσυχάζειν</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not silence but settledness</a:t>
            </a:r>
            <a:endParaRPr lang="en-US" sz="1300" dirty="0"/>
          </a:p>
        </p:txBody>
      </p:sp>
      <p:sp>
        <p:nvSpPr>
          <p:cNvPr id="10" name="Shape 7"/>
          <p:cNvSpPr/>
          <p:nvPr/>
        </p:nvSpPr>
        <p:spPr>
          <a:xfrm>
            <a:off x="457200" y="1755648"/>
            <a:ext cx="777240" cy="566928"/>
          </a:xfrm>
          <a:prstGeom prst="rect">
            <a:avLst/>
          </a:prstGeom>
          <a:solidFill>
            <a:srgbClr val="2E5496"/>
          </a:solidFill>
          <a:ln w="12700">
            <a:solidFill>
              <a:srgbClr val="2E5496"/>
            </a:solidFill>
            <a:prstDash val="solid"/>
          </a:ln>
        </p:spPr>
      </p:sp>
      <p:sp>
        <p:nvSpPr>
          <p:cNvPr id="11" name="Text 8"/>
          <p:cNvSpPr/>
          <p:nvPr/>
        </p:nvSpPr>
        <p:spPr>
          <a:xfrm>
            <a:off x="457200" y="1755648"/>
            <a:ext cx="77724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v.11b</a:t>
            </a:r>
            <a:endParaRPr lang="en-US" sz="1100" dirty="0"/>
          </a:p>
        </p:txBody>
      </p:sp>
      <p:sp>
        <p:nvSpPr>
          <p:cNvPr id="12" name="Shape 9"/>
          <p:cNvSpPr/>
          <p:nvPr/>
        </p:nvSpPr>
        <p:spPr>
          <a:xfrm>
            <a:off x="1234440" y="1755648"/>
            <a:ext cx="7452360" cy="566928"/>
          </a:xfrm>
          <a:prstGeom prst="rect">
            <a:avLst/>
          </a:prstGeom>
          <a:solidFill>
            <a:srgbClr val="FFFFFF"/>
          </a:solidFill>
          <a:ln w="9525">
            <a:solidFill>
              <a:srgbClr val="D5DCEA"/>
            </a:solidFill>
            <a:prstDash val="solid"/>
          </a:ln>
        </p:spPr>
      </p:sp>
      <p:sp>
        <p:nvSpPr>
          <p:cNvPr id="13" name="Text 10"/>
          <p:cNvSpPr/>
          <p:nvPr/>
        </p:nvSpPr>
        <p:spPr>
          <a:xfrm>
            <a:off x="1344168" y="1755648"/>
            <a:ext cx="4389120" cy="566928"/>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Mind your own business</a:t>
            </a:r>
            <a:endParaRPr lang="en-US" sz="1150" dirty="0"/>
          </a:p>
        </p:txBody>
      </p:sp>
      <p:sp>
        <p:nvSpPr>
          <p:cNvPr id="14" name="Text 11"/>
          <p:cNvSpPr/>
          <p:nvPr/>
        </p:nvSpPr>
        <p:spPr>
          <a:xfrm>
            <a:off x="5806440" y="1755648"/>
            <a:ext cx="2788920" cy="56692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MYOB — Paul used it first</a:t>
            </a:r>
            <a:endParaRPr lang="en-US" sz="1300" dirty="0"/>
          </a:p>
        </p:txBody>
      </p:sp>
      <p:sp>
        <p:nvSpPr>
          <p:cNvPr id="15" name="Shape 12"/>
          <p:cNvSpPr/>
          <p:nvPr/>
        </p:nvSpPr>
        <p:spPr>
          <a:xfrm>
            <a:off x="457200" y="2395728"/>
            <a:ext cx="777240" cy="566928"/>
          </a:xfrm>
          <a:prstGeom prst="rect">
            <a:avLst/>
          </a:prstGeom>
          <a:solidFill>
            <a:srgbClr val="2E5496"/>
          </a:solidFill>
          <a:ln w="12700">
            <a:solidFill>
              <a:srgbClr val="2E5496"/>
            </a:solidFill>
            <a:prstDash val="solid"/>
          </a:ln>
        </p:spPr>
      </p:sp>
      <p:sp>
        <p:nvSpPr>
          <p:cNvPr id="16" name="Text 13"/>
          <p:cNvSpPr/>
          <p:nvPr/>
        </p:nvSpPr>
        <p:spPr>
          <a:xfrm>
            <a:off x="457200" y="2395728"/>
            <a:ext cx="77724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v.11c</a:t>
            </a:r>
            <a:endParaRPr lang="en-US" sz="1100" dirty="0"/>
          </a:p>
        </p:txBody>
      </p:sp>
      <p:sp>
        <p:nvSpPr>
          <p:cNvPr id="17" name="Shape 14"/>
          <p:cNvSpPr/>
          <p:nvPr/>
        </p:nvSpPr>
        <p:spPr>
          <a:xfrm>
            <a:off x="1234440" y="2395728"/>
            <a:ext cx="7452360" cy="566928"/>
          </a:xfrm>
          <a:prstGeom prst="rect">
            <a:avLst/>
          </a:prstGeom>
          <a:solidFill>
            <a:srgbClr val="F2F6FC"/>
          </a:solidFill>
          <a:ln w="9525">
            <a:solidFill>
              <a:srgbClr val="D5DCEA"/>
            </a:solidFill>
            <a:prstDash val="solid"/>
          </a:ln>
        </p:spPr>
      </p:sp>
      <p:sp>
        <p:nvSpPr>
          <p:cNvPr id="18" name="Text 15"/>
          <p:cNvSpPr/>
          <p:nvPr/>
        </p:nvSpPr>
        <p:spPr>
          <a:xfrm>
            <a:off x="1344168" y="2395728"/>
            <a:ext cx="4389120" cy="566928"/>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Work with your own hands — Jesus may come today; keep your job</a:t>
            </a:r>
            <a:endParaRPr lang="en-US" sz="1150" dirty="0"/>
          </a:p>
        </p:txBody>
      </p:sp>
      <p:sp>
        <p:nvSpPr>
          <p:cNvPr id="19" name="Text 16"/>
          <p:cNvSpPr/>
          <p:nvPr/>
        </p:nvSpPr>
        <p:spPr>
          <a:xfrm>
            <a:off x="5806440" y="2395728"/>
            <a:ext cx="2788920" cy="56692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Paul’s self-supporting model</a:t>
            </a:r>
            <a:endParaRPr lang="en-US" sz="1300" dirty="0"/>
          </a:p>
        </p:txBody>
      </p:sp>
      <p:sp>
        <p:nvSpPr>
          <p:cNvPr id="20" name="Shape 17"/>
          <p:cNvSpPr/>
          <p:nvPr/>
        </p:nvSpPr>
        <p:spPr>
          <a:xfrm>
            <a:off x="457200" y="3035808"/>
            <a:ext cx="777240" cy="566928"/>
          </a:xfrm>
          <a:prstGeom prst="rect">
            <a:avLst/>
          </a:prstGeom>
          <a:solidFill>
            <a:srgbClr val="2E5496"/>
          </a:solidFill>
          <a:ln w="12700">
            <a:solidFill>
              <a:srgbClr val="2E5496"/>
            </a:solidFill>
            <a:prstDash val="solid"/>
          </a:ln>
        </p:spPr>
      </p:sp>
      <p:sp>
        <p:nvSpPr>
          <p:cNvPr id="21" name="Text 18"/>
          <p:cNvSpPr/>
          <p:nvPr/>
        </p:nvSpPr>
        <p:spPr>
          <a:xfrm>
            <a:off x="457200" y="3035808"/>
            <a:ext cx="77724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v.12a</a:t>
            </a:r>
            <a:endParaRPr lang="en-US" sz="1100" dirty="0"/>
          </a:p>
        </p:txBody>
      </p:sp>
      <p:sp>
        <p:nvSpPr>
          <p:cNvPr id="22" name="Shape 19"/>
          <p:cNvSpPr/>
          <p:nvPr/>
        </p:nvSpPr>
        <p:spPr>
          <a:xfrm>
            <a:off x="1234440" y="3035808"/>
            <a:ext cx="7452360" cy="566928"/>
          </a:xfrm>
          <a:prstGeom prst="rect">
            <a:avLst/>
          </a:prstGeom>
          <a:solidFill>
            <a:srgbClr val="FFFFFF"/>
          </a:solidFill>
          <a:ln w="9525">
            <a:solidFill>
              <a:srgbClr val="D5DCEA"/>
            </a:solidFill>
            <a:prstDash val="solid"/>
          </a:ln>
        </p:spPr>
      </p:sp>
      <p:sp>
        <p:nvSpPr>
          <p:cNvPr id="23" name="Text 20"/>
          <p:cNvSpPr/>
          <p:nvPr/>
        </p:nvSpPr>
        <p:spPr>
          <a:xfrm>
            <a:off x="1344168" y="3035808"/>
            <a:ext cx="4389120" cy="566928"/>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Walk properly toward those who are outside</a:t>
            </a:r>
            <a:endParaRPr lang="en-US" sz="1150" dirty="0"/>
          </a:p>
        </p:txBody>
      </p:sp>
      <p:sp>
        <p:nvSpPr>
          <p:cNvPr id="24" name="Text 21"/>
          <p:cNvSpPr/>
          <p:nvPr/>
        </p:nvSpPr>
        <p:spPr>
          <a:xfrm>
            <a:off x="5806440" y="3035808"/>
            <a:ext cx="2788920" cy="56692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your walk commends the gospel</a:t>
            </a:r>
            <a:endParaRPr lang="en-US" sz="1300" dirty="0"/>
          </a:p>
        </p:txBody>
      </p:sp>
      <p:sp>
        <p:nvSpPr>
          <p:cNvPr id="25" name="Shape 22"/>
          <p:cNvSpPr/>
          <p:nvPr/>
        </p:nvSpPr>
        <p:spPr>
          <a:xfrm>
            <a:off x="457200" y="3675888"/>
            <a:ext cx="777240" cy="566928"/>
          </a:xfrm>
          <a:prstGeom prst="rect">
            <a:avLst/>
          </a:prstGeom>
          <a:solidFill>
            <a:srgbClr val="375623"/>
          </a:solidFill>
          <a:ln w="12700">
            <a:solidFill>
              <a:srgbClr val="375623"/>
            </a:solidFill>
            <a:prstDash val="solid"/>
          </a:ln>
        </p:spPr>
      </p:sp>
      <p:sp>
        <p:nvSpPr>
          <p:cNvPr id="26" name="Text 23"/>
          <p:cNvSpPr/>
          <p:nvPr/>
        </p:nvSpPr>
        <p:spPr>
          <a:xfrm>
            <a:off x="457200" y="3675888"/>
            <a:ext cx="77724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v.12b</a:t>
            </a:r>
            <a:endParaRPr lang="en-US" sz="1100" dirty="0"/>
          </a:p>
        </p:txBody>
      </p:sp>
      <p:sp>
        <p:nvSpPr>
          <p:cNvPr id="27" name="Shape 24"/>
          <p:cNvSpPr/>
          <p:nvPr/>
        </p:nvSpPr>
        <p:spPr>
          <a:xfrm>
            <a:off x="1234440" y="3675888"/>
            <a:ext cx="7452360" cy="566928"/>
          </a:xfrm>
          <a:prstGeom prst="rect">
            <a:avLst/>
          </a:prstGeom>
          <a:solidFill>
            <a:srgbClr val="F2F6FC"/>
          </a:solidFill>
          <a:ln w="9525">
            <a:solidFill>
              <a:srgbClr val="D5DCEA"/>
            </a:solidFill>
            <a:prstDash val="solid"/>
          </a:ln>
        </p:spPr>
      </p:sp>
      <p:sp>
        <p:nvSpPr>
          <p:cNvPr id="28" name="Text 25"/>
          <p:cNvSpPr/>
          <p:nvPr/>
        </p:nvSpPr>
        <p:spPr>
          <a:xfrm>
            <a:off x="1344168" y="3675888"/>
            <a:ext cx="4389120" cy="566928"/>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That you may lack nothing</a:t>
            </a:r>
            <a:endParaRPr lang="en-US" sz="1150" dirty="0"/>
          </a:p>
        </p:txBody>
      </p:sp>
      <p:sp>
        <p:nvSpPr>
          <p:cNvPr id="29" name="Text 26"/>
          <p:cNvSpPr/>
          <p:nvPr/>
        </p:nvSpPr>
        <p:spPr>
          <a:xfrm>
            <a:off x="5806440" y="3675888"/>
            <a:ext cx="2788920" cy="56692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plan ahead · work hard · live within your means</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Discuss and apply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4:1–12 · from the study's posted questions and applications</a:t>
            </a:r>
            <a:endParaRPr lang="en-US" sz="1200" dirty="0"/>
          </a:p>
        </p:txBody>
      </p:sp>
      <p:sp>
        <p:nvSpPr>
          <p:cNvPr id="5" name="Shape 2"/>
          <p:cNvSpPr/>
          <p:nvPr/>
        </p:nvSpPr>
        <p:spPr>
          <a:xfrm>
            <a:off x="457200" y="1115568"/>
            <a:ext cx="4023360" cy="384048"/>
          </a:xfrm>
          <a:prstGeom prst="rect">
            <a:avLst/>
          </a:prstGeom>
          <a:solidFill>
            <a:srgbClr val="2E5496"/>
          </a:solidFill>
          <a:ln w="12700">
            <a:solidFill>
              <a:srgbClr val="2E5496"/>
            </a:solidFill>
            <a:prstDash val="solid"/>
          </a:ln>
        </p:spPr>
      </p:sp>
      <p:sp>
        <p:nvSpPr>
          <p:cNvPr id="6" name="Text 3"/>
          <p:cNvSpPr/>
          <p:nvPr/>
        </p:nvSpPr>
        <p:spPr>
          <a:xfrm>
            <a:off x="56692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Discuss</a:t>
            </a:r>
            <a:endParaRPr lang="en-US" sz="1300" dirty="0"/>
          </a:p>
        </p:txBody>
      </p:sp>
      <p:sp>
        <p:nvSpPr>
          <p:cNvPr id="7" name="Shape 4"/>
          <p:cNvSpPr/>
          <p:nvPr/>
        </p:nvSpPr>
        <p:spPr>
          <a:xfrm>
            <a:off x="457200" y="1499616"/>
            <a:ext cx="4023360" cy="2359152"/>
          </a:xfrm>
          <a:prstGeom prst="rect">
            <a:avLst/>
          </a:prstGeom>
          <a:solidFill>
            <a:srgbClr val="F2F6FC"/>
          </a:solidFill>
          <a:ln w="9525">
            <a:solidFill>
              <a:srgbClr val="D5DCEA"/>
            </a:solidFill>
            <a:prstDash val="solid"/>
          </a:ln>
        </p:spPr>
      </p:sp>
      <p:sp>
        <p:nvSpPr>
          <p:cNvPr id="8" name="Shape 5"/>
          <p:cNvSpPr/>
          <p:nvPr/>
        </p:nvSpPr>
        <p:spPr>
          <a:xfrm>
            <a:off x="4663440" y="1115568"/>
            <a:ext cx="4023360" cy="384048"/>
          </a:xfrm>
          <a:prstGeom prst="rect">
            <a:avLst/>
          </a:prstGeom>
          <a:solidFill>
            <a:srgbClr val="375623"/>
          </a:solidFill>
          <a:ln w="12700">
            <a:solidFill>
              <a:srgbClr val="375623"/>
            </a:solidFill>
            <a:prstDash val="solid"/>
          </a:ln>
        </p:spPr>
      </p:sp>
      <p:sp>
        <p:nvSpPr>
          <p:cNvPr id="9" name="Text 6"/>
          <p:cNvSpPr/>
          <p:nvPr/>
        </p:nvSpPr>
        <p:spPr>
          <a:xfrm>
            <a:off x="477316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Apply</a:t>
            </a:r>
            <a:endParaRPr lang="en-US" sz="1300" dirty="0"/>
          </a:p>
        </p:txBody>
      </p:sp>
      <p:sp>
        <p:nvSpPr>
          <p:cNvPr id="10" name="Shape 7"/>
          <p:cNvSpPr/>
          <p:nvPr/>
        </p:nvSpPr>
        <p:spPr>
          <a:xfrm>
            <a:off x="4663440" y="1499616"/>
            <a:ext cx="4023360" cy="2359152"/>
          </a:xfrm>
          <a:prstGeom prst="rect">
            <a:avLst/>
          </a:prstGeom>
          <a:solidFill>
            <a:srgbClr val="F2F6FC"/>
          </a:solidFill>
          <a:ln w="9525">
            <a:solidFill>
              <a:srgbClr val="D5DCEA"/>
            </a:solidFill>
            <a:prstDash val="solid"/>
          </a:ln>
        </p:spPr>
      </p:sp>
      <p:sp>
        <p:nvSpPr>
          <p:cNvPr id="11" name="Shape 8"/>
          <p:cNvSpPr/>
          <p:nvPr/>
        </p:nvSpPr>
        <p:spPr>
          <a:xfrm>
            <a:off x="566928" y="1636776"/>
            <a:ext cx="347472" cy="347472"/>
          </a:xfrm>
          <a:prstGeom prst="ellipse">
            <a:avLst/>
          </a:prstGeom>
          <a:solidFill>
            <a:srgbClr val="2E5496"/>
          </a:solidFill>
          <a:ln w="12700">
            <a:solidFill>
              <a:srgbClr val="2E5496"/>
            </a:solidFill>
            <a:prstDash val="solid"/>
          </a:ln>
        </p:spPr>
      </p:sp>
      <p:sp>
        <p:nvSpPr>
          <p:cNvPr id="12" name="Text 9"/>
          <p:cNvSpPr/>
          <p:nvPr/>
        </p:nvSpPr>
        <p:spPr>
          <a:xfrm>
            <a:off x="566928" y="16367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3" name="Text 10"/>
          <p:cNvSpPr/>
          <p:nvPr/>
        </p:nvSpPr>
        <p:spPr>
          <a:xfrm>
            <a:off x="1005840" y="1591056"/>
            <a:ext cx="3364992" cy="1042416"/>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Paul opens with parakalō (urge/beg) rather than a command. What does that tone of pleading tell us about the nature of the Christian life?</a:t>
            </a:r>
            <a:endParaRPr lang="en-US" sz="1250" dirty="0"/>
          </a:p>
        </p:txBody>
      </p:sp>
      <p:sp>
        <p:nvSpPr>
          <p:cNvPr id="14" name="Shape 11"/>
          <p:cNvSpPr/>
          <p:nvPr/>
        </p:nvSpPr>
        <p:spPr>
          <a:xfrm>
            <a:off x="566928" y="2724912"/>
            <a:ext cx="347472" cy="347472"/>
          </a:xfrm>
          <a:prstGeom prst="ellipse">
            <a:avLst/>
          </a:prstGeom>
          <a:solidFill>
            <a:srgbClr val="2E5496"/>
          </a:solidFill>
          <a:ln w="12700">
            <a:solidFill>
              <a:srgbClr val="2E5496"/>
            </a:solidFill>
            <a:prstDash val="solid"/>
          </a:ln>
        </p:spPr>
      </p:sp>
      <p:sp>
        <p:nvSpPr>
          <p:cNvPr id="15" name="Text 12"/>
          <p:cNvSpPr/>
          <p:nvPr/>
        </p:nvSpPr>
        <p:spPr>
          <a:xfrm>
            <a:off x="566928" y="272491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6" name="Text 13"/>
          <p:cNvSpPr/>
          <p:nvPr/>
        </p:nvSpPr>
        <p:spPr>
          <a:xfrm>
            <a:off x="1005840" y="2679192"/>
            <a:ext cx="3364992" cy="1042416"/>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Paul says the Thessalonians are “taught by God” to love (theodidaktoi, v.9). How does God teach love — and what does that mean for what we expect of ourselves?</a:t>
            </a:r>
            <a:endParaRPr lang="en-US" sz="1250" dirty="0"/>
          </a:p>
        </p:txBody>
      </p:sp>
      <p:sp>
        <p:nvSpPr>
          <p:cNvPr id="17" name="Text 14"/>
          <p:cNvSpPr/>
          <p:nvPr/>
        </p:nvSpPr>
        <p:spPr>
          <a:xfrm>
            <a:off x="4791456" y="1591056"/>
            <a:ext cx="3767328" cy="1042416"/>
          </a:xfrm>
          <a:prstGeom prst="rect">
            <a:avLst/>
          </a:prstGeom>
          <a:noFill/>
          <a:ln/>
        </p:spPr>
        <p:txBody>
          <a:bodyPr wrap="square" lIns="0" tIns="0" rIns="0" bIns="0" rtlCol="0" anchor="t"/>
          <a:lstStyle/>
          <a:p>
            <a:pPr indent="0" marL="0">
              <a:buNone/>
            </a:pPr>
            <a:r>
              <a:rPr lang="en-US" sz="1250" b="1" dirty="0">
                <a:solidFill>
                  <a:srgbClr val="1F3864"/>
                </a:solidFill>
                <a:latin typeface="Arial" pitchFamily="34" charset="0"/>
                <a:ea typeface="Arial" pitchFamily="34" charset="-122"/>
                <a:cs typeface="Arial" pitchFamily="34" charset="-120"/>
              </a:rPr>
              <a:t>Live to Please God, Not the Crowd</a:t>
            </a:r>
            <a:endParaRPr lang="en-US" sz="1250" dirty="0"/>
          </a:p>
          <a:p>
            <a:pPr indent="0" marL="0">
              <a:buNone/>
            </a:pPr>
            <a:r>
              <a:rPr lang="en-US" sz="1200" dirty="0">
                <a:solidFill>
                  <a:srgbClr val="262626"/>
                </a:solidFill>
                <a:latin typeface="Arial" pitchFamily="34" charset="0"/>
                <a:ea typeface="Arial" pitchFamily="34" charset="-122"/>
                <a:cs typeface="Arial" pitchFamily="34" charset="-120"/>
              </a:rPr>
              <a:t>Name one choice you make mainly to please someone else; ask what it looks like with God as the audience.</a:t>
            </a:r>
            <a:endParaRPr lang="en-US" sz="1250" dirty="0"/>
          </a:p>
        </p:txBody>
      </p:sp>
      <p:sp>
        <p:nvSpPr>
          <p:cNvPr id="18" name="Text 15"/>
          <p:cNvSpPr/>
          <p:nvPr/>
        </p:nvSpPr>
        <p:spPr>
          <a:xfrm>
            <a:off x="4791456" y="2679192"/>
            <a:ext cx="3767328" cy="1042416"/>
          </a:xfrm>
          <a:prstGeom prst="rect">
            <a:avLst/>
          </a:prstGeom>
          <a:noFill/>
          <a:ln/>
        </p:spPr>
        <p:txBody>
          <a:bodyPr wrap="square" lIns="0" tIns="0" rIns="0" bIns="0" rtlCol="0" anchor="t"/>
          <a:lstStyle/>
          <a:p>
            <a:pPr indent="0" marL="0">
              <a:buNone/>
            </a:pPr>
            <a:r>
              <a:rPr lang="en-US" sz="1250" b="1" dirty="0">
                <a:solidFill>
                  <a:srgbClr val="1F3864"/>
                </a:solidFill>
                <a:latin typeface="Arial" pitchFamily="34" charset="0"/>
                <a:ea typeface="Arial" pitchFamily="34" charset="-122"/>
                <a:cs typeface="Arial" pitchFamily="34" charset="-120"/>
              </a:rPr>
              <a:t>Love Is Taught by God — Then Practiced</a:t>
            </a:r>
            <a:endParaRPr lang="en-US" sz="1250" dirty="0"/>
          </a:p>
          <a:p>
            <a:pPr indent="0" marL="0">
              <a:buNone/>
            </a:pPr>
            <a:r>
              <a:rPr lang="en-US" sz="1200" dirty="0">
                <a:solidFill>
                  <a:srgbClr val="262626"/>
                </a:solidFill>
                <a:latin typeface="Arial" pitchFamily="34" charset="0"/>
                <a:ea typeface="Arial" pitchFamily="34" charset="-122"/>
                <a:cs typeface="Arial" pitchFamily="34" charset="-120"/>
              </a:rPr>
              <a:t>Do one concrete, personal, unpublicized thing this week for someone you haven’t recently shown love to.</a:t>
            </a:r>
            <a:endParaRPr lang="en-US" sz="1250" dirty="0"/>
          </a:p>
        </p:txBody>
      </p:sp>
      <p:sp>
        <p:nvSpPr>
          <p:cNvPr id="19" name="Shape 16"/>
          <p:cNvSpPr/>
          <p:nvPr/>
        </p:nvSpPr>
        <p:spPr>
          <a:xfrm>
            <a:off x="457200" y="4023360"/>
            <a:ext cx="8229600" cy="566928"/>
          </a:xfrm>
          <a:prstGeom prst="roundRect">
            <a:avLst>
              <a:gd name="adj" fmla="val 9677"/>
            </a:avLst>
          </a:prstGeom>
          <a:solidFill>
            <a:srgbClr val="1F3864"/>
          </a:solidFill>
          <a:ln w="12700">
            <a:solidFill>
              <a:srgbClr val="1F3864"/>
            </a:solidFill>
            <a:prstDash val="solid"/>
          </a:ln>
        </p:spPr>
      </p:sp>
      <p:sp>
        <p:nvSpPr>
          <p:cNvPr id="20" name="Text 17"/>
          <p:cNvSpPr/>
          <p:nvPr/>
        </p:nvSpPr>
        <p:spPr>
          <a:xfrm>
            <a:off x="621792" y="4023360"/>
            <a:ext cx="7900416" cy="566928"/>
          </a:xfrm>
          <a:prstGeom prst="rect">
            <a:avLst/>
          </a:prstGeom>
          <a:noFill/>
          <a:ln/>
        </p:spPr>
        <p:txBody>
          <a:bodyPr wrap="square" lIns="0" tIns="0" rIns="0" bIns="0" rtlCol="0" anchor="ctr"/>
          <a:lstStyle/>
          <a:p>
            <a:pPr indent="0" marL="0">
              <a:buNone/>
            </a:pPr>
            <a:r>
              <a:rPr lang="en-US" sz="1200" b="1" dirty="0">
                <a:solidFill>
                  <a:srgbClr val="C9D5EE"/>
                </a:solidFill>
                <a:latin typeface="Arial" pitchFamily="34" charset="0"/>
                <a:ea typeface="Arial" pitchFamily="34" charset="-122"/>
                <a:cs typeface="Arial" pitchFamily="34" charset="-120"/>
              </a:rPr>
              <a:t>In one line:  </a:t>
            </a:r>
            <a:pPr indent="0" marL="0">
              <a:buNone/>
            </a:pPr>
            <a:r>
              <a:rPr lang="en-US" sz="1200" dirty="0">
                <a:solidFill>
                  <a:srgbClr val="FFFFFF"/>
                </a:solidFill>
                <a:latin typeface="Arial" pitchFamily="34" charset="0"/>
                <a:ea typeface="Arial" pitchFamily="34" charset="-122"/>
                <a:cs typeface="Arial" pitchFamily="34" charset="-120"/>
              </a:rPr>
              <a:t>Please God — not by rules but by overflow: set apart to Him, loving more and more, living quietly and well before a watching world.</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nchor="ctr"/>
          <a:lstStyle/>
          <a:p>
            <a:pPr indent="0" marL="0">
              <a:buNone/>
            </a:pPr>
            <a:r>
              <a:rPr lang="en-US" sz="1400" dirty="0">
                <a:solidFill>
                  <a:srgbClr val="C9D5EE"/>
                </a:solidFill>
                <a:latin typeface="Arial" pitchFamily="34" charset="0"/>
                <a:ea typeface="Arial" pitchFamily="34" charset="-122"/>
                <a:cs typeface="Arial" pitchFamily="34" charset="-120"/>
              </a:rPr>
              <a:t>Study 7 of 10 · 1 Thessalonians 4:13–18</a:t>
            </a: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lIns="0" tIns="0" rIns="0" bIns="0" rtlCol="0" anchor="ctr"/>
          <a:lstStyle/>
          <a:p>
            <a:pPr algn="l" indent="0" marL="0">
              <a:buNone/>
            </a:pPr>
            <a:r>
              <a:rPr lang="en-US" sz="3400" b="1" dirty="0">
                <a:solidFill>
                  <a:srgbClr val="FFFFFF"/>
                </a:solidFill>
                <a:latin typeface="Arial" pitchFamily="34" charset="0"/>
                <a:ea typeface="Arial" pitchFamily="34" charset="-122"/>
                <a:cs typeface="Arial" pitchFamily="34" charset="-120"/>
              </a:rPr>
              <a:t>The Rapture of the Church</a:t>
            </a: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lIns="0" tIns="0" rIns="0" bIns="0" rtlCol="0" anchor="ctr"/>
          <a:lstStyle/>
          <a:p>
            <a:pPr indent="0" marL="0">
              <a:buNone/>
            </a:pPr>
            <a:r>
              <a:rPr lang="en-US" sz="1500" i="1" dirty="0">
                <a:solidFill>
                  <a:srgbClr val="E6ECF7"/>
                </a:solidFill>
                <a:latin typeface="Arial" pitchFamily="34" charset="0"/>
                <a:ea typeface="Arial" pitchFamily="34" charset="-122"/>
                <a:cs typeface="Arial" pitchFamily="34" charset="-120"/>
              </a:rPr>
              <a:t>Grief with hope — Christ descends, the dead in Christ rise first, and the church is caught up together. People looking for the undertaker ought to be looking for the upper-taker.</a:t>
            </a:r>
            <a:endParaRPr lang="en-US" sz="15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Israel and the Church</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I.A–B · The theological setting</a:t>
            </a:r>
            <a:endParaRPr lang="en-US" sz="1200" dirty="0"/>
          </a:p>
        </p:txBody>
      </p:sp>
      <p:sp>
        <p:nvSpPr>
          <p:cNvPr id="5" name="Shape 2"/>
          <p:cNvSpPr/>
          <p:nvPr/>
        </p:nvSpPr>
        <p:spPr>
          <a:xfrm>
            <a:off x="457200" y="1188720"/>
            <a:ext cx="3931920" cy="365760"/>
          </a:xfrm>
          <a:prstGeom prst="rect">
            <a:avLst/>
          </a:prstGeom>
          <a:solidFill>
            <a:srgbClr val="6B7280"/>
          </a:solidFill>
          <a:ln w="12700">
            <a:solidFill>
              <a:srgbClr val="6B7280"/>
            </a:solidFill>
            <a:prstDash val="solid"/>
          </a:ln>
        </p:spPr>
      </p:sp>
      <p:sp>
        <p:nvSpPr>
          <p:cNvPr id="6" name="Text 3"/>
          <p:cNvSpPr/>
          <p:nvPr/>
        </p:nvSpPr>
        <p:spPr>
          <a:xfrm>
            <a:off x="548640" y="1234440"/>
            <a:ext cx="374904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Israel — the Old Testament</a:t>
            </a:r>
            <a:endParaRPr lang="en-US" sz="1200" dirty="0"/>
          </a:p>
        </p:txBody>
      </p:sp>
      <p:sp>
        <p:nvSpPr>
          <p:cNvPr id="7" name="Shape 4"/>
          <p:cNvSpPr/>
          <p:nvPr/>
        </p:nvSpPr>
        <p:spPr>
          <a:xfrm>
            <a:off x="457200" y="1554480"/>
            <a:ext cx="3931920" cy="1965960"/>
          </a:xfrm>
          <a:prstGeom prst="rect">
            <a:avLst/>
          </a:prstGeom>
          <a:solidFill>
            <a:srgbClr val="F2F6FC"/>
          </a:solidFill>
          <a:ln w="9525">
            <a:solidFill>
              <a:srgbClr val="D5DCEA"/>
            </a:solidFill>
            <a:prstDash val="solid"/>
          </a:ln>
        </p:spPr>
      </p:sp>
      <p:sp>
        <p:nvSpPr>
          <p:cNvPr id="8" name="Text 5"/>
          <p:cNvSpPr/>
          <p:nvPr/>
        </p:nvSpPr>
        <p:spPr>
          <a:xfrm>
            <a:off x="548640" y="1627632"/>
            <a:ext cx="3749040" cy="183794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From the call of Abraham (Gen 12)</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 Old Covenant — the Law</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Physical promises: a land, a kingdom</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 literal 1,000-year reign of Christ</a:t>
            </a:r>
            <a:endParaRPr lang="en-US" sz="1250" dirty="0"/>
          </a:p>
        </p:txBody>
      </p:sp>
      <p:sp>
        <p:nvSpPr>
          <p:cNvPr id="9" name="Shape 6"/>
          <p:cNvSpPr/>
          <p:nvPr/>
        </p:nvSpPr>
        <p:spPr>
          <a:xfrm>
            <a:off x="4754880" y="1188720"/>
            <a:ext cx="3931920" cy="365760"/>
          </a:xfrm>
          <a:prstGeom prst="rect">
            <a:avLst/>
          </a:prstGeom>
          <a:solidFill>
            <a:srgbClr val="2E5496"/>
          </a:solidFill>
          <a:ln w="12700">
            <a:solidFill>
              <a:srgbClr val="2E5496"/>
            </a:solidFill>
            <a:prstDash val="solid"/>
          </a:ln>
        </p:spPr>
      </p:sp>
      <p:sp>
        <p:nvSpPr>
          <p:cNvPr id="10" name="Text 7"/>
          <p:cNvSpPr/>
          <p:nvPr/>
        </p:nvSpPr>
        <p:spPr>
          <a:xfrm>
            <a:off x="4846320" y="1234440"/>
            <a:ext cx="374904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 Church — a mystery</a:t>
            </a:r>
            <a:endParaRPr lang="en-US" sz="1200" dirty="0"/>
          </a:p>
        </p:txBody>
      </p:sp>
      <p:sp>
        <p:nvSpPr>
          <p:cNvPr id="11" name="Shape 8"/>
          <p:cNvSpPr/>
          <p:nvPr/>
        </p:nvSpPr>
        <p:spPr>
          <a:xfrm>
            <a:off x="4754880" y="1554480"/>
            <a:ext cx="3931920" cy="1965960"/>
          </a:xfrm>
          <a:prstGeom prst="rect">
            <a:avLst/>
          </a:prstGeom>
          <a:solidFill>
            <a:srgbClr val="F2F6FC"/>
          </a:solidFill>
          <a:ln w="9525">
            <a:solidFill>
              <a:srgbClr val="D5DCEA"/>
            </a:solidFill>
            <a:prstDash val="solid"/>
          </a:ln>
        </p:spPr>
      </p:sp>
      <p:sp>
        <p:nvSpPr>
          <p:cNvPr id="12" name="Text 9"/>
          <p:cNvSpPr/>
          <p:nvPr/>
        </p:nvSpPr>
        <p:spPr>
          <a:xfrm>
            <a:off x="4846320" y="1627632"/>
            <a:ext cx="3749040" cy="183794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From Pentecost to the Rapture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 New Covenant (Heb 7–10)</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Spiritual promises</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“Christ in you, the hope of glory” (Col 1:26)</a:t>
            </a:r>
            <a:endParaRPr lang="en-US" sz="1250" dirty="0"/>
          </a:p>
        </p:txBody>
      </p:sp>
      <p:sp>
        <p:nvSpPr>
          <p:cNvPr id="13" name="Text 10"/>
          <p:cNvSpPr/>
          <p:nvPr/>
        </p:nvSpPr>
        <p:spPr>
          <a:xfrm>
            <a:off x="4389120" y="2171700"/>
            <a:ext cx="365760" cy="365760"/>
          </a:xfrm>
          <a:prstGeom prst="rect">
            <a:avLst/>
          </a:prstGeom>
          <a:noFill/>
          <a:ln/>
        </p:spPr>
        <p:txBody>
          <a:bodyPr wrap="square" lIns="0" tIns="0" rIns="0" bIns="0" rtlCol="0" anchor="ctr"/>
          <a:lstStyle/>
          <a:p>
            <a:pPr algn="ctr" indent="0" marL="0">
              <a:buNone/>
            </a:pPr>
            <a:r>
              <a:rPr lang="en-US" sz="1100" b="1" dirty="0">
                <a:solidFill>
                  <a:srgbClr val="6B7280"/>
                </a:solidFill>
                <a:latin typeface="Arial" pitchFamily="34" charset="0"/>
                <a:ea typeface="Arial" pitchFamily="34" charset="-122"/>
                <a:cs typeface="Arial" pitchFamily="34" charset="-120"/>
              </a:rPr>
              <a:t>≠</a:t>
            </a:r>
            <a:endParaRPr lang="en-US" sz="1100" dirty="0"/>
          </a:p>
        </p:txBody>
      </p:sp>
      <p:sp>
        <p:nvSpPr>
          <p:cNvPr id="14" name="Shape 11"/>
          <p:cNvSpPr/>
          <p:nvPr/>
        </p:nvSpPr>
        <p:spPr>
          <a:xfrm>
            <a:off x="457200" y="3749040"/>
            <a:ext cx="8229600" cy="822960"/>
          </a:xfrm>
          <a:prstGeom prst="roundRect">
            <a:avLst>
              <a:gd name="adj" fmla="val 6667"/>
            </a:avLst>
          </a:prstGeom>
          <a:solidFill>
            <a:srgbClr val="1F3864"/>
          </a:solidFill>
          <a:ln w="12700">
            <a:solidFill>
              <a:srgbClr val="1F3864"/>
            </a:solidFill>
            <a:prstDash val="solid"/>
          </a:ln>
        </p:spPr>
      </p:sp>
      <p:sp>
        <p:nvSpPr>
          <p:cNvPr id="15" name="Text 12"/>
          <p:cNvSpPr/>
          <p:nvPr/>
        </p:nvSpPr>
        <p:spPr>
          <a:xfrm>
            <a:off x="621792" y="3749040"/>
            <a:ext cx="7900416" cy="82296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Israel is not — in any way — the Church. The Church is not — in any way — Israel. The Church was hidden in God (Eph 3:9), not in the Old Testament.</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The Church on the timeline</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I.B · Pentecost to the Rapture</a:t>
            </a:r>
            <a:endParaRPr lang="en-US" sz="1200" dirty="0"/>
          </a:p>
        </p:txBody>
      </p:sp>
      <p:sp>
        <p:nvSpPr>
          <p:cNvPr id="5" name="Shape 2"/>
          <p:cNvSpPr/>
          <p:nvPr/>
        </p:nvSpPr>
        <p:spPr>
          <a:xfrm>
            <a:off x="457200" y="1188720"/>
            <a:ext cx="1477670" cy="2103120"/>
          </a:xfrm>
          <a:prstGeom prst="roundRect">
            <a:avLst>
              <a:gd name="adj" fmla="val 3713"/>
            </a:avLst>
          </a:prstGeom>
          <a:solidFill>
            <a:srgbClr val="F2F6FC"/>
          </a:solidFill>
          <a:ln w="9525">
            <a:solidFill>
              <a:srgbClr val="D5DCEA"/>
            </a:solidFill>
            <a:prstDash val="solid"/>
          </a:ln>
        </p:spPr>
      </p:sp>
      <p:sp>
        <p:nvSpPr>
          <p:cNvPr id="6" name="Shape 3"/>
          <p:cNvSpPr/>
          <p:nvPr/>
        </p:nvSpPr>
        <p:spPr>
          <a:xfrm>
            <a:off x="994867" y="1298448"/>
            <a:ext cx="402336" cy="402336"/>
          </a:xfrm>
          <a:prstGeom prst="ellipse">
            <a:avLst/>
          </a:prstGeom>
          <a:solidFill>
            <a:srgbClr val="2E5496"/>
          </a:solidFill>
          <a:ln w="12700">
            <a:solidFill>
              <a:srgbClr val="2E5496"/>
            </a:solidFill>
            <a:prstDash val="solid"/>
          </a:ln>
        </p:spPr>
      </p:sp>
      <p:sp>
        <p:nvSpPr>
          <p:cNvPr id="7" name="Text 4"/>
          <p:cNvSpPr/>
          <p:nvPr/>
        </p:nvSpPr>
        <p:spPr>
          <a:xfrm>
            <a:off x="994867"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8" name="Text 5"/>
          <p:cNvSpPr/>
          <p:nvPr/>
        </p:nvSpPr>
        <p:spPr>
          <a:xfrm>
            <a:off x="530352"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Israel</a:t>
            </a:r>
            <a:endParaRPr lang="en-US" sz="1150" dirty="0"/>
          </a:p>
        </p:txBody>
      </p:sp>
      <p:sp>
        <p:nvSpPr>
          <p:cNvPr id="9" name="Text 6"/>
          <p:cNvSpPr/>
          <p:nvPr/>
        </p:nvSpPr>
        <p:spPr>
          <a:xfrm>
            <a:off x="530352" y="2157984"/>
            <a:ext cx="1331366" cy="74980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Abraham, the twelve tribes, the Law</a:t>
            </a:r>
            <a:endParaRPr lang="en-US" sz="1150" dirty="0"/>
          </a:p>
        </p:txBody>
      </p:sp>
      <p:sp>
        <p:nvSpPr>
          <p:cNvPr id="10" name="Text 7"/>
          <p:cNvSpPr/>
          <p:nvPr/>
        </p:nvSpPr>
        <p:spPr>
          <a:xfrm>
            <a:off x="530352" y="2907792"/>
            <a:ext cx="1331366"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Gen 12 — Malachi</a:t>
            </a:r>
            <a:endParaRPr lang="en-US" sz="900" dirty="0"/>
          </a:p>
        </p:txBody>
      </p:sp>
      <p:sp>
        <p:nvSpPr>
          <p:cNvPr id="11" name="Shape 8"/>
          <p:cNvSpPr/>
          <p:nvPr/>
        </p:nvSpPr>
        <p:spPr>
          <a:xfrm>
            <a:off x="1939442" y="2121408"/>
            <a:ext cx="201168" cy="237744"/>
          </a:xfrm>
          <a:prstGeom prst="rightArrow">
            <a:avLst/>
          </a:prstGeom>
          <a:solidFill>
            <a:srgbClr val="6B7280"/>
          </a:solidFill>
          <a:ln w="12700">
            <a:solidFill>
              <a:srgbClr val="6B7280"/>
            </a:solidFill>
            <a:prstDash val="solid"/>
          </a:ln>
        </p:spPr>
      </p:sp>
      <p:sp>
        <p:nvSpPr>
          <p:cNvPr id="12" name="Shape 9"/>
          <p:cNvSpPr/>
          <p:nvPr/>
        </p:nvSpPr>
        <p:spPr>
          <a:xfrm>
            <a:off x="2145182" y="1188720"/>
            <a:ext cx="1477670" cy="2103120"/>
          </a:xfrm>
          <a:prstGeom prst="roundRect">
            <a:avLst>
              <a:gd name="adj" fmla="val 3713"/>
            </a:avLst>
          </a:prstGeom>
          <a:solidFill>
            <a:srgbClr val="F2F6FC"/>
          </a:solidFill>
          <a:ln w="9525">
            <a:solidFill>
              <a:srgbClr val="D5DCEA"/>
            </a:solidFill>
            <a:prstDash val="solid"/>
          </a:ln>
        </p:spPr>
      </p:sp>
      <p:sp>
        <p:nvSpPr>
          <p:cNvPr id="13" name="Shape 10"/>
          <p:cNvSpPr/>
          <p:nvPr/>
        </p:nvSpPr>
        <p:spPr>
          <a:xfrm>
            <a:off x="2682850" y="1298448"/>
            <a:ext cx="402336" cy="402336"/>
          </a:xfrm>
          <a:prstGeom prst="ellipse">
            <a:avLst/>
          </a:prstGeom>
          <a:solidFill>
            <a:srgbClr val="2E5496"/>
          </a:solidFill>
          <a:ln w="12700">
            <a:solidFill>
              <a:srgbClr val="2E5496"/>
            </a:solidFill>
            <a:prstDash val="solid"/>
          </a:ln>
        </p:spPr>
      </p:sp>
      <p:sp>
        <p:nvSpPr>
          <p:cNvPr id="14" name="Text 11"/>
          <p:cNvSpPr/>
          <p:nvPr/>
        </p:nvSpPr>
        <p:spPr>
          <a:xfrm>
            <a:off x="2682850"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5" name="Text 12"/>
          <p:cNvSpPr/>
          <p:nvPr/>
        </p:nvSpPr>
        <p:spPr>
          <a:xfrm>
            <a:off x="2218334"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Pentecost</a:t>
            </a:r>
            <a:endParaRPr lang="en-US" sz="1150" dirty="0"/>
          </a:p>
        </p:txBody>
      </p:sp>
      <p:sp>
        <p:nvSpPr>
          <p:cNvPr id="16" name="Text 13"/>
          <p:cNvSpPr/>
          <p:nvPr/>
        </p:nvSpPr>
        <p:spPr>
          <a:xfrm>
            <a:off x="2218334" y="2157984"/>
            <a:ext cx="1331366" cy="74980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The Church begins — the Spirit in believers</a:t>
            </a:r>
            <a:endParaRPr lang="en-US" sz="1150" dirty="0"/>
          </a:p>
        </p:txBody>
      </p:sp>
      <p:sp>
        <p:nvSpPr>
          <p:cNvPr id="17" name="Text 14"/>
          <p:cNvSpPr/>
          <p:nvPr/>
        </p:nvSpPr>
        <p:spPr>
          <a:xfrm>
            <a:off x="2218334" y="2907792"/>
            <a:ext cx="1331366"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Acts 2</a:t>
            </a:r>
            <a:endParaRPr lang="en-US" sz="900" dirty="0"/>
          </a:p>
        </p:txBody>
      </p:sp>
      <p:sp>
        <p:nvSpPr>
          <p:cNvPr id="18" name="Shape 15"/>
          <p:cNvSpPr/>
          <p:nvPr/>
        </p:nvSpPr>
        <p:spPr>
          <a:xfrm>
            <a:off x="3627425" y="2121408"/>
            <a:ext cx="201168" cy="237744"/>
          </a:xfrm>
          <a:prstGeom prst="rightArrow">
            <a:avLst/>
          </a:prstGeom>
          <a:solidFill>
            <a:srgbClr val="6B7280"/>
          </a:solidFill>
          <a:ln w="12700">
            <a:solidFill>
              <a:srgbClr val="6B7280"/>
            </a:solidFill>
            <a:prstDash val="solid"/>
          </a:ln>
        </p:spPr>
      </p:sp>
      <p:sp>
        <p:nvSpPr>
          <p:cNvPr id="19" name="Shape 16"/>
          <p:cNvSpPr/>
          <p:nvPr/>
        </p:nvSpPr>
        <p:spPr>
          <a:xfrm>
            <a:off x="3833165" y="1188720"/>
            <a:ext cx="1477670" cy="2103120"/>
          </a:xfrm>
          <a:prstGeom prst="roundRect">
            <a:avLst>
              <a:gd name="adj" fmla="val 3713"/>
            </a:avLst>
          </a:prstGeom>
          <a:solidFill>
            <a:srgbClr val="1F3864"/>
          </a:solidFill>
          <a:ln w="9525">
            <a:solidFill>
              <a:srgbClr val="1F3864"/>
            </a:solidFill>
            <a:prstDash val="solid"/>
          </a:ln>
        </p:spPr>
      </p:sp>
      <p:sp>
        <p:nvSpPr>
          <p:cNvPr id="20" name="Shape 17"/>
          <p:cNvSpPr/>
          <p:nvPr/>
        </p:nvSpPr>
        <p:spPr>
          <a:xfrm>
            <a:off x="4370832" y="1298448"/>
            <a:ext cx="402336" cy="402336"/>
          </a:xfrm>
          <a:prstGeom prst="ellipse">
            <a:avLst/>
          </a:prstGeom>
          <a:solidFill>
            <a:srgbClr val="FFFFFF"/>
          </a:solidFill>
          <a:ln w="12700">
            <a:solidFill>
              <a:srgbClr val="FFFFFF"/>
            </a:solidFill>
            <a:prstDash val="solid"/>
          </a:ln>
        </p:spPr>
      </p:sp>
      <p:sp>
        <p:nvSpPr>
          <p:cNvPr id="21" name="Text 18"/>
          <p:cNvSpPr/>
          <p:nvPr/>
        </p:nvSpPr>
        <p:spPr>
          <a:xfrm>
            <a:off x="4370832" y="1298448"/>
            <a:ext cx="402336" cy="402336"/>
          </a:xfrm>
          <a:prstGeom prst="rect">
            <a:avLst/>
          </a:prstGeom>
          <a:noFill/>
          <a:ln/>
        </p:spPr>
        <p:txBody>
          <a:bodyPr wrap="square" lIns="0" tIns="0" rIns="0" bIns="0" rtlCol="0" anchor="ctr"/>
          <a:lstStyle/>
          <a:p>
            <a:pPr algn="ctr" indent="0" marL="0">
              <a:buNone/>
            </a:pPr>
            <a:r>
              <a:rPr lang="en-US" sz="1300" b="1" dirty="0">
                <a:solidFill>
                  <a:srgbClr val="1F3864"/>
                </a:solidFill>
                <a:latin typeface="Arial" pitchFamily="34" charset="0"/>
                <a:ea typeface="Arial" pitchFamily="34" charset="-122"/>
                <a:cs typeface="Arial" pitchFamily="34" charset="-120"/>
              </a:rPr>
              <a:t>C</a:t>
            </a:r>
            <a:endParaRPr lang="en-US" sz="1300" dirty="0"/>
          </a:p>
        </p:txBody>
      </p:sp>
      <p:sp>
        <p:nvSpPr>
          <p:cNvPr id="22" name="Text 19"/>
          <p:cNvSpPr/>
          <p:nvPr/>
        </p:nvSpPr>
        <p:spPr>
          <a:xfrm>
            <a:off x="3906317" y="1773936"/>
            <a:ext cx="1331366"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The Church Age</a:t>
            </a:r>
            <a:endParaRPr lang="en-US" sz="1150" dirty="0"/>
          </a:p>
        </p:txBody>
      </p:sp>
      <p:sp>
        <p:nvSpPr>
          <p:cNvPr id="23" name="Text 20"/>
          <p:cNvSpPr/>
          <p:nvPr/>
        </p:nvSpPr>
        <p:spPr>
          <a:xfrm>
            <a:off x="3906317" y="2157984"/>
            <a:ext cx="1331366" cy="749808"/>
          </a:xfrm>
          <a:prstGeom prst="rect">
            <a:avLst/>
          </a:prstGeom>
          <a:noFill/>
          <a:ln/>
        </p:spPr>
        <p:txBody>
          <a:bodyPr wrap="square" lIns="0" tIns="0" rIns="0" bIns="0" rtlCol="0" anchor="t"/>
          <a:lstStyle/>
          <a:p>
            <a:pPr algn="ctr" indent="0" marL="0">
              <a:buNone/>
            </a:pPr>
            <a:r>
              <a:rPr lang="en-US" sz="1150" dirty="0">
                <a:solidFill>
                  <a:srgbClr val="FFFFFF"/>
                </a:solidFill>
                <a:latin typeface="Arial" pitchFamily="34" charset="0"/>
                <a:ea typeface="Arial" pitchFamily="34" charset="-122"/>
                <a:cs typeface="Arial" pitchFamily="34" charset="-120"/>
              </a:rPr>
              <a:t>Jew and Gentile in one body</a:t>
            </a:r>
            <a:endParaRPr lang="en-US" sz="1150" dirty="0"/>
          </a:p>
        </p:txBody>
      </p:sp>
      <p:sp>
        <p:nvSpPr>
          <p:cNvPr id="24" name="Text 21"/>
          <p:cNvSpPr/>
          <p:nvPr/>
        </p:nvSpPr>
        <p:spPr>
          <a:xfrm>
            <a:off x="3906317" y="2907792"/>
            <a:ext cx="1331366" cy="329184"/>
          </a:xfrm>
          <a:prstGeom prst="rect">
            <a:avLst/>
          </a:prstGeom>
          <a:noFill/>
          <a:ln/>
        </p:spPr>
        <p:txBody>
          <a:bodyPr wrap="square" lIns="0" tIns="0" rIns="0" bIns="0" rtlCol="0" anchor="b"/>
          <a:lstStyle/>
          <a:p>
            <a:pPr algn="ctr" indent="0" marL="0">
              <a:buNone/>
            </a:pPr>
            <a:r>
              <a:rPr lang="en-US" sz="900" i="1" dirty="0">
                <a:solidFill>
                  <a:srgbClr val="DCE4F2"/>
                </a:solidFill>
                <a:latin typeface="Arial" pitchFamily="34" charset="0"/>
                <a:ea typeface="Arial" pitchFamily="34" charset="-122"/>
                <a:cs typeface="Arial" pitchFamily="34" charset="-120"/>
              </a:rPr>
              <a:t>Eph 3:4–9</a:t>
            </a:r>
            <a:endParaRPr lang="en-US" sz="900" dirty="0"/>
          </a:p>
        </p:txBody>
      </p:sp>
      <p:sp>
        <p:nvSpPr>
          <p:cNvPr id="25" name="Shape 22"/>
          <p:cNvSpPr/>
          <p:nvPr/>
        </p:nvSpPr>
        <p:spPr>
          <a:xfrm>
            <a:off x="5315407" y="2121408"/>
            <a:ext cx="201168" cy="237744"/>
          </a:xfrm>
          <a:prstGeom prst="rightArrow">
            <a:avLst/>
          </a:prstGeom>
          <a:solidFill>
            <a:srgbClr val="6B7280"/>
          </a:solidFill>
          <a:ln w="12700">
            <a:solidFill>
              <a:srgbClr val="6B7280"/>
            </a:solidFill>
            <a:prstDash val="solid"/>
          </a:ln>
        </p:spPr>
      </p:sp>
      <p:sp>
        <p:nvSpPr>
          <p:cNvPr id="26" name="Shape 23"/>
          <p:cNvSpPr/>
          <p:nvPr/>
        </p:nvSpPr>
        <p:spPr>
          <a:xfrm>
            <a:off x="5521147" y="1188720"/>
            <a:ext cx="1477670" cy="2103120"/>
          </a:xfrm>
          <a:prstGeom prst="roundRect">
            <a:avLst>
              <a:gd name="adj" fmla="val 3713"/>
            </a:avLst>
          </a:prstGeom>
          <a:solidFill>
            <a:srgbClr val="F2F6FC"/>
          </a:solidFill>
          <a:ln w="9525">
            <a:solidFill>
              <a:srgbClr val="D5DCEA"/>
            </a:solidFill>
            <a:prstDash val="solid"/>
          </a:ln>
        </p:spPr>
      </p:sp>
      <p:sp>
        <p:nvSpPr>
          <p:cNvPr id="27" name="Shape 24"/>
          <p:cNvSpPr/>
          <p:nvPr/>
        </p:nvSpPr>
        <p:spPr>
          <a:xfrm>
            <a:off x="6058814" y="1298448"/>
            <a:ext cx="402336" cy="402336"/>
          </a:xfrm>
          <a:prstGeom prst="ellipse">
            <a:avLst/>
          </a:prstGeom>
          <a:solidFill>
            <a:srgbClr val="2E5496"/>
          </a:solidFill>
          <a:ln w="12700">
            <a:solidFill>
              <a:srgbClr val="2E5496"/>
            </a:solidFill>
            <a:prstDash val="solid"/>
          </a:ln>
        </p:spPr>
      </p:sp>
      <p:sp>
        <p:nvSpPr>
          <p:cNvPr id="28" name="Text 25"/>
          <p:cNvSpPr/>
          <p:nvPr/>
        </p:nvSpPr>
        <p:spPr>
          <a:xfrm>
            <a:off x="6058814"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D</a:t>
            </a:r>
            <a:endParaRPr lang="en-US" sz="1300" dirty="0"/>
          </a:p>
        </p:txBody>
      </p:sp>
      <p:sp>
        <p:nvSpPr>
          <p:cNvPr id="29" name="Text 26"/>
          <p:cNvSpPr/>
          <p:nvPr/>
        </p:nvSpPr>
        <p:spPr>
          <a:xfrm>
            <a:off x="5594299"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The Rapture</a:t>
            </a:r>
            <a:endParaRPr lang="en-US" sz="1150" dirty="0"/>
          </a:p>
        </p:txBody>
      </p:sp>
      <p:sp>
        <p:nvSpPr>
          <p:cNvPr id="30" name="Text 27"/>
          <p:cNvSpPr/>
          <p:nvPr/>
        </p:nvSpPr>
        <p:spPr>
          <a:xfrm>
            <a:off x="5594299" y="2157984"/>
            <a:ext cx="1331366" cy="74980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“We shall all be changed”</a:t>
            </a:r>
            <a:endParaRPr lang="en-US" sz="1150" dirty="0"/>
          </a:p>
        </p:txBody>
      </p:sp>
      <p:sp>
        <p:nvSpPr>
          <p:cNvPr id="31" name="Text 28"/>
          <p:cNvSpPr/>
          <p:nvPr/>
        </p:nvSpPr>
        <p:spPr>
          <a:xfrm>
            <a:off x="5594299" y="2907792"/>
            <a:ext cx="1331366"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1 Cor 15:51 · 1 Thess 4:17</a:t>
            </a:r>
            <a:endParaRPr lang="en-US" sz="900" dirty="0"/>
          </a:p>
        </p:txBody>
      </p:sp>
      <p:sp>
        <p:nvSpPr>
          <p:cNvPr id="32" name="Shape 29"/>
          <p:cNvSpPr/>
          <p:nvPr/>
        </p:nvSpPr>
        <p:spPr>
          <a:xfrm>
            <a:off x="7003390" y="2121408"/>
            <a:ext cx="201168" cy="237744"/>
          </a:xfrm>
          <a:prstGeom prst="rightArrow">
            <a:avLst/>
          </a:prstGeom>
          <a:solidFill>
            <a:srgbClr val="6B7280"/>
          </a:solidFill>
          <a:ln w="12700">
            <a:solidFill>
              <a:srgbClr val="6B7280"/>
            </a:solidFill>
            <a:prstDash val="solid"/>
          </a:ln>
        </p:spPr>
      </p:sp>
      <p:sp>
        <p:nvSpPr>
          <p:cNvPr id="33" name="Shape 30"/>
          <p:cNvSpPr/>
          <p:nvPr/>
        </p:nvSpPr>
        <p:spPr>
          <a:xfrm>
            <a:off x="7209130" y="1188720"/>
            <a:ext cx="1477670" cy="2103120"/>
          </a:xfrm>
          <a:prstGeom prst="roundRect">
            <a:avLst>
              <a:gd name="adj" fmla="val 3713"/>
            </a:avLst>
          </a:prstGeom>
          <a:solidFill>
            <a:srgbClr val="F2F6FC"/>
          </a:solidFill>
          <a:ln w="9525">
            <a:solidFill>
              <a:srgbClr val="D5DCEA"/>
            </a:solidFill>
            <a:prstDash val="solid"/>
          </a:ln>
        </p:spPr>
      </p:sp>
      <p:sp>
        <p:nvSpPr>
          <p:cNvPr id="34" name="Shape 31"/>
          <p:cNvSpPr/>
          <p:nvPr/>
        </p:nvSpPr>
        <p:spPr>
          <a:xfrm>
            <a:off x="7746797" y="1298448"/>
            <a:ext cx="402336" cy="402336"/>
          </a:xfrm>
          <a:prstGeom prst="ellipse">
            <a:avLst/>
          </a:prstGeom>
          <a:solidFill>
            <a:srgbClr val="2E5496"/>
          </a:solidFill>
          <a:ln w="12700">
            <a:solidFill>
              <a:srgbClr val="2E5496"/>
            </a:solidFill>
            <a:prstDash val="solid"/>
          </a:ln>
        </p:spPr>
      </p:sp>
      <p:sp>
        <p:nvSpPr>
          <p:cNvPr id="35" name="Text 32"/>
          <p:cNvSpPr/>
          <p:nvPr/>
        </p:nvSpPr>
        <p:spPr>
          <a:xfrm>
            <a:off x="7746797"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E</a:t>
            </a:r>
            <a:endParaRPr lang="en-US" sz="1300" dirty="0"/>
          </a:p>
        </p:txBody>
      </p:sp>
      <p:sp>
        <p:nvSpPr>
          <p:cNvPr id="36" name="Text 33"/>
          <p:cNvSpPr/>
          <p:nvPr/>
        </p:nvSpPr>
        <p:spPr>
          <a:xfrm>
            <a:off x="7282282"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Tribulation</a:t>
            </a:r>
            <a:endParaRPr lang="en-US" sz="1150" dirty="0"/>
          </a:p>
        </p:txBody>
      </p:sp>
      <p:sp>
        <p:nvSpPr>
          <p:cNvPr id="37" name="Text 34"/>
          <p:cNvSpPr/>
          <p:nvPr/>
        </p:nvSpPr>
        <p:spPr>
          <a:xfrm>
            <a:off x="7282282" y="2157984"/>
            <a:ext cx="1331366" cy="74980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Those on earth then are not the church</a:t>
            </a:r>
            <a:endParaRPr lang="en-US" sz="1150" dirty="0"/>
          </a:p>
        </p:txBody>
      </p:sp>
      <p:sp>
        <p:nvSpPr>
          <p:cNvPr id="38" name="Text 35"/>
          <p:cNvSpPr/>
          <p:nvPr/>
        </p:nvSpPr>
        <p:spPr>
          <a:xfrm>
            <a:off x="7282282" y="2907792"/>
            <a:ext cx="1331366"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no church on earth</a:t>
            </a:r>
            <a:endParaRPr lang="en-US" sz="900" dirty="0"/>
          </a:p>
        </p:txBody>
      </p:sp>
      <p:sp>
        <p:nvSpPr>
          <p:cNvPr id="39" name="Shape 36"/>
          <p:cNvSpPr/>
          <p:nvPr/>
        </p:nvSpPr>
        <p:spPr>
          <a:xfrm>
            <a:off x="457200" y="3520440"/>
            <a:ext cx="8229600" cy="822960"/>
          </a:xfrm>
          <a:prstGeom prst="roundRect">
            <a:avLst>
              <a:gd name="adj" fmla="val 6667"/>
            </a:avLst>
          </a:prstGeom>
          <a:solidFill>
            <a:srgbClr val="1F3864"/>
          </a:solidFill>
          <a:ln w="12700">
            <a:solidFill>
              <a:srgbClr val="1F3864"/>
            </a:solidFill>
            <a:prstDash val="solid"/>
          </a:ln>
        </p:spPr>
      </p:sp>
      <p:sp>
        <p:nvSpPr>
          <p:cNvPr id="40" name="Text 37"/>
          <p:cNvSpPr/>
          <p:nvPr/>
        </p:nvSpPr>
        <p:spPr>
          <a:xfrm>
            <a:off x="621792" y="3520440"/>
            <a:ext cx="7900416" cy="82296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There was no church on earth before Acts 2 at Pentecost. And there will be no church on earth after the Rapture. It is a unique entity in the plan of God.</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Where are the believers who have died?</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4:13–14 · II.A — A preview</a:t>
            </a:r>
            <a:endParaRPr lang="en-US" sz="1200" dirty="0"/>
          </a:p>
        </p:txBody>
      </p:sp>
      <p:sp>
        <p:nvSpPr>
          <p:cNvPr id="5" name="Shape 2"/>
          <p:cNvSpPr/>
          <p:nvPr/>
        </p:nvSpPr>
        <p:spPr>
          <a:xfrm>
            <a:off x="457200" y="1188720"/>
            <a:ext cx="3931920" cy="566928"/>
          </a:xfrm>
          <a:prstGeom prst="rect">
            <a:avLst/>
          </a:prstGeom>
          <a:solidFill>
            <a:srgbClr val="2E5496"/>
          </a:solidFill>
          <a:ln w="12700">
            <a:solidFill>
              <a:srgbClr val="2E5496"/>
            </a:solidFill>
            <a:prstDash val="solid"/>
          </a:ln>
        </p:spPr>
      </p:sp>
      <p:sp>
        <p:nvSpPr>
          <p:cNvPr id="6" name="Text 3"/>
          <p:cNvSpPr/>
          <p:nvPr/>
        </p:nvSpPr>
        <p:spPr>
          <a:xfrm>
            <a:off x="548640" y="1234440"/>
            <a:ext cx="374904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 body sleeps</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κοιμάω</a:t>
            </a:r>
            <a:pPr indent="0" marL="0">
              <a:buNone/>
            </a:pPr>
            <a:r>
              <a:rPr lang="en-US" sz="850" dirty="0">
                <a:solidFill>
                  <a:srgbClr val="DCE4F2"/>
                </a:solidFill>
                <a:latin typeface="Arial" pitchFamily="34" charset="0"/>
                <a:ea typeface="Arial" pitchFamily="34" charset="-122"/>
                <a:cs typeface="Arial" pitchFamily="34" charset="-120"/>
              </a:rPr>
              <a:t>  to sleep · G2837</a:t>
            </a:r>
            <a:endParaRPr lang="en-US" sz="1200" dirty="0"/>
          </a:p>
        </p:txBody>
      </p:sp>
      <p:sp>
        <p:nvSpPr>
          <p:cNvPr id="7" name="Shape 4"/>
          <p:cNvSpPr/>
          <p:nvPr/>
        </p:nvSpPr>
        <p:spPr>
          <a:xfrm>
            <a:off x="457200" y="1755648"/>
            <a:ext cx="3931920" cy="1764792"/>
          </a:xfrm>
          <a:prstGeom prst="rect">
            <a:avLst/>
          </a:prstGeom>
          <a:solidFill>
            <a:srgbClr val="F2F6FC"/>
          </a:solidFill>
          <a:ln w="9525">
            <a:solidFill>
              <a:srgbClr val="D5DCEA"/>
            </a:solidFill>
            <a:prstDash val="solid"/>
          </a:ln>
        </p:spPr>
      </p:sp>
      <p:sp>
        <p:nvSpPr>
          <p:cNvPr id="8" name="Text 5"/>
          <p:cNvSpPr/>
          <p:nvPr/>
        </p:nvSpPr>
        <p:spPr>
          <a:xfrm>
            <a:off x="548640" y="1828800"/>
            <a:ext cx="3749040" cy="163677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In the grave, an urn, the ocean</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Sleep ends with waking</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 dead in Christ will rise first” (v.16)</a:t>
            </a:r>
            <a:endParaRPr lang="en-US" sz="1250" dirty="0"/>
          </a:p>
        </p:txBody>
      </p:sp>
      <p:sp>
        <p:nvSpPr>
          <p:cNvPr id="9" name="Shape 6"/>
          <p:cNvSpPr/>
          <p:nvPr/>
        </p:nvSpPr>
        <p:spPr>
          <a:xfrm>
            <a:off x="4754880" y="1188720"/>
            <a:ext cx="3931920" cy="566928"/>
          </a:xfrm>
          <a:prstGeom prst="rect">
            <a:avLst/>
          </a:prstGeom>
          <a:solidFill>
            <a:srgbClr val="375623"/>
          </a:solidFill>
          <a:ln w="12700">
            <a:solidFill>
              <a:srgbClr val="375623"/>
            </a:solidFill>
            <a:prstDash val="solid"/>
          </a:ln>
        </p:spPr>
      </p:sp>
      <p:sp>
        <p:nvSpPr>
          <p:cNvPr id="10" name="Text 7"/>
          <p:cNvSpPr/>
          <p:nvPr/>
        </p:nvSpPr>
        <p:spPr>
          <a:xfrm>
            <a:off x="4846320" y="1234440"/>
            <a:ext cx="374904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 soul is with the Lord</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ἄγω</a:t>
            </a:r>
            <a:pPr indent="0" marL="0">
              <a:buNone/>
            </a:pPr>
            <a:r>
              <a:rPr lang="en-US" sz="850" dirty="0">
                <a:solidFill>
                  <a:srgbClr val="DCE4F2"/>
                </a:solidFill>
                <a:latin typeface="Arial" pitchFamily="34" charset="0"/>
                <a:ea typeface="Arial" pitchFamily="34" charset="-122"/>
                <a:cs typeface="Arial" pitchFamily="34" charset="-120"/>
              </a:rPr>
              <a:t>  will bring · G71</a:t>
            </a:r>
            <a:endParaRPr lang="en-US" sz="1200" dirty="0"/>
          </a:p>
        </p:txBody>
      </p:sp>
      <p:sp>
        <p:nvSpPr>
          <p:cNvPr id="11" name="Shape 8"/>
          <p:cNvSpPr/>
          <p:nvPr/>
        </p:nvSpPr>
        <p:spPr>
          <a:xfrm>
            <a:off x="4754880" y="1755648"/>
            <a:ext cx="3931920" cy="1764792"/>
          </a:xfrm>
          <a:prstGeom prst="rect">
            <a:avLst/>
          </a:prstGeom>
          <a:solidFill>
            <a:srgbClr val="F2F6FC"/>
          </a:solidFill>
          <a:ln w="9525">
            <a:solidFill>
              <a:srgbClr val="D5DCEA"/>
            </a:solidFill>
            <a:prstDash val="solid"/>
          </a:ln>
        </p:spPr>
      </p:sp>
      <p:sp>
        <p:nvSpPr>
          <p:cNvPr id="12" name="Text 9"/>
          <p:cNvSpPr/>
          <p:nvPr/>
        </p:nvSpPr>
        <p:spPr>
          <a:xfrm>
            <a:off x="4846320" y="1828800"/>
            <a:ext cx="3749040" cy="163677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Absent from the body, present with the Lord (2 Cor 5:8)</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“Far better” (Phil 1:23)</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Comes down with Him (v.14)</a:t>
            </a:r>
            <a:endParaRPr lang="en-US" sz="1250" dirty="0"/>
          </a:p>
        </p:txBody>
      </p:sp>
      <p:sp>
        <p:nvSpPr>
          <p:cNvPr id="13" name="Text 10"/>
          <p:cNvSpPr/>
          <p:nvPr/>
        </p:nvSpPr>
        <p:spPr>
          <a:xfrm>
            <a:off x="4389120" y="2171700"/>
            <a:ext cx="365760" cy="365760"/>
          </a:xfrm>
          <a:prstGeom prst="rect">
            <a:avLst/>
          </a:prstGeom>
          <a:noFill/>
          <a:ln/>
        </p:spPr>
        <p:txBody>
          <a:bodyPr wrap="square" lIns="0" tIns="0" rIns="0" bIns="0" rtlCol="0" anchor="ctr"/>
          <a:lstStyle/>
          <a:p>
            <a:pPr algn="ctr" indent="0" marL="0">
              <a:buNone/>
            </a:pPr>
            <a:r>
              <a:rPr lang="en-US" sz="1100" b="1" dirty="0">
                <a:solidFill>
                  <a:srgbClr val="6B7280"/>
                </a:solidFill>
                <a:latin typeface="Arial" pitchFamily="34" charset="0"/>
                <a:ea typeface="Arial" pitchFamily="34" charset="-122"/>
                <a:cs typeface="Arial" pitchFamily="34" charset="-120"/>
              </a:rPr>
              <a:t>+</a:t>
            </a:r>
            <a:endParaRPr lang="en-US" sz="1100" dirty="0"/>
          </a:p>
        </p:txBody>
      </p:sp>
      <p:sp>
        <p:nvSpPr>
          <p:cNvPr id="14" name="Shape 11"/>
          <p:cNvSpPr/>
          <p:nvPr/>
        </p:nvSpPr>
        <p:spPr>
          <a:xfrm>
            <a:off x="457200" y="3749040"/>
            <a:ext cx="8229600" cy="822960"/>
          </a:xfrm>
          <a:prstGeom prst="roundRect">
            <a:avLst>
              <a:gd name="adj" fmla="val 6667"/>
            </a:avLst>
          </a:prstGeom>
          <a:solidFill>
            <a:srgbClr val="1F3864"/>
          </a:solidFill>
          <a:ln w="12700">
            <a:solidFill>
              <a:srgbClr val="1F3864"/>
            </a:solidFill>
            <a:prstDash val="solid"/>
          </a:ln>
        </p:spPr>
      </p:sp>
      <p:sp>
        <p:nvSpPr>
          <p:cNvPr id="15" name="Text 12"/>
          <p:cNvSpPr/>
          <p:nvPr/>
        </p:nvSpPr>
        <p:spPr>
          <a:xfrm>
            <a:off x="621792" y="3749040"/>
            <a:ext cx="7900416" cy="822960"/>
          </a:xfrm>
          <a:prstGeom prst="rect">
            <a:avLst/>
          </a:prstGeom>
          <a:noFill/>
          <a:ln/>
        </p:spPr>
        <p:txBody>
          <a:bodyPr wrap="square" lIns="0" tIns="0" rIns="0" bIns="0" rtlCol="0" anchor="ctr"/>
          <a:lstStyle/>
          <a:p>
            <a:pPr indent="0" marL="0">
              <a:buNone/>
            </a:pPr>
            <a:r>
              <a:rPr lang="en-US" sz="1200" b="1" dirty="0">
                <a:solidFill>
                  <a:srgbClr val="C9D5EE"/>
                </a:solidFill>
                <a:latin typeface="Arial" pitchFamily="34" charset="0"/>
                <a:ea typeface="Arial" pitchFamily="34" charset="-122"/>
                <a:cs typeface="Arial" pitchFamily="34" charset="-120"/>
              </a:rPr>
              <a:t>“Since we believe that Jesus died and rose again”  </a:t>
            </a:r>
            <a:pPr indent="0" marL="0">
              <a:buNone/>
            </a:pPr>
            <a:r>
              <a:rPr lang="en-US" sz="1200" dirty="0">
                <a:solidFill>
                  <a:srgbClr val="FFFFFF"/>
                </a:solidFill>
                <a:latin typeface="Arial" pitchFamily="34" charset="0"/>
                <a:ea typeface="Arial" pitchFamily="34" charset="-122"/>
                <a:cs typeface="Arial" pitchFamily="34" charset="-120"/>
              </a:rPr>
              <a:t>— a first-class condition. If He rose, they rise. We sorrow, but not as others who have no hope (ἐλπίς).</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The Rapture, verse by verse</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4:13–18 · II.A–C — Preview, promise, picture</a:t>
            </a:r>
            <a:endParaRPr lang="en-US" sz="1200" dirty="0"/>
          </a:p>
        </p:txBody>
      </p:sp>
      <p:sp>
        <p:nvSpPr>
          <p:cNvPr id="5" name="Shape 2"/>
          <p:cNvSpPr/>
          <p:nvPr/>
        </p:nvSpPr>
        <p:spPr>
          <a:xfrm>
            <a:off x="457200" y="1115568"/>
            <a:ext cx="777240" cy="457200"/>
          </a:xfrm>
          <a:prstGeom prst="rect">
            <a:avLst/>
          </a:prstGeom>
          <a:solidFill>
            <a:srgbClr val="2E5496"/>
          </a:solidFill>
          <a:ln w="12700">
            <a:solidFill>
              <a:srgbClr val="2E5496"/>
            </a:solidFill>
            <a:prstDash val="solid"/>
          </a:ln>
        </p:spPr>
      </p:sp>
      <p:sp>
        <p:nvSpPr>
          <p:cNvPr id="6" name="Text 3"/>
          <p:cNvSpPr/>
          <p:nvPr/>
        </p:nvSpPr>
        <p:spPr>
          <a:xfrm>
            <a:off x="457200" y="1115568"/>
            <a:ext cx="77724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v.13</a:t>
            </a:r>
            <a:endParaRPr lang="en-US" sz="1100" dirty="0"/>
          </a:p>
        </p:txBody>
      </p:sp>
      <p:sp>
        <p:nvSpPr>
          <p:cNvPr id="7" name="Shape 4"/>
          <p:cNvSpPr/>
          <p:nvPr/>
        </p:nvSpPr>
        <p:spPr>
          <a:xfrm>
            <a:off x="1234440" y="1115568"/>
            <a:ext cx="7452360" cy="457200"/>
          </a:xfrm>
          <a:prstGeom prst="rect">
            <a:avLst/>
          </a:prstGeom>
          <a:solidFill>
            <a:srgbClr val="F2F6FC"/>
          </a:solidFill>
          <a:ln w="9525">
            <a:solidFill>
              <a:srgbClr val="D5DCEA"/>
            </a:solidFill>
            <a:prstDash val="solid"/>
          </a:ln>
        </p:spPr>
      </p:sp>
      <p:sp>
        <p:nvSpPr>
          <p:cNvPr id="8" name="Text 5"/>
          <p:cNvSpPr/>
          <p:nvPr/>
        </p:nvSpPr>
        <p:spPr>
          <a:xfrm>
            <a:off x="1344168" y="1115568"/>
            <a:ext cx="4389120" cy="457200"/>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Don’t be uninformed; don’t grieve as those without hope</a:t>
            </a:r>
            <a:endParaRPr lang="en-US" sz="1150" dirty="0"/>
          </a:p>
        </p:txBody>
      </p:sp>
      <p:sp>
        <p:nvSpPr>
          <p:cNvPr id="9" name="Text 6"/>
          <p:cNvSpPr/>
          <p:nvPr/>
        </p:nvSpPr>
        <p:spPr>
          <a:xfrm>
            <a:off x="5806440" y="1115568"/>
            <a:ext cx="2788920" cy="45720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κοιμάω · ἐλπίς</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asleep, not lost</a:t>
            </a:r>
            <a:endParaRPr lang="en-US" sz="1300" dirty="0"/>
          </a:p>
        </p:txBody>
      </p:sp>
      <p:sp>
        <p:nvSpPr>
          <p:cNvPr id="10" name="Shape 7"/>
          <p:cNvSpPr/>
          <p:nvPr/>
        </p:nvSpPr>
        <p:spPr>
          <a:xfrm>
            <a:off x="457200" y="1627632"/>
            <a:ext cx="777240" cy="457200"/>
          </a:xfrm>
          <a:prstGeom prst="rect">
            <a:avLst/>
          </a:prstGeom>
          <a:solidFill>
            <a:srgbClr val="2E5496"/>
          </a:solidFill>
          <a:ln w="12700">
            <a:solidFill>
              <a:srgbClr val="2E5496"/>
            </a:solidFill>
            <a:prstDash val="solid"/>
          </a:ln>
        </p:spPr>
      </p:sp>
      <p:sp>
        <p:nvSpPr>
          <p:cNvPr id="11" name="Text 8"/>
          <p:cNvSpPr/>
          <p:nvPr/>
        </p:nvSpPr>
        <p:spPr>
          <a:xfrm>
            <a:off x="457200" y="1627632"/>
            <a:ext cx="77724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v.14</a:t>
            </a:r>
            <a:endParaRPr lang="en-US" sz="1100" dirty="0"/>
          </a:p>
        </p:txBody>
      </p:sp>
      <p:sp>
        <p:nvSpPr>
          <p:cNvPr id="12" name="Shape 9"/>
          <p:cNvSpPr/>
          <p:nvPr/>
        </p:nvSpPr>
        <p:spPr>
          <a:xfrm>
            <a:off x="1234440" y="1627632"/>
            <a:ext cx="7452360" cy="457200"/>
          </a:xfrm>
          <a:prstGeom prst="rect">
            <a:avLst/>
          </a:prstGeom>
          <a:solidFill>
            <a:srgbClr val="FFFFFF"/>
          </a:solidFill>
          <a:ln w="9525">
            <a:solidFill>
              <a:srgbClr val="D5DCEA"/>
            </a:solidFill>
            <a:prstDash val="solid"/>
          </a:ln>
        </p:spPr>
      </p:sp>
      <p:sp>
        <p:nvSpPr>
          <p:cNvPr id="13" name="Text 10"/>
          <p:cNvSpPr/>
          <p:nvPr/>
        </p:nvSpPr>
        <p:spPr>
          <a:xfrm>
            <a:off x="1344168" y="1627632"/>
            <a:ext cx="4389120" cy="457200"/>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Since Jesus died and rose, God will bring them with Him</a:t>
            </a:r>
            <a:endParaRPr lang="en-US" sz="1150" dirty="0"/>
          </a:p>
        </p:txBody>
      </p:sp>
      <p:sp>
        <p:nvSpPr>
          <p:cNvPr id="14" name="Text 11"/>
          <p:cNvSpPr/>
          <p:nvPr/>
        </p:nvSpPr>
        <p:spPr>
          <a:xfrm>
            <a:off x="5806440" y="1627632"/>
            <a:ext cx="2788920" cy="45720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ἄγω</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will bring — purposeful motion</a:t>
            </a:r>
            <a:endParaRPr lang="en-US" sz="1300" dirty="0"/>
          </a:p>
        </p:txBody>
      </p:sp>
      <p:sp>
        <p:nvSpPr>
          <p:cNvPr id="15" name="Shape 12"/>
          <p:cNvSpPr/>
          <p:nvPr/>
        </p:nvSpPr>
        <p:spPr>
          <a:xfrm>
            <a:off x="457200" y="2139696"/>
            <a:ext cx="777240" cy="457200"/>
          </a:xfrm>
          <a:prstGeom prst="rect">
            <a:avLst/>
          </a:prstGeom>
          <a:solidFill>
            <a:srgbClr val="2E5496"/>
          </a:solidFill>
          <a:ln w="12700">
            <a:solidFill>
              <a:srgbClr val="2E5496"/>
            </a:solidFill>
            <a:prstDash val="solid"/>
          </a:ln>
        </p:spPr>
      </p:sp>
      <p:sp>
        <p:nvSpPr>
          <p:cNvPr id="16" name="Text 13"/>
          <p:cNvSpPr/>
          <p:nvPr/>
        </p:nvSpPr>
        <p:spPr>
          <a:xfrm>
            <a:off x="457200" y="2139696"/>
            <a:ext cx="77724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v.15</a:t>
            </a:r>
            <a:endParaRPr lang="en-US" sz="1100" dirty="0"/>
          </a:p>
        </p:txBody>
      </p:sp>
      <p:sp>
        <p:nvSpPr>
          <p:cNvPr id="17" name="Shape 14"/>
          <p:cNvSpPr/>
          <p:nvPr/>
        </p:nvSpPr>
        <p:spPr>
          <a:xfrm>
            <a:off x="1234440" y="2139696"/>
            <a:ext cx="7452360" cy="457200"/>
          </a:xfrm>
          <a:prstGeom prst="rect">
            <a:avLst/>
          </a:prstGeom>
          <a:solidFill>
            <a:srgbClr val="F2F6FC"/>
          </a:solidFill>
          <a:ln w="9525">
            <a:solidFill>
              <a:srgbClr val="D5DCEA"/>
            </a:solidFill>
            <a:prstDash val="solid"/>
          </a:ln>
        </p:spPr>
      </p:sp>
      <p:sp>
        <p:nvSpPr>
          <p:cNvPr id="18" name="Text 15"/>
          <p:cNvSpPr/>
          <p:nvPr/>
        </p:nvSpPr>
        <p:spPr>
          <a:xfrm>
            <a:off x="1344168" y="2139696"/>
            <a:ext cx="4389120" cy="457200"/>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By the word of the Lord: the living will not precede the dead</a:t>
            </a:r>
            <a:endParaRPr lang="en-US" sz="1150" dirty="0"/>
          </a:p>
        </p:txBody>
      </p:sp>
      <p:sp>
        <p:nvSpPr>
          <p:cNvPr id="19" name="Text 16"/>
          <p:cNvSpPr/>
          <p:nvPr/>
        </p:nvSpPr>
        <p:spPr>
          <a:xfrm>
            <a:off x="5806440" y="2139696"/>
            <a:ext cx="2788920" cy="45720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φθάνω · παρουσία</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no believer gets there first</a:t>
            </a:r>
            <a:endParaRPr lang="en-US" sz="1300" dirty="0"/>
          </a:p>
        </p:txBody>
      </p:sp>
      <p:sp>
        <p:nvSpPr>
          <p:cNvPr id="20" name="Shape 17"/>
          <p:cNvSpPr/>
          <p:nvPr/>
        </p:nvSpPr>
        <p:spPr>
          <a:xfrm>
            <a:off x="457200" y="2651760"/>
            <a:ext cx="777240" cy="457200"/>
          </a:xfrm>
          <a:prstGeom prst="rect">
            <a:avLst/>
          </a:prstGeom>
          <a:solidFill>
            <a:srgbClr val="2E5496"/>
          </a:solidFill>
          <a:ln w="12700">
            <a:solidFill>
              <a:srgbClr val="2E5496"/>
            </a:solidFill>
            <a:prstDash val="solid"/>
          </a:ln>
        </p:spPr>
      </p:sp>
      <p:sp>
        <p:nvSpPr>
          <p:cNvPr id="21" name="Text 18"/>
          <p:cNvSpPr/>
          <p:nvPr/>
        </p:nvSpPr>
        <p:spPr>
          <a:xfrm>
            <a:off x="457200" y="2651760"/>
            <a:ext cx="77724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v.16a</a:t>
            </a:r>
            <a:endParaRPr lang="en-US" sz="1100" dirty="0"/>
          </a:p>
        </p:txBody>
      </p:sp>
      <p:sp>
        <p:nvSpPr>
          <p:cNvPr id="22" name="Shape 19"/>
          <p:cNvSpPr/>
          <p:nvPr/>
        </p:nvSpPr>
        <p:spPr>
          <a:xfrm>
            <a:off x="1234440" y="2651760"/>
            <a:ext cx="7452360" cy="457200"/>
          </a:xfrm>
          <a:prstGeom prst="rect">
            <a:avLst/>
          </a:prstGeom>
          <a:solidFill>
            <a:srgbClr val="FFFFFF"/>
          </a:solidFill>
          <a:ln w="9525">
            <a:solidFill>
              <a:srgbClr val="D5DCEA"/>
            </a:solidFill>
            <a:prstDash val="solid"/>
          </a:ln>
        </p:spPr>
      </p:sp>
      <p:sp>
        <p:nvSpPr>
          <p:cNvPr id="23" name="Text 20"/>
          <p:cNvSpPr/>
          <p:nvPr/>
        </p:nvSpPr>
        <p:spPr>
          <a:xfrm>
            <a:off x="1344168" y="2651760"/>
            <a:ext cx="4389120" cy="457200"/>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The Lord Himself descends — shout, archangel, trumpet</a:t>
            </a:r>
            <a:endParaRPr lang="en-US" sz="1150" dirty="0"/>
          </a:p>
        </p:txBody>
      </p:sp>
      <p:sp>
        <p:nvSpPr>
          <p:cNvPr id="24" name="Text 21"/>
          <p:cNvSpPr/>
          <p:nvPr/>
        </p:nvSpPr>
        <p:spPr>
          <a:xfrm>
            <a:off x="5806440" y="2651760"/>
            <a:ext cx="2788920" cy="45720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κέλευσμα</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a commanding shout</a:t>
            </a:r>
            <a:endParaRPr lang="en-US" sz="1300" dirty="0"/>
          </a:p>
        </p:txBody>
      </p:sp>
      <p:sp>
        <p:nvSpPr>
          <p:cNvPr id="25" name="Shape 22"/>
          <p:cNvSpPr/>
          <p:nvPr/>
        </p:nvSpPr>
        <p:spPr>
          <a:xfrm>
            <a:off x="457200" y="3163824"/>
            <a:ext cx="777240" cy="457200"/>
          </a:xfrm>
          <a:prstGeom prst="rect">
            <a:avLst/>
          </a:prstGeom>
          <a:solidFill>
            <a:srgbClr val="2E5496"/>
          </a:solidFill>
          <a:ln w="12700">
            <a:solidFill>
              <a:srgbClr val="2E5496"/>
            </a:solidFill>
            <a:prstDash val="solid"/>
          </a:ln>
        </p:spPr>
      </p:sp>
      <p:sp>
        <p:nvSpPr>
          <p:cNvPr id="26" name="Text 23"/>
          <p:cNvSpPr/>
          <p:nvPr/>
        </p:nvSpPr>
        <p:spPr>
          <a:xfrm>
            <a:off x="457200" y="3163824"/>
            <a:ext cx="77724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v.16b</a:t>
            </a:r>
            <a:endParaRPr lang="en-US" sz="1100" dirty="0"/>
          </a:p>
        </p:txBody>
      </p:sp>
      <p:sp>
        <p:nvSpPr>
          <p:cNvPr id="27" name="Shape 24"/>
          <p:cNvSpPr/>
          <p:nvPr/>
        </p:nvSpPr>
        <p:spPr>
          <a:xfrm>
            <a:off x="1234440" y="3163824"/>
            <a:ext cx="7452360" cy="457200"/>
          </a:xfrm>
          <a:prstGeom prst="rect">
            <a:avLst/>
          </a:prstGeom>
          <a:solidFill>
            <a:srgbClr val="F2F6FC"/>
          </a:solidFill>
          <a:ln w="9525">
            <a:solidFill>
              <a:srgbClr val="D5DCEA"/>
            </a:solidFill>
            <a:prstDash val="solid"/>
          </a:ln>
        </p:spPr>
      </p:sp>
      <p:sp>
        <p:nvSpPr>
          <p:cNvPr id="28" name="Text 25"/>
          <p:cNvSpPr/>
          <p:nvPr/>
        </p:nvSpPr>
        <p:spPr>
          <a:xfrm>
            <a:off x="1344168" y="3163824"/>
            <a:ext cx="4389120" cy="457200"/>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The dead in Christ will rise first</a:t>
            </a:r>
            <a:endParaRPr lang="en-US" sz="1150" dirty="0"/>
          </a:p>
        </p:txBody>
      </p:sp>
      <p:sp>
        <p:nvSpPr>
          <p:cNvPr id="29" name="Text 26"/>
          <p:cNvSpPr/>
          <p:nvPr/>
        </p:nvSpPr>
        <p:spPr>
          <a:xfrm>
            <a:off x="5806440" y="3163824"/>
            <a:ext cx="2788920" cy="45720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they are going ahead</a:t>
            </a:r>
            <a:endParaRPr lang="en-US" sz="1300" dirty="0"/>
          </a:p>
        </p:txBody>
      </p:sp>
      <p:sp>
        <p:nvSpPr>
          <p:cNvPr id="30" name="Shape 27"/>
          <p:cNvSpPr/>
          <p:nvPr/>
        </p:nvSpPr>
        <p:spPr>
          <a:xfrm>
            <a:off x="457200" y="3675888"/>
            <a:ext cx="777240" cy="457200"/>
          </a:xfrm>
          <a:prstGeom prst="rect">
            <a:avLst/>
          </a:prstGeom>
          <a:solidFill>
            <a:srgbClr val="2E5496"/>
          </a:solidFill>
          <a:ln w="12700">
            <a:solidFill>
              <a:srgbClr val="2E5496"/>
            </a:solidFill>
            <a:prstDash val="solid"/>
          </a:ln>
        </p:spPr>
      </p:sp>
      <p:sp>
        <p:nvSpPr>
          <p:cNvPr id="31" name="Text 28"/>
          <p:cNvSpPr/>
          <p:nvPr/>
        </p:nvSpPr>
        <p:spPr>
          <a:xfrm>
            <a:off x="457200" y="3675888"/>
            <a:ext cx="77724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v.17</a:t>
            </a:r>
            <a:endParaRPr lang="en-US" sz="1100" dirty="0"/>
          </a:p>
        </p:txBody>
      </p:sp>
      <p:sp>
        <p:nvSpPr>
          <p:cNvPr id="32" name="Shape 29"/>
          <p:cNvSpPr/>
          <p:nvPr/>
        </p:nvSpPr>
        <p:spPr>
          <a:xfrm>
            <a:off x="1234440" y="3675888"/>
            <a:ext cx="7452360" cy="457200"/>
          </a:xfrm>
          <a:prstGeom prst="rect">
            <a:avLst/>
          </a:prstGeom>
          <a:solidFill>
            <a:srgbClr val="FFFFFF"/>
          </a:solidFill>
          <a:ln w="9525">
            <a:solidFill>
              <a:srgbClr val="D5DCEA"/>
            </a:solidFill>
            <a:prstDash val="solid"/>
          </a:ln>
        </p:spPr>
      </p:sp>
      <p:sp>
        <p:nvSpPr>
          <p:cNvPr id="33" name="Text 30"/>
          <p:cNvSpPr/>
          <p:nvPr/>
        </p:nvSpPr>
        <p:spPr>
          <a:xfrm>
            <a:off x="1344168" y="3675888"/>
            <a:ext cx="4389120" cy="457200"/>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Caught up together to meet the Lord in the air</a:t>
            </a:r>
            <a:endParaRPr lang="en-US" sz="1150" dirty="0"/>
          </a:p>
        </p:txBody>
      </p:sp>
      <p:sp>
        <p:nvSpPr>
          <p:cNvPr id="34" name="Text 31"/>
          <p:cNvSpPr/>
          <p:nvPr/>
        </p:nvSpPr>
        <p:spPr>
          <a:xfrm>
            <a:off x="5806440" y="3675888"/>
            <a:ext cx="2788920" cy="45720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ἁρπάζω · ἀπάντησις</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sudden taking · to meet</a:t>
            </a:r>
            <a:endParaRPr lang="en-US" sz="1300" dirty="0"/>
          </a:p>
        </p:txBody>
      </p:sp>
      <p:sp>
        <p:nvSpPr>
          <p:cNvPr id="35" name="Shape 32"/>
          <p:cNvSpPr/>
          <p:nvPr/>
        </p:nvSpPr>
        <p:spPr>
          <a:xfrm>
            <a:off x="457200" y="4187952"/>
            <a:ext cx="777240" cy="457200"/>
          </a:xfrm>
          <a:prstGeom prst="rect">
            <a:avLst/>
          </a:prstGeom>
          <a:solidFill>
            <a:srgbClr val="375623"/>
          </a:solidFill>
          <a:ln w="12700">
            <a:solidFill>
              <a:srgbClr val="375623"/>
            </a:solidFill>
            <a:prstDash val="solid"/>
          </a:ln>
        </p:spPr>
      </p:sp>
      <p:sp>
        <p:nvSpPr>
          <p:cNvPr id="36" name="Text 33"/>
          <p:cNvSpPr/>
          <p:nvPr/>
        </p:nvSpPr>
        <p:spPr>
          <a:xfrm>
            <a:off x="457200" y="4187952"/>
            <a:ext cx="77724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v.18</a:t>
            </a:r>
            <a:endParaRPr lang="en-US" sz="1100" dirty="0"/>
          </a:p>
        </p:txBody>
      </p:sp>
      <p:sp>
        <p:nvSpPr>
          <p:cNvPr id="37" name="Shape 34"/>
          <p:cNvSpPr/>
          <p:nvPr/>
        </p:nvSpPr>
        <p:spPr>
          <a:xfrm>
            <a:off x="1234440" y="4187952"/>
            <a:ext cx="7452360" cy="457200"/>
          </a:xfrm>
          <a:prstGeom prst="rect">
            <a:avLst/>
          </a:prstGeom>
          <a:solidFill>
            <a:srgbClr val="F2F6FC"/>
          </a:solidFill>
          <a:ln w="9525">
            <a:solidFill>
              <a:srgbClr val="D5DCEA"/>
            </a:solidFill>
            <a:prstDash val="solid"/>
          </a:ln>
        </p:spPr>
      </p:sp>
      <p:sp>
        <p:nvSpPr>
          <p:cNvPr id="38" name="Text 35"/>
          <p:cNvSpPr/>
          <p:nvPr/>
        </p:nvSpPr>
        <p:spPr>
          <a:xfrm>
            <a:off x="1344168" y="4187952"/>
            <a:ext cx="4389120" cy="457200"/>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Therefore comfort one another with these words</a:t>
            </a:r>
            <a:endParaRPr lang="en-US" sz="1150" dirty="0"/>
          </a:p>
        </p:txBody>
      </p:sp>
      <p:sp>
        <p:nvSpPr>
          <p:cNvPr id="39" name="Text 36"/>
          <p:cNvSpPr/>
          <p:nvPr/>
        </p:nvSpPr>
        <p:spPr>
          <a:xfrm>
            <a:off x="5806440" y="4187952"/>
            <a:ext cx="2788920" cy="45720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παρακαλέω</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the doctrine’s purpose</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Three sounds at one moment</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4:16 · II.C.1 — The resurrection</a:t>
            </a:r>
            <a:endParaRPr lang="en-US" sz="1200" dirty="0"/>
          </a:p>
        </p:txBody>
      </p:sp>
      <p:sp>
        <p:nvSpPr>
          <p:cNvPr id="5" name="Shape 2"/>
          <p:cNvSpPr/>
          <p:nvPr/>
        </p:nvSpPr>
        <p:spPr>
          <a:xfrm>
            <a:off x="457200" y="1188720"/>
            <a:ext cx="2621280" cy="566928"/>
          </a:xfrm>
          <a:prstGeom prst="rect">
            <a:avLst/>
          </a:prstGeom>
          <a:solidFill>
            <a:srgbClr val="2E5496"/>
          </a:solidFill>
          <a:ln w="12700">
            <a:solidFill>
              <a:srgbClr val="2E5496"/>
            </a:solidFill>
            <a:prstDash val="solid"/>
          </a:ln>
        </p:spPr>
      </p:sp>
      <p:sp>
        <p:nvSpPr>
          <p:cNvPr id="6" name="Text 3"/>
          <p:cNvSpPr/>
          <p:nvPr/>
        </p:nvSpPr>
        <p:spPr>
          <a:xfrm>
            <a:off x="548640" y="1234440"/>
            <a:ext cx="24384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 shout</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κέλευσμα</a:t>
            </a:r>
            <a:pPr indent="0" marL="0">
              <a:buNone/>
            </a:pPr>
            <a:r>
              <a:rPr lang="en-US" sz="850" dirty="0">
                <a:solidFill>
                  <a:srgbClr val="DCE4F2"/>
                </a:solidFill>
                <a:latin typeface="Arial" pitchFamily="34" charset="0"/>
                <a:ea typeface="Arial" pitchFamily="34" charset="-122"/>
                <a:cs typeface="Arial" pitchFamily="34" charset="-120"/>
              </a:rPr>
              <a:t>  keleusma · G2752</a:t>
            </a:r>
            <a:endParaRPr lang="en-US" sz="1200" dirty="0"/>
          </a:p>
        </p:txBody>
      </p:sp>
      <p:sp>
        <p:nvSpPr>
          <p:cNvPr id="7" name="Shape 4"/>
          <p:cNvSpPr/>
          <p:nvPr/>
        </p:nvSpPr>
        <p:spPr>
          <a:xfrm>
            <a:off x="457200" y="1755648"/>
            <a:ext cx="2621280" cy="1947672"/>
          </a:xfrm>
          <a:prstGeom prst="rect">
            <a:avLst/>
          </a:prstGeom>
          <a:solidFill>
            <a:srgbClr val="F2F6FC"/>
          </a:solidFill>
          <a:ln w="9525">
            <a:solidFill>
              <a:srgbClr val="D5DCEA"/>
            </a:solidFill>
            <a:prstDash val="solid"/>
          </a:ln>
        </p:spPr>
      </p:sp>
      <p:sp>
        <p:nvSpPr>
          <p:cNvPr id="8" name="Text 5"/>
          <p:cNvSpPr/>
          <p:nvPr/>
        </p:nvSpPr>
        <p:spPr>
          <a:xfrm>
            <a:off x="548640" y="1828800"/>
            <a:ext cx="2438400" cy="181965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Only here in the NT</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 shouted order: hunter to hounds</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Lazarus was called by name — this shout has none</a:t>
            </a:r>
            <a:endParaRPr lang="en-US" sz="1250" dirty="0"/>
          </a:p>
        </p:txBody>
      </p:sp>
      <p:sp>
        <p:nvSpPr>
          <p:cNvPr id="9" name="Shape 6"/>
          <p:cNvSpPr/>
          <p:nvPr/>
        </p:nvSpPr>
        <p:spPr>
          <a:xfrm>
            <a:off x="3261360" y="1188720"/>
            <a:ext cx="2621280" cy="566928"/>
          </a:xfrm>
          <a:prstGeom prst="rect">
            <a:avLst/>
          </a:prstGeom>
          <a:solidFill>
            <a:srgbClr val="2E5496"/>
          </a:solidFill>
          <a:ln w="12700">
            <a:solidFill>
              <a:srgbClr val="2E5496"/>
            </a:solidFill>
            <a:prstDash val="solid"/>
          </a:ln>
        </p:spPr>
      </p:sp>
      <p:sp>
        <p:nvSpPr>
          <p:cNvPr id="10" name="Text 7"/>
          <p:cNvSpPr/>
          <p:nvPr/>
        </p:nvSpPr>
        <p:spPr>
          <a:xfrm>
            <a:off x="3352800" y="1234440"/>
            <a:ext cx="24384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 archangel’s voice</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ἀρχάγγελος</a:t>
            </a:r>
            <a:pPr indent="0" marL="0">
              <a:buNone/>
            </a:pPr>
            <a:r>
              <a:rPr lang="en-US" sz="850" dirty="0">
                <a:solidFill>
                  <a:srgbClr val="DCE4F2"/>
                </a:solidFill>
                <a:latin typeface="Arial" pitchFamily="34" charset="0"/>
                <a:ea typeface="Arial" pitchFamily="34" charset="-122"/>
                <a:cs typeface="Arial" pitchFamily="34" charset="-120"/>
              </a:rPr>
              <a:t>  archangelos · G743</a:t>
            </a:r>
            <a:endParaRPr lang="en-US" sz="1200" dirty="0"/>
          </a:p>
        </p:txBody>
      </p:sp>
      <p:sp>
        <p:nvSpPr>
          <p:cNvPr id="11" name="Shape 8"/>
          <p:cNvSpPr/>
          <p:nvPr/>
        </p:nvSpPr>
        <p:spPr>
          <a:xfrm>
            <a:off x="3261360" y="1755648"/>
            <a:ext cx="2621280" cy="1947672"/>
          </a:xfrm>
          <a:prstGeom prst="rect">
            <a:avLst/>
          </a:prstGeom>
          <a:solidFill>
            <a:srgbClr val="F2F6FC"/>
          </a:solidFill>
          <a:ln w="9525">
            <a:solidFill>
              <a:srgbClr val="D5DCEA"/>
            </a:solidFill>
            <a:prstDash val="solid"/>
          </a:ln>
        </p:spPr>
      </p:sp>
      <p:sp>
        <p:nvSpPr>
          <p:cNvPr id="12" name="Text 9"/>
          <p:cNvSpPr/>
          <p:nvPr/>
        </p:nvSpPr>
        <p:spPr>
          <a:xfrm>
            <a:off x="3352800" y="1828800"/>
            <a:ext cx="2438400" cy="181965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Ruler of angels</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Scripture names one: Michael</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Jude 9; Rev 12:7</a:t>
            </a:r>
            <a:endParaRPr lang="en-US" sz="1250" dirty="0"/>
          </a:p>
        </p:txBody>
      </p:sp>
      <p:sp>
        <p:nvSpPr>
          <p:cNvPr id="13" name="Shape 10"/>
          <p:cNvSpPr/>
          <p:nvPr/>
        </p:nvSpPr>
        <p:spPr>
          <a:xfrm>
            <a:off x="6065520" y="1188720"/>
            <a:ext cx="2621280" cy="566928"/>
          </a:xfrm>
          <a:prstGeom prst="rect">
            <a:avLst/>
          </a:prstGeom>
          <a:solidFill>
            <a:srgbClr val="375623"/>
          </a:solidFill>
          <a:ln w="12700">
            <a:solidFill>
              <a:srgbClr val="375623"/>
            </a:solidFill>
            <a:prstDash val="solid"/>
          </a:ln>
        </p:spPr>
      </p:sp>
      <p:sp>
        <p:nvSpPr>
          <p:cNvPr id="14" name="Text 11"/>
          <p:cNvSpPr/>
          <p:nvPr/>
        </p:nvSpPr>
        <p:spPr>
          <a:xfrm>
            <a:off x="6156960" y="1234440"/>
            <a:ext cx="24384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 trumpet of God</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σάλπιγξ</a:t>
            </a:r>
            <a:pPr indent="0" marL="0">
              <a:buNone/>
            </a:pPr>
            <a:r>
              <a:rPr lang="en-US" sz="850" dirty="0">
                <a:solidFill>
                  <a:srgbClr val="DCE4F2"/>
                </a:solidFill>
                <a:latin typeface="Arial" pitchFamily="34" charset="0"/>
                <a:ea typeface="Arial" pitchFamily="34" charset="-122"/>
                <a:cs typeface="Arial" pitchFamily="34" charset="-120"/>
              </a:rPr>
              <a:t>  salpinx · G4536</a:t>
            </a:r>
            <a:endParaRPr lang="en-US" sz="1200" dirty="0"/>
          </a:p>
        </p:txBody>
      </p:sp>
      <p:sp>
        <p:nvSpPr>
          <p:cNvPr id="15" name="Shape 12"/>
          <p:cNvSpPr/>
          <p:nvPr/>
        </p:nvSpPr>
        <p:spPr>
          <a:xfrm>
            <a:off x="6065520" y="1755648"/>
            <a:ext cx="2621280" cy="1947672"/>
          </a:xfrm>
          <a:prstGeom prst="rect">
            <a:avLst/>
          </a:prstGeom>
          <a:solidFill>
            <a:srgbClr val="F2F6FC"/>
          </a:solidFill>
          <a:ln w="9525">
            <a:solidFill>
              <a:srgbClr val="D5DCEA"/>
            </a:solidFill>
            <a:prstDash val="solid"/>
          </a:ln>
        </p:spPr>
      </p:sp>
      <p:sp>
        <p:nvSpPr>
          <p:cNvPr id="16" name="Text 13"/>
          <p:cNvSpPr/>
          <p:nvPr/>
        </p:nvSpPr>
        <p:spPr>
          <a:xfrm>
            <a:off x="6156960" y="1828800"/>
            <a:ext cx="2438400" cy="181965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 summons, an assembly, a King’s arrival</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All three converge here</a:t>
            </a:r>
            <a:endParaRPr lang="en-US" sz="1250" dirty="0"/>
          </a:p>
        </p:txBody>
      </p:sp>
      <p:sp>
        <p:nvSpPr>
          <p:cNvPr id="17" name="Shape 14"/>
          <p:cNvSpPr/>
          <p:nvPr/>
        </p:nvSpPr>
        <p:spPr>
          <a:xfrm>
            <a:off x="457200" y="3886200"/>
            <a:ext cx="8229600" cy="731520"/>
          </a:xfrm>
          <a:prstGeom prst="roundRect">
            <a:avLst>
              <a:gd name="adj" fmla="val 7500"/>
            </a:avLst>
          </a:prstGeom>
          <a:solidFill>
            <a:srgbClr val="1F3864"/>
          </a:solidFill>
          <a:ln w="12700">
            <a:solidFill>
              <a:srgbClr val="1F3864"/>
            </a:solidFill>
            <a:prstDash val="solid"/>
          </a:ln>
        </p:spPr>
      </p:sp>
      <p:sp>
        <p:nvSpPr>
          <p:cNvPr id="18" name="Text 15"/>
          <p:cNvSpPr/>
          <p:nvPr/>
        </p:nvSpPr>
        <p:spPr>
          <a:xfrm>
            <a:off x="621792" y="3886200"/>
            <a:ext cx="7900416" cy="73152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“Come forth” — addressed to every believer who has ever died. The dead in Christ will rise first.</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Five marks of a comforting truth</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4:18 · II.C.3 — The reassurance (John Phillips)</a:t>
            </a:r>
            <a:endParaRPr lang="en-US" sz="1200" dirty="0"/>
          </a:p>
        </p:txBody>
      </p:sp>
      <p:sp>
        <p:nvSpPr>
          <p:cNvPr id="5" name="Shape 2"/>
          <p:cNvSpPr/>
          <p:nvPr/>
        </p:nvSpPr>
        <p:spPr>
          <a:xfrm>
            <a:off x="457200" y="1188720"/>
            <a:ext cx="2615184" cy="1572768"/>
          </a:xfrm>
          <a:prstGeom prst="rect">
            <a:avLst/>
          </a:prstGeom>
          <a:solidFill>
            <a:srgbClr val="F2F6FC"/>
          </a:solidFill>
          <a:ln w="9525">
            <a:solidFill>
              <a:srgbClr val="D5DCEA"/>
            </a:solidFill>
            <a:prstDash val="solid"/>
          </a:ln>
        </p:spPr>
      </p:sp>
      <p:sp>
        <p:nvSpPr>
          <p:cNvPr id="6" name="Shape 3"/>
          <p:cNvSpPr/>
          <p:nvPr/>
        </p:nvSpPr>
        <p:spPr>
          <a:xfrm>
            <a:off x="594360" y="1325880"/>
            <a:ext cx="420624" cy="420624"/>
          </a:xfrm>
          <a:prstGeom prst="ellipse">
            <a:avLst/>
          </a:prstGeom>
          <a:solidFill>
            <a:srgbClr val="2E5496"/>
          </a:solidFill>
          <a:ln w="12700">
            <a:solidFill>
              <a:srgbClr val="2E5496"/>
            </a:solidFill>
            <a:prstDash val="solid"/>
          </a:ln>
        </p:spPr>
      </p:sp>
      <p:sp>
        <p:nvSpPr>
          <p:cNvPr id="7" name="Text 4"/>
          <p:cNvSpPr/>
          <p:nvPr/>
        </p:nvSpPr>
        <p:spPr>
          <a:xfrm>
            <a:off x="594360" y="13258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8" name="Text 5"/>
          <p:cNvSpPr/>
          <p:nvPr/>
        </p:nvSpPr>
        <p:spPr>
          <a:xfrm>
            <a:off x="1115568" y="132588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Positive truth</a:t>
            </a:r>
            <a:endParaRPr lang="en-US" sz="1200" dirty="0"/>
          </a:p>
        </p:txBody>
      </p:sp>
      <p:sp>
        <p:nvSpPr>
          <p:cNvPr id="9" name="Text 6"/>
          <p:cNvSpPr/>
          <p:nvPr/>
        </p:nvSpPr>
        <p:spPr>
          <a:xfrm>
            <a:off x="594360" y="182880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“Shall” — not a possibility; a certainty</a:t>
            </a:r>
            <a:endParaRPr lang="en-US" sz="1200" dirty="0"/>
          </a:p>
        </p:txBody>
      </p:sp>
      <p:sp>
        <p:nvSpPr>
          <p:cNvPr id="10" name="Shape 7"/>
          <p:cNvSpPr/>
          <p:nvPr/>
        </p:nvSpPr>
        <p:spPr>
          <a:xfrm>
            <a:off x="3264408" y="1188720"/>
            <a:ext cx="2615184" cy="1572768"/>
          </a:xfrm>
          <a:prstGeom prst="rect">
            <a:avLst/>
          </a:prstGeom>
          <a:solidFill>
            <a:srgbClr val="F2F6FC"/>
          </a:solidFill>
          <a:ln w="9525">
            <a:solidFill>
              <a:srgbClr val="D5DCEA"/>
            </a:solidFill>
            <a:prstDash val="solid"/>
          </a:ln>
        </p:spPr>
      </p:sp>
      <p:sp>
        <p:nvSpPr>
          <p:cNvPr id="11" name="Shape 8"/>
          <p:cNvSpPr/>
          <p:nvPr/>
        </p:nvSpPr>
        <p:spPr>
          <a:xfrm>
            <a:off x="3401568" y="1325880"/>
            <a:ext cx="420624" cy="420624"/>
          </a:xfrm>
          <a:prstGeom prst="ellipse">
            <a:avLst/>
          </a:prstGeom>
          <a:solidFill>
            <a:srgbClr val="2E5496"/>
          </a:solidFill>
          <a:ln w="12700">
            <a:solidFill>
              <a:srgbClr val="2E5496"/>
            </a:solidFill>
            <a:prstDash val="solid"/>
          </a:ln>
        </p:spPr>
      </p:sp>
      <p:sp>
        <p:nvSpPr>
          <p:cNvPr id="12" name="Text 9"/>
          <p:cNvSpPr/>
          <p:nvPr/>
        </p:nvSpPr>
        <p:spPr>
          <a:xfrm>
            <a:off x="3401568" y="13258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3" name="Text 10"/>
          <p:cNvSpPr/>
          <p:nvPr/>
        </p:nvSpPr>
        <p:spPr>
          <a:xfrm>
            <a:off x="3922776" y="132588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Personal truth</a:t>
            </a:r>
            <a:endParaRPr lang="en-US" sz="1200" dirty="0"/>
          </a:p>
        </p:txBody>
      </p:sp>
      <p:sp>
        <p:nvSpPr>
          <p:cNvPr id="14" name="Text 11"/>
          <p:cNvSpPr/>
          <p:nvPr/>
        </p:nvSpPr>
        <p:spPr>
          <a:xfrm>
            <a:off x="3401568" y="182880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We, us, I, you — addressed to individuals</a:t>
            </a:r>
            <a:endParaRPr lang="en-US" sz="1200" dirty="0"/>
          </a:p>
        </p:txBody>
      </p:sp>
      <p:sp>
        <p:nvSpPr>
          <p:cNvPr id="15" name="Shape 12"/>
          <p:cNvSpPr/>
          <p:nvPr/>
        </p:nvSpPr>
        <p:spPr>
          <a:xfrm>
            <a:off x="6071616" y="1188720"/>
            <a:ext cx="2615184" cy="1572768"/>
          </a:xfrm>
          <a:prstGeom prst="rect">
            <a:avLst/>
          </a:prstGeom>
          <a:solidFill>
            <a:srgbClr val="F2F6FC"/>
          </a:solidFill>
          <a:ln w="9525">
            <a:solidFill>
              <a:srgbClr val="D5DCEA"/>
            </a:solidFill>
            <a:prstDash val="solid"/>
          </a:ln>
        </p:spPr>
      </p:sp>
      <p:sp>
        <p:nvSpPr>
          <p:cNvPr id="16" name="Shape 13"/>
          <p:cNvSpPr/>
          <p:nvPr/>
        </p:nvSpPr>
        <p:spPr>
          <a:xfrm>
            <a:off x="6208776" y="1325880"/>
            <a:ext cx="420624" cy="420624"/>
          </a:xfrm>
          <a:prstGeom prst="ellipse">
            <a:avLst/>
          </a:prstGeom>
          <a:solidFill>
            <a:srgbClr val="2E5496"/>
          </a:solidFill>
          <a:ln w="12700">
            <a:solidFill>
              <a:srgbClr val="2E5496"/>
            </a:solidFill>
            <a:prstDash val="solid"/>
          </a:ln>
        </p:spPr>
      </p:sp>
      <p:sp>
        <p:nvSpPr>
          <p:cNvPr id="17" name="Text 14"/>
          <p:cNvSpPr/>
          <p:nvPr/>
        </p:nvSpPr>
        <p:spPr>
          <a:xfrm>
            <a:off x="6208776" y="13258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a:t>
            </a:r>
            <a:endParaRPr lang="en-US" sz="1300" dirty="0"/>
          </a:p>
        </p:txBody>
      </p:sp>
      <p:sp>
        <p:nvSpPr>
          <p:cNvPr id="18" name="Text 15"/>
          <p:cNvSpPr/>
          <p:nvPr/>
        </p:nvSpPr>
        <p:spPr>
          <a:xfrm>
            <a:off x="6729984" y="132588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Pivotal truth</a:t>
            </a:r>
            <a:endParaRPr lang="en-US" sz="1200" dirty="0"/>
          </a:p>
        </p:txBody>
      </p:sp>
      <p:sp>
        <p:nvSpPr>
          <p:cNvPr id="19" name="Text 16"/>
          <p:cNvSpPr/>
          <p:nvPr/>
        </p:nvSpPr>
        <p:spPr>
          <a:xfrm>
            <a:off x="6208776" y="182880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“But” (v.13) marks a turn: don’t be ignorant</a:t>
            </a:r>
            <a:endParaRPr lang="en-US" sz="1200" dirty="0"/>
          </a:p>
        </p:txBody>
      </p:sp>
      <p:sp>
        <p:nvSpPr>
          <p:cNvPr id="20" name="Shape 17"/>
          <p:cNvSpPr/>
          <p:nvPr/>
        </p:nvSpPr>
        <p:spPr>
          <a:xfrm>
            <a:off x="457200" y="2926080"/>
            <a:ext cx="2615184" cy="1572768"/>
          </a:xfrm>
          <a:prstGeom prst="rect">
            <a:avLst/>
          </a:prstGeom>
          <a:solidFill>
            <a:srgbClr val="F2F6FC"/>
          </a:solidFill>
          <a:ln w="9525">
            <a:solidFill>
              <a:srgbClr val="D5DCEA"/>
            </a:solidFill>
            <a:prstDash val="solid"/>
          </a:ln>
        </p:spPr>
      </p:sp>
      <p:sp>
        <p:nvSpPr>
          <p:cNvPr id="21" name="Shape 18"/>
          <p:cNvSpPr/>
          <p:nvPr/>
        </p:nvSpPr>
        <p:spPr>
          <a:xfrm>
            <a:off x="594360" y="3063240"/>
            <a:ext cx="420624" cy="420624"/>
          </a:xfrm>
          <a:prstGeom prst="ellipse">
            <a:avLst/>
          </a:prstGeom>
          <a:solidFill>
            <a:srgbClr val="2E5496"/>
          </a:solidFill>
          <a:ln w="12700">
            <a:solidFill>
              <a:srgbClr val="2E5496"/>
            </a:solidFill>
            <a:prstDash val="solid"/>
          </a:ln>
        </p:spPr>
      </p:sp>
      <p:sp>
        <p:nvSpPr>
          <p:cNvPr id="22" name="Text 19"/>
          <p:cNvSpPr/>
          <p:nvPr/>
        </p:nvSpPr>
        <p:spPr>
          <a:xfrm>
            <a:off x="594360" y="306324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D</a:t>
            </a:r>
            <a:endParaRPr lang="en-US" sz="1300" dirty="0"/>
          </a:p>
        </p:txBody>
      </p:sp>
      <p:sp>
        <p:nvSpPr>
          <p:cNvPr id="23" name="Text 20"/>
          <p:cNvSpPr/>
          <p:nvPr/>
        </p:nvSpPr>
        <p:spPr>
          <a:xfrm>
            <a:off x="1115568" y="306324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Progressive truth</a:t>
            </a:r>
            <a:endParaRPr lang="en-US" sz="1200" dirty="0"/>
          </a:p>
        </p:txBody>
      </p:sp>
      <p:sp>
        <p:nvSpPr>
          <p:cNvPr id="24" name="Text 21"/>
          <p:cNvSpPr/>
          <p:nvPr/>
        </p:nvSpPr>
        <p:spPr>
          <a:xfrm>
            <a:off x="594360" y="356616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“For” links each verse to the next</a:t>
            </a:r>
            <a:endParaRPr lang="en-US" sz="1200" dirty="0"/>
          </a:p>
        </p:txBody>
      </p:sp>
      <p:sp>
        <p:nvSpPr>
          <p:cNvPr id="25" name="Shape 22"/>
          <p:cNvSpPr/>
          <p:nvPr/>
        </p:nvSpPr>
        <p:spPr>
          <a:xfrm>
            <a:off x="3264408" y="2926080"/>
            <a:ext cx="2615184" cy="1572768"/>
          </a:xfrm>
          <a:prstGeom prst="rect">
            <a:avLst/>
          </a:prstGeom>
          <a:solidFill>
            <a:srgbClr val="F2F6FC"/>
          </a:solidFill>
          <a:ln w="9525">
            <a:solidFill>
              <a:srgbClr val="D5DCEA"/>
            </a:solidFill>
            <a:prstDash val="solid"/>
          </a:ln>
        </p:spPr>
      </p:sp>
      <p:sp>
        <p:nvSpPr>
          <p:cNvPr id="26" name="Shape 23"/>
          <p:cNvSpPr/>
          <p:nvPr/>
        </p:nvSpPr>
        <p:spPr>
          <a:xfrm>
            <a:off x="3401568" y="3063240"/>
            <a:ext cx="420624" cy="420624"/>
          </a:xfrm>
          <a:prstGeom prst="ellipse">
            <a:avLst/>
          </a:prstGeom>
          <a:solidFill>
            <a:srgbClr val="2E5496"/>
          </a:solidFill>
          <a:ln w="12700">
            <a:solidFill>
              <a:srgbClr val="2E5496"/>
            </a:solidFill>
            <a:prstDash val="solid"/>
          </a:ln>
        </p:spPr>
      </p:sp>
      <p:sp>
        <p:nvSpPr>
          <p:cNvPr id="27" name="Text 24"/>
          <p:cNvSpPr/>
          <p:nvPr/>
        </p:nvSpPr>
        <p:spPr>
          <a:xfrm>
            <a:off x="3401568" y="306324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E</a:t>
            </a:r>
            <a:endParaRPr lang="en-US" sz="1300" dirty="0"/>
          </a:p>
        </p:txBody>
      </p:sp>
      <p:sp>
        <p:nvSpPr>
          <p:cNvPr id="28" name="Text 25"/>
          <p:cNvSpPr/>
          <p:nvPr/>
        </p:nvSpPr>
        <p:spPr>
          <a:xfrm>
            <a:off x="3922776" y="306324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Practical truth</a:t>
            </a:r>
            <a:endParaRPr lang="en-US" sz="1200" dirty="0"/>
          </a:p>
        </p:txBody>
      </p:sp>
      <p:sp>
        <p:nvSpPr>
          <p:cNvPr id="29" name="Text 26"/>
          <p:cNvSpPr/>
          <p:nvPr/>
        </p:nvSpPr>
        <p:spPr>
          <a:xfrm>
            <a:off x="3401568" y="356616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“Therefore” — applied at once</a:t>
            </a:r>
            <a:endParaRPr lang="en-US" sz="1200" dirty="0"/>
          </a:p>
        </p:txBody>
      </p:sp>
      <p:sp>
        <p:nvSpPr>
          <p:cNvPr id="30" name="Shape 27"/>
          <p:cNvSpPr/>
          <p:nvPr/>
        </p:nvSpPr>
        <p:spPr>
          <a:xfrm>
            <a:off x="6071616" y="2926080"/>
            <a:ext cx="2615184" cy="1572768"/>
          </a:xfrm>
          <a:prstGeom prst="rect">
            <a:avLst/>
          </a:prstGeom>
          <a:solidFill>
            <a:srgbClr val="F2F6FC"/>
          </a:solidFill>
          <a:ln w="9525">
            <a:solidFill>
              <a:srgbClr val="D5DCEA"/>
            </a:solidFill>
            <a:prstDash val="solid"/>
          </a:ln>
        </p:spPr>
      </p:sp>
      <p:sp>
        <p:nvSpPr>
          <p:cNvPr id="31" name="Shape 28"/>
          <p:cNvSpPr/>
          <p:nvPr/>
        </p:nvSpPr>
        <p:spPr>
          <a:xfrm>
            <a:off x="6208776" y="3063240"/>
            <a:ext cx="420624" cy="420624"/>
          </a:xfrm>
          <a:prstGeom prst="ellipse">
            <a:avLst/>
          </a:prstGeom>
          <a:solidFill>
            <a:srgbClr val="375623"/>
          </a:solidFill>
          <a:ln w="12700">
            <a:solidFill>
              <a:srgbClr val="375623"/>
            </a:solidFill>
            <a:prstDash val="solid"/>
          </a:ln>
        </p:spPr>
      </p:sp>
      <p:sp>
        <p:nvSpPr>
          <p:cNvPr id="32" name="Text 29"/>
          <p:cNvSpPr/>
          <p:nvPr/>
        </p:nvSpPr>
        <p:spPr>
          <a:xfrm>
            <a:off x="6208776" y="306324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33" name="Text 30"/>
          <p:cNvSpPr/>
          <p:nvPr/>
        </p:nvSpPr>
        <p:spPr>
          <a:xfrm>
            <a:off x="6729984" y="306324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παρακαλέω · v.18</a:t>
            </a:r>
            <a:endParaRPr lang="en-US" sz="1200" dirty="0"/>
          </a:p>
        </p:txBody>
      </p:sp>
      <p:sp>
        <p:nvSpPr>
          <p:cNvPr id="34" name="Text 31"/>
          <p:cNvSpPr/>
          <p:nvPr/>
        </p:nvSpPr>
        <p:spPr>
          <a:xfrm>
            <a:off x="6208776" y="356616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“Comfort one another” — the Spirit’s own ministry</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Discuss and apply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4:13–18 · from the study's posted questions and applications</a:t>
            </a:r>
            <a:endParaRPr lang="en-US" sz="1200" dirty="0"/>
          </a:p>
        </p:txBody>
      </p:sp>
      <p:sp>
        <p:nvSpPr>
          <p:cNvPr id="5" name="Shape 2"/>
          <p:cNvSpPr/>
          <p:nvPr/>
        </p:nvSpPr>
        <p:spPr>
          <a:xfrm>
            <a:off x="457200" y="1115568"/>
            <a:ext cx="4023360" cy="384048"/>
          </a:xfrm>
          <a:prstGeom prst="rect">
            <a:avLst/>
          </a:prstGeom>
          <a:solidFill>
            <a:srgbClr val="2E5496"/>
          </a:solidFill>
          <a:ln w="12700">
            <a:solidFill>
              <a:srgbClr val="2E5496"/>
            </a:solidFill>
            <a:prstDash val="solid"/>
          </a:ln>
        </p:spPr>
      </p:sp>
      <p:sp>
        <p:nvSpPr>
          <p:cNvPr id="6" name="Text 3"/>
          <p:cNvSpPr/>
          <p:nvPr/>
        </p:nvSpPr>
        <p:spPr>
          <a:xfrm>
            <a:off x="56692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Discuss</a:t>
            </a:r>
            <a:endParaRPr lang="en-US" sz="1300" dirty="0"/>
          </a:p>
        </p:txBody>
      </p:sp>
      <p:sp>
        <p:nvSpPr>
          <p:cNvPr id="7" name="Shape 4"/>
          <p:cNvSpPr/>
          <p:nvPr/>
        </p:nvSpPr>
        <p:spPr>
          <a:xfrm>
            <a:off x="457200" y="1499616"/>
            <a:ext cx="4023360" cy="2359152"/>
          </a:xfrm>
          <a:prstGeom prst="rect">
            <a:avLst/>
          </a:prstGeom>
          <a:solidFill>
            <a:srgbClr val="F2F6FC"/>
          </a:solidFill>
          <a:ln w="9525">
            <a:solidFill>
              <a:srgbClr val="D5DCEA"/>
            </a:solidFill>
            <a:prstDash val="solid"/>
          </a:ln>
        </p:spPr>
      </p:sp>
      <p:sp>
        <p:nvSpPr>
          <p:cNvPr id="8" name="Shape 5"/>
          <p:cNvSpPr/>
          <p:nvPr/>
        </p:nvSpPr>
        <p:spPr>
          <a:xfrm>
            <a:off x="4663440" y="1115568"/>
            <a:ext cx="4023360" cy="384048"/>
          </a:xfrm>
          <a:prstGeom prst="rect">
            <a:avLst/>
          </a:prstGeom>
          <a:solidFill>
            <a:srgbClr val="375623"/>
          </a:solidFill>
          <a:ln w="12700">
            <a:solidFill>
              <a:srgbClr val="375623"/>
            </a:solidFill>
            <a:prstDash val="solid"/>
          </a:ln>
        </p:spPr>
      </p:sp>
      <p:sp>
        <p:nvSpPr>
          <p:cNvPr id="9" name="Text 6"/>
          <p:cNvSpPr/>
          <p:nvPr/>
        </p:nvSpPr>
        <p:spPr>
          <a:xfrm>
            <a:off x="477316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Apply</a:t>
            </a:r>
            <a:endParaRPr lang="en-US" sz="1300" dirty="0"/>
          </a:p>
        </p:txBody>
      </p:sp>
      <p:sp>
        <p:nvSpPr>
          <p:cNvPr id="10" name="Shape 7"/>
          <p:cNvSpPr/>
          <p:nvPr/>
        </p:nvSpPr>
        <p:spPr>
          <a:xfrm>
            <a:off x="4663440" y="1499616"/>
            <a:ext cx="4023360" cy="2359152"/>
          </a:xfrm>
          <a:prstGeom prst="rect">
            <a:avLst/>
          </a:prstGeom>
          <a:solidFill>
            <a:srgbClr val="F2F6FC"/>
          </a:solidFill>
          <a:ln w="9525">
            <a:solidFill>
              <a:srgbClr val="D5DCEA"/>
            </a:solidFill>
            <a:prstDash val="solid"/>
          </a:ln>
        </p:spPr>
      </p:sp>
      <p:sp>
        <p:nvSpPr>
          <p:cNvPr id="11" name="Shape 8"/>
          <p:cNvSpPr/>
          <p:nvPr/>
        </p:nvSpPr>
        <p:spPr>
          <a:xfrm>
            <a:off x="566928" y="1636776"/>
            <a:ext cx="347472" cy="347472"/>
          </a:xfrm>
          <a:prstGeom prst="ellipse">
            <a:avLst/>
          </a:prstGeom>
          <a:solidFill>
            <a:srgbClr val="2E5496"/>
          </a:solidFill>
          <a:ln w="12700">
            <a:solidFill>
              <a:srgbClr val="2E5496"/>
            </a:solidFill>
            <a:prstDash val="solid"/>
          </a:ln>
        </p:spPr>
      </p:sp>
      <p:sp>
        <p:nvSpPr>
          <p:cNvPr id="12" name="Text 9"/>
          <p:cNvSpPr/>
          <p:nvPr/>
        </p:nvSpPr>
        <p:spPr>
          <a:xfrm>
            <a:off x="566928" y="16367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3" name="Text 10"/>
          <p:cNvSpPr/>
          <p:nvPr/>
        </p:nvSpPr>
        <p:spPr>
          <a:xfrm>
            <a:off x="1005840" y="1591056"/>
            <a:ext cx="3364992" cy="1042416"/>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Verse 14 says God will bring with Him those who sleep in Jesus; verse 16 says the dead in Christ rise first. How can both be true — and what does it teach about body and soul at death?</a:t>
            </a:r>
            <a:endParaRPr lang="en-US" sz="1250" dirty="0"/>
          </a:p>
        </p:txBody>
      </p:sp>
      <p:sp>
        <p:nvSpPr>
          <p:cNvPr id="14" name="Shape 11"/>
          <p:cNvSpPr/>
          <p:nvPr/>
        </p:nvSpPr>
        <p:spPr>
          <a:xfrm>
            <a:off x="566928" y="2724912"/>
            <a:ext cx="347472" cy="347472"/>
          </a:xfrm>
          <a:prstGeom prst="ellipse">
            <a:avLst/>
          </a:prstGeom>
          <a:solidFill>
            <a:srgbClr val="2E5496"/>
          </a:solidFill>
          <a:ln w="12700">
            <a:solidFill>
              <a:srgbClr val="2E5496"/>
            </a:solidFill>
            <a:prstDash val="solid"/>
          </a:ln>
        </p:spPr>
      </p:sp>
      <p:sp>
        <p:nvSpPr>
          <p:cNvPr id="15" name="Text 12"/>
          <p:cNvSpPr/>
          <p:nvPr/>
        </p:nvSpPr>
        <p:spPr>
          <a:xfrm>
            <a:off x="566928" y="272491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6" name="Text 13"/>
          <p:cNvSpPr/>
          <p:nvPr/>
        </p:nvSpPr>
        <p:spPr>
          <a:xfrm>
            <a:off x="1005840" y="2679192"/>
            <a:ext cx="3364992" cy="1042416"/>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Paul expected to be alive at the Rapture (“we who are alive”). What is the practical effect of living with that expectation — and how does it differ from speculating about dates?</a:t>
            </a:r>
            <a:endParaRPr lang="en-US" sz="1250" dirty="0"/>
          </a:p>
        </p:txBody>
      </p:sp>
      <p:sp>
        <p:nvSpPr>
          <p:cNvPr id="17" name="Text 14"/>
          <p:cNvSpPr/>
          <p:nvPr/>
        </p:nvSpPr>
        <p:spPr>
          <a:xfrm>
            <a:off x="4791456" y="1591056"/>
            <a:ext cx="3767328" cy="1042416"/>
          </a:xfrm>
          <a:prstGeom prst="rect">
            <a:avLst/>
          </a:prstGeom>
          <a:noFill/>
          <a:ln/>
        </p:spPr>
        <p:txBody>
          <a:bodyPr wrap="square" lIns="0" tIns="0" rIns="0" bIns="0" rtlCol="0" anchor="t"/>
          <a:lstStyle/>
          <a:p>
            <a:pPr indent="0" marL="0">
              <a:buNone/>
            </a:pPr>
            <a:r>
              <a:rPr lang="en-US" sz="1250" b="1" dirty="0">
                <a:solidFill>
                  <a:srgbClr val="1F3864"/>
                </a:solidFill>
                <a:latin typeface="Arial" pitchFamily="34" charset="0"/>
                <a:ea typeface="Arial" pitchFamily="34" charset="-122"/>
                <a:cs typeface="Arial" pitchFamily="34" charset="-120"/>
              </a:rPr>
              <a:t>Hold the Blessed Hope</a:t>
            </a:r>
            <a:endParaRPr lang="en-US" sz="1250" dirty="0"/>
          </a:p>
          <a:p>
            <a:pPr indent="0" marL="0">
              <a:buNone/>
            </a:pPr>
            <a:r>
              <a:rPr lang="en-US" sz="1200" dirty="0">
                <a:solidFill>
                  <a:srgbClr val="262626"/>
                </a:solidFill>
                <a:latin typeface="Arial" pitchFamily="34" charset="0"/>
                <a:ea typeface="Arial" pitchFamily="34" charset="-122"/>
                <a:cs typeface="Arial" pitchFamily="34" charset="-120"/>
              </a:rPr>
              <a:t>Begin each morning this week with one sentence: “The Lord may come today.” Notice what it changes.</a:t>
            </a:r>
            <a:endParaRPr lang="en-US" sz="1250" dirty="0"/>
          </a:p>
        </p:txBody>
      </p:sp>
      <p:sp>
        <p:nvSpPr>
          <p:cNvPr id="18" name="Text 15"/>
          <p:cNvSpPr/>
          <p:nvPr/>
        </p:nvSpPr>
        <p:spPr>
          <a:xfrm>
            <a:off x="4791456" y="2679192"/>
            <a:ext cx="3767328" cy="1042416"/>
          </a:xfrm>
          <a:prstGeom prst="rect">
            <a:avLst/>
          </a:prstGeom>
          <a:noFill/>
          <a:ln/>
        </p:spPr>
        <p:txBody>
          <a:bodyPr wrap="square" lIns="0" tIns="0" rIns="0" bIns="0" rtlCol="0" anchor="t"/>
          <a:lstStyle/>
          <a:p>
            <a:pPr indent="0" marL="0">
              <a:buNone/>
            </a:pPr>
            <a:r>
              <a:rPr lang="en-US" sz="1250" b="1" dirty="0">
                <a:solidFill>
                  <a:srgbClr val="1F3864"/>
                </a:solidFill>
                <a:latin typeface="Arial" pitchFamily="34" charset="0"/>
                <a:ea typeface="Arial" pitchFamily="34" charset="-122"/>
                <a:cs typeface="Arial" pitchFamily="34" charset="-120"/>
              </a:rPr>
              <a:t>Comfort One Another</a:t>
            </a:r>
            <a:endParaRPr lang="en-US" sz="1250" dirty="0"/>
          </a:p>
          <a:p>
            <a:pPr indent="0" marL="0">
              <a:buNone/>
            </a:pPr>
            <a:r>
              <a:rPr lang="en-US" sz="1200" dirty="0">
                <a:solidFill>
                  <a:srgbClr val="262626"/>
                </a:solidFill>
                <a:latin typeface="Arial" pitchFamily="34" charset="0"/>
                <a:ea typeface="Arial" pitchFamily="34" charset="-122"/>
                <a:cs typeface="Arial" pitchFamily="34" charset="-120"/>
              </a:rPr>
              <a:t>Reach out to one grieving or discouraged person with a verse from this passage and a personal word.</a:t>
            </a:r>
            <a:endParaRPr lang="en-US" sz="1250" dirty="0"/>
          </a:p>
        </p:txBody>
      </p:sp>
      <p:sp>
        <p:nvSpPr>
          <p:cNvPr id="19" name="Shape 16"/>
          <p:cNvSpPr/>
          <p:nvPr/>
        </p:nvSpPr>
        <p:spPr>
          <a:xfrm>
            <a:off x="457200" y="4023360"/>
            <a:ext cx="8229600" cy="566928"/>
          </a:xfrm>
          <a:prstGeom prst="roundRect">
            <a:avLst>
              <a:gd name="adj" fmla="val 9677"/>
            </a:avLst>
          </a:prstGeom>
          <a:solidFill>
            <a:srgbClr val="1F3864"/>
          </a:solidFill>
          <a:ln w="12700">
            <a:solidFill>
              <a:srgbClr val="1F3864"/>
            </a:solidFill>
            <a:prstDash val="solid"/>
          </a:ln>
        </p:spPr>
      </p:sp>
      <p:sp>
        <p:nvSpPr>
          <p:cNvPr id="20" name="Text 17"/>
          <p:cNvSpPr/>
          <p:nvPr/>
        </p:nvSpPr>
        <p:spPr>
          <a:xfrm>
            <a:off x="621792" y="4023360"/>
            <a:ext cx="7900416" cy="566928"/>
          </a:xfrm>
          <a:prstGeom prst="rect">
            <a:avLst/>
          </a:prstGeom>
          <a:noFill/>
          <a:ln/>
        </p:spPr>
        <p:txBody>
          <a:bodyPr wrap="square" lIns="0" tIns="0" rIns="0" bIns="0" rtlCol="0" anchor="ctr"/>
          <a:lstStyle/>
          <a:p>
            <a:pPr indent="0" marL="0">
              <a:buNone/>
            </a:pPr>
            <a:r>
              <a:rPr lang="en-US" sz="1200" b="1" dirty="0">
                <a:solidFill>
                  <a:srgbClr val="C9D5EE"/>
                </a:solidFill>
                <a:latin typeface="Arial" pitchFamily="34" charset="0"/>
                <a:ea typeface="Arial" pitchFamily="34" charset="-122"/>
                <a:cs typeface="Arial" pitchFamily="34" charset="-120"/>
              </a:rPr>
              <a:t>In one line:  </a:t>
            </a:r>
            <a:pPr indent="0" marL="0">
              <a:buNone/>
            </a:pPr>
            <a:r>
              <a:rPr lang="en-US" sz="1200" dirty="0">
                <a:solidFill>
                  <a:srgbClr val="FFFFFF"/>
                </a:solidFill>
                <a:latin typeface="Arial" pitchFamily="34" charset="0"/>
                <a:ea typeface="Arial" pitchFamily="34" charset="-122"/>
                <a:cs typeface="Arial" pitchFamily="34" charset="-120"/>
              </a:rPr>
              <a:t>The dead in Christ are not lost — they rise first, we are caught up together, and we will always be with the Lord.</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nchor="ctr"/>
          <a:lstStyle/>
          <a:p>
            <a:pPr indent="0" marL="0">
              <a:buNone/>
            </a:pPr>
            <a:r>
              <a:rPr lang="en-US" sz="1400" dirty="0">
                <a:solidFill>
                  <a:srgbClr val="C9D5EE"/>
                </a:solidFill>
                <a:latin typeface="Arial" pitchFamily="34" charset="0"/>
                <a:ea typeface="Arial" pitchFamily="34" charset="-122"/>
                <a:cs typeface="Arial" pitchFamily="34" charset="-120"/>
              </a:rPr>
              <a:t>Study 8 of 10 · 1 Thessalonians 5:1–11</a:t>
            </a: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lIns="0" tIns="0" rIns="0" bIns="0" rtlCol="0" anchor="ctr"/>
          <a:lstStyle/>
          <a:p>
            <a:pPr algn="l" indent="0" marL="0">
              <a:buNone/>
            </a:pPr>
            <a:r>
              <a:rPr lang="en-US" sz="3400" b="1" dirty="0">
                <a:solidFill>
                  <a:srgbClr val="FFFFFF"/>
                </a:solidFill>
                <a:latin typeface="Arial" pitchFamily="34" charset="0"/>
                <a:ea typeface="Arial" pitchFamily="34" charset="-122"/>
                <a:cs typeface="Arial" pitchFamily="34" charset="-120"/>
              </a:rPr>
              <a:t>The Coming of the Lord: A Purifying Hope</a:t>
            </a: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lIns="0" tIns="0" rIns="0" bIns="0" rtlCol="0" anchor="ctr"/>
          <a:lstStyle/>
          <a:p>
            <a:pPr indent="0" marL="0">
              <a:buNone/>
            </a:pPr>
            <a:r>
              <a:rPr lang="en-US" sz="1500" i="1" dirty="0">
                <a:solidFill>
                  <a:srgbClr val="E6ECF7"/>
                </a:solidFill>
                <a:latin typeface="Arial" pitchFamily="34" charset="0"/>
                <a:ea typeface="Arial" pitchFamily="34" charset="-122"/>
                <a:cs typeface="Arial" pitchFamily="34" charset="-120"/>
              </a:rPr>
              <a:t>The day of the Lord comes like a thief for the world, but believers are children of the light — and the hope of His coming is a purifying hope.</a:t>
            </a:r>
            <a:endParaRPr lang="en-US" sz="15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The Rapture and the Day of the Lord</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Introduction · Two separate events</a:t>
            </a:r>
            <a:endParaRPr lang="en-US" sz="1200" dirty="0"/>
          </a:p>
        </p:txBody>
      </p:sp>
      <p:sp>
        <p:nvSpPr>
          <p:cNvPr id="5" name="Shape 2"/>
          <p:cNvSpPr/>
          <p:nvPr/>
        </p:nvSpPr>
        <p:spPr>
          <a:xfrm>
            <a:off x="457200" y="1188720"/>
            <a:ext cx="1477670" cy="2103120"/>
          </a:xfrm>
          <a:prstGeom prst="roundRect">
            <a:avLst>
              <a:gd name="adj" fmla="val 3713"/>
            </a:avLst>
          </a:prstGeom>
          <a:solidFill>
            <a:srgbClr val="1F3864"/>
          </a:solidFill>
          <a:ln w="9525">
            <a:solidFill>
              <a:srgbClr val="1F3864"/>
            </a:solidFill>
            <a:prstDash val="solid"/>
          </a:ln>
        </p:spPr>
      </p:sp>
      <p:sp>
        <p:nvSpPr>
          <p:cNvPr id="6" name="Shape 3"/>
          <p:cNvSpPr/>
          <p:nvPr/>
        </p:nvSpPr>
        <p:spPr>
          <a:xfrm>
            <a:off x="994867" y="1298448"/>
            <a:ext cx="402336" cy="402336"/>
          </a:xfrm>
          <a:prstGeom prst="ellipse">
            <a:avLst/>
          </a:prstGeom>
          <a:solidFill>
            <a:srgbClr val="FFFFFF"/>
          </a:solidFill>
          <a:ln w="12700">
            <a:solidFill>
              <a:srgbClr val="FFFFFF"/>
            </a:solidFill>
            <a:prstDash val="solid"/>
          </a:ln>
        </p:spPr>
      </p:sp>
      <p:sp>
        <p:nvSpPr>
          <p:cNvPr id="7" name="Text 4"/>
          <p:cNvSpPr/>
          <p:nvPr/>
        </p:nvSpPr>
        <p:spPr>
          <a:xfrm>
            <a:off x="994867" y="1298448"/>
            <a:ext cx="402336" cy="402336"/>
          </a:xfrm>
          <a:prstGeom prst="rect">
            <a:avLst/>
          </a:prstGeom>
          <a:noFill/>
          <a:ln/>
        </p:spPr>
        <p:txBody>
          <a:bodyPr wrap="square" lIns="0" tIns="0" rIns="0" bIns="0" rtlCol="0" anchor="ctr"/>
          <a:lstStyle/>
          <a:p>
            <a:pPr algn="ctr" indent="0" marL="0">
              <a:buNone/>
            </a:pPr>
            <a:r>
              <a:rPr lang="en-US" sz="1300" b="1" dirty="0">
                <a:solidFill>
                  <a:srgbClr val="1F3864"/>
                </a:solidFill>
                <a:latin typeface="Arial" pitchFamily="34" charset="0"/>
                <a:ea typeface="Arial" pitchFamily="34" charset="-122"/>
                <a:cs typeface="Arial" pitchFamily="34" charset="-120"/>
              </a:rPr>
              <a:t>A</a:t>
            </a:r>
            <a:endParaRPr lang="en-US" sz="1300" dirty="0"/>
          </a:p>
        </p:txBody>
      </p:sp>
      <p:sp>
        <p:nvSpPr>
          <p:cNvPr id="8" name="Text 5"/>
          <p:cNvSpPr/>
          <p:nvPr/>
        </p:nvSpPr>
        <p:spPr>
          <a:xfrm>
            <a:off x="530352" y="1773936"/>
            <a:ext cx="1331366"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The Rapture</a:t>
            </a:r>
            <a:endParaRPr lang="en-US" sz="1150" dirty="0"/>
          </a:p>
        </p:txBody>
      </p:sp>
      <p:sp>
        <p:nvSpPr>
          <p:cNvPr id="9" name="Text 6"/>
          <p:cNvSpPr/>
          <p:nvPr/>
        </p:nvSpPr>
        <p:spPr>
          <a:xfrm>
            <a:off x="530352" y="2157984"/>
            <a:ext cx="1331366" cy="749808"/>
          </a:xfrm>
          <a:prstGeom prst="rect">
            <a:avLst/>
          </a:prstGeom>
          <a:noFill/>
          <a:ln/>
        </p:spPr>
        <p:txBody>
          <a:bodyPr wrap="square" lIns="0" tIns="0" rIns="0" bIns="0" rtlCol="0" anchor="t"/>
          <a:lstStyle/>
          <a:p>
            <a:pPr algn="ctr" indent="0" marL="0">
              <a:buNone/>
            </a:pPr>
            <a:r>
              <a:rPr lang="en-US" sz="1150" dirty="0">
                <a:solidFill>
                  <a:srgbClr val="FFFFFF"/>
                </a:solidFill>
                <a:latin typeface="Arial" pitchFamily="34" charset="0"/>
                <a:ea typeface="Arial" pitchFamily="34" charset="-122"/>
                <a:cs typeface="Arial" pitchFamily="34" charset="-120"/>
              </a:rPr>
              <a:t>The church taken out — no signs need occur first</a:t>
            </a:r>
            <a:endParaRPr lang="en-US" sz="1150" dirty="0"/>
          </a:p>
        </p:txBody>
      </p:sp>
      <p:sp>
        <p:nvSpPr>
          <p:cNvPr id="10" name="Text 7"/>
          <p:cNvSpPr/>
          <p:nvPr/>
        </p:nvSpPr>
        <p:spPr>
          <a:xfrm>
            <a:off x="530352" y="2907792"/>
            <a:ext cx="1331366" cy="329184"/>
          </a:xfrm>
          <a:prstGeom prst="rect">
            <a:avLst/>
          </a:prstGeom>
          <a:noFill/>
          <a:ln/>
        </p:spPr>
        <p:txBody>
          <a:bodyPr wrap="square" lIns="0" tIns="0" rIns="0" bIns="0" rtlCol="0" anchor="b"/>
          <a:lstStyle/>
          <a:p>
            <a:pPr algn="ctr" indent="0" marL="0">
              <a:buNone/>
            </a:pPr>
            <a:r>
              <a:rPr lang="en-US" sz="900" i="1" dirty="0">
                <a:solidFill>
                  <a:srgbClr val="DCE4F2"/>
                </a:solidFill>
                <a:latin typeface="Arial" pitchFamily="34" charset="0"/>
                <a:ea typeface="Arial" pitchFamily="34" charset="-122"/>
                <a:cs typeface="Arial" pitchFamily="34" charset="-120"/>
              </a:rPr>
              <a:t>4:13–18</a:t>
            </a:r>
            <a:endParaRPr lang="en-US" sz="900" dirty="0"/>
          </a:p>
        </p:txBody>
      </p:sp>
      <p:sp>
        <p:nvSpPr>
          <p:cNvPr id="11" name="Shape 8"/>
          <p:cNvSpPr/>
          <p:nvPr/>
        </p:nvSpPr>
        <p:spPr>
          <a:xfrm>
            <a:off x="1939442" y="2121408"/>
            <a:ext cx="201168" cy="237744"/>
          </a:xfrm>
          <a:prstGeom prst="rightArrow">
            <a:avLst/>
          </a:prstGeom>
          <a:solidFill>
            <a:srgbClr val="6B7280"/>
          </a:solidFill>
          <a:ln w="12700">
            <a:solidFill>
              <a:srgbClr val="6B7280"/>
            </a:solidFill>
            <a:prstDash val="solid"/>
          </a:ln>
        </p:spPr>
      </p:sp>
      <p:sp>
        <p:nvSpPr>
          <p:cNvPr id="12" name="Shape 9"/>
          <p:cNvSpPr/>
          <p:nvPr/>
        </p:nvSpPr>
        <p:spPr>
          <a:xfrm>
            <a:off x="2145182" y="1188720"/>
            <a:ext cx="1477670" cy="2103120"/>
          </a:xfrm>
          <a:prstGeom prst="roundRect">
            <a:avLst>
              <a:gd name="adj" fmla="val 3713"/>
            </a:avLst>
          </a:prstGeom>
          <a:solidFill>
            <a:srgbClr val="F2F6FC"/>
          </a:solidFill>
          <a:ln w="9525">
            <a:solidFill>
              <a:srgbClr val="D5DCEA"/>
            </a:solidFill>
            <a:prstDash val="solid"/>
          </a:ln>
        </p:spPr>
      </p:sp>
      <p:sp>
        <p:nvSpPr>
          <p:cNvPr id="13" name="Shape 10"/>
          <p:cNvSpPr/>
          <p:nvPr/>
        </p:nvSpPr>
        <p:spPr>
          <a:xfrm>
            <a:off x="2682850" y="1298448"/>
            <a:ext cx="402336" cy="402336"/>
          </a:xfrm>
          <a:prstGeom prst="ellipse">
            <a:avLst/>
          </a:prstGeom>
          <a:solidFill>
            <a:srgbClr val="2E5496"/>
          </a:solidFill>
          <a:ln w="12700">
            <a:solidFill>
              <a:srgbClr val="2E5496"/>
            </a:solidFill>
            <a:prstDash val="solid"/>
          </a:ln>
        </p:spPr>
      </p:sp>
      <p:sp>
        <p:nvSpPr>
          <p:cNvPr id="14" name="Text 11"/>
          <p:cNvSpPr/>
          <p:nvPr/>
        </p:nvSpPr>
        <p:spPr>
          <a:xfrm>
            <a:off x="2682850"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5" name="Text 12"/>
          <p:cNvSpPr/>
          <p:nvPr/>
        </p:nvSpPr>
        <p:spPr>
          <a:xfrm>
            <a:off x="2218334"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The treaty</a:t>
            </a:r>
            <a:endParaRPr lang="en-US" sz="1150" dirty="0"/>
          </a:p>
        </p:txBody>
      </p:sp>
      <p:sp>
        <p:nvSpPr>
          <p:cNvPr id="16" name="Text 13"/>
          <p:cNvSpPr/>
          <p:nvPr/>
        </p:nvSpPr>
        <p:spPr>
          <a:xfrm>
            <a:off x="2218334" y="2157984"/>
            <a:ext cx="1331366" cy="74980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The Antichrist’s seven-year treaty with Israel</a:t>
            </a:r>
            <a:endParaRPr lang="en-US" sz="1150" dirty="0"/>
          </a:p>
        </p:txBody>
      </p:sp>
      <p:sp>
        <p:nvSpPr>
          <p:cNvPr id="17" name="Text 14"/>
          <p:cNvSpPr/>
          <p:nvPr/>
        </p:nvSpPr>
        <p:spPr>
          <a:xfrm>
            <a:off x="2218334" y="2907792"/>
            <a:ext cx="1331366"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Dan 9:27 · “Peace and safety!”</a:t>
            </a:r>
            <a:endParaRPr lang="en-US" sz="900" dirty="0"/>
          </a:p>
        </p:txBody>
      </p:sp>
      <p:sp>
        <p:nvSpPr>
          <p:cNvPr id="18" name="Shape 15"/>
          <p:cNvSpPr/>
          <p:nvPr/>
        </p:nvSpPr>
        <p:spPr>
          <a:xfrm>
            <a:off x="3627425" y="2121408"/>
            <a:ext cx="201168" cy="237744"/>
          </a:xfrm>
          <a:prstGeom prst="rightArrow">
            <a:avLst/>
          </a:prstGeom>
          <a:solidFill>
            <a:srgbClr val="6B7280"/>
          </a:solidFill>
          <a:ln w="12700">
            <a:solidFill>
              <a:srgbClr val="6B7280"/>
            </a:solidFill>
            <a:prstDash val="solid"/>
          </a:ln>
        </p:spPr>
      </p:sp>
      <p:sp>
        <p:nvSpPr>
          <p:cNvPr id="19" name="Shape 16"/>
          <p:cNvSpPr/>
          <p:nvPr/>
        </p:nvSpPr>
        <p:spPr>
          <a:xfrm>
            <a:off x="3833165" y="1188720"/>
            <a:ext cx="1477670" cy="2103120"/>
          </a:xfrm>
          <a:prstGeom prst="roundRect">
            <a:avLst>
              <a:gd name="adj" fmla="val 3713"/>
            </a:avLst>
          </a:prstGeom>
          <a:solidFill>
            <a:srgbClr val="F2F6FC"/>
          </a:solidFill>
          <a:ln w="9525">
            <a:solidFill>
              <a:srgbClr val="D5DCEA"/>
            </a:solidFill>
            <a:prstDash val="solid"/>
          </a:ln>
        </p:spPr>
      </p:sp>
      <p:sp>
        <p:nvSpPr>
          <p:cNvPr id="20" name="Shape 17"/>
          <p:cNvSpPr/>
          <p:nvPr/>
        </p:nvSpPr>
        <p:spPr>
          <a:xfrm>
            <a:off x="4370832" y="1298448"/>
            <a:ext cx="402336" cy="402336"/>
          </a:xfrm>
          <a:prstGeom prst="ellipse">
            <a:avLst/>
          </a:prstGeom>
          <a:solidFill>
            <a:srgbClr val="2E5496"/>
          </a:solidFill>
          <a:ln w="12700">
            <a:solidFill>
              <a:srgbClr val="2E5496"/>
            </a:solidFill>
            <a:prstDash val="solid"/>
          </a:ln>
        </p:spPr>
      </p:sp>
      <p:sp>
        <p:nvSpPr>
          <p:cNvPr id="21" name="Text 18"/>
          <p:cNvSpPr/>
          <p:nvPr/>
        </p:nvSpPr>
        <p:spPr>
          <a:xfrm>
            <a:off x="4370832"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a:t>
            </a:r>
            <a:endParaRPr lang="en-US" sz="1300" dirty="0"/>
          </a:p>
        </p:txBody>
      </p:sp>
      <p:sp>
        <p:nvSpPr>
          <p:cNvPr id="22" name="Text 19"/>
          <p:cNvSpPr/>
          <p:nvPr/>
        </p:nvSpPr>
        <p:spPr>
          <a:xfrm>
            <a:off x="3906317"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The midpoint</a:t>
            </a:r>
            <a:endParaRPr lang="en-US" sz="1150" dirty="0"/>
          </a:p>
        </p:txBody>
      </p:sp>
      <p:sp>
        <p:nvSpPr>
          <p:cNvPr id="23" name="Text 20"/>
          <p:cNvSpPr/>
          <p:nvPr/>
        </p:nvSpPr>
        <p:spPr>
          <a:xfrm>
            <a:off x="3906317" y="2157984"/>
            <a:ext cx="1331366" cy="74980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The mask comes off — sudden destruction</a:t>
            </a:r>
            <a:endParaRPr lang="en-US" sz="1150" dirty="0"/>
          </a:p>
        </p:txBody>
      </p:sp>
      <p:sp>
        <p:nvSpPr>
          <p:cNvPr id="24" name="Text 21"/>
          <p:cNvSpPr/>
          <p:nvPr/>
        </p:nvSpPr>
        <p:spPr>
          <a:xfrm>
            <a:off x="3906317" y="2907792"/>
            <a:ext cx="1331366"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about 3½ years in</a:t>
            </a:r>
            <a:endParaRPr lang="en-US" sz="900" dirty="0"/>
          </a:p>
        </p:txBody>
      </p:sp>
      <p:sp>
        <p:nvSpPr>
          <p:cNvPr id="25" name="Shape 22"/>
          <p:cNvSpPr/>
          <p:nvPr/>
        </p:nvSpPr>
        <p:spPr>
          <a:xfrm>
            <a:off x="5315407" y="2121408"/>
            <a:ext cx="201168" cy="237744"/>
          </a:xfrm>
          <a:prstGeom prst="rightArrow">
            <a:avLst/>
          </a:prstGeom>
          <a:solidFill>
            <a:srgbClr val="6B7280"/>
          </a:solidFill>
          <a:ln w="12700">
            <a:solidFill>
              <a:srgbClr val="6B7280"/>
            </a:solidFill>
            <a:prstDash val="solid"/>
          </a:ln>
        </p:spPr>
      </p:sp>
      <p:sp>
        <p:nvSpPr>
          <p:cNvPr id="26" name="Shape 23"/>
          <p:cNvSpPr/>
          <p:nvPr/>
        </p:nvSpPr>
        <p:spPr>
          <a:xfrm>
            <a:off x="5521147" y="1188720"/>
            <a:ext cx="1477670" cy="2103120"/>
          </a:xfrm>
          <a:prstGeom prst="roundRect">
            <a:avLst>
              <a:gd name="adj" fmla="val 3713"/>
            </a:avLst>
          </a:prstGeom>
          <a:solidFill>
            <a:srgbClr val="F2F6FC"/>
          </a:solidFill>
          <a:ln w="9525">
            <a:solidFill>
              <a:srgbClr val="D5DCEA"/>
            </a:solidFill>
            <a:prstDash val="solid"/>
          </a:ln>
        </p:spPr>
      </p:sp>
      <p:sp>
        <p:nvSpPr>
          <p:cNvPr id="27" name="Shape 24"/>
          <p:cNvSpPr/>
          <p:nvPr/>
        </p:nvSpPr>
        <p:spPr>
          <a:xfrm>
            <a:off x="6058814" y="1298448"/>
            <a:ext cx="402336" cy="402336"/>
          </a:xfrm>
          <a:prstGeom prst="ellipse">
            <a:avLst/>
          </a:prstGeom>
          <a:solidFill>
            <a:srgbClr val="2E5496"/>
          </a:solidFill>
          <a:ln w="12700">
            <a:solidFill>
              <a:srgbClr val="2E5496"/>
            </a:solidFill>
            <a:prstDash val="solid"/>
          </a:ln>
        </p:spPr>
      </p:sp>
      <p:sp>
        <p:nvSpPr>
          <p:cNvPr id="28" name="Text 25"/>
          <p:cNvSpPr/>
          <p:nvPr/>
        </p:nvSpPr>
        <p:spPr>
          <a:xfrm>
            <a:off x="6058814"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D</a:t>
            </a:r>
            <a:endParaRPr lang="en-US" sz="1300" dirty="0"/>
          </a:p>
        </p:txBody>
      </p:sp>
      <p:sp>
        <p:nvSpPr>
          <p:cNvPr id="29" name="Text 26"/>
          <p:cNvSpPr/>
          <p:nvPr/>
        </p:nvSpPr>
        <p:spPr>
          <a:xfrm>
            <a:off x="5594299"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Second Coming</a:t>
            </a:r>
            <a:endParaRPr lang="en-US" sz="1150" dirty="0"/>
          </a:p>
        </p:txBody>
      </p:sp>
      <p:sp>
        <p:nvSpPr>
          <p:cNvPr id="30" name="Text 27"/>
          <p:cNvSpPr/>
          <p:nvPr/>
        </p:nvSpPr>
        <p:spPr>
          <a:xfrm>
            <a:off x="5594299" y="2157984"/>
            <a:ext cx="1331366" cy="74980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Christ returns to the earth to deliver His people</a:t>
            </a:r>
            <a:endParaRPr lang="en-US" sz="1150" dirty="0"/>
          </a:p>
        </p:txBody>
      </p:sp>
      <p:sp>
        <p:nvSpPr>
          <p:cNvPr id="31" name="Text 28"/>
          <p:cNvSpPr/>
          <p:nvPr/>
        </p:nvSpPr>
        <p:spPr>
          <a:xfrm>
            <a:off x="5594299" y="2907792"/>
            <a:ext cx="1331366"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end of the seven years</a:t>
            </a:r>
            <a:endParaRPr lang="en-US" sz="900" dirty="0"/>
          </a:p>
        </p:txBody>
      </p:sp>
      <p:sp>
        <p:nvSpPr>
          <p:cNvPr id="32" name="Shape 29"/>
          <p:cNvSpPr/>
          <p:nvPr/>
        </p:nvSpPr>
        <p:spPr>
          <a:xfrm>
            <a:off x="7003390" y="2121408"/>
            <a:ext cx="201168" cy="237744"/>
          </a:xfrm>
          <a:prstGeom prst="rightArrow">
            <a:avLst/>
          </a:prstGeom>
          <a:solidFill>
            <a:srgbClr val="6B7280"/>
          </a:solidFill>
          <a:ln w="12700">
            <a:solidFill>
              <a:srgbClr val="6B7280"/>
            </a:solidFill>
            <a:prstDash val="solid"/>
          </a:ln>
        </p:spPr>
      </p:sp>
      <p:sp>
        <p:nvSpPr>
          <p:cNvPr id="33" name="Shape 30"/>
          <p:cNvSpPr/>
          <p:nvPr/>
        </p:nvSpPr>
        <p:spPr>
          <a:xfrm>
            <a:off x="7209130" y="1188720"/>
            <a:ext cx="1477670" cy="2103120"/>
          </a:xfrm>
          <a:prstGeom prst="roundRect">
            <a:avLst>
              <a:gd name="adj" fmla="val 3713"/>
            </a:avLst>
          </a:prstGeom>
          <a:solidFill>
            <a:srgbClr val="F2F6FC"/>
          </a:solidFill>
          <a:ln w="9525">
            <a:solidFill>
              <a:srgbClr val="D5DCEA"/>
            </a:solidFill>
            <a:prstDash val="solid"/>
          </a:ln>
        </p:spPr>
      </p:sp>
      <p:sp>
        <p:nvSpPr>
          <p:cNvPr id="34" name="Shape 31"/>
          <p:cNvSpPr/>
          <p:nvPr/>
        </p:nvSpPr>
        <p:spPr>
          <a:xfrm>
            <a:off x="7746797" y="1298448"/>
            <a:ext cx="402336" cy="402336"/>
          </a:xfrm>
          <a:prstGeom prst="ellipse">
            <a:avLst/>
          </a:prstGeom>
          <a:solidFill>
            <a:srgbClr val="2E5496"/>
          </a:solidFill>
          <a:ln w="12700">
            <a:solidFill>
              <a:srgbClr val="2E5496"/>
            </a:solidFill>
            <a:prstDash val="solid"/>
          </a:ln>
        </p:spPr>
      </p:sp>
      <p:sp>
        <p:nvSpPr>
          <p:cNvPr id="35" name="Text 32"/>
          <p:cNvSpPr/>
          <p:nvPr/>
        </p:nvSpPr>
        <p:spPr>
          <a:xfrm>
            <a:off x="7746797"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E</a:t>
            </a:r>
            <a:endParaRPr lang="en-US" sz="1300" dirty="0"/>
          </a:p>
        </p:txBody>
      </p:sp>
      <p:sp>
        <p:nvSpPr>
          <p:cNvPr id="36" name="Text 33"/>
          <p:cNvSpPr/>
          <p:nvPr/>
        </p:nvSpPr>
        <p:spPr>
          <a:xfrm>
            <a:off x="7282282"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The Millennium</a:t>
            </a:r>
            <a:endParaRPr lang="en-US" sz="1150" dirty="0"/>
          </a:p>
        </p:txBody>
      </p:sp>
      <p:sp>
        <p:nvSpPr>
          <p:cNvPr id="37" name="Text 34"/>
          <p:cNvSpPr/>
          <p:nvPr/>
        </p:nvSpPr>
        <p:spPr>
          <a:xfrm>
            <a:off x="7282282" y="2157984"/>
            <a:ext cx="1331366" cy="74980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His thousand-year reign</a:t>
            </a:r>
            <a:endParaRPr lang="en-US" sz="1150" dirty="0"/>
          </a:p>
        </p:txBody>
      </p:sp>
      <p:sp>
        <p:nvSpPr>
          <p:cNvPr id="38" name="Text 35"/>
          <p:cNvSpPr/>
          <p:nvPr/>
        </p:nvSpPr>
        <p:spPr>
          <a:xfrm>
            <a:off x="7282282" y="2907792"/>
            <a:ext cx="1331366"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the blessing</a:t>
            </a:r>
            <a:endParaRPr lang="en-US" sz="900" dirty="0"/>
          </a:p>
        </p:txBody>
      </p:sp>
      <p:sp>
        <p:nvSpPr>
          <p:cNvPr id="39" name="Shape 36"/>
          <p:cNvSpPr/>
          <p:nvPr/>
        </p:nvSpPr>
        <p:spPr>
          <a:xfrm>
            <a:off x="457200" y="3474720"/>
            <a:ext cx="4023360" cy="365760"/>
          </a:xfrm>
          <a:prstGeom prst="rect">
            <a:avLst/>
          </a:prstGeom>
          <a:solidFill>
            <a:srgbClr val="2E5496"/>
          </a:solidFill>
          <a:ln w="12700">
            <a:solidFill>
              <a:srgbClr val="2E5496"/>
            </a:solidFill>
            <a:prstDash val="solid"/>
          </a:ln>
        </p:spPr>
      </p:sp>
      <p:sp>
        <p:nvSpPr>
          <p:cNvPr id="40" name="Text 37"/>
          <p:cNvSpPr/>
          <p:nvPr/>
        </p:nvSpPr>
        <p:spPr>
          <a:xfrm>
            <a:off x="548640" y="3520440"/>
            <a:ext cx="3840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 Day of the Lord</a:t>
            </a:r>
            <a:endParaRPr lang="en-US" sz="1200" dirty="0"/>
          </a:p>
        </p:txBody>
      </p:sp>
      <p:sp>
        <p:nvSpPr>
          <p:cNvPr id="41" name="Shape 38"/>
          <p:cNvSpPr/>
          <p:nvPr/>
        </p:nvSpPr>
        <p:spPr>
          <a:xfrm>
            <a:off x="457200" y="3840480"/>
            <a:ext cx="4023360" cy="777240"/>
          </a:xfrm>
          <a:prstGeom prst="rect">
            <a:avLst/>
          </a:prstGeom>
          <a:solidFill>
            <a:srgbClr val="F2F6FC"/>
          </a:solidFill>
          <a:ln w="9525">
            <a:solidFill>
              <a:srgbClr val="D5DCEA"/>
            </a:solidFill>
            <a:prstDash val="solid"/>
          </a:ln>
        </p:spPr>
      </p:sp>
      <p:sp>
        <p:nvSpPr>
          <p:cNvPr id="42" name="Text 39"/>
          <p:cNvSpPr/>
          <p:nvPr/>
        </p:nvSpPr>
        <p:spPr>
          <a:xfrm>
            <a:off x="548640" y="3913632"/>
            <a:ext cx="3840480" cy="64922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Judgment — seven years</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Blessing — one thousand years</a:t>
            </a:r>
            <a:endParaRPr lang="en-US" sz="1250" dirty="0"/>
          </a:p>
        </p:txBody>
      </p:sp>
      <p:sp>
        <p:nvSpPr>
          <p:cNvPr id="43" name="Shape 40"/>
          <p:cNvSpPr/>
          <p:nvPr/>
        </p:nvSpPr>
        <p:spPr>
          <a:xfrm>
            <a:off x="4663440" y="3474720"/>
            <a:ext cx="4023360" cy="365760"/>
          </a:xfrm>
          <a:prstGeom prst="rect">
            <a:avLst/>
          </a:prstGeom>
          <a:solidFill>
            <a:srgbClr val="375623"/>
          </a:solidFill>
          <a:ln w="12700">
            <a:solidFill>
              <a:srgbClr val="375623"/>
            </a:solidFill>
            <a:prstDash val="solid"/>
          </a:ln>
        </p:spPr>
      </p:sp>
      <p:sp>
        <p:nvSpPr>
          <p:cNvPr id="44" name="Text 41"/>
          <p:cNvSpPr/>
          <p:nvPr/>
        </p:nvSpPr>
        <p:spPr>
          <a:xfrm>
            <a:off x="4754880" y="3520440"/>
            <a:ext cx="3840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“A thief in the night” · 5:2</a:t>
            </a:r>
            <a:endParaRPr lang="en-US" sz="1200" dirty="0"/>
          </a:p>
        </p:txBody>
      </p:sp>
      <p:sp>
        <p:nvSpPr>
          <p:cNvPr id="45" name="Shape 42"/>
          <p:cNvSpPr/>
          <p:nvPr/>
        </p:nvSpPr>
        <p:spPr>
          <a:xfrm>
            <a:off x="4663440" y="3840480"/>
            <a:ext cx="4023360" cy="777240"/>
          </a:xfrm>
          <a:prstGeom prst="rect">
            <a:avLst/>
          </a:prstGeom>
          <a:solidFill>
            <a:srgbClr val="F2F6FC"/>
          </a:solidFill>
          <a:ln w="9525">
            <a:solidFill>
              <a:srgbClr val="D5DCEA"/>
            </a:solidFill>
            <a:prstDash val="solid"/>
          </a:ln>
        </p:spPr>
      </p:sp>
      <p:sp>
        <p:nvSpPr>
          <p:cNvPr id="46" name="Text 43"/>
          <p:cNvSpPr/>
          <p:nvPr/>
        </p:nvSpPr>
        <p:spPr>
          <a:xfrm>
            <a:off x="4754880" y="3913632"/>
            <a:ext cx="3840480" cy="64922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Describes the Day of the Lord</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Not the Rapture</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Seven features of the coming Day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5:2–3 · Introduction — and a key to the chapter</a:t>
            </a:r>
            <a:endParaRPr lang="en-US" sz="1200" dirty="0"/>
          </a:p>
        </p:txBody>
      </p:sp>
      <p:sp>
        <p:nvSpPr>
          <p:cNvPr id="5" name="Shape 2"/>
          <p:cNvSpPr/>
          <p:nvPr/>
        </p:nvSpPr>
        <p:spPr>
          <a:xfrm>
            <a:off x="457200" y="1188720"/>
            <a:ext cx="1913382" cy="1572768"/>
          </a:xfrm>
          <a:prstGeom prst="rect">
            <a:avLst/>
          </a:prstGeom>
          <a:solidFill>
            <a:srgbClr val="F2F6FC"/>
          </a:solidFill>
          <a:ln w="9525">
            <a:solidFill>
              <a:srgbClr val="D5DCEA"/>
            </a:solidFill>
            <a:prstDash val="solid"/>
          </a:ln>
        </p:spPr>
      </p:sp>
      <p:sp>
        <p:nvSpPr>
          <p:cNvPr id="6" name="Shape 3"/>
          <p:cNvSpPr/>
          <p:nvPr/>
        </p:nvSpPr>
        <p:spPr>
          <a:xfrm>
            <a:off x="594360" y="1325880"/>
            <a:ext cx="420624" cy="420624"/>
          </a:xfrm>
          <a:prstGeom prst="ellipse">
            <a:avLst/>
          </a:prstGeom>
          <a:solidFill>
            <a:srgbClr val="2E5496"/>
          </a:solidFill>
          <a:ln w="12700">
            <a:solidFill>
              <a:srgbClr val="2E5496"/>
            </a:solidFill>
            <a:prstDash val="solid"/>
          </a:ln>
        </p:spPr>
      </p:sp>
      <p:sp>
        <p:nvSpPr>
          <p:cNvPr id="7" name="Text 4"/>
          <p:cNvSpPr/>
          <p:nvPr/>
        </p:nvSpPr>
        <p:spPr>
          <a:xfrm>
            <a:off x="594360" y="13258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8" name="Text 5"/>
          <p:cNvSpPr/>
          <p:nvPr/>
        </p:nvSpPr>
        <p:spPr>
          <a:xfrm>
            <a:off x="1115568" y="1325880"/>
            <a:ext cx="1163574"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Secret</a:t>
            </a:r>
            <a:endParaRPr lang="en-US" sz="1200" dirty="0"/>
          </a:p>
        </p:txBody>
      </p:sp>
      <p:sp>
        <p:nvSpPr>
          <p:cNvPr id="9" name="Text 6"/>
          <p:cNvSpPr/>
          <p:nvPr/>
        </p:nvSpPr>
        <p:spPr>
          <a:xfrm>
            <a:off x="594360" y="1828800"/>
            <a:ext cx="1657350" cy="859536"/>
          </a:xfrm>
          <a:prstGeom prst="rect">
            <a:avLst/>
          </a:prstGeom>
          <a:noFill/>
          <a:ln/>
        </p:spPr>
        <p:txBody>
          <a:bodyPr wrap="square" lIns="0" tIns="0" rIns="0" bIns="0" rtlCol="0" anchor="t"/>
          <a:lstStyle/>
          <a:p>
            <a:pPr indent="0" marL="0">
              <a:buNone/>
            </a:pPr>
            <a:r>
              <a:rPr lang="en-US" sz="1050" dirty="0">
                <a:solidFill>
                  <a:srgbClr val="262626"/>
                </a:solidFill>
                <a:latin typeface="Arial" pitchFamily="34" charset="0"/>
                <a:ea typeface="Arial" pitchFamily="34" charset="-122"/>
                <a:cs typeface="Arial" pitchFamily="34" charset="-120"/>
              </a:rPr>
              <a:t>“Like a thief in the night”</a:t>
            </a:r>
            <a:endParaRPr lang="en-US" sz="1050" dirty="0"/>
          </a:p>
        </p:txBody>
      </p:sp>
      <p:sp>
        <p:nvSpPr>
          <p:cNvPr id="10" name="Shape 7"/>
          <p:cNvSpPr/>
          <p:nvPr/>
        </p:nvSpPr>
        <p:spPr>
          <a:xfrm>
            <a:off x="2562606" y="1188720"/>
            <a:ext cx="1913382" cy="1572768"/>
          </a:xfrm>
          <a:prstGeom prst="rect">
            <a:avLst/>
          </a:prstGeom>
          <a:solidFill>
            <a:srgbClr val="F2F6FC"/>
          </a:solidFill>
          <a:ln w="9525">
            <a:solidFill>
              <a:srgbClr val="D5DCEA"/>
            </a:solidFill>
            <a:prstDash val="solid"/>
          </a:ln>
        </p:spPr>
      </p:sp>
      <p:sp>
        <p:nvSpPr>
          <p:cNvPr id="11" name="Shape 8"/>
          <p:cNvSpPr/>
          <p:nvPr/>
        </p:nvSpPr>
        <p:spPr>
          <a:xfrm>
            <a:off x="2699766" y="1325880"/>
            <a:ext cx="420624" cy="420624"/>
          </a:xfrm>
          <a:prstGeom prst="ellipse">
            <a:avLst/>
          </a:prstGeom>
          <a:solidFill>
            <a:srgbClr val="2E5496"/>
          </a:solidFill>
          <a:ln w="12700">
            <a:solidFill>
              <a:srgbClr val="2E5496"/>
            </a:solidFill>
            <a:prstDash val="solid"/>
          </a:ln>
        </p:spPr>
      </p:sp>
      <p:sp>
        <p:nvSpPr>
          <p:cNvPr id="12" name="Text 9"/>
          <p:cNvSpPr/>
          <p:nvPr/>
        </p:nvSpPr>
        <p:spPr>
          <a:xfrm>
            <a:off x="2699766" y="13258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3" name="Text 10"/>
          <p:cNvSpPr/>
          <p:nvPr/>
        </p:nvSpPr>
        <p:spPr>
          <a:xfrm>
            <a:off x="3220974" y="1325880"/>
            <a:ext cx="1163574"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Unexpected</a:t>
            </a:r>
            <a:endParaRPr lang="en-US" sz="1200" dirty="0"/>
          </a:p>
        </p:txBody>
      </p:sp>
      <p:sp>
        <p:nvSpPr>
          <p:cNvPr id="14" name="Text 11"/>
          <p:cNvSpPr/>
          <p:nvPr/>
        </p:nvSpPr>
        <p:spPr>
          <a:xfrm>
            <a:off x="2699766" y="1828800"/>
            <a:ext cx="1657350" cy="859536"/>
          </a:xfrm>
          <a:prstGeom prst="rect">
            <a:avLst/>
          </a:prstGeom>
          <a:noFill/>
          <a:ln/>
        </p:spPr>
        <p:txBody>
          <a:bodyPr wrap="square" lIns="0" tIns="0" rIns="0" bIns="0" rtlCol="0" anchor="t"/>
          <a:lstStyle/>
          <a:p>
            <a:pPr indent="0" marL="0">
              <a:buNone/>
            </a:pPr>
            <a:r>
              <a:rPr lang="en-US" sz="1050" dirty="0">
                <a:solidFill>
                  <a:srgbClr val="262626"/>
                </a:solidFill>
                <a:latin typeface="Arial" pitchFamily="34" charset="0"/>
                <a:ea typeface="Arial" pitchFamily="34" charset="-122"/>
                <a:cs typeface="Arial" pitchFamily="34" charset="-120"/>
              </a:rPr>
              <a:t>While they cry “Peace and safety!”</a:t>
            </a:r>
            <a:endParaRPr lang="en-US" sz="1050" dirty="0"/>
          </a:p>
        </p:txBody>
      </p:sp>
      <p:sp>
        <p:nvSpPr>
          <p:cNvPr id="15" name="Shape 12"/>
          <p:cNvSpPr/>
          <p:nvPr/>
        </p:nvSpPr>
        <p:spPr>
          <a:xfrm>
            <a:off x="4668012" y="1188720"/>
            <a:ext cx="1913382" cy="1572768"/>
          </a:xfrm>
          <a:prstGeom prst="rect">
            <a:avLst/>
          </a:prstGeom>
          <a:solidFill>
            <a:srgbClr val="F2F6FC"/>
          </a:solidFill>
          <a:ln w="9525">
            <a:solidFill>
              <a:srgbClr val="D5DCEA"/>
            </a:solidFill>
            <a:prstDash val="solid"/>
          </a:ln>
        </p:spPr>
      </p:sp>
      <p:sp>
        <p:nvSpPr>
          <p:cNvPr id="16" name="Shape 13"/>
          <p:cNvSpPr/>
          <p:nvPr/>
        </p:nvSpPr>
        <p:spPr>
          <a:xfrm>
            <a:off x="4805172" y="1325880"/>
            <a:ext cx="420624" cy="420624"/>
          </a:xfrm>
          <a:prstGeom prst="ellipse">
            <a:avLst/>
          </a:prstGeom>
          <a:solidFill>
            <a:srgbClr val="2E5496"/>
          </a:solidFill>
          <a:ln w="12700">
            <a:solidFill>
              <a:srgbClr val="2E5496"/>
            </a:solidFill>
            <a:prstDash val="solid"/>
          </a:ln>
        </p:spPr>
      </p:sp>
      <p:sp>
        <p:nvSpPr>
          <p:cNvPr id="17" name="Text 14"/>
          <p:cNvSpPr/>
          <p:nvPr/>
        </p:nvSpPr>
        <p:spPr>
          <a:xfrm>
            <a:off x="4805172" y="13258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a:t>
            </a:r>
            <a:endParaRPr lang="en-US" sz="1300" dirty="0"/>
          </a:p>
        </p:txBody>
      </p:sp>
      <p:sp>
        <p:nvSpPr>
          <p:cNvPr id="18" name="Text 15"/>
          <p:cNvSpPr/>
          <p:nvPr/>
        </p:nvSpPr>
        <p:spPr>
          <a:xfrm>
            <a:off x="5326380" y="1325880"/>
            <a:ext cx="1163574"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Sudden</a:t>
            </a:r>
            <a:endParaRPr lang="en-US" sz="1200" dirty="0"/>
          </a:p>
        </p:txBody>
      </p:sp>
      <p:sp>
        <p:nvSpPr>
          <p:cNvPr id="19" name="Text 16"/>
          <p:cNvSpPr/>
          <p:nvPr/>
        </p:nvSpPr>
        <p:spPr>
          <a:xfrm>
            <a:off x="4805172" y="1828800"/>
            <a:ext cx="1657350" cy="859536"/>
          </a:xfrm>
          <a:prstGeom prst="rect">
            <a:avLst/>
          </a:prstGeom>
          <a:noFill/>
          <a:ln/>
        </p:spPr>
        <p:txBody>
          <a:bodyPr wrap="square" lIns="0" tIns="0" rIns="0" bIns="0" rtlCol="0" anchor="t"/>
          <a:lstStyle/>
          <a:p>
            <a:pPr indent="0" marL="0">
              <a:buNone/>
            </a:pPr>
            <a:r>
              <a:rPr lang="en-US" sz="1050" dirty="0">
                <a:solidFill>
                  <a:srgbClr val="262626"/>
                </a:solidFill>
                <a:latin typeface="Arial" pitchFamily="34" charset="0"/>
                <a:ea typeface="Arial" pitchFamily="34" charset="-122"/>
                <a:cs typeface="Arial" pitchFamily="34" charset="-120"/>
              </a:rPr>
              <a:t>Striking without warning</a:t>
            </a:r>
            <a:endParaRPr lang="en-US" sz="1050" dirty="0"/>
          </a:p>
        </p:txBody>
      </p:sp>
      <p:sp>
        <p:nvSpPr>
          <p:cNvPr id="20" name="Shape 17"/>
          <p:cNvSpPr/>
          <p:nvPr/>
        </p:nvSpPr>
        <p:spPr>
          <a:xfrm>
            <a:off x="6773418" y="1188720"/>
            <a:ext cx="1913382" cy="1572768"/>
          </a:xfrm>
          <a:prstGeom prst="rect">
            <a:avLst/>
          </a:prstGeom>
          <a:solidFill>
            <a:srgbClr val="F2F6FC"/>
          </a:solidFill>
          <a:ln w="9525">
            <a:solidFill>
              <a:srgbClr val="D5DCEA"/>
            </a:solidFill>
            <a:prstDash val="solid"/>
          </a:ln>
        </p:spPr>
      </p:sp>
      <p:sp>
        <p:nvSpPr>
          <p:cNvPr id="21" name="Shape 18"/>
          <p:cNvSpPr/>
          <p:nvPr/>
        </p:nvSpPr>
        <p:spPr>
          <a:xfrm>
            <a:off x="6910578" y="1325880"/>
            <a:ext cx="420624" cy="420624"/>
          </a:xfrm>
          <a:prstGeom prst="ellipse">
            <a:avLst/>
          </a:prstGeom>
          <a:solidFill>
            <a:srgbClr val="2E5496"/>
          </a:solidFill>
          <a:ln w="12700">
            <a:solidFill>
              <a:srgbClr val="2E5496"/>
            </a:solidFill>
            <a:prstDash val="solid"/>
          </a:ln>
        </p:spPr>
      </p:sp>
      <p:sp>
        <p:nvSpPr>
          <p:cNvPr id="22" name="Text 19"/>
          <p:cNvSpPr/>
          <p:nvPr/>
        </p:nvSpPr>
        <p:spPr>
          <a:xfrm>
            <a:off x="6910578" y="13258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D</a:t>
            </a:r>
            <a:endParaRPr lang="en-US" sz="1300" dirty="0"/>
          </a:p>
        </p:txBody>
      </p:sp>
      <p:sp>
        <p:nvSpPr>
          <p:cNvPr id="23" name="Text 20"/>
          <p:cNvSpPr/>
          <p:nvPr/>
        </p:nvSpPr>
        <p:spPr>
          <a:xfrm>
            <a:off x="7431786" y="1325880"/>
            <a:ext cx="1163574"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Destructive</a:t>
            </a:r>
            <a:endParaRPr lang="en-US" sz="1200" dirty="0"/>
          </a:p>
        </p:txBody>
      </p:sp>
      <p:sp>
        <p:nvSpPr>
          <p:cNvPr id="24" name="Text 21"/>
          <p:cNvSpPr/>
          <p:nvPr/>
        </p:nvSpPr>
        <p:spPr>
          <a:xfrm>
            <a:off x="6910578" y="1828800"/>
            <a:ext cx="1657350" cy="859536"/>
          </a:xfrm>
          <a:prstGeom prst="rect">
            <a:avLst/>
          </a:prstGeom>
          <a:noFill/>
          <a:ln/>
        </p:spPr>
        <p:txBody>
          <a:bodyPr wrap="square" lIns="0" tIns="0" rIns="0" bIns="0" rtlCol="0" anchor="t"/>
          <a:lstStyle/>
          <a:p>
            <a:pPr indent="0" marL="0">
              <a:buNone/>
            </a:pPr>
            <a:r>
              <a:rPr lang="en-US" sz="1050" dirty="0">
                <a:solidFill>
                  <a:srgbClr val="262626"/>
                </a:solidFill>
                <a:latin typeface="Arial" pitchFamily="34" charset="0"/>
                <a:ea typeface="Arial" pitchFamily="34" charset="-122"/>
                <a:cs typeface="Arial" pitchFamily="34" charset="-120"/>
              </a:rPr>
              <a:t>Catastrophic judgment</a:t>
            </a:r>
            <a:endParaRPr lang="en-US" sz="1050" dirty="0"/>
          </a:p>
        </p:txBody>
      </p:sp>
      <p:sp>
        <p:nvSpPr>
          <p:cNvPr id="25" name="Shape 22"/>
          <p:cNvSpPr/>
          <p:nvPr/>
        </p:nvSpPr>
        <p:spPr>
          <a:xfrm>
            <a:off x="457200" y="2926080"/>
            <a:ext cx="1913382" cy="1572768"/>
          </a:xfrm>
          <a:prstGeom prst="rect">
            <a:avLst/>
          </a:prstGeom>
          <a:solidFill>
            <a:srgbClr val="F2F6FC"/>
          </a:solidFill>
          <a:ln w="9525">
            <a:solidFill>
              <a:srgbClr val="D5DCEA"/>
            </a:solidFill>
            <a:prstDash val="solid"/>
          </a:ln>
        </p:spPr>
      </p:sp>
      <p:sp>
        <p:nvSpPr>
          <p:cNvPr id="26" name="Shape 23"/>
          <p:cNvSpPr/>
          <p:nvPr/>
        </p:nvSpPr>
        <p:spPr>
          <a:xfrm>
            <a:off x="594360" y="3063240"/>
            <a:ext cx="420624" cy="420624"/>
          </a:xfrm>
          <a:prstGeom prst="ellipse">
            <a:avLst/>
          </a:prstGeom>
          <a:solidFill>
            <a:srgbClr val="2E5496"/>
          </a:solidFill>
          <a:ln w="12700">
            <a:solidFill>
              <a:srgbClr val="2E5496"/>
            </a:solidFill>
            <a:prstDash val="solid"/>
          </a:ln>
        </p:spPr>
      </p:sp>
      <p:sp>
        <p:nvSpPr>
          <p:cNvPr id="27" name="Text 24"/>
          <p:cNvSpPr/>
          <p:nvPr/>
        </p:nvSpPr>
        <p:spPr>
          <a:xfrm>
            <a:off x="594360" y="306324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E</a:t>
            </a:r>
            <a:endParaRPr lang="en-US" sz="1300" dirty="0"/>
          </a:p>
        </p:txBody>
      </p:sp>
      <p:sp>
        <p:nvSpPr>
          <p:cNvPr id="28" name="Text 25"/>
          <p:cNvSpPr/>
          <p:nvPr/>
        </p:nvSpPr>
        <p:spPr>
          <a:xfrm>
            <a:off x="1115568" y="3063240"/>
            <a:ext cx="1163574"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Inevitable</a:t>
            </a:r>
            <a:endParaRPr lang="en-US" sz="1200" dirty="0"/>
          </a:p>
        </p:txBody>
      </p:sp>
      <p:sp>
        <p:nvSpPr>
          <p:cNvPr id="29" name="Text 26"/>
          <p:cNvSpPr/>
          <p:nvPr/>
        </p:nvSpPr>
        <p:spPr>
          <a:xfrm>
            <a:off x="594360" y="3566160"/>
            <a:ext cx="1657350" cy="859536"/>
          </a:xfrm>
          <a:prstGeom prst="rect">
            <a:avLst/>
          </a:prstGeom>
          <a:noFill/>
          <a:ln/>
        </p:spPr>
        <p:txBody>
          <a:bodyPr wrap="square" lIns="0" tIns="0" rIns="0" bIns="0" rtlCol="0" anchor="t"/>
          <a:lstStyle/>
          <a:p>
            <a:pPr indent="0" marL="0">
              <a:buNone/>
            </a:pPr>
            <a:r>
              <a:rPr lang="en-US" sz="1050" dirty="0">
                <a:solidFill>
                  <a:srgbClr val="262626"/>
                </a:solidFill>
                <a:latin typeface="Arial" pitchFamily="34" charset="0"/>
                <a:ea typeface="Arial" pitchFamily="34" charset="-122"/>
                <a:cs typeface="Arial" pitchFamily="34" charset="-120"/>
              </a:rPr>
              <a:t>Nothing can prevent it</a:t>
            </a:r>
            <a:endParaRPr lang="en-US" sz="1050" dirty="0"/>
          </a:p>
        </p:txBody>
      </p:sp>
      <p:sp>
        <p:nvSpPr>
          <p:cNvPr id="30" name="Shape 27"/>
          <p:cNvSpPr/>
          <p:nvPr/>
        </p:nvSpPr>
        <p:spPr>
          <a:xfrm>
            <a:off x="2562606" y="2926080"/>
            <a:ext cx="1913382" cy="1572768"/>
          </a:xfrm>
          <a:prstGeom prst="rect">
            <a:avLst/>
          </a:prstGeom>
          <a:solidFill>
            <a:srgbClr val="F2F6FC"/>
          </a:solidFill>
          <a:ln w="9525">
            <a:solidFill>
              <a:srgbClr val="D5DCEA"/>
            </a:solidFill>
            <a:prstDash val="solid"/>
          </a:ln>
        </p:spPr>
      </p:sp>
      <p:sp>
        <p:nvSpPr>
          <p:cNvPr id="31" name="Shape 28"/>
          <p:cNvSpPr/>
          <p:nvPr/>
        </p:nvSpPr>
        <p:spPr>
          <a:xfrm>
            <a:off x="2699766" y="3063240"/>
            <a:ext cx="420624" cy="420624"/>
          </a:xfrm>
          <a:prstGeom prst="ellipse">
            <a:avLst/>
          </a:prstGeom>
          <a:solidFill>
            <a:srgbClr val="2E5496"/>
          </a:solidFill>
          <a:ln w="12700">
            <a:solidFill>
              <a:srgbClr val="2E5496"/>
            </a:solidFill>
            <a:prstDash val="solid"/>
          </a:ln>
        </p:spPr>
      </p:sp>
      <p:sp>
        <p:nvSpPr>
          <p:cNvPr id="32" name="Text 29"/>
          <p:cNvSpPr/>
          <p:nvPr/>
        </p:nvSpPr>
        <p:spPr>
          <a:xfrm>
            <a:off x="2699766" y="306324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F</a:t>
            </a:r>
            <a:endParaRPr lang="en-US" sz="1300" dirty="0"/>
          </a:p>
        </p:txBody>
      </p:sp>
      <p:sp>
        <p:nvSpPr>
          <p:cNvPr id="33" name="Text 30"/>
          <p:cNvSpPr/>
          <p:nvPr/>
        </p:nvSpPr>
        <p:spPr>
          <a:xfrm>
            <a:off x="3220974" y="3063240"/>
            <a:ext cx="1163574"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Irreversible</a:t>
            </a:r>
            <a:endParaRPr lang="en-US" sz="1200" dirty="0"/>
          </a:p>
        </p:txBody>
      </p:sp>
      <p:sp>
        <p:nvSpPr>
          <p:cNvPr id="34" name="Text 31"/>
          <p:cNvSpPr/>
          <p:nvPr/>
        </p:nvSpPr>
        <p:spPr>
          <a:xfrm>
            <a:off x="2699766" y="3566160"/>
            <a:ext cx="1657350" cy="859536"/>
          </a:xfrm>
          <a:prstGeom prst="rect">
            <a:avLst/>
          </a:prstGeom>
          <a:noFill/>
          <a:ln/>
        </p:spPr>
        <p:txBody>
          <a:bodyPr wrap="square" lIns="0" tIns="0" rIns="0" bIns="0" rtlCol="0" anchor="t"/>
          <a:lstStyle/>
          <a:p>
            <a:pPr indent="0" marL="0">
              <a:buNone/>
            </a:pPr>
            <a:r>
              <a:rPr lang="en-US" sz="1050" dirty="0">
                <a:solidFill>
                  <a:srgbClr val="262626"/>
                </a:solidFill>
                <a:latin typeface="Arial" pitchFamily="34" charset="0"/>
                <a:ea typeface="Arial" pitchFamily="34" charset="-122"/>
                <a:cs typeface="Arial" pitchFamily="34" charset="-120"/>
              </a:rPr>
              <a:t>As labor pains — ὠδίν</a:t>
            </a:r>
            <a:endParaRPr lang="en-US" sz="1050" dirty="0"/>
          </a:p>
        </p:txBody>
      </p:sp>
      <p:sp>
        <p:nvSpPr>
          <p:cNvPr id="35" name="Shape 32"/>
          <p:cNvSpPr/>
          <p:nvPr/>
        </p:nvSpPr>
        <p:spPr>
          <a:xfrm>
            <a:off x="4668012" y="2926080"/>
            <a:ext cx="1913382" cy="1572768"/>
          </a:xfrm>
          <a:prstGeom prst="rect">
            <a:avLst/>
          </a:prstGeom>
          <a:solidFill>
            <a:srgbClr val="F2F6FC"/>
          </a:solidFill>
          <a:ln w="9525">
            <a:solidFill>
              <a:srgbClr val="D5DCEA"/>
            </a:solidFill>
            <a:prstDash val="solid"/>
          </a:ln>
        </p:spPr>
      </p:sp>
      <p:sp>
        <p:nvSpPr>
          <p:cNvPr id="36" name="Shape 33"/>
          <p:cNvSpPr/>
          <p:nvPr/>
        </p:nvSpPr>
        <p:spPr>
          <a:xfrm>
            <a:off x="4805172" y="3063240"/>
            <a:ext cx="420624" cy="420624"/>
          </a:xfrm>
          <a:prstGeom prst="ellipse">
            <a:avLst/>
          </a:prstGeom>
          <a:solidFill>
            <a:srgbClr val="2E5496"/>
          </a:solidFill>
          <a:ln w="12700">
            <a:solidFill>
              <a:srgbClr val="2E5496"/>
            </a:solidFill>
            <a:prstDash val="solid"/>
          </a:ln>
        </p:spPr>
      </p:sp>
      <p:sp>
        <p:nvSpPr>
          <p:cNvPr id="37" name="Text 34"/>
          <p:cNvSpPr/>
          <p:nvPr/>
        </p:nvSpPr>
        <p:spPr>
          <a:xfrm>
            <a:off x="4805172" y="306324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G</a:t>
            </a:r>
            <a:endParaRPr lang="en-US" sz="1300" dirty="0"/>
          </a:p>
        </p:txBody>
      </p:sp>
      <p:sp>
        <p:nvSpPr>
          <p:cNvPr id="38" name="Text 35"/>
          <p:cNvSpPr/>
          <p:nvPr/>
        </p:nvSpPr>
        <p:spPr>
          <a:xfrm>
            <a:off x="5326380" y="3063240"/>
            <a:ext cx="1163574"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Inescapable</a:t>
            </a:r>
            <a:endParaRPr lang="en-US" sz="1200" dirty="0"/>
          </a:p>
        </p:txBody>
      </p:sp>
      <p:sp>
        <p:nvSpPr>
          <p:cNvPr id="39" name="Text 36"/>
          <p:cNvSpPr/>
          <p:nvPr/>
        </p:nvSpPr>
        <p:spPr>
          <a:xfrm>
            <a:off x="4805172" y="3566160"/>
            <a:ext cx="1657350" cy="859536"/>
          </a:xfrm>
          <a:prstGeom prst="rect">
            <a:avLst/>
          </a:prstGeom>
          <a:noFill/>
          <a:ln/>
        </p:spPr>
        <p:txBody>
          <a:bodyPr wrap="square" lIns="0" tIns="0" rIns="0" bIns="0" rtlCol="0" anchor="t"/>
          <a:lstStyle/>
          <a:p>
            <a:pPr indent="0" marL="0">
              <a:buNone/>
            </a:pPr>
            <a:r>
              <a:rPr lang="en-US" sz="1050" dirty="0">
                <a:solidFill>
                  <a:srgbClr val="262626"/>
                </a:solidFill>
                <a:latin typeface="Arial" pitchFamily="34" charset="0"/>
                <a:ea typeface="Arial" pitchFamily="34" charset="-122"/>
                <a:cs typeface="Arial" pitchFamily="34" charset="-120"/>
              </a:rPr>
              <a:t>“They shall not escape”</a:t>
            </a:r>
            <a:endParaRPr lang="en-US" sz="1050" dirty="0"/>
          </a:p>
        </p:txBody>
      </p:sp>
      <p:sp>
        <p:nvSpPr>
          <p:cNvPr id="40" name="Shape 37"/>
          <p:cNvSpPr/>
          <p:nvPr/>
        </p:nvSpPr>
        <p:spPr>
          <a:xfrm>
            <a:off x="6773418" y="2926080"/>
            <a:ext cx="1913382" cy="1572768"/>
          </a:xfrm>
          <a:prstGeom prst="rect">
            <a:avLst/>
          </a:prstGeom>
          <a:solidFill>
            <a:srgbClr val="F2F6FC"/>
          </a:solidFill>
          <a:ln w="9525">
            <a:solidFill>
              <a:srgbClr val="D5DCEA"/>
            </a:solidFill>
            <a:prstDash val="solid"/>
          </a:ln>
        </p:spPr>
      </p:sp>
      <p:sp>
        <p:nvSpPr>
          <p:cNvPr id="41" name="Shape 38"/>
          <p:cNvSpPr/>
          <p:nvPr/>
        </p:nvSpPr>
        <p:spPr>
          <a:xfrm>
            <a:off x="6910578" y="3063240"/>
            <a:ext cx="420624" cy="420624"/>
          </a:xfrm>
          <a:prstGeom prst="ellipse">
            <a:avLst/>
          </a:prstGeom>
          <a:solidFill>
            <a:srgbClr val="375623"/>
          </a:solidFill>
          <a:ln w="12700">
            <a:solidFill>
              <a:srgbClr val="375623"/>
            </a:solidFill>
            <a:prstDash val="solid"/>
          </a:ln>
        </p:spPr>
      </p:sp>
      <p:sp>
        <p:nvSpPr>
          <p:cNvPr id="42" name="Text 39"/>
          <p:cNvSpPr/>
          <p:nvPr/>
        </p:nvSpPr>
        <p:spPr>
          <a:xfrm>
            <a:off x="6910578" y="306324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43" name="Text 40"/>
          <p:cNvSpPr/>
          <p:nvPr/>
        </p:nvSpPr>
        <p:spPr>
          <a:xfrm>
            <a:off x="7431786" y="3063240"/>
            <a:ext cx="1163574"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Pronoun key</a:t>
            </a:r>
            <a:endParaRPr lang="en-US" sz="1200" dirty="0"/>
          </a:p>
        </p:txBody>
      </p:sp>
      <p:sp>
        <p:nvSpPr>
          <p:cNvPr id="44" name="Text 41"/>
          <p:cNvSpPr/>
          <p:nvPr/>
        </p:nvSpPr>
        <p:spPr>
          <a:xfrm>
            <a:off x="6910578" y="3566160"/>
            <a:ext cx="1657350" cy="859536"/>
          </a:xfrm>
          <a:prstGeom prst="rect">
            <a:avLst/>
          </a:prstGeom>
          <a:noFill/>
          <a:ln/>
        </p:spPr>
        <p:txBody>
          <a:bodyPr wrap="square" lIns="0" tIns="0" rIns="0" bIns="0" rtlCol="0" anchor="t"/>
          <a:lstStyle/>
          <a:p>
            <a:pPr indent="0" marL="0">
              <a:buNone/>
            </a:pPr>
            <a:r>
              <a:rPr lang="en-US" sz="1050" dirty="0">
                <a:solidFill>
                  <a:srgbClr val="262626"/>
                </a:solidFill>
                <a:latin typeface="Arial" pitchFamily="34" charset="0"/>
                <a:ea typeface="Arial" pitchFamily="34" charset="-122"/>
                <a:cs typeface="Arial" pitchFamily="34" charset="-120"/>
              </a:rPr>
              <a:t>You / we = believers · they / them = unbelievers</a:t>
            </a:r>
            <a:endParaRPr lang="en-US" sz="10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Sons of the day, sons of the night</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5:1–8 · I — Some differences</a:t>
            </a:r>
            <a:endParaRPr lang="en-US" sz="1200" dirty="0"/>
          </a:p>
        </p:txBody>
      </p:sp>
      <p:sp>
        <p:nvSpPr>
          <p:cNvPr id="5" name="Shape 2"/>
          <p:cNvSpPr/>
          <p:nvPr/>
        </p:nvSpPr>
        <p:spPr>
          <a:xfrm>
            <a:off x="457200" y="1188720"/>
            <a:ext cx="3931920" cy="566928"/>
          </a:xfrm>
          <a:prstGeom prst="rect">
            <a:avLst/>
          </a:prstGeom>
          <a:solidFill>
            <a:srgbClr val="6B7280"/>
          </a:solidFill>
          <a:ln w="12700">
            <a:solidFill>
              <a:srgbClr val="6B7280"/>
            </a:solidFill>
            <a:prstDash val="solid"/>
          </a:ln>
        </p:spPr>
      </p:sp>
      <p:sp>
        <p:nvSpPr>
          <p:cNvPr id="6" name="Text 3"/>
          <p:cNvSpPr/>
          <p:nvPr/>
        </p:nvSpPr>
        <p:spPr>
          <a:xfrm>
            <a:off x="548640" y="1234440"/>
            <a:ext cx="374904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They / them — of the night</a:t>
            </a:r>
            <a:endParaRPr lang="en-US" sz="1200" dirty="0"/>
          </a:p>
        </p:txBody>
      </p:sp>
      <p:sp>
        <p:nvSpPr>
          <p:cNvPr id="7" name="Shape 4"/>
          <p:cNvSpPr/>
          <p:nvPr/>
        </p:nvSpPr>
        <p:spPr>
          <a:xfrm>
            <a:off x="457200" y="1755648"/>
            <a:ext cx="3931920" cy="1810512"/>
          </a:xfrm>
          <a:prstGeom prst="rect">
            <a:avLst/>
          </a:prstGeom>
          <a:solidFill>
            <a:srgbClr val="F2F6FC"/>
          </a:solidFill>
          <a:ln w="9525">
            <a:solidFill>
              <a:srgbClr val="D5DCEA"/>
            </a:solidFill>
            <a:prstDash val="solid"/>
          </a:ln>
        </p:spPr>
      </p:sp>
      <p:sp>
        <p:nvSpPr>
          <p:cNvPr id="8" name="Text 5"/>
          <p:cNvSpPr/>
          <p:nvPr/>
        </p:nvSpPr>
        <p:spPr>
          <a:xfrm>
            <a:off x="548640" y="1828800"/>
            <a:ext cx="3749040" cy="168249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Follow Satan’s deception: “Peace and safety!”</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Asleep — spiritually unaware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Drunk — aware, but unable to respond</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Sudden destruction; they shall not escape</a:t>
            </a:r>
            <a:endParaRPr lang="en-US" sz="1250" dirty="0"/>
          </a:p>
        </p:txBody>
      </p:sp>
      <p:sp>
        <p:nvSpPr>
          <p:cNvPr id="9" name="Shape 6"/>
          <p:cNvSpPr/>
          <p:nvPr/>
        </p:nvSpPr>
        <p:spPr>
          <a:xfrm>
            <a:off x="4754880" y="1188720"/>
            <a:ext cx="3931920" cy="566928"/>
          </a:xfrm>
          <a:prstGeom prst="rect">
            <a:avLst/>
          </a:prstGeom>
          <a:solidFill>
            <a:srgbClr val="375623"/>
          </a:solidFill>
          <a:ln w="12700">
            <a:solidFill>
              <a:srgbClr val="375623"/>
            </a:solidFill>
            <a:prstDash val="solid"/>
          </a:ln>
        </p:spPr>
      </p:sp>
      <p:sp>
        <p:nvSpPr>
          <p:cNvPr id="10" name="Text 7"/>
          <p:cNvSpPr/>
          <p:nvPr/>
        </p:nvSpPr>
        <p:spPr>
          <a:xfrm>
            <a:off x="4846320" y="1234440"/>
            <a:ext cx="374904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You / we — of the day</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υἱός</a:t>
            </a:r>
            <a:pPr indent="0" marL="0">
              <a:buNone/>
            </a:pPr>
            <a:r>
              <a:rPr lang="en-US" sz="850" dirty="0">
                <a:solidFill>
                  <a:srgbClr val="DCE4F2"/>
                </a:solidFill>
                <a:latin typeface="Arial" pitchFamily="34" charset="0"/>
                <a:ea typeface="Arial" pitchFamily="34" charset="-122"/>
                <a:cs typeface="Arial" pitchFamily="34" charset="-120"/>
              </a:rPr>
              <a:t>  sons of light · G5207</a:t>
            </a:r>
            <a:endParaRPr lang="en-US" sz="1200" dirty="0"/>
          </a:p>
        </p:txBody>
      </p:sp>
      <p:sp>
        <p:nvSpPr>
          <p:cNvPr id="11" name="Shape 8"/>
          <p:cNvSpPr/>
          <p:nvPr/>
        </p:nvSpPr>
        <p:spPr>
          <a:xfrm>
            <a:off x="4754880" y="1755648"/>
            <a:ext cx="3931920" cy="1810512"/>
          </a:xfrm>
          <a:prstGeom prst="rect">
            <a:avLst/>
          </a:prstGeom>
          <a:solidFill>
            <a:srgbClr val="F2F6FC"/>
          </a:solidFill>
          <a:ln w="9525">
            <a:solidFill>
              <a:srgbClr val="D5DCEA"/>
            </a:solidFill>
            <a:prstDash val="solid"/>
          </a:ln>
        </p:spPr>
      </p:sp>
      <p:sp>
        <p:nvSpPr>
          <p:cNvPr id="12" name="Text 9"/>
          <p:cNvSpPr/>
          <p:nvPr/>
        </p:nvSpPr>
        <p:spPr>
          <a:xfrm>
            <a:off x="4846320" y="1828800"/>
            <a:ext cx="3749040" cy="168249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Follow Scripture — they know “perfectly”</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Not in darkness: the Day won’t overtake them</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Watch — γρηγορέω; be sober — νήφω</a:t>
            </a:r>
            <a:endParaRPr lang="en-US" sz="1250" dirty="0"/>
          </a:p>
        </p:txBody>
      </p:sp>
      <p:sp>
        <p:nvSpPr>
          <p:cNvPr id="13" name="Text 10"/>
          <p:cNvSpPr/>
          <p:nvPr/>
        </p:nvSpPr>
        <p:spPr>
          <a:xfrm>
            <a:off x="4389120" y="2194560"/>
            <a:ext cx="365760" cy="365760"/>
          </a:xfrm>
          <a:prstGeom prst="rect">
            <a:avLst/>
          </a:prstGeom>
          <a:noFill/>
          <a:ln/>
        </p:spPr>
        <p:txBody>
          <a:bodyPr wrap="square" lIns="0" tIns="0" rIns="0" bIns="0" rtlCol="0" anchor="ctr"/>
          <a:lstStyle/>
          <a:p>
            <a:pPr algn="ctr" indent="0" marL="0">
              <a:buNone/>
            </a:pPr>
            <a:r>
              <a:rPr lang="en-US" sz="1100" b="1" dirty="0">
                <a:solidFill>
                  <a:srgbClr val="6B7280"/>
                </a:solidFill>
                <a:latin typeface="Arial" pitchFamily="34" charset="0"/>
                <a:ea typeface="Arial" pitchFamily="34" charset="-122"/>
                <a:cs typeface="Arial" pitchFamily="34" charset="-120"/>
              </a:rPr>
              <a:t>vs</a:t>
            </a:r>
            <a:endParaRPr lang="en-US" sz="1100" dirty="0"/>
          </a:p>
        </p:txBody>
      </p:sp>
      <p:sp>
        <p:nvSpPr>
          <p:cNvPr id="14" name="Shape 11"/>
          <p:cNvSpPr/>
          <p:nvPr/>
        </p:nvSpPr>
        <p:spPr>
          <a:xfrm>
            <a:off x="457200" y="3794760"/>
            <a:ext cx="8229600" cy="777240"/>
          </a:xfrm>
          <a:prstGeom prst="roundRect">
            <a:avLst>
              <a:gd name="adj" fmla="val 7059"/>
            </a:avLst>
          </a:prstGeom>
          <a:solidFill>
            <a:srgbClr val="1F3864"/>
          </a:solidFill>
          <a:ln w="12700">
            <a:solidFill>
              <a:srgbClr val="1F3864"/>
            </a:solidFill>
            <a:prstDash val="solid"/>
          </a:ln>
        </p:spPr>
      </p:sp>
      <p:sp>
        <p:nvSpPr>
          <p:cNvPr id="15" name="Text 12"/>
          <p:cNvSpPr/>
          <p:nvPr/>
        </p:nvSpPr>
        <p:spPr>
          <a:xfrm>
            <a:off x="621792" y="3794760"/>
            <a:ext cx="7900416" cy="77724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The “sleep” of 5:6 is not the sleep of 4:13. There, physical death — a comfort word. Here, spiritual lethargy — a warning word.</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The armor of the day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5:8 · I.B.2 — The Lord’s people</a:t>
            </a:r>
            <a:endParaRPr lang="en-US" sz="1200" dirty="0"/>
          </a:p>
        </p:txBody>
      </p:sp>
      <p:sp>
        <p:nvSpPr>
          <p:cNvPr id="5" name="Shape 2"/>
          <p:cNvSpPr/>
          <p:nvPr/>
        </p:nvSpPr>
        <p:spPr>
          <a:xfrm>
            <a:off x="457200" y="1188720"/>
            <a:ext cx="2621280" cy="566928"/>
          </a:xfrm>
          <a:prstGeom prst="rect">
            <a:avLst/>
          </a:prstGeom>
          <a:solidFill>
            <a:srgbClr val="2E5496"/>
          </a:solidFill>
          <a:ln w="12700">
            <a:solidFill>
              <a:srgbClr val="2E5496"/>
            </a:solidFill>
            <a:prstDash val="solid"/>
          </a:ln>
        </p:spPr>
      </p:sp>
      <p:sp>
        <p:nvSpPr>
          <p:cNvPr id="6" name="Text 3"/>
          <p:cNvSpPr/>
          <p:nvPr/>
        </p:nvSpPr>
        <p:spPr>
          <a:xfrm>
            <a:off x="548640" y="1234440"/>
            <a:ext cx="24384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Breastplate of faith</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θώραξ</a:t>
            </a:r>
            <a:pPr indent="0" marL="0">
              <a:buNone/>
            </a:pPr>
            <a:r>
              <a:rPr lang="en-US" sz="850" dirty="0">
                <a:solidFill>
                  <a:srgbClr val="DCE4F2"/>
                </a:solidFill>
                <a:latin typeface="Arial" pitchFamily="34" charset="0"/>
                <a:ea typeface="Arial" pitchFamily="34" charset="-122"/>
                <a:cs typeface="Arial" pitchFamily="34" charset="-120"/>
              </a:rPr>
              <a:t>  breastplate · G2382</a:t>
            </a:r>
            <a:endParaRPr lang="en-US" sz="1200" dirty="0"/>
          </a:p>
        </p:txBody>
      </p:sp>
      <p:sp>
        <p:nvSpPr>
          <p:cNvPr id="7" name="Shape 4"/>
          <p:cNvSpPr/>
          <p:nvPr/>
        </p:nvSpPr>
        <p:spPr>
          <a:xfrm>
            <a:off x="457200" y="1755648"/>
            <a:ext cx="2621280" cy="1901952"/>
          </a:xfrm>
          <a:prstGeom prst="rect">
            <a:avLst/>
          </a:prstGeom>
          <a:solidFill>
            <a:srgbClr val="F2F6FC"/>
          </a:solidFill>
          <a:ln w="9525">
            <a:solidFill>
              <a:srgbClr val="D5DCEA"/>
            </a:solidFill>
            <a:prstDash val="solid"/>
          </a:ln>
        </p:spPr>
      </p:sp>
      <p:sp>
        <p:nvSpPr>
          <p:cNvPr id="8" name="Text 5"/>
          <p:cNvSpPr/>
          <p:nvPr/>
        </p:nvSpPr>
        <p:spPr>
          <a:xfrm>
            <a:off x="548640" y="1828800"/>
            <a:ext cx="2438400" cy="1773936"/>
          </a:xfrm>
          <a:prstGeom prst="rect">
            <a:avLst/>
          </a:prstGeom>
          <a:noFill/>
          <a:ln/>
        </p:spPr>
        <p:txBody>
          <a:bodyPr wrap="square" lIns="0" tIns="0" rIns="0" bIns="0" rtlCol="0" anchor="t"/>
          <a:lstStyle/>
          <a:p>
            <a:pPr indent="0" marL="0">
              <a:spcAft>
                <a:spcPts val="100"/>
              </a:spcAft>
              <a:buNone/>
            </a:pPr>
            <a:r>
              <a:rPr lang="en-US" sz="1250" b="1" dirty="0">
                <a:solidFill>
                  <a:srgbClr val="1F3864"/>
                </a:solidFill>
                <a:latin typeface="Arial" pitchFamily="34" charset="0"/>
                <a:ea typeface="Arial" pitchFamily="34" charset="-122"/>
                <a:cs typeface="Arial" pitchFamily="34" charset="-120"/>
              </a:rPr>
              <a:t>Inward protection</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Keeps us obedient</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Keeps us trusting</a:t>
            </a:r>
            <a:endParaRPr lang="en-US" sz="1250" dirty="0"/>
          </a:p>
        </p:txBody>
      </p:sp>
      <p:sp>
        <p:nvSpPr>
          <p:cNvPr id="9" name="Shape 6"/>
          <p:cNvSpPr/>
          <p:nvPr/>
        </p:nvSpPr>
        <p:spPr>
          <a:xfrm>
            <a:off x="3261360" y="1188720"/>
            <a:ext cx="2621280" cy="566928"/>
          </a:xfrm>
          <a:prstGeom prst="rect">
            <a:avLst/>
          </a:prstGeom>
          <a:solidFill>
            <a:srgbClr val="2E5496"/>
          </a:solidFill>
          <a:ln w="12700">
            <a:solidFill>
              <a:srgbClr val="2E5496"/>
            </a:solidFill>
            <a:prstDash val="solid"/>
          </a:ln>
        </p:spPr>
      </p:sp>
      <p:sp>
        <p:nvSpPr>
          <p:cNvPr id="10" name="Text 7"/>
          <p:cNvSpPr/>
          <p:nvPr/>
        </p:nvSpPr>
        <p:spPr>
          <a:xfrm>
            <a:off x="3352800" y="1234440"/>
            <a:ext cx="24384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 and of love</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θώραξ</a:t>
            </a:r>
            <a:pPr indent="0" marL="0">
              <a:buNone/>
            </a:pPr>
            <a:r>
              <a:rPr lang="en-US" sz="850" dirty="0">
                <a:solidFill>
                  <a:srgbClr val="DCE4F2"/>
                </a:solidFill>
                <a:latin typeface="Arial" pitchFamily="34" charset="0"/>
                <a:ea typeface="Arial" pitchFamily="34" charset="-122"/>
                <a:cs typeface="Arial" pitchFamily="34" charset="-120"/>
              </a:rPr>
              <a:t>  breastplate · G2382</a:t>
            </a:r>
            <a:endParaRPr lang="en-US" sz="1200" dirty="0"/>
          </a:p>
        </p:txBody>
      </p:sp>
      <p:sp>
        <p:nvSpPr>
          <p:cNvPr id="11" name="Shape 8"/>
          <p:cNvSpPr/>
          <p:nvPr/>
        </p:nvSpPr>
        <p:spPr>
          <a:xfrm>
            <a:off x="3261360" y="1755648"/>
            <a:ext cx="2621280" cy="1901952"/>
          </a:xfrm>
          <a:prstGeom prst="rect">
            <a:avLst/>
          </a:prstGeom>
          <a:solidFill>
            <a:srgbClr val="F2F6FC"/>
          </a:solidFill>
          <a:ln w="9525">
            <a:solidFill>
              <a:srgbClr val="D5DCEA"/>
            </a:solidFill>
            <a:prstDash val="solid"/>
          </a:ln>
        </p:spPr>
      </p:sp>
      <p:sp>
        <p:nvSpPr>
          <p:cNvPr id="12" name="Text 9"/>
          <p:cNvSpPr/>
          <p:nvPr/>
        </p:nvSpPr>
        <p:spPr>
          <a:xfrm>
            <a:off x="3352800" y="1828800"/>
            <a:ext cx="2438400" cy="1773936"/>
          </a:xfrm>
          <a:prstGeom prst="rect">
            <a:avLst/>
          </a:prstGeom>
          <a:noFill/>
          <a:ln/>
        </p:spPr>
        <p:txBody>
          <a:bodyPr wrap="square" lIns="0" tIns="0" rIns="0" bIns="0" rtlCol="0" anchor="t"/>
          <a:lstStyle/>
          <a:p>
            <a:pPr indent="0" marL="0">
              <a:spcAft>
                <a:spcPts val="100"/>
              </a:spcAft>
              <a:buNone/>
            </a:pPr>
            <a:r>
              <a:rPr lang="en-US" sz="1250" b="1" dirty="0">
                <a:solidFill>
                  <a:srgbClr val="1F3864"/>
                </a:solidFill>
                <a:latin typeface="Arial" pitchFamily="34" charset="0"/>
                <a:ea typeface="Arial" pitchFamily="34" charset="-122"/>
                <a:cs typeface="Arial" pitchFamily="34" charset="-120"/>
              </a:rPr>
              <a:t>Outward protection</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Keeps us from shunning others</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Keeps us from neglecting others</a:t>
            </a:r>
            <a:endParaRPr lang="en-US" sz="1250" dirty="0"/>
          </a:p>
        </p:txBody>
      </p:sp>
      <p:sp>
        <p:nvSpPr>
          <p:cNvPr id="13" name="Shape 10"/>
          <p:cNvSpPr/>
          <p:nvPr/>
        </p:nvSpPr>
        <p:spPr>
          <a:xfrm>
            <a:off x="6065520" y="1188720"/>
            <a:ext cx="2621280" cy="566928"/>
          </a:xfrm>
          <a:prstGeom prst="rect">
            <a:avLst/>
          </a:prstGeom>
          <a:solidFill>
            <a:srgbClr val="375623"/>
          </a:solidFill>
          <a:ln w="12700">
            <a:solidFill>
              <a:srgbClr val="375623"/>
            </a:solidFill>
            <a:prstDash val="solid"/>
          </a:ln>
        </p:spPr>
      </p:sp>
      <p:sp>
        <p:nvSpPr>
          <p:cNvPr id="14" name="Text 11"/>
          <p:cNvSpPr/>
          <p:nvPr/>
        </p:nvSpPr>
        <p:spPr>
          <a:xfrm>
            <a:off x="6156960" y="1234440"/>
            <a:ext cx="24384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Helmet: hope of salvation</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περικεφαλαία</a:t>
            </a:r>
            <a:pPr indent="0" marL="0">
              <a:buNone/>
            </a:pPr>
            <a:r>
              <a:rPr lang="en-US" sz="850" dirty="0">
                <a:solidFill>
                  <a:srgbClr val="DCE4F2"/>
                </a:solidFill>
                <a:latin typeface="Arial" pitchFamily="34" charset="0"/>
                <a:ea typeface="Arial" pitchFamily="34" charset="-122"/>
                <a:cs typeface="Arial" pitchFamily="34" charset="-120"/>
              </a:rPr>
              <a:t>  helmet · G4030</a:t>
            </a:r>
            <a:endParaRPr lang="en-US" sz="1200" dirty="0"/>
          </a:p>
        </p:txBody>
      </p:sp>
      <p:sp>
        <p:nvSpPr>
          <p:cNvPr id="15" name="Shape 12"/>
          <p:cNvSpPr/>
          <p:nvPr/>
        </p:nvSpPr>
        <p:spPr>
          <a:xfrm>
            <a:off x="6065520" y="1755648"/>
            <a:ext cx="2621280" cy="1901952"/>
          </a:xfrm>
          <a:prstGeom prst="rect">
            <a:avLst/>
          </a:prstGeom>
          <a:solidFill>
            <a:srgbClr val="F2F6FC"/>
          </a:solidFill>
          <a:ln w="9525">
            <a:solidFill>
              <a:srgbClr val="D5DCEA"/>
            </a:solidFill>
            <a:prstDash val="solid"/>
          </a:ln>
        </p:spPr>
      </p:sp>
      <p:sp>
        <p:nvSpPr>
          <p:cNvPr id="16" name="Text 13"/>
          <p:cNvSpPr/>
          <p:nvPr/>
        </p:nvSpPr>
        <p:spPr>
          <a:xfrm>
            <a:off x="6156960" y="1828800"/>
            <a:ext cx="2438400" cy="1773936"/>
          </a:xfrm>
          <a:prstGeom prst="rect">
            <a:avLst/>
          </a:prstGeom>
          <a:noFill/>
          <a:ln/>
        </p:spPr>
        <p:txBody>
          <a:bodyPr wrap="square" lIns="0" tIns="0" rIns="0" bIns="0" rtlCol="0" anchor="t"/>
          <a:lstStyle/>
          <a:p>
            <a:pPr indent="0" marL="0">
              <a:spcAft>
                <a:spcPts val="100"/>
              </a:spcAft>
              <a:buNone/>
            </a:pPr>
            <a:r>
              <a:rPr lang="en-US" sz="1250" b="1" dirty="0">
                <a:solidFill>
                  <a:srgbClr val="1F3864"/>
                </a:solidFill>
                <a:latin typeface="Arial" pitchFamily="34" charset="0"/>
                <a:ea typeface="Arial" pitchFamily="34" charset="-122"/>
                <a:cs typeface="Arial" pitchFamily="34" charset="-120"/>
              </a:rPr>
              <a:t>Protects the mind</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Temptation always starts in the mind</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Guards against despair, doubt, distraction</a:t>
            </a:r>
            <a:endParaRPr lang="en-US" sz="1250" dirty="0"/>
          </a:p>
        </p:txBody>
      </p:sp>
      <p:sp>
        <p:nvSpPr>
          <p:cNvPr id="17" name="Shape 14"/>
          <p:cNvSpPr/>
          <p:nvPr/>
        </p:nvSpPr>
        <p:spPr>
          <a:xfrm>
            <a:off x="457200" y="3840480"/>
            <a:ext cx="8229600" cy="777240"/>
          </a:xfrm>
          <a:prstGeom prst="roundRect">
            <a:avLst>
              <a:gd name="adj" fmla="val 7059"/>
            </a:avLst>
          </a:prstGeom>
          <a:solidFill>
            <a:srgbClr val="1F3864"/>
          </a:solidFill>
          <a:ln w="12700">
            <a:solidFill>
              <a:srgbClr val="1F3864"/>
            </a:solidFill>
            <a:prstDash val="solid"/>
          </a:ln>
        </p:spPr>
      </p:sp>
      <p:sp>
        <p:nvSpPr>
          <p:cNvPr id="18" name="Text 15"/>
          <p:cNvSpPr/>
          <p:nvPr/>
        </p:nvSpPr>
        <p:spPr>
          <a:xfrm>
            <a:off x="621792" y="3840480"/>
            <a:ext cx="7900416" cy="777240"/>
          </a:xfrm>
          <a:prstGeom prst="rect">
            <a:avLst/>
          </a:prstGeom>
          <a:noFill/>
          <a:ln/>
        </p:spPr>
        <p:txBody>
          <a:bodyPr wrap="square" lIns="0" tIns="0" rIns="0" bIns="0" rtlCol="0" anchor="ctr"/>
          <a:lstStyle/>
          <a:p>
            <a:pPr indent="0" marL="0">
              <a:buNone/>
            </a:pPr>
            <a:r>
              <a:rPr lang="en-US" sz="1200" b="1" dirty="0">
                <a:solidFill>
                  <a:srgbClr val="C9D5EE"/>
                </a:solidFill>
                <a:latin typeface="Arial" pitchFamily="34" charset="0"/>
                <a:ea typeface="Arial" pitchFamily="34" charset="-122"/>
                <a:cs typeface="Arial" pitchFamily="34" charset="-120"/>
              </a:rPr>
              <a:t>Martin Luther:  </a:t>
            </a:r>
            <a:pPr indent="0" marL="0">
              <a:buNone/>
            </a:pPr>
            <a:r>
              <a:rPr lang="en-US" sz="1200" dirty="0">
                <a:solidFill>
                  <a:srgbClr val="FFFFFF"/>
                </a:solidFill>
                <a:latin typeface="Arial" pitchFamily="34" charset="0"/>
                <a:ea typeface="Arial" pitchFamily="34" charset="-122"/>
                <a:cs typeface="Arial" pitchFamily="34" charset="-120"/>
              </a:rPr>
              <a:t>“I cannot keep birds from flying over my head, but I can keep them from making a nest in my hair.”</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Not appointed to wrath</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5:9–11 · II — Some deductions</a:t>
            </a:r>
            <a:endParaRPr lang="en-US" sz="1200" dirty="0"/>
          </a:p>
        </p:txBody>
      </p:sp>
      <p:sp>
        <p:nvSpPr>
          <p:cNvPr id="5" name="Shape 2"/>
          <p:cNvSpPr/>
          <p:nvPr/>
        </p:nvSpPr>
        <p:spPr>
          <a:xfrm>
            <a:off x="457200" y="1188720"/>
            <a:ext cx="1899666" cy="2148840"/>
          </a:xfrm>
          <a:prstGeom prst="roundRect">
            <a:avLst>
              <a:gd name="adj" fmla="val 2888"/>
            </a:avLst>
          </a:prstGeom>
          <a:solidFill>
            <a:srgbClr val="F2F6FC"/>
          </a:solidFill>
          <a:ln w="9525">
            <a:solidFill>
              <a:srgbClr val="D5DCEA"/>
            </a:solidFill>
            <a:prstDash val="solid"/>
          </a:ln>
        </p:spPr>
      </p:sp>
      <p:sp>
        <p:nvSpPr>
          <p:cNvPr id="6" name="Shape 3"/>
          <p:cNvSpPr/>
          <p:nvPr/>
        </p:nvSpPr>
        <p:spPr>
          <a:xfrm>
            <a:off x="1205865" y="1298448"/>
            <a:ext cx="402336" cy="402336"/>
          </a:xfrm>
          <a:prstGeom prst="ellipse">
            <a:avLst/>
          </a:prstGeom>
          <a:solidFill>
            <a:srgbClr val="2E5496"/>
          </a:solidFill>
          <a:ln w="12700">
            <a:solidFill>
              <a:srgbClr val="2E5496"/>
            </a:solidFill>
            <a:prstDash val="solid"/>
          </a:ln>
        </p:spPr>
      </p:sp>
      <p:sp>
        <p:nvSpPr>
          <p:cNvPr id="7" name="Text 4"/>
          <p:cNvSpPr/>
          <p:nvPr/>
        </p:nvSpPr>
        <p:spPr>
          <a:xfrm>
            <a:off x="1205865"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8" name="Text 5"/>
          <p:cNvSpPr/>
          <p:nvPr/>
        </p:nvSpPr>
        <p:spPr>
          <a:xfrm>
            <a:off x="530352" y="1773936"/>
            <a:ext cx="1753362"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Not to wrath</a:t>
            </a:r>
            <a:endParaRPr lang="en-US" sz="1150" dirty="0"/>
          </a:p>
        </p:txBody>
      </p:sp>
      <p:sp>
        <p:nvSpPr>
          <p:cNvPr id="9" name="Text 6"/>
          <p:cNvSpPr/>
          <p:nvPr/>
        </p:nvSpPr>
        <p:spPr>
          <a:xfrm>
            <a:off x="530352" y="2157984"/>
            <a:ext cx="1753362" cy="79552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The Tribulation’s wrath — not eternal condemnation</a:t>
            </a:r>
            <a:endParaRPr lang="en-US" sz="1150" dirty="0"/>
          </a:p>
        </p:txBody>
      </p:sp>
      <p:sp>
        <p:nvSpPr>
          <p:cNvPr id="10" name="Text 7"/>
          <p:cNvSpPr/>
          <p:nvPr/>
        </p:nvSpPr>
        <p:spPr>
          <a:xfrm>
            <a:off x="530352" y="2953512"/>
            <a:ext cx="1753362"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ὀργή · v.9a</a:t>
            </a:r>
            <a:endParaRPr lang="en-US" sz="900" dirty="0"/>
          </a:p>
        </p:txBody>
      </p:sp>
      <p:sp>
        <p:nvSpPr>
          <p:cNvPr id="11" name="Shape 8"/>
          <p:cNvSpPr/>
          <p:nvPr/>
        </p:nvSpPr>
        <p:spPr>
          <a:xfrm>
            <a:off x="2361438" y="2144268"/>
            <a:ext cx="201168" cy="237744"/>
          </a:xfrm>
          <a:prstGeom prst="rightArrow">
            <a:avLst/>
          </a:prstGeom>
          <a:solidFill>
            <a:srgbClr val="6B7280"/>
          </a:solidFill>
          <a:ln w="12700">
            <a:solidFill>
              <a:srgbClr val="6B7280"/>
            </a:solidFill>
            <a:prstDash val="solid"/>
          </a:ln>
        </p:spPr>
      </p:sp>
      <p:sp>
        <p:nvSpPr>
          <p:cNvPr id="12" name="Shape 9"/>
          <p:cNvSpPr/>
          <p:nvPr/>
        </p:nvSpPr>
        <p:spPr>
          <a:xfrm>
            <a:off x="2567178" y="1188720"/>
            <a:ext cx="1899666" cy="2148840"/>
          </a:xfrm>
          <a:prstGeom prst="roundRect">
            <a:avLst>
              <a:gd name="adj" fmla="val 2888"/>
            </a:avLst>
          </a:prstGeom>
          <a:solidFill>
            <a:srgbClr val="F2F6FC"/>
          </a:solidFill>
          <a:ln w="9525">
            <a:solidFill>
              <a:srgbClr val="D5DCEA"/>
            </a:solidFill>
            <a:prstDash val="solid"/>
          </a:ln>
        </p:spPr>
      </p:sp>
      <p:sp>
        <p:nvSpPr>
          <p:cNvPr id="13" name="Shape 10"/>
          <p:cNvSpPr/>
          <p:nvPr/>
        </p:nvSpPr>
        <p:spPr>
          <a:xfrm>
            <a:off x="3315843" y="1298448"/>
            <a:ext cx="402336" cy="402336"/>
          </a:xfrm>
          <a:prstGeom prst="ellipse">
            <a:avLst/>
          </a:prstGeom>
          <a:solidFill>
            <a:srgbClr val="2E5496"/>
          </a:solidFill>
          <a:ln w="12700">
            <a:solidFill>
              <a:srgbClr val="2E5496"/>
            </a:solidFill>
            <a:prstDash val="solid"/>
          </a:ln>
        </p:spPr>
      </p:sp>
      <p:sp>
        <p:nvSpPr>
          <p:cNvPr id="14" name="Text 11"/>
          <p:cNvSpPr/>
          <p:nvPr/>
        </p:nvSpPr>
        <p:spPr>
          <a:xfrm>
            <a:off x="3315843"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5" name="Text 12"/>
          <p:cNvSpPr/>
          <p:nvPr/>
        </p:nvSpPr>
        <p:spPr>
          <a:xfrm>
            <a:off x="2640330" y="1773936"/>
            <a:ext cx="1753362"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To salvation</a:t>
            </a:r>
            <a:endParaRPr lang="en-US" sz="1150" dirty="0"/>
          </a:p>
        </p:txBody>
      </p:sp>
      <p:sp>
        <p:nvSpPr>
          <p:cNvPr id="16" name="Text 13"/>
          <p:cNvSpPr/>
          <p:nvPr/>
        </p:nvSpPr>
        <p:spPr>
          <a:xfrm>
            <a:off x="2640330" y="2157984"/>
            <a:ext cx="1753362" cy="79552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Through our Lord Jesus Christ — by the Rapture</a:t>
            </a:r>
            <a:endParaRPr lang="en-US" sz="1150" dirty="0"/>
          </a:p>
        </p:txBody>
      </p:sp>
      <p:sp>
        <p:nvSpPr>
          <p:cNvPr id="17" name="Text 14"/>
          <p:cNvSpPr/>
          <p:nvPr/>
        </p:nvSpPr>
        <p:spPr>
          <a:xfrm>
            <a:off x="2640330" y="2953512"/>
            <a:ext cx="1753362"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v.9b</a:t>
            </a:r>
            <a:endParaRPr lang="en-US" sz="900" dirty="0"/>
          </a:p>
        </p:txBody>
      </p:sp>
      <p:sp>
        <p:nvSpPr>
          <p:cNvPr id="18" name="Shape 15"/>
          <p:cNvSpPr/>
          <p:nvPr/>
        </p:nvSpPr>
        <p:spPr>
          <a:xfrm>
            <a:off x="4471416" y="2144268"/>
            <a:ext cx="201168" cy="237744"/>
          </a:xfrm>
          <a:prstGeom prst="rightArrow">
            <a:avLst/>
          </a:prstGeom>
          <a:solidFill>
            <a:srgbClr val="6B7280"/>
          </a:solidFill>
          <a:ln w="12700">
            <a:solidFill>
              <a:srgbClr val="6B7280"/>
            </a:solidFill>
            <a:prstDash val="solid"/>
          </a:ln>
        </p:spPr>
      </p:sp>
      <p:sp>
        <p:nvSpPr>
          <p:cNvPr id="19" name="Shape 16"/>
          <p:cNvSpPr/>
          <p:nvPr/>
        </p:nvSpPr>
        <p:spPr>
          <a:xfrm>
            <a:off x="4677156" y="1188720"/>
            <a:ext cx="1899666" cy="2148840"/>
          </a:xfrm>
          <a:prstGeom prst="roundRect">
            <a:avLst>
              <a:gd name="adj" fmla="val 2888"/>
            </a:avLst>
          </a:prstGeom>
          <a:solidFill>
            <a:srgbClr val="F2F6FC"/>
          </a:solidFill>
          <a:ln w="9525">
            <a:solidFill>
              <a:srgbClr val="D5DCEA"/>
            </a:solidFill>
            <a:prstDash val="solid"/>
          </a:ln>
        </p:spPr>
      </p:sp>
      <p:sp>
        <p:nvSpPr>
          <p:cNvPr id="20" name="Shape 17"/>
          <p:cNvSpPr/>
          <p:nvPr/>
        </p:nvSpPr>
        <p:spPr>
          <a:xfrm>
            <a:off x="5425821" y="1298448"/>
            <a:ext cx="402336" cy="402336"/>
          </a:xfrm>
          <a:prstGeom prst="ellipse">
            <a:avLst/>
          </a:prstGeom>
          <a:solidFill>
            <a:srgbClr val="2E5496"/>
          </a:solidFill>
          <a:ln w="12700">
            <a:solidFill>
              <a:srgbClr val="2E5496"/>
            </a:solidFill>
            <a:prstDash val="solid"/>
          </a:ln>
        </p:spPr>
      </p:sp>
      <p:sp>
        <p:nvSpPr>
          <p:cNvPr id="21" name="Text 18"/>
          <p:cNvSpPr/>
          <p:nvPr/>
        </p:nvSpPr>
        <p:spPr>
          <a:xfrm>
            <a:off x="5425821"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a:t>
            </a:r>
            <a:endParaRPr lang="en-US" sz="1300" dirty="0"/>
          </a:p>
        </p:txBody>
      </p:sp>
      <p:sp>
        <p:nvSpPr>
          <p:cNvPr id="22" name="Text 19"/>
          <p:cNvSpPr/>
          <p:nvPr/>
        </p:nvSpPr>
        <p:spPr>
          <a:xfrm>
            <a:off x="4750308" y="1773936"/>
            <a:ext cx="1753362"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Wake or sleep</a:t>
            </a:r>
            <a:endParaRPr lang="en-US" sz="1150" dirty="0"/>
          </a:p>
        </p:txBody>
      </p:sp>
      <p:sp>
        <p:nvSpPr>
          <p:cNvPr id="23" name="Text 20"/>
          <p:cNvSpPr/>
          <p:nvPr/>
        </p:nvSpPr>
        <p:spPr>
          <a:xfrm>
            <a:off x="4750308" y="2157984"/>
            <a:ext cx="1753362" cy="79552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Alive or dead at His coming — we live together with Him</a:t>
            </a:r>
            <a:endParaRPr lang="en-US" sz="1150" dirty="0"/>
          </a:p>
        </p:txBody>
      </p:sp>
      <p:sp>
        <p:nvSpPr>
          <p:cNvPr id="24" name="Text 21"/>
          <p:cNvSpPr/>
          <p:nvPr/>
        </p:nvSpPr>
        <p:spPr>
          <a:xfrm>
            <a:off x="4750308" y="2953512"/>
            <a:ext cx="1753362"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v.10</a:t>
            </a:r>
            <a:endParaRPr lang="en-US" sz="900" dirty="0"/>
          </a:p>
        </p:txBody>
      </p:sp>
      <p:sp>
        <p:nvSpPr>
          <p:cNvPr id="25" name="Shape 22"/>
          <p:cNvSpPr/>
          <p:nvPr/>
        </p:nvSpPr>
        <p:spPr>
          <a:xfrm>
            <a:off x="6581394" y="2144268"/>
            <a:ext cx="201168" cy="237744"/>
          </a:xfrm>
          <a:prstGeom prst="rightArrow">
            <a:avLst/>
          </a:prstGeom>
          <a:solidFill>
            <a:srgbClr val="6B7280"/>
          </a:solidFill>
          <a:ln w="12700">
            <a:solidFill>
              <a:srgbClr val="6B7280"/>
            </a:solidFill>
            <a:prstDash val="solid"/>
          </a:ln>
        </p:spPr>
      </p:sp>
      <p:sp>
        <p:nvSpPr>
          <p:cNvPr id="26" name="Shape 23"/>
          <p:cNvSpPr/>
          <p:nvPr/>
        </p:nvSpPr>
        <p:spPr>
          <a:xfrm>
            <a:off x="6787134" y="1188720"/>
            <a:ext cx="1899666" cy="2148840"/>
          </a:xfrm>
          <a:prstGeom prst="roundRect">
            <a:avLst>
              <a:gd name="adj" fmla="val 2888"/>
            </a:avLst>
          </a:prstGeom>
          <a:solidFill>
            <a:srgbClr val="1F3864"/>
          </a:solidFill>
          <a:ln w="9525">
            <a:solidFill>
              <a:srgbClr val="1F3864"/>
            </a:solidFill>
            <a:prstDash val="solid"/>
          </a:ln>
        </p:spPr>
      </p:sp>
      <p:sp>
        <p:nvSpPr>
          <p:cNvPr id="27" name="Shape 24"/>
          <p:cNvSpPr/>
          <p:nvPr/>
        </p:nvSpPr>
        <p:spPr>
          <a:xfrm>
            <a:off x="7535799" y="1298448"/>
            <a:ext cx="402336" cy="402336"/>
          </a:xfrm>
          <a:prstGeom prst="ellipse">
            <a:avLst/>
          </a:prstGeom>
          <a:solidFill>
            <a:srgbClr val="FFFFFF"/>
          </a:solidFill>
          <a:ln w="12700">
            <a:solidFill>
              <a:srgbClr val="FFFFFF"/>
            </a:solidFill>
            <a:prstDash val="solid"/>
          </a:ln>
        </p:spPr>
      </p:sp>
      <p:sp>
        <p:nvSpPr>
          <p:cNvPr id="28" name="Text 25"/>
          <p:cNvSpPr/>
          <p:nvPr/>
        </p:nvSpPr>
        <p:spPr>
          <a:xfrm>
            <a:off x="7535799" y="1298448"/>
            <a:ext cx="402336" cy="402336"/>
          </a:xfrm>
          <a:prstGeom prst="rect">
            <a:avLst/>
          </a:prstGeom>
          <a:noFill/>
          <a:ln/>
        </p:spPr>
        <p:txBody>
          <a:bodyPr wrap="square" lIns="0" tIns="0" rIns="0" bIns="0" rtlCol="0" anchor="ctr"/>
          <a:lstStyle/>
          <a:p>
            <a:pPr algn="ctr" indent="0" marL="0">
              <a:buNone/>
            </a:pPr>
            <a:r>
              <a:rPr lang="en-US" sz="1300" b="1" dirty="0">
                <a:solidFill>
                  <a:srgbClr val="1F3864"/>
                </a:solidFill>
                <a:latin typeface="Arial" pitchFamily="34" charset="0"/>
                <a:ea typeface="Arial" pitchFamily="34" charset="-122"/>
                <a:cs typeface="Arial" pitchFamily="34" charset="-120"/>
              </a:rPr>
              <a:t>D</a:t>
            </a:r>
            <a:endParaRPr lang="en-US" sz="1300" dirty="0"/>
          </a:p>
        </p:txBody>
      </p:sp>
      <p:sp>
        <p:nvSpPr>
          <p:cNvPr id="29" name="Text 26"/>
          <p:cNvSpPr/>
          <p:nvPr/>
        </p:nvSpPr>
        <p:spPr>
          <a:xfrm>
            <a:off x="6860286" y="1773936"/>
            <a:ext cx="1753362"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Therefore comfort</a:t>
            </a:r>
            <a:endParaRPr lang="en-US" sz="1150" dirty="0"/>
          </a:p>
        </p:txBody>
      </p:sp>
      <p:sp>
        <p:nvSpPr>
          <p:cNvPr id="30" name="Text 27"/>
          <p:cNvSpPr/>
          <p:nvPr/>
        </p:nvSpPr>
        <p:spPr>
          <a:xfrm>
            <a:off x="6860286" y="2157984"/>
            <a:ext cx="1753362" cy="795528"/>
          </a:xfrm>
          <a:prstGeom prst="rect">
            <a:avLst/>
          </a:prstGeom>
          <a:noFill/>
          <a:ln/>
        </p:spPr>
        <p:txBody>
          <a:bodyPr wrap="square" lIns="0" tIns="0" rIns="0" bIns="0" rtlCol="0" anchor="t"/>
          <a:lstStyle/>
          <a:p>
            <a:pPr algn="ctr" indent="0" marL="0">
              <a:buNone/>
            </a:pPr>
            <a:r>
              <a:rPr lang="en-US" sz="1150" dirty="0">
                <a:solidFill>
                  <a:srgbClr val="FFFFFF"/>
                </a:solidFill>
                <a:latin typeface="Arial" pitchFamily="34" charset="0"/>
                <a:ea typeface="Arial" pitchFamily="34" charset="-122"/>
                <a:cs typeface="Arial" pitchFamily="34" charset="-120"/>
              </a:rPr>
              <a:t>Comfort and build up one another</a:t>
            </a:r>
            <a:endParaRPr lang="en-US" sz="1150" dirty="0"/>
          </a:p>
        </p:txBody>
      </p:sp>
      <p:sp>
        <p:nvSpPr>
          <p:cNvPr id="31" name="Text 28"/>
          <p:cNvSpPr/>
          <p:nvPr/>
        </p:nvSpPr>
        <p:spPr>
          <a:xfrm>
            <a:off x="6860286" y="2953512"/>
            <a:ext cx="1753362" cy="329184"/>
          </a:xfrm>
          <a:prstGeom prst="rect">
            <a:avLst/>
          </a:prstGeom>
          <a:noFill/>
          <a:ln/>
        </p:spPr>
        <p:txBody>
          <a:bodyPr wrap="square" lIns="0" tIns="0" rIns="0" bIns="0" rtlCol="0" anchor="b"/>
          <a:lstStyle/>
          <a:p>
            <a:pPr algn="ctr" indent="0" marL="0">
              <a:buNone/>
            </a:pPr>
            <a:r>
              <a:rPr lang="en-US" sz="900" i="1" dirty="0">
                <a:solidFill>
                  <a:srgbClr val="DCE4F2"/>
                </a:solidFill>
                <a:latin typeface="Arial" pitchFamily="34" charset="0"/>
                <a:ea typeface="Arial" pitchFamily="34" charset="-122"/>
                <a:cs typeface="Arial" pitchFamily="34" charset="-120"/>
              </a:rPr>
              <a:t>παρακαλέω · οἰκοδομέω</a:t>
            </a:r>
            <a:endParaRPr lang="en-US" sz="900" dirty="0"/>
          </a:p>
        </p:txBody>
      </p:sp>
      <p:sp>
        <p:nvSpPr>
          <p:cNvPr id="32" name="Shape 29"/>
          <p:cNvSpPr/>
          <p:nvPr/>
        </p:nvSpPr>
        <p:spPr>
          <a:xfrm>
            <a:off x="457200" y="3520440"/>
            <a:ext cx="8229600" cy="1097280"/>
          </a:xfrm>
          <a:prstGeom prst="roundRect">
            <a:avLst>
              <a:gd name="adj" fmla="val 5000"/>
            </a:avLst>
          </a:prstGeom>
          <a:solidFill>
            <a:srgbClr val="1F3864"/>
          </a:solidFill>
          <a:ln w="12700">
            <a:solidFill>
              <a:srgbClr val="1F3864"/>
            </a:solidFill>
            <a:prstDash val="solid"/>
          </a:ln>
        </p:spPr>
      </p:sp>
      <p:sp>
        <p:nvSpPr>
          <p:cNvPr id="33" name="Text 30"/>
          <p:cNvSpPr/>
          <p:nvPr/>
        </p:nvSpPr>
        <p:spPr>
          <a:xfrm>
            <a:off x="621792" y="3520440"/>
            <a:ext cx="7900416" cy="109728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This is a purifying prophecy. The imminent return of Christ makes us want to work for Him today — to watch instead of sleep, to stay sober instead of drunk on this world’s distractions, and to comfort one another. We are the Thessalonians.</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Discuss and apply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5:1–11 · from the study's posted questions and applications</a:t>
            </a:r>
            <a:endParaRPr lang="en-US" sz="1200" dirty="0"/>
          </a:p>
        </p:txBody>
      </p:sp>
      <p:sp>
        <p:nvSpPr>
          <p:cNvPr id="5" name="Shape 2"/>
          <p:cNvSpPr/>
          <p:nvPr/>
        </p:nvSpPr>
        <p:spPr>
          <a:xfrm>
            <a:off x="457200" y="1115568"/>
            <a:ext cx="4023360" cy="384048"/>
          </a:xfrm>
          <a:prstGeom prst="rect">
            <a:avLst/>
          </a:prstGeom>
          <a:solidFill>
            <a:srgbClr val="2E5496"/>
          </a:solidFill>
          <a:ln w="12700">
            <a:solidFill>
              <a:srgbClr val="2E5496"/>
            </a:solidFill>
            <a:prstDash val="solid"/>
          </a:ln>
        </p:spPr>
      </p:sp>
      <p:sp>
        <p:nvSpPr>
          <p:cNvPr id="6" name="Text 3"/>
          <p:cNvSpPr/>
          <p:nvPr/>
        </p:nvSpPr>
        <p:spPr>
          <a:xfrm>
            <a:off x="56692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Discuss</a:t>
            </a:r>
            <a:endParaRPr lang="en-US" sz="1300" dirty="0"/>
          </a:p>
        </p:txBody>
      </p:sp>
      <p:sp>
        <p:nvSpPr>
          <p:cNvPr id="7" name="Shape 4"/>
          <p:cNvSpPr/>
          <p:nvPr/>
        </p:nvSpPr>
        <p:spPr>
          <a:xfrm>
            <a:off x="457200" y="1499616"/>
            <a:ext cx="4023360" cy="2359152"/>
          </a:xfrm>
          <a:prstGeom prst="rect">
            <a:avLst/>
          </a:prstGeom>
          <a:solidFill>
            <a:srgbClr val="F2F6FC"/>
          </a:solidFill>
          <a:ln w="9525">
            <a:solidFill>
              <a:srgbClr val="D5DCEA"/>
            </a:solidFill>
            <a:prstDash val="solid"/>
          </a:ln>
        </p:spPr>
      </p:sp>
      <p:sp>
        <p:nvSpPr>
          <p:cNvPr id="8" name="Shape 5"/>
          <p:cNvSpPr/>
          <p:nvPr/>
        </p:nvSpPr>
        <p:spPr>
          <a:xfrm>
            <a:off x="4663440" y="1115568"/>
            <a:ext cx="4023360" cy="384048"/>
          </a:xfrm>
          <a:prstGeom prst="rect">
            <a:avLst/>
          </a:prstGeom>
          <a:solidFill>
            <a:srgbClr val="375623"/>
          </a:solidFill>
          <a:ln w="12700">
            <a:solidFill>
              <a:srgbClr val="375623"/>
            </a:solidFill>
            <a:prstDash val="solid"/>
          </a:ln>
        </p:spPr>
      </p:sp>
      <p:sp>
        <p:nvSpPr>
          <p:cNvPr id="9" name="Text 6"/>
          <p:cNvSpPr/>
          <p:nvPr/>
        </p:nvSpPr>
        <p:spPr>
          <a:xfrm>
            <a:off x="477316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Apply</a:t>
            </a:r>
            <a:endParaRPr lang="en-US" sz="1300" dirty="0"/>
          </a:p>
        </p:txBody>
      </p:sp>
      <p:sp>
        <p:nvSpPr>
          <p:cNvPr id="10" name="Shape 7"/>
          <p:cNvSpPr/>
          <p:nvPr/>
        </p:nvSpPr>
        <p:spPr>
          <a:xfrm>
            <a:off x="4663440" y="1499616"/>
            <a:ext cx="4023360" cy="2359152"/>
          </a:xfrm>
          <a:prstGeom prst="rect">
            <a:avLst/>
          </a:prstGeom>
          <a:solidFill>
            <a:srgbClr val="F2F6FC"/>
          </a:solidFill>
          <a:ln w="9525">
            <a:solidFill>
              <a:srgbClr val="D5DCEA"/>
            </a:solidFill>
            <a:prstDash val="solid"/>
          </a:ln>
        </p:spPr>
      </p:sp>
      <p:sp>
        <p:nvSpPr>
          <p:cNvPr id="11" name="Shape 8"/>
          <p:cNvSpPr/>
          <p:nvPr/>
        </p:nvSpPr>
        <p:spPr>
          <a:xfrm>
            <a:off x="566928" y="1636776"/>
            <a:ext cx="347472" cy="347472"/>
          </a:xfrm>
          <a:prstGeom prst="ellipse">
            <a:avLst/>
          </a:prstGeom>
          <a:solidFill>
            <a:srgbClr val="2E5496"/>
          </a:solidFill>
          <a:ln w="12700">
            <a:solidFill>
              <a:srgbClr val="2E5496"/>
            </a:solidFill>
            <a:prstDash val="solid"/>
          </a:ln>
        </p:spPr>
      </p:sp>
      <p:sp>
        <p:nvSpPr>
          <p:cNvPr id="12" name="Text 9"/>
          <p:cNvSpPr/>
          <p:nvPr/>
        </p:nvSpPr>
        <p:spPr>
          <a:xfrm>
            <a:off x="566928" y="16367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3" name="Text 10"/>
          <p:cNvSpPr/>
          <p:nvPr/>
        </p:nvSpPr>
        <p:spPr>
          <a:xfrm>
            <a:off x="1005840" y="1591056"/>
            <a:ext cx="3364992" cy="1042416"/>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The sermon distinguishes the Rapture from the Day of the Lord. What is the difference, and why does it matter for reading this passage?</a:t>
            </a:r>
            <a:endParaRPr lang="en-US" sz="1250" dirty="0"/>
          </a:p>
        </p:txBody>
      </p:sp>
      <p:sp>
        <p:nvSpPr>
          <p:cNvPr id="14" name="Shape 11"/>
          <p:cNvSpPr/>
          <p:nvPr/>
        </p:nvSpPr>
        <p:spPr>
          <a:xfrm>
            <a:off x="566928" y="2724912"/>
            <a:ext cx="347472" cy="347472"/>
          </a:xfrm>
          <a:prstGeom prst="ellipse">
            <a:avLst/>
          </a:prstGeom>
          <a:solidFill>
            <a:srgbClr val="2E5496"/>
          </a:solidFill>
          <a:ln w="12700">
            <a:solidFill>
              <a:srgbClr val="2E5496"/>
            </a:solidFill>
            <a:prstDash val="solid"/>
          </a:ln>
        </p:spPr>
      </p:sp>
      <p:sp>
        <p:nvSpPr>
          <p:cNvPr id="15" name="Text 12"/>
          <p:cNvSpPr/>
          <p:nvPr/>
        </p:nvSpPr>
        <p:spPr>
          <a:xfrm>
            <a:off x="566928" y="272491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6" name="Text 13"/>
          <p:cNvSpPr/>
          <p:nvPr/>
        </p:nvSpPr>
        <p:spPr>
          <a:xfrm>
            <a:off x="1005840" y="2679192"/>
            <a:ext cx="3364992" cy="1042416"/>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What is the difference between the “sleep” in 4:13 and the “sleep” in 5:6?</a:t>
            </a:r>
            <a:endParaRPr lang="en-US" sz="1250" dirty="0"/>
          </a:p>
        </p:txBody>
      </p:sp>
      <p:sp>
        <p:nvSpPr>
          <p:cNvPr id="17" name="Text 14"/>
          <p:cNvSpPr/>
          <p:nvPr/>
        </p:nvSpPr>
        <p:spPr>
          <a:xfrm>
            <a:off x="4791456" y="1591056"/>
            <a:ext cx="3767328" cy="1042416"/>
          </a:xfrm>
          <a:prstGeom prst="rect">
            <a:avLst/>
          </a:prstGeom>
          <a:noFill/>
          <a:ln/>
        </p:spPr>
        <p:txBody>
          <a:bodyPr wrap="square" lIns="0" tIns="0" rIns="0" bIns="0" rtlCol="0" anchor="t"/>
          <a:lstStyle/>
          <a:p>
            <a:pPr indent="0" marL="0">
              <a:buNone/>
            </a:pPr>
            <a:r>
              <a:rPr lang="en-US" sz="1250" b="1" dirty="0">
                <a:solidFill>
                  <a:srgbClr val="1F3864"/>
                </a:solidFill>
                <a:latin typeface="Arial" pitchFamily="34" charset="0"/>
                <a:ea typeface="Arial" pitchFamily="34" charset="-122"/>
                <a:cs typeface="Arial" pitchFamily="34" charset="-120"/>
              </a:rPr>
              <a:t>Put On the Armor and Keep It On</a:t>
            </a:r>
            <a:endParaRPr lang="en-US" sz="1250" dirty="0"/>
          </a:p>
          <a:p>
            <a:pPr indent="0" marL="0">
              <a:buNone/>
            </a:pPr>
            <a:r>
              <a:rPr lang="en-US" sz="1200" dirty="0">
                <a:solidFill>
                  <a:srgbClr val="262626"/>
                </a:solidFill>
                <a:latin typeface="Arial" pitchFamily="34" charset="0"/>
                <a:ea typeface="Arial" pitchFamily="34" charset="-122"/>
                <a:cs typeface="Arial" pitchFamily="34" charset="-120"/>
              </a:rPr>
              <a:t>Each morning, name what you’re trusting God for, one person you’ll love that day, and the hope of your salvation.</a:t>
            </a:r>
            <a:endParaRPr lang="en-US" sz="1250" dirty="0"/>
          </a:p>
        </p:txBody>
      </p:sp>
      <p:sp>
        <p:nvSpPr>
          <p:cNvPr id="18" name="Text 15"/>
          <p:cNvSpPr/>
          <p:nvPr/>
        </p:nvSpPr>
        <p:spPr>
          <a:xfrm>
            <a:off x="4791456" y="2679192"/>
            <a:ext cx="3767328" cy="1042416"/>
          </a:xfrm>
          <a:prstGeom prst="rect">
            <a:avLst/>
          </a:prstGeom>
          <a:noFill/>
          <a:ln/>
        </p:spPr>
        <p:txBody>
          <a:bodyPr wrap="square" lIns="0" tIns="0" rIns="0" bIns="0" rtlCol="0" anchor="t"/>
          <a:lstStyle/>
          <a:p>
            <a:pPr indent="0" marL="0">
              <a:buNone/>
            </a:pPr>
            <a:r>
              <a:rPr lang="en-US" sz="1250" b="1" dirty="0">
                <a:solidFill>
                  <a:srgbClr val="1F3864"/>
                </a:solidFill>
                <a:latin typeface="Arial" pitchFamily="34" charset="0"/>
                <a:ea typeface="Arial" pitchFamily="34" charset="-122"/>
                <a:cs typeface="Arial" pitchFamily="34" charset="-120"/>
              </a:rPr>
              <a:t>Rest in Your Appointment</a:t>
            </a:r>
            <a:endParaRPr lang="en-US" sz="1250" dirty="0"/>
          </a:p>
          <a:p>
            <a:pPr indent="0" marL="0">
              <a:buNone/>
            </a:pPr>
            <a:r>
              <a:rPr lang="en-US" sz="1200" dirty="0">
                <a:solidFill>
                  <a:srgbClr val="262626"/>
                </a:solidFill>
                <a:latin typeface="Arial" pitchFamily="34" charset="0"/>
                <a:ea typeface="Arial" pitchFamily="34" charset="-122"/>
                <a:cs typeface="Arial" pitchFamily="34" charset="-120"/>
              </a:rPr>
              <a:t>Memorize 5:9: “For God did not appoint us to wrath, but to obtain salvation through our Lord Jesus Christ.”</a:t>
            </a:r>
            <a:endParaRPr lang="en-US" sz="1250" dirty="0"/>
          </a:p>
        </p:txBody>
      </p:sp>
      <p:sp>
        <p:nvSpPr>
          <p:cNvPr id="19" name="Shape 16"/>
          <p:cNvSpPr/>
          <p:nvPr/>
        </p:nvSpPr>
        <p:spPr>
          <a:xfrm>
            <a:off x="457200" y="4023360"/>
            <a:ext cx="8229600" cy="566928"/>
          </a:xfrm>
          <a:prstGeom prst="roundRect">
            <a:avLst>
              <a:gd name="adj" fmla="val 9677"/>
            </a:avLst>
          </a:prstGeom>
          <a:solidFill>
            <a:srgbClr val="1F3864"/>
          </a:solidFill>
          <a:ln w="12700">
            <a:solidFill>
              <a:srgbClr val="1F3864"/>
            </a:solidFill>
            <a:prstDash val="solid"/>
          </a:ln>
        </p:spPr>
      </p:sp>
      <p:sp>
        <p:nvSpPr>
          <p:cNvPr id="20" name="Text 17"/>
          <p:cNvSpPr/>
          <p:nvPr/>
        </p:nvSpPr>
        <p:spPr>
          <a:xfrm>
            <a:off x="621792" y="4023360"/>
            <a:ext cx="7900416" cy="566928"/>
          </a:xfrm>
          <a:prstGeom prst="rect">
            <a:avLst/>
          </a:prstGeom>
          <a:noFill/>
          <a:ln/>
        </p:spPr>
        <p:txBody>
          <a:bodyPr wrap="square" lIns="0" tIns="0" rIns="0" bIns="0" rtlCol="0" anchor="ctr"/>
          <a:lstStyle/>
          <a:p>
            <a:pPr indent="0" marL="0">
              <a:buNone/>
            </a:pPr>
            <a:r>
              <a:rPr lang="en-US" sz="1200" b="1" dirty="0">
                <a:solidFill>
                  <a:srgbClr val="C9D5EE"/>
                </a:solidFill>
                <a:latin typeface="Arial" pitchFamily="34" charset="0"/>
                <a:ea typeface="Arial" pitchFamily="34" charset="-122"/>
                <a:cs typeface="Arial" pitchFamily="34" charset="-120"/>
              </a:rPr>
              <a:t>In one line:  </a:t>
            </a:r>
            <a:pPr indent="0" marL="0">
              <a:buNone/>
            </a:pPr>
            <a:r>
              <a:rPr lang="en-US" sz="1200" dirty="0">
                <a:solidFill>
                  <a:srgbClr val="FFFFFF"/>
                </a:solidFill>
                <a:latin typeface="Arial" pitchFamily="34" charset="0"/>
                <a:ea typeface="Arial" pitchFamily="34" charset="-122"/>
                <a:cs typeface="Arial" pitchFamily="34" charset="-120"/>
              </a:rPr>
              <a:t>Not appointed to wrath but to salvation — so watch, stay sober, wear the armor, and comfort one another.</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nchor="ctr"/>
          <a:lstStyle/>
          <a:p>
            <a:pPr indent="0" marL="0">
              <a:buNone/>
            </a:pPr>
            <a:r>
              <a:rPr lang="en-US" sz="1400" dirty="0">
                <a:solidFill>
                  <a:srgbClr val="C9D5EE"/>
                </a:solidFill>
                <a:latin typeface="Arial" pitchFamily="34" charset="0"/>
                <a:ea typeface="Arial" pitchFamily="34" charset="-122"/>
                <a:cs typeface="Arial" pitchFamily="34" charset="-120"/>
              </a:rPr>
              <a:t>Study 9 of 10 · 1 Thessalonians 5:12–22</a:t>
            </a: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lIns="0" tIns="0" rIns="0" bIns="0" rtlCol="0" anchor="ctr"/>
          <a:lstStyle/>
          <a:p>
            <a:pPr algn="l" indent="0" marL="0">
              <a:buNone/>
            </a:pPr>
            <a:r>
              <a:rPr lang="en-US" sz="3400" b="1" dirty="0">
                <a:solidFill>
                  <a:srgbClr val="FFFFFF"/>
                </a:solidFill>
                <a:latin typeface="Arial" pitchFamily="34" charset="0"/>
                <a:ea typeface="Arial" pitchFamily="34" charset="-122"/>
                <a:cs typeface="Arial" pitchFamily="34" charset="-120"/>
              </a:rPr>
              <a:t>The Coming of the Lord: Exhortations</a:t>
            </a: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lIns="0" tIns="0" rIns="0" bIns="0" rtlCol="0" anchor="ctr"/>
          <a:lstStyle/>
          <a:p>
            <a:pPr indent="0" marL="0">
              <a:buNone/>
            </a:pPr>
            <a:r>
              <a:rPr lang="en-US" sz="1500" i="1" dirty="0">
                <a:solidFill>
                  <a:srgbClr val="E6ECF7"/>
                </a:solidFill>
                <a:latin typeface="Arial" pitchFamily="34" charset="0"/>
                <a:ea typeface="Arial" pitchFamily="34" charset="-122"/>
                <a:cs typeface="Arial" pitchFamily="34" charset="-120"/>
              </a:rPr>
              <a:t>From the sweet by-and-by back to the nasty now-and-now: rejoice always, pray without ceasing, give thanks in everything — the will of God for an ordinary week.</a:t>
            </a:r>
            <a:endParaRPr lang="en-US" sz="15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Three sets of instructions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5:12–22 · Outline I–III</a:t>
            </a:r>
            <a:endParaRPr lang="en-US" sz="1200" dirty="0"/>
          </a:p>
        </p:txBody>
      </p:sp>
      <p:sp>
        <p:nvSpPr>
          <p:cNvPr id="5" name="Shape 2"/>
          <p:cNvSpPr/>
          <p:nvPr/>
        </p:nvSpPr>
        <p:spPr>
          <a:xfrm>
            <a:off x="457200" y="1188720"/>
            <a:ext cx="2499360" cy="365760"/>
          </a:xfrm>
          <a:prstGeom prst="rect">
            <a:avLst/>
          </a:prstGeom>
          <a:solidFill>
            <a:srgbClr val="2E5496"/>
          </a:solidFill>
          <a:ln w="12700">
            <a:solidFill>
              <a:srgbClr val="2E5496"/>
            </a:solidFill>
            <a:prstDash val="solid"/>
          </a:ln>
        </p:spPr>
      </p:sp>
      <p:sp>
        <p:nvSpPr>
          <p:cNvPr id="6" name="Text 3"/>
          <p:cNvSpPr/>
          <p:nvPr/>
        </p:nvSpPr>
        <p:spPr>
          <a:xfrm>
            <a:off x="548640" y="1234440"/>
            <a:ext cx="2316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To those who are led · 12–13</a:t>
            </a:r>
            <a:endParaRPr lang="en-US" sz="1200" dirty="0"/>
          </a:p>
        </p:txBody>
      </p:sp>
      <p:sp>
        <p:nvSpPr>
          <p:cNvPr id="7" name="Shape 4"/>
          <p:cNvSpPr/>
          <p:nvPr/>
        </p:nvSpPr>
        <p:spPr>
          <a:xfrm>
            <a:off x="457200" y="1554480"/>
            <a:ext cx="2499360" cy="2011680"/>
          </a:xfrm>
          <a:prstGeom prst="rect">
            <a:avLst/>
          </a:prstGeom>
          <a:solidFill>
            <a:srgbClr val="F2F6FC"/>
          </a:solidFill>
          <a:ln w="9525">
            <a:solidFill>
              <a:srgbClr val="D5DCEA"/>
            </a:solidFill>
            <a:prstDash val="solid"/>
          </a:ln>
        </p:spPr>
      </p:sp>
      <p:sp>
        <p:nvSpPr>
          <p:cNvPr id="8" name="Text 5"/>
          <p:cNvSpPr/>
          <p:nvPr/>
        </p:nvSpPr>
        <p:spPr>
          <a:xfrm>
            <a:off x="548640" y="1627632"/>
            <a:ext cx="2316480" cy="188366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Recognize your leaders</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Esteem them very highly in love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Be at peace among yourselves</a:t>
            </a:r>
            <a:endParaRPr lang="en-US" sz="1250" dirty="0"/>
          </a:p>
        </p:txBody>
      </p:sp>
      <p:sp>
        <p:nvSpPr>
          <p:cNvPr id="9" name="Shape 6"/>
          <p:cNvSpPr/>
          <p:nvPr/>
        </p:nvSpPr>
        <p:spPr>
          <a:xfrm>
            <a:off x="3020568" y="2258568"/>
            <a:ext cx="237744" cy="237744"/>
          </a:xfrm>
          <a:prstGeom prst="rightArrow">
            <a:avLst/>
          </a:prstGeom>
          <a:solidFill>
            <a:srgbClr val="6B7280"/>
          </a:solidFill>
          <a:ln w="12700">
            <a:solidFill>
              <a:srgbClr val="6B7280"/>
            </a:solidFill>
            <a:prstDash val="solid"/>
          </a:ln>
        </p:spPr>
      </p:sp>
      <p:sp>
        <p:nvSpPr>
          <p:cNvPr id="10" name="Shape 7"/>
          <p:cNvSpPr/>
          <p:nvPr/>
        </p:nvSpPr>
        <p:spPr>
          <a:xfrm>
            <a:off x="3322320" y="1188720"/>
            <a:ext cx="2499360" cy="365760"/>
          </a:xfrm>
          <a:prstGeom prst="rect">
            <a:avLst/>
          </a:prstGeom>
          <a:solidFill>
            <a:srgbClr val="2E5496"/>
          </a:solidFill>
          <a:ln w="12700">
            <a:solidFill>
              <a:srgbClr val="2E5496"/>
            </a:solidFill>
            <a:prstDash val="solid"/>
          </a:ln>
        </p:spPr>
      </p:sp>
      <p:sp>
        <p:nvSpPr>
          <p:cNvPr id="11" name="Text 8"/>
          <p:cNvSpPr/>
          <p:nvPr/>
        </p:nvSpPr>
        <p:spPr>
          <a:xfrm>
            <a:off x="3413760" y="1234440"/>
            <a:ext cx="2316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To those who lead · 14–15</a:t>
            </a:r>
            <a:endParaRPr lang="en-US" sz="1200" dirty="0"/>
          </a:p>
        </p:txBody>
      </p:sp>
      <p:sp>
        <p:nvSpPr>
          <p:cNvPr id="12" name="Shape 9"/>
          <p:cNvSpPr/>
          <p:nvPr/>
        </p:nvSpPr>
        <p:spPr>
          <a:xfrm>
            <a:off x="3322320" y="1554480"/>
            <a:ext cx="2499360" cy="2011680"/>
          </a:xfrm>
          <a:prstGeom prst="rect">
            <a:avLst/>
          </a:prstGeom>
          <a:solidFill>
            <a:srgbClr val="F2F6FC"/>
          </a:solidFill>
          <a:ln w="9525">
            <a:solidFill>
              <a:srgbClr val="D5DCEA"/>
            </a:solidFill>
            <a:prstDash val="solid"/>
          </a:ln>
        </p:spPr>
      </p:sp>
      <p:sp>
        <p:nvSpPr>
          <p:cNvPr id="13" name="Text 10"/>
          <p:cNvSpPr/>
          <p:nvPr/>
        </p:nvSpPr>
        <p:spPr>
          <a:xfrm>
            <a:off x="3413760" y="1627632"/>
            <a:ext cx="2316480" cy="188366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Warn, comfort, uphold, be patient</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Never evil for evil</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Always pursue the good</a:t>
            </a:r>
            <a:endParaRPr lang="en-US" sz="1250" dirty="0"/>
          </a:p>
        </p:txBody>
      </p:sp>
      <p:sp>
        <p:nvSpPr>
          <p:cNvPr id="14" name="Shape 11"/>
          <p:cNvSpPr/>
          <p:nvPr/>
        </p:nvSpPr>
        <p:spPr>
          <a:xfrm>
            <a:off x="5885688" y="2258568"/>
            <a:ext cx="237744" cy="237744"/>
          </a:xfrm>
          <a:prstGeom prst="rightArrow">
            <a:avLst/>
          </a:prstGeom>
          <a:solidFill>
            <a:srgbClr val="6B7280"/>
          </a:solidFill>
          <a:ln w="12700">
            <a:solidFill>
              <a:srgbClr val="6B7280"/>
            </a:solidFill>
            <a:prstDash val="solid"/>
          </a:ln>
        </p:spPr>
      </p:sp>
      <p:sp>
        <p:nvSpPr>
          <p:cNvPr id="15" name="Shape 12"/>
          <p:cNvSpPr/>
          <p:nvPr/>
        </p:nvSpPr>
        <p:spPr>
          <a:xfrm>
            <a:off x="6187440" y="1188720"/>
            <a:ext cx="2499360" cy="365760"/>
          </a:xfrm>
          <a:prstGeom prst="rect">
            <a:avLst/>
          </a:prstGeom>
          <a:solidFill>
            <a:srgbClr val="375623"/>
          </a:solidFill>
          <a:ln w="12700">
            <a:solidFill>
              <a:srgbClr val="375623"/>
            </a:solidFill>
            <a:prstDash val="solid"/>
          </a:ln>
        </p:spPr>
      </p:sp>
      <p:sp>
        <p:nvSpPr>
          <p:cNvPr id="16" name="Text 13"/>
          <p:cNvSpPr/>
          <p:nvPr/>
        </p:nvSpPr>
        <p:spPr>
          <a:xfrm>
            <a:off x="6278880" y="1234440"/>
            <a:ext cx="2316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To the whole church · 16–22</a:t>
            </a:r>
            <a:endParaRPr lang="en-US" sz="1200" dirty="0"/>
          </a:p>
        </p:txBody>
      </p:sp>
      <p:sp>
        <p:nvSpPr>
          <p:cNvPr id="17" name="Shape 14"/>
          <p:cNvSpPr/>
          <p:nvPr/>
        </p:nvSpPr>
        <p:spPr>
          <a:xfrm>
            <a:off x="6187440" y="1554480"/>
            <a:ext cx="2499360" cy="2011680"/>
          </a:xfrm>
          <a:prstGeom prst="rect">
            <a:avLst/>
          </a:prstGeom>
          <a:solidFill>
            <a:srgbClr val="F2F6FC"/>
          </a:solidFill>
          <a:ln w="9525">
            <a:solidFill>
              <a:srgbClr val="D5DCEA"/>
            </a:solidFill>
            <a:prstDash val="solid"/>
          </a:ln>
        </p:spPr>
      </p:sp>
      <p:sp>
        <p:nvSpPr>
          <p:cNvPr id="18" name="Text 15"/>
          <p:cNvSpPr/>
          <p:nvPr/>
        </p:nvSpPr>
        <p:spPr>
          <a:xfrm>
            <a:off x="6278880" y="1627632"/>
            <a:ext cx="2316480" cy="188366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Rejoice · pray · give thanks</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Don’t quench the Spirit or despise prophecy</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Test · hold fast · abstain</a:t>
            </a:r>
            <a:endParaRPr lang="en-US" sz="1250" dirty="0"/>
          </a:p>
        </p:txBody>
      </p:sp>
      <p:sp>
        <p:nvSpPr>
          <p:cNvPr id="19" name="Shape 16"/>
          <p:cNvSpPr/>
          <p:nvPr/>
        </p:nvSpPr>
        <p:spPr>
          <a:xfrm>
            <a:off x="457200" y="3749040"/>
            <a:ext cx="8229600" cy="868680"/>
          </a:xfrm>
          <a:prstGeom prst="roundRect">
            <a:avLst>
              <a:gd name="adj" fmla="val 6316"/>
            </a:avLst>
          </a:prstGeom>
          <a:solidFill>
            <a:srgbClr val="1F3864"/>
          </a:solidFill>
          <a:ln w="12700">
            <a:solidFill>
              <a:srgbClr val="1F3864"/>
            </a:solidFill>
            <a:prstDash val="solid"/>
          </a:ln>
        </p:spPr>
      </p:sp>
      <p:sp>
        <p:nvSpPr>
          <p:cNvPr id="20" name="Text 17"/>
          <p:cNvSpPr/>
          <p:nvPr/>
        </p:nvSpPr>
        <p:spPr>
          <a:xfrm>
            <a:off x="621792" y="3749040"/>
            <a:ext cx="7900416" cy="86868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The coming of the Lord thrills our souls. Obeying the Lord fills our souls. These exhortations are the proof of whether we believe what we have heard.</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Marks of a good leader</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5:12–13 · I.A–C — Instructions to those who are led</a:t>
            </a:r>
            <a:endParaRPr lang="en-US" sz="1200" dirty="0"/>
          </a:p>
        </p:txBody>
      </p:sp>
      <p:sp>
        <p:nvSpPr>
          <p:cNvPr id="5" name="Shape 2"/>
          <p:cNvSpPr/>
          <p:nvPr/>
        </p:nvSpPr>
        <p:spPr>
          <a:xfrm>
            <a:off x="457200" y="1188720"/>
            <a:ext cx="2621280" cy="566928"/>
          </a:xfrm>
          <a:prstGeom prst="rect">
            <a:avLst/>
          </a:prstGeom>
          <a:solidFill>
            <a:srgbClr val="2E5496"/>
          </a:solidFill>
          <a:ln w="12700">
            <a:solidFill>
              <a:srgbClr val="2E5496"/>
            </a:solidFill>
            <a:prstDash val="solid"/>
          </a:ln>
        </p:spPr>
      </p:sp>
      <p:sp>
        <p:nvSpPr>
          <p:cNvPr id="6" name="Text 3"/>
          <p:cNvSpPr/>
          <p:nvPr/>
        </p:nvSpPr>
        <p:spPr>
          <a:xfrm>
            <a:off x="548640" y="1234440"/>
            <a:ext cx="24384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They toil</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κοπιάω</a:t>
            </a:r>
            <a:pPr indent="0" marL="0">
              <a:buNone/>
            </a:pPr>
            <a:r>
              <a:rPr lang="en-US" sz="850" dirty="0">
                <a:solidFill>
                  <a:srgbClr val="DCE4F2"/>
                </a:solidFill>
                <a:latin typeface="Arial" pitchFamily="34" charset="0"/>
                <a:ea typeface="Arial" pitchFamily="34" charset="-122"/>
                <a:cs typeface="Arial" pitchFamily="34" charset="-120"/>
              </a:rPr>
              <a:t>  kopiaō · G2872</a:t>
            </a:r>
            <a:endParaRPr lang="en-US" sz="1200" dirty="0"/>
          </a:p>
        </p:txBody>
      </p:sp>
      <p:sp>
        <p:nvSpPr>
          <p:cNvPr id="7" name="Shape 4"/>
          <p:cNvSpPr/>
          <p:nvPr/>
        </p:nvSpPr>
        <p:spPr>
          <a:xfrm>
            <a:off x="457200" y="1755648"/>
            <a:ext cx="2621280" cy="1536192"/>
          </a:xfrm>
          <a:prstGeom prst="rect">
            <a:avLst/>
          </a:prstGeom>
          <a:solidFill>
            <a:srgbClr val="F2F6FC"/>
          </a:solidFill>
          <a:ln w="9525">
            <a:solidFill>
              <a:srgbClr val="D5DCEA"/>
            </a:solidFill>
            <a:prstDash val="solid"/>
          </a:ln>
        </p:spPr>
      </p:sp>
      <p:sp>
        <p:nvSpPr>
          <p:cNvPr id="8" name="Text 5"/>
          <p:cNvSpPr/>
          <p:nvPr/>
        </p:nvSpPr>
        <p:spPr>
          <a:xfrm>
            <a:off x="548640" y="1828800"/>
            <a:ext cx="2438400" cy="140817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Hard work to the point of weariness</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 full day’s job — then the church</a:t>
            </a:r>
            <a:endParaRPr lang="en-US" sz="1250" dirty="0"/>
          </a:p>
        </p:txBody>
      </p:sp>
      <p:sp>
        <p:nvSpPr>
          <p:cNvPr id="9" name="Shape 6"/>
          <p:cNvSpPr/>
          <p:nvPr/>
        </p:nvSpPr>
        <p:spPr>
          <a:xfrm>
            <a:off x="3261360" y="1188720"/>
            <a:ext cx="2621280" cy="566928"/>
          </a:xfrm>
          <a:prstGeom prst="rect">
            <a:avLst/>
          </a:prstGeom>
          <a:solidFill>
            <a:srgbClr val="2E5496"/>
          </a:solidFill>
          <a:ln w="12700">
            <a:solidFill>
              <a:srgbClr val="2E5496"/>
            </a:solidFill>
            <a:prstDash val="solid"/>
          </a:ln>
        </p:spPr>
      </p:sp>
      <p:sp>
        <p:nvSpPr>
          <p:cNvPr id="10" name="Text 7"/>
          <p:cNvSpPr/>
          <p:nvPr/>
        </p:nvSpPr>
        <p:spPr>
          <a:xfrm>
            <a:off x="3352800" y="1234440"/>
            <a:ext cx="24384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They take charge</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προΐστημι</a:t>
            </a:r>
            <a:pPr indent="0" marL="0">
              <a:buNone/>
            </a:pPr>
            <a:r>
              <a:rPr lang="en-US" sz="850" dirty="0">
                <a:solidFill>
                  <a:srgbClr val="DCE4F2"/>
                </a:solidFill>
                <a:latin typeface="Arial" pitchFamily="34" charset="0"/>
                <a:ea typeface="Arial" pitchFamily="34" charset="-122"/>
                <a:cs typeface="Arial" pitchFamily="34" charset="-120"/>
              </a:rPr>
              <a:t>  proistēmi · G4291</a:t>
            </a:r>
            <a:endParaRPr lang="en-US" sz="1200" dirty="0"/>
          </a:p>
        </p:txBody>
      </p:sp>
      <p:sp>
        <p:nvSpPr>
          <p:cNvPr id="11" name="Shape 8"/>
          <p:cNvSpPr/>
          <p:nvPr/>
        </p:nvSpPr>
        <p:spPr>
          <a:xfrm>
            <a:off x="3261360" y="1755648"/>
            <a:ext cx="2621280" cy="1536192"/>
          </a:xfrm>
          <a:prstGeom prst="rect">
            <a:avLst/>
          </a:prstGeom>
          <a:solidFill>
            <a:srgbClr val="F2F6FC"/>
          </a:solidFill>
          <a:ln w="9525">
            <a:solidFill>
              <a:srgbClr val="D5DCEA"/>
            </a:solidFill>
            <a:prstDash val="solid"/>
          </a:ln>
        </p:spPr>
      </p:sp>
      <p:sp>
        <p:nvSpPr>
          <p:cNvPr id="12" name="Text 9"/>
          <p:cNvSpPr/>
          <p:nvPr/>
        </p:nvSpPr>
        <p:spPr>
          <a:xfrm>
            <a:off x="3352800" y="1828800"/>
            <a:ext cx="2438400" cy="140817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They “stand before you”</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Good leaders don’t hide — they lead from out front</a:t>
            </a:r>
            <a:endParaRPr lang="en-US" sz="1250" dirty="0"/>
          </a:p>
        </p:txBody>
      </p:sp>
      <p:sp>
        <p:nvSpPr>
          <p:cNvPr id="13" name="Shape 10"/>
          <p:cNvSpPr/>
          <p:nvPr/>
        </p:nvSpPr>
        <p:spPr>
          <a:xfrm>
            <a:off x="6065520" y="1188720"/>
            <a:ext cx="2621280" cy="566928"/>
          </a:xfrm>
          <a:prstGeom prst="rect">
            <a:avLst/>
          </a:prstGeom>
          <a:solidFill>
            <a:srgbClr val="375623"/>
          </a:solidFill>
          <a:ln w="12700">
            <a:solidFill>
              <a:srgbClr val="375623"/>
            </a:solidFill>
            <a:prstDash val="solid"/>
          </a:ln>
        </p:spPr>
      </p:sp>
      <p:sp>
        <p:nvSpPr>
          <p:cNvPr id="14" name="Text 11"/>
          <p:cNvSpPr/>
          <p:nvPr/>
        </p:nvSpPr>
        <p:spPr>
          <a:xfrm>
            <a:off x="6156960" y="1234440"/>
            <a:ext cx="24384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They train</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“in the Lord”</a:t>
            </a:r>
            <a:pPr indent="0" marL="0">
              <a:buNone/>
            </a:pPr>
            <a:r>
              <a:rPr lang="en-US" sz="850" dirty="0">
                <a:solidFill>
                  <a:srgbClr val="DCE4F2"/>
                </a:solidFill>
                <a:latin typeface="Arial" pitchFamily="34" charset="0"/>
                <a:ea typeface="Arial" pitchFamily="34" charset="-122"/>
                <a:cs typeface="Arial" pitchFamily="34" charset="-120"/>
              </a:rPr>
              <a:t>  in a truly Christian way</a:t>
            </a:r>
            <a:endParaRPr lang="en-US" sz="1200" dirty="0"/>
          </a:p>
        </p:txBody>
      </p:sp>
      <p:sp>
        <p:nvSpPr>
          <p:cNvPr id="15" name="Shape 12"/>
          <p:cNvSpPr/>
          <p:nvPr/>
        </p:nvSpPr>
        <p:spPr>
          <a:xfrm>
            <a:off x="6065520" y="1755648"/>
            <a:ext cx="2621280" cy="1536192"/>
          </a:xfrm>
          <a:prstGeom prst="rect">
            <a:avLst/>
          </a:prstGeom>
          <a:solidFill>
            <a:srgbClr val="F2F6FC"/>
          </a:solidFill>
          <a:ln w="9525">
            <a:solidFill>
              <a:srgbClr val="D5DCEA"/>
            </a:solidFill>
            <a:prstDash val="solid"/>
          </a:ln>
        </p:spPr>
      </p:sp>
      <p:sp>
        <p:nvSpPr>
          <p:cNvPr id="16" name="Text 13"/>
          <p:cNvSpPr/>
          <p:nvPr/>
        </p:nvSpPr>
        <p:spPr>
          <a:xfrm>
            <a:off x="6156960" y="1828800"/>
            <a:ext cx="2438400" cy="140817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Training the people to do the work of the Lord</a:t>
            </a:r>
            <a:endParaRPr lang="en-US" sz="1250" dirty="0"/>
          </a:p>
        </p:txBody>
      </p:sp>
      <p:sp>
        <p:nvSpPr>
          <p:cNvPr id="17" name="Shape 14"/>
          <p:cNvSpPr/>
          <p:nvPr/>
        </p:nvSpPr>
        <p:spPr>
          <a:xfrm>
            <a:off x="457200" y="3474720"/>
            <a:ext cx="8229600" cy="1143000"/>
          </a:xfrm>
          <a:prstGeom prst="roundRect">
            <a:avLst>
              <a:gd name="adj" fmla="val 4800"/>
            </a:avLst>
          </a:prstGeom>
          <a:solidFill>
            <a:srgbClr val="1F3864"/>
          </a:solidFill>
          <a:ln w="12700">
            <a:solidFill>
              <a:srgbClr val="1F3864"/>
            </a:solidFill>
            <a:prstDash val="solid"/>
          </a:ln>
        </p:spPr>
      </p:sp>
      <p:sp>
        <p:nvSpPr>
          <p:cNvPr id="18" name="Text 15"/>
          <p:cNvSpPr/>
          <p:nvPr/>
        </p:nvSpPr>
        <p:spPr>
          <a:xfrm>
            <a:off x="621792" y="3474720"/>
            <a:ext cx="7900416" cy="1143000"/>
          </a:xfrm>
          <a:prstGeom prst="rect">
            <a:avLst/>
          </a:prstGeom>
          <a:noFill/>
          <a:ln/>
        </p:spPr>
        <p:txBody>
          <a:bodyPr wrap="square" lIns="0" tIns="0" rIns="0" bIns="0" rtlCol="0" anchor="ctr"/>
          <a:lstStyle/>
          <a:p>
            <a:pPr indent="0" marL="0">
              <a:buNone/>
            </a:pPr>
            <a:r>
              <a:rPr lang="en-US" sz="1200" b="1" dirty="0">
                <a:solidFill>
                  <a:srgbClr val="C9D5EE"/>
                </a:solidFill>
                <a:latin typeface="Arial" pitchFamily="34" charset="0"/>
                <a:ea typeface="Arial" pitchFamily="34" charset="-122"/>
                <a:cs typeface="Arial" pitchFamily="34" charset="-120"/>
              </a:rPr>
              <a:t>Esteem them very highly (ἡγέομαι)  </a:t>
            </a:r>
            <a:pPr indent="0" marL="0">
              <a:buNone/>
            </a:pPr>
            <a:r>
              <a:rPr lang="en-US" sz="1200" dirty="0">
                <a:solidFill>
                  <a:srgbClr val="FFFFFF"/>
                </a:solidFill>
                <a:latin typeface="Arial" pitchFamily="34" charset="0"/>
                <a:ea typeface="Arial" pitchFamily="34" charset="-122"/>
                <a:cs typeface="Arial" pitchFamily="34" charset="-120"/>
              </a:rPr>
              <a:t>— in agapē love, for their work’s sake. You don’t have to like the way a pastor combs his hair. Not personality — faithfulness. And “be at peace”: maintain the peace you already have.</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Four people, four responses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5:14 · II.A — Help these people</a:t>
            </a:r>
            <a:endParaRPr lang="en-US" sz="1200" dirty="0"/>
          </a:p>
        </p:txBody>
      </p:sp>
      <p:sp>
        <p:nvSpPr>
          <p:cNvPr id="5" name="Shape 2"/>
          <p:cNvSpPr/>
          <p:nvPr/>
        </p:nvSpPr>
        <p:spPr>
          <a:xfrm>
            <a:off x="457200" y="1188720"/>
            <a:ext cx="4018788" cy="1261872"/>
          </a:xfrm>
          <a:prstGeom prst="rect">
            <a:avLst/>
          </a:prstGeom>
          <a:solidFill>
            <a:srgbClr val="F2F6FC"/>
          </a:solidFill>
          <a:ln w="9525">
            <a:solidFill>
              <a:srgbClr val="D5DCEA"/>
            </a:solidFill>
            <a:prstDash val="solid"/>
          </a:ln>
        </p:spPr>
      </p:sp>
      <p:sp>
        <p:nvSpPr>
          <p:cNvPr id="6" name="Shape 3"/>
          <p:cNvSpPr/>
          <p:nvPr/>
        </p:nvSpPr>
        <p:spPr>
          <a:xfrm>
            <a:off x="594360" y="1325880"/>
            <a:ext cx="420624" cy="420624"/>
          </a:xfrm>
          <a:prstGeom prst="ellipse">
            <a:avLst/>
          </a:prstGeom>
          <a:solidFill>
            <a:srgbClr val="6B7280"/>
          </a:solidFill>
          <a:ln w="12700">
            <a:solidFill>
              <a:srgbClr val="6B7280"/>
            </a:solidFill>
            <a:prstDash val="solid"/>
          </a:ln>
        </p:spPr>
      </p:sp>
      <p:sp>
        <p:nvSpPr>
          <p:cNvPr id="7" name="Text 4"/>
          <p:cNvSpPr/>
          <p:nvPr/>
        </p:nvSpPr>
        <p:spPr>
          <a:xfrm>
            <a:off x="594360" y="13258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8" name="Text 5"/>
          <p:cNvSpPr/>
          <p:nvPr/>
        </p:nvSpPr>
        <p:spPr>
          <a:xfrm>
            <a:off x="1115568" y="1325880"/>
            <a:ext cx="3268980"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Warn the disorderly</a:t>
            </a:r>
            <a:endParaRPr lang="en-US" sz="1200" dirty="0"/>
          </a:p>
        </p:txBody>
      </p:sp>
      <p:sp>
        <p:nvSpPr>
          <p:cNvPr id="9" name="Text 6"/>
          <p:cNvSpPr/>
          <p:nvPr/>
        </p:nvSpPr>
        <p:spPr>
          <a:xfrm>
            <a:off x="594360" y="1828800"/>
            <a:ext cx="3762756" cy="548640"/>
          </a:xfrm>
          <a:prstGeom prst="rect">
            <a:avLst/>
          </a:prstGeom>
          <a:noFill/>
          <a:ln/>
        </p:spPr>
        <p:txBody>
          <a:bodyPr wrap="square" lIns="0" tIns="0" rIns="0" bIns="0" rtlCol="0" anchor="t"/>
          <a:lstStyle/>
          <a:p>
            <a:pPr indent="0" marL="0">
              <a:buNone/>
            </a:pPr>
            <a:r>
              <a:rPr lang="en-US" sz="1100" dirty="0">
                <a:solidFill>
                  <a:srgbClr val="262626"/>
                </a:solidFill>
                <a:latin typeface="Arial" pitchFamily="34" charset="0"/>
                <a:ea typeface="Arial" pitchFamily="34" charset="-122"/>
                <a:cs typeface="Arial" pitchFamily="34" charset="-120"/>
              </a:rPr>
              <a:t>ἄτακτος — broke rank: idle, waiting for the Lord (2 Thess 3:6–8)</a:t>
            </a:r>
            <a:endParaRPr lang="en-US" sz="1100" dirty="0"/>
          </a:p>
        </p:txBody>
      </p:sp>
      <p:sp>
        <p:nvSpPr>
          <p:cNvPr id="10" name="Shape 7"/>
          <p:cNvSpPr/>
          <p:nvPr/>
        </p:nvSpPr>
        <p:spPr>
          <a:xfrm>
            <a:off x="4668012" y="1188720"/>
            <a:ext cx="4018788" cy="1261872"/>
          </a:xfrm>
          <a:prstGeom prst="rect">
            <a:avLst/>
          </a:prstGeom>
          <a:solidFill>
            <a:srgbClr val="F2F6FC"/>
          </a:solidFill>
          <a:ln w="9525">
            <a:solidFill>
              <a:srgbClr val="D5DCEA"/>
            </a:solidFill>
            <a:prstDash val="solid"/>
          </a:ln>
        </p:spPr>
      </p:sp>
      <p:sp>
        <p:nvSpPr>
          <p:cNvPr id="11" name="Shape 8"/>
          <p:cNvSpPr/>
          <p:nvPr/>
        </p:nvSpPr>
        <p:spPr>
          <a:xfrm>
            <a:off x="4805172" y="1325880"/>
            <a:ext cx="420624" cy="420624"/>
          </a:xfrm>
          <a:prstGeom prst="ellipse">
            <a:avLst/>
          </a:prstGeom>
          <a:solidFill>
            <a:srgbClr val="2E5496"/>
          </a:solidFill>
          <a:ln w="12700">
            <a:solidFill>
              <a:srgbClr val="2E5496"/>
            </a:solidFill>
            <a:prstDash val="solid"/>
          </a:ln>
        </p:spPr>
      </p:sp>
      <p:sp>
        <p:nvSpPr>
          <p:cNvPr id="12" name="Text 9"/>
          <p:cNvSpPr/>
          <p:nvPr/>
        </p:nvSpPr>
        <p:spPr>
          <a:xfrm>
            <a:off x="4805172" y="13258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3" name="Text 10"/>
          <p:cNvSpPr/>
          <p:nvPr/>
        </p:nvSpPr>
        <p:spPr>
          <a:xfrm>
            <a:off x="5326380" y="1325880"/>
            <a:ext cx="3268980"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Comfort the fainthearted</a:t>
            </a:r>
            <a:endParaRPr lang="en-US" sz="1200" dirty="0"/>
          </a:p>
        </p:txBody>
      </p:sp>
      <p:sp>
        <p:nvSpPr>
          <p:cNvPr id="14" name="Text 11"/>
          <p:cNvSpPr/>
          <p:nvPr/>
        </p:nvSpPr>
        <p:spPr>
          <a:xfrm>
            <a:off x="4805172" y="1828800"/>
            <a:ext cx="3762756" cy="548640"/>
          </a:xfrm>
          <a:prstGeom prst="rect">
            <a:avLst/>
          </a:prstGeom>
          <a:noFill/>
          <a:ln/>
        </p:spPr>
        <p:txBody>
          <a:bodyPr wrap="square" lIns="0" tIns="0" rIns="0" bIns="0" rtlCol="0" anchor="t"/>
          <a:lstStyle/>
          <a:p>
            <a:pPr indent="0" marL="0">
              <a:buNone/>
            </a:pPr>
            <a:r>
              <a:rPr lang="en-US" sz="1100" dirty="0">
                <a:solidFill>
                  <a:srgbClr val="262626"/>
                </a:solidFill>
                <a:latin typeface="Arial" pitchFamily="34" charset="0"/>
                <a:ea typeface="Arial" pitchFamily="34" charset="-122"/>
                <a:cs typeface="Arial" pitchFamily="34" charset="-120"/>
              </a:rPr>
              <a:t>ὀλιγόψυχος — the little-souled: grief, fear, intimidation</a:t>
            </a:r>
            <a:endParaRPr lang="en-US" sz="1100" dirty="0"/>
          </a:p>
        </p:txBody>
      </p:sp>
      <p:sp>
        <p:nvSpPr>
          <p:cNvPr id="15" name="Shape 12"/>
          <p:cNvSpPr/>
          <p:nvPr/>
        </p:nvSpPr>
        <p:spPr>
          <a:xfrm>
            <a:off x="457200" y="2596896"/>
            <a:ext cx="4018788" cy="1261872"/>
          </a:xfrm>
          <a:prstGeom prst="rect">
            <a:avLst/>
          </a:prstGeom>
          <a:solidFill>
            <a:srgbClr val="F2F6FC"/>
          </a:solidFill>
          <a:ln w="9525">
            <a:solidFill>
              <a:srgbClr val="D5DCEA"/>
            </a:solidFill>
            <a:prstDash val="solid"/>
          </a:ln>
        </p:spPr>
      </p:sp>
      <p:sp>
        <p:nvSpPr>
          <p:cNvPr id="16" name="Shape 13"/>
          <p:cNvSpPr/>
          <p:nvPr/>
        </p:nvSpPr>
        <p:spPr>
          <a:xfrm>
            <a:off x="594360" y="2734056"/>
            <a:ext cx="420624" cy="420624"/>
          </a:xfrm>
          <a:prstGeom prst="ellipse">
            <a:avLst/>
          </a:prstGeom>
          <a:solidFill>
            <a:srgbClr val="2E5496"/>
          </a:solidFill>
          <a:ln w="12700">
            <a:solidFill>
              <a:srgbClr val="2E5496"/>
            </a:solidFill>
            <a:prstDash val="solid"/>
          </a:ln>
        </p:spPr>
      </p:sp>
      <p:sp>
        <p:nvSpPr>
          <p:cNvPr id="17" name="Text 14"/>
          <p:cNvSpPr/>
          <p:nvPr/>
        </p:nvSpPr>
        <p:spPr>
          <a:xfrm>
            <a:off x="594360" y="273405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a:t>
            </a:r>
            <a:endParaRPr lang="en-US" sz="1300" dirty="0"/>
          </a:p>
        </p:txBody>
      </p:sp>
      <p:sp>
        <p:nvSpPr>
          <p:cNvPr id="18" name="Text 15"/>
          <p:cNvSpPr/>
          <p:nvPr/>
        </p:nvSpPr>
        <p:spPr>
          <a:xfrm>
            <a:off x="1115568" y="2734056"/>
            <a:ext cx="3268980"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Uphold the weak</a:t>
            </a:r>
            <a:endParaRPr lang="en-US" sz="1200" dirty="0"/>
          </a:p>
        </p:txBody>
      </p:sp>
      <p:sp>
        <p:nvSpPr>
          <p:cNvPr id="19" name="Text 16"/>
          <p:cNvSpPr/>
          <p:nvPr/>
        </p:nvSpPr>
        <p:spPr>
          <a:xfrm>
            <a:off x="594360" y="3236976"/>
            <a:ext cx="3762756" cy="548640"/>
          </a:xfrm>
          <a:prstGeom prst="rect">
            <a:avLst/>
          </a:prstGeom>
          <a:noFill/>
          <a:ln/>
        </p:spPr>
        <p:txBody>
          <a:bodyPr wrap="square" lIns="0" tIns="0" rIns="0" bIns="0" rtlCol="0" anchor="t"/>
          <a:lstStyle/>
          <a:p>
            <a:pPr indent="0" marL="0">
              <a:buNone/>
            </a:pPr>
            <a:r>
              <a:rPr lang="en-US" sz="1100" dirty="0">
                <a:solidFill>
                  <a:srgbClr val="262626"/>
                </a:solidFill>
                <a:latin typeface="Arial" pitchFamily="34" charset="0"/>
                <a:ea typeface="Arial" pitchFamily="34" charset="-122"/>
                <a:cs typeface="Arial" pitchFamily="34" charset="-120"/>
              </a:rPr>
              <a:t>Morally or spiritually weak — bear them up, hold them steady</a:t>
            </a:r>
            <a:endParaRPr lang="en-US" sz="1100" dirty="0"/>
          </a:p>
        </p:txBody>
      </p:sp>
      <p:sp>
        <p:nvSpPr>
          <p:cNvPr id="20" name="Shape 17"/>
          <p:cNvSpPr/>
          <p:nvPr/>
        </p:nvSpPr>
        <p:spPr>
          <a:xfrm>
            <a:off x="4668012" y="2596896"/>
            <a:ext cx="4018788" cy="1261872"/>
          </a:xfrm>
          <a:prstGeom prst="rect">
            <a:avLst/>
          </a:prstGeom>
          <a:solidFill>
            <a:srgbClr val="F2F6FC"/>
          </a:solidFill>
          <a:ln w="9525">
            <a:solidFill>
              <a:srgbClr val="D5DCEA"/>
            </a:solidFill>
            <a:prstDash val="solid"/>
          </a:ln>
        </p:spPr>
      </p:sp>
      <p:sp>
        <p:nvSpPr>
          <p:cNvPr id="21" name="Shape 18"/>
          <p:cNvSpPr/>
          <p:nvPr/>
        </p:nvSpPr>
        <p:spPr>
          <a:xfrm>
            <a:off x="4805172" y="2734056"/>
            <a:ext cx="420624" cy="420624"/>
          </a:xfrm>
          <a:prstGeom prst="ellipse">
            <a:avLst/>
          </a:prstGeom>
          <a:solidFill>
            <a:srgbClr val="375623"/>
          </a:solidFill>
          <a:ln w="12700">
            <a:solidFill>
              <a:srgbClr val="375623"/>
            </a:solidFill>
            <a:prstDash val="solid"/>
          </a:ln>
        </p:spPr>
      </p:sp>
      <p:sp>
        <p:nvSpPr>
          <p:cNvPr id="22" name="Text 19"/>
          <p:cNvSpPr/>
          <p:nvPr/>
        </p:nvSpPr>
        <p:spPr>
          <a:xfrm>
            <a:off x="4805172" y="273405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D</a:t>
            </a:r>
            <a:endParaRPr lang="en-US" sz="1300" dirty="0"/>
          </a:p>
        </p:txBody>
      </p:sp>
      <p:sp>
        <p:nvSpPr>
          <p:cNvPr id="23" name="Text 20"/>
          <p:cNvSpPr/>
          <p:nvPr/>
        </p:nvSpPr>
        <p:spPr>
          <a:xfrm>
            <a:off x="5326380" y="2734056"/>
            <a:ext cx="3268980"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Be patient with all</a:t>
            </a:r>
            <a:endParaRPr lang="en-US" sz="1200" dirty="0"/>
          </a:p>
        </p:txBody>
      </p:sp>
      <p:sp>
        <p:nvSpPr>
          <p:cNvPr id="24" name="Text 21"/>
          <p:cNvSpPr/>
          <p:nvPr/>
        </p:nvSpPr>
        <p:spPr>
          <a:xfrm>
            <a:off x="4805172" y="3236976"/>
            <a:ext cx="3762756" cy="548640"/>
          </a:xfrm>
          <a:prstGeom prst="rect">
            <a:avLst/>
          </a:prstGeom>
          <a:noFill/>
          <a:ln/>
        </p:spPr>
        <p:txBody>
          <a:bodyPr wrap="square" lIns="0" tIns="0" rIns="0" bIns="0" rtlCol="0" anchor="t"/>
          <a:lstStyle/>
          <a:p>
            <a:pPr indent="0" marL="0">
              <a:buNone/>
            </a:pPr>
            <a:r>
              <a:rPr lang="en-US" sz="1100" dirty="0">
                <a:solidFill>
                  <a:srgbClr val="262626"/>
                </a:solidFill>
                <a:latin typeface="Arial" pitchFamily="34" charset="0"/>
                <a:ea typeface="Arial" pitchFamily="34" charset="-122"/>
                <a:cs typeface="Arial" pitchFamily="34" charset="-120"/>
              </a:rPr>
              <a:t>Long-suffering — as patient as God has been with you</a:t>
            </a:r>
            <a:endParaRPr lang="en-US" sz="1100" dirty="0"/>
          </a:p>
        </p:txBody>
      </p:sp>
      <p:sp>
        <p:nvSpPr>
          <p:cNvPr id="25" name="Shape 22"/>
          <p:cNvSpPr/>
          <p:nvPr/>
        </p:nvSpPr>
        <p:spPr>
          <a:xfrm>
            <a:off x="457200" y="4023360"/>
            <a:ext cx="8229600" cy="566928"/>
          </a:xfrm>
          <a:prstGeom prst="roundRect">
            <a:avLst>
              <a:gd name="adj" fmla="val 9677"/>
            </a:avLst>
          </a:prstGeom>
          <a:solidFill>
            <a:srgbClr val="1F3864"/>
          </a:solidFill>
          <a:ln w="12700">
            <a:solidFill>
              <a:srgbClr val="1F3864"/>
            </a:solidFill>
            <a:prstDash val="solid"/>
          </a:ln>
        </p:spPr>
      </p:sp>
      <p:sp>
        <p:nvSpPr>
          <p:cNvPr id="26" name="Text 23"/>
          <p:cNvSpPr/>
          <p:nvPr/>
        </p:nvSpPr>
        <p:spPr>
          <a:xfrm>
            <a:off x="621792" y="4023360"/>
            <a:ext cx="7900416" cy="566928"/>
          </a:xfrm>
          <a:prstGeom prst="rect">
            <a:avLst/>
          </a:prstGeom>
          <a:noFill/>
          <a:ln/>
        </p:spPr>
        <p:txBody>
          <a:bodyPr wrap="square" lIns="0" tIns="0" rIns="0" bIns="0" rtlCol="0" anchor="ctr"/>
          <a:lstStyle/>
          <a:p>
            <a:pPr indent="0" marL="0">
              <a:buNone/>
            </a:pPr>
            <a:r>
              <a:rPr lang="en-US" sz="1150" dirty="0">
                <a:solidFill>
                  <a:srgbClr val="FFFFFF"/>
                </a:solidFill>
                <a:latin typeface="Arial" pitchFamily="34" charset="0"/>
                <a:ea typeface="Arial" pitchFamily="34" charset="-122"/>
                <a:cs typeface="Arial" pitchFamily="34" charset="-120"/>
              </a:rPr>
              <a:t>Warning the fainthearted would crush them; comforting the disorderly would enable them. Good leadership diagnoses before it responds.</a:t>
            </a:r>
            <a:endParaRPr lang="en-US" sz="11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Three levels of response</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5:15 · II.B — Hold these principles</a:t>
            </a:r>
            <a:endParaRPr lang="en-US" sz="1200" dirty="0"/>
          </a:p>
        </p:txBody>
      </p:sp>
      <p:sp>
        <p:nvSpPr>
          <p:cNvPr id="5" name="Shape 2"/>
          <p:cNvSpPr/>
          <p:nvPr/>
        </p:nvSpPr>
        <p:spPr>
          <a:xfrm>
            <a:off x="457200" y="1188720"/>
            <a:ext cx="2602992" cy="1965960"/>
          </a:xfrm>
          <a:prstGeom prst="roundRect">
            <a:avLst>
              <a:gd name="adj" fmla="val 2791"/>
            </a:avLst>
          </a:prstGeom>
          <a:solidFill>
            <a:srgbClr val="F2F6FC"/>
          </a:solidFill>
          <a:ln w="9525">
            <a:solidFill>
              <a:srgbClr val="D5DCEA"/>
            </a:solidFill>
            <a:prstDash val="solid"/>
          </a:ln>
        </p:spPr>
      </p:sp>
      <p:sp>
        <p:nvSpPr>
          <p:cNvPr id="6" name="Shape 3"/>
          <p:cNvSpPr/>
          <p:nvPr/>
        </p:nvSpPr>
        <p:spPr>
          <a:xfrm>
            <a:off x="1557528" y="1298448"/>
            <a:ext cx="402336" cy="402336"/>
          </a:xfrm>
          <a:prstGeom prst="ellipse">
            <a:avLst/>
          </a:prstGeom>
          <a:solidFill>
            <a:srgbClr val="6B7280"/>
          </a:solidFill>
          <a:ln w="12700">
            <a:solidFill>
              <a:srgbClr val="6B7280"/>
            </a:solidFill>
            <a:prstDash val="solid"/>
          </a:ln>
        </p:spPr>
      </p:sp>
      <p:sp>
        <p:nvSpPr>
          <p:cNvPr id="7" name="Text 4"/>
          <p:cNvSpPr/>
          <p:nvPr/>
        </p:nvSpPr>
        <p:spPr>
          <a:xfrm>
            <a:off x="1557528"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8" name="Text 5"/>
          <p:cNvSpPr/>
          <p:nvPr/>
        </p:nvSpPr>
        <p:spPr>
          <a:xfrm>
            <a:off x="530352" y="1773936"/>
            <a:ext cx="2456688"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Evil for evil</a:t>
            </a:r>
            <a:endParaRPr lang="en-US" sz="1150" dirty="0"/>
          </a:p>
        </p:txBody>
      </p:sp>
      <p:sp>
        <p:nvSpPr>
          <p:cNvPr id="9" name="Text 6"/>
          <p:cNvSpPr/>
          <p:nvPr/>
        </p:nvSpPr>
        <p:spPr>
          <a:xfrm>
            <a:off x="530352" y="2157984"/>
            <a:ext cx="2456688" cy="61264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Human — natural instinct; it requires no grace</a:t>
            </a:r>
            <a:endParaRPr lang="en-US" sz="1150" dirty="0"/>
          </a:p>
        </p:txBody>
      </p:sp>
      <p:sp>
        <p:nvSpPr>
          <p:cNvPr id="10" name="Text 7"/>
          <p:cNvSpPr/>
          <p:nvPr/>
        </p:nvSpPr>
        <p:spPr>
          <a:xfrm>
            <a:off x="530352" y="2770632"/>
            <a:ext cx="2456688"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cut off in traffic</a:t>
            </a:r>
            <a:endParaRPr lang="en-US" sz="900" dirty="0"/>
          </a:p>
        </p:txBody>
      </p:sp>
      <p:sp>
        <p:nvSpPr>
          <p:cNvPr id="11" name="Shape 8"/>
          <p:cNvSpPr/>
          <p:nvPr/>
        </p:nvSpPr>
        <p:spPr>
          <a:xfrm>
            <a:off x="3064764" y="2052828"/>
            <a:ext cx="201168" cy="237744"/>
          </a:xfrm>
          <a:prstGeom prst="rightArrow">
            <a:avLst/>
          </a:prstGeom>
          <a:solidFill>
            <a:srgbClr val="6B7280"/>
          </a:solidFill>
          <a:ln w="12700">
            <a:solidFill>
              <a:srgbClr val="6B7280"/>
            </a:solidFill>
            <a:prstDash val="solid"/>
          </a:ln>
        </p:spPr>
      </p:sp>
      <p:sp>
        <p:nvSpPr>
          <p:cNvPr id="12" name="Shape 9"/>
          <p:cNvSpPr/>
          <p:nvPr/>
        </p:nvSpPr>
        <p:spPr>
          <a:xfrm>
            <a:off x="3270504" y="1188720"/>
            <a:ext cx="2602992" cy="1965960"/>
          </a:xfrm>
          <a:prstGeom prst="roundRect">
            <a:avLst>
              <a:gd name="adj" fmla="val 2791"/>
            </a:avLst>
          </a:prstGeom>
          <a:solidFill>
            <a:srgbClr val="F2F6FC"/>
          </a:solidFill>
          <a:ln w="9525">
            <a:solidFill>
              <a:srgbClr val="D5DCEA"/>
            </a:solidFill>
            <a:prstDash val="solid"/>
          </a:ln>
        </p:spPr>
      </p:sp>
      <p:sp>
        <p:nvSpPr>
          <p:cNvPr id="13" name="Shape 10"/>
          <p:cNvSpPr/>
          <p:nvPr/>
        </p:nvSpPr>
        <p:spPr>
          <a:xfrm>
            <a:off x="4370832" y="1298448"/>
            <a:ext cx="402336" cy="402336"/>
          </a:xfrm>
          <a:prstGeom prst="ellipse">
            <a:avLst/>
          </a:prstGeom>
          <a:solidFill>
            <a:srgbClr val="6B7280"/>
          </a:solidFill>
          <a:ln w="12700">
            <a:solidFill>
              <a:srgbClr val="6B7280"/>
            </a:solidFill>
            <a:prstDash val="solid"/>
          </a:ln>
        </p:spPr>
      </p:sp>
      <p:sp>
        <p:nvSpPr>
          <p:cNvPr id="14" name="Text 11"/>
          <p:cNvSpPr/>
          <p:nvPr/>
        </p:nvSpPr>
        <p:spPr>
          <a:xfrm>
            <a:off x="4370832"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5" name="Text 12"/>
          <p:cNvSpPr/>
          <p:nvPr/>
        </p:nvSpPr>
        <p:spPr>
          <a:xfrm>
            <a:off x="3343656" y="1773936"/>
            <a:ext cx="2456688"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Evil for good</a:t>
            </a:r>
            <a:endParaRPr lang="en-US" sz="1150" dirty="0"/>
          </a:p>
        </p:txBody>
      </p:sp>
      <p:sp>
        <p:nvSpPr>
          <p:cNvPr id="16" name="Text 13"/>
          <p:cNvSpPr/>
          <p:nvPr/>
        </p:nvSpPr>
        <p:spPr>
          <a:xfrm>
            <a:off x="3343656" y="2157984"/>
            <a:ext cx="2456688" cy="61264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Devilish — someone does you good, you do them evil</a:t>
            </a:r>
            <a:endParaRPr lang="en-US" sz="1150" dirty="0"/>
          </a:p>
        </p:txBody>
      </p:sp>
      <p:sp>
        <p:nvSpPr>
          <p:cNvPr id="17" name="Text 14"/>
          <p:cNvSpPr/>
          <p:nvPr/>
        </p:nvSpPr>
        <p:spPr>
          <a:xfrm>
            <a:off x="3343656" y="2770632"/>
            <a:ext cx="2456688"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never</a:t>
            </a:r>
            <a:endParaRPr lang="en-US" sz="900" dirty="0"/>
          </a:p>
        </p:txBody>
      </p:sp>
      <p:sp>
        <p:nvSpPr>
          <p:cNvPr id="18" name="Shape 15"/>
          <p:cNvSpPr/>
          <p:nvPr/>
        </p:nvSpPr>
        <p:spPr>
          <a:xfrm>
            <a:off x="5878068" y="2052828"/>
            <a:ext cx="201168" cy="237744"/>
          </a:xfrm>
          <a:prstGeom prst="rightArrow">
            <a:avLst/>
          </a:prstGeom>
          <a:solidFill>
            <a:srgbClr val="6B7280"/>
          </a:solidFill>
          <a:ln w="12700">
            <a:solidFill>
              <a:srgbClr val="6B7280"/>
            </a:solidFill>
            <a:prstDash val="solid"/>
          </a:ln>
        </p:spPr>
      </p:sp>
      <p:sp>
        <p:nvSpPr>
          <p:cNvPr id="19" name="Shape 16"/>
          <p:cNvSpPr/>
          <p:nvPr/>
        </p:nvSpPr>
        <p:spPr>
          <a:xfrm>
            <a:off x="6083808" y="1188720"/>
            <a:ext cx="2602992" cy="1965960"/>
          </a:xfrm>
          <a:prstGeom prst="roundRect">
            <a:avLst>
              <a:gd name="adj" fmla="val 2791"/>
            </a:avLst>
          </a:prstGeom>
          <a:solidFill>
            <a:srgbClr val="1F3864"/>
          </a:solidFill>
          <a:ln w="9525">
            <a:solidFill>
              <a:srgbClr val="1F3864"/>
            </a:solidFill>
            <a:prstDash val="solid"/>
          </a:ln>
        </p:spPr>
      </p:sp>
      <p:sp>
        <p:nvSpPr>
          <p:cNvPr id="20" name="Shape 17"/>
          <p:cNvSpPr/>
          <p:nvPr/>
        </p:nvSpPr>
        <p:spPr>
          <a:xfrm>
            <a:off x="7184136" y="1298448"/>
            <a:ext cx="402336" cy="402336"/>
          </a:xfrm>
          <a:prstGeom prst="ellipse">
            <a:avLst/>
          </a:prstGeom>
          <a:solidFill>
            <a:srgbClr val="FFFFFF"/>
          </a:solidFill>
          <a:ln w="12700">
            <a:solidFill>
              <a:srgbClr val="FFFFFF"/>
            </a:solidFill>
            <a:prstDash val="solid"/>
          </a:ln>
        </p:spPr>
      </p:sp>
      <p:sp>
        <p:nvSpPr>
          <p:cNvPr id="21" name="Text 18"/>
          <p:cNvSpPr/>
          <p:nvPr/>
        </p:nvSpPr>
        <p:spPr>
          <a:xfrm>
            <a:off x="7184136" y="1298448"/>
            <a:ext cx="402336" cy="402336"/>
          </a:xfrm>
          <a:prstGeom prst="rect">
            <a:avLst/>
          </a:prstGeom>
          <a:noFill/>
          <a:ln/>
        </p:spPr>
        <p:txBody>
          <a:bodyPr wrap="square" lIns="0" tIns="0" rIns="0" bIns="0" rtlCol="0" anchor="ctr"/>
          <a:lstStyle/>
          <a:p>
            <a:pPr algn="ctr" indent="0" marL="0">
              <a:buNone/>
            </a:pPr>
            <a:r>
              <a:rPr lang="en-US" sz="1300" b="1" dirty="0">
                <a:solidFill>
                  <a:srgbClr val="1F3864"/>
                </a:solidFill>
                <a:latin typeface="Arial" pitchFamily="34" charset="0"/>
                <a:ea typeface="Arial" pitchFamily="34" charset="-122"/>
                <a:cs typeface="Arial" pitchFamily="34" charset="-120"/>
              </a:rPr>
              <a:t>C</a:t>
            </a:r>
            <a:endParaRPr lang="en-US" sz="1300" dirty="0"/>
          </a:p>
        </p:txBody>
      </p:sp>
      <p:sp>
        <p:nvSpPr>
          <p:cNvPr id="22" name="Text 19"/>
          <p:cNvSpPr/>
          <p:nvPr/>
        </p:nvSpPr>
        <p:spPr>
          <a:xfrm>
            <a:off x="6156960" y="1773936"/>
            <a:ext cx="2456688"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Good for evil</a:t>
            </a:r>
            <a:endParaRPr lang="en-US" sz="1150" dirty="0"/>
          </a:p>
        </p:txBody>
      </p:sp>
      <p:sp>
        <p:nvSpPr>
          <p:cNvPr id="23" name="Text 20"/>
          <p:cNvSpPr/>
          <p:nvPr/>
        </p:nvSpPr>
        <p:spPr>
          <a:xfrm>
            <a:off x="6156960" y="2157984"/>
            <a:ext cx="2456688" cy="612648"/>
          </a:xfrm>
          <a:prstGeom prst="rect">
            <a:avLst/>
          </a:prstGeom>
          <a:noFill/>
          <a:ln/>
        </p:spPr>
        <p:txBody>
          <a:bodyPr wrap="square" lIns="0" tIns="0" rIns="0" bIns="0" rtlCol="0" anchor="t"/>
          <a:lstStyle/>
          <a:p>
            <a:pPr algn="ctr" indent="0" marL="0">
              <a:buNone/>
            </a:pPr>
            <a:r>
              <a:rPr lang="en-US" sz="1150" dirty="0">
                <a:solidFill>
                  <a:srgbClr val="FFFFFF"/>
                </a:solidFill>
                <a:latin typeface="Arial" pitchFamily="34" charset="0"/>
                <a:ea typeface="Arial" pitchFamily="34" charset="-122"/>
                <a:cs typeface="Arial" pitchFamily="34" charset="-120"/>
              </a:rPr>
              <a:t>Divine — where we must be, with anyone</a:t>
            </a:r>
            <a:endParaRPr lang="en-US" sz="1150" dirty="0"/>
          </a:p>
        </p:txBody>
      </p:sp>
      <p:sp>
        <p:nvSpPr>
          <p:cNvPr id="24" name="Text 21"/>
          <p:cNvSpPr/>
          <p:nvPr/>
        </p:nvSpPr>
        <p:spPr>
          <a:xfrm>
            <a:off x="6156960" y="2770632"/>
            <a:ext cx="2456688" cy="329184"/>
          </a:xfrm>
          <a:prstGeom prst="rect">
            <a:avLst/>
          </a:prstGeom>
          <a:noFill/>
          <a:ln/>
        </p:spPr>
        <p:txBody>
          <a:bodyPr wrap="square" lIns="0" tIns="0" rIns="0" bIns="0" rtlCol="0" anchor="b"/>
          <a:lstStyle/>
          <a:p>
            <a:pPr algn="ctr" indent="0" marL="0">
              <a:buNone/>
            </a:pPr>
            <a:r>
              <a:rPr lang="en-US" sz="900" i="1" dirty="0">
                <a:solidFill>
                  <a:srgbClr val="DCE4F2"/>
                </a:solidFill>
                <a:latin typeface="Arial" pitchFamily="34" charset="0"/>
                <a:ea typeface="Arial" pitchFamily="34" charset="-122"/>
                <a:cs typeface="Arial" pitchFamily="34" charset="-120"/>
              </a:rPr>
              <a:t>heaps coals of fire</a:t>
            </a:r>
            <a:endParaRPr lang="en-US" sz="900" dirty="0"/>
          </a:p>
        </p:txBody>
      </p:sp>
      <p:sp>
        <p:nvSpPr>
          <p:cNvPr id="25" name="Shape 22"/>
          <p:cNvSpPr/>
          <p:nvPr/>
        </p:nvSpPr>
        <p:spPr>
          <a:xfrm>
            <a:off x="457200" y="3383280"/>
            <a:ext cx="8229600" cy="914400"/>
          </a:xfrm>
          <a:prstGeom prst="roundRect">
            <a:avLst>
              <a:gd name="adj" fmla="val 6000"/>
            </a:avLst>
          </a:prstGeom>
          <a:solidFill>
            <a:srgbClr val="1F3864"/>
          </a:solidFill>
          <a:ln w="12700">
            <a:solidFill>
              <a:srgbClr val="1F3864"/>
            </a:solidFill>
            <a:prstDash val="solid"/>
          </a:ln>
        </p:spPr>
      </p:sp>
      <p:sp>
        <p:nvSpPr>
          <p:cNvPr id="26" name="Text 23"/>
          <p:cNvSpPr/>
          <p:nvPr/>
        </p:nvSpPr>
        <p:spPr>
          <a:xfrm>
            <a:off x="621792" y="3383280"/>
            <a:ext cx="7900416" cy="914400"/>
          </a:xfrm>
          <a:prstGeom prst="rect">
            <a:avLst/>
          </a:prstGeom>
          <a:noFill/>
          <a:ln/>
        </p:spPr>
        <p:txBody>
          <a:bodyPr wrap="square" lIns="0" tIns="0" rIns="0" bIns="0" rtlCol="0" anchor="ctr"/>
          <a:lstStyle/>
          <a:p>
            <a:pPr indent="0" marL="0">
              <a:buNone/>
            </a:pPr>
            <a:r>
              <a:rPr lang="en-US" sz="1200" b="1" dirty="0">
                <a:solidFill>
                  <a:srgbClr val="C9D5EE"/>
                </a:solidFill>
                <a:latin typeface="Arial" pitchFamily="34" charset="0"/>
                <a:ea typeface="Arial" pitchFamily="34" charset="-122"/>
                <a:cs typeface="Arial" pitchFamily="34" charset="-120"/>
              </a:rPr>
              <a:t>Prohibit this · Pursue this:  </a:t>
            </a:r>
            <a:pPr indent="0" marL="0">
              <a:buNone/>
            </a:pPr>
            <a:r>
              <a:rPr lang="en-US" sz="1200" dirty="0">
                <a:solidFill>
                  <a:srgbClr val="FFFFFF"/>
                </a:solidFill>
                <a:latin typeface="Arial" pitchFamily="34" charset="0"/>
                <a:ea typeface="Arial" pitchFamily="34" charset="-122"/>
                <a:cs typeface="Arial" pitchFamily="34" charset="-120"/>
              </a:rPr>
              <a:t>“See that no one renders evil for evil to anyone, but always pursue what is good both for yourselves and for all.”</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The will of God in Christ Jesus for you</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5:16–18 · III.A–C — Rejoice, pray, give thanks</a:t>
            </a:r>
            <a:endParaRPr lang="en-US" sz="1200" dirty="0"/>
          </a:p>
        </p:txBody>
      </p:sp>
      <p:sp>
        <p:nvSpPr>
          <p:cNvPr id="5" name="Shape 2"/>
          <p:cNvSpPr/>
          <p:nvPr/>
        </p:nvSpPr>
        <p:spPr>
          <a:xfrm>
            <a:off x="457200" y="1188720"/>
            <a:ext cx="2499360" cy="566928"/>
          </a:xfrm>
          <a:prstGeom prst="rect">
            <a:avLst/>
          </a:prstGeom>
          <a:solidFill>
            <a:srgbClr val="2E5496"/>
          </a:solidFill>
          <a:ln w="12700">
            <a:solidFill>
              <a:srgbClr val="2E5496"/>
            </a:solidFill>
            <a:prstDash val="solid"/>
          </a:ln>
        </p:spPr>
      </p:sp>
      <p:sp>
        <p:nvSpPr>
          <p:cNvPr id="6" name="Text 3"/>
          <p:cNvSpPr/>
          <p:nvPr/>
        </p:nvSpPr>
        <p:spPr>
          <a:xfrm>
            <a:off x="548640" y="1234440"/>
            <a:ext cx="2316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Always praise · v.16</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χαίρω</a:t>
            </a:r>
            <a:pPr indent="0" marL="0">
              <a:buNone/>
            </a:pPr>
            <a:r>
              <a:rPr lang="en-US" sz="850" dirty="0">
                <a:solidFill>
                  <a:srgbClr val="DCE4F2"/>
                </a:solidFill>
                <a:latin typeface="Arial" pitchFamily="34" charset="0"/>
                <a:ea typeface="Arial" pitchFamily="34" charset="-122"/>
                <a:cs typeface="Arial" pitchFamily="34" charset="-120"/>
              </a:rPr>
              <a:t>  rejoice · G5463</a:t>
            </a:r>
            <a:endParaRPr lang="en-US" sz="1200" dirty="0"/>
          </a:p>
        </p:txBody>
      </p:sp>
      <p:sp>
        <p:nvSpPr>
          <p:cNvPr id="7" name="Shape 4"/>
          <p:cNvSpPr/>
          <p:nvPr/>
        </p:nvSpPr>
        <p:spPr>
          <a:xfrm>
            <a:off x="457200" y="1755648"/>
            <a:ext cx="2499360" cy="1947672"/>
          </a:xfrm>
          <a:prstGeom prst="rect">
            <a:avLst/>
          </a:prstGeom>
          <a:solidFill>
            <a:srgbClr val="F2F6FC"/>
          </a:solidFill>
          <a:ln w="9525">
            <a:solidFill>
              <a:srgbClr val="D5DCEA"/>
            </a:solidFill>
            <a:prstDash val="solid"/>
          </a:ln>
        </p:spPr>
      </p:sp>
      <p:sp>
        <p:nvSpPr>
          <p:cNvPr id="8" name="Text 5"/>
          <p:cNvSpPr/>
          <p:nvPr/>
        </p:nvSpPr>
        <p:spPr>
          <a:xfrm>
            <a:off x="548640" y="1828800"/>
            <a:ext cx="2316480" cy="181965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Shortest verse in Greek — 14 letters</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Joy is the Christian’s flag: the King is in residence</a:t>
            </a:r>
            <a:endParaRPr lang="en-US" sz="1250" dirty="0"/>
          </a:p>
        </p:txBody>
      </p:sp>
      <p:sp>
        <p:nvSpPr>
          <p:cNvPr id="9" name="Shape 6"/>
          <p:cNvSpPr/>
          <p:nvPr/>
        </p:nvSpPr>
        <p:spPr>
          <a:xfrm>
            <a:off x="3020568" y="2327148"/>
            <a:ext cx="237744" cy="237744"/>
          </a:xfrm>
          <a:prstGeom prst="rightArrow">
            <a:avLst/>
          </a:prstGeom>
          <a:solidFill>
            <a:srgbClr val="6B7280"/>
          </a:solidFill>
          <a:ln w="12700">
            <a:solidFill>
              <a:srgbClr val="6B7280"/>
            </a:solidFill>
            <a:prstDash val="solid"/>
          </a:ln>
        </p:spPr>
      </p:sp>
      <p:sp>
        <p:nvSpPr>
          <p:cNvPr id="10" name="Shape 7"/>
          <p:cNvSpPr/>
          <p:nvPr/>
        </p:nvSpPr>
        <p:spPr>
          <a:xfrm>
            <a:off x="3322320" y="1188720"/>
            <a:ext cx="2499360" cy="566928"/>
          </a:xfrm>
          <a:prstGeom prst="rect">
            <a:avLst/>
          </a:prstGeom>
          <a:solidFill>
            <a:srgbClr val="2E5496"/>
          </a:solidFill>
          <a:ln w="12700">
            <a:solidFill>
              <a:srgbClr val="2E5496"/>
            </a:solidFill>
            <a:prstDash val="solid"/>
          </a:ln>
        </p:spPr>
      </p:sp>
      <p:sp>
        <p:nvSpPr>
          <p:cNvPr id="11" name="Text 8"/>
          <p:cNvSpPr/>
          <p:nvPr/>
        </p:nvSpPr>
        <p:spPr>
          <a:xfrm>
            <a:off x="3413760" y="1234440"/>
            <a:ext cx="2316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Without ceasing, pray · v.17</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ἀδιαλείπτως</a:t>
            </a:r>
            <a:pPr indent="0" marL="0">
              <a:buNone/>
            </a:pPr>
            <a:r>
              <a:rPr lang="en-US" sz="850" dirty="0">
                <a:solidFill>
                  <a:srgbClr val="DCE4F2"/>
                </a:solidFill>
                <a:latin typeface="Arial" pitchFamily="34" charset="0"/>
                <a:ea typeface="Arial" pitchFamily="34" charset="-122"/>
                <a:cs typeface="Arial" pitchFamily="34" charset="-120"/>
              </a:rPr>
              <a:t>  without ceasing · G89</a:t>
            </a:r>
            <a:endParaRPr lang="en-US" sz="1200" dirty="0"/>
          </a:p>
        </p:txBody>
      </p:sp>
      <p:sp>
        <p:nvSpPr>
          <p:cNvPr id="12" name="Shape 9"/>
          <p:cNvSpPr/>
          <p:nvPr/>
        </p:nvSpPr>
        <p:spPr>
          <a:xfrm>
            <a:off x="3322320" y="1755648"/>
            <a:ext cx="2499360" cy="1947672"/>
          </a:xfrm>
          <a:prstGeom prst="rect">
            <a:avLst/>
          </a:prstGeom>
          <a:solidFill>
            <a:srgbClr val="F2F6FC"/>
          </a:solidFill>
          <a:ln w="9525">
            <a:solidFill>
              <a:srgbClr val="D5DCEA"/>
            </a:solidFill>
            <a:prstDash val="solid"/>
          </a:ln>
        </p:spPr>
      </p:sp>
      <p:sp>
        <p:nvSpPr>
          <p:cNvPr id="13" name="Text 10"/>
          <p:cNvSpPr/>
          <p:nvPr/>
        </p:nvSpPr>
        <p:spPr>
          <a:xfrm>
            <a:off x="3413760" y="1828800"/>
            <a:ext cx="2316480" cy="181965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Like a hacking cough — all through the day</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Stated times, like Daniel — and staying in touch</a:t>
            </a:r>
            <a:endParaRPr lang="en-US" sz="1250" dirty="0"/>
          </a:p>
        </p:txBody>
      </p:sp>
      <p:sp>
        <p:nvSpPr>
          <p:cNvPr id="14" name="Shape 11"/>
          <p:cNvSpPr/>
          <p:nvPr/>
        </p:nvSpPr>
        <p:spPr>
          <a:xfrm>
            <a:off x="5885688" y="2327148"/>
            <a:ext cx="237744" cy="237744"/>
          </a:xfrm>
          <a:prstGeom prst="rightArrow">
            <a:avLst/>
          </a:prstGeom>
          <a:solidFill>
            <a:srgbClr val="6B7280"/>
          </a:solidFill>
          <a:ln w="12700">
            <a:solidFill>
              <a:srgbClr val="6B7280"/>
            </a:solidFill>
            <a:prstDash val="solid"/>
          </a:ln>
        </p:spPr>
      </p:sp>
      <p:sp>
        <p:nvSpPr>
          <p:cNvPr id="15" name="Shape 12"/>
          <p:cNvSpPr/>
          <p:nvPr/>
        </p:nvSpPr>
        <p:spPr>
          <a:xfrm>
            <a:off x="6187440" y="1188720"/>
            <a:ext cx="2499360" cy="566928"/>
          </a:xfrm>
          <a:prstGeom prst="rect">
            <a:avLst/>
          </a:prstGeom>
          <a:solidFill>
            <a:srgbClr val="375623"/>
          </a:solidFill>
          <a:ln w="12700">
            <a:solidFill>
              <a:srgbClr val="375623"/>
            </a:solidFill>
            <a:prstDash val="solid"/>
          </a:ln>
        </p:spPr>
      </p:sp>
      <p:sp>
        <p:nvSpPr>
          <p:cNvPr id="16" name="Text 13"/>
          <p:cNvSpPr/>
          <p:nvPr/>
        </p:nvSpPr>
        <p:spPr>
          <a:xfrm>
            <a:off x="6278880" y="1234440"/>
            <a:ext cx="2316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In all things, appreciate · v.18</a:t>
            </a:r>
            <a:endParaRPr lang="en-US" sz="1200" dirty="0"/>
          </a:p>
        </p:txBody>
      </p:sp>
      <p:sp>
        <p:nvSpPr>
          <p:cNvPr id="17" name="Shape 14"/>
          <p:cNvSpPr/>
          <p:nvPr/>
        </p:nvSpPr>
        <p:spPr>
          <a:xfrm>
            <a:off x="6187440" y="1755648"/>
            <a:ext cx="2499360" cy="1947672"/>
          </a:xfrm>
          <a:prstGeom prst="rect">
            <a:avLst/>
          </a:prstGeom>
          <a:solidFill>
            <a:srgbClr val="F2F6FC"/>
          </a:solidFill>
          <a:ln w="9525">
            <a:solidFill>
              <a:srgbClr val="D5DCEA"/>
            </a:solidFill>
            <a:prstDash val="solid"/>
          </a:ln>
        </p:spPr>
      </p:sp>
      <p:sp>
        <p:nvSpPr>
          <p:cNvPr id="18" name="Text 15"/>
          <p:cNvSpPr/>
          <p:nvPr/>
        </p:nvSpPr>
        <p:spPr>
          <a:xfrm>
            <a:off x="6278880" y="1828800"/>
            <a:ext cx="2316480" cy="181965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In everything — every circumstance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Thank Him for what He has already done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Even while praying for change</a:t>
            </a:r>
            <a:endParaRPr lang="en-US" sz="1250" dirty="0"/>
          </a:p>
        </p:txBody>
      </p:sp>
      <p:sp>
        <p:nvSpPr>
          <p:cNvPr id="19" name="Shape 16"/>
          <p:cNvSpPr/>
          <p:nvPr/>
        </p:nvSpPr>
        <p:spPr>
          <a:xfrm>
            <a:off x="457200" y="3886200"/>
            <a:ext cx="8229600" cy="731520"/>
          </a:xfrm>
          <a:prstGeom prst="roundRect">
            <a:avLst>
              <a:gd name="adj" fmla="val 7500"/>
            </a:avLst>
          </a:prstGeom>
          <a:solidFill>
            <a:srgbClr val="1F3864"/>
          </a:solidFill>
          <a:ln w="12700">
            <a:solidFill>
              <a:srgbClr val="1F3864"/>
            </a:solidFill>
            <a:prstDash val="solid"/>
          </a:ln>
        </p:spPr>
      </p:sp>
      <p:sp>
        <p:nvSpPr>
          <p:cNvPr id="20" name="Text 17"/>
          <p:cNvSpPr/>
          <p:nvPr/>
        </p:nvSpPr>
        <p:spPr>
          <a:xfrm>
            <a:off x="621792" y="3886200"/>
            <a:ext cx="7900416" cy="73152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“For this is the will of God in Christ Jesus for you.” What is God’s will for my life? Start there.</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Say yes — and test everything</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5:19–22 · III.D–H</a:t>
            </a:r>
            <a:endParaRPr lang="en-US" sz="1200" dirty="0"/>
          </a:p>
        </p:txBody>
      </p:sp>
      <p:sp>
        <p:nvSpPr>
          <p:cNvPr id="5" name="Shape 2"/>
          <p:cNvSpPr/>
          <p:nvPr/>
        </p:nvSpPr>
        <p:spPr>
          <a:xfrm>
            <a:off x="457200" y="1115568"/>
            <a:ext cx="777240" cy="566928"/>
          </a:xfrm>
          <a:prstGeom prst="rect">
            <a:avLst/>
          </a:prstGeom>
          <a:solidFill>
            <a:srgbClr val="2E5496"/>
          </a:solidFill>
          <a:ln w="12700">
            <a:solidFill>
              <a:srgbClr val="2E5496"/>
            </a:solidFill>
            <a:prstDash val="solid"/>
          </a:ln>
        </p:spPr>
      </p:sp>
      <p:sp>
        <p:nvSpPr>
          <p:cNvPr id="6" name="Text 3"/>
          <p:cNvSpPr/>
          <p:nvPr/>
        </p:nvSpPr>
        <p:spPr>
          <a:xfrm>
            <a:off x="457200" y="1115568"/>
            <a:ext cx="77724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v.19</a:t>
            </a:r>
            <a:endParaRPr lang="en-US" sz="1100" dirty="0"/>
          </a:p>
        </p:txBody>
      </p:sp>
      <p:sp>
        <p:nvSpPr>
          <p:cNvPr id="7" name="Shape 4"/>
          <p:cNvSpPr/>
          <p:nvPr/>
        </p:nvSpPr>
        <p:spPr>
          <a:xfrm>
            <a:off x="1234440" y="1115568"/>
            <a:ext cx="7452360" cy="566928"/>
          </a:xfrm>
          <a:prstGeom prst="rect">
            <a:avLst/>
          </a:prstGeom>
          <a:solidFill>
            <a:srgbClr val="F2F6FC"/>
          </a:solidFill>
          <a:ln w="9525">
            <a:solidFill>
              <a:srgbClr val="D5DCEA"/>
            </a:solidFill>
            <a:prstDash val="solid"/>
          </a:ln>
        </p:spPr>
      </p:sp>
      <p:sp>
        <p:nvSpPr>
          <p:cNvPr id="8" name="Text 5"/>
          <p:cNvSpPr/>
          <p:nvPr/>
        </p:nvSpPr>
        <p:spPr>
          <a:xfrm>
            <a:off x="1344168" y="1115568"/>
            <a:ext cx="4389120" cy="566928"/>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Do not quench the Spirit — say yes to God</a:t>
            </a:r>
            <a:endParaRPr lang="en-US" sz="1150" dirty="0"/>
          </a:p>
        </p:txBody>
      </p:sp>
      <p:sp>
        <p:nvSpPr>
          <p:cNvPr id="9" name="Text 6"/>
          <p:cNvSpPr/>
          <p:nvPr/>
        </p:nvSpPr>
        <p:spPr>
          <a:xfrm>
            <a:off x="5806440" y="1115568"/>
            <a:ext cx="2788920" cy="56692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σβέννυμι</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throwing water on a fire</a:t>
            </a:r>
            <a:endParaRPr lang="en-US" sz="1300" dirty="0"/>
          </a:p>
        </p:txBody>
      </p:sp>
      <p:sp>
        <p:nvSpPr>
          <p:cNvPr id="10" name="Shape 7"/>
          <p:cNvSpPr/>
          <p:nvPr/>
        </p:nvSpPr>
        <p:spPr>
          <a:xfrm>
            <a:off x="457200" y="1755648"/>
            <a:ext cx="777240" cy="566928"/>
          </a:xfrm>
          <a:prstGeom prst="rect">
            <a:avLst/>
          </a:prstGeom>
          <a:solidFill>
            <a:srgbClr val="2E5496"/>
          </a:solidFill>
          <a:ln w="12700">
            <a:solidFill>
              <a:srgbClr val="2E5496"/>
            </a:solidFill>
            <a:prstDash val="solid"/>
          </a:ln>
        </p:spPr>
      </p:sp>
      <p:sp>
        <p:nvSpPr>
          <p:cNvPr id="11" name="Text 8"/>
          <p:cNvSpPr/>
          <p:nvPr/>
        </p:nvSpPr>
        <p:spPr>
          <a:xfrm>
            <a:off x="457200" y="1755648"/>
            <a:ext cx="77724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v.20</a:t>
            </a:r>
            <a:endParaRPr lang="en-US" sz="1100" dirty="0"/>
          </a:p>
        </p:txBody>
      </p:sp>
      <p:sp>
        <p:nvSpPr>
          <p:cNvPr id="12" name="Shape 9"/>
          <p:cNvSpPr/>
          <p:nvPr/>
        </p:nvSpPr>
        <p:spPr>
          <a:xfrm>
            <a:off x="1234440" y="1755648"/>
            <a:ext cx="7452360" cy="566928"/>
          </a:xfrm>
          <a:prstGeom prst="rect">
            <a:avLst/>
          </a:prstGeom>
          <a:solidFill>
            <a:srgbClr val="FFFFFF"/>
          </a:solidFill>
          <a:ln w="9525">
            <a:solidFill>
              <a:srgbClr val="D5DCEA"/>
            </a:solidFill>
            <a:prstDash val="solid"/>
          </a:ln>
        </p:spPr>
      </p:sp>
      <p:sp>
        <p:nvSpPr>
          <p:cNvPr id="13" name="Text 10"/>
          <p:cNvSpPr/>
          <p:nvPr/>
        </p:nvSpPr>
        <p:spPr>
          <a:xfrm>
            <a:off x="1344168" y="1755648"/>
            <a:ext cx="4389120" cy="566928"/>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Do not despise prophecies — checked by others (1 Cor 14:29)</a:t>
            </a:r>
            <a:endParaRPr lang="en-US" sz="1150" dirty="0"/>
          </a:p>
        </p:txBody>
      </p:sp>
      <p:sp>
        <p:nvSpPr>
          <p:cNvPr id="14" name="Text 11"/>
          <p:cNvSpPr/>
          <p:nvPr/>
        </p:nvSpPr>
        <p:spPr>
          <a:xfrm>
            <a:off x="5806440" y="1755648"/>
            <a:ext cx="2788920" cy="56692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now: the completed Scriptures</a:t>
            </a:r>
            <a:endParaRPr lang="en-US" sz="1300" dirty="0"/>
          </a:p>
        </p:txBody>
      </p:sp>
      <p:sp>
        <p:nvSpPr>
          <p:cNvPr id="15" name="Shape 12"/>
          <p:cNvSpPr/>
          <p:nvPr/>
        </p:nvSpPr>
        <p:spPr>
          <a:xfrm>
            <a:off x="457200" y="2395728"/>
            <a:ext cx="777240" cy="566928"/>
          </a:xfrm>
          <a:prstGeom prst="rect">
            <a:avLst/>
          </a:prstGeom>
          <a:solidFill>
            <a:srgbClr val="2E5496"/>
          </a:solidFill>
          <a:ln w="12700">
            <a:solidFill>
              <a:srgbClr val="2E5496"/>
            </a:solidFill>
            <a:prstDash val="solid"/>
          </a:ln>
        </p:spPr>
      </p:sp>
      <p:sp>
        <p:nvSpPr>
          <p:cNvPr id="16" name="Text 13"/>
          <p:cNvSpPr/>
          <p:nvPr/>
        </p:nvSpPr>
        <p:spPr>
          <a:xfrm>
            <a:off x="457200" y="2395728"/>
            <a:ext cx="77724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v.21a</a:t>
            </a:r>
            <a:endParaRPr lang="en-US" sz="1100" dirty="0"/>
          </a:p>
        </p:txBody>
      </p:sp>
      <p:sp>
        <p:nvSpPr>
          <p:cNvPr id="17" name="Shape 14"/>
          <p:cNvSpPr/>
          <p:nvPr/>
        </p:nvSpPr>
        <p:spPr>
          <a:xfrm>
            <a:off x="1234440" y="2395728"/>
            <a:ext cx="7452360" cy="566928"/>
          </a:xfrm>
          <a:prstGeom prst="rect">
            <a:avLst/>
          </a:prstGeom>
          <a:solidFill>
            <a:srgbClr val="F2F6FC"/>
          </a:solidFill>
          <a:ln w="9525">
            <a:solidFill>
              <a:srgbClr val="D5DCEA"/>
            </a:solidFill>
            <a:prstDash val="solid"/>
          </a:ln>
        </p:spPr>
      </p:sp>
      <p:sp>
        <p:nvSpPr>
          <p:cNvPr id="18" name="Text 15"/>
          <p:cNvSpPr/>
          <p:nvPr/>
        </p:nvSpPr>
        <p:spPr>
          <a:xfrm>
            <a:off x="1344168" y="2395728"/>
            <a:ext cx="4389120" cy="566928"/>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Test all things — by the written Word of God</a:t>
            </a:r>
            <a:endParaRPr lang="en-US" sz="1150" dirty="0"/>
          </a:p>
        </p:txBody>
      </p:sp>
      <p:sp>
        <p:nvSpPr>
          <p:cNvPr id="19" name="Text 16"/>
          <p:cNvSpPr/>
          <p:nvPr/>
        </p:nvSpPr>
        <p:spPr>
          <a:xfrm>
            <a:off x="5806440" y="2395728"/>
            <a:ext cx="2788920" cy="56692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δοκιμάζω</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put it to the fire of the Word</a:t>
            </a:r>
            <a:endParaRPr lang="en-US" sz="1300" dirty="0"/>
          </a:p>
        </p:txBody>
      </p:sp>
      <p:sp>
        <p:nvSpPr>
          <p:cNvPr id="20" name="Shape 17"/>
          <p:cNvSpPr/>
          <p:nvPr/>
        </p:nvSpPr>
        <p:spPr>
          <a:xfrm>
            <a:off x="457200" y="3035808"/>
            <a:ext cx="777240" cy="566928"/>
          </a:xfrm>
          <a:prstGeom prst="rect">
            <a:avLst/>
          </a:prstGeom>
          <a:solidFill>
            <a:srgbClr val="2E5496"/>
          </a:solidFill>
          <a:ln w="12700">
            <a:solidFill>
              <a:srgbClr val="2E5496"/>
            </a:solidFill>
            <a:prstDash val="solid"/>
          </a:ln>
        </p:spPr>
      </p:sp>
      <p:sp>
        <p:nvSpPr>
          <p:cNvPr id="21" name="Text 18"/>
          <p:cNvSpPr/>
          <p:nvPr/>
        </p:nvSpPr>
        <p:spPr>
          <a:xfrm>
            <a:off x="457200" y="3035808"/>
            <a:ext cx="77724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v.21b</a:t>
            </a:r>
            <a:endParaRPr lang="en-US" sz="1100" dirty="0"/>
          </a:p>
        </p:txBody>
      </p:sp>
      <p:sp>
        <p:nvSpPr>
          <p:cNvPr id="22" name="Shape 19"/>
          <p:cNvSpPr/>
          <p:nvPr/>
        </p:nvSpPr>
        <p:spPr>
          <a:xfrm>
            <a:off x="1234440" y="3035808"/>
            <a:ext cx="7452360" cy="566928"/>
          </a:xfrm>
          <a:prstGeom prst="rect">
            <a:avLst/>
          </a:prstGeom>
          <a:solidFill>
            <a:srgbClr val="FFFFFF"/>
          </a:solidFill>
          <a:ln w="9525">
            <a:solidFill>
              <a:srgbClr val="D5DCEA"/>
            </a:solidFill>
            <a:prstDash val="solid"/>
          </a:ln>
        </p:spPr>
      </p:sp>
      <p:sp>
        <p:nvSpPr>
          <p:cNvPr id="23" name="Text 20"/>
          <p:cNvSpPr/>
          <p:nvPr/>
        </p:nvSpPr>
        <p:spPr>
          <a:xfrm>
            <a:off x="1344168" y="3035808"/>
            <a:ext cx="4389120" cy="566928"/>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Hold fast what is good — tested truth is the church’s treasure</a:t>
            </a:r>
            <a:endParaRPr lang="en-US" sz="1150" dirty="0"/>
          </a:p>
        </p:txBody>
      </p:sp>
      <p:sp>
        <p:nvSpPr>
          <p:cNvPr id="24" name="Text 21"/>
          <p:cNvSpPr/>
          <p:nvPr/>
        </p:nvSpPr>
        <p:spPr>
          <a:xfrm>
            <a:off x="5806440" y="3035808"/>
            <a:ext cx="2788920" cy="56692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grip it; don’t let it slip</a:t>
            </a:r>
            <a:endParaRPr lang="en-US" sz="1300" dirty="0"/>
          </a:p>
        </p:txBody>
      </p:sp>
      <p:sp>
        <p:nvSpPr>
          <p:cNvPr id="25" name="Shape 22"/>
          <p:cNvSpPr/>
          <p:nvPr/>
        </p:nvSpPr>
        <p:spPr>
          <a:xfrm>
            <a:off x="457200" y="3675888"/>
            <a:ext cx="777240" cy="566928"/>
          </a:xfrm>
          <a:prstGeom prst="rect">
            <a:avLst/>
          </a:prstGeom>
          <a:solidFill>
            <a:srgbClr val="375623"/>
          </a:solidFill>
          <a:ln w="12700">
            <a:solidFill>
              <a:srgbClr val="375623"/>
            </a:solidFill>
            <a:prstDash val="solid"/>
          </a:ln>
        </p:spPr>
      </p:sp>
      <p:sp>
        <p:nvSpPr>
          <p:cNvPr id="26" name="Text 23"/>
          <p:cNvSpPr/>
          <p:nvPr/>
        </p:nvSpPr>
        <p:spPr>
          <a:xfrm>
            <a:off x="457200" y="3675888"/>
            <a:ext cx="77724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v.22</a:t>
            </a:r>
            <a:endParaRPr lang="en-US" sz="1100" dirty="0"/>
          </a:p>
        </p:txBody>
      </p:sp>
      <p:sp>
        <p:nvSpPr>
          <p:cNvPr id="27" name="Shape 24"/>
          <p:cNvSpPr/>
          <p:nvPr/>
        </p:nvSpPr>
        <p:spPr>
          <a:xfrm>
            <a:off x="1234440" y="3675888"/>
            <a:ext cx="7452360" cy="566928"/>
          </a:xfrm>
          <a:prstGeom prst="rect">
            <a:avLst/>
          </a:prstGeom>
          <a:solidFill>
            <a:srgbClr val="F2F6FC"/>
          </a:solidFill>
          <a:ln w="9525">
            <a:solidFill>
              <a:srgbClr val="D5DCEA"/>
            </a:solidFill>
            <a:prstDash val="solid"/>
          </a:ln>
        </p:spPr>
      </p:sp>
      <p:sp>
        <p:nvSpPr>
          <p:cNvPr id="28" name="Text 25"/>
          <p:cNvSpPr/>
          <p:nvPr/>
        </p:nvSpPr>
        <p:spPr>
          <a:xfrm>
            <a:off x="1344168" y="3675888"/>
            <a:ext cx="4389120" cy="566928"/>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Abstain from every form of evil</a:t>
            </a:r>
            <a:endParaRPr lang="en-US" sz="1150" dirty="0"/>
          </a:p>
        </p:txBody>
      </p:sp>
      <p:sp>
        <p:nvSpPr>
          <p:cNvPr id="29" name="Text 26"/>
          <p:cNvSpPr/>
          <p:nvPr/>
        </p:nvSpPr>
        <p:spPr>
          <a:xfrm>
            <a:off x="5806440" y="3675888"/>
            <a:ext cx="2788920" cy="56692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εἶδος</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every form evil actually takes</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Discuss and apply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5:12–22 · from the study's posted questions and applications</a:t>
            </a:r>
            <a:endParaRPr lang="en-US" sz="1200" dirty="0"/>
          </a:p>
        </p:txBody>
      </p:sp>
      <p:sp>
        <p:nvSpPr>
          <p:cNvPr id="5" name="Shape 2"/>
          <p:cNvSpPr/>
          <p:nvPr/>
        </p:nvSpPr>
        <p:spPr>
          <a:xfrm>
            <a:off x="457200" y="1115568"/>
            <a:ext cx="4023360" cy="384048"/>
          </a:xfrm>
          <a:prstGeom prst="rect">
            <a:avLst/>
          </a:prstGeom>
          <a:solidFill>
            <a:srgbClr val="2E5496"/>
          </a:solidFill>
          <a:ln w="12700">
            <a:solidFill>
              <a:srgbClr val="2E5496"/>
            </a:solidFill>
            <a:prstDash val="solid"/>
          </a:ln>
        </p:spPr>
      </p:sp>
      <p:sp>
        <p:nvSpPr>
          <p:cNvPr id="6" name="Text 3"/>
          <p:cNvSpPr/>
          <p:nvPr/>
        </p:nvSpPr>
        <p:spPr>
          <a:xfrm>
            <a:off x="56692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Discuss</a:t>
            </a:r>
            <a:endParaRPr lang="en-US" sz="1300" dirty="0"/>
          </a:p>
        </p:txBody>
      </p:sp>
      <p:sp>
        <p:nvSpPr>
          <p:cNvPr id="7" name="Shape 4"/>
          <p:cNvSpPr/>
          <p:nvPr/>
        </p:nvSpPr>
        <p:spPr>
          <a:xfrm>
            <a:off x="457200" y="1499616"/>
            <a:ext cx="4023360" cy="2359152"/>
          </a:xfrm>
          <a:prstGeom prst="rect">
            <a:avLst/>
          </a:prstGeom>
          <a:solidFill>
            <a:srgbClr val="F2F6FC"/>
          </a:solidFill>
          <a:ln w="9525">
            <a:solidFill>
              <a:srgbClr val="D5DCEA"/>
            </a:solidFill>
            <a:prstDash val="solid"/>
          </a:ln>
        </p:spPr>
      </p:sp>
      <p:sp>
        <p:nvSpPr>
          <p:cNvPr id="8" name="Shape 5"/>
          <p:cNvSpPr/>
          <p:nvPr/>
        </p:nvSpPr>
        <p:spPr>
          <a:xfrm>
            <a:off x="4663440" y="1115568"/>
            <a:ext cx="4023360" cy="384048"/>
          </a:xfrm>
          <a:prstGeom prst="rect">
            <a:avLst/>
          </a:prstGeom>
          <a:solidFill>
            <a:srgbClr val="375623"/>
          </a:solidFill>
          <a:ln w="12700">
            <a:solidFill>
              <a:srgbClr val="375623"/>
            </a:solidFill>
            <a:prstDash val="solid"/>
          </a:ln>
        </p:spPr>
      </p:sp>
      <p:sp>
        <p:nvSpPr>
          <p:cNvPr id="9" name="Text 6"/>
          <p:cNvSpPr/>
          <p:nvPr/>
        </p:nvSpPr>
        <p:spPr>
          <a:xfrm>
            <a:off x="477316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Apply</a:t>
            </a:r>
            <a:endParaRPr lang="en-US" sz="1300" dirty="0"/>
          </a:p>
        </p:txBody>
      </p:sp>
      <p:sp>
        <p:nvSpPr>
          <p:cNvPr id="10" name="Shape 7"/>
          <p:cNvSpPr/>
          <p:nvPr/>
        </p:nvSpPr>
        <p:spPr>
          <a:xfrm>
            <a:off x="4663440" y="1499616"/>
            <a:ext cx="4023360" cy="2359152"/>
          </a:xfrm>
          <a:prstGeom prst="rect">
            <a:avLst/>
          </a:prstGeom>
          <a:solidFill>
            <a:srgbClr val="F2F6FC"/>
          </a:solidFill>
          <a:ln w="9525">
            <a:solidFill>
              <a:srgbClr val="D5DCEA"/>
            </a:solidFill>
            <a:prstDash val="solid"/>
          </a:ln>
        </p:spPr>
      </p:sp>
      <p:sp>
        <p:nvSpPr>
          <p:cNvPr id="11" name="Shape 8"/>
          <p:cNvSpPr/>
          <p:nvPr/>
        </p:nvSpPr>
        <p:spPr>
          <a:xfrm>
            <a:off x="566928" y="1636776"/>
            <a:ext cx="347472" cy="347472"/>
          </a:xfrm>
          <a:prstGeom prst="ellipse">
            <a:avLst/>
          </a:prstGeom>
          <a:solidFill>
            <a:srgbClr val="2E5496"/>
          </a:solidFill>
          <a:ln w="12700">
            <a:solidFill>
              <a:srgbClr val="2E5496"/>
            </a:solidFill>
            <a:prstDash val="solid"/>
          </a:ln>
        </p:spPr>
      </p:sp>
      <p:sp>
        <p:nvSpPr>
          <p:cNvPr id="12" name="Text 9"/>
          <p:cNvSpPr/>
          <p:nvPr/>
        </p:nvSpPr>
        <p:spPr>
          <a:xfrm>
            <a:off x="566928" y="16367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3" name="Text 10"/>
          <p:cNvSpPr/>
          <p:nvPr/>
        </p:nvSpPr>
        <p:spPr>
          <a:xfrm>
            <a:off x="1005840" y="1591056"/>
            <a:ext cx="3364992" cy="1042416"/>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Verse 14 addresses the disorderly, the fainthearted, the weak and those who are different. What does it tell us about pastoral ministry that one response doesn’t fit all four?</a:t>
            </a:r>
            <a:endParaRPr lang="en-US" sz="1250" dirty="0"/>
          </a:p>
        </p:txBody>
      </p:sp>
      <p:sp>
        <p:nvSpPr>
          <p:cNvPr id="14" name="Shape 11"/>
          <p:cNvSpPr/>
          <p:nvPr/>
        </p:nvSpPr>
        <p:spPr>
          <a:xfrm>
            <a:off x="566928" y="2724912"/>
            <a:ext cx="347472" cy="347472"/>
          </a:xfrm>
          <a:prstGeom prst="ellipse">
            <a:avLst/>
          </a:prstGeom>
          <a:solidFill>
            <a:srgbClr val="2E5496"/>
          </a:solidFill>
          <a:ln w="12700">
            <a:solidFill>
              <a:srgbClr val="2E5496"/>
            </a:solidFill>
            <a:prstDash val="solid"/>
          </a:ln>
        </p:spPr>
      </p:sp>
      <p:sp>
        <p:nvSpPr>
          <p:cNvPr id="15" name="Text 12"/>
          <p:cNvSpPr/>
          <p:nvPr/>
        </p:nvSpPr>
        <p:spPr>
          <a:xfrm>
            <a:off x="566928" y="272491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6" name="Text 13"/>
          <p:cNvSpPr/>
          <p:nvPr/>
        </p:nvSpPr>
        <p:spPr>
          <a:xfrm>
            <a:off x="1005840" y="2679192"/>
            <a:ext cx="3364992" cy="1042416"/>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Paul says rejoicing, praying and giving thanks are “the will of God in Christ Jesus for you.” How does that change how you approach those three things?</a:t>
            </a:r>
            <a:endParaRPr lang="en-US" sz="1250" dirty="0"/>
          </a:p>
        </p:txBody>
      </p:sp>
      <p:sp>
        <p:nvSpPr>
          <p:cNvPr id="17" name="Text 14"/>
          <p:cNvSpPr/>
          <p:nvPr/>
        </p:nvSpPr>
        <p:spPr>
          <a:xfrm>
            <a:off x="4791456" y="1591056"/>
            <a:ext cx="3767328" cy="1042416"/>
          </a:xfrm>
          <a:prstGeom prst="rect">
            <a:avLst/>
          </a:prstGeom>
          <a:noFill/>
          <a:ln/>
        </p:spPr>
        <p:txBody>
          <a:bodyPr wrap="square" lIns="0" tIns="0" rIns="0" bIns="0" rtlCol="0" anchor="t"/>
          <a:lstStyle/>
          <a:p>
            <a:pPr indent="0" marL="0">
              <a:buNone/>
            </a:pPr>
            <a:r>
              <a:rPr lang="en-US" sz="1250" b="1" dirty="0">
                <a:solidFill>
                  <a:srgbClr val="1F3864"/>
                </a:solidFill>
                <a:latin typeface="Arial" pitchFamily="34" charset="0"/>
                <a:ea typeface="Arial" pitchFamily="34" charset="-122"/>
                <a:cs typeface="Arial" pitchFamily="34" charset="-120"/>
              </a:rPr>
              <a:t>Return Good for Evil, Every Time</a:t>
            </a:r>
            <a:endParaRPr lang="en-US" sz="1250" dirty="0"/>
          </a:p>
          <a:p>
            <a:pPr indent="0" marL="0">
              <a:buNone/>
            </a:pPr>
            <a:r>
              <a:rPr lang="en-US" sz="1200" dirty="0">
                <a:solidFill>
                  <a:srgbClr val="262626"/>
                </a:solidFill>
                <a:latin typeface="Arial" pitchFamily="34" charset="0"/>
                <a:ea typeface="Arial" pitchFamily="34" charset="-122"/>
                <a:cs typeface="Arial" pitchFamily="34" charset="-120"/>
              </a:rPr>
              <a:t>Do one specific, unrequested good thing this week for someone who has wronged you — and tell no one.</a:t>
            </a:r>
            <a:endParaRPr lang="en-US" sz="1250" dirty="0"/>
          </a:p>
        </p:txBody>
      </p:sp>
      <p:sp>
        <p:nvSpPr>
          <p:cNvPr id="18" name="Text 15"/>
          <p:cNvSpPr/>
          <p:nvPr/>
        </p:nvSpPr>
        <p:spPr>
          <a:xfrm>
            <a:off x="4791456" y="2679192"/>
            <a:ext cx="3767328" cy="1042416"/>
          </a:xfrm>
          <a:prstGeom prst="rect">
            <a:avLst/>
          </a:prstGeom>
          <a:noFill/>
          <a:ln/>
        </p:spPr>
        <p:txBody>
          <a:bodyPr wrap="square" lIns="0" tIns="0" rIns="0" bIns="0" rtlCol="0" anchor="t"/>
          <a:lstStyle/>
          <a:p>
            <a:pPr indent="0" marL="0">
              <a:buNone/>
            </a:pPr>
            <a:r>
              <a:rPr lang="en-US" sz="1250" b="1" dirty="0">
                <a:solidFill>
                  <a:srgbClr val="1F3864"/>
                </a:solidFill>
                <a:latin typeface="Arial" pitchFamily="34" charset="0"/>
                <a:ea typeface="Arial" pitchFamily="34" charset="-122"/>
                <a:cs typeface="Arial" pitchFamily="34" charset="-120"/>
              </a:rPr>
              <a:t>Rejoice, Pray, Give Thanks</a:t>
            </a:r>
            <a:endParaRPr lang="en-US" sz="1250" dirty="0"/>
          </a:p>
          <a:p>
            <a:pPr indent="0" marL="0">
              <a:buNone/>
            </a:pPr>
            <a:r>
              <a:rPr lang="en-US" sz="1200" dirty="0">
                <a:solidFill>
                  <a:srgbClr val="262626"/>
                </a:solidFill>
                <a:latin typeface="Arial" pitchFamily="34" charset="0"/>
                <a:ea typeface="Arial" pitchFamily="34" charset="-122"/>
                <a:cs typeface="Arial" pitchFamily="34" charset="-120"/>
              </a:rPr>
              <a:t>For seven days: one sentence of rejoicing, one minute of prayer, one expression of thanks each morning.</a:t>
            </a:r>
            <a:endParaRPr lang="en-US" sz="1250" dirty="0"/>
          </a:p>
        </p:txBody>
      </p:sp>
      <p:sp>
        <p:nvSpPr>
          <p:cNvPr id="19" name="Shape 16"/>
          <p:cNvSpPr/>
          <p:nvPr/>
        </p:nvSpPr>
        <p:spPr>
          <a:xfrm>
            <a:off x="457200" y="4023360"/>
            <a:ext cx="8229600" cy="566928"/>
          </a:xfrm>
          <a:prstGeom prst="roundRect">
            <a:avLst>
              <a:gd name="adj" fmla="val 9677"/>
            </a:avLst>
          </a:prstGeom>
          <a:solidFill>
            <a:srgbClr val="1F3864"/>
          </a:solidFill>
          <a:ln w="12700">
            <a:solidFill>
              <a:srgbClr val="1F3864"/>
            </a:solidFill>
            <a:prstDash val="solid"/>
          </a:ln>
        </p:spPr>
      </p:sp>
      <p:sp>
        <p:nvSpPr>
          <p:cNvPr id="20" name="Text 17"/>
          <p:cNvSpPr/>
          <p:nvPr/>
        </p:nvSpPr>
        <p:spPr>
          <a:xfrm>
            <a:off x="621792" y="4023360"/>
            <a:ext cx="7900416" cy="566928"/>
          </a:xfrm>
          <a:prstGeom prst="rect">
            <a:avLst/>
          </a:prstGeom>
          <a:noFill/>
          <a:ln/>
        </p:spPr>
        <p:txBody>
          <a:bodyPr wrap="square" lIns="0" tIns="0" rIns="0" bIns="0" rtlCol="0" anchor="ctr"/>
          <a:lstStyle/>
          <a:p>
            <a:pPr indent="0" marL="0">
              <a:buNone/>
            </a:pPr>
            <a:r>
              <a:rPr lang="en-US" sz="1200" b="1" dirty="0">
                <a:solidFill>
                  <a:srgbClr val="C9D5EE"/>
                </a:solidFill>
                <a:latin typeface="Arial" pitchFamily="34" charset="0"/>
                <a:ea typeface="Arial" pitchFamily="34" charset="-122"/>
                <a:cs typeface="Arial" pitchFamily="34" charset="-120"/>
              </a:rPr>
              <a:t>In one line:  </a:t>
            </a:r>
            <a:pPr indent="0" marL="0">
              <a:buNone/>
            </a:pPr>
            <a:r>
              <a:rPr lang="en-US" sz="1200" dirty="0">
                <a:solidFill>
                  <a:srgbClr val="FFFFFF"/>
                </a:solidFill>
                <a:latin typeface="Arial" pitchFamily="34" charset="0"/>
                <a:ea typeface="Arial" pitchFamily="34" charset="-122"/>
                <a:cs typeface="Arial" pitchFamily="34" charset="-120"/>
              </a:rPr>
              <a:t>While we wait, we still live here: honor your leaders, care wisely for one another, return good for evil, and live God’s stated will.</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nchor="ctr"/>
          <a:lstStyle/>
          <a:p>
            <a:pPr indent="0" marL="0">
              <a:buNone/>
            </a:pPr>
            <a:r>
              <a:rPr lang="en-US" sz="1400" dirty="0">
                <a:solidFill>
                  <a:srgbClr val="C9D5EE"/>
                </a:solidFill>
                <a:latin typeface="Arial" pitchFamily="34" charset="0"/>
                <a:ea typeface="Arial" pitchFamily="34" charset="-122"/>
                <a:cs typeface="Arial" pitchFamily="34" charset="-120"/>
              </a:rPr>
              <a:t>Study 10 of 10 · 1 Thessalonians 5:23–28</a:t>
            </a: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lIns="0" tIns="0" rIns="0" bIns="0" rtlCol="0" anchor="ctr"/>
          <a:lstStyle/>
          <a:p>
            <a:pPr algn="l" indent="0" marL="0">
              <a:buNone/>
            </a:pPr>
            <a:r>
              <a:rPr lang="en-US" sz="3400" b="1" dirty="0">
                <a:solidFill>
                  <a:srgbClr val="FFFFFF"/>
                </a:solidFill>
                <a:latin typeface="Arial" pitchFamily="34" charset="0"/>
                <a:ea typeface="Arial" pitchFamily="34" charset="-122"/>
                <a:cs typeface="Arial" pitchFamily="34" charset="-120"/>
              </a:rPr>
              <a:t>’Til We Meet Again</a:t>
            </a: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lIns="0" tIns="0" rIns="0" bIns="0" rtlCol="0" anchor="ctr"/>
          <a:lstStyle/>
          <a:p>
            <a:pPr indent="0" marL="0">
              <a:buNone/>
            </a:pPr>
            <a:r>
              <a:rPr lang="en-US" sz="1500" i="1" dirty="0">
                <a:solidFill>
                  <a:srgbClr val="E6ECF7"/>
                </a:solidFill>
                <a:latin typeface="Arial" pitchFamily="34" charset="0"/>
                <a:ea typeface="Arial" pitchFamily="34" charset="-122"/>
                <a:cs typeface="Arial" pitchFamily="34" charset="-120"/>
              </a:rPr>
              <a:t>Paul’s farewell is not merely a closing — it is a benediction, a commission, and a promise: the God who called you is faithful, and He will finish what He started in you.</a:t>
            </a:r>
            <a:endParaRPr lang="en-US" sz="15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Six parting words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5:23–28 · Outline I–VI</a:t>
            </a:r>
            <a:endParaRPr lang="en-US" sz="1200" dirty="0"/>
          </a:p>
        </p:txBody>
      </p:sp>
      <p:sp>
        <p:nvSpPr>
          <p:cNvPr id="5" name="Shape 2"/>
          <p:cNvSpPr/>
          <p:nvPr/>
        </p:nvSpPr>
        <p:spPr>
          <a:xfrm>
            <a:off x="457200" y="1188720"/>
            <a:ext cx="2615184" cy="1572768"/>
          </a:xfrm>
          <a:prstGeom prst="rect">
            <a:avLst/>
          </a:prstGeom>
          <a:solidFill>
            <a:srgbClr val="F2F6FC"/>
          </a:solidFill>
          <a:ln w="9525">
            <a:solidFill>
              <a:srgbClr val="D5DCEA"/>
            </a:solidFill>
            <a:prstDash val="solid"/>
          </a:ln>
        </p:spPr>
      </p:sp>
      <p:sp>
        <p:nvSpPr>
          <p:cNvPr id="6" name="Shape 3"/>
          <p:cNvSpPr/>
          <p:nvPr/>
        </p:nvSpPr>
        <p:spPr>
          <a:xfrm>
            <a:off x="594360" y="1325880"/>
            <a:ext cx="420624" cy="420624"/>
          </a:xfrm>
          <a:prstGeom prst="ellipse">
            <a:avLst/>
          </a:prstGeom>
          <a:solidFill>
            <a:srgbClr val="2E5496"/>
          </a:solidFill>
          <a:ln w="12700">
            <a:solidFill>
              <a:srgbClr val="2E5496"/>
            </a:solidFill>
            <a:prstDash val="solid"/>
          </a:ln>
        </p:spPr>
      </p:sp>
      <p:sp>
        <p:nvSpPr>
          <p:cNvPr id="7" name="Text 4"/>
          <p:cNvSpPr/>
          <p:nvPr/>
        </p:nvSpPr>
        <p:spPr>
          <a:xfrm>
            <a:off x="594360" y="13258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8" name="Text 5"/>
          <p:cNvSpPr/>
          <p:nvPr/>
        </p:nvSpPr>
        <p:spPr>
          <a:xfrm>
            <a:off x="1115568" y="132588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Mediation · v.23</a:t>
            </a:r>
            <a:endParaRPr lang="en-US" sz="1200" dirty="0"/>
          </a:p>
        </p:txBody>
      </p:sp>
      <p:sp>
        <p:nvSpPr>
          <p:cNvPr id="9" name="Text 6"/>
          <p:cNvSpPr/>
          <p:nvPr/>
        </p:nvSpPr>
        <p:spPr>
          <a:xfrm>
            <a:off x="594360" y="182880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“May the God of peace Himself sanctify you completely”</a:t>
            </a:r>
            <a:endParaRPr lang="en-US" sz="1200" dirty="0"/>
          </a:p>
        </p:txBody>
      </p:sp>
      <p:sp>
        <p:nvSpPr>
          <p:cNvPr id="10" name="Shape 7"/>
          <p:cNvSpPr/>
          <p:nvPr/>
        </p:nvSpPr>
        <p:spPr>
          <a:xfrm>
            <a:off x="3264408" y="1188720"/>
            <a:ext cx="2615184" cy="1572768"/>
          </a:xfrm>
          <a:prstGeom prst="rect">
            <a:avLst/>
          </a:prstGeom>
          <a:solidFill>
            <a:srgbClr val="F2F6FC"/>
          </a:solidFill>
          <a:ln w="9525">
            <a:solidFill>
              <a:srgbClr val="D5DCEA"/>
            </a:solidFill>
            <a:prstDash val="solid"/>
          </a:ln>
        </p:spPr>
      </p:sp>
      <p:sp>
        <p:nvSpPr>
          <p:cNvPr id="11" name="Shape 8"/>
          <p:cNvSpPr/>
          <p:nvPr/>
        </p:nvSpPr>
        <p:spPr>
          <a:xfrm>
            <a:off x="3401568" y="1325880"/>
            <a:ext cx="420624" cy="420624"/>
          </a:xfrm>
          <a:prstGeom prst="ellipse">
            <a:avLst/>
          </a:prstGeom>
          <a:solidFill>
            <a:srgbClr val="2E5496"/>
          </a:solidFill>
          <a:ln w="12700">
            <a:solidFill>
              <a:srgbClr val="2E5496"/>
            </a:solidFill>
            <a:prstDash val="solid"/>
          </a:ln>
        </p:spPr>
      </p:sp>
      <p:sp>
        <p:nvSpPr>
          <p:cNvPr id="12" name="Text 9"/>
          <p:cNvSpPr/>
          <p:nvPr/>
        </p:nvSpPr>
        <p:spPr>
          <a:xfrm>
            <a:off x="3401568" y="13258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3" name="Text 10"/>
          <p:cNvSpPr/>
          <p:nvPr/>
        </p:nvSpPr>
        <p:spPr>
          <a:xfrm>
            <a:off x="3922776" y="132588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Declaration · v.24</a:t>
            </a:r>
            <a:endParaRPr lang="en-US" sz="1200" dirty="0"/>
          </a:p>
        </p:txBody>
      </p:sp>
      <p:sp>
        <p:nvSpPr>
          <p:cNvPr id="14" name="Text 11"/>
          <p:cNvSpPr/>
          <p:nvPr/>
        </p:nvSpPr>
        <p:spPr>
          <a:xfrm>
            <a:off x="3401568" y="182880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“He who calls you is faithful, who also will do it”</a:t>
            </a:r>
            <a:endParaRPr lang="en-US" sz="1200" dirty="0"/>
          </a:p>
        </p:txBody>
      </p:sp>
      <p:sp>
        <p:nvSpPr>
          <p:cNvPr id="15" name="Shape 12"/>
          <p:cNvSpPr/>
          <p:nvPr/>
        </p:nvSpPr>
        <p:spPr>
          <a:xfrm>
            <a:off x="6071616" y="1188720"/>
            <a:ext cx="2615184" cy="1572768"/>
          </a:xfrm>
          <a:prstGeom prst="rect">
            <a:avLst/>
          </a:prstGeom>
          <a:solidFill>
            <a:srgbClr val="F2F6FC"/>
          </a:solidFill>
          <a:ln w="9525">
            <a:solidFill>
              <a:srgbClr val="D5DCEA"/>
            </a:solidFill>
            <a:prstDash val="solid"/>
          </a:ln>
        </p:spPr>
      </p:sp>
      <p:sp>
        <p:nvSpPr>
          <p:cNvPr id="16" name="Shape 13"/>
          <p:cNvSpPr/>
          <p:nvPr/>
        </p:nvSpPr>
        <p:spPr>
          <a:xfrm>
            <a:off x="6208776" y="1325880"/>
            <a:ext cx="420624" cy="420624"/>
          </a:xfrm>
          <a:prstGeom prst="ellipse">
            <a:avLst/>
          </a:prstGeom>
          <a:solidFill>
            <a:srgbClr val="2E5496"/>
          </a:solidFill>
          <a:ln w="12700">
            <a:solidFill>
              <a:srgbClr val="2E5496"/>
            </a:solidFill>
            <a:prstDash val="solid"/>
          </a:ln>
        </p:spPr>
      </p:sp>
      <p:sp>
        <p:nvSpPr>
          <p:cNvPr id="17" name="Text 14"/>
          <p:cNvSpPr/>
          <p:nvPr/>
        </p:nvSpPr>
        <p:spPr>
          <a:xfrm>
            <a:off x="6208776" y="13258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a:t>
            </a:r>
            <a:endParaRPr lang="en-US" sz="1300" dirty="0"/>
          </a:p>
        </p:txBody>
      </p:sp>
      <p:sp>
        <p:nvSpPr>
          <p:cNvPr id="18" name="Text 15"/>
          <p:cNvSpPr/>
          <p:nvPr/>
        </p:nvSpPr>
        <p:spPr>
          <a:xfrm>
            <a:off x="6729984" y="132588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Application · v.25</a:t>
            </a:r>
            <a:endParaRPr lang="en-US" sz="1200" dirty="0"/>
          </a:p>
        </p:txBody>
      </p:sp>
      <p:sp>
        <p:nvSpPr>
          <p:cNvPr id="19" name="Text 16"/>
          <p:cNvSpPr/>
          <p:nvPr/>
        </p:nvSpPr>
        <p:spPr>
          <a:xfrm>
            <a:off x="6208776" y="182880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“Brethren, pray for us” — three words</a:t>
            </a:r>
            <a:endParaRPr lang="en-US" sz="1200" dirty="0"/>
          </a:p>
        </p:txBody>
      </p:sp>
      <p:sp>
        <p:nvSpPr>
          <p:cNvPr id="20" name="Shape 17"/>
          <p:cNvSpPr/>
          <p:nvPr/>
        </p:nvSpPr>
        <p:spPr>
          <a:xfrm>
            <a:off x="457200" y="2926080"/>
            <a:ext cx="2615184" cy="1572768"/>
          </a:xfrm>
          <a:prstGeom prst="rect">
            <a:avLst/>
          </a:prstGeom>
          <a:solidFill>
            <a:srgbClr val="F2F6FC"/>
          </a:solidFill>
          <a:ln w="9525">
            <a:solidFill>
              <a:srgbClr val="D5DCEA"/>
            </a:solidFill>
            <a:prstDash val="solid"/>
          </a:ln>
        </p:spPr>
      </p:sp>
      <p:sp>
        <p:nvSpPr>
          <p:cNvPr id="21" name="Shape 18"/>
          <p:cNvSpPr/>
          <p:nvPr/>
        </p:nvSpPr>
        <p:spPr>
          <a:xfrm>
            <a:off x="594360" y="3063240"/>
            <a:ext cx="420624" cy="420624"/>
          </a:xfrm>
          <a:prstGeom prst="ellipse">
            <a:avLst/>
          </a:prstGeom>
          <a:solidFill>
            <a:srgbClr val="2E5496"/>
          </a:solidFill>
          <a:ln w="12700">
            <a:solidFill>
              <a:srgbClr val="2E5496"/>
            </a:solidFill>
            <a:prstDash val="solid"/>
          </a:ln>
        </p:spPr>
      </p:sp>
      <p:sp>
        <p:nvSpPr>
          <p:cNvPr id="22" name="Text 19"/>
          <p:cNvSpPr/>
          <p:nvPr/>
        </p:nvSpPr>
        <p:spPr>
          <a:xfrm>
            <a:off x="594360" y="306324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D</a:t>
            </a:r>
            <a:endParaRPr lang="en-US" sz="1300" dirty="0"/>
          </a:p>
        </p:txBody>
      </p:sp>
      <p:sp>
        <p:nvSpPr>
          <p:cNvPr id="23" name="Text 20"/>
          <p:cNvSpPr/>
          <p:nvPr/>
        </p:nvSpPr>
        <p:spPr>
          <a:xfrm>
            <a:off x="1115568" y="306324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Reception · v.26</a:t>
            </a:r>
            <a:endParaRPr lang="en-US" sz="1200" dirty="0"/>
          </a:p>
        </p:txBody>
      </p:sp>
      <p:sp>
        <p:nvSpPr>
          <p:cNvPr id="24" name="Text 21"/>
          <p:cNvSpPr/>
          <p:nvPr/>
        </p:nvSpPr>
        <p:spPr>
          <a:xfrm>
            <a:off x="594360" y="356616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A holy greeting — nobody leaves unrecognized</a:t>
            </a:r>
            <a:endParaRPr lang="en-US" sz="1200" dirty="0"/>
          </a:p>
        </p:txBody>
      </p:sp>
      <p:sp>
        <p:nvSpPr>
          <p:cNvPr id="25" name="Shape 22"/>
          <p:cNvSpPr/>
          <p:nvPr/>
        </p:nvSpPr>
        <p:spPr>
          <a:xfrm>
            <a:off x="3264408" y="2926080"/>
            <a:ext cx="2615184" cy="1572768"/>
          </a:xfrm>
          <a:prstGeom prst="rect">
            <a:avLst/>
          </a:prstGeom>
          <a:solidFill>
            <a:srgbClr val="F2F6FC"/>
          </a:solidFill>
          <a:ln w="9525">
            <a:solidFill>
              <a:srgbClr val="D5DCEA"/>
            </a:solidFill>
            <a:prstDash val="solid"/>
          </a:ln>
        </p:spPr>
      </p:sp>
      <p:sp>
        <p:nvSpPr>
          <p:cNvPr id="26" name="Shape 23"/>
          <p:cNvSpPr/>
          <p:nvPr/>
        </p:nvSpPr>
        <p:spPr>
          <a:xfrm>
            <a:off x="3401568" y="3063240"/>
            <a:ext cx="420624" cy="420624"/>
          </a:xfrm>
          <a:prstGeom prst="ellipse">
            <a:avLst/>
          </a:prstGeom>
          <a:solidFill>
            <a:srgbClr val="2E5496"/>
          </a:solidFill>
          <a:ln w="12700">
            <a:solidFill>
              <a:srgbClr val="2E5496"/>
            </a:solidFill>
            <a:prstDash val="solid"/>
          </a:ln>
        </p:spPr>
      </p:sp>
      <p:sp>
        <p:nvSpPr>
          <p:cNvPr id="27" name="Text 24"/>
          <p:cNvSpPr/>
          <p:nvPr/>
        </p:nvSpPr>
        <p:spPr>
          <a:xfrm>
            <a:off x="3401568" y="306324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E</a:t>
            </a:r>
            <a:endParaRPr lang="en-US" sz="1300" dirty="0"/>
          </a:p>
        </p:txBody>
      </p:sp>
      <p:sp>
        <p:nvSpPr>
          <p:cNvPr id="28" name="Text 25"/>
          <p:cNvSpPr/>
          <p:nvPr/>
        </p:nvSpPr>
        <p:spPr>
          <a:xfrm>
            <a:off x="3922776" y="306324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Exhortation · v.27</a:t>
            </a:r>
            <a:endParaRPr lang="en-US" sz="1200" dirty="0"/>
          </a:p>
        </p:txBody>
      </p:sp>
      <p:sp>
        <p:nvSpPr>
          <p:cNvPr id="29" name="Text 26"/>
          <p:cNvSpPr/>
          <p:nvPr/>
        </p:nvSpPr>
        <p:spPr>
          <a:xfrm>
            <a:off x="3401568" y="356616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Read to all — the Word must reach everyone (ἐνορκίζω)</a:t>
            </a:r>
            <a:endParaRPr lang="en-US" sz="1200" dirty="0"/>
          </a:p>
        </p:txBody>
      </p:sp>
      <p:sp>
        <p:nvSpPr>
          <p:cNvPr id="30" name="Shape 27"/>
          <p:cNvSpPr/>
          <p:nvPr/>
        </p:nvSpPr>
        <p:spPr>
          <a:xfrm>
            <a:off x="6071616" y="2926080"/>
            <a:ext cx="2615184" cy="1572768"/>
          </a:xfrm>
          <a:prstGeom prst="rect">
            <a:avLst/>
          </a:prstGeom>
          <a:solidFill>
            <a:srgbClr val="F2F6FC"/>
          </a:solidFill>
          <a:ln w="9525">
            <a:solidFill>
              <a:srgbClr val="D5DCEA"/>
            </a:solidFill>
            <a:prstDash val="solid"/>
          </a:ln>
        </p:spPr>
      </p:sp>
      <p:sp>
        <p:nvSpPr>
          <p:cNvPr id="31" name="Shape 28"/>
          <p:cNvSpPr/>
          <p:nvPr/>
        </p:nvSpPr>
        <p:spPr>
          <a:xfrm>
            <a:off x="6208776" y="3063240"/>
            <a:ext cx="420624" cy="420624"/>
          </a:xfrm>
          <a:prstGeom prst="ellipse">
            <a:avLst/>
          </a:prstGeom>
          <a:solidFill>
            <a:srgbClr val="375623"/>
          </a:solidFill>
          <a:ln w="12700">
            <a:solidFill>
              <a:srgbClr val="375623"/>
            </a:solidFill>
            <a:prstDash val="solid"/>
          </a:ln>
        </p:spPr>
      </p:sp>
      <p:sp>
        <p:nvSpPr>
          <p:cNvPr id="32" name="Text 29"/>
          <p:cNvSpPr/>
          <p:nvPr/>
        </p:nvSpPr>
        <p:spPr>
          <a:xfrm>
            <a:off x="6208776" y="306324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F</a:t>
            </a:r>
            <a:endParaRPr lang="en-US" sz="1300" dirty="0"/>
          </a:p>
        </p:txBody>
      </p:sp>
      <p:sp>
        <p:nvSpPr>
          <p:cNvPr id="33" name="Text 30"/>
          <p:cNvSpPr/>
          <p:nvPr/>
        </p:nvSpPr>
        <p:spPr>
          <a:xfrm>
            <a:off x="6729984" y="306324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Benediction · v.28</a:t>
            </a:r>
            <a:endParaRPr lang="en-US" sz="1200" dirty="0"/>
          </a:p>
        </p:txBody>
      </p:sp>
      <p:sp>
        <p:nvSpPr>
          <p:cNvPr id="34" name="Text 31"/>
          <p:cNvSpPr/>
          <p:nvPr/>
        </p:nvSpPr>
        <p:spPr>
          <a:xfrm>
            <a:off x="6208776" y="356616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“The grace of our Lord Jesus Christ be with you”</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Three aspects of sanctification</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5:23 · I.A–C — from 1 John 3:2–3</a:t>
            </a:r>
            <a:endParaRPr lang="en-US" sz="1200" dirty="0"/>
          </a:p>
        </p:txBody>
      </p:sp>
      <p:sp>
        <p:nvSpPr>
          <p:cNvPr id="5" name="Shape 2"/>
          <p:cNvSpPr/>
          <p:nvPr/>
        </p:nvSpPr>
        <p:spPr>
          <a:xfrm>
            <a:off x="457200" y="1188720"/>
            <a:ext cx="2602992" cy="2057400"/>
          </a:xfrm>
          <a:prstGeom prst="roundRect">
            <a:avLst>
              <a:gd name="adj" fmla="val 2667"/>
            </a:avLst>
          </a:prstGeom>
          <a:solidFill>
            <a:srgbClr val="F2F6FC"/>
          </a:solidFill>
          <a:ln w="9525">
            <a:solidFill>
              <a:srgbClr val="D5DCEA"/>
            </a:solidFill>
            <a:prstDash val="solid"/>
          </a:ln>
        </p:spPr>
      </p:sp>
      <p:sp>
        <p:nvSpPr>
          <p:cNvPr id="6" name="Shape 3"/>
          <p:cNvSpPr/>
          <p:nvPr/>
        </p:nvSpPr>
        <p:spPr>
          <a:xfrm>
            <a:off x="1557528" y="1298448"/>
            <a:ext cx="402336" cy="402336"/>
          </a:xfrm>
          <a:prstGeom prst="ellipse">
            <a:avLst/>
          </a:prstGeom>
          <a:solidFill>
            <a:srgbClr val="2E5496"/>
          </a:solidFill>
          <a:ln w="12700">
            <a:solidFill>
              <a:srgbClr val="2E5496"/>
            </a:solidFill>
            <a:prstDash val="solid"/>
          </a:ln>
        </p:spPr>
      </p:sp>
      <p:sp>
        <p:nvSpPr>
          <p:cNvPr id="7" name="Text 4"/>
          <p:cNvSpPr/>
          <p:nvPr/>
        </p:nvSpPr>
        <p:spPr>
          <a:xfrm>
            <a:off x="1557528"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8" name="Text 5"/>
          <p:cNvSpPr/>
          <p:nvPr/>
        </p:nvSpPr>
        <p:spPr>
          <a:xfrm>
            <a:off x="530352" y="1773936"/>
            <a:ext cx="2456688"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Our past</a:t>
            </a:r>
            <a:endParaRPr lang="en-US" sz="1150" dirty="0"/>
          </a:p>
        </p:txBody>
      </p:sp>
      <p:sp>
        <p:nvSpPr>
          <p:cNvPr id="9" name="Text 6"/>
          <p:cNvSpPr/>
          <p:nvPr/>
        </p:nvSpPr>
        <p:spPr>
          <a:xfrm>
            <a:off x="530352" y="2157984"/>
            <a:ext cx="2456688" cy="70408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“Now we are children of God” — positional, permanent</a:t>
            </a:r>
            <a:endParaRPr lang="en-US" sz="1150" dirty="0"/>
          </a:p>
        </p:txBody>
      </p:sp>
      <p:sp>
        <p:nvSpPr>
          <p:cNvPr id="10" name="Text 7"/>
          <p:cNvSpPr/>
          <p:nvPr/>
        </p:nvSpPr>
        <p:spPr>
          <a:xfrm>
            <a:off x="530352" y="2862072"/>
            <a:ext cx="2456688"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1 John 3:2a</a:t>
            </a:r>
            <a:endParaRPr lang="en-US" sz="900" dirty="0"/>
          </a:p>
        </p:txBody>
      </p:sp>
      <p:sp>
        <p:nvSpPr>
          <p:cNvPr id="11" name="Shape 8"/>
          <p:cNvSpPr/>
          <p:nvPr/>
        </p:nvSpPr>
        <p:spPr>
          <a:xfrm>
            <a:off x="3064764" y="2098548"/>
            <a:ext cx="201168" cy="237744"/>
          </a:xfrm>
          <a:prstGeom prst="rightArrow">
            <a:avLst/>
          </a:prstGeom>
          <a:solidFill>
            <a:srgbClr val="6B7280"/>
          </a:solidFill>
          <a:ln w="12700">
            <a:solidFill>
              <a:srgbClr val="6B7280"/>
            </a:solidFill>
            <a:prstDash val="solid"/>
          </a:ln>
        </p:spPr>
      </p:sp>
      <p:sp>
        <p:nvSpPr>
          <p:cNvPr id="12" name="Shape 9"/>
          <p:cNvSpPr/>
          <p:nvPr/>
        </p:nvSpPr>
        <p:spPr>
          <a:xfrm>
            <a:off x="3270504" y="1188720"/>
            <a:ext cx="2602992" cy="2057400"/>
          </a:xfrm>
          <a:prstGeom prst="roundRect">
            <a:avLst>
              <a:gd name="adj" fmla="val 2667"/>
            </a:avLst>
          </a:prstGeom>
          <a:solidFill>
            <a:srgbClr val="F2F6FC"/>
          </a:solidFill>
          <a:ln w="9525">
            <a:solidFill>
              <a:srgbClr val="D5DCEA"/>
            </a:solidFill>
            <a:prstDash val="solid"/>
          </a:ln>
        </p:spPr>
      </p:sp>
      <p:sp>
        <p:nvSpPr>
          <p:cNvPr id="13" name="Shape 10"/>
          <p:cNvSpPr/>
          <p:nvPr/>
        </p:nvSpPr>
        <p:spPr>
          <a:xfrm>
            <a:off x="4370832" y="1298448"/>
            <a:ext cx="402336" cy="402336"/>
          </a:xfrm>
          <a:prstGeom prst="ellipse">
            <a:avLst/>
          </a:prstGeom>
          <a:solidFill>
            <a:srgbClr val="2E5496"/>
          </a:solidFill>
          <a:ln w="12700">
            <a:solidFill>
              <a:srgbClr val="2E5496"/>
            </a:solidFill>
            <a:prstDash val="solid"/>
          </a:ln>
        </p:spPr>
      </p:sp>
      <p:sp>
        <p:nvSpPr>
          <p:cNvPr id="14" name="Text 11"/>
          <p:cNvSpPr/>
          <p:nvPr/>
        </p:nvSpPr>
        <p:spPr>
          <a:xfrm>
            <a:off x="4370832"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5" name="Text 12"/>
          <p:cNvSpPr/>
          <p:nvPr/>
        </p:nvSpPr>
        <p:spPr>
          <a:xfrm>
            <a:off x="3343656" y="1773936"/>
            <a:ext cx="2456688"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Our promised</a:t>
            </a:r>
            <a:endParaRPr lang="en-US" sz="1150" dirty="0"/>
          </a:p>
        </p:txBody>
      </p:sp>
      <p:sp>
        <p:nvSpPr>
          <p:cNvPr id="16" name="Text 13"/>
          <p:cNvSpPr/>
          <p:nvPr/>
        </p:nvSpPr>
        <p:spPr>
          <a:xfrm>
            <a:off x="3343656" y="2157984"/>
            <a:ext cx="2456688" cy="70408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“We shall be like Him, for we shall see Him as He is”</a:t>
            </a:r>
            <a:endParaRPr lang="en-US" sz="1150" dirty="0"/>
          </a:p>
        </p:txBody>
      </p:sp>
      <p:sp>
        <p:nvSpPr>
          <p:cNvPr id="17" name="Text 14"/>
          <p:cNvSpPr/>
          <p:nvPr/>
        </p:nvSpPr>
        <p:spPr>
          <a:xfrm>
            <a:off x="3343656" y="2862072"/>
            <a:ext cx="2456688"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1 John 3:2b</a:t>
            </a:r>
            <a:endParaRPr lang="en-US" sz="900" dirty="0"/>
          </a:p>
        </p:txBody>
      </p:sp>
      <p:sp>
        <p:nvSpPr>
          <p:cNvPr id="18" name="Shape 15"/>
          <p:cNvSpPr/>
          <p:nvPr/>
        </p:nvSpPr>
        <p:spPr>
          <a:xfrm>
            <a:off x="5878068" y="2098548"/>
            <a:ext cx="201168" cy="237744"/>
          </a:xfrm>
          <a:prstGeom prst="rightArrow">
            <a:avLst/>
          </a:prstGeom>
          <a:solidFill>
            <a:srgbClr val="6B7280"/>
          </a:solidFill>
          <a:ln w="12700">
            <a:solidFill>
              <a:srgbClr val="6B7280"/>
            </a:solidFill>
            <a:prstDash val="solid"/>
          </a:ln>
        </p:spPr>
      </p:sp>
      <p:sp>
        <p:nvSpPr>
          <p:cNvPr id="19" name="Shape 16"/>
          <p:cNvSpPr/>
          <p:nvPr/>
        </p:nvSpPr>
        <p:spPr>
          <a:xfrm>
            <a:off x="6083808" y="1188720"/>
            <a:ext cx="2602992" cy="2057400"/>
          </a:xfrm>
          <a:prstGeom prst="roundRect">
            <a:avLst>
              <a:gd name="adj" fmla="val 2667"/>
            </a:avLst>
          </a:prstGeom>
          <a:solidFill>
            <a:srgbClr val="1F3864"/>
          </a:solidFill>
          <a:ln w="9525">
            <a:solidFill>
              <a:srgbClr val="1F3864"/>
            </a:solidFill>
            <a:prstDash val="solid"/>
          </a:ln>
        </p:spPr>
      </p:sp>
      <p:sp>
        <p:nvSpPr>
          <p:cNvPr id="20" name="Shape 17"/>
          <p:cNvSpPr/>
          <p:nvPr/>
        </p:nvSpPr>
        <p:spPr>
          <a:xfrm>
            <a:off x="7184136" y="1298448"/>
            <a:ext cx="402336" cy="402336"/>
          </a:xfrm>
          <a:prstGeom prst="ellipse">
            <a:avLst/>
          </a:prstGeom>
          <a:solidFill>
            <a:srgbClr val="FFFFFF"/>
          </a:solidFill>
          <a:ln w="12700">
            <a:solidFill>
              <a:srgbClr val="FFFFFF"/>
            </a:solidFill>
            <a:prstDash val="solid"/>
          </a:ln>
        </p:spPr>
      </p:sp>
      <p:sp>
        <p:nvSpPr>
          <p:cNvPr id="21" name="Text 18"/>
          <p:cNvSpPr/>
          <p:nvPr/>
        </p:nvSpPr>
        <p:spPr>
          <a:xfrm>
            <a:off x="7184136" y="1298448"/>
            <a:ext cx="402336" cy="402336"/>
          </a:xfrm>
          <a:prstGeom prst="rect">
            <a:avLst/>
          </a:prstGeom>
          <a:noFill/>
          <a:ln/>
        </p:spPr>
        <p:txBody>
          <a:bodyPr wrap="square" lIns="0" tIns="0" rIns="0" bIns="0" rtlCol="0" anchor="ctr"/>
          <a:lstStyle/>
          <a:p>
            <a:pPr algn="ctr" indent="0" marL="0">
              <a:buNone/>
            </a:pPr>
            <a:r>
              <a:rPr lang="en-US" sz="1300" b="1" dirty="0">
                <a:solidFill>
                  <a:srgbClr val="1F3864"/>
                </a:solidFill>
                <a:latin typeface="Arial" pitchFamily="34" charset="0"/>
                <a:ea typeface="Arial" pitchFamily="34" charset="-122"/>
                <a:cs typeface="Arial" pitchFamily="34" charset="-120"/>
              </a:rPr>
              <a:t>C</a:t>
            </a:r>
            <a:endParaRPr lang="en-US" sz="1300" dirty="0"/>
          </a:p>
        </p:txBody>
      </p:sp>
      <p:sp>
        <p:nvSpPr>
          <p:cNvPr id="22" name="Text 19"/>
          <p:cNvSpPr/>
          <p:nvPr/>
        </p:nvSpPr>
        <p:spPr>
          <a:xfrm>
            <a:off x="6156960" y="1773936"/>
            <a:ext cx="2456688"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Our present</a:t>
            </a:r>
            <a:endParaRPr lang="en-US" sz="1150" dirty="0"/>
          </a:p>
        </p:txBody>
      </p:sp>
      <p:sp>
        <p:nvSpPr>
          <p:cNvPr id="23" name="Text 20"/>
          <p:cNvSpPr/>
          <p:nvPr/>
        </p:nvSpPr>
        <p:spPr>
          <a:xfrm>
            <a:off x="6156960" y="2157984"/>
            <a:ext cx="2456688" cy="704088"/>
          </a:xfrm>
          <a:prstGeom prst="rect">
            <a:avLst/>
          </a:prstGeom>
          <a:noFill/>
          <a:ln/>
        </p:spPr>
        <p:txBody>
          <a:bodyPr wrap="square" lIns="0" tIns="0" rIns="0" bIns="0" rtlCol="0" anchor="t"/>
          <a:lstStyle/>
          <a:p>
            <a:pPr algn="ctr" indent="0" marL="0">
              <a:buNone/>
            </a:pPr>
            <a:r>
              <a:rPr lang="en-US" sz="1150" dirty="0">
                <a:solidFill>
                  <a:srgbClr val="FFFFFF"/>
                </a:solidFill>
                <a:latin typeface="Arial" pitchFamily="34" charset="0"/>
                <a:ea typeface="Arial" pitchFamily="34" charset="-122"/>
                <a:cs typeface="Arial" pitchFamily="34" charset="-120"/>
              </a:rPr>
              <a:t>“Everyone who has this hope … purifies himself”</a:t>
            </a:r>
            <a:endParaRPr lang="en-US" sz="1150" dirty="0"/>
          </a:p>
        </p:txBody>
      </p:sp>
      <p:sp>
        <p:nvSpPr>
          <p:cNvPr id="24" name="Text 21"/>
          <p:cNvSpPr/>
          <p:nvPr/>
        </p:nvSpPr>
        <p:spPr>
          <a:xfrm>
            <a:off x="6156960" y="2862072"/>
            <a:ext cx="2456688" cy="329184"/>
          </a:xfrm>
          <a:prstGeom prst="rect">
            <a:avLst/>
          </a:prstGeom>
          <a:noFill/>
          <a:ln/>
        </p:spPr>
        <p:txBody>
          <a:bodyPr wrap="square" lIns="0" tIns="0" rIns="0" bIns="0" rtlCol="0" anchor="b"/>
          <a:lstStyle/>
          <a:p>
            <a:pPr algn="ctr" indent="0" marL="0">
              <a:buNone/>
            </a:pPr>
            <a:r>
              <a:rPr lang="en-US" sz="900" i="1" dirty="0">
                <a:solidFill>
                  <a:srgbClr val="DCE4F2"/>
                </a:solidFill>
                <a:latin typeface="Arial" pitchFamily="34" charset="0"/>
                <a:ea typeface="Arial" pitchFamily="34" charset="-122"/>
                <a:cs typeface="Arial" pitchFamily="34" charset="-120"/>
              </a:rPr>
              <a:t>1 John 3:3 · Paul’s emphasis</a:t>
            </a:r>
            <a:endParaRPr lang="en-US" sz="900" dirty="0"/>
          </a:p>
        </p:txBody>
      </p:sp>
      <p:sp>
        <p:nvSpPr>
          <p:cNvPr id="25" name="Shape 22"/>
          <p:cNvSpPr/>
          <p:nvPr/>
        </p:nvSpPr>
        <p:spPr>
          <a:xfrm>
            <a:off x="457200" y="3429000"/>
            <a:ext cx="8229600" cy="548640"/>
          </a:xfrm>
          <a:prstGeom prst="roundRect">
            <a:avLst>
              <a:gd name="adj" fmla="val 10000"/>
            </a:avLst>
          </a:prstGeom>
          <a:solidFill>
            <a:srgbClr val="1F3864"/>
          </a:solidFill>
          <a:ln w="12700">
            <a:solidFill>
              <a:srgbClr val="1F3864"/>
            </a:solidFill>
            <a:prstDash val="solid"/>
          </a:ln>
        </p:spPr>
      </p:sp>
      <p:sp>
        <p:nvSpPr>
          <p:cNvPr id="26" name="Text 23"/>
          <p:cNvSpPr/>
          <p:nvPr/>
        </p:nvSpPr>
        <p:spPr>
          <a:xfrm>
            <a:off x="621792" y="3429000"/>
            <a:ext cx="7900416" cy="548640"/>
          </a:xfrm>
          <a:prstGeom prst="rect">
            <a:avLst/>
          </a:prstGeom>
          <a:noFill/>
          <a:ln/>
        </p:spPr>
        <p:txBody>
          <a:bodyPr wrap="square" lIns="0" tIns="0" rIns="0" bIns="0" rtlCol="0" anchor="ctr"/>
          <a:lstStyle/>
          <a:p>
            <a:pPr indent="0" marL="0">
              <a:buNone/>
            </a:pPr>
            <a:r>
              <a:rPr lang="en-US" sz="1400" b="1" dirty="0">
                <a:solidFill>
                  <a:srgbClr val="E4D6F7"/>
                </a:solidFill>
                <a:latin typeface="Arial" pitchFamily="34" charset="0"/>
                <a:ea typeface="Arial" pitchFamily="34" charset="-122"/>
                <a:cs typeface="Arial" pitchFamily="34" charset="-120"/>
              </a:rPr>
              <a:t>ἁγιάσαι  </a:t>
            </a:r>
            <a:pPr indent="0" marL="0">
              <a:buNone/>
            </a:pPr>
            <a:r>
              <a:rPr lang="en-US" sz="1150" dirty="0">
                <a:solidFill>
                  <a:srgbClr val="FFFFFF"/>
                </a:solidFill>
                <a:latin typeface="Arial" pitchFamily="34" charset="0"/>
                <a:ea typeface="Arial" pitchFamily="34" charset="-122"/>
                <a:cs typeface="Arial" pitchFamily="34" charset="-120"/>
              </a:rPr>
              <a:t>to sanctify — aorist: the work seen whole · optative: a prayer, not a prediction</a:t>
            </a:r>
            <a:endParaRPr lang="en-US" sz="1150" dirty="0"/>
          </a:p>
        </p:txBody>
      </p:sp>
      <p:sp>
        <p:nvSpPr>
          <p:cNvPr id="27" name="Shape 24"/>
          <p:cNvSpPr/>
          <p:nvPr/>
        </p:nvSpPr>
        <p:spPr>
          <a:xfrm>
            <a:off x="457200" y="4114800"/>
            <a:ext cx="8229600" cy="502920"/>
          </a:xfrm>
          <a:prstGeom prst="rect">
            <a:avLst/>
          </a:prstGeom>
          <a:solidFill>
            <a:srgbClr val="375623"/>
          </a:solidFill>
          <a:ln w="12700">
            <a:solidFill>
              <a:srgbClr val="375623"/>
            </a:solidFill>
            <a:prstDash val="solid"/>
          </a:ln>
        </p:spPr>
      </p:sp>
      <p:sp>
        <p:nvSpPr>
          <p:cNvPr id="28" name="Text 25"/>
          <p:cNvSpPr/>
          <p:nvPr/>
        </p:nvSpPr>
        <p:spPr>
          <a:xfrm>
            <a:off x="621792" y="4114800"/>
            <a:ext cx="7900416" cy="50292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Can we see Jesus now? Yes — on the pages of Scripture. Beholding Him, we are being transformed (2 Cor 3:18).</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Spirit, soul and body — wholly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5:23 · I.C — Our present sanctification</a:t>
            </a:r>
            <a:endParaRPr lang="en-US" sz="1200" dirty="0"/>
          </a:p>
        </p:txBody>
      </p:sp>
      <p:sp>
        <p:nvSpPr>
          <p:cNvPr id="5" name="Shape 2"/>
          <p:cNvSpPr/>
          <p:nvPr/>
        </p:nvSpPr>
        <p:spPr>
          <a:xfrm>
            <a:off x="457200" y="1188720"/>
            <a:ext cx="2621280" cy="566928"/>
          </a:xfrm>
          <a:prstGeom prst="rect">
            <a:avLst/>
          </a:prstGeom>
          <a:solidFill>
            <a:srgbClr val="2E5496"/>
          </a:solidFill>
          <a:ln w="12700">
            <a:solidFill>
              <a:srgbClr val="2E5496"/>
            </a:solidFill>
            <a:prstDash val="solid"/>
          </a:ln>
        </p:spPr>
      </p:sp>
      <p:sp>
        <p:nvSpPr>
          <p:cNvPr id="6" name="Text 3"/>
          <p:cNvSpPr/>
          <p:nvPr/>
        </p:nvSpPr>
        <p:spPr>
          <a:xfrm>
            <a:off x="548640" y="1234440"/>
            <a:ext cx="24384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Spirit — vertical</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πνεῦμα</a:t>
            </a:r>
            <a:pPr indent="0" marL="0">
              <a:buNone/>
            </a:pPr>
            <a:r>
              <a:rPr lang="en-US" sz="850" dirty="0">
                <a:solidFill>
                  <a:srgbClr val="DCE4F2"/>
                </a:solidFill>
                <a:latin typeface="Arial" pitchFamily="34" charset="0"/>
                <a:ea typeface="Arial" pitchFamily="34" charset="-122"/>
                <a:cs typeface="Arial" pitchFamily="34" charset="-120"/>
              </a:rPr>
              <a:t>  pneuma · G4151</a:t>
            </a:r>
            <a:endParaRPr lang="en-US" sz="1200" dirty="0"/>
          </a:p>
        </p:txBody>
      </p:sp>
      <p:sp>
        <p:nvSpPr>
          <p:cNvPr id="7" name="Shape 4"/>
          <p:cNvSpPr/>
          <p:nvPr/>
        </p:nvSpPr>
        <p:spPr>
          <a:xfrm>
            <a:off x="457200" y="1755648"/>
            <a:ext cx="2621280" cy="1536192"/>
          </a:xfrm>
          <a:prstGeom prst="rect">
            <a:avLst/>
          </a:prstGeom>
          <a:solidFill>
            <a:srgbClr val="F2F6FC"/>
          </a:solidFill>
          <a:ln w="9525">
            <a:solidFill>
              <a:srgbClr val="D5DCEA"/>
            </a:solidFill>
            <a:prstDash val="solid"/>
          </a:ln>
        </p:spPr>
      </p:sp>
      <p:sp>
        <p:nvSpPr>
          <p:cNvPr id="8" name="Text 5"/>
          <p:cNvSpPr/>
          <p:nvPr/>
        </p:nvSpPr>
        <p:spPr>
          <a:xfrm>
            <a:off x="548640" y="1828800"/>
            <a:ext cx="2438400" cy="140817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 part that communicates with God</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Only human beings have it</a:t>
            </a:r>
            <a:endParaRPr lang="en-US" sz="1250" dirty="0"/>
          </a:p>
        </p:txBody>
      </p:sp>
      <p:sp>
        <p:nvSpPr>
          <p:cNvPr id="9" name="Shape 6"/>
          <p:cNvSpPr/>
          <p:nvPr/>
        </p:nvSpPr>
        <p:spPr>
          <a:xfrm>
            <a:off x="3261360" y="1188720"/>
            <a:ext cx="2621280" cy="566928"/>
          </a:xfrm>
          <a:prstGeom prst="rect">
            <a:avLst/>
          </a:prstGeom>
          <a:solidFill>
            <a:srgbClr val="2E5496"/>
          </a:solidFill>
          <a:ln w="12700">
            <a:solidFill>
              <a:srgbClr val="2E5496"/>
            </a:solidFill>
            <a:prstDash val="solid"/>
          </a:ln>
        </p:spPr>
      </p:sp>
      <p:sp>
        <p:nvSpPr>
          <p:cNvPr id="10" name="Text 7"/>
          <p:cNvSpPr/>
          <p:nvPr/>
        </p:nvSpPr>
        <p:spPr>
          <a:xfrm>
            <a:off x="3352800" y="1234440"/>
            <a:ext cx="24384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Soul — horizontal</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ψυχή</a:t>
            </a:r>
            <a:pPr indent="0" marL="0">
              <a:buNone/>
            </a:pPr>
            <a:r>
              <a:rPr lang="en-US" sz="850" dirty="0">
                <a:solidFill>
                  <a:srgbClr val="DCE4F2"/>
                </a:solidFill>
                <a:latin typeface="Arial" pitchFamily="34" charset="0"/>
                <a:ea typeface="Arial" pitchFamily="34" charset="-122"/>
                <a:cs typeface="Arial" pitchFamily="34" charset="-120"/>
              </a:rPr>
              <a:t>  psychē · G5590</a:t>
            </a:r>
            <a:endParaRPr lang="en-US" sz="1200" dirty="0"/>
          </a:p>
        </p:txBody>
      </p:sp>
      <p:sp>
        <p:nvSpPr>
          <p:cNvPr id="11" name="Shape 8"/>
          <p:cNvSpPr/>
          <p:nvPr/>
        </p:nvSpPr>
        <p:spPr>
          <a:xfrm>
            <a:off x="3261360" y="1755648"/>
            <a:ext cx="2621280" cy="1536192"/>
          </a:xfrm>
          <a:prstGeom prst="rect">
            <a:avLst/>
          </a:prstGeom>
          <a:solidFill>
            <a:srgbClr val="F2F6FC"/>
          </a:solidFill>
          <a:ln w="9525">
            <a:solidFill>
              <a:srgbClr val="D5DCEA"/>
            </a:solidFill>
            <a:prstDash val="solid"/>
          </a:ln>
        </p:spPr>
      </p:sp>
      <p:sp>
        <p:nvSpPr>
          <p:cNvPr id="12" name="Text 9"/>
          <p:cNvSpPr/>
          <p:nvPr/>
        </p:nvSpPr>
        <p:spPr>
          <a:xfrm>
            <a:off x="3352800" y="1828800"/>
            <a:ext cx="2438400" cy="140817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Our relationships with others</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How we love, serve and carry one another</a:t>
            </a:r>
            <a:endParaRPr lang="en-US" sz="1250" dirty="0"/>
          </a:p>
        </p:txBody>
      </p:sp>
      <p:sp>
        <p:nvSpPr>
          <p:cNvPr id="13" name="Shape 10"/>
          <p:cNvSpPr/>
          <p:nvPr/>
        </p:nvSpPr>
        <p:spPr>
          <a:xfrm>
            <a:off x="6065520" y="1188720"/>
            <a:ext cx="2621280" cy="566928"/>
          </a:xfrm>
          <a:prstGeom prst="rect">
            <a:avLst/>
          </a:prstGeom>
          <a:solidFill>
            <a:srgbClr val="375623"/>
          </a:solidFill>
          <a:ln w="12700">
            <a:solidFill>
              <a:srgbClr val="375623"/>
            </a:solidFill>
            <a:prstDash val="solid"/>
          </a:ln>
        </p:spPr>
      </p:sp>
      <p:sp>
        <p:nvSpPr>
          <p:cNvPr id="14" name="Text 11"/>
          <p:cNvSpPr/>
          <p:nvPr/>
        </p:nvSpPr>
        <p:spPr>
          <a:xfrm>
            <a:off x="6156960" y="1234440"/>
            <a:ext cx="24384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Body — the instrument</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σῶμα</a:t>
            </a:r>
            <a:pPr indent="0" marL="0">
              <a:buNone/>
            </a:pPr>
            <a:r>
              <a:rPr lang="en-US" sz="850" dirty="0">
                <a:solidFill>
                  <a:srgbClr val="DCE4F2"/>
                </a:solidFill>
                <a:latin typeface="Arial" pitchFamily="34" charset="0"/>
                <a:ea typeface="Arial" pitchFamily="34" charset="-122"/>
                <a:cs typeface="Arial" pitchFamily="34" charset="-120"/>
              </a:rPr>
              <a:t>  sōma · G4983</a:t>
            </a:r>
            <a:endParaRPr lang="en-US" sz="1200" dirty="0"/>
          </a:p>
        </p:txBody>
      </p:sp>
      <p:sp>
        <p:nvSpPr>
          <p:cNvPr id="15" name="Shape 12"/>
          <p:cNvSpPr/>
          <p:nvPr/>
        </p:nvSpPr>
        <p:spPr>
          <a:xfrm>
            <a:off x="6065520" y="1755648"/>
            <a:ext cx="2621280" cy="1536192"/>
          </a:xfrm>
          <a:prstGeom prst="rect">
            <a:avLst/>
          </a:prstGeom>
          <a:solidFill>
            <a:srgbClr val="F2F6FC"/>
          </a:solidFill>
          <a:ln w="9525">
            <a:solidFill>
              <a:srgbClr val="D5DCEA"/>
            </a:solidFill>
            <a:prstDash val="solid"/>
          </a:ln>
        </p:spPr>
      </p:sp>
      <p:sp>
        <p:nvSpPr>
          <p:cNvPr id="16" name="Text 13"/>
          <p:cNvSpPr/>
          <p:nvPr/>
        </p:nvSpPr>
        <p:spPr>
          <a:xfrm>
            <a:off x="6156960" y="1828800"/>
            <a:ext cx="2438400" cy="140817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 means by which we do it all</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Sanctified to God, used by God</a:t>
            </a:r>
            <a:endParaRPr lang="en-US" sz="1250" dirty="0"/>
          </a:p>
        </p:txBody>
      </p:sp>
      <p:sp>
        <p:nvSpPr>
          <p:cNvPr id="17" name="Shape 14"/>
          <p:cNvSpPr/>
          <p:nvPr/>
        </p:nvSpPr>
        <p:spPr>
          <a:xfrm>
            <a:off x="457200" y="3474720"/>
            <a:ext cx="8229600" cy="502920"/>
          </a:xfrm>
          <a:prstGeom prst="roundRect">
            <a:avLst>
              <a:gd name="adj" fmla="val 10909"/>
            </a:avLst>
          </a:prstGeom>
          <a:solidFill>
            <a:srgbClr val="1F3864"/>
          </a:solidFill>
          <a:ln w="12700">
            <a:solidFill>
              <a:srgbClr val="1F3864"/>
            </a:solidFill>
            <a:prstDash val="solid"/>
          </a:ln>
        </p:spPr>
      </p:sp>
      <p:sp>
        <p:nvSpPr>
          <p:cNvPr id="18" name="Text 15"/>
          <p:cNvSpPr/>
          <p:nvPr/>
        </p:nvSpPr>
        <p:spPr>
          <a:xfrm>
            <a:off x="621792" y="3474720"/>
            <a:ext cx="7900416" cy="502920"/>
          </a:xfrm>
          <a:prstGeom prst="rect">
            <a:avLst/>
          </a:prstGeom>
          <a:noFill/>
          <a:ln/>
        </p:spPr>
        <p:txBody>
          <a:bodyPr wrap="square" lIns="0" tIns="0" rIns="0" bIns="0" rtlCol="0" anchor="ctr"/>
          <a:lstStyle/>
          <a:p>
            <a:pPr indent="0" marL="0">
              <a:buNone/>
            </a:pPr>
            <a:r>
              <a:rPr lang="en-US" sz="1400" b="1" dirty="0">
                <a:solidFill>
                  <a:srgbClr val="E4D6F7"/>
                </a:solidFill>
                <a:latin typeface="Arial" pitchFamily="34" charset="0"/>
                <a:ea typeface="Arial" pitchFamily="34" charset="-122"/>
                <a:cs typeface="Arial" pitchFamily="34" charset="-120"/>
              </a:rPr>
              <a:t>ὁλοτελεῖς  </a:t>
            </a:r>
            <a:pPr indent="0" marL="0">
              <a:buNone/>
            </a:pPr>
            <a:r>
              <a:rPr lang="en-US" sz="1150" dirty="0">
                <a:solidFill>
                  <a:srgbClr val="FFFFFF"/>
                </a:solidFill>
                <a:latin typeface="Arial" pitchFamily="34" charset="0"/>
                <a:ea typeface="Arial" pitchFamily="34" charset="-122"/>
                <a:cs typeface="Arial" pitchFamily="34" charset="-120"/>
              </a:rPr>
              <a:t>wholly — “completely to the end” · found only here in the New Testament</a:t>
            </a:r>
            <a:endParaRPr lang="en-US" sz="1150" dirty="0"/>
          </a:p>
        </p:txBody>
      </p:sp>
      <p:sp>
        <p:nvSpPr>
          <p:cNvPr id="19" name="Shape 16"/>
          <p:cNvSpPr/>
          <p:nvPr/>
        </p:nvSpPr>
        <p:spPr>
          <a:xfrm>
            <a:off x="457200" y="4114800"/>
            <a:ext cx="8229600" cy="502920"/>
          </a:xfrm>
          <a:prstGeom prst="rect">
            <a:avLst/>
          </a:prstGeom>
          <a:solidFill>
            <a:srgbClr val="2E5496"/>
          </a:solidFill>
          <a:ln w="12700">
            <a:solidFill>
              <a:srgbClr val="2E5496"/>
            </a:solidFill>
            <a:prstDash val="solid"/>
          </a:ln>
        </p:spPr>
      </p:sp>
      <p:sp>
        <p:nvSpPr>
          <p:cNvPr id="20" name="Text 17"/>
          <p:cNvSpPr/>
          <p:nvPr/>
        </p:nvSpPr>
        <p:spPr>
          <a:xfrm>
            <a:off x="621792" y="4114800"/>
            <a:ext cx="7900416" cy="50292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Walvoord: “Our physical bodies, our spiritual or intellectual life, and our psychological or natural life are all part of this sanctification process.”</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“He who calls you is faithful”</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5:24 · II — A parting declaration</a:t>
            </a:r>
            <a:endParaRPr lang="en-US" sz="1200" dirty="0"/>
          </a:p>
        </p:txBody>
      </p:sp>
      <p:sp>
        <p:nvSpPr>
          <p:cNvPr id="5" name="Shape 2"/>
          <p:cNvSpPr/>
          <p:nvPr/>
        </p:nvSpPr>
        <p:spPr>
          <a:xfrm>
            <a:off x="457200" y="1188720"/>
            <a:ext cx="2499360" cy="566928"/>
          </a:xfrm>
          <a:prstGeom prst="rect">
            <a:avLst/>
          </a:prstGeom>
          <a:solidFill>
            <a:srgbClr val="6B7280"/>
          </a:solidFill>
          <a:ln w="12700">
            <a:solidFill>
              <a:srgbClr val="6B7280"/>
            </a:solidFill>
            <a:prstDash val="solid"/>
          </a:ln>
        </p:spPr>
      </p:sp>
      <p:sp>
        <p:nvSpPr>
          <p:cNvPr id="6" name="Text 3"/>
          <p:cNvSpPr/>
          <p:nvPr/>
        </p:nvSpPr>
        <p:spPr>
          <a:xfrm>
            <a:off x="548640" y="1234440"/>
            <a:ext cx="2316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What we cannot do</a:t>
            </a:r>
            <a:endParaRPr lang="en-US" sz="1200" dirty="0"/>
          </a:p>
        </p:txBody>
      </p:sp>
      <p:sp>
        <p:nvSpPr>
          <p:cNvPr id="7" name="Shape 4"/>
          <p:cNvSpPr/>
          <p:nvPr/>
        </p:nvSpPr>
        <p:spPr>
          <a:xfrm>
            <a:off x="457200" y="1755648"/>
            <a:ext cx="2499360" cy="1719072"/>
          </a:xfrm>
          <a:prstGeom prst="rect">
            <a:avLst/>
          </a:prstGeom>
          <a:solidFill>
            <a:srgbClr val="F2F6FC"/>
          </a:solidFill>
          <a:ln w="9525">
            <a:solidFill>
              <a:srgbClr val="D5DCEA"/>
            </a:solidFill>
            <a:prstDash val="solid"/>
          </a:ln>
        </p:spPr>
      </p:sp>
      <p:sp>
        <p:nvSpPr>
          <p:cNvPr id="8" name="Text 5"/>
          <p:cNvSpPr/>
          <p:nvPr/>
        </p:nvSpPr>
        <p:spPr>
          <a:xfrm>
            <a:off x="548640" y="1828800"/>
            <a:ext cx="2316480" cy="159105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Sanctify ourselves</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Be totally sanctified in this life</a:t>
            </a:r>
            <a:endParaRPr lang="en-US" sz="1250" dirty="0"/>
          </a:p>
        </p:txBody>
      </p:sp>
      <p:sp>
        <p:nvSpPr>
          <p:cNvPr id="9" name="Shape 6"/>
          <p:cNvSpPr/>
          <p:nvPr/>
        </p:nvSpPr>
        <p:spPr>
          <a:xfrm>
            <a:off x="3020568" y="2212848"/>
            <a:ext cx="237744" cy="237744"/>
          </a:xfrm>
          <a:prstGeom prst="rightArrow">
            <a:avLst/>
          </a:prstGeom>
          <a:solidFill>
            <a:srgbClr val="6B7280"/>
          </a:solidFill>
          <a:ln w="12700">
            <a:solidFill>
              <a:srgbClr val="6B7280"/>
            </a:solidFill>
            <a:prstDash val="solid"/>
          </a:ln>
        </p:spPr>
      </p:sp>
      <p:sp>
        <p:nvSpPr>
          <p:cNvPr id="10" name="Shape 7"/>
          <p:cNvSpPr/>
          <p:nvPr/>
        </p:nvSpPr>
        <p:spPr>
          <a:xfrm>
            <a:off x="3322320" y="1188720"/>
            <a:ext cx="2499360" cy="566928"/>
          </a:xfrm>
          <a:prstGeom prst="rect">
            <a:avLst/>
          </a:prstGeom>
          <a:solidFill>
            <a:srgbClr val="2E5496"/>
          </a:solidFill>
          <a:ln w="12700">
            <a:solidFill>
              <a:srgbClr val="2E5496"/>
            </a:solidFill>
            <a:prstDash val="solid"/>
          </a:ln>
        </p:spPr>
      </p:sp>
      <p:sp>
        <p:nvSpPr>
          <p:cNvPr id="11" name="Text 8"/>
          <p:cNvSpPr/>
          <p:nvPr/>
        </p:nvSpPr>
        <p:spPr>
          <a:xfrm>
            <a:off x="3413760" y="1234440"/>
            <a:ext cx="2316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What God does</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πιστός · καλῶν</a:t>
            </a:r>
            <a:pPr indent="0" marL="0">
              <a:buNone/>
            </a:pPr>
            <a:r>
              <a:rPr lang="en-US" sz="850" dirty="0">
                <a:solidFill>
                  <a:srgbClr val="DCE4F2"/>
                </a:solidFill>
                <a:latin typeface="Arial" pitchFamily="34" charset="0"/>
                <a:ea typeface="Arial" pitchFamily="34" charset="-122"/>
                <a:cs typeface="Arial" pitchFamily="34" charset="-120"/>
              </a:rPr>
              <a:t>  faithful · calling</a:t>
            </a:r>
            <a:endParaRPr lang="en-US" sz="1200" dirty="0"/>
          </a:p>
        </p:txBody>
      </p:sp>
      <p:sp>
        <p:nvSpPr>
          <p:cNvPr id="12" name="Shape 9"/>
          <p:cNvSpPr/>
          <p:nvPr/>
        </p:nvSpPr>
        <p:spPr>
          <a:xfrm>
            <a:off x="3322320" y="1755648"/>
            <a:ext cx="2499360" cy="1719072"/>
          </a:xfrm>
          <a:prstGeom prst="rect">
            <a:avLst/>
          </a:prstGeom>
          <a:solidFill>
            <a:srgbClr val="F2F6FC"/>
          </a:solidFill>
          <a:ln w="9525">
            <a:solidFill>
              <a:srgbClr val="D5DCEA"/>
            </a:solidFill>
            <a:prstDash val="solid"/>
          </a:ln>
        </p:spPr>
      </p:sp>
      <p:sp>
        <p:nvSpPr>
          <p:cNvPr id="13" name="Text 10"/>
          <p:cNvSpPr/>
          <p:nvPr/>
        </p:nvSpPr>
        <p:spPr>
          <a:xfrm>
            <a:off x="3413760" y="1828800"/>
            <a:ext cx="2316480" cy="159105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He is faithful — covenant dependability</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He keeps calling (present tense)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He will do it</a:t>
            </a:r>
            <a:endParaRPr lang="en-US" sz="1250" dirty="0"/>
          </a:p>
        </p:txBody>
      </p:sp>
      <p:sp>
        <p:nvSpPr>
          <p:cNvPr id="14" name="Shape 11"/>
          <p:cNvSpPr/>
          <p:nvPr/>
        </p:nvSpPr>
        <p:spPr>
          <a:xfrm>
            <a:off x="5885688" y="2212848"/>
            <a:ext cx="237744" cy="237744"/>
          </a:xfrm>
          <a:prstGeom prst="rightArrow">
            <a:avLst/>
          </a:prstGeom>
          <a:solidFill>
            <a:srgbClr val="6B7280"/>
          </a:solidFill>
          <a:ln w="12700">
            <a:solidFill>
              <a:srgbClr val="6B7280"/>
            </a:solidFill>
            <a:prstDash val="solid"/>
          </a:ln>
        </p:spPr>
      </p:sp>
      <p:sp>
        <p:nvSpPr>
          <p:cNvPr id="15" name="Shape 12"/>
          <p:cNvSpPr/>
          <p:nvPr/>
        </p:nvSpPr>
        <p:spPr>
          <a:xfrm>
            <a:off x="6187440" y="1188720"/>
            <a:ext cx="2499360" cy="566928"/>
          </a:xfrm>
          <a:prstGeom prst="rect">
            <a:avLst/>
          </a:prstGeom>
          <a:solidFill>
            <a:srgbClr val="375623"/>
          </a:solidFill>
          <a:ln w="12700">
            <a:solidFill>
              <a:srgbClr val="375623"/>
            </a:solidFill>
            <a:prstDash val="solid"/>
          </a:ln>
        </p:spPr>
      </p:sp>
      <p:sp>
        <p:nvSpPr>
          <p:cNvPr id="16" name="Text 13"/>
          <p:cNvSpPr/>
          <p:nvPr/>
        </p:nvSpPr>
        <p:spPr>
          <a:xfrm>
            <a:off x="6278880" y="1234440"/>
            <a:ext cx="2316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What we must do</a:t>
            </a:r>
            <a:endParaRPr lang="en-US" sz="1200" dirty="0"/>
          </a:p>
        </p:txBody>
      </p:sp>
      <p:sp>
        <p:nvSpPr>
          <p:cNvPr id="17" name="Shape 14"/>
          <p:cNvSpPr/>
          <p:nvPr/>
        </p:nvSpPr>
        <p:spPr>
          <a:xfrm>
            <a:off x="6187440" y="1755648"/>
            <a:ext cx="2499360" cy="1719072"/>
          </a:xfrm>
          <a:prstGeom prst="rect">
            <a:avLst/>
          </a:prstGeom>
          <a:solidFill>
            <a:srgbClr val="F2F6FC"/>
          </a:solidFill>
          <a:ln w="9525">
            <a:solidFill>
              <a:srgbClr val="D5DCEA"/>
            </a:solidFill>
            <a:prstDash val="solid"/>
          </a:ln>
        </p:spPr>
      </p:sp>
      <p:sp>
        <p:nvSpPr>
          <p:cNvPr id="18" name="Text 15"/>
          <p:cNvSpPr/>
          <p:nvPr/>
        </p:nvSpPr>
        <p:spPr>
          <a:xfrm>
            <a:off x="6278880" y="1828800"/>
            <a:ext cx="2316480" cy="159105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Make ourselves available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Stop resisting</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Behold Him in the Word (2 Cor 3:18)</a:t>
            </a:r>
            <a:endParaRPr lang="en-US" sz="1250" dirty="0"/>
          </a:p>
        </p:txBody>
      </p:sp>
      <p:sp>
        <p:nvSpPr>
          <p:cNvPr id="19" name="Shape 16"/>
          <p:cNvSpPr/>
          <p:nvPr/>
        </p:nvSpPr>
        <p:spPr>
          <a:xfrm>
            <a:off x="457200" y="3657600"/>
            <a:ext cx="8229600" cy="914400"/>
          </a:xfrm>
          <a:prstGeom prst="roundRect">
            <a:avLst>
              <a:gd name="adj" fmla="val 6000"/>
            </a:avLst>
          </a:prstGeom>
          <a:solidFill>
            <a:srgbClr val="1F3864"/>
          </a:solidFill>
          <a:ln w="12700">
            <a:solidFill>
              <a:srgbClr val="1F3864"/>
            </a:solidFill>
            <a:prstDash val="solid"/>
          </a:ln>
        </p:spPr>
      </p:sp>
      <p:sp>
        <p:nvSpPr>
          <p:cNvPr id="20" name="Text 17"/>
          <p:cNvSpPr/>
          <p:nvPr/>
        </p:nvSpPr>
        <p:spPr>
          <a:xfrm>
            <a:off x="621792" y="3657600"/>
            <a:ext cx="7900416" cy="914400"/>
          </a:xfrm>
          <a:prstGeom prst="rect">
            <a:avLst/>
          </a:prstGeom>
          <a:noFill/>
          <a:ln/>
        </p:spPr>
        <p:txBody>
          <a:bodyPr wrap="square" lIns="0" tIns="0" rIns="0" bIns="0" rtlCol="0" anchor="ctr"/>
          <a:lstStyle/>
          <a:p>
            <a:pPr indent="0" marL="0">
              <a:buNone/>
            </a:pPr>
            <a:r>
              <a:rPr lang="en-US" sz="1200" b="1" dirty="0">
                <a:solidFill>
                  <a:srgbClr val="C9D5EE"/>
                </a:solidFill>
                <a:latin typeface="Arial" pitchFamily="34" charset="0"/>
                <a:ea typeface="Arial" pitchFamily="34" charset="-122"/>
                <a:cs typeface="Arial" pitchFamily="34" charset="-120"/>
              </a:rPr>
              <a:t>Philippians 2:12–13:  </a:t>
            </a:r>
            <a:pPr indent="0" marL="0">
              <a:buNone/>
            </a:pPr>
            <a:r>
              <a:rPr lang="en-US" sz="1200" dirty="0">
                <a:solidFill>
                  <a:srgbClr val="FFFFFF"/>
                </a:solidFill>
                <a:latin typeface="Arial" pitchFamily="34" charset="0"/>
                <a:ea typeface="Arial" pitchFamily="34" charset="-122"/>
                <a:cs typeface="Arial" pitchFamily="34" charset="-120"/>
              </a:rPr>
              <a:t>“It is God who works in you both to will and to do for His good pleasure.” He makes your willer will and your doer do.</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Grace at both ends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1:1 and 5:28 · VI — A parting benediction</a:t>
            </a:r>
            <a:endParaRPr lang="en-US" sz="1200" dirty="0"/>
          </a:p>
        </p:txBody>
      </p:sp>
      <p:sp>
        <p:nvSpPr>
          <p:cNvPr id="5" name="Shape 2"/>
          <p:cNvSpPr/>
          <p:nvPr/>
        </p:nvSpPr>
        <p:spPr>
          <a:xfrm>
            <a:off x="457200" y="1188720"/>
            <a:ext cx="1899666" cy="2011680"/>
          </a:xfrm>
          <a:prstGeom prst="roundRect">
            <a:avLst>
              <a:gd name="adj" fmla="val 2888"/>
            </a:avLst>
          </a:prstGeom>
          <a:solidFill>
            <a:srgbClr val="1F3864"/>
          </a:solidFill>
          <a:ln w="9525">
            <a:solidFill>
              <a:srgbClr val="1F3864"/>
            </a:solidFill>
            <a:prstDash val="solid"/>
          </a:ln>
        </p:spPr>
      </p:sp>
      <p:sp>
        <p:nvSpPr>
          <p:cNvPr id="6" name="Shape 3"/>
          <p:cNvSpPr/>
          <p:nvPr/>
        </p:nvSpPr>
        <p:spPr>
          <a:xfrm>
            <a:off x="1205865" y="1298448"/>
            <a:ext cx="402336" cy="402336"/>
          </a:xfrm>
          <a:prstGeom prst="ellipse">
            <a:avLst/>
          </a:prstGeom>
          <a:solidFill>
            <a:srgbClr val="FFFFFF"/>
          </a:solidFill>
          <a:ln w="12700">
            <a:solidFill>
              <a:srgbClr val="FFFFFF"/>
            </a:solidFill>
            <a:prstDash val="solid"/>
          </a:ln>
        </p:spPr>
      </p:sp>
      <p:sp>
        <p:nvSpPr>
          <p:cNvPr id="7" name="Text 4"/>
          <p:cNvSpPr/>
          <p:nvPr/>
        </p:nvSpPr>
        <p:spPr>
          <a:xfrm>
            <a:off x="1205865" y="1298448"/>
            <a:ext cx="402336" cy="402336"/>
          </a:xfrm>
          <a:prstGeom prst="rect">
            <a:avLst/>
          </a:prstGeom>
          <a:noFill/>
          <a:ln/>
        </p:spPr>
        <p:txBody>
          <a:bodyPr wrap="square" lIns="0" tIns="0" rIns="0" bIns="0" rtlCol="0" anchor="ctr"/>
          <a:lstStyle/>
          <a:p>
            <a:pPr algn="ctr" indent="0" marL="0">
              <a:buNone/>
            </a:pPr>
            <a:r>
              <a:rPr lang="en-US" sz="1300" b="1" dirty="0">
                <a:solidFill>
                  <a:srgbClr val="1F3864"/>
                </a:solidFill>
                <a:latin typeface="Arial" pitchFamily="34" charset="0"/>
                <a:ea typeface="Arial" pitchFamily="34" charset="-122"/>
                <a:cs typeface="Arial" pitchFamily="34" charset="-120"/>
              </a:rPr>
              <a:t>A</a:t>
            </a:r>
            <a:endParaRPr lang="en-US" sz="1300" dirty="0"/>
          </a:p>
        </p:txBody>
      </p:sp>
      <p:sp>
        <p:nvSpPr>
          <p:cNvPr id="8" name="Text 5"/>
          <p:cNvSpPr/>
          <p:nvPr/>
        </p:nvSpPr>
        <p:spPr>
          <a:xfrm>
            <a:off x="530352" y="1773936"/>
            <a:ext cx="1753362"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1:1</a:t>
            </a:r>
            <a:endParaRPr lang="en-US" sz="1150" dirty="0"/>
          </a:p>
        </p:txBody>
      </p:sp>
      <p:sp>
        <p:nvSpPr>
          <p:cNvPr id="9" name="Text 6"/>
          <p:cNvSpPr/>
          <p:nvPr/>
        </p:nvSpPr>
        <p:spPr>
          <a:xfrm>
            <a:off x="530352" y="2157984"/>
            <a:ext cx="1753362" cy="658368"/>
          </a:xfrm>
          <a:prstGeom prst="rect">
            <a:avLst/>
          </a:prstGeom>
          <a:noFill/>
          <a:ln/>
        </p:spPr>
        <p:txBody>
          <a:bodyPr wrap="square" lIns="0" tIns="0" rIns="0" bIns="0" rtlCol="0" anchor="t"/>
          <a:lstStyle/>
          <a:p>
            <a:pPr algn="ctr" indent="0" marL="0">
              <a:buNone/>
            </a:pPr>
            <a:r>
              <a:rPr lang="en-US" sz="1150" dirty="0">
                <a:solidFill>
                  <a:srgbClr val="FFFFFF"/>
                </a:solidFill>
                <a:latin typeface="Arial" pitchFamily="34" charset="0"/>
                <a:ea typeface="Arial" pitchFamily="34" charset="-122"/>
                <a:cs typeface="Arial" pitchFamily="34" charset="-120"/>
              </a:rPr>
              <a:t>“Grace to you and peace”</a:t>
            </a:r>
            <a:endParaRPr lang="en-US" sz="1150" dirty="0"/>
          </a:p>
        </p:txBody>
      </p:sp>
      <p:sp>
        <p:nvSpPr>
          <p:cNvPr id="10" name="Text 7"/>
          <p:cNvSpPr/>
          <p:nvPr/>
        </p:nvSpPr>
        <p:spPr>
          <a:xfrm>
            <a:off x="530352" y="2816352"/>
            <a:ext cx="1753362" cy="329184"/>
          </a:xfrm>
          <a:prstGeom prst="rect">
            <a:avLst/>
          </a:prstGeom>
          <a:noFill/>
          <a:ln/>
        </p:spPr>
        <p:txBody>
          <a:bodyPr wrap="square" lIns="0" tIns="0" rIns="0" bIns="0" rtlCol="0" anchor="b"/>
          <a:lstStyle/>
          <a:p>
            <a:pPr algn="ctr" indent="0" marL="0">
              <a:buNone/>
            </a:pPr>
            <a:r>
              <a:rPr lang="en-US" sz="900" i="1" dirty="0">
                <a:solidFill>
                  <a:srgbClr val="DCE4F2"/>
                </a:solidFill>
                <a:latin typeface="Arial" pitchFamily="34" charset="0"/>
                <a:ea typeface="Arial" pitchFamily="34" charset="-122"/>
                <a:cs typeface="Arial" pitchFamily="34" charset="-120"/>
              </a:rPr>
              <a:t>the first word</a:t>
            </a:r>
            <a:endParaRPr lang="en-US" sz="900" dirty="0"/>
          </a:p>
        </p:txBody>
      </p:sp>
      <p:sp>
        <p:nvSpPr>
          <p:cNvPr id="11" name="Shape 8"/>
          <p:cNvSpPr/>
          <p:nvPr/>
        </p:nvSpPr>
        <p:spPr>
          <a:xfrm>
            <a:off x="2361438" y="2075688"/>
            <a:ext cx="201168" cy="237744"/>
          </a:xfrm>
          <a:prstGeom prst="rightArrow">
            <a:avLst/>
          </a:prstGeom>
          <a:solidFill>
            <a:srgbClr val="6B7280"/>
          </a:solidFill>
          <a:ln w="12700">
            <a:solidFill>
              <a:srgbClr val="6B7280"/>
            </a:solidFill>
            <a:prstDash val="solid"/>
          </a:ln>
        </p:spPr>
      </p:sp>
      <p:sp>
        <p:nvSpPr>
          <p:cNvPr id="12" name="Shape 9"/>
          <p:cNvSpPr/>
          <p:nvPr/>
        </p:nvSpPr>
        <p:spPr>
          <a:xfrm>
            <a:off x="2567178" y="1188720"/>
            <a:ext cx="1899666" cy="2011680"/>
          </a:xfrm>
          <a:prstGeom prst="roundRect">
            <a:avLst>
              <a:gd name="adj" fmla="val 2888"/>
            </a:avLst>
          </a:prstGeom>
          <a:solidFill>
            <a:srgbClr val="F2F6FC"/>
          </a:solidFill>
          <a:ln w="9525">
            <a:solidFill>
              <a:srgbClr val="D5DCEA"/>
            </a:solidFill>
            <a:prstDash val="solid"/>
          </a:ln>
        </p:spPr>
      </p:sp>
      <p:sp>
        <p:nvSpPr>
          <p:cNvPr id="13" name="Shape 10"/>
          <p:cNvSpPr/>
          <p:nvPr/>
        </p:nvSpPr>
        <p:spPr>
          <a:xfrm>
            <a:off x="3315843" y="1298448"/>
            <a:ext cx="402336" cy="402336"/>
          </a:xfrm>
          <a:prstGeom prst="ellipse">
            <a:avLst/>
          </a:prstGeom>
          <a:solidFill>
            <a:srgbClr val="2E5496"/>
          </a:solidFill>
          <a:ln w="12700">
            <a:solidFill>
              <a:srgbClr val="2E5496"/>
            </a:solidFill>
            <a:prstDash val="solid"/>
          </a:ln>
        </p:spPr>
      </p:sp>
      <p:sp>
        <p:nvSpPr>
          <p:cNvPr id="14" name="Text 11"/>
          <p:cNvSpPr/>
          <p:nvPr/>
        </p:nvSpPr>
        <p:spPr>
          <a:xfrm>
            <a:off x="3315843"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5" name="Text 12"/>
          <p:cNvSpPr/>
          <p:nvPr/>
        </p:nvSpPr>
        <p:spPr>
          <a:xfrm>
            <a:off x="2640330" y="1773936"/>
            <a:ext cx="1753362"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Chapters 1–3</a:t>
            </a:r>
            <a:endParaRPr lang="en-US" sz="1150" dirty="0"/>
          </a:p>
        </p:txBody>
      </p:sp>
      <p:sp>
        <p:nvSpPr>
          <p:cNvPr id="16" name="Text 13"/>
          <p:cNvSpPr/>
          <p:nvPr/>
        </p:nvSpPr>
        <p:spPr>
          <a:xfrm>
            <a:off x="2640330" y="2157984"/>
            <a:ext cx="1753362" cy="65836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What God has done among them</a:t>
            </a:r>
            <a:endParaRPr lang="en-US" sz="1150" dirty="0"/>
          </a:p>
        </p:txBody>
      </p:sp>
      <p:sp>
        <p:nvSpPr>
          <p:cNvPr id="17" name="Text 14"/>
          <p:cNvSpPr/>
          <p:nvPr/>
        </p:nvSpPr>
        <p:spPr>
          <a:xfrm>
            <a:off x="2640330" y="2816352"/>
            <a:ext cx="1753362"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inside the envelope</a:t>
            </a:r>
            <a:endParaRPr lang="en-US" sz="900" dirty="0"/>
          </a:p>
        </p:txBody>
      </p:sp>
      <p:sp>
        <p:nvSpPr>
          <p:cNvPr id="18" name="Shape 15"/>
          <p:cNvSpPr/>
          <p:nvPr/>
        </p:nvSpPr>
        <p:spPr>
          <a:xfrm>
            <a:off x="4471416" y="2075688"/>
            <a:ext cx="201168" cy="237744"/>
          </a:xfrm>
          <a:prstGeom prst="rightArrow">
            <a:avLst/>
          </a:prstGeom>
          <a:solidFill>
            <a:srgbClr val="6B7280"/>
          </a:solidFill>
          <a:ln w="12700">
            <a:solidFill>
              <a:srgbClr val="6B7280"/>
            </a:solidFill>
            <a:prstDash val="solid"/>
          </a:ln>
        </p:spPr>
      </p:sp>
      <p:sp>
        <p:nvSpPr>
          <p:cNvPr id="19" name="Shape 16"/>
          <p:cNvSpPr/>
          <p:nvPr/>
        </p:nvSpPr>
        <p:spPr>
          <a:xfrm>
            <a:off x="4677156" y="1188720"/>
            <a:ext cx="1899666" cy="2011680"/>
          </a:xfrm>
          <a:prstGeom prst="roundRect">
            <a:avLst>
              <a:gd name="adj" fmla="val 2888"/>
            </a:avLst>
          </a:prstGeom>
          <a:solidFill>
            <a:srgbClr val="F2F6FC"/>
          </a:solidFill>
          <a:ln w="9525">
            <a:solidFill>
              <a:srgbClr val="D5DCEA"/>
            </a:solidFill>
            <a:prstDash val="solid"/>
          </a:ln>
        </p:spPr>
      </p:sp>
      <p:sp>
        <p:nvSpPr>
          <p:cNvPr id="20" name="Shape 17"/>
          <p:cNvSpPr/>
          <p:nvPr/>
        </p:nvSpPr>
        <p:spPr>
          <a:xfrm>
            <a:off x="5425821" y="1298448"/>
            <a:ext cx="402336" cy="402336"/>
          </a:xfrm>
          <a:prstGeom prst="ellipse">
            <a:avLst/>
          </a:prstGeom>
          <a:solidFill>
            <a:srgbClr val="2E5496"/>
          </a:solidFill>
          <a:ln w="12700">
            <a:solidFill>
              <a:srgbClr val="2E5496"/>
            </a:solidFill>
            <a:prstDash val="solid"/>
          </a:ln>
        </p:spPr>
      </p:sp>
      <p:sp>
        <p:nvSpPr>
          <p:cNvPr id="21" name="Text 18"/>
          <p:cNvSpPr/>
          <p:nvPr/>
        </p:nvSpPr>
        <p:spPr>
          <a:xfrm>
            <a:off x="5425821"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a:t>
            </a:r>
            <a:endParaRPr lang="en-US" sz="1300" dirty="0"/>
          </a:p>
        </p:txBody>
      </p:sp>
      <p:sp>
        <p:nvSpPr>
          <p:cNvPr id="22" name="Text 19"/>
          <p:cNvSpPr/>
          <p:nvPr/>
        </p:nvSpPr>
        <p:spPr>
          <a:xfrm>
            <a:off x="4750308" y="1773936"/>
            <a:ext cx="1753362"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Chapters 4–5</a:t>
            </a:r>
            <a:endParaRPr lang="en-US" sz="1150" dirty="0"/>
          </a:p>
        </p:txBody>
      </p:sp>
      <p:sp>
        <p:nvSpPr>
          <p:cNvPr id="23" name="Text 20"/>
          <p:cNvSpPr/>
          <p:nvPr/>
        </p:nvSpPr>
        <p:spPr>
          <a:xfrm>
            <a:off x="4750308" y="2157984"/>
            <a:ext cx="1753362" cy="65836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Commands, corrections, calls to holiness</a:t>
            </a:r>
            <a:endParaRPr lang="en-US" sz="1150" dirty="0"/>
          </a:p>
        </p:txBody>
      </p:sp>
      <p:sp>
        <p:nvSpPr>
          <p:cNvPr id="24" name="Text 21"/>
          <p:cNvSpPr/>
          <p:nvPr/>
        </p:nvSpPr>
        <p:spPr>
          <a:xfrm>
            <a:off x="4750308" y="2816352"/>
            <a:ext cx="1753362"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grace in action</a:t>
            </a:r>
            <a:endParaRPr lang="en-US" sz="900" dirty="0"/>
          </a:p>
        </p:txBody>
      </p:sp>
      <p:sp>
        <p:nvSpPr>
          <p:cNvPr id="25" name="Shape 22"/>
          <p:cNvSpPr/>
          <p:nvPr/>
        </p:nvSpPr>
        <p:spPr>
          <a:xfrm>
            <a:off x="6581394" y="2075688"/>
            <a:ext cx="201168" cy="237744"/>
          </a:xfrm>
          <a:prstGeom prst="rightArrow">
            <a:avLst/>
          </a:prstGeom>
          <a:solidFill>
            <a:srgbClr val="6B7280"/>
          </a:solidFill>
          <a:ln w="12700">
            <a:solidFill>
              <a:srgbClr val="6B7280"/>
            </a:solidFill>
            <a:prstDash val="solid"/>
          </a:ln>
        </p:spPr>
      </p:sp>
      <p:sp>
        <p:nvSpPr>
          <p:cNvPr id="26" name="Shape 23"/>
          <p:cNvSpPr/>
          <p:nvPr/>
        </p:nvSpPr>
        <p:spPr>
          <a:xfrm>
            <a:off x="6787134" y="1188720"/>
            <a:ext cx="1899666" cy="2011680"/>
          </a:xfrm>
          <a:prstGeom prst="roundRect">
            <a:avLst>
              <a:gd name="adj" fmla="val 2888"/>
            </a:avLst>
          </a:prstGeom>
          <a:solidFill>
            <a:srgbClr val="1F3864"/>
          </a:solidFill>
          <a:ln w="9525">
            <a:solidFill>
              <a:srgbClr val="1F3864"/>
            </a:solidFill>
            <a:prstDash val="solid"/>
          </a:ln>
        </p:spPr>
      </p:sp>
      <p:sp>
        <p:nvSpPr>
          <p:cNvPr id="27" name="Shape 24"/>
          <p:cNvSpPr/>
          <p:nvPr/>
        </p:nvSpPr>
        <p:spPr>
          <a:xfrm>
            <a:off x="7535799" y="1298448"/>
            <a:ext cx="402336" cy="402336"/>
          </a:xfrm>
          <a:prstGeom prst="ellipse">
            <a:avLst/>
          </a:prstGeom>
          <a:solidFill>
            <a:srgbClr val="FFFFFF"/>
          </a:solidFill>
          <a:ln w="12700">
            <a:solidFill>
              <a:srgbClr val="FFFFFF"/>
            </a:solidFill>
            <a:prstDash val="solid"/>
          </a:ln>
        </p:spPr>
      </p:sp>
      <p:sp>
        <p:nvSpPr>
          <p:cNvPr id="28" name="Text 25"/>
          <p:cNvSpPr/>
          <p:nvPr/>
        </p:nvSpPr>
        <p:spPr>
          <a:xfrm>
            <a:off x="7535799" y="1298448"/>
            <a:ext cx="402336" cy="402336"/>
          </a:xfrm>
          <a:prstGeom prst="rect">
            <a:avLst/>
          </a:prstGeom>
          <a:noFill/>
          <a:ln/>
        </p:spPr>
        <p:txBody>
          <a:bodyPr wrap="square" lIns="0" tIns="0" rIns="0" bIns="0" rtlCol="0" anchor="ctr"/>
          <a:lstStyle/>
          <a:p>
            <a:pPr algn="ctr" indent="0" marL="0">
              <a:buNone/>
            </a:pPr>
            <a:r>
              <a:rPr lang="en-US" sz="1300" b="1" dirty="0">
                <a:solidFill>
                  <a:srgbClr val="1F3864"/>
                </a:solidFill>
                <a:latin typeface="Arial" pitchFamily="34" charset="0"/>
                <a:ea typeface="Arial" pitchFamily="34" charset="-122"/>
                <a:cs typeface="Arial" pitchFamily="34" charset="-120"/>
              </a:rPr>
              <a:t>D</a:t>
            </a:r>
            <a:endParaRPr lang="en-US" sz="1300" dirty="0"/>
          </a:p>
        </p:txBody>
      </p:sp>
      <p:sp>
        <p:nvSpPr>
          <p:cNvPr id="29" name="Text 26"/>
          <p:cNvSpPr/>
          <p:nvPr/>
        </p:nvSpPr>
        <p:spPr>
          <a:xfrm>
            <a:off x="6860286" y="1773936"/>
            <a:ext cx="1753362"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5:28</a:t>
            </a:r>
            <a:endParaRPr lang="en-US" sz="1150" dirty="0"/>
          </a:p>
        </p:txBody>
      </p:sp>
      <p:sp>
        <p:nvSpPr>
          <p:cNvPr id="30" name="Text 27"/>
          <p:cNvSpPr/>
          <p:nvPr/>
        </p:nvSpPr>
        <p:spPr>
          <a:xfrm>
            <a:off x="6860286" y="2157984"/>
            <a:ext cx="1753362" cy="658368"/>
          </a:xfrm>
          <a:prstGeom prst="rect">
            <a:avLst/>
          </a:prstGeom>
          <a:noFill/>
          <a:ln/>
        </p:spPr>
        <p:txBody>
          <a:bodyPr wrap="square" lIns="0" tIns="0" rIns="0" bIns="0" rtlCol="0" anchor="t"/>
          <a:lstStyle/>
          <a:p>
            <a:pPr algn="ctr" indent="0" marL="0">
              <a:buNone/>
            </a:pPr>
            <a:r>
              <a:rPr lang="en-US" sz="1150" dirty="0">
                <a:solidFill>
                  <a:srgbClr val="FFFFFF"/>
                </a:solidFill>
                <a:latin typeface="Arial" pitchFamily="34" charset="0"/>
                <a:ea typeface="Arial" pitchFamily="34" charset="-122"/>
                <a:cs typeface="Arial" pitchFamily="34" charset="-120"/>
              </a:rPr>
              <a:t>“The grace of our Lord Jesus Christ be with you”</a:t>
            </a:r>
            <a:endParaRPr lang="en-US" sz="1150" dirty="0"/>
          </a:p>
        </p:txBody>
      </p:sp>
      <p:sp>
        <p:nvSpPr>
          <p:cNvPr id="31" name="Text 28"/>
          <p:cNvSpPr/>
          <p:nvPr/>
        </p:nvSpPr>
        <p:spPr>
          <a:xfrm>
            <a:off x="6860286" y="2816352"/>
            <a:ext cx="1753362" cy="329184"/>
          </a:xfrm>
          <a:prstGeom prst="rect">
            <a:avLst/>
          </a:prstGeom>
          <a:noFill/>
          <a:ln/>
        </p:spPr>
        <p:txBody>
          <a:bodyPr wrap="square" lIns="0" tIns="0" rIns="0" bIns="0" rtlCol="0" anchor="b"/>
          <a:lstStyle/>
          <a:p>
            <a:pPr algn="ctr" indent="0" marL="0">
              <a:buNone/>
            </a:pPr>
            <a:r>
              <a:rPr lang="en-US" sz="900" i="1" dirty="0">
                <a:solidFill>
                  <a:srgbClr val="DCE4F2"/>
                </a:solidFill>
                <a:latin typeface="Arial" pitchFamily="34" charset="0"/>
                <a:ea typeface="Arial" pitchFamily="34" charset="-122"/>
                <a:cs typeface="Arial" pitchFamily="34" charset="-120"/>
              </a:rPr>
              <a:t>the last word</a:t>
            </a:r>
            <a:endParaRPr lang="en-US" sz="900" dirty="0"/>
          </a:p>
        </p:txBody>
      </p:sp>
      <p:sp>
        <p:nvSpPr>
          <p:cNvPr id="32" name="Shape 29"/>
          <p:cNvSpPr/>
          <p:nvPr/>
        </p:nvSpPr>
        <p:spPr>
          <a:xfrm>
            <a:off x="457200" y="3383280"/>
            <a:ext cx="3931920" cy="365760"/>
          </a:xfrm>
          <a:prstGeom prst="rect">
            <a:avLst/>
          </a:prstGeom>
          <a:solidFill>
            <a:srgbClr val="6B7280"/>
          </a:solidFill>
          <a:ln w="12700">
            <a:solidFill>
              <a:srgbClr val="6B7280"/>
            </a:solidFill>
            <a:prstDash val="solid"/>
          </a:ln>
        </p:spPr>
      </p:sp>
      <p:sp>
        <p:nvSpPr>
          <p:cNvPr id="33" name="Text 30"/>
          <p:cNvSpPr/>
          <p:nvPr/>
        </p:nvSpPr>
        <p:spPr>
          <a:xfrm>
            <a:off x="548640" y="3429000"/>
            <a:ext cx="374904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 angels who sinned</a:t>
            </a:r>
            <a:endParaRPr lang="en-US" sz="1200" dirty="0"/>
          </a:p>
        </p:txBody>
      </p:sp>
      <p:sp>
        <p:nvSpPr>
          <p:cNvPr id="34" name="Shape 31"/>
          <p:cNvSpPr/>
          <p:nvPr/>
        </p:nvSpPr>
        <p:spPr>
          <a:xfrm>
            <a:off x="457200" y="3749040"/>
            <a:ext cx="3931920" cy="868680"/>
          </a:xfrm>
          <a:prstGeom prst="rect">
            <a:avLst/>
          </a:prstGeom>
          <a:solidFill>
            <a:srgbClr val="F2F6FC"/>
          </a:solidFill>
          <a:ln w="9525">
            <a:solidFill>
              <a:srgbClr val="D5DCEA"/>
            </a:solidFill>
            <a:prstDash val="solid"/>
          </a:ln>
        </p:spPr>
      </p:sp>
      <p:sp>
        <p:nvSpPr>
          <p:cNvPr id="35" name="Text 32"/>
          <p:cNvSpPr/>
          <p:nvPr/>
        </p:nvSpPr>
        <p:spPr>
          <a:xfrm>
            <a:off x="548640" y="3822192"/>
            <a:ext cx="3749040" cy="74066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Saw God’s power and justice — never His grace</a:t>
            </a:r>
            <a:endParaRPr lang="en-US" sz="1250" dirty="0"/>
          </a:p>
        </p:txBody>
      </p:sp>
      <p:sp>
        <p:nvSpPr>
          <p:cNvPr id="36" name="Shape 33"/>
          <p:cNvSpPr/>
          <p:nvPr/>
        </p:nvSpPr>
        <p:spPr>
          <a:xfrm>
            <a:off x="4754880" y="3383280"/>
            <a:ext cx="3931920" cy="365760"/>
          </a:xfrm>
          <a:prstGeom prst="rect">
            <a:avLst/>
          </a:prstGeom>
          <a:solidFill>
            <a:srgbClr val="375623"/>
          </a:solidFill>
          <a:ln w="12700">
            <a:solidFill>
              <a:srgbClr val="375623"/>
            </a:solidFill>
            <a:prstDash val="solid"/>
          </a:ln>
        </p:spPr>
      </p:sp>
      <p:sp>
        <p:nvSpPr>
          <p:cNvPr id="37" name="Text 34"/>
          <p:cNvSpPr/>
          <p:nvPr/>
        </p:nvSpPr>
        <p:spPr>
          <a:xfrm>
            <a:off x="4846320" y="3429000"/>
            <a:ext cx="374904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Fallen man</a:t>
            </a:r>
            <a:endParaRPr lang="en-US" sz="1200" dirty="0"/>
          </a:p>
        </p:txBody>
      </p:sp>
      <p:sp>
        <p:nvSpPr>
          <p:cNvPr id="38" name="Shape 35"/>
          <p:cNvSpPr/>
          <p:nvPr/>
        </p:nvSpPr>
        <p:spPr>
          <a:xfrm>
            <a:off x="4754880" y="3749040"/>
            <a:ext cx="3931920" cy="868680"/>
          </a:xfrm>
          <a:prstGeom prst="rect">
            <a:avLst/>
          </a:prstGeom>
          <a:solidFill>
            <a:srgbClr val="F2F6FC"/>
          </a:solidFill>
          <a:ln w="9525">
            <a:solidFill>
              <a:srgbClr val="D5DCEA"/>
            </a:solidFill>
            <a:prstDash val="solid"/>
          </a:ln>
        </p:spPr>
      </p:sp>
      <p:sp>
        <p:nvSpPr>
          <p:cNvPr id="39" name="Text 36"/>
          <p:cNvSpPr/>
          <p:nvPr/>
        </p:nvSpPr>
        <p:spPr>
          <a:xfrm>
            <a:off x="4846320" y="3822192"/>
            <a:ext cx="3749040" cy="74066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God sacrificed His own Son — grace</a:t>
            </a:r>
            <a:endParaRPr lang="en-US" sz="1250" dirty="0"/>
          </a:p>
        </p:txBody>
      </p:sp>
      <p:sp>
        <p:nvSpPr>
          <p:cNvPr id="40" name="Text 37"/>
          <p:cNvSpPr/>
          <p:nvPr/>
        </p:nvSpPr>
        <p:spPr>
          <a:xfrm>
            <a:off x="4389120" y="3817620"/>
            <a:ext cx="365760" cy="365760"/>
          </a:xfrm>
          <a:prstGeom prst="rect">
            <a:avLst/>
          </a:prstGeom>
          <a:noFill/>
          <a:ln/>
        </p:spPr>
        <p:txBody>
          <a:bodyPr wrap="square" lIns="0" tIns="0" rIns="0" bIns="0" rtlCol="0" anchor="ctr"/>
          <a:lstStyle/>
          <a:p>
            <a:pPr algn="ctr" indent="0" marL="0">
              <a:buNone/>
            </a:pPr>
            <a:r>
              <a:rPr lang="en-US" sz="1100" b="1" dirty="0">
                <a:solidFill>
                  <a:srgbClr val="6B7280"/>
                </a:solidFill>
                <a:latin typeface="Arial" pitchFamily="34" charset="0"/>
                <a:ea typeface="Arial" pitchFamily="34" charset="-122"/>
                <a:cs typeface="Arial" pitchFamily="34" charset="-120"/>
              </a:rPr>
              <a:t>vs</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Discuss and apply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5:23–28 · from the study's posted questions and applications</a:t>
            </a:r>
            <a:endParaRPr lang="en-US" sz="1200" dirty="0"/>
          </a:p>
        </p:txBody>
      </p:sp>
      <p:sp>
        <p:nvSpPr>
          <p:cNvPr id="5" name="Shape 2"/>
          <p:cNvSpPr/>
          <p:nvPr/>
        </p:nvSpPr>
        <p:spPr>
          <a:xfrm>
            <a:off x="457200" y="1115568"/>
            <a:ext cx="4023360" cy="384048"/>
          </a:xfrm>
          <a:prstGeom prst="rect">
            <a:avLst/>
          </a:prstGeom>
          <a:solidFill>
            <a:srgbClr val="2E5496"/>
          </a:solidFill>
          <a:ln w="12700">
            <a:solidFill>
              <a:srgbClr val="2E5496"/>
            </a:solidFill>
            <a:prstDash val="solid"/>
          </a:ln>
        </p:spPr>
      </p:sp>
      <p:sp>
        <p:nvSpPr>
          <p:cNvPr id="6" name="Text 3"/>
          <p:cNvSpPr/>
          <p:nvPr/>
        </p:nvSpPr>
        <p:spPr>
          <a:xfrm>
            <a:off x="56692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Discuss</a:t>
            </a:r>
            <a:endParaRPr lang="en-US" sz="1300" dirty="0"/>
          </a:p>
        </p:txBody>
      </p:sp>
      <p:sp>
        <p:nvSpPr>
          <p:cNvPr id="7" name="Shape 4"/>
          <p:cNvSpPr/>
          <p:nvPr/>
        </p:nvSpPr>
        <p:spPr>
          <a:xfrm>
            <a:off x="457200" y="1499616"/>
            <a:ext cx="4023360" cy="2359152"/>
          </a:xfrm>
          <a:prstGeom prst="rect">
            <a:avLst/>
          </a:prstGeom>
          <a:solidFill>
            <a:srgbClr val="F2F6FC"/>
          </a:solidFill>
          <a:ln w="9525">
            <a:solidFill>
              <a:srgbClr val="D5DCEA"/>
            </a:solidFill>
            <a:prstDash val="solid"/>
          </a:ln>
        </p:spPr>
      </p:sp>
      <p:sp>
        <p:nvSpPr>
          <p:cNvPr id="8" name="Shape 5"/>
          <p:cNvSpPr/>
          <p:nvPr/>
        </p:nvSpPr>
        <p:spPr>
          <a:xfrm>
            <a:off x="4663440" y="1115568"/>
            <a:ext cx="4023360" cy="384048"/>
          </a:xfrm>
          <a:prstGeom prst="rect">
            <a:avLst/>
          </a:prstGeom>
          <a:solidFill>
            <a:srgbClr val="375623"/>
          </a:solidFill>
          <a:ln w="12700">
            <a:solidFill>
              <a:srgbClr val="375623"/>
            </a:solidFill>
            <a:prstDash val="solid"/>
          </a:ln>
        </p:spPr>
      </p:sp>
      <p:sp>
        <p:nvSpPr>
          <p:cNvPr id="9" name="Text 6"/>
          <p:cNvSpPr/>
          <p:nvPr/>
        </p:nvSpPr>
        <p:spPr>
          <a:xfrm>
            <a:off x="477316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Apply</a:t>
            </a:r>
            <a:endParaRPr lang="en-US" sz="1300" dirty="0"/>
          </a:p>
        </p:txBody>
      </p:sp>
      <p:sp>
        <p:nvSpPr>
          <p:cNvPr id="10" name="Shape 7"/>
          <p:cNvSpPr/>
          <p:nvPr/>
        </p:nvSpPr>
        <p:spPr>
          <a:xfrm>
            <a:off x="4663440" y="1499616"/>
            <a:ext cx="4023360" cy="2359152"/>
          </a:xfrm>
          <a:prstGeom prst="rect">
            <a:avLst/>
          </a:prstGeom>
          <a:solidFill>
            <a:srgbClr val="F2F6FC"/>
          </a:solidFill>
          <a:ln w="9525">
            <a:solidFill>
              <a:srgbClr val="D5DCEA"/>
            </a:solidFill>
            <a:prstDash val="solid"/>
          </a:ln>
        </p:spPr>
      </p:sp>
      <p:sp>
        <p:nvSpPr>
          <p:cNvPr id="11" name="Shape 8"/>
          <p:cNvSpPr/>
          <p:nvPr/>
        </p:nvSpPr>
        <p:spPr>
          <a:xfrm>
            <a:off x="566928" y="1636776"/>
            <a:ext cx="347472" cy="347472"/>
          </a:xfrm>
          <a:prstGeom prst="ellipse">
            <a:avLst/>
          </a:prstGeom>
          <a:solidFill>
            <a:srgbClr val="2E5496"/>
          </a:solidFill>
          <a:ln w="12700">
            <a:solidFill>
              <a:srgbClr val="2E5496"/>
            </a:solidFill>
            <a:prstDash val="solid"/>
          </a:ln>
        </p:spPr>
      </p:sp>
      <p:sp>
        <p:nvSpPr>
          <p:cNvPr id="12" name="Text 9"/>
          <p:cNvSpPr/>
          <p:nvPr/>
        </p:nvSpPr>
        <p:spPr>
          <a:xfrm>
            <a:off x="566928" y="16367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3" name="Text 10"/>
          <p:cNvSpPr/>
          <p:nvPr/>
        </p:nvSpPr>
        <p:spPr>
          <a:xfrm>
            <a:off x="1005840" y="1591056"/>
            <a:ext cx="3364992" cy="1042416"/>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The commentary finds three aspects of sanctification in 1 John 3:2–3 — past, promised and present. How does holding all three prevent thinking we are already perfect — or that we must make ourselves perfect?</a:t>
            </a:r>
            <a:endParaRPr lang="en-US" sz="1250" dirty="0"/>
          </a:p>
        </p:txBody>
      </p:sp>
      <p:sp>
        <p:nvSpPr>
          <p:cNvPr id="14" name="Shape 11"/>
          <p:cNvSpPr/>
          <p:nvPr/>
        </p:nvSpPr>
        <p:spPr>
          <a:xfrm>
            <a:off x="566928" y="2724912"/>
            <a:ext cx="347472" cy="347472"/>
          </a:xfrm>
          <a:prstGeom prst="ellipse">
            <a:avLst/>
          </a:prstGeom>
          <a:solidFill>
            <a:srgbClr val="2E5496"/>
          </a:solidFill>
          <a:ln w="12700">
            <a:solidFill>
              <a:srgbClr val="2E5496"/>
            </a:solidFill>
            <a:prstDash val="solid"/>
          </a:ln>
        </p:spPr>
      </p:sp>
      <p:sp>
        <p:nvSpPr>
          <p:cNvPr id="15" name="Text 12"/>
          <p:cNvSpPr/>
          <p:nvPr/>
        </p:nvSpPr>
        <p:spPr>
          <a:xfrm>
            <a:off x="566928" y="272491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6" name="Text 13"/>
          <p:cNvSpPr/>
          <p:nvPr/>
        </p:nvSpPr>
        <p:spPr>
          <a:xfrm>
            <a:off x="1005840" y="2679192"/>
            <a:ext cx="3364992" cy="1042416"/>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The letter begins with grace (1:1) and ends with grace (5:28). How does grace as the frame shape how we read every command and correction in between?</a:t>
            </a:r>
            <a:endParaRPr lang="en-US" sz="1250" dirty="0"/>
          </a:p>
        </p:txBody>
      </p:sp>
      <p:sp>
        <p:nvSpPr>
          <p:cNvPr id="17" name="Text 14"/>
          <p:cNvSpPr/>
          <p:nvPr/>
        </p:nvSpPr>
        <p:spPr>
          <a:xfrm>
            <a:off x="4791456" y="1591056"/>
            <a:ext cx="3767328" cy="1042416"/>
          </a:xfrm>
          <a:prstGeom prst="rect">
            <a:avLst/>
          </a:prstGeom>
          <a:noFill/>
          <a:ln/>
        </p:spPr>
        <p:txBody>
          <a:bodyPr wrap="square" lIns="0" tIns="0" rIns="0" bIns="0" rtlCol="0" anchor="t"/>
          <a:lstStyle/>
          <a:p>
            <a:pPr indent="0" marL="0">
              <a:buNone/>
            </a:pPr>
            <a:r>
              <a:rPr lang="en-US" sz="1250" b="1" dirty="0">
                <a:solidFill>
                  <a:srgbClr val="1F3864"/>
                </a:solidFill>
                <a:latin typeface="Arial" pitchFamily="34" charset="0"/>
                <a:ea typeface="Arial" pitchFamily="34" charset="-122"/>
                <a:cs typeface="Arial" pitchFamily="34" charset="-120"/>
              </a:rPr>
              <a:t>Make Yourself Available</a:t>
            </a:r>
            <a:endParaRPr lang="en-US" sz="1250" dirty="0"/>
          </a:p>
          <a:p>
            <a:pPr indent="0" marL="0">
              <a:buNone/>
            </a:pPr>
            <a:r>
              <a:rPr lang="en-US" sz="1200" dirty="0">
                <a:solidFill>
                  <a:srgbClr val="262626"/>
                </a:solidFill>
                <a:latin typeface="Arial" pitchFamily="34" charset="0"/>
                <a:ea typeface="Arial" pitchFamily="34" charset="-122"/>
                <a:cs typeface="Arial" pitchFamily="34" charset="-120"/>
              </a:rPr>
              <a:t>Name the one area where you’ve been pulling back from God, take one step of yielding, and tell someone.</a:t>
            </a:r>
            <a:endParaRPr lang="en-US" sz="1250" dirty="0"/>
          </a:p>
        </p:txBody>
      </p:sp>
      <p:sp>
        <p:nvSpPr>
          <p:cNvPr id="18" name="Text 15"/>
          <p:cNvSpPr/>
          <p:nvPr/>
        </p:nvSpPr>
        <p:spPr>
          <a:xfrm>
            <a:off x="4791456" y="2679192"/>
            <a:ext cx="3767328" cy="1042416"/>
          </a:xfrm>
          <a:prstGeom prst="rect">
            <a:avLst/>
          </a:prstGeom>
          <a:noFill/>
          <a:ln/>
        </p:spPr>
        <p:txBody>
          <a:bodyPr wrap="square" lIns="0" tIns="0" rIns="0" bIns="0" rtlCol="0" anchor="t"/>
          <a:lstStyle/>
          <a:p>
            <a:pPr indent="0" marL="0">
              <a:buNone/>
            </a:pPr>
            <a:r>
              <a:rPr lang="en-US" sz="1250" b="1" dirty="0">
                <a:solidFill>
                  <a:srgbClr val="1F3864"/>
                </a:solidFill>
                <a:latin typeface="Arial" pitchFamily="34" charset="0"/>
                <a:ea typeface="Arial" pitchFamily="34" charset="-122"/>
                <a:cs typeface="Arial" pitchFamily="34" charset="-120"/>
              </a:rPr>
              <a:t>Live from Grace — Not toward It</a:t>
            </a:r>
            <a:endParaRPr lang="en-US" sz="1250" dirty="0"/>
          </a:p>
          <a:p>
            <a:pPr indent="0" marL="0">
              <a:buNone/>
            </a:pPr>
            <a:r>
              <a:rPr lang="en-US" sz="1200" dirty="0">
                <a:solidFill>
                  <a:srgbClr val="262626"/>
                </a:solidFill>
                <a:latin typeface="Arial" pitchFamily="34" charset="0"/>
                <a:ea typeface="Arial" pitchFamily="34" charset="-122"/>
                <a:cs typeface="Arial" pitchFamily="34" charset="-120"/>
              </a:rPr>
              <a:t>As a group, write one sentence: what God has done among you through 1 Thessalonians. Post it.</a:t>
            </a:r>
            <a:endParaRPr lang="en-US" sz="1250" dirty="0"/>
          </a:p>
        </p:txBody>
      </p:sp>
      <p:sp>
        <p:nvSpPr>
          <p:cNvPr id="19" name="Shape 16"/>
          <p:cNvSpPr/>
          <p:nvPr/>
        </p:nvSpPr>
        <p:spPr>
          <a:xfrm>
            <a:off x="457200" y="4023360"/>
            <a:ext cx="8229600" cy="566928"/>
          </a:xfrm>
          <a:prstGeom prst="roundRect">
            <a:avLst>
              <a:gd name="adj" fmla="val 9677"/>
            </a:avLst>
          </a:prstGeom>
          <a:solidFill>
            <a:srgbClr val="1F3864"/>
          </a:solidFill>
          <a:ln w="12700">
            <a:solidFill>
              <a:srgbClr val="1F3864"/>
            </a:solidFill>
            <a:prstDash val="solid"/>
          </a:ln>
        </p:spPr>
      </p:sp>
      <p:sp>
        <p:nvSpPr>
          <p:cNvPr id="20" name="Text 17"/>
          <p:cNvSpPr/>
          <p:nvPr/>
        </p:nvSpPr>
        <p:spPr>
          <a:xfrm>
            <a:off x="621792" y="4023360"/>
            <a:ext cx="7900416" cy="566928"/>
          </a:xfrm>
          <a:prstGeom prst="rect">
            <a:avLst/>
          </a:prstGeom>
          <a:noFill/>
          <a:ln/>
        </p:spPr>
        <p:txBody>
          <a:bodyPr wrap="square" lIns="0" tIns="0" rIns="0" bIns="0" rtlCol="0" anchor="ctr"/>
          <a:lstStyle/>
          <a:p>
            <a:pPr indent="0" marL="0">
              <a:buNone/>
            </a:pPr>
            <a:r>
              <a:rPr lang="en-US" sz="1200" b="1" dirty="0">
                <a:solidFill>
                  <a:srgbClr val="C9D5EE"/>
                </a:solidFill>
                <a:latin typeface="Arial" pitchFamily="34" charset="0"/>
                <a:ea typeface="Arial" pitchFamily="34" charset="-122"/>
                <a:cs typeface="Arial" pitchFamily="34" charset="-120"/>
              </a:rPr>
              <a:t>In one line:  </a:t>
            </a:r>
            <a:pPr indent="0" marL="0">
              <a:buNone/>
            </a:pPr>
            <a:r>
              <a:rPr lang="en-US" sz="1200" dirty="0">
                <a:solidFill>
                  <a:srgbClr val="FFFFFF"/>
                </a:solidFill>
                <a:latin typeface="Arial" pitchFamily="34" charset="0"/>
                <a:ea typeface="Arial" pitchFamily="34" charset="-122"/>
                <a:cs typeface="Arial" pitchFamily="34" charset="-120"/>
              </a:rPr>
              <a:t>He who calls you is faithful and will do it — grace at the start, grace at the end. Here, there, or in the air.</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nchor="ctr"/>
          <a:lstStyle/>
          <a:p>
            <a:pPr indent="0" marL="0">
              <a:buNone/>
            </a:pPr>
            <a:r>
              <a:rPr lang="en-US" sz="1400" dirty="0">
                <a:solidFill>
                  <a:srgbClr val="C9D5EE"/>
                </a:solidFill>
                <a:latin typeface="Arial" pitchFamily="34" charset="0"/>
                <a:ea typeface="Arial" pitchFamily="34" charset="-122"/>
                <a:cs typeface="Arial" pitchFamily="34" charset="-120"/>
              </a:rPr>
              <a:t>Conclusion · 1 Thessalonians 1–5</a:t>
            </a: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lIns="0" tIns="0" rIns="0" bIns="0" rtlCol="0" anchor="ctr"/>
          <a:lstStyle/>
          <a:p>
            <a:pPr algn="l" indent="0" marL="0">
              <a:buNone/>
            </a:pPr>
            <a:r>
              <a:rPr lang="en-US" sz="3400" b="1" dirty="0">
                <a:solidFill>
                  <a:srgbClr val="FFFFFF"/>
                </a:solidFill>
                <a:latin typeface="Arial" pitchFamily="34" charset="0"/>
                <a:ea typeface="Arial" pitchFamily="34" charset="-122"/>
                <a:cs typeface="Arial" pitchFamily="34" charset="-120"/>
              </a:rPr>
              <a:t>Here, there, or in the air</a:t>
            </a: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lIns="0" tIns="0" rIns="0" bIns="0" rtlCol="0" anchor="ctr"/>
          <a:lstStyle/>
          <a:p>
            <a:pPr indent="0" marL="0">
              <a:buNone/>
            </a:pPr>
            <a:r>
              <a:rPr lang="en-US" sz="1500" i="1" dirty="0">
                <a:solidFill>
                  <a:srgbClr val="E6ECF7"/>
                </a:solidFill>
                <a:latin typeface="Arial" pitchFamily="34" charset="0"/>
                <a:ea typeface="Arial" pitchFamily="34" charset="-122"/>
                <a:cs typeface="Arial" pitchFamily="34" charset="-120"/>
              </a:rPr>
              <a:t>A church secure in God, a gospel that echoes, a Word that keeps working, a hope that purifies — all inside the envelope of grace. “He who calls you is faithful, who also will do it.”</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86</Slides>
  <Notes>86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86</vt:i4>
      </vt:variant>
    </vt:vector>
  </HeadingPairs>
  <TitlesOfParts>
    <vt:vector size="8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 Thessalonians: Charts from the Ten Studies</dc:title>
  <dc:subject>PptxGenJS Presentation</dc:subject>
  <dc:creator>The Gospel Vault</dc:creator>
  <cp:lastModifiedBy>The Gospel Vault</cp:lastModifiedBy>
  <cp:revision>1</cp:revision>
  <dcterms:created xsi:type="dcterms:W3CDTF">2026-10-30T06:22:48Z</dcterms:created>
  <dcterms:modified xsi:type="dcterms:W3CDTF">2026-10-30T06:22:48Z</dcterms:modified>
</cp:coreProperties>
</file>