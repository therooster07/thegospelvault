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udy 10 · Galatians 4:12–20" id="{d633b2ea-8ddc-7c99-c820-9241beb5bf85}">
          <p14:sldIdLst>
            <p14:sldId id="256"/>
            <p14:sldId id="257"/>
            <p14:sldId id="258"/>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Two movements — Paul's affection for the Galatians (4:12–16) and Paul's allegiance to them (4:17–20). The title pictures firm truth delivered with tender love. The posted study has no separate proposition box; this summary is drawn from its Part 1 table. Every chart in this deck stays within the posted commentary for this study; Greek words come from the study's posted Greek Word Study. Each slide's notes name the commentary section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I–II): After three chapters of rebuke, the tone changes. The introduction recalls Dare to Discipline: after discipline, hold the child and let him know he is loved. This passage is that moment — the steel fist in the velvet glove.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(I.B–D): Paul first preached to them because of a physical infirmity — the gospel came through, not despite, his weakness. They did not despise him or “spit him out” (ἐξεπτύσατε — the posted Greek study notes the old superstition of spitting to ward off a sufferer's affliction). They received him as an angel of God, even as Christ Jesus, and would have given him their own eyes. Now: I told you the truth; now I am your enemy; so I became your enemy because I told you the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(II.A–B.1): Zeal itself isn't wrong — the Judaizers were zealous, and so was Paul. The test is the truth and the good of others. The same verb (ζηλόω) describes both. The Judaizers' strategy was to shut the Galatians out (ἐκκλεῖσαι) from Paul's influence, so they would be zealous for the Judaizers. Paul's zeal was for a good thing, always — not only when he was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(II.B.2–4): “My little children” — τεκνία, the posted Greek study notes this is otherwise a Johannine word; Paul sounds more like John, the apostle of love. He is in labor a second time for the same children. μορφωθῇ — Christ formed from the inside out (the same root as “transformed” in Romans 12:2). His goal is not mere belief but Christ formed in them. v.20 — he would rather be with them face to face and change his tone; he is perplexed, not condemning. Close with the commentary's conclusion: dare to discipline — and hold them in your 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How can Paul call his truth-telling the reason he became their “enemy” (v.16), and what does that warn us about? — Leader answer: Truth spoken in love can still be received as hostility once someone is committed to another course. Faithful correction may cost relational capital.  Q2: What does it mean for Christ to be “formed” (μορφόω) in the Galatians, and how does that differ from simply believing correct doctrine? — Leader answer: Morphoō points to an essential, inward shape rather than outward performance (cf. Rom 12:2). Paul's labor aims past correct belief to Christ's own character within.  Applications: Correct Like a Father, Labor Like a Mother — When you must say a hard true thing, pair it with a concrete word or act that shows the relationship survives it.  Aim at Formation, Not Attendance — Where you've managed behavior from the outside in, ask the Lord this week to do the inside-out work.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Galatians · Study 10 of 16 · Galatians 4:12–20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54880"/>
            <a:ext cx="73152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Galatians · Study 10 of 16 · Galatians 4:12–20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Galatians · Study 10 of 16 · Galatians 4:12–20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A Steel Fist in a Velvet Glove</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After three chapters of rebuke, Paul pleads as a father: he shows his affection for the Galatians and his authentic loyalty to them, laboring again until Christ is formed in them.</a:t>
            </a:r>
            <a:endParaRPr lang="en-US" sz="1500" dirty="0"/>
          </a:p>
        </p:txBody>
      </p:sp>
      <p:sp>
        <p:nvSpPr>
          <p:cNvPr id="6" name="Text 3"/>
          <p:cNvSpPr txBox="1"/>
          <p:nvPr/>
        </p:nvSpPr>
        <p:spPr>
          <a:xfrm>
            <a:off x="640080" y="4343400"/>
            <a:ext cx="7863840" cy="274320"/>
          </a:xfrm>
          <a:prstGeom prst="rect">
            <a:avLst/>
          </a:prstGeom>
          <a:noFill/>
          <a:ln/>
        </p:spPr>
        <p:txBody>
          <a:bodyPr wrap="square" lIns="0" tIns="0" rIns="0" bIns="0" rtlCol="0" anchor="t"/>
          <a:lstStyle/>
          <a:p>
            <a:pPr indent="0" marL="0">
              <a:buNone/>
            </a:pPr>
            <a:r>
              <a:rPr lang="en-US" sz="1000" dirty="0">
                <a:solidFill>
                  <a:srgbClr val="AEBBD6"/>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 sixteen studies · this study highlighted</a:t>
            </a:r>
            <a:endParaRPr lang="en-US" sz="1200" dirty="0"/>
          </a:p>
        </p:txBody>
      </p:sp>
      <p:sp>
        <p:nvSpPr>
          <p:cNvPr id="5" name="Shape 2"/>
          <p:cNvSpPr/>
          <p:nvPr/>
        </p:nvSpPr>
        <p:spPr>
          <a:xfrm>
            <a:off x="457200" y="1115568"/>
            <a:ext cx="1954530" cy="786384"/>
          </a:xfrm>
          <a:prstGeom prst="rect">
            <a:avLst/>
          </a:prstGeom>
          <a:solidFill>
            <a:srgbClr val="F2F6FC"/>
          </a:solidFill>
          <a:ln w="9525">
            <a:solidFill>
              <a:srgbClr val="D5DCEA"/>
            </a:solidFill>
            <a:prstDash val="solid"/>
          </a:ln>
        </p:spPr>
      </p:sp>
      <p:sp>
        <p:nvSpPr>
          <p:cNvPr id="6" name="Text 3"/>
          <p:cNvSpPr txBox="1"/>
          <p:nvPr/>
        </p:nvSpPr>
        <p:spPr>
          <a:xfrm>
            <a:off x="54864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01  </a:t>
            </a:r>
            <a:pPr indent="0" marL="0">
              <a:buNone/>
            </a:pPr>
            <a:r>
              <a:rPr lang="en-US" sz="1000" b="1" dirty="0">
                <a:solidFill>
                  <a:srgbClr val="595959"/>
                </a:solidFill>
                <a:latin typeface="Arial" pitchFamily="34" charset="0"/>
                <a:ea typeface="Arial" pitchFamily="34" charset="-122"/>
                <a:cs typeface="Arial" pitchFamily="34" charset="-120"/>
              </a:rPr>
              <a:t>1:1–5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Ground of Liberty</a:t>
            </a:r>
            <a:endParaRPr lang="en-US" sz="1200" dirty="0"/>
          </a:p>
        </p:txBody>
      </p:sp>
      <p:sp>
        <p:nvSpPr>
          <p:cNvPr id="7" name="Shape 4"/>
          <p:cNvSpPr/>
          <p:nvPr/>
        </p:nvSpPr>
        <p:spPr>
          <a:xfrm>
            <a:off x="2548890" y="1115568"/>
            <a:ext cx="1954530" cy="786384"/>
          </a:xfrm>
          <a:prstGeom prst="rect">
            <a:avLst/>
          </a:prstGeom>
          <a:solidFill>
            <a:srgbClr val="F2F6FC"/>
          </a:solidFill>
          <a:ln w="9525">
            <a:solidFill>
              <a:srgbClr val="D5DCEA"/>
            </a:solidFill>
            <a:prstDash val="solid"/>
          </a:ln>
        </p:spPr>
      </p:sp>
      <p:sp>
        <p:nvSpPr>
          <p:cNvPr id="8" name="Text 5"/>
          <p:cNvSpPr txBox="1"/>
          <p:nvPr/>
        </p:nvSpPr>
        <p:spPr>
          <a:xfrm>
            <a:off x="264033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02  </a:t>
            </a:r>
            <a:pPr indent="0" marL="0">
              <a:buNone/>
            </a:pPr>
            <a:r>
              <a:rPr lang="en-US" sz="1000" b="1" dirty="0">
                <a:solidFill>
                  <a:srgbClr val="595959"/>
                </a:solidFill>
                <a:latin typeface="Arial" pitchFamily="34" charset="0"/>
                <a:ea typeface="Arial" pitchFamily="34" charset="-122"/>
                <a:cs typeface="Arial" pitchFamily="34" charset="-120"/>
              </a:rPr>
              <a:t>1:6–10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One True Gospel</a:t>
            </a:r>
            <a:endParaRPr lang="en-US" sz="1200" dirty="0"/>
          </a:p>
        </p:txBody>
      </p:sp>
      <p:sp>
        <p:nvSpPr>
          <p:cNvPr id="9" name="Shape 6"/>
          <p:cNvSpPr/>
          <p:nvPr/>
        </p:nvSpPr>
        <p:spPr>
          <a:xfrm>
            <a:off x="4640580" y="1115568"/>
            <a:ext cx="1954530" cy="786384"/>
          </a:xfrm>
          <a:prstGeom prst="rect">
            <a:avLst/>
          </a:prstGeom>
          <a:solidFill>
            <a:srgbClr val="F2F6FC"/>
          </a:solidFill>
          <a:ln w="9525">
            <a:solidFill>
              <a:srgbClr val="D5DCEA"/>
            </a:solidFill>
            <a:prstDash val="solid"/>
          </a:ln>
        </p:spPr>
      </p:sp>
      <p:sp>
        <p:nvSpPr>
          <p:cNvPr id="10" name="Text 7"/>
          <p:cNvSpPr txBox="1"/>
          <p:nvPr/>
        </p:nvSpPr>
        <p:spPr>
          <a:xfrm>
            <a:off x="473202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03  </a:t>
            </a:r>
            <a:pPr indent="0" marL="0">
              <a:buNone/>
            </a:pPr>
            <a:r>
              <a:rPr lang="en-US" sz="1000" b="1" dirty="0">
                <a:solidFill>
                  <a:srgbClr val="595959"/>
                </a:solidFill>
                <a:latin typeface="Arial" pitchFamily="34" charset="0"/>
                <a:ea typeface="Arial" pitchFamily="34" charset="-122"/>
                <a:cs typeface="Arial" pitchFamily="34" charset="-120"/>
              </a:rPr>
              <a:t>1:11–17</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Independent Revelation</a:t>
            </a:r>
            <a:endParaRPr lang="en-US" sz="1200" dirty="0"/>
          </a:p>
        </p:txBody>
      </p:sp>
      <p:sp>
        <p:nvSpPr>
          <p:cNvPr id="11" name="Shape 8"/>
          <p:cNvSpPr/>
          <p:nvPr/>
        </p:nvSpPr>
        <p:spPr>
          <a:xfrm>
            <a:off x="6732270" y="1115568"/>
            <a:ext cx="1954530" cy="786384"/>
          </a:xfrm>
          <a:prstGeom prst="rect">
            <a:avLst/>
          </a:prstGeom>
          <a:solidFill>
            <a:srgbClr val="F2F6FC"/>
          </a:solidFill>
          <a:ln w="9525">
            <a:solidFill>
              <a:srgbClr val="D5DCEA"/>
            </a:solidFill>
            <a:prstDash val="solid"/>
          </a:ln>
        </p:spPr>
      </p:sp>
      <p:sp>
        <p:nvSpPr>
          <p:cNvPr id="12" name="Text 9"/>
          <p:cNvSpPr txBox="1"/>
          <p:nvPr/>
        </p:nvSpPr>
        <p:spPr>
          <a:xfrm>
            <a:off x="682371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04  </a:t>
            </a:r>
            <a:pPr indent="0" marL="0">
              <a:buNone/>
            </a:pPr>
            <a:r>
              <a:rPr lang="en-US" sz="1000" b="1" dirty="0">
                <a:solidFill>
                  <a:srgbClr val="595959"/>
                </a:solidFill>
                <a:latin typeface="Arial" pitchFamily="34" charset="0"/>
                <a:ea typeface="Arial" pitchFamily="34" charset="-122"/>
                <a:cs typeface="Arial" pitchFamily="34" charset="-120"/>
              </a:rPr>
              <a:t>1:18–2:10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Gospel Is Independent of the Judean Churches</a:t>
            </a:r>
            <a:endParaRPr lang="en-US" sz="1200" dirty="0"/>
          </a:p>
        </p:txBody>
      </p:sp>
      <p:sp>
        <p:nvSpPr>
          <p:cNvPr id="13" name="Shape 10"/>
          <p:cNvSpPr/>
          <p:nvPr/>
        </p:nvSpPr>
        <p:spPr>
          <a:xfrm>
            <a:off x="457200" y="2020824"/>
            <a:ext cx="1954530" cy="786384"/>
          </a:xfrm>
          <a:prstGeom prst="rect">
            <a:avLst/>
          </a:prstGeom>
          <a:solidFill>
            <a:srgbClr val="F2F6FC"/>
          </a:solidFill>
          <a:ln w="9525">
            <a:solidFill>
              <a:srgbClr val="D5DCEA"/>
            </a:solidFill>
            <a:prstDash val="solid"/>
          </a:ln>
        </p:spPr>
      </p:sp>
      <p:sp>
        <p:nvSpPr>
          <p:cNvPr id="14" name="Text 11"/>
          <p:cNvSpPr txBox="1"/>
          <p:nvPr/>
        </p:nvSpPr>
        <p:spPr>
          <a:xfrm>
            <a:off x="54864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05  </a:t>
            </a:r>
            <a:pPr indent="0" marL="0">
              <a:buNone/>
            </a:pPr>
            <a:r>
              <a:rPr lang="en-US" sz="1000" b="1" dirty="0">
                <a:solidFill>
                  <a:srgbClr val="595959"/>
                </a:solidFill>
                <a:latin typeface="Arial" pitchFamily="34" charset="0"/>
                <a:ea typeface="Arial" pitchFamily="34" charset="-122"/>
                <a:cs typeface="Arial" pitchFamily="34" charset="-120"/>
              </a:rPr>
              <a:t>2:11–21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Peter Goes Back to School</a:t>
            </a:r>
            <a:endParaRPr lang="en-US" sz="1200" dirty="0"/>
          </a:p>
        </p:txBody>
      </p:sp>
      <p:sp>
        <p:nvSpPr>
          <p:cNvPr id="15" name="Shape 12"/>
          <p:cNvSpPr/>
          <p:nvPr/>
        </p:nvSpPr>
        <p:spPr>
          <a:xfrm>
            <a:off x="2548890" y="2020824"/>
            <a:ext cx="1954530" cy="786384"/>
          </a:xfrm>
          <a:prstGeom prst="rect">
            <a:avLst/>
          </a:prstGeom>
          <a:solidFill>
            <a:srgbClr val="F2F6FC"/>
          </a:solidFill>
          <a:ln w="9525">
            <a:solidFill>
              <a:srgbClr val="D5DCEA"/>
            </a:solidFill>
            <a:prstDash val="solid"/>
          </a:ln>
        </p:spPr>
      </p:sp>
      <p:sp>
        <p:nvSpPr>
          <p:cNvPr id="16" name="Text 13"/>
          <p:cNvSpPr txBox="1"/>
          <p:nvPr/>
        </p:nvSpPr>
        <p:spPr>
          <a:xfrm>
            <a:off x="264033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06  </a:t>
            </a:r>
            <a:pPr indent="0" marL="0">
              <a:buNone/>
            </a:pPr>
            <a:r>
              <a:rPr lang="en-US" sz="1000" b="1" dirty="0">
                <a:solidFill>
                  <a:srgbClr val="595959"/>
                </a:solidFill>
                <a:latin typeface="Arial" pitchFamily="34" charset="0"/>
                <a:ea typeface="Arial" pitchFamily="34" charset="-122"/>
                <a:cs typeface="Arial" pitchFamily="34" charset="-120"/>
              </a:rPr>
              <a:t>3:1–5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Under a Spell</a:t>
            </a:r>
            <a:endParaRPr lang="en-US" sz="1200" dirty="0"/>
          </a:p>
        </p:txBody>
      </p:sp>
      <p:sp>
        <p:nvSpPr>
          <p:cNvPr id="17" name="Shape 14"/>
          <p:cNvSpPr/>
          <p:nvPr/>
        </p:nvSpPr>
        <p:spPr>
          <a:xfrm>
            <a:off x="4640580" y="2020824"/>
            <a:ext cx="1954530" cy="786384"/>
          </a:xfrm>
          <a:prstGeom prst="rect">
            <a:avLst/>
          </a:prstGeom>
          <a:solidFill>
            <a:srgbClr val="F2F6FC"/>
          </a:solidFill>
          <a:ln w="9525">
            <a:solidFill>
              <a:srgbClr val="D5DCEA"/>
            </a:solidFill>
            <a:prstDash val="solid"/>
          </a:ln>
        </p:spPr>
      </p:sp>
      <p:sp>
        <p:nvSpPr>
          <p:cNvPr id="18" name="Text 15"/>
          <p:cNvSpPr txBox="1"/>
          <p:nvPr/>
        </p:nvSpPr>
        <p:spPr>
          <a:xfrm>
            <a:off x="473202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07  </a:t>
            </a:r>
            <a:pPr indent="0" marL="0">
              <a:buNone/>
            </a:pPr>
            <a:r>
              <a:rPr lang="en-US" sz="1000" b="1" dirty="0">
                <a:solidFill>
                  <a:srgbClr val="595959"/>
                </a:solidFill>
                <a:latin typeface="Arial" pitchFamily="34" charset="0"/>
                <a:ea typeface="Arial" pitchFamily="34" charset="-122"/>
                <a:cs typeface="Arial" pitchFamily="34" charset="-120"/>
              </a:rPr>
              <a:t>3:6–14</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Blessing or a Curse</a:t>
            </a:r>
            <a:endParaRPr lang="en-US" sz="1200" dirty="0"/>
          </a:p>
        </p:txBody>
      </p:sp>
      <p:sp>
        <p:nvSpPr>
          <p:cNvPr id="19" name="Shape 16"/>
          <p:cNvSpPr/>
          <p:nvPr/>
        </p:nvSpPr>
        <p:spPr>
          <a:xfrm>
            <a:off x="6732270" y="2020824"/>
            <a:ext cx="1954530" cy="786384"/>
          </a:xfrm>
          <a:prstGeom prst="rect">
            <a:avLst/>
          </a:prstGeom>
          <a:solidFill>
            <a:srgbClr val="F2F6FC"/>
          </a:solidFill>
          <a:ln w="9525">
            <a:solidFill>
              <a:srgbClr val="D5DCEA"/>
            </a:solidFill>
            <a:prstDash val="solid"/>
          </a:ln>
        </p:spPr>
      </p:sp>
      <p:sp>
        <p:nvSpPr>
          <p:cNvPr id="20" name="Text 17"/>
          <p:cNvSpPr txBox="1"/>
          <p:nvPr/>
        </p:nvSpPr>
        <p:spPr>
          <a:xfrm>
            <a:off x="682371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08  </a:t>
            </a:r>
            <a:pPr indent="0" marL="0">
              <a:buNone/>
            </a:pPr>
            <a:r>
              <a:rPr lang="en-US" sz="1000" b="1" dirty="0">
                <a:solidFill>
                  <a:srgbClr val="595959"/>
                </a:solidFill>
                <a:latin typeface="Arial" pitchFamily="34" charset="0"/>
                <a:ea typeface="Arial" pitchFamily="34" charset="-122"/>
                <a:cs typeface="Arial" pitchFamily="34" charset="-120"/>
              </a:rPr>
              <a:t>3:15–29</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Superiority of the Promise to the Law</a:t>
            </a:r>
            <a:endParaRPr lang="en-US" sz="1200" dirty="0"/>
          </a:p>
        </p:txBody>
      </p:sp>
      <p:sp>
        <p:nvSpPr>
          <p:cNvPr id="21" name="Shape 18"/>
          <p:cNvSpPr/>
          <p:nvPr/>
        </p:nvSpPr>
        <p:spPr>
          <a:xfrm>
            <a:off x="457200" y="2926080"/>
            <a:ext cx="1954530" cy="786384"/>
          </a:xfrm>
          <a:prstGeom prst="rect">
            <a:avLst/>
          </a:prstGeom>
          <a:solidFill>
            <a:srgbClr val="F2F6FC"/>
          </a:solidFill>
          <a:ln w="9525">
            <a:solidFill>
              <a:srgbClr val="D5DCEA"/>
            </a:solidFill>
            <a:prstDash val="solid"/>
          </a:ln>
        </p:spPr>
      </p:sp>
      <p:sp>
        <p:nvSpPr>
          <p:cNvPr id="22" name="Text 19"/>
          <p:cNvSpPr txBox="1"/>
          <p:nvPr/>
        </p:nvSpPr>
        <p:spPr>
          <a:xfrm>
            <a:off x="54864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09  </a:t>
            </a:r>
            <a:pPr indent="0" marL="0">
              <a:buNone/>
            </a:pPr>
            <a:r>
              <a:rPr lang="en-US" sz="1000" b="1" dirty="0">
                <a:solidFill>
                  <a:srgbClr val="595959"/>
                </a:solidFill>
                <a:latin typeface="Arial" pitchFamily="34" charset="0"/>
                <a:ea typeface="Arial" pitchFamily="34" charset="-122"/>
                <a:cs typeface="Arial" pitchFamily="34" charset="-120"/>
              </a:rPr>
              <a:t>4:1–11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When I Became a Man</a:t>
            </a:r>
            <a:endParaRPr lang="en-US" sz="1200" dirty="0"/>
          </a:p>
        </p:txBody>
      </p:sp>
      <p:sp>
        <p:nvSpPr>
          <p:cNvPr id="23" name="Shape 20"/>
          <p:cNvSpPr/>
          <p:nvPr/>
        </p:nvSpPr>
        <p:spPr>
          <a:xfrm>
            <a:off x="2548890" y="2926080"/>
            <a:ext cx="1954530" cy="786384"/>
          </a:xfrm>
          <a:prstGeom prst="rect">
            <a:avLst/>
          </a:prstGeom>
          <a:solidFill>
            <a:srgbClr val="1F3864"/>
          </a:solidFill>
          <a:ln w="9525">
            <a:solidFill>
              <a:srgbClr val="1F3864"/>
            </a:solidFill>
            <a:prstDash val="solid"/>
          </a:ln>
        </p:spPr>
      </p:sp>
      <p:sp>
        <p:nvSpPr>
          <p:cNvPr id="24" name="Text 21"/>
          <p:cNvSpPr txBox="1"/>
          <p:nvPr/>
        </p:nvSpPr>
        <p:spPr>
          <a:xfrm>
            <a:off x="2640330" y="2980944"/>
            <a:ext cx="1771650" cy="676656"/>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10  </a:t>
            </a:r>
            <a:pPr indent="0" marL="0">
              <a:buNone/>
            </a:pPr>
            <a:r>
              <a:rPr lang="en-US" sz="1000" b="1" dirty="0">
                <a:solidFill>
                  <a:srgbClr val="C9D5EE"/>
                </a:solidFill>
                <a:latin typeface="Arial" pitchFamily="34" charset="0"/>
                <a:ea typeface="Arial" pitchFamily="34" charset="-122"/>
                <a:cs typeface="Arial" pitchFamily="34" charset="-120"/>
              </a:rPr>
              <a:t>4:12–20</a:t>
            </a:r>
            <a:endParaRPr lang="en-US" sz="1200" dirty="0"/>
          </a:p>
          <a:p>
            <a:pPr indent="0" marL="0">
              <a:buNone/>
            </a:pPr>
            <a:r>
              <a:rPr lang="en-US" sz="1050" b="1" dirty="0">
                <a:solidFill>
                  <a:srgbClr val="FFFFFF"/>
                </a:solidFill>
                <a:latin typeface="Arial" pitchFamily="34" charset="0"/>
                <a:ea typeface="Arial" pitchFamily="34" charset="-122"/>
                <a:cs typeface="Arial" pitchFamily="34" charset="-120"/>
              </a:rPr>
              <a:t>A Steel Fist in a Velvet Glove</a:t>
            </a:r>
            <a:endParaRPr lang="en-US" sz="1200" dirty="0"/>
          </a:p>
        </p:txBody>
      </p:sp>
      <p:sp>
        <p:nvSpPr>
          <p:cNvPr id="25" name="Shape 22"/>
          <p:cNvSpPr/>
          <p:nvPr/>
        </p:nvSpPr>
        <p:spPr>
          <a:xfrm>
            <a:off x="4640580" y="2926080"/>
            <a:ext cx="1954530" cy="786384"/>
          </a:xfrm>
          <a:prstGeom prst="rect">
            <a:avLst/>
          </a:prstGeom>
          <a:solidFill>
            <a:srgbClr val="F2F6FC"/>
          </a:solidFill>
          <a:ln w="9525">
            <a:solidFill>
              <a:srgbClr val="D5DCEA"/>
            </a:solidFill>
            <a:prstDash val="solid"/>
          </a:ln>
        </p:spPr>
      </p:sp>
      <p:sp>
        <p:nvSpPr>
          <p:cNvPr id="26" name="Text 23"/>
          <p:cNvSpPr txBox="1"/>
          <p:nvPr/>
        </p:nvSpPr>
        <p:spPr>
          <a:xfrm>
            <a:off x="473202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11  </a:t>
            </a:r>
            <a:pPr indent="0" marL="0">
              <a:buNone/>
            </a:pPr>
            <a:r>
              <a:rPr lang="en-US" sz="1000" b="1" dirty="0">
                <a:solidFill>
                  <a:srgbClr val="595959"/>
                </a:solidFill>
                <a:latin typeface="Arial" pitchFamily="34" charset="0"/>
                <a:ea typeface="Arial" pitchFamily="34" charset="-122"/>
                <a:cs typeface="Arial" pitchFamily="34" charset="-120"/>
              </a:rPr>
              <a:t>4:21–31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Old Testament Story</a:t>
            </a:r>
            <a:endParaRPr lang="en-US" sz="1200" dirty="0"/>
          </a:p>
        </p:txBody>
      </p:sp>
      <p:sp>
        <p:nvSpPr>
          <p:cNvPr id="27" name="Shape 24"/>
          <p:cNvSpPr/>
          <p:nvPr/>
        </p:nvSpPr>
        <p:spPr>
          <a:xfrm>
            <a:off x="6732270" y="2926080"/>
            <a:ext cx="1954530" cy="786384"/>
          </a:xfrm>
          <a:prstGeom prst="rect">
            <a:avLst/>
          </a:prstGeom>
          <a:solidFill>
            <a:srgbClr val="F2F6FC"/>
          </a:solidFill>
          <a:ln w="9525">
            <a:solidFill>
              <a:srgbClr val="D5DCEA"/>
            </a:solidFill>
            <a:prstDash val="solid"/>
          </a:ln>
        </p:spPr>
      </p:sp>
      <p:sp>
        <p:nvSpPr>
          <p:cNvPr id="28" name="Text 25"/>
          <p:cNvSpPr txBox="1"/>
          <p:nvPr/>
        </p:nvSpPr>
        <p:spPr>
          <a:xfrm>
            <a:off x="682371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12  </a:t>
            </a:r>
            <a:pPr indent="0" marL="0">
              <a:buNone/>
            </a:pPr>
            <a:r>
              <a:rPr lang="en-US" sz="1000" b="1" dirty="0">
                <a:solidFill>
                  <a:srgbClr val="595959"/>
                </a:solidFill>
                <a:latin typeface="Arial" pitchFamily="34" charset="0"/>
                <a:ea typeface="Arial" pitchFamily="34" charset="-122"/>
                <a:cs typeface="Arial" pitchFamily="34" charset="-120"/>
              </a:rPr>
              <a:t>5:1–12</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Taking a Stand in Liberty</a:t>
            </a:r>
            <a:endParaRPr lang="en-US" sz="1200" dirty="0"/>
          </a:p>
        </p:txBody>
      </p:sp>
      <p:sp>
        <p:nvSpPr>
          <p:cNvPr id="29" name="Shape 26"/>
          <p:cNvSpPr/>
          <p:nvPr/>
        </p:nvSpPr>
        <p:spPr>
          <a:xfrm>
            <a:off x="457200" y="3831336"/>
            <a:ext cx="1954530" cy="786384"/>
          </a:xfrm>
          <a:prstGeom prst="rect">
            <a:avLst/>
          </a:prstGeom>
          <a:solidFill>
            <a:srgbClr val="F2F6FC"/>
          </a:solidFill>
          <a:ln w="9525">
            <a:solidFill>
              <a:srgbClr val="D5DCEA"/>
            </a:solidFill>
            <a:prstDash val="solid"/>
          </a:ln>
        </p:spPr>
      </p:sp>
      <p:sp>
        <p:nvSpPr>
          <p:cNvPr id="30" name="Text 27"/>
          <p:cNvSpPr txBox="1"/>
          <p:nvPr/>
        </p:nvSpPr>
        <p:spPr>
          <a:xfrm>
            <a:off x="54864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13  </a:t>
            </a:r>
            <a:pPr indent="0" marL="0">
              <a:buNone/>
            </a:pPr>
            <a:r>
              <a:rPr lang="en-US" sz="1000" b="1" dirty="0">
                <a:solidFill>
                  <a:srgbClr val="595959"/>
                </a:solidFill>
                <a:latin typeface="Arial" pitchFamily="34" charset="0"/>
                <a:ea typeface="Arial" pitchFamily="34" charset="-122"/>
                <a:cs typeface="Arial" pitchFamily="34" charset="-120"/>
              </a:rPr>
              <a:t>5:13–26</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Walk in the Spirit</a:t>
            </a:r>
            <a:endParaRPr lang="en-US" sz="1200" dirty="0"/>
          </a:p>
        </p:txBody>
      </p:sp>
      <p:sp>
        <p:nvSpPr>
          <p:cNvPr id="31" name="Shape 28"/>
          <p:cNvSpPr/>
          <p:nvPr/>
        </p:nvSpPr>
        <p:spPr>
          <a:xfrm>
            <a:off x="2548890" y="3831336"/>
            <a:ext cx="1954530" cy="786384"/>
          </a:xfrm>
          <a:prstGeom prst="rect">
            <a:avLst/>
          </a:prstGeom>
          <a:solidFill>
            <a:srgbClr val="F2F6FC"/>
          </a:solidFill>
          <a:ln w="9525">
            <a:solidFill>
              <a:srgbClr val="D5DCEA"/>
            </a:solidFill>
            <a:prstDash val="solid"/>
          </a:ln>
        </p:spPr>
      </p:sp>
      <p:sp>
        <p:nvSpPr>
          <p:cNvPr id="32" name="Text 29"/>
          <p:cNvSpPr txBox="1"/>
          <p:nvPr/>
        </p:nvSpPr>
        <p:spPr>
          <a:xfrm>
            <a:off x="264033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14  </a:t>
            </a:r>
            <a:pPr indent="0" marL="0">
              <a:buNone/>
            </a:pPr>
            <a:r>
              <a:rPr lang="en-US" sz="1000" b="1" dirty="0">
                <a:solidFill>
                  <a:srgbClr val="595959"/>
                </a:solidFill>
                <a:latin typeface="Arial" pitchFamily="34" charset="0"/>
                <a:ea typeface="Arial" pitchFamily="34" charset="-122"/>
                <a:cs typeface="Arial" pitchFamily="34" charset="-120"/>
              </a:rPr>
              <a:t>6:1–5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Brothers and Burdens</a:t>
            </a:r>
            <a:endParaRPr lang="en-US" sz="1200" dirty="0"/>
          </a:p>
        </p:txBody>
      </p:sp>
      <p:sp>
        <p:nvSpPr>
          <p:cNvPr id="33" name="Shape 30"/>
          <p:cNvSpPr/>
          <p:nvPr/>
        </p:nvSpPr>
        <p:spPr>
          <a:xfrm>
            <a:off x="4640580" y="3831336"/>
            <a:ext cx="1954530" cy="786384"/>
          </a:xfrm>
          <a:prstGeom prst="rect">
            <a:avLst/>
          </a:prstGeom>
          <a:solidFill>
            <a:srgbClr val="F2F6FC"/>
          </a:solidFill>
          <a:ln w="9525">
            <a:solidFill>
              <a:srgbClr val="D5DCEA"/>
            </a:solidFill>
            <a:prstDash val="solid"/>
          </a:ln>
        </p:spPr>
      </p:sp>
      <p:sp>
        <p:nvSpPr>
          <p:cNvPr id="34" name="Text 31"/>
          <p:cNvSpPr txBox="1"/>
          <p:nvPr/>
        </p:nvSpPr>
        <p:spPr>
          <a:xfrm>
            <a:off x="473202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15  </a:t>
            </a:r>
            <a:pPr indent="0" marL="0">
              <a:buNone/>
            </a:pPr>
            <a:r>
              <a:rPr lang="en-US" sz="1000" b="1" dirty="0">
                <a:solidFill>
                  <a:srgbClr val="595959"/>
                </a:solidFill>
                <a:latin typeface="Arial" pitchFamily="34" charset="0"/>
                <a:ea typeface="Arial" pitchFamily="34" charset="-122"/>
                <a:cs typeface="Arial" pitchFamily="34" charset="-120"/>
              </a:rPr>
              <a:t>6:6–10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Sowing and Reaping</a:t>
            </a:r>
            <a:endParaRPr lang="en-US" sz="1200" dirty="0"/>
          </a:p>
        </p:txBody>
      </p:sp>
      <p:sp>
        <p:nvSpPr>
          <p:cNvPr id="35" name="Shape 32"/>
          <p:cNvSpPr/>
          <p:nvPr/>
        </p:nvSpPr>
        <p:spPr>
          <a:xfrm>
            <a:off x="6732270" y="3831336"/>
            <a:ext cx="1954530" cy="786384"/>
          </a:xfrm>
          <a:prstGeom prst="rect">
            <a:avLst/>
          </a:prstGeom>
          <a:solidFill>
            <a:srgbClr val="F2F6FC"/>
          </a:solidFill>
          <a:ln w="9525">
            <a:solidFill>
              <a:srgbClr val="D5DCEA"/>
            </a:solidFill>
            <a:prstDash val="solid"/>
          </a:ln>
        </p:spPr>
      </p:sp>
      <p:sp>
        <p:nvSpPr>
          <p:cNvPr id="36" name="Text 33"/>
          <p:cNvSpPr txBox="1"/>
          <p:nvPr/>
        </p:nvSpPr>
        <p:spPr>
          <a:xfrm>
            <a:off x="682371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16  </a:t>
            </a:r>
            <a:pPr indent="0" marL="0">
              <a:buNone/>
            </a:pPr>
            <a:r>
              <a:rPr lang="en-US" sz="1000" b="1" dirty="0">
                <a:solidFill>
                  <a:srgbClr val="595959"/>
                </a:solidFill>
                <a:latin typeface="Arial" pitchFamily="34" charset="0"/>
                <a:ea typeface="Arial" pitchFamily="34" charset="-122"/>
                <a:cs typeface="Arial" pitchFamily="34" charset="-120"/>
              </a:rPr>
              <a:t>6:11–18</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Teaching the Truth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Paul's affection and allegiance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4:12–20 · The commentary's outline</a:t>
            </a:r>
            <a:endParaRPr lang="en-US" sz="1200" dirty="0"/>
          </a:p>
        </p:txBody>
      </p:sp>
      <p:sp>
        <p:nvSpPr>
          <p:cNvPr id="5" name="Shape 2"/>
          <p:cNvSpPr/>
          <p:nvPr/>
        </p:nvSpPr>
        <p:spPr>
          <a:xfrm>
            <a:off x="457200" y="1143000"/>
            <a:ext cx="4023360" cy="457200"/>
          </a:xfrm>
          <a:prstGeom prst="rect">
            <a:avLst/>
          </a:prstGeom>
          <a:solidFill>
            <a:srgbClr val="2E5496"/>
          </a:solidFill>
          <a:ln w="12700">
            <a:solidFill>
              <a:srgbClr val="2E5496"/>
            </a:solidFill>
            <a:prstDash val="solid"/>
          </a:ln>
        </p:spPr>
      </p:sp>
      <p:sp>
        <p:nvSpPr>
          <p:cNvPr id="6" name="Text 3"/>
          <p:cNvSpPr txBox="1"/>
          <p:nvPr/>
        </p:nvSpPr>
        <p:spPr>
          <a:xfrm>
            <a:off x="548640" y="1188720"/>
            <a:ext cx="384048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 Paul's Affection  ·  4:12–16</a:t>
            </a:r>
            <a:endParaRPr lang="en-US" sz="1200" dirty="0"/>
          </a:p>
        </p:txBody>
      </p:sp>
      <p:sp>
        <p:nvSpPr>
          <p:cNvPr id="7" name="Shape 4"/>
          <p:cNvSpPr/>
          <p:nvPr/>
        </p:nvSpPr>
        <p:spPr>
          <a:xfrm>
            <a:off x="457200" y="1600200"/>
            <a:ext cx="4023360" cy="2971800"/>
          </a:xfrm>
          <a:prstGeom prst="rect">
            <a:avLst/>
          </a:prstGeom>
          <a:solidFill>
            <a:srgbClr val="F2F6FC"/>
          </a:solidFill>
          <a:ln w="9525">
            <a:solidFill>
              <a:srgbClr val="D5DCEA"/>
            </a:solidFill>
            <a:prstDash val="solid"/>
          </a:ln>
        </p:spPr>
      </p:sp>
      <p:sp>
        <p:nvSpPr>
          <p:cNvPr id="8" name="Text 5"/>
          <p:cNvSpPr txBox="1"/>
          <p:nvPr/>
        </p:nvSpPr>
        <p:spPr>
          <a:xfrm>
            <a:off x="548640" y="1673352"/>
            <a:ext cx="3840480" cy="2843784"/>
          </a:xfrm>
          <a:prstGeom prst="rect">
            <a:avLst/>
          </a:prstGeom>
          <a:noFill/>
          <a:ln/>
        </p:spPr>
        <p:txBody>
          <a:bodyPr wrap="square" lIns="0" tIns="0" rIns="0" bIns="0" rtlCol="0" anchor="t"/>
          <a:lstStyle/>
          <a:p>
            <a:pPr indent="0" marL="0">
              <a:buNone/>
            </a:pPr>
            <a:endParaRPr lang="en-US" sz="1300" dirty="0"/>
          </a:p>
        </p:txBody>
      </p:sp>
      <p:sp>
        <p:nvSpPr>
          <p:cNvPr id="9" name="Shape 6"/>
          <p:cNvSpPr/>
          <p:nvPr/>
        </p:nvSpPr>
        <p:spPr>
          <a:xfrm>
            <a:off x="566928" y="1792224"/>
            <a:ext cx="420624" cy="420624"/>
          </a:xfrm>
          <a:prstGeom prst="ellipse">
            <a:avLst/>
          </a:prstGeom>
          <a:solidFill>
            <a:srgbClr val="2E5496"/>
          </a:solidFill>
          <a:ln w="12700">
            <a:solidFill>
              <a:srgbClr val="2E5496"/>
            </a:solidFill>
            <a:prstDash val="solid"/>
          </a:ln>
        </p:spPr>
      </p:sp>
      <p:sp>
        <p:nvSpPr>
          <p:cNvPr id="10" name="Text 7"/>
          <p:cNvSpPr txBox="1"/>
          <p:nvPr/>
        </p:nvSpPr>
        <p:spPr>
          <a:xfrm>
            <a:off x="566928" y="179222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11" name="Text 8"/>
          <p:cNvSpPr txBox="1"/>
          <p:nvPr/>
        </p:nvSpPr>
        <p:spPr>
          <a:xfrm>
            <a:off x="1097280" y="1719072"/>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His plea</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Become like me — free from the Law (12a)</a:t>
            </a:r>
            <a:endParaRPr lang="en-US" sz="1200" dirty="0"/>
          </a:p>
        </p:txBody>
      </p:sp>
      <p:sp>
        <p:nvSpPr>
          <p:cNvPr id="12" name="Shape 9"/>
          <p:cNvSpPr/>
          <p:nvPr/>
        </p:nvSpPr>
        <p:spPr>
          <a:xfrm>
            <a:off x="566928" y="2496312"/>
            <a:ext cx="420624" cy="420624"/>
          </a:xfrm>
          <a:prstGeom prst="ellipse">
            <a:avLst/>
          </a:prstGeom>
          <a:solidFill>
            <a:srgbClr val="2E5496"/>
          </a:solidFill>
          <a:ln w="12700">
            <a:solidFill>
              <a:srgbClr val="2E5496"/>
            </a:solidFill>
            <a:prstDash val="solid"/>
          </a:ln>
        </p:spPr>
      </p:sp>
      <p:sp>
        <p:nvSpPr>
          <p:cNvPr id="13" name="Text 10"/>
          <p:cNvSpPr txBox="1"/>
          <p:nvPr/>
        </p:nvSpPr>
        <p:spPr>
          <a:xfrm>
            <a:off x="566928" y="2496312"/>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a:t>
            </a:r>
            <a:endParaRPr lang="en-US" sz="1100" dirty="0"/>
          </a:p>
        </p:txBody>
      </p:sp>
      <p:sp>
        <p:nvSpPr>
          <p:cNvPr id="14" name="Text 11"/>
          <p:cNvSpPr txBox="1"/>
          <p:nvPr/>
        </p:nvSpPr>
        <p:spPr>
          <a:xfrm>
            <a:off x="1097280" y="2423160"/>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His problem</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He first came in physical weakness (12b–13)</a:t>
            </a:r>
            <a:endParaRPr lang="en-US" sz="1200" dirty="0"/>
          </a:p>
        </p:txBody>
      </p:sp>
      <p:sp>
        <p:nvSpPr>
          <p:cNvPr id="15" name="Shape 12"/>
          <p:cNvSpPr/>
          <p:nvPr/>
        </p:nvSpPr>
        <p:spPr>
          <a:xfrm>
            <a:off x="566928" y="3200400"/>
            <a:ext cx="420624" cy="420624"/>
          </a:xfrm>
          <a:prstGeom prst="ellipse">
            <a:avLst/>
          </a:prstGeom>
          <a:solidFill>
            <a:srgbClr val="2E5496"/>
          </a:solidFill>
          <a:ln w="12700">
            <a:solidFill>
              <a:srgbClr val="2E5496"/>
            </a:solidFill>
            <a:prstDash val="solid"/>
          </a:ln>
        </p:spPr>
      </p:sp>
      <p:sp>
        <p:nvSpPr>
          <p:cNvPr id="16" name="Text 13"/>
          <p:cNvSpPr txBox="1"/>
          <p:nvPr/>
        </p:nvSpPr>
        <p:spPr>
          <a:xfrm>
            <a:off x="566928" y="32004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t>
            </a:r>
            <a:endParaRPr lang="en-US" sz="1100" dirty="0"/>
          </a:p>
        </p:txBody>
      </p:sp>
      <p:sp>
        <p:nvSpPr>
          <p:cNvPr id="17" name="Text 14"/>
          <p:cNvSpPr txBox="1"/>
          <p:nvPr/>
        </p:nvSpPr>
        <p:spPr>
          <a:xfrm>
            <a:off x="1097280" y="3127248"/>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Their approval</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They received him as an angel of God (14–15)</a:t>
            </a:r>
            <a:endParaRPr lang="en-US" sz="1200" dirty="0"/>
          </a:p>
        </p:txBody>
      </p:sp>
      <p:sp>
        <p:nvSpPr>
          <p:cNvPr id="18" name="Shape 15"/>
          <p:cNvSpPr/>
          <p:nvPr/>
        </p:nvSpPr>
        <p:spPr>
          <a:xfrm>
            <a:off x="566928" y="3904488"/>
            <a:ext cx="420624" cy="420624"/>
          </a:xfrm>
          <a:prstGeom prst="ellipse">
            <a:avLst/>
          </a:prstGeom>
          <a:solidFill>
            <a:srgbClr val="2E5496"/>
          </a:solidFill>
          <a:ln w="12700">
            <a:solidFill>
              <a:srgbClr val="2E5496"/>
            </a:solidFill>
            <a:prstDash val="solid"/>
          </a:ln>
        </p:spPr>
      </p:sp>
      <p:sp>
        <p:nvSpPr>
          <p:cNvPr id="19" name="Text 16"/>
          <p:cNvSpPr txBox="1"/>
          <p:nvPr/>
        </p:nvSpPr>
        <p:spPr>
          <a:xfrm>
            <a:off x="566928" y="3904488"/>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a:t>
            </a:r>
            <a:endParaRPr lang="en-US" sz="1100" dirty="0"/>
          </a:p>
        </p:txBody>
      </p:sp>
      <p:sp>
        <p:nvSpPr>
          <p:cNvPr id="20" name="Text 17"/>
          <p:cNvSpPr txBox="1"/>
          <p:nvPr/>
        </p:nvSpPr>
        <p:spPr>
          <a:xfrm>
            <a:off x="1097280" y="3831336"/>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His persuasion</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Am I your enemy for telling the truth? (16)</a:t>
            </a:r>
            <a:endParaRPr lang="en-US" sz="1200" dirty="0"/>
          </a:p>
        </p:txBody>
      </p:sp>
      <p:sp>
        <p:nvSpPr>
          <p:cNvPr id="21" name="Shape 18"/>
          <p:cNvSpPr/>
          <p:nvPr/>
        </p:nvSpPr>
        <p:spPr>
          <a:xfrm>
            <a:off x="4663440" y="1143000"/>
            <a:ext cx="4023360" cy="457200"/>
          </a:xfrm>
          <a:prstGeom prst="rect">
            <a:avLst/>
          </a:prstGeom>
          <a:solidFill>
            <a:srgbClr val="375623"/>
          </a:solidFill>
          <a:ln w="12700">
            <a:solidFill>
              <a:srgbClr val="375623"/>
            </a:solidFill>
            <a:prstDash val="solid"/>
          </a:ln>
        </p:spPr>
      </p:sp>
      <p:sp>
        <p:nvSpPr>
          <p:cNvPr id="22" name="Text 19"/>
          <p:cNvSpPr txBox="1"/>
          <p:nvPr/>
        </p:nvSpPr>
        <p:spPr>
          <a:xfrm>
            <a:off x="4754880" y="1188720"/>
            <a:ext cx="384048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 Paul's Allegiance  ·  4:17–20</a:t>
            </a:r>
            <a:endParaRPr lang="en-US" sz="1200" dirty="0"/>
          </a:p>
        </p:txBody>
      </p:sp>
      <p:sp>
        <p:nvSpPr>
          <p:cNvPr id="23" name="Shape 20"/>
          <p:cNvSpPr/>
          <p:nvPr/>
        </p:nvSpPr>
        <p:spPr>
          <a:xfrm>
            <a:off x="4663440" y="1600200"/>
            <a:ext cx="4023360" cy="2971800"/>
          </a:xfrm>
          <a:prstGeom prst="rect">
            <a:avLst/>
          </a:prstGeom>
          <a:solidFill>
            <a:srgbClr val="F2F6FC"/>
          </a:solidFill>
          <a:ln w="9525">
            <a:solidFill>
              <a:srgbClr val="D5DCEA"/>
            </a:solidFill>
            <a:prstDash val="solid"/>
          </a:ln>
        </p:spPr>
      </p:sp>
      <p:sp>
        <p:nvSpPr>
          <p:cNvPr id="24" name="Text 21"/>
          <p:cNvSpPr txBox="1"/>
          <p:nvPr/>
        </p:nvSpPr>
        <p:spPr>
          <a:xfrm>
            <a:off x="4754880" y="1673352"/>
            <a:ext cx="3840480" cy="2843784"/>
          </a:xfrm>
          <a:prstGeom prst="rect">
            <a:avLst/>
          </a:prstGeom>
          <a:noFill/>
          <a:ln/>
        </p:spPr>
        <p:txBody>
          <a:bodyPr wrap="square" lIns="0" tIns="0" rIns="0" bIns="0" rtlCol="0" anchor="t"/>
          <a:lstStyle/>
          <a:p>
            <a:pPr indent="0" marL="0">
              <a:buNone/>
            </a:pPr>
            <a:endParaRPr lang="en-US" sz="1300" dirty="0"/>
          </a:p>
        </p:txBody>
      </p:sp>
      <p:sp>
        <p:nvSpPr>
          <p:cNvPr id="25" name="Shape 22"/>
          <p:cNvSpPr/>
          <p:nvPr/>
        </p:nvSpPr>
        <p:spPr>
          <a:xfrm>
            <a:off x="4773168" y="1792224"/>
            <a:ext cx="420624" cy="420624"/>
          </a:xfrm>
          <a:prstGeom prst="ellipse">
            <a:avLst/>
          </a:prstGeom>
          <a:solidFill>
            <a:srgbClr val="375623"/>
          </a:solidFill>
          <a:ln w="12700">
            <a:solidFill>
              <a:srgbClr val="375623"/>
            </a:solidFill>
            <a:prstDash val="solid"/>
          </a:ln>
        </p:spPr>
      </p:sp>
      <p:sp>
        <p:nvSpPr>
          <p:cNvPr id="26" name="Text 23"/>
          <p:cNvSpPr txBox="1"/>
          <p:nvPr/>
        </p:nvSpPr>
        <p:spPr>
          <a:xfrm>
            <a:off x="4773168" y="179222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27" name="Text 24"/>
          <p:cNvSpPr txBox="1"/>
          <p:nvPr/>
        </p:nvSpPr>
        <p:spPr>
          <a:xfrm>
            <a:off x="5303520" y="1719072"/>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Artificial loyalty</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The Judaizers court you for no good (17)</a:t>
            </a:r>
            <a:endParaRPr lang="en-US" sz="1200" dirty="0"/>
          </a:p>
        </p:txBody>
      </p:sp>
      <p:sp>
        <p:nvSpPr>
          <p:cNvPr id="28" name="Shape 25"/>
          <p:cNvSpPr/>
          <p:nvPr/>
        </p:nvSpPr>
        <p:spPr>
          <a:xfrm>
            <a:off x="4773168" y="2496312"/>
            <a:ext cx="420624" cy="420624"/>
          </a:xfrm>
          <a:prstGeom prst="ellipse">
            <a:avLst/>
          </a:prstGeom>
          <a:solidFill>
            <a:srgbClr val="375623"/>
          </a:solidFill>
          <a:ln w="12700">
            <a:solidFill>
              <a:srgbClr val="375623"/>
            </a:solidFill>
            <a:prstDash val="solid"/>
          </a:ln>
        </p:spPr>
      </p:sp>
      <p:sp>
        <p:nvSpPr>
          <p:cNvPr id="29" name="Text 26"/>
          <p:cNvSpPr txBox="1"/>
          <p:nvPr/>
        </p:nvSpPr>
        <p:spPr>
          <a:xfrm>
            <a:off x="4773168" y="2496312"/>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B1</a:t>
            </a:r>
            <a:endParaRPr lang="en-US" sz="1100" dirty="0"/>
          </a:p>
        </p:txBody>
      </p:sp>
      <p:sp>
        <p:nvSpPr>
          <p:cNvPr id="30" name="Text 27"/>
          <p:cNvSpPr txBox="1"/>
          <p:nvPr/>
        </p:nvSpPr>
        <p:spPr>
          <a:xfrm>
            <a:off x="5303520" y="2423160"/>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Certainty</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Zeal in a good thing, always (18)</a:t>
            </a:r>
            <a:endParaRPr lang="en-US" sz="1200" dirty="0"/>
          </a:p>
        </p:txBody>
      </p:sp>
      <p:sp>
        <p:nvSpPr>
          <p:cNvPr id="31" name="Shape 28"/>
          <p:cNvSpPr/>
          <p:nvPr/>
        </p:nvSpPr>
        <p:spPr>
          <a:xfrm>
            <a:off x="4773168" y="3200400"/>
            <a:ext cx="420624" cy="420624"/>
          </a:xfrm>
          <a:prstGeom prst="ellipse">
            <a:avLst/>
          </a:prstGeom>
          <a:solidFill>
            <a:srgbClr val="375623"/>
          </a:solidFill>
          <a:ln w="12700">
            <a:solidFill>
              <a:srgbClr val="375623"/>
            </a:solidFill>
            <a:prstDash val="solid"/>
          </a:ln>
        </p:spPr>
      </p:sp>
      <p:sp>
        <p:nvSpPr>
          <p:cNvPr id="32" name="Text 29"/>
          <p:cNvSpPr txBox="1"/>
          <p:nvPr/>
        </p:nvSpPr>
        <p:spPr>
          <a:xfrm>
            <a:off x="4773168" y="32004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B2</a:t>
            </a:r>
            <a:endParaRPr lang="en-US" sz="1100" dirty="0"/>
          </a:p>
        </p:txBody>
      </p:sp>
      <p:sp>
        <p:nvSpPr>
          <p:cNvPr id="33" name="Text 30"/>
          <p:cNvSpPr txBox="1"/>
          <p:nvPr/>
        </p:nvSpPr>
        <p:spPr>
          <a:xfrm>
            <a:off x="5303520" y="3127248"/>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Compassion</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“My little children” (19a)</a:t>
            </a:r>
            <a:endParaRPr lang="en-US" sz="1200" dirty="0"/>
          </a:p>
        </p:txBody>
      </p:sp>
      <p:sp>
        <p:nvSpPr>
          <p:cNvPr id="34" name="Shape 31"/>
          <p:cNvSpPr/>
          <p:nvPr/>
        </p:nvSpPr>
        <p:spPr>
          <a:xfrm>
            <a:off x="4773168" y="3904488"/>
            <a:ext cx="420624" cy="420624"/>
          </a:xfrm>
          <a:prstGeom prst="ellipse">
            <a:avLst/>
          </a:prstGeom>
          <a:solidFill>
            <a:srgbClr val="375623"/>
          </a:solidFill>
          <a:ln w="12700">
            <a:solidFill>
              <a:srgbClr val="375623"/>
            </a:solidFill>
            <a:prstDash val="solid"/>
          </a:ln>
        </p:spPr>
      </p:sp>
      <p:sp>
        <p:nvSpPr>
          <p:cNvPr id="35" name="Text 32"/>
          <p:cNvSpPr txBox="1"/>
          <p:nvPr/>
        </p:nvSpPr>
        <p:spPr>
          <a:xfrm>
            <a:off x="4773168" y="3904488"/>
            <a:ext cx="420624"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B3–4</a:t>
            </a:r>
            <a:endParaRPr lang="en-US" sz="850" dirty="0"/>
          </a:p>
        </p:txBody>
      </p:sp>
      <p:sp>
        <p:nvSpPr>
          <p:cNvPr id="36" name="Text 33"/>
          <p:cNvSpPr txBox="1"/>
          <p:nvPr/>
        </p:nvSpPr>
        <p:spPr>
          <a:xfrm>
            <a:off x="5303520" y="3831336"/>
            <a:ext cx="3291840" cy="594360"/>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Check · character</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Until Christ is formed in you; I wish I were there (19b–20)</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Then and now</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4:13–16 · Outline I.B–D</a:t>
            </a:r>
            <a:endParaRPr lang="en-US" sz="1200" dirty="0"/>
          </a:p>
        </p:txBody>
      </p:sp>
      <p:sp>
        <p:nvSpPr>
          <p:cNvPr id="5" name="Shape 2"/>
          <p:cNvSpPr/>
          <p:nvPr/>
        </p:nvSpPr>
        <p:spPr>
          <a:xfrm>
            <a:off x="2011680" y="1115568"/>
            <a:ext cx="3291840" cy="384048"/>
          </a:xfrm>
          <a:prstGeom prst="rect">
            <a:avLst/>
          </a:prstGeom>
          <a:solidFill>
            <a:srgbClr val="2E5496"/>
          </a:solidFill>
          <a:ln w="12700">
            <a:solidFill>
              <a:srgbClr val="2E5496"/>
            </a:solidFill>
            <a:prstDash val="solid"/>
          </a:ln>
        </p:spPr>
      </p:sp>
      <p:sp>
        <p:nvSpPr>
          <p:cNvPr id="6" name="Text 3"/>
          <p:cNvSpPr txBox="1"/>
          <p:nvPr/>
        </p:nvSpPr>
        <p:spPr>
          <a:xfrm>
            <a:off x="2103120" y="1115568"/>
            <a:ext cx="315468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Then — when Paul first came</a:t>
            </a:r>
            <a:endParaRPr lang="en-US" sz="1250" dirty="0"/>
          </a:p>
        </p:txBody>
      </p:sp>
      <p:sp>
        <p:nvSpPr>
          <p:cNvPr id="7" name="Shape 4"/>
          <p:cNvSpPr/>
          <p:nvPr/>
        </p:nvSpPr>
        <p:spPr>
          <a:xfrm>
            <a:off x="5394960" y="1115568"/>
            <a:ext cx="3291840" cy="384048"/>
          </a:xfrm>
          <a:prstGeom prst="rect">
            <a:avLst/>
          </a:prstGeom>
          <a:solidFill>
            <a:srgbClr val="6B7280"/>
          </a:solidFill>
          <a:ln w="12700">
            <a:solidFill>
              <a:srgbClr val="6B7280"/>
            </a:solidFill>
            <a:prstDash val="solid"/>
          </a:ln>
        </p:spPr>
      </p:sp>
      <p:sp>
        <p:nvSpPr>
          <p:cNvPr id="8" name="Text 5"/>
          <p:cNvSpPr txBox="1"/>
          <p:nvPr/>
        </p:nvSpPr>
        <p:spPr>
          <a:xfrm>
            <a:off x="5440680" y="1115568"/>
            <a:ext cx="315468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Now — after the Judaizers</a:t>
            </a:r>
            <a:endParaRPr lang="en-US" sz="1250" dirty="0"/>
          </a:p>
        </p:txBody>
      </p:sp>
      <p:sp>
        <p:nvSpPr>
          <p:cNvPr id="9" name="Text 6"/>
          <p:cNvSpPr txBox="1"/>
          <p:nvPr/>
        </p:nvSpPr>
        <p:spPr>
          <a:xfrm>
            <a:off x="457200" y="1554480"/>
            <a:ext cx="146304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Paul's condition</a:t>
            </a:r>
            <a:endParaRPr lang="en-US" sz="1150" dirty="0"/>
          </a:p>
        </p:txBody>
      </p:sp>
      <p:sp>
        <p:nvSpPr>
          <p:cNvPr id="10" name="Shape 7"/>
          <p:cNvSpPr/>
          <p:nvPr/>
        </p:nvSpPr>
        <p:spPr>
          <a:xfrm>
            <a:off x="2011680" y="1554480"/>
            <a:ext cx="3291840" cy="548640"/>
          </a:xfrm>
          <a:prstGeom prst="rect">
            <a:avLst/>
          </a:prstGeom>
          <a:solidFill>
            <a:srgbClr val="F2F6FC"/>
          </a:solidFill>
          <a:ln w="9525">
            <a:solidFill>
              <a:srgbClr val="D5DCEA"/>
            </a:solidFill>
            <a:prstDash val="solid"/>
          </a:ln>
        </p:spPr>
      </p:sp>
      <p:sp>
        <p:nvSpPr>
          <p:cNvPr id="11" name="Text 8"/>
          <p:cNvSpPr txBox="1"/>
          <p:nvPr/>
        </p:nvSpPr>
        <p:spPr>
          <a:xfrm>
            <a:off x="2103120" y="1554480"/>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 physical infirmity (ἀσθένεια) — v.13</a:t>
            </a:r>
            <a:endParaRPr lang="en-US" sz="1200" dirty="0"/>
          </a:p>
        </p:txBody>
      </p:sp>
      <p:sp>
        <p:nvSpPr>
          <p:cNvPr id="12" name="Shape 9"/>
          <p:cNvSpPr/>
          <p:nvPr/>
        </p:nvSpPr>
        <p:spPr>
          <a:xfrm>
            <a:off x="5394960" y="1554480"/>
            <a:ext cx="3291840" cy="548640"/>
          </a:xfrm>
          <a:prstGeom prst="rect">
            <a:avLst/>
          </a:prstGeom>
          <a:solidFill>
            <a:srgbClr val="F2F6FC"/>
          </a:solidFill>
          <a:ln w="9525">
            <a:solidFill>
              <a:srgbClr val="D5DCEA"/>
            </a:solidFill>
            <a:prstDash val="solid"/>
          </a:ln>
        </p:spPr>
      </p:sp>
      <p:sp>
        <p:nvSpPr>
          <p:cNvPr id="13" name="Text 10"/>
          <p:cNvSpPr txBox="1"/>
          <p:nvPr/>
        </p:nvSpPr>
        <p:spPr>
          <a:xfrm>
            <a:off x="5486400" y="1554480"/>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The same Paul, telling the same truth</a:t>
            </a:r>
            <a:endParaRPr lang="en-US" sz="1200" dirty="0"/>
          </a:p>
        </p:txBody>
      </p:sp>
      <p:sp>
        <p:nvSpPr>
          <p:cNvPr id="14" name="Text 11"/>
          <p:cNvSpPr txBox="1"/>
          <p:nvPr/>
        </p:nvSpPr>
        <p:spPr>
          <a:xfrm>
            <a:off x="457200" y="2157984"/>
            <a:ext cx="146304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Their response</a:t>
            </a:r>
            <a:endParaRPr lang="en-US" sz="1150" dirty="0"/>
          </a:p>
        </p:txBody>
      </p:sp>
      <p:sp>
        <p:nvSpPr>
          <p:cNvPr id="15" name="Shape 12"/>
          <p:cNvSpPr/>
          <p:nvPr/>
        </p:nvSpPr>
        <p:spPr>
          <a:xfrm>
            <a:off x="2011680" y="2157984"/>
            <a:ext cx="3291840" cy="548640"/>
          </a:xfrm>
          <a:prstGeom prst="rect">
            <a:avLst/>
          </a:prstGeom>
          <a:solidFill>
            <a:srgbClr val="F2F6FC"/>
          </a:solidFill>
          <a:ln w="9525">
            <a:solidFill>
              <a:srgbClr val="D5DCEA"/>
            </a:solidFill>
            <a:prstDash val="solid"/>
          </a:ln>
        </p:spPr>
      </p:sp>
      <p:sp>
        <p:nvSpPr>
          <p:cNvPr id="16" name="Text 13"/>
          <p:cNvSpPr txBox="1"/>
          <p:nvPr/>
        </p:nvSpPr>
        <p:spPr>
          <a:xfrm>
            <a:off x="2103120" y="2157984"/>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Did not despise or spit him out — v.14</a:t>
            </a:r>
            <a:endParaRPr lang="en-US" sz="1200" dirty="0"/>
          </a:p>
        </p:txBody>
      </p:sp>
      <p:sp>
        <p:nvSpPr>
          <p:cNvPr id="17" name="Shape 14"/>
          <p:cNvSpPr/>
          <p:nvPr/>
        </p:nvSpPr>
        <p:spPr>
          <a:xfrm>
            <a:off x="5394960" y="2157984"/>
            <a:ext cx="3291840" cy="548640"/>
          </a:xfrm>
          <a:prstGeom prst="rect">
            <a:avLst/>
          </a:prstGeom>
          <a:solidFill>
            <a:srgbClr val="F2F6FC"/>
          </a:solidFill>
          <a:ln w="9525">
            <a:solidFill>
              <a:srgbClr val="D5DCEA"/>
            </a:solidFill>
            <a:prstDash val="solid"/>
          </a:ln>
        </p:spPr>
      </p:sp>
      <p:sp>
        <p:nvSpPr>
          <p:cNvPr id="18" name="Text 15"/>
          <p:cNvSpPr txBox="1"/>
          <p:nvPr/>
        </p:nvSpPr>
        <p:spPr>
          <a:xfrm>
            <a:off x="5486400" y="2157984"/>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“Have I become your enemy?” (ἐχθρός) — v.16</a:t>
            </a:r>
            <a:endParaRPr lang="en-US" sz="1200" dirty="0"/>
          </a:p>
        </p:txBody>
      </p:sp>
      <p:sp>
        <p:nvSpPr>
          <p:cNvPr id="19" name="Text 16"/>
          <p:cNvSpPr txBox="1"/>
          <p:nvPr/>
        </p:nvSpPr>
        <p:spPr>
          <a:xfrm>
            <a:off x="457200" y="2761488"/>
            <a:ext cx="146304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How they saw him</a:t>
            </a:r>
            <a:endParaRPr lang="en-US" sz="1150" dirty="0"/>
          </a:p>
        </p:txBody>
      </p:sp>
      <p:sp>
        <p:nvSpPr>
          <p:cNvPr id="20" name="Shape 17"/>
          <p:cNvSpPr/>
          <p:nvPr/>
        </p:nvSpPr>
        <p:spPr>
          <a:xfrm>
            <a:off x="2011680" y="2761488"/>
            <a:ext cx="3291840" cy="548640"/>
          </a:xfrm>
          <a:prstGeom prst="rect">
            <a:avLst/>
          </a:prstGeom>
          <a:solidFill>
            <a:srgbClr val="F2F6FC"/>
          </a:solidFill>
          <a:ln w="9525">
            <a:solidFill>
              <a:srgbClr val="D5DCEA"/>
            </a:solidFill>
            <a:prstDash val="solid"/>
          </a:ln>
        </p:spPr>
      </p:sp>
      <p:sp>
        <p:nvSpPr>
          <p:cNvPr id="21" name="Text 18"/>
          <p:cNvSpPr txBox="1"/>
          <p:nvPr/>
        </p:nvSpPr>
        <p:spPr>
          <a:xfrm>
            <a:off x="2103120" y="2761488"/>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“As an angel of God, even as Christ Jesus”</a:t>
            </a:r>
            <a:endParaRPr lang="en-US" sz="1200" dirty="0"/>
          </a:p>
        </p:txBody>
      </p:sp>
      <p:sp>
        <p:nvSpPr>
          <p:cNvPr id="22" name="Shape 19"/>
          <p:cNvSpPr/>
          <p:nvPr/>
        </p:nvSpPr>
        <p:spPr>
          <a:xfrm>
            <a:off x="5394960" y="2761488"/>
            <a:ext cx="3291840" cy="548640"/>
          </a:xfrm>
          <a:prstGeom prst="rect">
            <a:avLst/>
          </a:prstGeom>
          <a:solidFill>
            <a:srgbClr val="F2F6FC"/>
          </a:solidFill>
          <a:ln w="9525">
            <a:solidFill>
              <a:srgbClr val="D5DCEA"/>
            </a:solidFill>
            <a:prstDash val="solid"/>
          </a:ln>
        </p:spPr>
      </p:sp>
      <p:sp>
        <p:nvSpPr>
          <p:cNvPr id="23" name="Text 20"/>
          <p:cNvSpPr txBox="1"/>
          <p:nvPr/>
        </p:nvSpPr>
        <p:spPr>
          <a:xfrm>
            <a:off x="5486400" y="2761488"/>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As an opponent</a:t>
            </a:r>
            <a:endParaRPr lang="en-US" sz="1200" dirty="0"/>
          </a:p>
        </p:txBody>
      </p:sp>
      <p:sp>
        <p:nvSpPr>
          <p:cNvPr id="24" name="Text 21"/>
          <p:cNvSpPr txBox="1"/>
          <p:nvPr/>
        </p:nvSpPr>
        <p:spPr>
          <a:xfrm>
            <a:off x="457200" y="3364992"/>
            <a:ext cx="146304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Their blessing</a:t>
            </a:r>
            <a:endParaRPr lang="en-US" sz="1150" dirty="0"/>
          </a:p>
        </p:txBody>
      </p:sp>
      <p:sp>
        <p:nvSpPr>
          <p:cNvPr id="25" name="Shape 22"/>
          <p:cNvSpPr/>
          <p:nvPr/>
        </p:nvSpPr>
        <p:spPr>
          <a:xfrm>
            <a:off x="2011680" y="3364992"/>
            <a:ext cx="3291840" cy="548640"/>
          </a:xfrm>
          <a:prstGeom prst="rect">
            <a:avLst/>
          </a:prstGeom>
          <a:solidFill>
            <a:srgbClr val="F2F6FC"/>
          </a:solidFill>
          <a:ln w="9525">
            <a:solidFill>
              <a:srgbClr val="D5DCEA"/>
            </a:solidFill>
            <a:prstDash val="solid"/>
          </a:ln>
        </p:spPr>
      </p:sp>
      <p:sp>
        <p:nvSpPr>
          <p:cNvPr id="26" name="Text 23"/>
          <p:cNvSpPr txBox="1"/>
          <p:nvPr/>
        </p:nvSpPr>
        <p:spPr>
          <a:xfrm>
            <a:off x="2103120" y="3364992"/>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Would have plucked out their own eyes for him — v.15</a:t>
            </a:r>
            <a:endParaRPr lang="en-US" sz="1200" dirty="0"/>
          </a:p>
        </p:txBody>
      </p:sp>
      <p:sp>
        <p:nvSpPr>
          <p:cNvPr id="27" name="Shape 24"/>
          <p:cNvSpPr/>
          <p:nvPr/>
        </p:nvSpPr>
        <p:spPr>
          <a:xfrm>
            <a:off x="5394960" y="3364992"/>
            <a:ext cx="3291840" cy="548640"/>
          </a:xfrm>
          <a:prstGeom prst="rect">
            <a:avLst/>
          </a:prstGeom>
          <a:solidFill>
            <a:srgbClr val="F2F6FC"/>
          </a:solidFill>
          <a:ln w="9525">
            <a:solidFill>
              <a:srgbClr val="D5DCEA"/>
            </a:solidFill>
            <a:prstDash val="solid"/>
          </a:ln>
        </p:spPr>
      </p:sp>
      <p:sp>
        <p:nvSpPr>
          <p:cNvPr id="28" name="Text 25"/>
          <p:cNvSpPr txBox="1"/>
          <p:nvPr/>
        </p:nvSpPr>
        <p:spPr>
          <a:xfrm>
            <a:off x="5486400" y="3364992"/>
            <a:ext cx="310896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“What then was the blessing you enjoyed?”</a:t>
            </a:r>
            <a:endParaRPr lang="en-US" sz="1200" dirty="0"/>
          </a:p>
        </p:txBody>
      </p:sp>
      <p:sp>
        <p:nvSpPr>
          <p:cNvPr id="29" name="Shape 26"/>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30" name="Text 27"/>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I told you the truth. Now I am your enemy. Conclusion: I became your enemy because I told you the truth.</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Two kinds of zeal</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4:17–18 · Outline II.A–B.1</a:t>
            </a:r>
            <a:endParaRPr lang="en-US" sz="1200" dirty="0"/>
          </a:p>
        </p:txBody>
      </p:sp>
      <p:sp>
        <p:nvSpPr>
          <p:cNvPr id="5" name="Shape 2"/>
          <p:cNvSpPr/>
          <p:nvPr/>
        </p:nvSpPr>
        <p:spPr>
          <a:xfrm>
            <a:off x="1737360" y="1115568"/>
            <a:ext cx="3429000" cy="384048"/>
          </a:xfrm>
          <a:prstGeom prst="rect">
            <a:avLst/>
          </a:prstGeom>
          <a:solidFill>
            <a:srgbClr val="6B7280"/>
          </a:solidFill>
          <a:ln w="12700">
            <a:solidFill>
              <a:srgbClr val="6B7280"/>
            </a:solidFill>
            <a:prstDash val="solid"/>
          </a:ln>
        </p:spPr>
      </p:sp>
      <p:sp>
        <p:nvSpPr>
          <p:cNvPr id="6" name="Text 3"/>
          <p:cNvSpPr txBox="1"/>
          <p:nvPr/>
        </p:nvSpPr>
        <p:spPr>
          <a:xfrm>
            <a:off x="1828800" y="1115568"/>
            <a:ext cx="329184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The Judaizers — artificial</a:t>
            </a:r>
            <a:endParaRPr lang="en-US" sz="1250" dirty="0"/>
          </a:p>
        </p:txBody>
      </p:sp>
      <p:sp>
        <p:nvSpPr>
          <p:cNvPr id="7" name="Shape 4"/>
          <p:cNvSpPr/>
          <p:nvPr/>
        </p:nvSpPr>
        <p:spPr>
          <a:xfrm>
            <a:off x="5257800" y="1115568"/>
            <a:ext cx="3429000" cy="384048"/>
          </a:xfrm>
          <a:prstGeom prst="rect">
            <a:avLst/>
          </a:prstGeom>
          <a:solidFill>
            <a:srgbClr val="375623"/>
          </a:solidFill>
          <a:ln w="12700">
            <a:solidFill>
              <a:srgbClr val="375623"/>
            </a:solidFill>
            <a:prstDash val="solid"/>
          </a:ln>
        </p:spPr>
      </p:sp>
      <p:sp>
        <p:nvSpPr>
          <p:cNvPr id="8" name="Text 5"/>
          <p:cNvSpPr txBox="1"/>
          <p:nvPr/>
        </p:nvSpPr>
        <p:spPr>
          <a:xfrm>
            <a:off x="5303520" y="1115568"/>
            <a:ext cx="329184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Paul — authentic</a:t>
            </a:r>
            <a:endParaRPr lang="en-US" sz="1250" dirty="0"/>
          </a:p>
        </p:txBody>
      </p:sp>
      <p:sp>
        <p:nvSpPr>
          <p:cNvPr id="9" name="Text 6"/>
          <p:cNvSpPr txBox="1"/>
          <p:nvPr/>
        </p:nvSpPr>
        <p:spPr>
          <a:xfrm>
            <a:off x="457200" y="1554480"/>
            <a:ext cx="118872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The verb</a:t>
            </a:r>
            <a:endParaRPr lang="en-US" sz="1150" dirty="0"/>
          </a:p>
        </p:txBody>
      </p:sp>
      <p:sp>
        <p:nvSpPr>
          <p:cNvPr id="10" name="Shape 7"/>
          <p:cNvSpPr/>
          <p:nvPr/>
        </p:nvSpPr>
        <p:spPr>
          <a:xfrm>
            <a:off x="1737360" y="1554480"/>
            <a:ext cx="3429000" cy="548640"/>
          </a:xfrm>
          <a:prstGeom prst="rect">
            <a:avLst/>
          </a:prstGeom>
          <a:solidFill>
            <a:srgbClr val="F2F6FC"/>
          </a:solidFill>
          <a:ln w="9525">
            <a:solidFill>
              <a:srgbClr val="D5DCEA"/>
            </a:solidFill>
            <a:prstDash val="solid"/>
          </a:ln>
        </p:spPr>
      </p:sp>
      <p:sp>
        <p:nvSpPr>
          <p:cNvPr id="11" name="Text 8"/>
          <p:cNvSpPr txBox="1"/>
          <p:nvPr/>
        </p:nvSpPr>
        <p:spPr>
          <a:xfrm>
            <a:off x="1828800" y="1554480"/>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ζηλοῦσιν — they zealously court you</a:t>
            </a:r>
            <a:endParaRPr lang="en-US" sz="1200" dirty="0"/>
          </a:p>
        </p:txBody>
      </p:sp>
      <p:sp>
        <p:nvSpPr>
          <p:cNvPr id="12" name="Shape 9"/>
          <p:cNvSpPr/>
          <p:nvPr/>
        </p:nvSpPr>
        <p:spPr>
          <a:xfrm>
            <a:off x="5257800" y="1554480"/>
            <a:ext cx="3429000" cy="548640"/>
          </a:xfrm>
          <a:prstGeom prst="rect">
            <a:avLst/>
          </a:prstGeom>
          <a:solidFill>
            <a:srgbClr val="F2F6FC"/>
          </a:solidFill>
          <a:ln w="9525">
            <a:solidFill>
              <a:srgbClr val="D5DCEA"/>
            </a:solidFill>
            <a:prstDash val="solid"/>
          </a:ln>
        </p:spPr>
      </p:sp>
      <p:sp>
        <p:nvSpPr>
          <p:cNvPr id="13" name="Text 10"/>
          <p:cNvSpPr txBox="1"/>
          <p:nvPr/>
        </p:nvSpPr>
        <p:spPr>
          <a:xfrm>
            <a:off x="5349240" y="1554480"/>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ζηλοῦσθαι — zealous in a good thing</a:t>
            </a:r>
            <a:endParaRPr lang="en-US" sz="1200" dirty="0"/>
          </a:p>
        </p:txBody>
      </p:sp>
      <p:sp>
        <p:nvSpPr>
          <p:cNvPr id="14" name="Text 11"/>
          <p:cNvSpPr txBox="1"/>
          <p:nvPr/>
        </p:nvSpPr>
        <p:spPr>
          <a:xfrm>
            <a:off x="457200" y="2157984"/>
            <a:ext cx="118872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The aim</a:t>
            </a:r>
            <a:endParaRPr lang="en-US" sz="1150" dirty="0"/>
          </a:p>
        </p:txBody>
      </p:sp>
      <p:sp>
        <p:nvSpPr>
          <p:cNvPr id="15" name="Shape 12"/>
          <p:cNvSpPr/>
          <p:nvPr/>
        </p:nvSpPr>
        <p:spPr>
          <a:xfrm>
            <a:off x="1737360" y="2157984"/>
            <a:ext cx="3429000" cy="548640"/>
          </a:xfrm>
          <a:prstGeom prst="rect">
            <a:avLst/>
          </a:prstGeom>
          <a:solidFill>
            <a:srgbClr val="F2F6FC"/>
          </a:solidFill>
          <a:ln w="9525">
            <a:solidFill>
              <a:srgbClr val="D5DCEA"/>
            </a:solidFill>
            <a:prstDash val="solid"/>
          </a:ln>
        </p:spPr>
      </p:sp>
      <p:sp>
        <p:nvSpPr>
          <p:cNvPr id="16" name="Text 13"/>
          <p:cNvSpPr txBox="1"/>
          <p:nvPr/>
        </p:nvSpPr>
        <p:spPr>
          <a:xfrm>
            <a:off x="1828800" y="2157984"/>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“for no good”</a:t>
            </a:r>
            <a:endParaRPr lang="en-US" sz="1200" dirty="0"/>
          </a:p>
        </p:txBody>
      </p:sp>
      <p:sp>
        <p:nvSpPr>
          <p:cNvPr id="17" name="Shape 14"/>
          <p:cNvSpPr/>
          <p:nvPr/>
        </p:nvSpPr>
        <p:spPr>
          <a:xfrm>
            <a:off x="5257800" y="2157984"/>
            <a:ext cx="3429000" cy="548640"/>
          </a:xfrm>
          <a:prstGeom prst="rect">
            <a:avLst/>
          </a:prstGeom>
          <a:solidFill>
            <a:srgbClr val="F2F6FC"/>
          </a:solidFill>
          <a:ln w="9525">
            <a:solidFill>
              <a:srgbClr val="D5DCEA"/>
            </a:solidFill>
            <a:prstDash val="solid"/>
          </a:ln>
        </p:spPr>
      </p:sp>
      <p:sp>
        <p:nvSpPr>
          <p:cNvPr id="18" name="Text 15"/>
          <p:cNvSpPr txBox="1"/>
          <p:nvPr/>
        </p:nvSpPr>
        <p:spPr>
          <a:xfrm>
            <a:off x="5349240" y="2157984"/>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the truth and your good</a:t>
            </a:r>
            <a:endParaRPr lang="en-US" sz="1200" dirty="0"/>
          </a:p>
        </p:txBody>
      </p:sp>
      <p:sp>
        <p:nvSpPr>
          <p:cNvPr id="19" name="Text 16"/>
          <p:cNvSpPr txBox="1"/>
          <p:nvPr/>
        </p:nvSpPr>
        <p:spPr>
          <a:xfrm>
            <a:off x="457200" y="2761488"/>
            <a:ext cx="118872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The method</a:t>
            </a:r>
            <a:endParaRPr lang="en-US" sz="1150" dirty="0"/>
          </a:p>
        </p:txBody>
      </p:sp>
      <p:sp>
        <p:nvSpPr>
          <p:cNvPr id="20" name="Shape 17"/>
          <p:cNvSpPr/>
          <p:nvPr/>
        </p:nvSpPr>
        <p:spPr>
          <a:xfrm>
            <a:off x="1737360" y="2761488"/>
            <a:ext cx="3429000" cy="548640"/>
          </a:xfrm>
          <a:prstGeom prst="rect">
            <a:avLst/>
          </a:prstGeom>
          <a:solidFill>
            <a:srgbClr val="F2F6FC"/>
          </a:solidFill>
          <a:ln w="9525">
            <a:solidFill>
              <a:srgbClr val="D5DCEA"/>
            </a:solidFill>
            <a:prstDash val="solid"/>
          </a:ln>
        </p:spPr>
      </p:sp>
      <p:sp>
        <p:nvSpPr>
          <p:cNvPr id="21" name="Text 18"/>
          <p:cNvSpPr txBox="1"/>
          <p:nvPr/>
        </p:nvSpPr>
        <p:spPr>
          <a:xfrm>
            <a:off x="1828800" y="2761488"/>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ἐκκλεῖσαι — shut you out from Paul</a:t>
            </a:r>
            <a:endParaRPr lang="en-US" sz="1200" dirty="0"/>
          </a:p>
        </p:txBody>
      </p:sp>
      <p:sp>
        <p:nvSpPr>
          <p:cNvPr id="22" name="Shape 19"/>
          <p:cNvSpPr/>
          <p:nvPr/>
        </p:nvSpPr>
        <p:spPr>
          <a:xfrm>
            <a:off x="5257800" y="2761488"/>
            <a:ext cx="3429000" cy="548640"/>
          </a:xfrm>
          <a:prstGeom prst="rect">
            <a:avLst/>
          </a:prstGeom>
          <a:solidFill>
            <a:srgbClr val="F2F6FC"/>
          </a:solidFill>
          <a:ln w="9525">
            <a:solidFill>
              <a:srgbClr val="D5DCEA"/>
            </a:solidFill>
            <a:prstDash val="solid"/>
          </a:ln>
        </p:spPr>
      </p:sp>
      <p:sp>
        <p:nvSpPr>
          <p:cNvPr id="23" name="Text 20"/>
          <p:cNvSpPr txBox="1"/>
          <p:nvPr/>
        </p:nvSpPr>
        <p:spPr>
          <a:xfrm>
            <a:off x="5349240" y="2761488"/>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present or absent, the same</a:t>
            </a:r>
            <a:endParaRPr lang="en-US" sz="1200" dirty="0"/>
          </a:p>
        </p:txBody>
      </p:sp>
      <p:sp>
        <p:nvSpPr>
          <p:cNvPr id="24" name="Text 21"/>
          <p:cNvSpPr txBox="1"/>
          <p:nvPr/>
        </p:nvSpPr>
        <p:spPr>
          <a:xfrm>
            <a:off x="457200" y="3364992"/>
            <a:ext cx="1188720" cy="548640"/>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The result</a:t>
            </a:r>
            <a:endParaRPr lang="en-US" sz="1150" dirty="0"/>
          </a:p>
        </p:txBody>
      </p:sp>
      <p:sp>
        <p:nvSpPr>
          <p:cNvPr id="25" name="Shape 22"/>
          <p:cNvSpPr/>
          <p:nvPr/>
        </p:nvSpPr>
        <p:spPr>
          <a:xfrm>
            <a:off x="1737360" y="3364992"/>
            <a:ext cx="3429000" cy="548640"/>
          </a:xfrm>
          <a:prstGeom prst="rect">
            <a:avLst/>
          </a:prstGeom>
          <a:solidFill>
            <a:srgbClr val="F2F6FC"/>
          </a:solidFill>
          <a:ln w="9525">
            <a:solidFill>
              <a:srgbClr val="D5DCEA"/>
            </a:solidFill>
            <a:prstDash val="solid"/>
          </a:ln>
        </p:spPr>
      </p:sp>
      <p:sp>
        <p:nvSpPr>
          <p:cNvPr id="26" name="Text 23"/>
          <p:cNvSpPr txBox="1"/>
          <p:nvPr/>
        </p:nvSpPr>
        <p:spPr>
          <a:xfrm>
            <a:off x="1828800" y="3364992"/>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“that you may be zealous for them”</a:t>
            </a:r>
            <a:endParaRPr lang="en-US" sz="1200" dirty="0"/>
          </a:p>
        </p:txBody>
      </p:sp>
      <p:sp>
        <p:nvSpPr>
          <p:cNvPr id="27" name="Shape 24"/>
          <p:cNvSpPr/>
          <p:nvPr/>
        </p:nvSpPr>
        <p:spPr>
          <a:xfrm>
            <a:off x="5257800" y="3364992"/>
            <a:ext cx="3429000" cy="548640"/>
          </a:xfrm>
          <a:prstGeom prst="rect">
            <a:avLst/>
          </a:prstGeom>
          <a:solidFill>
            <a:srgbClr val="F2F6FC"/>
          </a:solidFill>
          <a:ln w="9525">
            <a:solidFill>
              <a:srgbClr val="D5DCEA"/>
            </a:solidFill>
            <a:prstDash val="solid"/>
          </a:ln>
        </p:spPr>
      </p:sp>
      <p:sp>
        <p:nvSpPr>
          <p:cNvPr id="28" name="Text 25"/>
          <p:cNvSpPr txBox="1"/>
          <p:nvPr/>
        </p:nvSpPr>
        <p:spPr>
          <a:xfrm>
            <a:off x="5349240" y="3364992"/>
            <a:ext cx="32461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that Christ be formed in you</a:t>
            </a:r>
            <a:endParaRPr lang="en-US" sz="1200" dirty="0"/>
          </a:p>
        </p:txBody>
      </p:sp>
      <p:sp>
        <p:nvSpPr>
          <p:cNvPr id="29" name="Shape 26"/>
          <p:cNvSpPr/>
          <p:nvPr/>
        </p:nvSpPr>
        <p:spPr>
          <a:xfrm>
            <a:off x="457200" y="4069080"/>
            <a:ext cx="8229600" cy="502920"/>
          </a:xfrm>
          <a:prstGeom prst="roundRect">
            <a:avLst>
              <a:gd name="adj" fmla="val 10909"/>
            </a:avLst>
          </a:prstGeom>
          <a:solidFill>
            <a:srgbClr val="1F3864"/>
          </a:solidFill>
          <a:ln w="12700">
            <a:solidFill>
              <a:srgbClr val="1F3864"/>
            </a:solidFill>
            <a:prstDash val="solid"/>
          </a:ln>
        </p:spPr>
      </p:sp>
      <p:sp>
        <p:nvSpPr>
          <p:cNvPr id="30" name="Text 27"/>
          <p:cNvSpPr txBox="1"/>
          <p:nvPr/>
        </p:nvSpPr>
        <p:spPr>
          <a:xfrm>
            <a:off x="621792" y="406908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Zeal is not the test. The truth, and the good of others, is.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“Until Christ is formed in you”</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4:19–20 · Outline II.B.2–4</a:t>
            </a:r>
            <a:endParaRPr lang="en-US" sz="1200" dirty="0"/>
          </a:p>
        </p:txBody>
      </p:sp>
      <p:sp>
        <p:nvSpPr>
          <p:cNvPr id="5" name="Shape 2"/>
          <p:cNvSpPr/>
          <p:nvPr/>
        </p:nvSpPr>
        <p:spPr>
          <a:xfrm>
            <a:off x="457200" y="1143000"/>
            <a:ext cx="4018788" cy="1298448"/>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2E5496"/>
          </a:solidFill>
          <a:ln w="12700">
            <a:solidFill>
              <a:srgbClr val="2E5496"/>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5"/>
          <p:cNvSpPr txBox="1"/>
          <p:nvPr/>
        </p:nvSpPr>
        <p:spPr>
          <a:xfrm>
            <a:off x="1078992"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Compassion  ·  v.19a</a:t>
            </a:r>
            <a:endParaRPr lang="en-US" sz="1200" dirty="0"/>
          </a:p>
        </p:txBody>
      </p:sp>
      <p:sp>
        <p:nvSpPr>
          <p:cNvPr id="9" name="Text 6"/>
          <p:cNvSpPr txBox="1"/>
          <p:nvPr/>
        </p:nvSpPr>
        <p:spPr>
          <a:xfrm>
            <a:off x="585216" y="1764792"/>
            <a:ext cx="3762756" cy="585216"/>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τεκνία</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“My little children” — a term of endearment</a:t>
            </a:r>
            <a:endParaRPr lang="en-US" sz="1200" dirty="0"/>
          </a:p>
        </p:txBody>
      </p:sp>
      <p:sp>
        <p:nvSpPr>
          <p:cNvPr id="10" name="Shape 7"/>
          <p:cNvSpPr/>
          <p:nvPr/>
        </p:nvSpPr>
        <p:spPr>
          <a:xfrm>
            <a:off x="4668012" y="1143000"/>
            <a:ext cx="4018788" cy="1298448"/>
          </a:xfrm>
          <a:prstGeom prst="rect">
            <a:avLst/>
          </a:prstGeom>
          <a:solidFill>
            <a:srgbClr val="F2F6FC"/>
          </a:solidFill>
          <a:ln w="9525">
            <a:solidFill>
              <a:srgbClr val="D5DCEA"/>
            </a:solidFill>
            <a:prstDash val="solid"/>
          </a:ln>
        </p:spPr>
      </p:sp>
      <p:sp>
        <p:nvSpPr>
          <p:cNvPr id="11" name="Shape 8"/>
          <p:cNvSpPr/>
          <p:nvPr/>
        </p:nvSpPr>
        <p:spPr>
          <a:xfrm>
            <a:off x="4796028" y="1271016"/>
            <a:ext cx="402336" cy="402336"/>
          </a:xfrm>
          <a:prstGeom prst="ellipse">
            <a:avLst/>
          </a:prstGeom>
          <a:solidFill>
            <a:srgbClr val="2E5496"/>
          </a:solidFill>
          <a:ln w="12700">
            <a:solidFill>
              <a:srgbClr val="2E5496"/>
            </a:solidFill>
            <a:prstDash val="solid"/>
          </a:ln>
        </p:spPr>
      </p:sp>
      <p:sp>
        <p:nvSpPr>
          <p:cNvPr id="12" name="Text 9"/>
          <p:cNvSpPr txBox="1"/>
          <p:nvPr/>
        </p:nvSpPr>
        <p:spPr>
          <a:xfrm>
            <a:off x="4796028"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0"/>
          <p:cNvSpPr txBox="1"/>
          <p:nvPr/>
        </p:nvSpPr>
        <p:spPr>
          <a:xfrm>
            <a:off x="5289804"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Cost  ·  v.19b</a:t>
            </a:r>
            <a:endParaRPr lang="en-US" sz="1200" dirty="0"/>
          </a:p>
        </p:txBody>
      </p:sp>
      <p:sp>
        <p:nvSpPr>
          <p:cNvPr id="14" name="Text 11"/>
          <p:cNvSpPr txBox="1"/>
          <p:nvPr/>
        </p:nvSpPr>
        <p:spPr>
          <a:xfrm>
            <a:off x="4796028" y="1764792"/>
            <a:ext cx="3762756" cy="585216"/>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ὠδίνω</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“I labor in birth again” — a second labor for the same children</a:t>
            </a:r>
            <a:endParaRPr lang="en-US" sz="1200" dirty="0"/>
          </a:p>
        </p:txBody>
      </p:sp>
      <p:sp>
        <p:nvSpPr>
          <p:cNvPr id="15" name="Shape 12"/>
          <p:cNvSpPr/>
          <p:nvPr/>
        </p:nvSpPr>
        <p:spPr>
          <a:xfrm>
            <a:off x="457200" y="2606040"/>
            <a:ext cx="4018788" cy="1298448"/>
          </a:xfrm>
          <a:prstGeom prst="rect">
            <a:avLst/>
          </a:prstGeom>
          <a:solidFill>
            <a:srgbClr val="F2F6FC"/>
          </a:solidFill>
          <a:ln w="9525">
            <a:solidFill>
              <a:srgbClr val="D5DCEA"/>
            </a:solidFill>
            <a:prstDash val="solid"/>
          </a:ln>
        </p:spPr>
      </p:sp>
      <p:sp>
        <p:nvSpPr>
          <p:cNvPr id="16" name="Shape 13"/>
          <p:cNvSpPr/>
          <p:nvPr/>
        </p:nvSpPr>
        <p:spPr>
          <a:xfrm>
            <a:off x="585216" y="2734056"/>
            <a:ext cx="402336" cy="402336"/>
          </a:xfrm>
          <a:prstGeom prst="ellipse">
            <a:avLst/>
          </a:prstGeom>
          <a:solidFill>
            <a:srgbClr val="375623"/>
          </a:solidFill>
          <a:ln w="12700">
            <a:solidFill>
              <a:srgbClr val="375623"/>
            </a:solidFill>
            <a:prstDash val="solid"/>
          </a:ln>
        </p:spPr>
      </p:sp>
      <p:sp>
        <p:nvSpPr>
          <p:cNvPr id="17" name="Text 14"/>
          <p:cNvSpPr txBox="1"/>
          <p:nvPr/>
        </p:nvSpPr>
        <p:spPr>
          <a:xfrm>
            <a:off x="585216" y="273405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5"/>
          <p:cNvSpPr txBox="1"/>
          <p:nvPr/>
        </p:nvSpPr>
        <p:spPr>
          <a:xfrm>
            <a:off x="1078992" y="271576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Goal  ·  v.19c</a:t>
            </a:r>
            <a:endParaRPr lang="en-US" sz="1200" dirty="0"/>
          </a:p>
        </p:txBody>
      </p:sp>
      <p:sp>
        <p:nvSpPr>
          <p:cNvPr id="19" name="Text 16"/>
          <p:cNvSpPr txBox="1"/>
          <p:nvPr/>
        </p:nvSpPr>
        <p:spPr>
          <a:xfrm>
            <a:off x="585216" y="3227832"/>
            <a:ext cx="3762756" cy="585216"/>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μορφωθῇ</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Christ formed in you — inward, essential form (cf. Rom 12:2)</a:t>
            </a:r>
            <a:endParaRPr lang="en-US" sz="1200" dirty="0"/>
          </a:p>
        </p:txBody>
      </p:sp>
      <p:sp>
        <p:nvSpPr>
          <p:cNvPr id="20" name="Shape 17"/>
          <p:cNvSpPr/>
          <p:nvPr/>
        </p:nvSpPr>
        <p:spPr>
          <a:xfrm>
            <a:off x="4668012" y="2606040"/>
            <a:ext cx="4018788" cy="1298448"/>
          </a:xfrm>
          <a:prstGeom prst="rect">
            <a:avLst/>
          </a:prstGeom>
          <a:solidFill>
            <a:srgbClr val="F2F6FC"/>
          </a:solidFill>
          <a:ln w="9525">
            <a:solidFill>
              <a:srgbClr val="D5DCEA"/>
            </a:solidFill>
            <a:prstDash val="solid"/>
          </a:ln>
        </p:spPr>
      </p:sp>
      <p:sp>
        <p:nvSpPr>
          <p:cNvPr id="21" name="Shape 18"/>
          <p:cNvSpPr/>
          <p:nvPr/>
        </p:nvSpPr>
        <p:spPr>
          <a:xfrm>
            <a:off x="4796028" y="2734056"/>
            <a:ext cx="402336" cy="402336"/>
          </a:xfrm>
          <a:prstGeom prst="ellipse">
            <a:avLst/>
          </a:prstGeom>
          <a:solidFill>
            <a:srgbClr val="6B7280"/>
          </a:solidFill>
          <a:ln w="12700">
            <a:solidFill>
              <a:srgbClr val="6B7280"/>
            </a:solidFill>
            <a:prstDash val="solid"/>
          </a:ln>
        </p:spPr>
      </p:sp>
      <p:sp>
        <p:nvSpPr>
          <p:cNvPr id="22" name="Text 19"/>
          <p:cNvSpPr txBox="1"/>
          <p:nvPr/>
        </p:nvSpPr>
        <p:spPr>
          <a:xfrm>
            <a:off x="4796028" y="273405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3" name="Text 20"/>
          <p:cNvSpPr txBox="1"/>
          <p:nvPr/>
        </p:nvSpPr>
        <p:spPr>
          <a:xfrm>
            <a:off x="5289804" y="271576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Character  ·  v.20</a:t>
            </a:r>
            <a:endParaRPr lang="en-US" sz="1200" dirty="0"/>
          </a:p>
        </p:txBody>
      </p:sp>
      <p:sp>
        <p:nvSpPr>
          <p:cNvPr id="24" name="Text 21"/>
          <p:cNvSpPr txBox="1"/>
          <p:nvPr/>
        </p:nvSpPr>
        <p:spPr>
          <a:xfrm>
            <a:off x="4796028" y="3227832"/>
            <a:ext cx="3762756" cy="585216"/>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ἀποροῦμαι</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“I have doubts about you” — perplexed, wishing to be present</a:t>
            </a:r>
            <a:endParaRPr lang="en-US" sz="1200" dirty="0"/>
          </a:p>
        </p:txBody>
      </p:sp>
      <p:sp>
        <p:nvSpPr>
          <p:cNvPr id="25" name="Shape 22"/>
          <p:cNvSpPr/>
          <p:nvPr/>
        </p:nvSpPr>
        <p:spPr>
          <a:xfrm>
            <a:off x="457200" y="4160520"/>
            <a:ext cx="8229600" cy="457200"/>
          </a:xfrm>
          <a:prstGeom prst="roundRect">
            <a:avLst>
              <a:gd name="adj" fmla="val 12000"/>
            </a:avLst>
          </a:prstGeom>
          <a:solidFill>
            <a:srgbClr val="1F3864"/>
          </a:solidFill>
          <a:ln w="12700">
            <a:solidFill>
              <a:srgbClr val="1F3864"/>
            </a:solidFill>
            <a:prstDash val="solid"/>
          </a:ln>
        </p:spPr>
      </p:sp>
      <p:sp>
        <p:nvSpPr>
          <p:cNvPr id="26" name="Text 23"/>
          <p:cNvSpPr txBox="1"/>
          <p:nvPr/>
        </p:nvSpPr>
        <p:spPr>
          <a:xfrm>
            <a:off x="621792" y="4160520"/>
            <a:ext cx="7900416" cy="45720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Dare to discipline — and then hold them close. Truth with a steel fist, in a velvet glove.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4:12–20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How can Paul call his truth-telling the reason he became their “enemy” (v.16), and what does that warn us about?</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does it mean for Christ to be “formed” (μορφόω) in the Galatians, and how does that differ from simply believing correct doctrine?</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Correct Like a Father, Labor Like a Mother</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When you must say a hard true thing, pair it with a concrete word or act that shows the relationship survives it.</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Aim at Formation, Not Attendance</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Where you've managed behavior from the outside in, ask the Lord this week to do the inside-out work.</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Speak the truth firmly, love tenderly, and labor until Christ is formed in others.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Galatians Study 10 — A Steel Fist in a Velvet Glove: Charts</dc:title>
  <dc:subject>PptxGenJS Presentation</dc:subject>
  <dc:creator>The Gospel Vault</dc:creator>
  <cp:lastModifiedBy>The Gospel Vault</cp:lastModifiedBy>
  <cp:revision>1</cp:revision>
  <dcterms:created xsi:type="dcterms:W3CDTF">2026-10-30T05:30:26Z</dcterms:created>
  <dcterms:modified xsi:type="dcterms:W3CDTF">2026-10-30T05:30:26Z</dcterms:modified>
</cp:coreProperties>
</file>