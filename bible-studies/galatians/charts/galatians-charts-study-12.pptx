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udy 12 · Galatians 5:1–12" id="{7333b394-38d3-8b89-fe32-261799191a41}">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Four movements — the request to stand fast (5:1), the results of submitting to the law (5:2–4), the reality of the Spirit-filled life (5:5–6), and the reputation of the teachers of the law (5:7–12). Every chart in this deck stays within the posted commentary for this study; Greek words come from the study's posted Greek Word Study. Each slide's notes name the commentary section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Use this map to show the group where this passage sits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(I.A–B): “Therefore” ties this to the allegory just finished. Freedom is a settled fact — Christ has made us free — but standing in it is an ongoing decision (present imperative); if believers don't actively stand, they drift. The previous yoke was pagan religion for Gentiles or Judaism for Jews; going back to the law would put the same yoke back on their necks.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(II.A–C): v.2 — circumcision as a way to please God: Christ will profit you nothing (subjunctive — Paul writes before the decision is final). v.3 — the law is one indivisible whole: take any part, and you owe all of it (cf. James 2:10). v.4 — “fallen from grace”: the commentary and posted study are clear — not from salvation, which cannot be lost, but from fellowship and from grace as the operating principle of life. ἐξεπέσατε pictures a ship driven off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(III.A–B): Instead of the law's “fast way” to acceptability, the Spirit-filled believer waits patiently. v.6 — circumcision and uncircumcision mean nothing in Christ; neither is a special class. “Faith working through love” — the commentary and posted study read it as serving Christ out of love for Him rather than fear of the law: love, not fear, is the motive.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(IV.A–E): v.7 — the Galatians hadn't quit; someone cut in on their lane (ἐνέκοψεν). v.8 — “this persuasion” (adding works to the cross) did not come from God; the commentary traces it not to Jerusalem — the council would soon affirm grace — but ultimately to Satan. v.9 — heretical doctrine can't be left in the church (the commentary distinguishes heresy from minor differences). v.10 — Paul is confident “in the Lord” about the Galatians; the troubler will bear his judgment. vv.11–12 — if Paul still preached circumcision, why persecute him? The offense of the cross would cease.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and Conclusion): The commentary opens and closes with a building illustration: works done to add to grace are limited to this life — there is no door to carry them out. Only those who do the work of the Lord have works that follow them, rewarded at the judgment seat of Christ. Add anything to salvation and you demean the cross that bought the freedom.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The Galatians were told “just one small thing” needed adding to their faith. What “small things” do people quietly add to grace today? — Leader answer: See Commentary II — the results of submitting to the law: any one addition obligates the whole law.  Q2: How would you describe the difference between serving Christ out of love and serving out of fear or guilt (5:6)? — Leader answer: See Commentary III.B — faith working through love: love for Christ, not fear of the law, is the motive.  Applications: Resist the “Just One Small Thing” — Name one addition before God as unnecessary — not wrong to do, but adding nothing to what Christ finished.  Take Your Stand — Where you've been passively hoping to feel free, make one concrete, deliberate decision instead.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Galatians · Study 12 of 16 · Galatians 5:1–12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54880"/>
            <a:ext cx="73152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Galatians · Study 12 of 16 · Galatians 5:1–12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Galatians · Study 12 of 16 · Galatians 5:1–12 · Leader charts</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Taking a Stand in Liberty</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Christ has set believers permanently and completely free from the Law; to add anything to that finished grace forfeits its profit, courts renewed bondage, and demeans the cross that purchased the freedom.</a:t>
            </a:r>
            <a:endParaRPr lang="en-US" sz="1500" dirty="0"/>
          </a:p>
        </p:txBody>
      </p:sp>
      <p:sp>
        <p:nvSpPr>
          <p:cNvPr id="6" name="Text 3"/>
          <p:cNvSpPr txBox="1"/>
          <p:nvPr/>
        </p:nvSpPr>
        <p:spPr>
          <a:xfrm>
            <a:off x="640080" y="4343400"/>
            <a:ext cx="7863840" cy="274320"/>
          </a:xfrm>
          <a:prstGeom prst="rect">
            <a:avLst/>
          </a:prstGeom>
          <a:noFill/>
          <a:ln/>
        </p:spPr>
        <p:txBody>
          <a:bodyPr wrap="square" lIns="0" tIns="0" rIns="0" bIns="0" rtlCol="0" anchor="t"/>
          <a:lstStyle/>
          <a:p>
            <a:pPr indent="0" marL="0">
              <a:buNone/>
            </a:pPr>
            <a:r>
              <a:rPr lang="en-US" sz="1000" dirty="0">
                <a:solidFill>
                  <a:srgbClr val="AEBBD6"/>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this study fits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 sixteen studies · this study highlighted</a:t>
            </a:r>
            <a:endParaRPr lang="en-US" sz="1200" dirty="0"/>
          </a:p>
        </p:txBody>
      </p:sp>
      <p:sp>
        <p:nvSpPr>
          <p:cNvPr id="5" name="Shape 2"/>
          <p:cNvSpPr/>
          <p:nvPr/>
        </p:nvSpPr>
        <p:spPr>
          <a:xfrm>
            <a:off x="457200" y="1115568"/>
            <a:ext cx="1954530" cy="786384"/>
          </a:xfrm>
          <a:prstGeom prst="rect">
            <a:avLst/>
          </a:prstGeom>
          <a:solidFill>
            <a:srgbClr val="F2F6FC"/>
          </a:solidFill>
          <a:ln w="9525">
            <a:solidFill>
              <a:srgbClr val="D5DCEA"/>
            </a:solidFill>
            <a:prstDash val="solid"/>
          </a:ln>
        </p:spPr>
      </p:sp>
      <p:sp>
        <p:nvSpPr>
          <p:cNvPr id="6" name="Text 3"/>
          <p:cNvSpPr txBox="1"/>
          <p:nvPr/>
        </p:nvSpPr>
        <p:spPr>
          <a:xfrm>
            <a:off x="54864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01  </a:t>
            </a:r>
            <a:pPr indent="0" marL="0">
              <a:buNone/>
            </a:pPr>
            <a:r>
              <a:rPr lang="en-US" sz="1000" b="1" dirty="0">
                <a:solidFill>
                  <a:srgbClr val="595959"/>
                </a:solidFill>
                <a:latin typeface="Arial" pitchFamily="34" charset="0"/>
                <a:ea typeface="Arial" pitchFamily="34" charset="-122"/>
                <a:cs typeface="Arial" pitchFamily="34" charset="-120"/>
              </a:rPr>
              <a:t>1:1–5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Ground of Liberty</a:t>
            </a:r>
            <a:endParaRPr lang="en-US" sz="1200" dirty="0"/>
          </a:p>
        </p:txBody>
      </p:sp>
      <p:sp>
        <p:nvSpPr>
          <p:cNvPr id="7" name="Shape 4"/>
          <p:cNvSpPr/>
          <p:nvPr/>
        </p:nvSpPr>
        <p:spPr>
          <a:xfrm>
            <a:off x="2548890" y="1115568"/>
            <a:ext cx="1954530" cy="786384"/>
          </a:xfrm>
          <a:prstGeom prst="rect">
            <a:avLst/>
          </a:prstGeom>
          <a:solidFill>
            <a:srgbClr val="F2F6FC"/>
          </a:solidFill>
          <a:ln w="9525">
            <a:solidFill>
              <a:srgbClr val="D5DCEA"/>
            </a:solidFill>
            <a:prstDash val="solid"/>
          </a:ln>
        </p:spPr>
      </p:sp>
      <p:sp>
        <p:nvSpPr>
          <p:cNvPr id="8" name="Text 5"/>
          <p:cNvSpPr txBox="1"/>
          <p:nvPr/>
        </p:nvSpPr>
        <p:spPr>
          <a:xfrm>
            <a:off x="264033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02  </a:t>
            </a:r>
            <a:pPr indent="0" marL="0">
              <a:buNone/>
            </a:pPr>
            <a:r>
              <a:rPr lang="en-US" sz="1000" b="1" dirty="0">
                <a:solidFill>
                  <a:srgbClr val="595959"/>
                </a:solidFill>
                <a:latin typeface="Arial" pitchFamily="34" charset="0"/>
                <a:ea typeface="Arial" pitchFamily="34" charset="-122"/>
                <a:cs typeface="Arial" pitchFamily="34" charset="-120"/>
              </a:rPr>
              <a:t>1:6–10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One True Gospel</a:t>
            </a:r>
            <a:endParaRPr lang="en-US" sz="1200" dirty="0"/>
          </a:p>
        </p:txBody>
      </p:sp>
      <p:sp>
        <p:nvSpPr>
          <p:cNvPr id="9" name="Shape 6"/>
          <p:cNvSpPr/>
          <p:nvPr/>
        </p:nvSpPr>
        <p:spPr>
          <a:xfrm>
            <a:off x="4640580" y="1115568"/>
            <a:ext cx="1954530" cy="786384"/>
          </a:xfrm>
          <a:prstGeom prst="rect">
            <a:avLst/>
          </a:prstGeom>
          <a:solidFill>
            <a:srgbClr val="F2F6FC"/>
          </a:solidFill>
          <a:ln w="9525">
            <a:solidFill>
              <a:srgbClr val="D5DCEA"/>
            </a:solidFill>
            <a:prstDash val="solid"/>
          </a:ln>
        </p:spPr>
      </p:sp>
      <p:sp>
        <p:nvSpPr>
          <p:cNvPr id="10" name="Text 7"/>
          <p:cNvSpPr txBox="1"/>
          <p:nvPr/>
        </p:nvSpPr>
        <p:spPr>
          <a:xfrm>
            <a:off x="473202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03  </a:t>
            </a:r>
            <a:pPr indent="0" marL="0">
              <a:buNone/>
            </a:pPr>
            <a:r>
              <a:rPr lang="en-US" sz="1000" b="1" dirty="0">
                <a:solidFill>
                  <a:srgbClr val="595959"/>
                </a:solidFill>
                <a:latin typeface="Arial" pitchFamily="34" charset="0"/>
                <a:ea typeface="Arial" pitchFamily="34" charset="-122"/>
                <a:cs typeface="Arial" pitchFamily="34" charset="-120"/>
              </a:rPr>
              <a:t>1:11–17</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Independent Revelation</a:t>
            </a:r>
            <a:endParaRPr lang="en-US" sz="1200" dirty="0"/>
          </a:p>
        </p:txBody>
      </p:sp>
      <p:sp>
        <p:nvSpPr>
          <p:cNvPr id="11" name="Shape 8"/>
          <p:cNvSpPr/>
          <p:nvPr/>
        </p:nvSpPr>
        <p:spPr>
          <a:xfrm>
            <a:off x="6732270" y="1115568"/>
            <a:ext cx="1954530" cy="786384"/>
          </a:xfrm>
          <a:prstGeom prst="rect">
            <a:avLst/>
          </a:prstGeom>
          <a:solidFill>
            <a:srgbClr val="F2F6FC"/>
          </a:solidFill>
          <a:ln w="9525">
            <a:solidFill>
              <a:srgbClr val="D5DCEA"/>
            </a:solidFill>
            <a:prstDash val="solid"/>
          </a:ln>
        </p:spPr>
      </p:sp>
      <p:sp>
        <p:nvSpPr>
          <p:cNvPr id="12" name="Text 9"/>
          <p:cNvSpPr txBox="1"/>
          <p:nvPr/>
        </p:nvSpPr>
        <p:spPr>
          <a:xfrm>
            <a:off x="682371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04  </a:t>
            </a:r>
            <a:pPr indent="0" marL="0">
              <a:buNone/>
            </a:pPr>
            <a:r>
              <a:rPr lang="en-US" sz="1000" b="1" dirty="0">
                <a:solidFill>
                  <a:srgbClr val="595959"/>
                </a:solidFill>
                <a:latin typeface="Arial" pitchFamily="34" charset="0"/>
                <a:ea typeface="Arial" pitchFamily="34" charset="-122"/>
                <a:cs typeface="Arial" pitchFamily="34" charset="-120"/>
              </a:rPr>
              <a:t>1:18–2:10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Gospel Is Independent of the Judean Churches</a:t>
            </a:r>
            <a:endParaRPr lang="en-US" sz="1200" dirty="0"/>
          </a:p>
        </p:txBody>
      </p:sp>
      <p:sp>
        <p:nvSpPr>
          <p:cNvPr id="13" name="Shape 10"/>
          <p:cNvSpPr/>
          <p:nvPr/>
        </p:nvSpPr>
        <p:spPr>
          <a:xfrm>
            <a:off x="457200" y="2020824"/>
            <a:ext cx="1954530" cy="786384"/>
          </a:xfrm>
          <a:prstGeom prst="rect">
            <a:avLst/>
          </a:prstGeom>
          <a:solidFill>
            <a:srgbClr val="F2F6FC"/>
          </a:solidFill>
          <a:ln w="9525">
            <a:solidFill>
              <a:srgbClr val="D5DCEA"/>
            </a:solidFill>
            <a:prstDash val="solid"/>
          </a:ln>
        </p:spPr>
      </p:sp>
      <p:sp>
        <p:nvSpPr>
          <p:cNvPr id="14" name="Text 11"/>
          <p:cNvSpPr txBox="1"/>
          <p:nvPr/>
        </p:nvSpPr>
        <p:spPr>
          <a:xfrm>
            <a:off x="54864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05  </a:t>
            </a:r>
            <a:pPr indent="0" marL="0">
              <a:buNone/>
            </a:pPr>
            <a:r>
              <a:rPr lang="en-US" sz="1000" b="1" dirty="0">
                <a:solidFill>
                  <a:srgbClr val="595959"/>
                </a:solidFill>
                <a:latin typeface="Arial" pitchFamily="34" charset="0"/>
                <a:ea typeface="Arial" pitchFamily="34" charset="-122"/>
                <a:cs typeface="Arial" pitchFamily="34" charset="-120"/>
              </a:rPr>
              <a:t>2:11–21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Peter Goes Back to School</a:t>
            </a:r>
            <a:endParaRPr lang="en-US" sz="1200" dirty="0"/>
          </a:p>
        </p:txBody>
      </p:sp>
      <p:sp>
        <p:nvSpPr>
          <p:cNvPr id="15" name="Shape 12"/>
          <p:cNvSpPr/>
          <p:nvPr/>
        </p:nvSpPr>
        <p:spPr>
          <a:xfrm>
            <a:off x="2548890" y="2020824"/>
            <a:ext cx="1954530" cy="786384"/>
          </a:xfrm>
          <a:prstGeom prst="rect">
            <a:avLst/>
          </a:prstGeom>
          <a:solidFill>
            <a:srgbClr val="F2F6FC"/>
          </a:solidFill>
          <a:ln w="9525">
            <a:solidFill>
              <a:srgbClr val="D5DCEA"/>
            </a:solidFill>
            <a:prstDash val="solid"/>
          </a:ln>
        </p:spPr>
      </p:sp>
      <p:sp>
        <p:nvSpPr>
          <p:cNvPr id="16" name="Text 13"/>
          <p:cNvSpPr txBox="1"/>
          <p:nvPr/>
        </p:nvSpPr>
        <p:spPr>
          <a:xfrm>
            <a:off x="264033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06  </a:t>
            </a:r>
            <a:pPr indent="0" marL="0">
              <a:buNone/>
            </a:pPr>
            <a:r>
              <a:rPr lang="en-US" sz="1000" b="1" dirty="0">
                <a:solidFill>
                  <a:srgbClr val="595959"/>
                </a:solidFill>
                <a:latin typeface="Arial" pitchFamily="34" charset="0"/>
                <a:ea typeface="Arial" pitchFamily="34" charset="-122"/>
                <a:cs typeface="Arial" pitchFamily="34" charset="-120"/>
              </a:rPr>
              <a:t>3:1–5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Under a Spell</a:t>
            </a:r>
            <a:endParaRPr lang="en-US" sz="1200" dirty="0"/>
          </a:p>
        </p:txBody>
      </p:sp>
      <p:sp>
        <p:nvSpPr>
          <p:cNvPr id="17" name="Shape 14"/>
          <p:cNvSpPr/>
          <p:nvPr/>
        </p:nvSpPr>
        <p:spPr>
          <a:xfrm>
            <a:off x="4640580" y="2020824"/>
            <a:ext cx="1954530" cy="786384"/>
          </a:xfrm>
          <a:prstGeom prst="rect">
            <a:avLst/>
          </a:prstGeom>
          <a:solidFill>
            <a:srgbClr val="F2F6FC"/>
          </a:solidFill>
          <a:ln w="9525">
            <a:solidFill>
              <a:srgbClr val="D5DCEA"/>
            </a:solidFill>
            <a:prstDash val="solid"/>
          </a:ln>
        </p:spPr>
      </p:sp>
      <p:sp>
        <p:nvSpPr>
          <p:cNvPr id="18" name="Text 15"/>
          <p:cNvSpPr txBox="1"/>
          <p:nvPr/>
        </p:nvSpPr>
        <p:spPr>
          <a:xfrm>
            <a:off x="473202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07  </a:t>
            </a:r>
            <a:pPr indent="0" marL="0">
              <a:buNone/>
            </a:pPr>
            <a:r>
              <a:rPr lang="en-US" sz="1000" b="1" dirty="0">
                <a:solidFill>
                  <a:srgbClr val="595959"/>
                </a:solidFill>
                <a:latin typeface="Arial" pitchFamily="34" charset="0"/>
                <a:ea typeface="Arial" pitchFamily="34" charset="-122"/>
                <a:cs typeface="Arial" pitchFamily="34" charset="-120"/>
              </a:rPr>
              <a:t>3:6–14</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Blessing or a Curse</a:t>
            </a:r>
            <a:endParaRPr lang="en-US" sz="1200" dirty="0"/>
          </a:p>
        </p:txBody>
      </p:sp>
      <p:sp>
        <p:nvSpPr>
          <p:cNvPr id="19" name="Shape 16"/>
          <p:cNvSpPr/>
          <p:nvPr/>
        </p:nvSpPr>
        <p:spPr>
          <a:xfrm>
            <a:off x="6732270" y="2020824"/>
            <a:ext cx="1954530" cy="786384"/>
          </a:xfrm>
          <a:prstGeom prst="rect">
            <a:avLst/>
          </a:prstGeom>
          <a:solidFill>
            <a:srgbClr val="F2F6FC"/>
          </a:solidFill>
          <a:ln w="9525">
            <a:solidFill>
              <a:srgbClr val="D5DCEA"/>
            </a:solidFill>
            <a:prstDash val="solid"/>
          </a:ln>
        </p:spPr>
      </p:sp>
      <p:sp>
        <p:nvSpPr>
          <p:cNvPr id="20" name="Text 17"/>
          <p:cNvSpPr txBox="1"/>
          <p:nvPr/>
        </p:nvSpPr>
        <p:spPr>
          <a:xfrm>
            <a:off x="682371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08  </a:t>
            </a:r>
            <a:pPr indent="0" marL="0">
              <a:buNone/>
            </a:pPr>
            <a:r>
              <a:rPr lang="en-US" sz="1000" b="1" dirty="0">
                <a:solidFill>
                  <a:srgbClr val="595959"/>
                </a:solidFill>
                <a:latin typeface="Arial" pitchFamily="34" charset="0"/>
                <a:ea typeface="Arial" pitchFamily="34" charset="-122"/>
                <a:cs typeface="Arial" pitchFamily="34" charset="-120"/>
              </a:rPr>
              <a:t>3:15–29</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Superiority of the Promise to the Law</a:t>
            </a:r>
            <a:endParaRPr lang="en-US" sz="1200" dirty="0"/>
          </a:p>
        </p:txBody>
      </p:sp>
      <p:sp>
        <p:nvSpPr>
          <p:cNvPr id="21" name="Shape 18"/>
          <p:cNvSpPr/>
          <p:nvPr/>
        </p:nvSpPr>
        <p:spPr>
          <a:xfrm>
            <a:off x="457200" y="2926080"/>
            <a:ext cx="1954530" cy="786384"/>
          </a:xfrm>
          <a:prstGeom prst="rect">
            <a:avLst/>
          </a:prstGeom>
          <a:solidFill>
            <a:srgbClr val="F2F6FC"/>
          </a:solidFill>
          <a:ln w="9525">
            <a:solidFill>
              <a:srgbClr val="D5DCEA"/>
            </a:solidFill>
            <a:prstDash val="solid"/>
          </a:ln>
        </p:spPr>
      </p:sp>
      <p:sp>
        <p:nvSpPr>
          <p:cNvPr id="22" name="Text 19"/>
          <p:cNvSpPr txBox="1"/>
          <p:nvPr/>
        </p:nvSpPr>
        <p:spPr>
          <a:xfrm>
            <a:off x="54864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09  </a:t>
            </a:r>
            <a:pPr indent="0" marL="0">
              <a:buNone/>
            </a:pPr>
            <a:r>
              <a:rPr lang="en-US" sz="1000" b="1" dirty="0">
                <a:solidFill>
                  <a:srgbClr val="595959"/>
                </a:solidFill>
                <a:latin typeface="Arial" pitchFamily="34" charset="0"/>
                <a:ea typeface="Arial" pitchFamily="34" charset="-122"/>
                <a:cs typeface="Arial" pitchFamily="34" charset="-120"/>
              </a:rPr>
              <a:t>4:1–11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When I Became a Man</a:t>
            </a:r>
            <a:endParaRPr lang="en-US" sz="1200" dirty="0"/>
          </a:p>
        </p:txBody>
      </p:sp>
      <p:sp>
        <p:nvSpPr>
          <p:cNvPr id="23" name="Shape 20"/>
          <p:cNvSpPr/>
          <p:nvPr/>
        </p:nvSpPr>
        <p:spPr>
          <a:xfrm>
            <a:off x="2548890" y="2926080"/>
            <a:ext cx="1954530" cy="786384"/>
          </a:xfrm>
          <a:prstGeom prst="rect">
            <a:avLst/>
          </a:prstGeom>
          <a:solidFill>
            <a:srgbClr val="F2F6FC"/>
          </a:solidFill>
          <a:ln w="9525">
            <a:solidFill>
              <a:srgbClr val="D5DCEA"/>
            </a:solidFill>
            <a:prstDash val="solid"/>
          </a:ln>
        </p:spPr>
      </p:sp>
      <p:sp>
        <p:nvSpPr>
          <p:cNvPr id="24" name="Text 21"/>
          <p:cNvSpPr txBox="1"/>
          <p:nvPr/>
        </p:nvSpPr>
        <p:spPr>
          <a:xfrm>
            <a:off x="264033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10  </a:t>
            </a:r>
            <a:pPr indent="0" marL="0">
              <a:buNone/>
            </a:pPr>
            <a:r>
              <a:rPr lang="en-US" sz="1000" b="1" dirty="0">
                <a:solidFill>
                  <a:srgbClr val="595959"/>
                </a:solidFill>
                <a:latin typeface="Arial" pitchFamily="34" charset="0"/>
                <a:ea typeface="Arial" pitchFamily="34" charset="-122"/>
                <a:cs typeface="Arial" pitchFamily="34" charset="-120"/>
              </a:rPr>
              <a:t>4:12–20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A Steel Fist in a Velvet Glove</a:t>
            </a:r>
            <a:endParaRPr lang="en-US" sz="1200" dirty="0"/>
          </a:p>
        </p:txBody>
      </p:sp>
      <p:sp>
        <p:nvSpPr>
          <p:cNvPr id="25" name="Shape 22"/>
          <p:cNvSpPr/>
          <p:nvPr/>
        </p:nvSpPr>
        <p:spPr>
          <a:xfrm>
            <a:off x="4640580" y="2926080"/>
            <a:ext cx="1954530" cy="786384"/>
          </a:xfrm>
          <a:prstGeom prst="rect">
            <a:avLst/>
          </a:prstGeom>
          <a:solidFill>
            <a:srgbClr val="F2F6FC"/>
          </a:solidFill>
          <a:ln w="9525">
            <a:solidFill>
              <a:srgbClr val="D5DCEA"/>
            </a:solidFill>
            <a:prstDash val="solid"/>
          </a:ln>
        </p:spPr>
      </p:sp>
      <p:sp>
        <p:nvSpPr>
          <p:cNvPr id="26" name="Text 23"/>
          <p:cNvSpPr txBox="1"/>
          <p:nvPr/>
        </p:nvSpPr>
        <p:spPr>
          <a:xfrm>
            <a:off x="473202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11  </a:t>
            </a:r>
            <a:pPr indent="0" marL="0">
              <a:buNone/>
            </a:pPr>
            <a:r>
              <a:rPr lang="en-US" sz="1000" b="1" dirty="0">
                <a:solidFill>
                  <a:srgbClr val="595959"/>
                </a:solidFill>
                <a:latin typeface="Arial" pitchFamily="34" charset="0"/>
                <a:ea typeface="Arial" pitchFamily="34" charset="-122"/>
                <a:cs typeface="Arial" pitchFamily="34" charset="-120"/>
              </a:rPr>
              <a:t>4:21–31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Old Testament Story</a:t>
            </a:r>
            <a:endParaRPr lang="en-US" sz="1200" dirty="0"/>
          </a:p>
        </p:txBody>
      </p:sp>
      <p:sp>
        <p:nvSpPr>
          <p:cNvPr id="27" name="Shape 24"/>
          <p:cNvSpPr/>
          <p:nvPr/>
        </p:nvSpPr>
        <p:spPr>
          <a:xfrm>
            <a:off x="6732270" y="2926080"/>
            <a:ext cx="1954530" cy="786384"/>
          </a:xfrm>
          <a:prstGeom prst="rect">
            <a:avLst/>
          </a:prstGeom>
          <a:solidFill>
            <a:srgbClr val="1F3864"/>
          </a:solidFill>
          <a:ln w="9525">
            <a:solidFill>
              <a:srgbClr val="1F3864"/>
            </a:solidFill>
            <a:prstDash val="solid"/>
          </a:ln>
        </p:spPr>
      </p:sp>
      <p:sp>
        <p:nvSpPr>
          <p:cNvPr id="28" name="Text 25"/>
          <p:cNvSpPr txBox="1"/>
          <p:nvPr/>
        </p:nvSpPr>
        <p:spPr>
          <a:xfrm>
            <a:off x="6823710" y="2980944"/>
            <a:ext cx="1771650" cy="676656"/>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12  </a:t>
            </a:r>
            <a:pPr indent="0" marL="0">
              <a:buNone/>
            </a:pPr>
            <a:r>
              <a:rPr lang="en-US" sz="1000" b="1" dirty="0">
                <a:solidFill>
                  <a:srgbClr val="C9D5EE"/>
                </a:solidFill>
                <a:latin typeface="Arial" pitchFamily="34" charset="0"/>
                <a:ea typeface="Arial" pitchFamily="34" charset="-122"/>
                <a:cs typeface="Arial" pitchFamily="34" charset="-120"/>
              </a:rPr>
              <a:t>5:1–12</a:t>
            </a:r>
            <a:endParaRPr lang="en-US" sz="1200" dirty="0"/>
          </a:p>
          <a:p>
            <a:pPr indent="0" marL="0">
              <a:buNone/>
            </a:pPr>
            <a:r>
              <a:rPr lang="en-US" sz="1050" b="1" dirty="0">
                <a:solidFill>
                  <a:srgbClr val="FFFFFF"/>
                </a:solidFill>
                <a:latin typeface="Arial" pitchFamily="34" charset="0"/>
                <a:ea typeface="Arial" pitchFamily="34" charset="-122"/>
                <a:cs typeface="Arial" pitchFamily="34" charset="-120"/>
              </a:rPr>
              <a:t>Taking a Stand in Liberty</a:t>
            </a:r>
            <a:endParaRPr lang="en-US" sz="1200" dirty="0"/>
          </a:p>
        </p:txBody>
      </p:sp>
      <p:sp>
        <p:nvSpPr>
          <p:cNvPr id="29" name="Shape 26"/>
          <p:cNvSpPr/>
          <p:nvPr/>
        </p:nvSpPr>
        <p:spPr>
          <a:xfrm>
            <a:off x="457200" y="3831336"/>
            <a:ext cx="1954530" cy="786384"/>
          </a:xfrm>
          <a:prstGeom prst="rect">
            <a:avLst/>
          </a:prstGeom>
          <a:solidFill>
            <a:srgbClr val="F2F6FC"/>
          </a:solidFill>
          <a:ln w="9525">
            <a:solidFill>
              <a:srgbClr val="D5DCEA"/>
            </a:solidFill>
            <a:prstDash val="solid"/>
          </a:ln>
        </p:spPr>
      </p:sp>
      <p:sp>
        <p:nvSpPr>
          <p:cNvPr id="30" name="Text 27"/>
          <p:cNvSpPr txBox="1"/>
          <p:nvPr/>
        </p:nvSpPr>
        <p:spPr>
          <a:xfrm>
            <a:off x="54864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13  </a:t>
            </a:r>
            <a:pPr indent="0" marL="0">
              <a:buNone/>
            </a:pPr>
            <a:r>
              <a:rPr lang="en-US" sz="1000" b="1" dirty="0">
                <a:solidFill>
                  <a:srgbClr val="595959"/>
                </a:solidFill>
                <a:latin typeface="Arial" pitchFamily="34" charset="0"/>
                <a:ea typeface="Arial" pitchFamily="34" charset="-122"/>
                <a:cs typeface="Arial" pitchFamily="34" charset="-120"/>
              </a:rPr>
              <a:t>5:13–26</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Walk in the Spirit</a:t>
            </a:r>
            <a:endParaRPr lang="en-US" sz="1200" dirty="0"/>
          </a:p>
        </p:txBody>
      </p:sp>
      <p:sp>
        <p:nvSpPr>
          <p:cNvPr id="31" name="Shape 28"/>
          <p:cNvSpPr/>
          <p:nvPr/>
        </p:nvSpPr>
        <p:spPr>
          <a:xfrm>
            <a:off x="2548890" y="3831336"/>
            <a:ext cx="1954530" cy="786384"/>
          </a:xfrm>
          <a:prstGeom prst="rect">
            <a:avLst/>
          </a:prstGeom>
          <a:solidFill>
            <a:srgbClr val="F2F6FC"/>
          </a:solidFill>
          <a:ln w="9525">
            <a:solidFill>
              <a:srgbClr val="D5DCEA"/>
            </a:solidFill>
            <a:prstDash val="solid"/>
          </a:ln>
        </p:spPr>
      </p:sp>
      <p:sp>
        <p:nvSpPr>
          <p:cNvPr id="32" name="Text 29"/>
          <p:cNvSpPr txBox="1"/>
          <p:nvPr/>
        </p:nvSpPr>
        <p:spPr>
          <a:xfrm>
            <a:off x="264033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14  </a:t>
            </a:r>
            <a:pPr indent="0" marL="0">
              <a:buNone/>
            </a:pPr>
            <a:r>
              <a:rPr lang="en-US" sz="1000" b="1" dirty="0">
                <a:solidFill>
                  <a:srgbClr val="595959"/>
                </a:solidFill>
                <a:latin typeface="Arial" pitchFamily="34" charset="0"/>
                <a:ea typeface="Arial" pitchFamily="34" charset="-122"/>
                <a:cs typeface="Arial" pitchFamily="34" charset="-120"/>
              </a:rPr>
              <a:t>6:1–5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Brothers and Burdens</a:t>
            </a:r>
            <a:endParaRPr lang="en-US" sz="1200" dirty="0"/>
          </a:p>
        </p:txBody>
      </p:sp>
      <p:sp>
        <p:nvSpPr>
          <p:cNvPr id="33" name="Shape 30"/>
          <p:cNvSpPr/>
          <p:nvPr/>
        </p:nvSpPr>
        <p:spPr>
          <a:xfrm>
            <a:off x="4640580" y="3831336"/>
            <a:ext cx="1954530" cy="786384"/>
          </a:xfrm>
          <a:prstGeom prst="rect">
            <a:avLst/>
          </a:prstGeom>
          <a:solidFill>
            <a:srgbClr val="F2F6FC"/>
          </a:solidFill>
          <a:ln w="9525">
            <a:solidFill>
              <a:srgbClr val="D5DCEA"/>
            </a:solidFill>
            <a:prstDash val="solid"/>
          </a:ln>
        </p:spPr>
      </p:sp>
      <p:sp>
        <p:nvSpPr>
          <p:cNvPr id="34" name="Text 31"/>
          <p:cNvSpPr txBox="1"/>
          <p:nvPr/>
        </p:nvSpPr>
        <p:spPr>
          <a:xfrm>
            <a:off x="473202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15  </a:t>
            </a:r>
            <a:pPr indent="0" marL="0">
              <a:buNone/>
            </a:pPr>
            <a:r>
              <a:rPr lang="en-US" sz="1000" b="1" dirty="0">
                <a:solidFill>
                  <a:srgbClr val="595959"/>
                </a:solidFill>
                <a:latin typeface="Arial" pitchFamily="34" charset="0"/>
                <a:ea typeface="Arial" pitchFamily="34" charset="-122"/>
                <a:cs typeface="Arial" pitchFamily="34" charset="-120"/>
              </a:rPr>
              <a:t>6:6–10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Sowing and Reaping</a:t>
            </a:r>
            <a:endParaRPr lang="en-US" sz="1200" dirty="0"/>
          </a:p>
        </p:txBody>
      </p:sp>
      <p:sp>
        <p:nvSpPr>
          <p:cNvPr id="35" name="Shape 32"/>
          <p:cNvSpPr/>
          <p:nvPr/>
        </p:nvSpPr>
        <p:spPr>
          <a:xfrm>
            <a:off x="6732270" y="3831336"/>
            <a:ext cx="1954530" cy="786384"/>
          </a:xfrm>
          <a:prstGeom prst="rect">
            <a:avLst/>
          </a:prstGeom>
          <a:solidFill>
            <a:srgbClr val="F2F6FC"/>
          </a:solidFill>
          <a:ln w="9525">
            <a:solidFill>
              <a:srgbClr val="D5DCEA"/>
            </a:solidFill>
            <a:prstDash val="solid"/>
          </a:ln>
        </p:spPr>
      </p:sp>
      <p:sp>
        <p:nvSpPr>
          <p:cNvPr id="36" name="Text 33"/>
          <p:cNvSpPr txBox="1"/>
          <p:nvPr/>
        </p:nvSpPr>
        <p:spPr>
          <a:xfrm>
            <a:off x="682371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16  </a:t>
            </a:r>
            <a:pPr indent="0" marL="0">
              <a:buNone/>
            </a:pPr>
            <a:r>
              <a:rPr lang="en-US" sz="1000" b="1" dirty="0">
                <a:solidFill>
                  <a:srgbClr val="595959"/>
                </a:solidFill>
                <a:latin typeface="Arial" pitchFamily="34" charset="0"/>
                <a:ea typeface="Arial" pitchFamily="34" charset="-122"/>
                <a:cs typeface="Arial" pitchFamily="34" charset="-120"/>
              </a:rPr>
              <a:t>6:11–18</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Teaching the Truth</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Stand fast — and don't be entangled again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5:1 · Outline I — The request</a:t>
            </a:r>
            <a:endParaRPr lang="en-US" sz="1200" dirty="0"/>
          </a:p>
        </p:txBody>
      </p:sp>
      <p:sp>
        <p:nvSpPr>
          <p:cNvPr id="5" name="Shape 2"/>
          <p:cNvSpPr/>
          <p:nvPr/>
        </p:nvSpPr>
        <p:spPr>
          <a:xfrm>
            <a:off x="457200" y="1143000"/>
            <a:ext cx="4023360" cy="566928"/>
          </a:xfrm>
          <a:prstGeom prst="rect">
            <a:avLst/>
          </a:prstGeom>
          <a:solidFill>
            <a:srgbClr val="375623"/>
          </a:solidFill>
          <a:ln w="12700">
            <a:solidFill>
              <a:srgbClr val="375623"/>
            </a:solidFill>
            <a:prstDash val="solid"/>
          </a:ln>
        </p:spPr>
      </p:sp>
      <p:sp>
        <p:nvSpPr>
          <p:cNvPr id="6" name="Text 3"/>
          <p:cNvSpPr txBox="1"/>
          <p:nvPr/>
        </p:nvSpPr>
        <p:spPr>
          <a:xfrm>
            <a:off x="54864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positive command — 5:1a</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στήκετε</a:t>
            </a:r>
            <a:pPr indent="0" marL="0">
              <a:buNone/>
            </a:pPr>
            <a:r>
              <a:rPr lang="en-US" sz="850" dirty="0">
                <a:solidFill>
                  <a:srgbClr val="DCE4F2"/>
                </a:solidFill>
                <a:latin typeface="Arial" pitchFamily="34" charset="0"/>
                <a:ea typeface="Arial" pitchFamily="34" charset="-122"/>
                <a:cs typeface="Arial" pitchFamily="34" charset="-120"/>
              </a:rPr>
              <a:t>  Pres. Act. Impv. — keep standing</a:t>
            </a:r>
            <a:endParaRPr lang="en-US" sz="1200" dirty="0"/>
          </a:p>
        </p:txBody>
      </p:sp>
      <p:sp>
        <p:nvSpPr>
          <p:cNvPr id="7" name="Shape 4"/>
          <p:cNvSpPr/>
          <p:nvPr/>
        </p:nvSpPr>
        <p:spPr>
          <a:xfrm>
            <a:off x="457200" y="1709928"/>
            <a:ext cx="4023360" cy="2039112"/>
          </a:xfrm>
          <a:prstGeom prst="rect">
            <a:avLst/>
          </a:prstGeom>
          <a:solidFill>
            <a:srgbClr val="F2F6FC"/>
          </a:solidFill>
          <a:ln w="9525">
            <a:solidFill>
              <a:srgbClr val="D5DCEA"/>
            </a:solidFill>
            <a:prstDash val="solid"/>
          </a:ln>
        </p:spPr>
      </p:sp>
      <p:sp>
        <p:nvSpPr>
          <p:cNvPr id="8" name="Text 5"/>
          <p:cNvSpPr txBox="1"/>
          <p:nvPr/>
        </p:nvSpPr>
        <p:spPr>
          <a:xfrm>
            <a:off x="548640" y="1783080"/>
            <a:ext cx="3840480" cy="19110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“Stand fast therefore in the liberty by which Christ has made us free”</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Freedom already given (ἐλευθερία)</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Standing in it is a continuing choice</a:t>
            </a:r>
            <a:endParaRPr lang="en-US" sz="1300" dirty="0"/>
          </a:p>
        </p:txBody>
      </p:sp>
      <p:sp>
        <p:nvSpPr>
          <p:cNvPr id="9" name="Shape 6"/>
          <p:cNvSpPr/>
          <p:nvPr/>
        </p:nvSpPr>
        <p:spPr>
          <a:xfrm>
            <a:off x="4663440" y="1143000"/>
            <a:ext cx="4023360" cy="566928"/>
          </a:xfrm>
          <a:prstGeom prst="rect">
            <a:avLst/>
          </a:prstGeom>
          <a:solidFill>
            <a:srgbClr val="6B7280"/>
          </a:solidFill>
          <a:ln w="12700">
            <a:solidFill>
              <a:srgbClr val="6B7280"/>
            </a:solidFill>
            <a:prstDash val="solid"/>
          </a:ln>
        </p:spPr>
      </p:sp>
      <p:sp>
        <p:nvSpPr>
          <p:cNvPr id="10" name="Text 7"/>
          <p:cNvSpPr txBox="1"/>
          <p:nvPr/>
        </p:nvSpPr>
        <p:spPr>
          <a:xfrm>
            <a:off x="475488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negative command — 5:1b</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ζυγῷ δουλείας</a:t>
            </a:r>
            <a:pPr indent="0" marL="0">
              <a:buNone/>
            </a:pPr>
            <a:r>
              <a:rPr lang="en-US" sz="850" dirty="0">
                <a:solidFill>
                  <a:srgbClr val="DCE4F2"/>
                </a:solidFill>
                <a:latin typeface="Arial" pitchFamily="34" charset="0"/>
                <a:ea typeface="Arial" pitchFamily="34" charset="-122"/>
                <a:cs typeface="Arial" pitchFamily="34" charset="-120"/>
              </a:rPr>
              <a:t>  yoke of bondage</a:t>
            </a:r>
            <a:endParaRPr lang="en-US" sz="1200" dirty="0"/>
          </a:p>
        </p:txBody>
      </p:sp>
      <p:sp>
        <p:nvSpPr>
          <p:cNvPr id="11" name="Shape 8"/>
          <p:cNvSpPr/>
          <p:nvPr/>
        </p:nvSpPr>
        <p:spPr>
          <a:xfrm>
            <a:off x="4663440" y="1709928"/>
            <a:ext cx="4023360" cy="2039112"/>
          </a:xfrm>
          <a:prstGeom prst="rect">
            <a:avLst/>
          </a:prstGeom>
          <a:solidFill>
            <a:srgbClr val="F2F6FC"/>
          </a:solidFill>
          <a:ln w="9525">
            <a:solidFill>
              <a:srgbClr val="D5DCEA"/>
            </a:solidFill>
            <a:prstDash val="solid"/>
          </a:ln>
        </p:spPr>
      </p:sp>
      <p:sp>
        <p:nvSpPr>
          <p:cNvPr id="12" name="Text 9"/>
          <p:cNvSpPr txBox="1"/>
          <p:nvPr/>
        </p:nvSpPr>
        <p:spPr>
          <a:xfrm>
            <a:off x="4754880" y="1783080"/>
            <a:ext cx="3840480" cy="19110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“Do not be entangled again”</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Gentiles: the yoke of pagan religion</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Jews: law-keeping to be accepted — now offered again</a:t>
            </a:r>
            <a:endParaRPr lang="en-US" sz="1300" dirty="0"/>
          </a:p>
        </p:txBody>
      </p:sp>
      <p:sp>
        <p:nvSpPr>
          <p:cNvPr id="13" name="Shape 10"/>
          <p:cNvSpPr/>
          <p:nvPr/>
        </p:nvSpPr>
        <p:spPr>
          <a:xfrm>
            <a:off x="457200" y="3977640"/>
            <a:ext cx="8229600" cy="502920"/>
          </a:xfrm>
          <a:prstGeom prst="roundRect">
            <a:avLst>
              <a:gd name="adj" fmla="val 10909"/>
            </a:avLst>
          </a:prstGeom>
          <a:solidFill>
            <a:srgbClr val="1F3864"/>
          </a:solidFill>
          <a:ln w="12700">
            <a:solidFill>
              <a:srgbClr val="1F3864"/>
            </a:solidFill>
            <a:prstDash val="solid"/>
          </a:ln>
        </p:spPr>
      </p:sp>
      <p:sp>
        <p:nvSpPr>
          <p:cNvPr id="14" name="Text 11"/>
          <p:cNvSpPr txBox="1"/>
          <p:nvPr/>
        </p:nvSpPr>
        <p:spPr>
          <a:xfrm>
            <a:off x="621792" y="397764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Freedom is a settled fact. Standing in it is an ongoing decision — it isn't automatic.</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results of submitting to the law</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5:2–4 · Outline II — The results</a:t>
            </a:r>
            <a:endParaRPr lang="en-US" sz="1200" dirty="0"/>
          </a:p>
        </p:txBody>
      </p:sp>
      <p:sp>
        <p:nvSpPr>
          <p:cNvPr id="5" name="Shape 2"/>
          <p:cNvSpPr/>
          <p:nvPr/>
        </p:nvSpPr>
        <p:spPr>
          <a:xfrm>
            <a:off x="457200" y="1170432"/>
            <a:ext cx="8229600" cy="841248"/>
          </a:xfrm>
          <a:prstGeom prst="rect">
            <a:avLst/>
          </a:prstGeom>
          <a:solidFill>
            <a:srgbClr val="F2F6FC"/>
          </a:solidFill>
          <a:ln w="9525">
            <a:solidFill>
              <a:srgbClr val="D5DCEA"/>
            </a:solidFill>
            <a:prstDash val="solid"/>
          </a:ln>
        </p:spPr>
      </p:sp>
      <p:sp>
        <p:nvSpPr>
          <p:cNvPr id="6" name="Shape 3"/>
          <p:cNvSpPr/>
          <p:nvPr/>
        </p:nvSpPr>
        <p:spPr>
          <a:xfrm>
            <a:off x="585216" y="1362456"/>
            <a:ext cx="457200" cy="457200"/>
          </a:xfrm>
          <a:prstGeom prst="ellipse">
            <a:avLst/>
          </a:prstGeom>
          <a:solidFill>
            <a:srgbClr val="2E5496"/>
          </a:solidFill>
          <a:ln w="12700">
            <a:solidFill>
              <a:srgbClr val="2E5496"/>
            </a:solidFill>
            <a:prstDash val="solid"/>
          </a:ln>
        </p:spPr>
      </p:sp>
      <p:sp>
        <p:nvSpPr>
          <p:cNvPr id="7" name="Text 4"/>
          <p:cNvSpPr txBox="1"/>
          <p:nvPr/>
        </p:nvSpPr>
        <p:spPr>
          <a:xfrm>
            <a:off x="585216" y="136245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txBox="1"/>
          <p:nvPr/>
        </p:nvSpPr>
        <p:spPr>
          <a:xfrm>
            <a:off x="1207008" y="1170432"/>
            <a:ext cx="5468112" cy="841248"/>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Denied the power of Christ — v.2</a:t>
            </a:r>
            <a:endParaRPr lang="en-US" sz="1200" dirty="0"/>
          </a:p>
          <a:p>
            <a:pPr indent="0" marL="0">
              <a:buNone/>
            </a:pPr>
            <a:r>
              <a:rPr lang="en-US" sz="1200" dirty="0">
                <a:solidFill>
                  <a:srgbClr val="262626"/>
                </a:solidFill>
                <a:latin typeface="Arial" pitchFamily="34" charset="0"/>
                <a:ea typeface="Arial" pitchFamily="34" charset="-122"/>
                <a:cs typeface="Arial" pitchFamily="34" charset="-120"/>
              </a:rPr>
              <a:t>“If you become circumcised, Christ will profit you nothing”</a:t>
            </a:r>
            <a:endParaRPr lang="en-US" sz="1200" dirty="0"/>
          </a:p>
        </p:txBody>
      </p:sp>
      <p:sp>
        <p:nvSpPr>
          <p:cNvPr id="9" name="Text 6"/>
          <p:cNvSpPr txBox="1"/>
          <p:nvPr/>
        </p:nvSpPr>
        <p:spPr>
          <a:xfrm>
            <a:off x="6675120" y="1170432"/>
            <a:ext cx="1901952" cy="84124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περιτέμνησθε</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subjunctive — not yet final</a:t>
            </a:r>
            <a:endParaRPr lang="en-US" sz="1200" dirty="0"/>
          </a:p>
        </p:txBody>
      </p:sp>
      <p:sp>
        <p:nvSpPr>
          <p:cNvPr id="10" name="Shape 7"/>
          <p:cNvSpPr/>
          <p:nvPr/>
        </p:nvSpPr>
        <p:spPr>
          <a:xfrm>
            <a:off x="457200" y="2121408"/>
            <a:ext cx="8229600" cy="841248"/>
          </a:xfrm>
          <a:prstGeom prst="rect">
            <a:avLst/>
          </a:prstGeom>
          <a:solidFill>
            <a:srgbClr val="FFFFFF"/>
          </a:solidFill>
          <a:ln w="9525">
            <a:solidFill>
              <a:srgbClr val="D5DCEA"/>
            </a:solidFill>
            <a:prstDash val="solid"/>
          </a:ln>
        </p:spPr>
      </p:sp>
      <p:sp>
        <p:nvSpPr>
          <p:cNvPr id="11" name="Shape 8"/>
          <p:cNvSpPr/>
          <p:nvPr/>
        </p:nvSpPr>
        <p:spPr>
          <a:xfrm>
            <a:off x="585216" y="2313432"/>
            <a:ext cx="457200" cy="457200"/>
          </a:xfrm>
          <a:prstGeom prst="ellipse">
            <a:avLst/>
          </a:prstGeom>
          <a:solidFill>
            <a:srgbClr val="2E5496"/>
          </a:solidFill>
          <a:ln w="12700">
            <a:solidFill>
              <a:srgbClr val="2E5496"/>
            </a:solidFill>
            <a:prstDash val="solid"/>
          </a:ln>
        </p:spPr>
      </p:sp>
      <p:sp>
        <p:nvSpPr>
          <p:cNvPr id="12" name="Text 9"/>
          <p:cNvSpPr txBox="1"/>
          <p:nvPr/>
        </p:nvSpPr>
        <p:spPr>
          <a:xfrm>
            <a:off x="585216" y="23134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3" name="Text 10"/>
          <p:cNvSpPr txBox="1"/>
          <p:nvPr/>
        </p:nvSpPr>
        <p:spPr>
          <a:xfrm>
            <a:off x="1207008" y="2121408"/>
            <a:ext cx="5468112" cy="841248"/>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Indebted to keep the whole law — v.3</a:t>
            </a:r>
            <a:endParaRPr lang="en-US" sz="1200" dirty="0"/>
          </a:p>
          <a:p>
            <a:pPr indent="0" marL="0">
              <a:buNone/>
            </a:pPr>
            <a:r>
              <a:rPr lang="en-US" sz="1200" dirty="0">
                <a:solidFill>
                  <a:srgbClr val="262626"/>
                </a:solidFill>
                <a:latin typeface="Arial" pitchFamily="34" charset="0"/>
                <a:ea typeface="Arial" pitchFamily="34" charset="-122"/>
                <a:cs typeface="Arial" pitchFamily="34" charset="-120"/>
              </a:rPr>
              <a:t>All or nothing — no picking and choosing (cf. James 2:10)</a:t>
            </a:r>
            <a:endParaRPr lang="en-US" sz="1200" dirty="0"/>
          </a:p>
        </p:txBody>
      </p:sp>
      <p:sp>
        <p:nvSpPr>
          <p:cNvPr id="14" name="Text 11"/>
          <p:cNvSpPr txBox="1"/>
          <p:nvPr/>
        </p:nvSpPr>
        <p:spPr>
          <a:xfrm>
            <a:off x="6675120" y="2121408"/>
            <a:ext cx="1901952" cy="84124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ὀφειλέτης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a debtor</a:t>
            </a:r>
            <a:endParaRPr lang="en-US" sz="1200" dirty="0"/>
          </a:p>
        </p:txBody>
      </p:sp>
      <p:sp>
        <p:nvSpPr>
          <p:cNvPr id="15" name="Shape 12"/>
          <p:cNvSpPr/>
          <p:nvPr/>
        </p:nvSpPr>
        <p:spPr>
          <a:xfrm>
            <a:off x="457200" y="3072384"/>
            <a:ext cx="8229600" cy="841248"/>
          </a:xfrm>
          <a:prstGeom prst="rect">
            <a:avLst/>
          </a:prstGeom>
          <a:solidFill>
            <a:srgbClr val="F2F6FC"/>
          </a:solidFill>
          <a:ln w="9525">
            <a:solidFill>
              <a:srgbClr val="D5DCEA"/>
            </a:solidFill>
            <a:prstDash val="solid"/>
          </a:ln>
        </p:spPr>
      </p:sp>
      <p:sp>
        <p:nvSpPr>
          <p:cNvPr id="16" name="Shape 13"/>
          <p:cNvSpPr/>
          <p:nvPr/>
        </p:nvSpPr>
        <p:spPr>
          <a:xfrm>
            <a:off x="585216" y="3264408"/>
            <a:ext cx="457200" cy="457200"/>
          </a:xfrm>
          <a:prstGeom prst="ellipse">
            <a:avLst/>
          </a:prstGeom>
          <a:solidFill>
            <a:srgbClr val="7030A0"/>
          </a:solidFill>
          <a:ln w="12700">
            <a:solidFill>
              <a:srgbClr val="7030A0"/>
            </a:solidFill>
            <a:prstDash val="solid"/>
          </a:ln>
        </p:spPr>
      </p:sp>
      <p:sp>
        <p:nvSpPr>
          <p:cNvPr id="17" name="Text 14"/>
          <p:cNvSpPr txBox="1"/>
          <p:nvPr/>
        </p:nvSpPr>
        <p:spPr>
          <a:xfrm>
            <a:off x="585216" y="32644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18" name="Text 15"/>
          <p:cNvSpPr txBox="1"/>
          <p:nvPr/>
        </p:nvSpPr>
        <p:spPr>
          <a:xfrm>
            <a:off x="1207008" y="3072384"/>
            <a:ext cx="5468112" cy="841248"/>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Detached from the grace of God — v.4</a:t>
            </a:r>
            <a:endParaRPr lang="en-US" sz="1200" dirty="0"/>
          </a:p>
          <a:p>
            <a:pPr indent="0" marL="0">
              <a:buNone/>
            </a:pPr>
            <a:r>
              <a:rPr lang="en-US" sz="1200" dirty="0">
                <a:solidFill>
                  <a:srgbClr val="262626"/>
                </a:solidFill>
                <a:latin typeface="Arial" pitchFamily="34" charset="0"/>
                <a:ea typeface="Arial" pitchFamily="34" charset="-122"/>
                <a:cs typeface="Arial" pitchFamily="34" charset="-120"/>
              </a:rPr>
              <a:t>Estranged in fellowship, off course from grace — not loss of salvation</a:t>
            </a:r>
            <a:endParaRPr lang="en-US" sz="1200" dirty="0"/>
          </a:p>
        </p:txBody>
      </p:sp>
      <p:sp>
        <p:nvSpPr>
          <p:cNvPr id="19" name="Text 16"/>
          <p:cNvSpPr txBox="1"/>
          <p:nvPr/>
        </p:nvSpPr>
        <p:spPr>
          <a:xfrm>
            <a:off x="6675120" y="3072384"/>
            <a:ext cx="1901952" cy="84124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ἐξεπέσατε</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a ship driven off course</a:t>
            </a:r>
            <a:endParaRPr lang="en-US" sz="1200" dirty="0"/>
          </a:p>
        </p:txBody>
      </p:sp>
      <p:sp>
        <p:nvSpPr>
          <p:cNvPr id="20" name="Shape 17"/>
          <p:cNvSpPr/>
          <p:nvPr/>
        </p:nvSpPr>
        <p:spPr>
          <a:xfrm>
            <a:off x="457200" y="4069080"/>
            <a:ext cx="8229600" cy="502920"/>
          </a:xfrm>
          <a:prstGeom prst="roundRect">
            <a:avLst>
              <a:gd name="adj" fmla="val 10909"/>
            </a:avLst>
          </a:prstGeom>
          <a:solidFill>
            <a:srgbClr val="1F3864"/>
          </a:solidFill>
          <a:ln w="12700">
            <a:solidFill>
              <a:srgbClr val="1F3864"/>
            </a:solidFill>
            <a:prstDash val="solid"/>
          </a:ln>
        </p:spPr>
      </p:sp>
      <p:sp>
        <p:nvSpPr>
          <p:cNvPr id="21" name="Text 18"/>
          <p:cNvSpPr txBox="1"/>
          <p:nvPr/>
        </p:nvSpPr>
        <p:spPr>
          <a:xfrm>
            <a:off x="621792" y="406908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“Fallen from grace” — their relationship with God was not affected; their walk was.</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Spirit-filled alternative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5:5–6 · Outline III — The reality of the Spirit-filled life</a:t>
            </a:r>
            <a:endParaRPr lang="en-US" sz="1200" dirty="0"/>
          </a:p>
        </p:txBody>
      </p:sp>
      <p:sp>
        <p:nvSpPr>
          <p:cNvPr id="5" name="Shape 2"/>
          <p:cNvSpPr/>
          <p:nvPr/>
        </p:nvSpPr>
        <p:spPr>
          <a:xfrm>
            <a:off x="457200" y="1143000"/>
            <a:ext cx="4023360" cy="566928"/>
          </a:xfrm>
          <a:prstGeom prst="rect">
            <a:avLst/>
          </a:prstGeom>
          <a:solidFill>
            <a:srgbClr val="2E5496"/>
          </a:solidFill>
          <a:ln w="12700">
            <a:solidFill>
              <a:srgbClr val="2E5496"/>
            </a:solidFill>
            <a:prstDash val="solid"/>
          </a:ln>
        </p:spPr>
      </p:sp>
      <p:sp>
        <p:nvSpPr>
          <p:cNvPr id="6" name="Text 3"/>
          <p:cNvSpPr txBox="1"/>
          <p:nvPr/>
        </p:nvSpPr>
        <p:spPr>
          <a:xfrm>
            <a:off x="54864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We patiently hope — v.5</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ἀπεκδεχόμεθα</a:t>
            </a:r>
            <a:pPr indent="0" marL="0">
              <a:buNone/>
            </a:pPr>
            <a:r>
              <a:rPr lang="en-US" sz="850" dirty="0">
                <a:solidFill>
                  <a:srgbClr val="DCE4F2"/>
                </a:solidFill>
                <a:latin typeface="Arial" pitchFamily="34" charset="0"/>
                <a:ea typeface="Arial" pitchFamily="34" charset="-122"/>
                <a:cs typeface="Arial" pitchFamily="34" charset="-120"/>
              </a:rPr>
              <a:t>  eagerly, fully wait</a:t>
            </a:r>
            <a:endParaRPr lang="en-US" sz="1200" dirty="0"/>
          </a:p>
        </p:txBody>
      </p:sp>
      <p:sp>
        <p:nvSpPr>
          <p:cNvPr id="7" name="Shape 4"/>
          <p:cNvSpPr/>
          <p:nvPr/>
        </p:nvSpPr>
        <p:spPr>
          <a:xfrm>
            <a:off x="457200" y="1709928"/>
            <a:ext cx="4023360" cy="2084832"/>
          </a:xfrm>
          <a:prstGeom prst="rect">
            <a:avLst/>
          </a:prstGeom>
          <a:solidFill>
            <a:srgbClr val="F2F6FC"/>
          </a:solidFill>
          <a:ln w="9525">
            <a:solidFill>
              <a:srgbClr val="D5DCEA"/>
            </a:solidFill>
            <a:prstDash val="solid"/>
          </a:ln>
        </p:spPr>
      </p:sp>
      <p:sp>
        <p:nvSpPr>
          <p:cNvPr id="8" name="Text 5"/>
          <p:cNvSpPr txBox="1"/>
          <p:nvPr/>
        </p:nvSpPr>
        <p:spPr>
          <a:xfrm>
            <a:off x="548640" y="1783080"/>
            <a:ext cx="3840480" cy="195681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“Through the Spirit” — not the law's fast way</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Forward-leaning, patient expectancy</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 hope of righteousness by faith”</a:t>
            </a:r>
            <a:endParaRPr lang="en-US" sz="1300" dirty="0"/>
          </a:p>
        </p:txBody>
      </p:sp>
      <p:sp>
        <p:nvSpPr>
          <p:cNvPr id="9" name="Shape 6"/>
          <p:cNvSpPr/>
          <p:nvPr/>
        </p:nvSpPr>
        <p:spPr>
          <a:xfrm>
            <a:off x="4663440" y="1143000"/>
            <a:ext cx="4023360" cy="566928"/>
          </a:xfrm>
          <a:prstGeom prst="rect">
            <a:avLst/>
          </a:prstGeom>
          <a:solidFill>
            <a:srgbClr val="375623"/>
          </a:solidFill>
          <a:ln w="12700">
            <a:solidFill>
              <a:srgbClr val="375623"/>
            </a:solidFill>
            <a:prstDash val="solid"/>
          </a:ln>
        </p:spPr>
      </p:sp>
      <p:sp>
        <p:nvSpPr>
          <p:cNvPr id="10" name="Text 7"/>
          <p:cNvSpPr txBox="1"/>
          <p:nvPr/>
        </p:nvSpPr>
        <p:spPr>
          <a:xfrm>
            <a:off x="475488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We passionately love — v.6</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ἐνεργουμένη δι' ἀγάπης</a:t>
            </a:r>
            <a:pPr indent="0" marL="0">
              <a:buNone/>
            </a:pPr>
            <a:r>
              <a:rPr lang="en-US" sz="850" dirty="0">
                <a:solidFill>
                  <a:srgbClr val="DCE4F2"/>
                </a:solidFill>
                <a:latin typeface="Arial" pitchFamily="34" charset="0"/>
                <a:ea typeface="Arial" pitchFamily="34" charset="-122"/>
                <a:cs typeface="Arial" pitchFamily="34" charset="-120"/>
              </a:rPr>
              <a:t>  working through love</a:t>
            </a:r>
            <a:endParaRPr lang="en-US" sz="1200" dirty="0"/>
          </a:p>
        </p:txBody>
      </p:sp>
      <p:sp>
        <p:nvSpPr>
          <p:cNvPr id="11" name="Shape 8"/>
          <p:cNvSpPr/>
          <p:nvPr/>
        </p:nvSpPr>
        <p:spPr>
          <a:xfrm>
            <a:off x="4663440" y="1709928"/>
            <a:ext cx="4023360" cy="2084832"/>
          </a:xfrm>
          <a:prstGeom prst="rect">
            <a:avLst/>
          </a:prstGeom>
          <a:solidFill>
            <a:srgbClr val="F2F6FC"/>
          </a:solidFill>
          <a:ln w="9525">
            <a:solidFill>
              <a:srgbClr val="D5DCEA"/>
            </a:solidFill>
            <a:prstDash val="solid"/>
          </a:ln>
        </p:spPr>
      </p:sp>
      <p:sp>
        <p:nvSpPr>
          <p:cNvPr id="12" name="Text 9"/>
          <p:cNvSpPr txBox="1"/>
          <p:nvPr/>
        </p:nvSpPr>
        <p:spPr>
          <a:xfrm>
            <a:off x="4754880" y="1783080"/>
            <a:ext cx="3840480" cy="195681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Neither circumcision nor uncircumcision avails anything</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Faith operates through love</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Serving Christ from love, not fear</a:t>
            </a:r>
            <a:endParaRPr lang="en-US" sz="1300" dirty="0"/>
          </a:p>
        </p:txBody>
      </p:sp>
      <p:sp>
        <p:nvSpPr>
          <p:cNvPr id="13" name="Shape 10"/>
          <p:cNvSpPr/>
          <p:nvPr/>
        </p:nvSpPr>
        <p:spPr>
          <a:xfrm>
            <a:off x="457200" y="4023360"/>
            <a:ext cx="8229600" cy="502920"/>
          </a:xfrm>
          <a:prstGeom prst="roundRect">
            <a:avLst>
              <a:gd name="adj" fmla="val 10909"/>
            </a:avLst>
          </a:prstGeom>
          <a:solidFill>
            <a:srgbClr val="1F3864"/>
          </a:solidFill>
          <a:ln w="12700">
            <a:solidFill>
              <a:srgbClr val="1F3864"/>
            </a:solidFill>
            <a:prstDash val="solid"/>
          </a:ln>
        </p:spPr>
      </p:sp>
      <p:sp>
        <p:nvSpPr>
          <p:cNvPr id="14" name="Text 11"/>
          <p:cNvSpPr txBox="1"/>
          <p:nvPr/>
        </p:nvSpPr>
        <p:spPr>
          <a:xfrm>
            <a:off x="621792" y="402336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Love, not fear, is the motive for serving Christ.</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Five marks of the teachers of the law</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5:7–12 · Outline IV — Their reputation</a:t>
            </a:r>
            <a:endParaRPr lang="en-US" sz="1200" dirty="0"/>
          </a:p>
        </p:txBody>
      </p:sp>
      <p:sp>
        <p:nvSpPr>
          <p:cNvPr id="5" name="Shape 2"/>
          <p:cNvSpPr/>
          <p:nvPr/>
        </p:nvSpPr>
        <p:spPr>
          <a:xfrm>
            <a:off x="457200" y="1115568"/>
            <a:ext cx="914400" cy="548640"/>
          </a:xfrm>
          <a:prstGeom prst="rect">
            <a:avLst/>
          </a:prstGeom>
          <a:solidFill>
            <a:srgbClr val="2E5496"/>
          </a:solidFill>
          <a:ln w="12700">
            <a:solidFill>
              <a:srgbClr val="2E5496"/>
            </a:solidFill>
            <a:prstDash val="solid"/>
          </a:ln>
        </p:spPr>
      </p:sp>
      <p:sp>
        <p:nvSpPr>
          <p:cNvPr id="6" name="Text 3"/>
          <p:cNvSpPr txBox="1"/>
          <p:nvPr/>
        </p:nvSpPr>
        <p:spPr>
          <a:xfrm>
            <a:off x="457200" y="1115568"/>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v.7</a:t>
            </a:r>
            <a:endParaRPr lang="en-US" sz="1100" dirty="0"/>
          </a:p>
        </p:txBody>
      </p:sp>
      <p:sp>
        <p:nvSpPr>
          <p:cNvPr id="7" name="Shape 4"/>
          <p:cNvSpPr/>
          <p:nvPr/>
        </p:nvSpPr>
        <p:spPr>
          <a:xfrm>
            <a:off x="1371600" y="1115568"/>
            <a:ext cx="7315200" cy="548640"/>
          </a:xfrm>
          <a:prstGeom prst="rect">
            <a:avLst/>
          </a:prstGeom>
          <a:solidFill>
            <a:srgbClr val="F2F6FC"/>
          </a:solidFill>
          <a:ln w="9525">
            <a:solidFill>
              <a:srgbClr val="D5DCEA"/>
            </a:solidFill>
            <a:prstDash val="solid"/>
          </a:ln>
        </p:spPr>
      </p:sp>
      <p:sp>
        <p:nvSpPr>
          <p:cNvPr id="8" name="Text 5"/>
          <p:cNvSpPr txBox="1"/>
          <p:nvPr/>
        </p:nvSpPr>
        <p:spPr>
          <a:xfrm>
            <a:off x="1481328" y="1115568"/>
            <a:ext cx="4160520" cy="548640"/>
          </a:xfrm>
          <a:prstGeom prst="rect">
            <a:avLst/>
          </a:prstGeom>
          <a:noFill/>
          <a:ln/>
        </p:spPr>
        <p:txBody>
          <a:bodyPr wrap="square" lIns="0" tIns="0" rIns="0" bIns="0" rtlCol="0" anchor="ctr"/>
          <a:lstStyle/>
          <a:p>
            <a:pPr indent="0" marL="0">
              <a:buNone/>
            </a:pPr>
            <a:r>
              <a:rPr lang="en-US" sz="1050" dirty="0">
                <a:solidFill>
                  <a:srgbClr val="262626"/>
                </a:solidFill>
                <a:latin typeface="Arial" pitchFamily="34" charset="0"/>
                <a:ea typeface="Arial" pitchFamily="34" charset="-122"/>
                <a:cs typeface="Arial" pitchFamily="34" charset="-120"/>
              </a:rPr>
              <a:t>They challenge the truth — “Who hindered you from obeying the truth?”</a:t>
            </a:r>
            <a:endParaRPr lang="en-US" sz="1050" dirty="0"/>
          </a:p>
        </p:txBody>
      </p:sp>
      <p:sp>
        <p:nvSpPr>
          <p:cNvPr id="9" name="Text 6"/>
          <p:cNvSpPr txBox="1"/>
          <p:nvPr/>
        </p:nvSpPr>
        <p:spPr>
          <a:xfrm>
            <a:off x="5715000" y="1115568"/>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ἐνέκοψεν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cut in on your lane</a:t>
            </a:r>
            <a:endParaRPr lang="en-US" sz="1200" dirty="0"/>
          </a:p>
        </p:txBody>
      </p:sp>
      <p:sp>
        <p:nvSpPr>
          <p:cNvPr id="10" name="Shape 7"/>
          <p:cNvSpPr/>
          <p:nvPr/>
        </p:nvSpPr>
        <p:spPr>
          <a:xfrm>
            <a:off x="457200" y="1728216"/>
            <a:ext cx="914400" cy="548640"/>
          </a:xfrm>
          <a:prstGeom prst="rect">
            <a:avLst/>
          </a:prstGeom>
          <a:solidFill>
            <a:srgbClr val="2E5496"/>
          </a:solidFill>
          <a:ln w="12700">
            <a:solidFill>
              <a:srgbClr val="2E5496"/>
            </a:solidFill>
            <a:prstDash val="solid"/>
          </a:ln>
        </p:spPr>
      </p:sp>
      <p:sp>
        <p:nvSpPr>
          <p:cNvPr id="11" name="Text 8"/>
          <p:cNvSpPr txBox="1"/>
          <p:nvPr/>
        </p:nvSpPr>
        <p:spPr>
          <a:xfrm>
            <a:off x="457200" y="1728216"/>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v.8</a:t>
            </a:r>
            <a:endParaRPr lang="en-US" sz="1100" dirty="0"/>
          </a:p>
        </p:txBody>
      </p:sp>
      <p:sp>
        <p:nvSpPr>
          <p:cNvPr id="12" name="Shape 9"/>
          <p:cNvSpPr/>
          <p:nvPr/>
        </p:nvSpPr>
        <p:spPr>
          <a:xfrm>
            <a:off x="1371600" y="1728216"/>
            <a:ext cx="7315200" cy="548640"/>
          </a:xfrm>
          <a:prstGeom prst="rect">
            <a:avLst/>
          </a:prstGeom>
          <a:solidFill>
            <a:srgbClr val="FFFFFF"/>
          </a:solidFill>
          <a:ln w="9525">
            <a:solidFill>
              <a:srgbClr val="D5DCEA"/>
            </a:solidFill>
            <a:prstDash val="solid"/>
          </a:ln>
        </p:spPr>
      </p:sp>
      <p:sp>
        <p:nvSpPr>
          <p:cNvPr id="13" name="Text 10"/>
          <p:cNvSpPr txBox="1"/>
          <p:nvPr/>
        </p:nvSpPr>
        <p:spPr>
          <a:xfrm>
            <a:off x="1481328" y="1728216"/>
            <a:ext cx="4160520" cy="548640"/>
          </a:xfrm>
          <a:prstGeom prst="rect">
            <a:avLst/>
          </a:prstGeom>
          <a:noFill/>
          <a:ln/>
        </p:spPr>
        <p:txBody>
          <a:bodyPr wrap="square" lIns="0" tIns="0" rIns="0" bIns="0" rtlCol="0" anchor="ctr"/>
          <a:lstStyle/>
          <a:p>
            <a:pPr indent="0" marL="0">
              <a:buNone/>
            </a:pPr>
            <a:r>
              <a:rPr lang="en-US" sz="1050" dirty="0">
                <a:solidFill>
                  <a:srgbClr val="262626"/>
                </a:solidFill>
                <a:latin typeface="Arial" pitchFamily="34" charset="0"/>
                <a:ea typeface="Arial" pitchFamily="34" charset="-122"/>
                <a:cs typeface="Arial" pitchFamily="34" charset="-120"/>
              </a:rPr>
              <a:t>They are contrary to God — “This persuasion does not come from Him”</a:t>
            </a:r>
            <a:endParaRPr lang="en-US" sz="1050" dirty="0"/>
          </a:p>
        </p:txBody>
      </p:sp>
      <p:sp>
        <p:nvSpPr>
          <p:cNvPr id="14" name="Text 11"/>
          <p:cNvSpPr txBox="1"/>
          <p:nvPr/>
        </p:nvSpPr>
        <p:spPr>
          <a:xfrm>
            <a:off x="5715000" y="1728216"/>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πεισμονή</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used only here in the NT</a:t>
            </a:r>
            <a:endParaRPr lang="en-US" sz="1200" dirty="0"/>
          </a:p>
        </p:txBody>
      </p:sp>
      <p:sp>
        <p:nvSpPr>
          <p:cNvPr id="15" name="Shape 12"/>
          <p:cNvSpPr/>
          <p:nvPr/>
        </p:nvSpPr>
        <p:spPr>
          <a:xfrm>
            <a:off x="457200" y="2340864"/>
            <a:ext cx="914400" cy="548640"/>
          </a:xfrm>
          <a:prstGeom prst="rect">
            <a:avLst/>
          </a:prstGeom>
          <a:solidFill>
            <a:srgbClr val="2E5496"/>
          </a:solidFill>
          <a:ln w="12700">
            <a:solidFill>
              <a:srgbClr val="2E5496"/>
            </a:solidFill>
            <a:prstDash val="solid"/>
          </a:ln>
        </p:spPr>
      </p:sp>
      <p:sp>
        <p:nvSpPr>
          <p:cNvPr id="16" name="Text 13"/>
          <p:cNvSpPr txBox="1"/>
          <p:nvPr/>
        </p:nvSpPr>
        <p:spPr>
          <a:xfrm>
            <a:off x="457200" y="2340864"/>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v.9</a:t>
            </a:r>
            <a:endParaRPr lang="en-US" sz="1100" dirty="0"/>
          </a:p>
        </p:txBody>
      </p:sp>
      <p:sp>
        <p:nvSpPr>
          <p:cNvPr id="17" name="Shape 14"/>
          <p:cNvSpPr/>
          <p:nvPr/>
        </p:nvSpPr>
        <p:spPr>
          <a:xfrm>
            <a:off x="1371600" y="2340864"/>
            <a:ext cx="7315200" cy="548640"/>
          </a:xfrm>
          <a:prstGeom prst="rect">
            <a:avLst/>
          </a:prstGeom>
          <a:solidFill>
            <a:srgbClr val="F2F6FC"/>
          </a:solidFill>
          <a:ln w="9525">
            <a:solidFill>
              <a:srgbClr val="D5DCEA"/>
            </a:solidFill>
            <a:prstDash val="solid"/>
          </a:ln>
        </p:spPr>
      </p:sp>
      <p:sp>
        <p:nvSpPr>
          <p:cNvPr id="18" name="Text 15"/>
          <p:cNvSpPr txBox="1"/>
          <p:nvPr/>
        </p:nvSpPr>
        <p:spPr>
          <a:xfrm>
            <a:off x="1481328" y="2340864"/>
            <a:ext cx="4160520" cy="548640"/>
          </a:xfrm>
          <a:prstGeom prst="rect">
            <a:avLst/>
          </a:prstGeom>
          <a:noFill/>
          <a:ln/>
        </p:spPr>
        <p:txBody>
          <a:bodyPr wrap="square" lIns="0" tIns="0" rIns="0" bIns="0" rtlCol="0" anchor="ctr"/>
          <a:lstStyle/>
          <a:p>
            <a:pPr indent="0" marL="0">
              <a:buNone/>
            </a:pPr>
            <a:r>
              <a:rPr lang="en-US" sz="1050" dirty="0">
                <a:solidFill>
                  <a:srgbClr val="262626"/>
                </a:solidFill>
                <a:latin typeface="Arial" pitchFamily="34" charset="0"/>
                <a:ea typeface="Arial" pitchFamily="34" charset="-122"/>
                <a:cs typeface="Arial" pitchFamily="34" charset="-120"/>
              </a:rPr>
              <a:t>They contaminate the church — “A little leaven leavens the whole lump”</a:t>
            </a:r>
            <a:endParaRPr lang="en-US" sz="1050" dirty="0"/>
          </a:p>
        </p:txBody>
      </p:sp>
      <p:sp>
        <p:nvSpPr>
          <p:cNvPr id="19" name="Text 16"/>
          <p:cNvSpPr txBox="1"/>
          <p:nvPr/>
        </p:nvSpPr>
        <p:spPr>
          <a:xfrm>
            <a:off x="5715000" y="2340864"/>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ζύμη</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small, but pervasive</a:t>
            </a:r>
            <a:endParaRPr lang="en-US" sz="1200" dirty="0"/>
          </a:p>
        </p:txBody>
      </p:sp>
      <p:sp>
        <p:nvSpPr>
          <p:cNvPr id="20" name="Shape 17"/>
          <p:cNvSpPr/>
          <p:nvPr/>
        </p:nvSpPr>
        <p:spPr>
          <a:xfrm>
            <a:off x="457200" y="2953512"/>
            <a:ext cx="914400" cy="548640"/>
          </a:xfrm>
          <a:prstGeom prst="rect">
            <a:avLst/>
          </a:prstGeom>
          <a:solidFill>
            <a:srgbClr val="2E5496"/>
          </a:solidFill>
          <a:ln w="12700">
            <a:solidFill>
              <a:srgbClr val="2E5496"/>
            </a:solidFill>
            <a:prstDash val="solid"/>
          </a:ln>
        </p:spPr>
      </p:sp>
      <p:sp>
        <p:nvSpPr>
          <p:cNvPr id="21" name="Text 18"/>
          <p:cNvSpPr txBox="1"/>
          <p:nvPr/>
        </p:nvSpPr>
        <p:spPr>
          <a:xfrm>
            <a:off x="457200" y="2953512"/>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v.10</a:t>
            </a:r>
            <a:endParaRPr lang="en-US" sz="1100" dirty="0"/>
          </a:p>
        </p:txBody>
      </p:sp>
      <p:sp>
        <p:nvSpPr>
          <p:cNvPr id="22" name="Shape 19"/>
          <p:cNvSpPr/>
          <p:nvPr/>
        </p:nvSpPr>
        <p:spPr>
          <a:xfrm>
            <a:off x="1371600" y="2953512"/>
            <a:ext cx="7315200" cy="548640"/>
          </a:xfrm>
          <a:prstGeom prst="rect">
            <a:avLst/>
          </a:prstGeom>
          <a:solidFill>
            <a:srgbClr val="FFFFFF"/>
          </a:solidFill>
          <a:ln w="9525">
            <a:solidFill>
              <a:srgbClr val="D5DCEA"/>
            </a:solidFill>
            <a:prstDash val="solid"/>
          </a:ln>
        </p:spPr>
      </p:sp>
      <p:sp>
        <p:nvSpPr>
          <p:cNvPr id="23" name="Text 20"/>
          <p:cNvSpPr txBox="1"/>
          <p:nvPr/>
        </p:nvSpPr>
        <p:spPr>
          <a:xfrm>
            <a:off x="1481328" y="2953512"/>
            <a:ext cx="4160520" cy="548640"/>
          </a:xfrm>
          <a:prstGeom prst="rect">
            <a:avLst/>
          </a:prstGeom>
          <a:noFill/>
          <a:ln/>
        </p:spPr>
        <p:txBody>
          <a:bodyPr wrap="square" lIns="0" tIns="0" rIns="0" bIns="0" rtlCol="0" anchor="ctr"/>
          <a:lstStyle/>
          <a:p>
            <a:pPr indent="0" marL="0">
              <a:buNone/>
            </a:pPr>
            <a:r>
              <a:rPr lang="en-US" sz="1050" dirty="0">
                <a:solidFill>
                  <a:srgbClr val="262626"/>
                </a:solidFill>
                <a:latin typeface="Arial" pitchFamily="34" charset="0"/>
                <a:ea typeface="Arial" pitchFamily="34" charset="-122"/>
                <a:cs typeface="Arial" pitchFamily="34" charset="-120"/>
              </a:rPr>
              <a:t>Their conviction is certain — “he who troubles you shall bear his judgment”</a:t>
            </a:r>
            <a:endParaRPr lang="en-US" sz="1050" dirty="0"/>
          </a:p>
        </p:txBody>
      </p:sp>
      <p:sp>
        <p:nvSpPr>
          <p:cNvPr id="24" name="Text 21"/>
          <p:cNvSpPr txBox="1"/>
          <p:nvPr/>
        </p:nvSpPr>
        <p:spPr>
          <a:xfrm>
            <a:off x="5715000" y="2953512"/>
            <a:ext cx="2880360" cy="548640"/>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judgment belongs to God</a:t>
            </a:r>
            <a:endParaRPr lang="en-US" sz="1200" dirty="0"/>
          </a:p>
        </p:txBody>
      </p:sp>
      <p:sp>
        <p:nvSpPr>
          <p:cNvPr id="25" name="Shape 22"/>
          <p:cNvSpPr/>
          <p:nvPr/>
        </p:nvSpPr>
        <p:spPr>
          <a:xfrm>
            <a:off x="457200" y="3566160"/>
            <a:ext cx="914400" cy="548640"/>
          </a:xfrm>
          <a:prstGeom prst="rect">
            <a:avLst/>
          </a:prstGeom>
          <a:solidFill>
            <a:srgbClr val="7030A0"/>
          </a:solidFill>
          <a:ln w="12700">
            <a:solidFill>
              <a:srgbClr val="7030A0"/>
            </a:solidFill>
            <a:prstDash val="solid"/>
          </a:ln>
        </p:spPr>
      </p:sp>
      <p:sp>
        <p:nvSpPr>
          <p:cNvPr id="26" name="Text 23"/>
          <p:cNvSpPr txBox="1"/>
          <p:nvPr/>
        </p:nvSpPr>
        <p:spPr>
          <a:xfrm>
            <a:off x="457200" y="3566160"/>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vv.11–12</a:t>
            </a:r>
            <a:endParaRPr lang="en-US" sz="1100" dirty="0"/>
          </a:p>
        </p:txBody>
      </p:sp>
      <p:sp>
        <p:nvSpPr>
          <p:cNvPr id="27" name="Shape 24"/>
          <p:cNvSpPr/>
          <p:nvPr/>
        </p:nvSpPr>
        <p:spPr>
          <a:xfrm>
            <a:off x="1371600" y="3566160"/>
            <a:ext cx="7315200" cy="548640"/>
          </a:xfrm>
          <a:prstGeom prst="rect">
            <a:avLst/>
          </a:prstGeom>
          <a:solidFill>
            <a:srgbClr val="F2F6FC"/>
          </a:solidFill>
          <a:ln w="9525">
            <a:solidFill>
              <a:srgbClr val="D5DCEA"/>
            </a:solidFill>
            <a:prstDash val="solid"/>
          </a:ln>
        </p:spPr>
      </p:sp>
      <p:sp>
        <p:nvSpPr>
          <p:cNvPr id="28" name="Text 25"/>
          <p:cNvSpPr txBox="1"/>
          <p:nvPr/>
        </p:nvSpPr>
        <p:spPr>
          <a:xfrm>
            <a:off x="1481328" y="3566160"/>
            <a:ext cx="4160520" cy="548640"/>
          </a:xfrm>
          <a:prstGeom prst="rect">
            <a:avLst/>
          </a:prstGeom>
          <a:noFill/>
          <a:ln/>
        </p:spPr>
        <p:txBody>
          <a:bodyPr wrap="square" lIns="0" tIns="0" rIns="0" bIns="0" rtlCol="0" anchor="ctr"/>
          <a:lstStyle/>
          <a:p>
            <a:pPr indent="0" marL="0">
              <a:buNone/>
            </a:pPr>
            <a:r>
              <a:rPr lang="en-US" sz="1050" dirty="0">
                <a:solidFill>
                  <a:srgbClr val="262626"/>
                </a:solidFill>
                <a:latin typeface="Arial" pitchFamily="34" charset="0"/>
                <a:ea typeface="Arial" pitchFamily="34" charset="-122"/>
                <a:cs typeface="Arial" pitchFamily="34" charset="-120"/>
              </a:rPr>
              <a:t>They condemn teachers of the truth — the offense of the cross</a:t>
            </a:r>
            <a:endParaRPr lang="en-US" sz="1050" dirty="0"/>
          </a:p>
        </p:txBody>
      </p:sp>
      <p:sp>
        <p:nvSpPr>
          <p:cNvPr id="29" name="Text 26"/>
          <p:cNvSpPr txBox="1"/>
          <p:nvPr/>
        </p:nvSpPr>
        <p:spPr>
          <a:xfrm>
            <a:off x="5715000" y="3566160"/>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ἀποκόψονται</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“cut themselves off”</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Works that follow — and works that don't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5:1–12 · Conclusion</a:t>
            </a:r>
            <a:endParaRPr lang="en-US" sz="1200" dirty="0"/>
          </a:p>
        </p:txBody>
      </p:sp>
      <p:sp>
        <p:nvSpPr>
          <p:cNvPr id="5" name="Shape 2"/>
          <p:cNvSpPr/>
          <p:nvPr/>
        </p:nvSpPr>
        <p:spPr>
          <a:xfrm>
            <a:off x="1737360" y="1143000"/>
            <a:ext cx="3429000" cy="384048"/>
          </a:xfrm>
          <a:prstGeom prst="rect">
            <a:avLst/>
          </a:prstGeom>
          <a:solidFill>
            <a:srgbClr val="6B7280"/>
          </a:solidFill>
          <a:ln w="12700">
            <a:solidFill>
              <a:srgbClr val="6B7280"/>
            </a:solidFill>
            <a:prstDash val="solid"/>
          </a:ln>
        </p:spPr>
      </p:sp>
      <p:sp>
        <p:nvSpPr>
          <p:cNvPr id="6" name="Text 3"/>
          <p:cNvSpPr txBox="1"/>
          <p:nvPr/>
        </p:nvSpPr>
        <p:spPr>
          <a:xfrm>
            <a:off x="1828800" y="1143000"/>
            <a:ext cx="329184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Works added to grace</a:t>
            </a:r>
            <a:endParaRPr lang="en-US" sz="1250" dirty="0"/>
          </a:p>
        </p:txBody>
      </p:sp>
      <p:sp>
        <p:nvSpPr>
          <p:cNvPr id="7" name="Shape 4"/>
          <p:cNvSpPr/>
          <p:nvPr/>
        </p:nvSpPr>
        <p:spPr>
          <a:xfrm>
            <a:off x="5257800" y="1143000"/>
            <a:ext cx="3429000" cy="384048"/>
          </a:xfrm>
          <a:prstGeom prst="rect">
            <a:avLst/>
          </a:prstGeom>
          <a:solidFill>
            <a:srgbClr val="375623"/>
          </a:solidFill>
          <a:ln w="12700">
            <a:solidFill>
              <a:srgbClr val="375623"/>
            </a:solidFill>
            <a:prstDash val="solid"/>
          </a:ln>
        </p:spPr>
      </p:sp>
      <p:sp>
        <p:nvSpPr>
          <p:cNvPr id="8" name="Text 5"/>
          <p:cNvSpPr txBox="1"/>
          <p:nvPr/>
        </p:nvSpPr>
        <p:spPr>
          <a:xfrm>
            <a:off x="5303520" y="1143000"/>
            <a:ext cx="329184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The work of the Lord</a:t>
            </a:r>
            <a:endParaRPr lang="en-US" sz="1250" dirty="0"/>
          </a:p>
        </p:txBody>
      </p:sp>
      <p:sp>
        <p:nvSpPr>
          <p:cNvPr id="9" name="Text 6"/>
          <p:cNvSpPr txBox="1"/>
          <p:nvPr/>
        </p:nvSpPr>
        <p:spPr>
          <a:xfrm>
            <a:off x="457200" y="1581912"/>
            <a:ext cx="1188720" cy="658368"/>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Motive</a:t>
            </a:r>
            <a:endParaRPr lang="en-US" sz="1150" dirty="0"/>
          </a:p>
        </p:txBody>
      </p:sp>
      <p:sp>
        <p:nvSpPr>
          <p:cNvPr id="10" name="Shape 7"/>
          <p:cNvSpPr/>
          <p:nvPr/>
        </p:nvSpPr>
        <p:spPr>
          <a:xfrm>
            <a:off x="1737360" y="1581912"/>
            <a:ext cx="3429000" cy="658368"/>
          </a:xfrm>
          <a:prstGeom prst="rect">
            <a:avLst/>
          </a:prstGeom>
          <a:solidFill>
            <a:srgbClr val="F2F6FC"/>
          </a:solidFill>
          <a:ln w="9525">
            <a:solidFill>
              <a:srgbClr val="D5DCEA"/>
            </a:solidFill>
            <a:prstDash val="solid"/>
          </a:ln>
        </p:spPr>
      </p:sp>
      <p:sp>
        <p:nvSpPr>
          <p:cNvPr id="11" name="Text 8"/>
          <p:cNvSpPr txBox="1"/>
          <p:nvPr/>
        </p:nvSpPr>
        <p:spPr>
          <a:xfrm>
            <a:off x="1828800" y="1581912"/>
            <a:ext cx="3246120" cy="658368"/>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To be accepted or kept by God</a:t>
            </a:r>
            <a:endParaRPr lang="en-US" sz="1200" dirty="0"/>
          </a:p>
        </p:txBody>
      </p:sp>
      <p:sp>
        <p:nvSpPr>
          <p:cNvPr id="12" name="Shape 9"/>
          <p:cNvSpPr/>
          <p:nvPr/>
        </p:nvSpPr>
        <p:spPr>
          <a:xfrm>
            <a:off x="5257800" y="1581912"/>
            <a:ext cx="3429000" cy="658368"/>
          </a:xfrm>
          <a:prstGeom prst="rect">
            <a:avLst/>
          </a:prstGeom>
          <a:solidFill>
            <a:srgbClr val="F2F6FC"/>
          </a:solidFill>
          <a:ln w="9525">
            <a:solidFill>
              <a:srgbClr val="D5DCEA"/>
            </a:solidFill>
            <a:prstDash val="solid"/>
          </a:ln>
        </p:spPr>
      </p:sp>
      <p:sp>
        <p:nvSpPr>
          <p:cNvPr id="13" name="Text 10"/>
          <p:cNvSpPr txBox="1"/>
          <p:nvPr/>
        </p:nvSpPr>
        <p:spPr>
          <a:xfrm>
            <a:off x="5349240" y="1581912"/>
            <a:ext cx="3246120" cy="658368"/>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Love for Christ, who already paid</a:t>
            </a:r>
            <a:endParaRPr lang="en-US" sz="1200" dirty="0"/>
          </a:p>
        </p:txBody>
      </p:sp>
      <p:sp>
        <p:nvSpPr>
          <p:cNvPr id="14" name="Text 11"/>
          <p:cNvSpPr txBox="1"/>
          <p:nvPr/>
        </p:nvSpPr>
        <p:spPr>
          <a:xfrm>
            <a:off x="457200" y="2295144"/>
            <a:ext cx="1188720" cy="658368"/>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Reach</a:t>
            </a:r>
            <a:endParaRPr lang="en-US" sz="1150" dirty="0"/>
          </a:p>
        </p:txBody>
      </p:sp>
      <p:sp>
        <p:nvSpPr>
          <p:cNvPr id="15" name="Shape 12"/>
          <p:cNvSpPr/>
          <p:nvPr/>
        </p:nvSpPr>
        <p:spPr>
          <a:xfrm>
            <a:off x="1737360" y="2295144"/>
            <a:ext cx="3429000" cy="658368"/>
          </a:xfrm>
          <a:prstGeom prst="rect">
            <a:avLst/>
          </a:prstGeom>
          <a:solidFill>
            <a:srgbClr val="F2F6FC"/>
          </a:solidFill>
          <a:ln w="9525">
            <a:solidFill>
              <a:srgbClr val="D5DCEA"/>
            </a:solidFill>
            <a:prstDash val="solid"/>
          </a:ln>
        </p:spPr>
      </p:sp>
      <p:sp>
        <p:nvSpPr>
          <p:cNvPr id="16" name="Text 13"/>
          <p:cNvSpPr txBox="1"/>
          <p:nvPr/>
        </p:nvSpPr>
        <p:spPr>
          <a:xfrm>
            <a:off x="1828800" y="2295144"/>
            <a:ext cx="3246120" cy="658368"/>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Limited to this life — no door out</a:t>
            </a:r>
            <a:endParaRPr lang="en-US" sz="1200" dirty="0"/>
          </a:p>
        </p:txBody>
      </p:sp>
      <p:sp>
        <p:nvSpPr>
          <p:cNvPr id="17" name="Shape 14"/>
          <p:cNvSpPr/>
          <p:nvPr/>
        </p:nvSpPr>
        <p:spPr>
          <a:xfrm>
            <a:off x="5257800" y="2295144"/>
            <a:ext cx="3429000" cy="658368"/>
          </a:xfrm>
          <a:prstGeom prst="rect">
            <a:avLst/>
          </a:prstGeom>
          <a:solidFill>
            <a:srgbClr val="F2F6FC"/>
          </a:solidFill>
          <a:ln w="9525">
            <a:solidFill>
              <a:srgbClr val="D5DCEA"/>
            </a:solidFill>
            <a:prstDash val="solid"/>
          </a:ln>
        </p:spPr>
      </p:sp>
      <p:sp>
        <p:nvSpPr>
          <p:cNvPr id="18" name="Text 15"/>
          <p:cNvSpPr txBox="1"/>
          <p:nvPr/>
        </p:nvSpPr>
        <p:spPr>
          <a:xfrm>
            <a:off x="5349240" y="2295144"/>
            <a:ext cx="3246120" cy="658368"/>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Follows the believer beyond this life</a:t>
            </a:r>
            <a:endParaRPr lang="en-US" sz="1200" dirty="0"/>
          </a:p>
        </p:txBody>
      </p:sp>
      <p:sp>
        <p:nvSpPr>
          <p:cNvPr id="19" name="Text 16"/>
          <p:cNvSpPr txBox="1"/>
          <p:nvPr/>
        </p:nvSpPr>
        <p:spPr>
          <a:xfrm>
            <a:off x="457200" y="3008376"/>
            <a:ext cx="1188720" cy="658368"/>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Outcome</a:t>
            </a:r>
            <a:endParaRPr lang="en-US" sz="1150" dirty="0"/>
          </a:p>
        </p:txBody>
      </p:sp>
      <p:sp>
        <p:nvSpPr>
          <p:cNvPr id="20" name="Shape 17"/>
          <p:cNvSpPr/>
          <p:nvPr/>
        </p:nvSpPr>
        <p:spPr>
          <a:xfrm>
            <a:off x="1737360" y="3008376"/>
            <a:ext cx="3429000" cy="658368"/>
          </a:xfrm>
          <a:prstGeom prst="rect">
            <a:avLst/>
          </a:prstGeom>
          <a:solidFill>
            <a:srgbClr val="F2F6FC"/>
          </a:solidFill>
          <a:ln w="9525">
            <a:solidFill>
              <a:srgbClr val="D5DCEA"/>
            </a:solidFill>
            <a:prstDash val="solid"/>
          </a:ln>
        </p:spPr>
      </p:sp>
      <p:sp>
        <p:nvSpPr>
          <p:cNvPr id="21" name="Text 18"/>
          <p:cNvSpPr txBox="1"/>
          <p:nvPr/>
        </p:nvSpPr>
        <p:spPr>
          <a:xfrm>
            <a:off x="1828800" y="3008376"/>
            <a:ext cx="3246120" cy="658368"/>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Christ profits you nothing (v.2)</a:t>
            </a:r>
            <a:endParaRPr lang="en-US" sz="1200" dirty="0"/>
          </a:p>
        </p:txBody>
      </p:sp>
      <p:sp>
        <p:nvSpPr>
          <p:cNvPr id="22" name="Shape 19"/>
          <p:cNvSpPr/>
          <p:nvPr/>
        </p:nvSpPr>
        <p:spPr>
          <a:xfrm>
            <a:off x="5257800" y="3008376"/>
            <a:ext cx="3429000" cy="658368"/>
          </a:xfrm>
          <a:prstGeom prst="rect">
            <a:avLst/>
          </a:prstGeom>
          <a:solidFill>
            <a:srgbClr val="F2F6FC"/>
          </a:solidFill>
          <a:ln w="9525">
            <a:solidFill>
              <a:srgbClr val="D5DCEA"/>
            </a:solidFill>
            <a:prstDash val="solid"/>
          </a:ln>
        </p:spPr>
      </p:sp>
      <p:sp>
        <p:nvSpPr>
          <p:cNvPr id="23" name="Text 20"/>
          <p:cNvSpPr txBox="1"/>
          <p:nvPr/>
        </p:nvSpPr>
        <p:spPr>
          <a:xfrm>
            <a:off x="5349240" y="3008376"/>
            <a:ext cx="3246120" cy="658368"/>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Rewarded at the judgment seat of Christ</a:t>
            </a:r>
            <a:endParaRPr lang="en-US" sz="1200" dirty="0"/>
          </a:p>
        </p:txBody>
      </p:sp>
      <p:sp>
        <p:nvSpPr>
          <p:cNvPr id="24" name="Shape 21"/>
          <p:cNvSpPr/>
          <p:nvPr/>
        </p:nvSpPr>
        <p:spPr>
          <a:xfrm>
            <a:off x="457200" y="3840480"/>
            <a:ext cx="8229600" cy="548640"/>
          </a:xfrm>
          <a:prstGeom prst="roundRect">
            <a:avLst>
              <a:gd name="adj" fmla="val 10000"/>
            </a:avLst>
          </a:prstGeom>
          <a:solidFill>
            <a:srgbClr val="1F3864"/>
          </a:solidFill>
          <a:ln w="12700">
            <a:solidFill>
              <a:srgbClr val="1F3864"/>
            </a:solidFill>
            <a:prstDash val="solid"/>
          </a:ln>
        </p:spPr>
      </p:sp>
      <p:sp>
        <p:nvSpPr>
          <p:cNvPr id="25" name="Text 22"/>
          <p:cNvSpPr txBox="1"/>
          <p:nvPr/>
        </p:nvSpPr>
        <p:spPr>
          <a:xfrm>
            <a:off x="621792" y="384048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Add anything to salvation, and you demean the cross that purchased the freedom.</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5:1–12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The Galatians were told “just one small thing” needed adding to their faith. What “small things” do people quietly add to grace today?</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How would you describe the difference between serving Christ out of love and serving out of fear or guilt (5:6)?</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Resist the “Just One Small Thing”</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Name one addition before God as unnecessary — not wrong to do, but adding nothing to what Christ finished.</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Take Your Stand</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Where you've been passively hoping to feel free, make one concrete, deliberate decision instead.</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Christ has made us free — stand there, and add nothing to grace.</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Galatians Study 12 — Taking a Stand in Liberty: Charts</dc:title>
  <dc:subject>PptxGenJS Presentation</dc:subject>
  <dc:creator>The Gospel Vault</dc:creator>
  <cp:lastModifiedBy>The Gospel Vault</cp:lastModifiedBy>
  <cp:revision>1</cp:revision>
  <dcterms:created xsi:type="dcterms:W3CDTF">2026-10-30T05:30:26Z</dcterms:created>
  <dcterms:modified xsi:type="dcterms:W3CDTF">2026-10-30T05:30:26Z</dcterms:modified>
</cp:coreProperties>
</file>