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udy 3 · Galatians 1:11–17" id="{52897aa2-3ca3-11e4-a8f8-82c9dfca2426}">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Judaizers may have said Paul made up his grace gospel. Paul answers: it came from God. Four movements — his claim, his conduct before conversion, his call, and his course after conversion. Every chart in this deck stays within the posted commentary for this study; Greek words come from the study's posted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I–IV): Each movement answers the charge that Paul invented his gospel. Before conversion he was the least likely man to invent a law-free gospel; after conversion he deliberately avoided human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(I.A–C): Three denials, one affirmation. Not according to man — not fabricated; man-made religions always attach something to believing. Not received from man — not imitation. Not taught — not assimilated; Paul studied the law under Gamaliel but went to no school of Christianity. It came by revelation of Jesus Christ, straight from Jesus Himself.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Context: Paul shows he was not predisposed to a gospel apart from the law — he fought against it. Cross-references from the commentary: Acts 8:1, 3; 9:1–2; 26:9–11; Phil 3:6. On v.14, the traditions of the fathers had grown into a hedge of 613 commandments around the law (see Matt 23:13). Illustration: the blacksmith's anvil has worn out hundreds of hammers — the church will prevail (Matt 16:18).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God's preparation came before anything Paul did: set apart from his mother's womb (cf. Jer 1:5), then called through His grace — not because Paul deserved it. God's purpose: to reveal His Son in Paul — not merely by his mouth, but in his life. “His Son” stresses Jesus' deity (John 20:31; John 3:16). And to preach among the Gentiles — the strangest assignment imaginable for a man who had hated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(IV.A–B): What Paul did not do: confer with flesh and blood — any human being — or go up to Jerusalem to the apostles. What he did: went to Arabia, then back to Damascus. The Twelve had about three years with Jesus; Paul had about three years in Arabia, one-on-one. Much of what he received there can be read in Romans. Later, let down the wall in a basket, he went on to Jerusalem (Study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How does Paul's former conduct — persecuting and trying to destroy the church — strengthen his testimony rather than weaken it? — Leader answer: A man so committed to destroying the church had every reason to reject grace. His transformation can't be explained by human persuasion; it points to a real, divine encounter.  Q2: Why did Paul deliberately avoid Jerusalem and the apostles after his conversion, going instead to Arabia? — Leader answer: So it would be unmistakable that his gospel was not shaped or corrected by men, but received from the Lord.  Applications: Grace Reaches the Least Likely — Name someone you've decided is beyond reach and pray for them specifically, asking God to do for them what He did for Paul.  Called Before You Could Earn It — Thank God today for a purpose in your life that began before you could have earned it.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Galatians · Study 3 of 16 · Galatians 1:11–17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54880"/>
            <a:ext cx="73152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Galatians · Study 3 of 16 · Galatians 1:11–17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Galatians · Study 3 of 16 · Galatians 1:11–17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Paul's Independent Revelation</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The gospel Paul preached did not originate with man, was not handed to him by man, and was not taught in any human school. It came by direct revelation of Jesus Christ — and a transformed life only God could explain confirmed it.</a:t>
            </a:r>
            <a:endParaRPr lang="en-US" sz="1500" dirty="0"/>
          </a:p>
        </p:txBody>
      </p:sp>
      <p:sp>
        <p:nvSpPr>
          <p:cNvPr id="6" name="Text 3"/>
          <p:cNvSpPr txBox="1"/>
          <p:nvPr/>
        </p:nvSpPr>
        <p:spPr>
          <a:xfrm>
            <a:off x="640080" y="4343400"/>
            <a:ext cx="7863840" cy="274320"/>
          </a:xfrm>
          <a:prstGeom prst="rect">
            <a:avLst/>
          </a:prstGeom>
          <a:noFill/>
          <a:ln/>
        </p:spPr>
        <p:txBody>
          <a:bodyPr wrap="square" lIns="0" tIns="0" rIns="0" bIns="0" rtlCol="0" anchor="t"/>
          <a:lstStyle/>
          <a:p>
            <a:pPr indent="0" marL="0">
              <a:buNone/>
            </a:pPr>
            <a:r>
              <a:rPr lang="en-US" sz="1000" dirty="0">
                <a:solidFill>
                  <a:srgbClr val="AEBBD6"/>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 sixteen studies · this study highlighted</a:t>
            </a:r>
            <a:endParaRPr lang="en-US" sz="1200" dirty="0"/>
          </a:p>
        </p:txBody>
      </p:sp>
      <p:sp>
        <p:nvSpPr>
          <p:cNvPr id="5" name="Shape 2"/>
          <p:cNvSpPr/>
          <p:nvPr/>
        </p:nvSpPr>
        <p:spPr>
          <a:xfrm>
            <a:off x="457200" y="1115568"/>
            <a:ext cx="1954530" cy="786384"/>
          </a:xfrm>
          <a:prstGeom prst="rect">
            <a:avLst/>
          </a:prstGeom>
          <a:solidFill>
            <a:srgbClr val="F2F6FC"/>
          </a:solidFill>
          <a:ln w="9525">
            <a:solidFill>
              <a:srgbClr val="D5DCEA"/>
            </a:solidFill>
            <a:prstDash val="solid"/>
          </a:ln>
        </p:spPr>
      </p:sp>
      <p:sp>
        <p:nvSpPr>
          <p:cNvPr id="6" name="Text 3"/>
          <p:cNvSpPr txBox="1"/>
          <p:nvPr/>
        </p:nvSpPr>
        <p:spPr>
          <a:xfrm>
            <a:off x="54864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01  </a:t>
            </a:r>
            <a:pPr indent="0" marL="0">
              <a:buNone/>
            </a:pPr>
            <a:r>
              <a:rPr lang="en-US" sz="1000" b="1" dirty="0">
                <a:solidFill>
                  <a:srgbClr val="595959"/>
                </a:solidFill>
                <a:latin typeface="Arial" pitchFamily="34" charset="0"/>
                <a:ea typeface="Arial" pitchFamily="34" charset="-122"/>
                <a:cs typeface="Arial" pitchFamily="34" charset="-120"/>
              </a:rPr>
              <a:t>1:1–5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Ground of Liberty</a:t>
            </a:r>
            <a:endParaRPr lang="en-US" sz="1200" dirty="0"/>
          </a:p>
        </p:txBody>
      </p:sp>
      <p:sp>
        <p:nvSpPr>
          <p:cNvPr id="7" name="Shape 4"/>
          <p:cNvSpPr/>
          <p:nvPr/>
        </p:nvSpPr>
        <p:spPr>
          <a:xfrm>
            <a:off x="2548890" y="1115568"/>
            <a:ext cx="1954530" cy="786384"/>
          </a:xfrm>
          <a:prstGeom prst="rect">
            <a:avLst/>
          </a:prstGeom>
          <a:solidFill>
            <a:srgbClr val="F2F6FC"/>
          </a:solidFill>
          <a:ln w="9525">
            <a:solidFill>
              <a:srgbClr val="D5DCEA"/>
            </a:solidFill>
            <a:prstDash val="solid"/>
          </a:ln>
        </p:spPr>
      </p:sp>
      <p:sp>
        <p:nvSpPr>
          <p:cNvPr id="8" name="Text 5"/>
          <p:cNvSpPr txBox="1"/>
          <p:nvPr/>
        </p:nvSpPr>
        <p:spPr>
          <a:xfrm>
            <a:off x="264033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02  </a:t>
            </a:r>
            <a:pPr indent="0" marL="0">
              <a:buNone/>
            </a:pPr>
            <a:r>
              <a:rPr lang="en-US" sz="1000" b="1" dirty="0">
                <a:solidFill>
                  <a:srgbClr val="595959"/>
                </a:solidFill>
                <a:latin typeface="Arial" pitchFamily="34" charset="0"/>
                <a:ea typeface="Arial" pitchFamily="34" charset="-122"/>
                <a:cs typeface="Arial" pitchFamily="34" charset="-120"/>
              </a:rPr>
              <a:t>1:6–10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One True Gospel</a:t>
            </a:r>
            <a:endParaRPr lang="en-US" sz="1200" dirty="0"/>
          </a:p>
        </p:txBody>
      </p:sp>
      <p:sp>
        <p:nvSpPr>
          <p:cNvPr id="9" name="Shape 6"/>
          <p:cNvSpPr/>
          <p:nvPr/>
        </p:nvSpPr>
        <p:spPr>
          <a:xfrm>
            <a:off x="4640580" y="1115568"/>
            <a:ext cx="1954530" cy="786384"/>
          </a:xfrm>
          <a:prstGeom prst="rect">
            <a:avLst/>
          </a:prstGeom>
          <a:solidFill>
            <a:srgbClr val="1F3864"/>
          </a:solidFill>
          <a:ln w="9525">
            <a:solidFill>
              <a:srgbClr val="1F3864"/>
            </a:solidFill>
            <a:prstDash val="solid"/>
          </a:ln>
        </p:spPr>
      </p:sp>
      <p:sp>
        <p:nvSpPr>
          <p:cNvPr id="10" name="Text 7"/>
          <p:cNvSpPr txBox="1"/>
          <p:nvPr/>
        </p:nvSpPr>
        <p:spPr>
          <a:xfrm>
            <a:off x="4732020" y="1170432"/>
            <a:ext cx="1771650" cy="676656"/>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03  </a:t>
            </a:r>
            <a:pPr indent="0" marL="0">
              <a:buNone/>
            </a:pPr>
            <a:r>
              <a:rPr lang="en-US" sz="1000" b="1" dirty="0">
                <a:solidFill>
                  <a:srgbClr val="C9D5EE"/>
                </a:solidFill>
                <a:latin typeface="Arial" pitchFamily="34" charset="0"/>
                <a:ea typeface="Arial" pitchFamily="34" charset="-122"/>
                <a:cs typeface="Arial" pitchFamily="34" charset="-120"/>
              </a:rPr>
              <a:t>1:11–17</a:t>
            </a:r>
            <a:endParaRPr lang="en-US" sz="1200" dirty="0"/>
          </a:p>
          <a:p>
            <a:pPr indent="0" marL="0">
              <a:buNone/>
            </a:pPr>
            <a:r>
              <a:rPr lang="en-US" sz="1050" b="1" dirty="0">
                <a:solidFill>
                  <a:srgbClr val="FFFFFF"/>
                </a:solidFill>
                <a:latin typeface="Arial" pitchFamily="34" charset="0"/>
                <a:ea typeface="Arial" pitchFamily="34" charset="-122"/>
                <a:cs typeface="Arial" pitchFamily="34" charset="-120"/>
              </a:rPr>
              <a:t>Paul's Independent Revelation</a:t>
            </a:r>
            <a:endParaRPr lang="en-US" sz="1200" dirty="0"/>
          </a:p>
        </p:txBody>
      </p:sp>
      <p:sp>
        <p:nvSpPr>
          <p:cNvPr id="11" name="Shape 8"/>
          <p:cNvSpPr/>
          <p:nvPr/>
        </p:nvSpPr>
        <p:spPr>
          <a:xfrm>
            <a:off x="6732270" y="1115568"/>
            <a:ext cx="1954530" cy="786384"/>
          </a:xfrm>
          <a:prstGeom prst="rect">
            <a:avLst/>
          </a:prstGeom>
          <a:solidFill>
            <a:srgbClr val="F2F6FC"/>
          </a:solidFill>
          <a:ln w="9525">
            <a:solidFill>
              <a:srgbClr val="D5DCEA"/>
            </a:solidFill>
            <a:prstDash val="solid"/>
          </a:ln>
        </p:spPr>
      </p:sp>
      <p:sp>
        <p:nvSpPr>
          <p:cNvPr id="12" name="Text 9"/>
          <p:cNvSpPr txBox="1"/>
          <p:nvPr/>
        </p:nvSpPr>
        <p:spPr>
          <a:xfrm>
            <a:off x="682371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04  </a:t>
            </a:r>
            <a:pPr indent="0" marL="0">
              <a:buNone/>
            </a:pPr>
            <a:r>
              <a:rPr lang="en-US" sz="1000" b="1" dirty="0">
                <a:solidFill>
                  <a:srgbClr val="595959"/>
                </a:solidFill>
                <a:latin typeface="Arial" pitchFamily="34" charset="0"/>
                <a:ea typeface="Arial" pitchFamily="34" charset="-122"/>
                <a:cs typeface="Arial" pitchFamily="34" charset="-120"/>
              </a:rPr>
              <a:t>1:18–2:10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Gospel Is Independent of the Judean Churches</a:t>
            </a:r>
            <a:endParaRPr lang="en-US" sz="1200" dirty="0"/>
          </a:p>
        </p:txBody>
      </p:sp>
      <p:sp>
        <p:nvSpPr>
          <p:cNvPr id="13" name="Shape 10"/>
          <p:cNvSpPr/>
          <p:nvPr/>
        </p:nvSpPr>
        <p:spPr>
          <a:xfrm>
            <a:off x="457200" y="2020824"/>
            <a:ext cx="1954530" cy="786384"/>
          </a:xfrm>
          <a:prstGeom prst="rect">
            <a:avLst/>
          </a:prstGeom>
          <a:solidFill>
            <a:srgbClr val="F2F6FC"/>
          </a:solidFill>
          <a:ln w="9525">
            <a:solidFill>
              <a:srgbClr val="D5DCEA"/>
            </a:solidFill>
            <a:prstDash val="solid"/>
          </a:ln>
        </p:spPr>
      </p:sp>
      <p:sp>
        <p:nvSpPr>
          <p:cNvPr id="14" name="Text 11"/>
          <p:cNvSpPr txBox="1"/>
          <p:nvPr/>
        </p:nvSpPr>
        <p:spPr>
          <a:xfrm>
            <a:off x="54864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05  </a:t>
            </a:r>
            <a:pPr indent="0" marL="0">
              <a:buNone/>
            </a:pPr>
            <a:r>
              <a:rPr lang="en-US" sz="1000" b="1" dirty="0">
                <a:solidFill>
                  <a:srgbClr val="595959"/>
                </a:solidFill>
                <a:latin typeface="Arial" pitchFamily="34" charset="0"/>
                <a:ea typeface="Arial" pitchFamily="34" charset="-122"/>
                <a:cs typeface="Arial" pitchFamily="34" charset="-120"/>
              </a:rPr>
              <a:t>2:11–21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Peter Goes Back to School</a:t>
            </a:r>
            <a:endParaRPr lang="en-US" sz="1200" dirty="0"/>
          </a:p>
        </p:txBody>
      </p:sp>
      <p:sp>
        <p:nvSpPr>
          <p:cNvPr id="15" name="Shape 12"/>
          <p:cNvSpPr/>
          <p:nvPr/>
        </p:nvSpPr>
        <p:spPr>
          <a:xfrm>
            <a:off x="2548890" y="2020824"/>
            <a:ext cx="1954530" cy="786384"/>
          </a:xfrm>
          <a:prstGeom prst="rect">
            <a:avLst/>
          </a:prstGeom>
          <a:solidFill>
            <a:srgbClr val="F2F6FC"/>
          </a:solidFill>
          <a:ln w="9525">
            <a:solidFill>
              <a:srgbClr val="D5DCEA"/>
            </a:solidFill>
            <a:prstDash val="solid"/>
          </a:ln>
        </p:spPr>
      </p:sp>
      <p:sp>
        <p:nvSpPr>
          <p:cNvPr id="16" name="Text 13"/>
          <p:cNvSpPr txBox="1"/>
          <p:nvPr/>
        </p:nvSpPr>
        <p:spPr>
          <a:xfrm>
            <a:off x="264033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06  </a:t>
            </a:r>
            <a:pPr indent="0" marL="0">
              <a:buNone/>
            </a:pPr>
            <a:r>
              <a:rPr lang="en-US" sz="1000" b="1" dirty="0">
                <a:solidFill>
                  <a:srgbClr val="595959"/>
                </a:solidFill>
                <a:latin typeface="Arial" pitchFamily="34" charset="0"/>
                <a:ea typeface="Arial" pitchFamily="34" charset="-122"/>
                <a:cs typeface="Arial" pitchFamily="34" charset="-120"/>
              </a:rPr>
              <a:t>3:1–5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Under a Spell</a:t>
            </a:r>
            <a:endParaRPr lang="en-US" sz="1200" dirty="0"/>
          </a:p>
        </p:txBody>
      </p:sp>
      <p:sp>
        <p:nvSpPr>
          <p:cNvPr id="17" name="Shape 14"/>
          <p:cNvSpPr/>
          <p:nvPr/>
        </p:nvSpPr>
        <p:spPr>
          <a:xfrm>
            <a:off x="4640580" y="2020824"/>
            <a:ext cx="1954530" cy="786384"/>
          </a:xfrm>
          <a:prstGeom prst="rect">
            <a:avLst/>
          </a:prstGeom>
          <a:solidFill>
            <a:srgbClr val="F2F6FC"/>
          </a:solidFill>
          <a:ln w="9525">
            <a:solidFill>
              <a:srgbClr val="D5DCEA"/>
            </a:solidFill>
            <a:prstDash val="solid"/>
          </a:ln>
        </p:spPr>
      </p:sp>
      <p:sp>
        <p:nvSpPr>
          <p:cNvPr id="18" name="Text 15"/>
          <p:cNvSpPr txBox="1"/>
          <p:nvPr/>
        </p:nvSpPr>
        <p:spPr>
          <a:xfrm>
            <a:off x="473202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07  </a:t>
            </a:r>
            <a:pPr indent="0" marL="0">
              <a:buNone/>
            </a:pPr>
            <a:r>
              <a:rPr lang="en-US" sz="1000" b="1" dirty="0">
                <a:solidFill>
                  <a:srgbClr val="595959"/>
                </a:solidFill>
                <a:latin typeface="Arial" pitchFamily="34" charset="0"/>
                <a:ea typeface="Arial" pitchFamily="34" charset="-122"/>
                <a:cs typeface="Arial" pitchFamily="34" charset="-120"/>
              </a:rPr>
              <a:t>3:6–14</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Blessing or a Curse</a:t>
            </a:r>
            <a:endParaRPr lang="en-US" sz="1200" dirty="0"/>
          </a:p>
        </p:txBody>
      </p:sp>
      <p:sp>
        <p:nvSpPr>
          <p:cNvPr id="19" name="Shape 16"/>
          <p:cNvSpPr/>
          <p:nvPr/>
        </p:nvSpPr>
        <p:spPr>
          <a:xfrm>
            <a:off x="6732270" y="2020824"/>
            <a:ext cx="1954530" cy="786384"/>
          </a:xfrm>
          <a:prstGeom prst="rect">
            <a:avLst/>
          </a:prstGeom>
          <a:solidFill>
            <a:srgbClr val="F2F6FC"/>
          </a:solidFill>
          <a:ln w="9525">
            <a:solidFill>
              <a:srgbClr val="D5DCEA"/>
            </a:solidFill>
            <a:prstDash val="solid"/>
          </a:ln>
        </p:spPr>
      </p:sp>
      <p:sp>
        <p:nvSpPr>
          <p:cNvPr id="20" name="Text 17"/>
          <p:cNvSpPr txBox="1"/>
          <p:nvPr/>
        </p:nvSpPr>
        <p:spPr>
          <a:xfrm>
            <a:off x="682371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08  </a:t>
            </a:r>
            <a:pPr indent="0" marL="0">
              <a:buNone/>
            </a:pPr>
            <a:r>
              <a:rPr lang="en-US" sz="1000" b="1" dirty="0">
                <a:solidFill>
                  <a:srgbClr val="595959"/>
                </a:solidFill>
                <a:latin typeface="Arial" pitchFamily="34" charset="0"/>
                <a:ea typeface="Arial" pitchFamily="34" charset="-122"/>
                <a:cs typeface="Arial" pitchFamily="34" charset="-120"/>
              </a:rPr>
              <a:t>3:15–29</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Superiority of the Promise to the Law</a:t>
            </a:r>
            <a:endParaRPr lang="en-US" sz="1200" dirty="0"/>
          </a:p>
        </p:txBody>
      </p:sp>
      <p:sp>
        <p:nvSpPr>
          <p:cNvPr id="21" name="Shape 18"/>
          <p:cNvSpPr/>
          <p:nvPr/>
        </p:nvSpPr>
        <p:spPr>
          <a:xfrm>
            <a:off x="457200" y="2926080"/>
            <a:ext cx="1954530" cy="786384"/>
          </a:xfrm>
          <a:prstGeom prst="rect">
            <a:avLst/>
          </a:prstGeom>
          <a:solidFill>
            <a:srgbClr val="F2F6FC"/>
          </a:solidFill>
          <a:ln w="9525">
            <a:solidFill>
              <a:srgbClr val="D5DCEA"/>
            </a:solidFill>
            <a:prstDash val="solid"/>
          </a:ln>
        </p:spPr>
      </p:sp>
      <p:sp>
        <p:nvSpPr>
          <p:cNvPr id="22" name="Text 19"/>
          <p:cNvSpPr txBox="1"/>
          <p:nvPr/>
        </p:nvSpPr>
        <p:spPr>
          <a:xfrm>
            <a:off x="54864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09  </a:t>
            </a:r>
            <a:pPr indent="0" marL="0">
              <a:buNone/>
            </a:pPr>
            <a:r>
              <a:rPr lang="en-US" sz="1000" b="1" dirty="0">
                <a:solidFill>
                  <a:srgbClr val="595959"/>
                </a:solidFill>
                <a:latin typeface="Arial" pitchFamily="34" charset="0"/>
                <a:ea typeface="Arial" pitchFamily="34" charset="-122"/>
                <a:cs typeface="Arial" pitchFamily="34" charset="-120"/>
              </a:rPr>
              <a:t>4:1–11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When I Became a Man</a:t>
            </a:r>
            <a:endParaRPr lang="en-US" sz="1200" dirty="0"/>
          </a:p>
        </p:txBody>
      </p:sp>
      <p:sp>
        <p:nvSpPr>
          <p:cNvPr id="23" name="Shape 20"/>
          <p:cNvSpPr/>
          <p:nvPr/>
        </p:nvSpPr>
        <p:spPr>
          <a:xfrm>
            <a:off x="2548890" y="2926080"/>
            <a:ext cx="1954530" cy="786384"/>
          </a:xfrm>
          <a:prstGeom prst="rect">
            <a:avLst/>
          </a:prstGeom>
          <a:solidFill>
            <a:srgbClr val="F2F6FC"/>
          </a:solidFill>
          <a:ln w="9525">
            <a:solidFill>
              <a:srgbClr val="D5DCEA"/>
            </a:solidFill>
            <a:prstDash val="solid"/>
          </a:ln>
        </p:spPr>
      </p:sp>
      <p:sp>
        <p:nvSpPr>
          <p:cNvPr id="24" name="Text 21"/>
          <p:cNvSpPr txBox="1"/>
          <p:nvPr/>
        </p:nvSpPr>
        <p:spPr>
          <a:xfrm>
            <a:off x="264033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10  </a:t>
            </a:r>
            <a:pPr indent="0" marL="0">
              <a:buNone/>
            </a:pPr>
            <a:r>
              <a:rPr lang="en-US" sz="1000" b="1" dirty="0">
                <a:solidFill>
                  <a:srgbClr val="595959"/>
                </a:solidFill>
                <a:latin typeface="Arial" pitchFamily="34" charset="0"/>
                <a:ea typeface="Arial" pitchFamily="34" charset="-122"/>
                <a:cs typeface="Arial" pitchFamily="34" charset="-120"/>
              </a:rPr>
              <a:t>4:12–20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A Steel Fist in a Velvet Glove</a:t>
            </a:r>
            <a:endParaRPr lang="en-US" sz="1200" dirty="0"/>
          </a:p>
        </p:txBody>
      </p:sp>
      <p:sp>
        <p:nvSpPr>
          <p:cNvPr id="25" name="Shape 22"/>
          <p:cNvSpPr/>
          <p:nvPr/>
        </p:nvSpPr>
        <p:spPr>
          <a:xfrm>
            <a:off x="4640580" y="2926080"/>
            <a:ext cx="1954530" cy="786384"/>
          </a:xfrm>
          <a:prstGeom prst="rect">
            <a:avLst/>
          </a:prstGeom>
          <a:solidFill>
            <a:srgbClr val="F2F6FC"/>
          </a:solidFill>
          <a:ln w="9525">
            <a:solidFill>
              <a:srgbClr val="D5DCEA"/>
            </a:solidFill>
            <a:prstDash val="solid"/>
          </a:ln>
        </p:spPr>
      </p:sp>
      <p:sp>
        <p:nvSpPr>
          <p:cNvPr id="26" name="Text 23"/>
          <p:cNvSpPr txBox="1"/>
          <p:nvPr/>
        </p:nvSpPr>
        <p:spPr>
          <a:xfrm>
            <a:off x="473202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11  </a:t>
            </a:r>
            <a:pPr indent="0" marL="0">
              <a:buNone/>
            </a:pPr>
            <a:r>
              <a:rPr lang="en-US" sz="1000" b="1" dirty="0">
                <a:solidFill>
                  <a:srgbClr val="595959"/>
                </a:solidFill>
                <a:latin typeface="Arial" pitchFamily="34" charset="0"/>
                <a:ea typeface="Arial" pitchFamily="34" charset="-122"/>
                <a:cs typeface="Arial" pitchFamily="34" charset="-120"/>
              </a:rPr>
              <a:t>4:21–31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Old Testament Story</a:t>
            </a:r>
            <a:endParaRPr lang="en-US" sz="1200" dirty="0"/>
          </a:p>
        </p:txBody>
      </p:sp>
      <p:sp>
        <p:nvSpPr>
          <p:cNvPr id="27" name="Shape 24"/>
          <p:cNvSpPr/>
          <p:nvPr/>
        </p:nvSpPr>
        <p:spPr>
          <a:xfrm>
            <a:off x="6732270" y="2926080"/>
            <a:ext cx="1954530" cy="786384"/>
          </a:xfrm>
          <a:prstGeom prst="rect">
            <a:avLst/>
          </a:prstGeom>
          <a:solidFill>
            <a:srgbClr val="F2F6FC"/>
          </a:solidFill>
          <a:ln w="9525">
            <a:solidFill>
              <a:srgbClr val="D5DCEA"/>
            </a:solidFill>
            <a:prstDash val="solid"/>
          </a:ln>
        </p:spPr>
      </p:sp>
      <p:sp>
        <p:nvSpPr>
          <p:cNvPr id="28" name="Text 25"/>
          <p:cNvSpPr txBox="1"/>
          <p:nvPr/>
        </p:nvSpPr>
        <p:spPr>
          <a:xfrm>
            <a:off x="682371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12  </a:t>
            </a:r>
            <a:pPr indent="0" marL="0">
              <a:buNone/>
            </a:pPr>
            <a:r>
              <a:rPr lang="en-US" sz="1000" b="1" dirty="0">
                <a:solidFill>
                  <a:srgbClr val="595959"/>
                </a:solidFill>
                <a:latin typeface="Arial" pitchFamily="34" charset="0"/>
                <a:ea typeface="Arial" pitchFamily="34" charset="-122"/>
                <a:cs typeface="Arial" pitchFamily="34" charset="-120"/>
              </a:rPr>
              <a:t>5:1–12</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Taking a Stand in Liberty</a:t>
            </a:r>
            <a:endParaRPr lang="en-US" sz="1200" dirty="0"/>
          </a:p>
        </p:txBody>
      </p:sp>
      <p:sp>
        <p:nvSpPr>
          <p:cNvPr id="29" name="Shape 26"/>
          <p:cNvSpPr/>
          <p:nvPr/>
        </p:nvSpPr>
        <p:spPr>
          <a:xfrm>
            <a:off x="457200" y="3831336"/>
            <a:ext cx="1954530" cy="786384"/>
          </a:xfrm>
          <a:prstGeom prst="rect">
            <a:avLst/>
          </a:prstGeom>
          <a:solidFill>
            <a:srgbClr val="F2F6FC"/>
          </a:solidFill>
          <a:ln w="9525">
            <a:solidFill>
              <a:srgbClr val="D5DCEA"/>
            </a:solidFill>
            <a:prstDash val="solid"/>
          </a:ln>
        </p:spPr>
      </p:sp>
      <p:sp>
        <p:nvSpPr>
          <p:cNvPr id="30" name="Text 27"/>
          <p:cNvSpPr txBox="1"/>
          <p:nvPr/>
        </p:nvSpPr>
        <p:spPr>
          <a:xfrm>
            <a:off x="54864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13  </a:t>
            </a:r>
            <a:pPr indent="0" marL="0">
              <a:buNone/>
            </a:pPr>
            <a:r>
              <a:rPr lang="en-US" sz="1000" b="1" dirty="0">
                <a:solidFill>
                  <a:srgbClr val="595959"/>
                </a:solidFill>
                <a:latin typeface="Arial" pitchFamily="34" charset="0"/>
                <a:ea typeface="Arial" pitchFamily="34" charset="-122"/>
                <a:cs typeface="Arial" pitchFamily="34" charset="-120"/>
              </a:rPr>
              <a:t>5:13–26</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Walk in the Spirit</a:t>
            </a:r>
            <a:endParaRPr lang="en-US" sz="1200" dirty="0"/>
          </a:p>
        </p:txBody>
      </p:sp>
      <p:sp>
        <p:nvSpPr>
          <p:cNvPr id="31" name="Shape 28"/>
          <p:cNvSpPr/>
          <p:nvPr/>
        </p:nvSpPr>
        <p:spPr>
          <a:xfrm>
            <a:off x="2548890" y="3831336"/>
            <a:ext cx="1954530" cy="786384"/>
          </a:xfrm>
          <a:prstGeom prst="rect">
            <a:avLst/>
          </a:prstGeom>
          <a:solidFill>
            <a:srgbClr val="F2F6FC"/>
          </a:solidFill>
          <a:ln w="9525">
            <a:solidFill>
              <a:srgbClr val="D5DCEA"/>
            </a:solidFill>
            <a:prstDash val="solid"/>
          </a:ln>
        </p:spPr>
      </p:sp>
      <p:sp>
        <p:nvSpPr>
          <p:cNvPr id="32" name="Text 29"/>
          <p:cNvSpPr txBox="1"/>
          <p:nvPr/>
        </p:nvSpPr>
        <p:spPr>
          <a:xfrm>
            <a:off x="264033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14  </a:t>
            </a:r>
            <a:pPr indent="0" marL="0">
              <a:buNone/>
            </a:pPr>
            <a:r>
              <a:rPr lang="en-US" sz="1000" b="1" dirty="0">
                <a:solidFill>
                  <a:srgbClr val="595959"/>
                </a:solidFill>
                <a:latin typeface="Arial" pitchFamily="34" charset="0"/>
                <a:ea typeface="Arial" pitchFamily="34" charset="-122"/>
                <a:cs typeface="Arial" pitchFamily="34" charset="-120"/>
              </a:rPr>
              <a:t>6:1–5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Brothers and Burdens</a:t>
            </a:r>
            <a:endParaRPr lang="en-US" sz="1200" dirty="0"/>
          </a:p>
        </p:txBody>
      </p:sp>
      <p:sp>
        <p:nvSpPr>
          <p:cNvPr id="33" name="Shape 30"/>
          <p:cNvSpPr/>
          <p:nvPr/>
        </p:nvSpPr>
        <p:spPr>
          <a:xfrm>
            <a:off x="4640580" y="3831336"/>
            <a:ext cx="1954530" cy="786384"/>
          </a:xfrm>
          <a:prstGeom prst="rect">
            <a:avLst/>
          </a:prstGeom>
          <a:solidFill>
            <a:srgbClr val="F2F6FC"/>
          </a:solidFill>
          <a:ln w="9525">
            <a:solidFill>
              <a:srgbClr val="D5DCEA"/>
            </a:solidFill>
            <a:prstDash val="solid"/>
          </a:ln>
        </p:spPr>
      </p:sp>
      <p:sp>
        <p:nvSpPr>
          <p:cNvPr id="34" name="Text 31"/>
          <p:cNvSpPr txBox="1"/>
          <p:nvPr/>
        </p:nvSpPr>
        <p:spPr>
          <a:xfrm>
            <a:off x="473202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15  </a:t>
            </a:r>
            <a:pPr indent="0" marL="0">
              <a:buNone/>
            </a:pPr>
            <a:r>
              <a:rPr lang="en-US" sz="1000" b="1" dirty="0">
                <a:solidFill>
                  <a:srgbClr val="595959"/>
                </a:solidFill>
                <a:latin typeface="Arial" pitchFamily="34" charset="0"/>
                <a:ea typeface="Arial" pitchFamily="34" charset="-122"/>
                <a:cs typeface="Arial" pitchFamily="34" charset="-120"/>
              </a:rPr>
              <a:t>6:6–10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Sowing and Reaping</a:t>
            </a:r>
            <a:endParaRPr lang="en-US" sz="1200" dirty="0"/>
          </a:p>
        </p:txBody>
      </p:sp>
      <p:sp>
        <p:nvSpPr>
          <p:cNvPr id="35" name="Shape 32"/>
          <p:cNvSpPr/>
          <p:nvPr/>
        </p:nvSpPr>
        <p:spPr>
          <a:xfrm>
            <a:off x="6732270" y="3831336"/>
            <a:ext cx="1954530" cy="786384"/>
          </a:xfrm>
          <a:prstGeom prst="rect">
            <a:avLst/>
          </a:prstGeom>
          <a:solidFill>
            <a:srgbClr val="F2F6FC"/>
          </a:solidFill>
          <a:ln w="9525">
            <a:solidFill>
              <a:srgbClr val="D5DCEA"/>
            </a:solidFill>
            <a:prstDash val="solid"/>
          </a:ln>
        </p:spPr>
      </p:sp>
      <p:sp>
        <p:nvSpPr>
          <p:cNvPr id="36" name="Text 33"/>
          <p:cNvSpPr txBox="1"/>
          <p:nvPr/>
        </p:nvSpPr>
        <p:spPr>
          <a:xfrm>
            <a:off x="682371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16  </a:t>
            </a:r>
            <a:pPr indent="0" marL="0">
              <a:buNone/>
            </a:pPr>
            <a:r>
              <a:rPr lang="en-US" sz="1000" b="1" dirty="0">
                <a:solidFill>
                  <a:srgbClr val="595959"/>
                </a:solidFill>
                <a:latin typeface="Arial" pitchFamily="34" charset="0"/>
                <a:ea typeface="Arial" pitchFamily="34" charset="-122"/>
                <a:cs typeface="Arial" pitchFamily="34" charset="-120"/>
              </a:rPr>
              <a:t>6:11–18</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Teaching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Four proofs from Paul's own story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1:11–17 · The commentary's outline</a:t>
            </a:r>
            <a:endParaRPr lang="en-US" sz="1200" dirty="0"/>
          </a:p>
        </p:txBody>
      </p:sp>
      <p:sp>
        <p:nvSpPr>
          <p:cNvPr id="5" name="Shape 2"/>
          <p:cNvSpPr/>
          <p:nvPr/>
        </p:nvSpPr>
        <p:spPr>
          <a:xfrm>
            <a:off x="457200" y="1234440"/>
            <a:ext cx="1920240" cy="2286000"/>
          </a:xfrm>
          <a:prstGeom prst="roundRect">
            <a:avLst>
              <a:gd name="adj" fmla="val 2857"/>
            </a:avLst>
          </a:prstGeom>
          <a:solidFill>
            <a:srgbClr val="1F3864"/>
          </a:solidFill>
          <a:ln w="12700">
            <a:solidFill>
              <a:srgbClr val="1F3864"/>
            </a:solidFill>
            <a:prstDash val="solid"/>
          </a:ln>
        </p:spPr>
      </p:sp>
      <p:sp>
        <p:nvSpPr>
          <p:cNvPr id="6" name="Text 3"/>
          <p:cNvSpPr txBox="1"/>
          <p:nvPr/>
        </p:nvSpPr>
        <p:spPr>
          <a:xfrm>
            <a:off x="457200" y="1371600"/>
            <a:ext cx="1920240" cy="548640"/>
          </a:xfrm>
          <a:prstGeom prst="rect">
            <a:avLst/>
          </a:prstGeom>
          <a:noFill/>
          <a:ln/>
        </p:spPr>
        <p:txBody>
          <a:bodyPr wrap="square" lIns="0" tIns="0" rIns="0" bIns="0" rtlCol="0" anchor="t"/>
          <a:lstStyle/>
          <a:p>
            <a:pPr algn="ctr" indent="0" marL="0">
              <a:buNone/>
            </a:pPr>
            <a:r>
              <a:rPr lang="en-US" sz="2800" b="1" dirty="0">
                <a:solidFill>
                  <a:srgbClr val="FFFFFF"/>
                </a:solidFill>
                <a:latin typeface="Arial" pitchFamily="34" charset="0"/>
                <a:ea typeface="Arial" pitchFamily="34" charset="-122"/>
                <a:cs typeface="Arial" pitchFamily="34" charset="-120"/>
              </a:rPr>
              <a:t>I</a:t>
            </a:r>
            <a:endParaRPr lang="en-US" sz="2800" dirty="0"/>
          </a:p>
        </p:txBody>
      </p:sp>
      <p:sp>
        <p:nvSpPr>
          <p:cNvPr id="7" name="Text 4"/>
          <p:cNvSpPr txBox="1"/>
          <p:nvPr/>
        </p:nvSpPr>
        <p:spPr>
          <a:xfrm>
            <a:off x="548640" y="2011680"/>
            <a:ext cx="17373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Paul's Claim</a:t>
            </a:r>
            <a:endParaRPr lang="en-US" sz="1400" dirty="0"/>
          </a:p>
        </p:txBody>
      </p:sp>
      <p:sp>
        <p:nvSpPr>
          <p:cNvPr id="8" name="Text 5"/>
          <p:cNvSpPr txBox="1"/>
          <p:nvPr/>
        </p:nvSpPr>
        <p:spPr>
          <a:xfrm>
            <a:off x="548640" y="2423160"/>
            <a:ext cx="1737360" cy="457200"/>
          </a:xfrm>
          <a:prstGeom prst="rect">
            <a:avLst/>
          </a:prstGeom>
          <a:noFill/>
          <a:ln/>
        </p:spPr>
        <p:txBody>
          <a:bodyPr wrap="square" lIns="0" tIns="0" rIns="0" bIns="0" rtlCol="0" anchor="t"/>
          <a:lstStyle/>
          <a:p>
            <a:pPr algn="ctr" indent="0" marL="0">
              <a:buNone/>
            </a:pPr>
            <a:r>
              <a:rPr lang="en-US" sz="1100" dirty="0">
                <a:solidFill>
                  <a:srgbClr val="DCE4F2"/>
                </a:solidFill>
                <a:latin typeface="Arial" pitchFamily="34" charset="0"/>
                <a:ea typeface="Arial" pitchFamily="34" charset="-122"/>
                <a:cs typeface="Arial" pitchFamily="34" charset="-120"/>
              </a:rPr>
              <a:t>A divine revelation</a:t>
            </a:r>
            <a:endParaRPr lang="en-US" sz="1100" dirty="0"/>
          </a:p>
        </p:txBody>
      </p:sp>
      <p:sp>
        <p:nvSpPr>
          <p:cNvPr id="9" name="Text 6"/>
          <p:cNvSpPr txBox="1"/>
          <p:nvPr/>
        </p:nvSpPr>
        <p:spPr>
          <a:xfrm>
            <a:off x="548640" y="2971800"/>
            <a:ext cx="1737360" cy="320040"/>
          </a:xfrm>
          <a:prstGeom prst="rect">
            <a:avLst/>
          </a:prstGeom>
          <a:noFill/>
          <a:ln/>
        </p:spPr>
        <p:txBody>
          <a:bodyPr wrap="square" lIns="0" tIns="0" rIns="0" bIns="0" rtlCol="0" anchor="t"/>
          <a:lstStyle/>
          <a:p>
            <a:pPr algn="ctr" indent="0" marL="0">
              <a:buNone/>
            </a:pPr>
            <a:r>
              <a:rPr lang="en-US" sz="1100" i="1" dirty="0">
                <a:solidFill>
                  <a:srgbClr val="C9D5EE"/>
                </a:solidFill>
                <a:latin typeface="Arial" pitchFamily="34" charset="0"/>
                <a:ea typeface="Arial" pitchFamily="34" charset="-122"/>
                <a:cs typeface="Arial" pitchFamily="34" charset="-120"/>
              </a:rPr>
              <a:t>1:11–12</a:t>
            </a:r>
            <a:endParaRPr lang="en-US" sz="1100" dirty="0"/>
          </a:p>
        </p:txBody>
      </p:sp>
      <p:sp>
        <p:nvSpPr>
          <p:cNvPr id="10" name="Shape 7"/>
          <p:cNvSpPr/>
          <p:nvPr/>
        </p:nvSpPr>
        <p:spPr>
          <a:xfrm>
            <a:off x="2578608" y="1234440"/>
            <a:ext cx="1920240" cy="2286000"/>
          </a:xfrm>
          <a:prstGeom prst="roundRect">
            <a:avLst>
              <a:gd name="adj" fmla="val 2857"/>
            </a:avLst>
          </a:prstGeom>
          <a:solidFill>
            <a:srgbClr val="F2F6FC"/>
          </a:solidFill>
          <a:ln w="12700">
            <a:solidFill>
              <a:srgbClr val="D5DCEA"/>
            </a:solidFill>
            <a:prstDash val="solid"/>
          </a:ln>
        </p:spPr>
      </p:sp>
      <p:sp>
        <p:nvSpPr>
          <p:cNvPr id="11" name="Text 8"/>
          <p:cNvSpPr txBox="1"/>
          <p:nvPr/>
        </p:nvSpPr>
        <p:spPr>
          <a:xfrm>
            <a:off x="2578608" y="1371600"/>
            <a:ext cx="1920240" cy="548640"/>
          </a:xfrm>
          <a:prstGeom prst="rect">
            <a:avLst/>
          </a:prstGeom>
          <a:noFill/>
          <a:ln/>
        </p:spPr>
        <p:txBody>
          <a:bodyPr wrap="square" lIns="0" tIns="0" rIns="0" bIns="0" rtlCol="0" anchor="t"/>
          <a:lstStyle/>
          <a:p>
            <a:pPr algn="ctr" indent="0" marL="0">
              <a:buNone/>
            </a:pPr>
            <a:r>
              <a:rPr lang="en-US" sz="2800" b="1" dirty="0">
                <a:solidFill>
                  <a:srgbClr val="2E5496"/>
                </a:solidFill>
                <a:latin typeface="Arial" pitchFamily="34" charset="0"/>
                <a:ea typeface="Arial" pitchFamily="34" charset="-122"/>
                <a:cs typeface="Arial" pitchFamily="34" charset="-120"/>
              </a:rPr>
              <a:t>II</a:t>
            </a:r>
            <a:endParaRPr lang="en-US" sz="2800" dirty="0"/>
          </a:p>
        </p:txBody>
      </p:sp>
      <p:sp>
        <p:nvSpPr>
          <p:cNvPr id="12" name="Text 9"/>
          <p:cNvSpPr txBox="1"/>
          <p:nvPr/>
        </p:nvSpPr>
        <p:spPr>
          <a:xfrm>
            <a:off x="2670048" y="2011680"/>
            <a:ext cx="1737360" cy="365760"/>
          </a:xfrm>
          <a:prstGeom prst="rect">
            <a:avLst/>
          </a:prstGeom>
          <a:noFill/>
          <a:ln/>
        </p:spPr>
        <p:txBody>
          <a:bodyPr wrap="square" lIns="0" tIns="0" rIns="0" bIns="0" rtlCol="0" anchor="t"/>
          <a:lstStyle/>
          <a:p>
            <a:pPr algn="ctr" indent="0" marL="0">
              <a:buNone/>
            </a:pPr>
            <a:r>
              <a:rPr lang="en-US" sz="1400" b="1" dirty="0">
                <a:solidFill>
                  <a:srgbClr val="1F3864"/>
                </a:solidFill>
                <a:latin typeface="Arial" pitchFamily="34" charset="0"/>
                <a:ea typeface="Arial" pitchFamily="34" charset="-122"/>
                <a:cs typeface="Arial" pitchFamily="34" charset="-120"/>
              </a:rPr>
              <a:t>Paul's Conduct</a:t>
            </a:r>
            <a:endParaRPr lang="en-US" sz="1400" dirty="0"/>
          </a:p>
        </p:txBody>
      </p:sp>
      <p:sp>
        <p:nvSpPr>
          <p:cNvPr id="13" name="Text 10"/>
          <p:cNvSpPr txBox="1"/>
          <p:nvPr/>
        </p:nvSpPr>
        <p:spPr>
          <a:xfrm>
            <a:off x="2670048" y="2423160"/>
            <a:ext cx="1737360" cy="45720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Before conversion</a:t>
            </a:r>
            <a:endParaRPr lang="en-US" sz="1100" dirty="0"/>
          </a:p>
        </p:txBody>
      </p:sp>
      <p:sp>
        <p:nvSpPr>
          <p:cNvPr id="14" name="Text 11"/>
          <p:cNvSpPr txBox="1"/>
          <p:nvPr/>
        </p:nvSpPr>
        <p:spPr>
          <a:xfrm>
            <a:off x="2670048" y="2971800"/>
            <a:ext cx="1737360" cy="320040"/>
          </a:xfrm>
          <a:prstGeom prst="rect">
            <a:avLst/>
          </a:prstGeom>
          <a:noFill/>
          <a:ln/>
        </p:spPr>
        <p:txBody>
          <a:bodyPr wrap="square" lIns="0" tIns="0" rIns="0" bIns="0" rtlCol="0" anchor="t"/>
          <a:lstStyle/>
          <a:p>
            <a:pPr algn="ctr" indent="0" marL="0">
              <a:buNone/>
            </a:pPr>
            <a:r>
              <a:rPr lang="en-US" sz="1100" i="1" dirty="0">
                <a:solidFill>
                  <a:srgbClr val="595959"/>
                </a:solidFill>
                <a:latin typeface="Arial" pitchFamily="34" charset="0"/>
                <a:ea typeface="Arial" pitchFamily="34" charset="-122"/>
                <a:cs typeface="Arial" pitchFamily="34" charset="-120"/>
              </a:rPr>
              <a:t>1:13–14</a:t>
            </a:r>
            <a:endParaRPr lang="en-US" sz="1100" dirty="0"/>
          </a:p>
        </p:txBody>
      </p:sp>
      <p:sp>
        <p:nvSpPr>
          <p:cNvPr id="15" name="Shape 12"/>
          <p:cNvSpPr/>
          <p:nvPr/>
        </p:nvSpPr>
        <p:spPr>
          <a:xfrm>
            <a:off x="4700016" y="1234440"/>
            <a:ext cx="1920240" cy="2286000"/>
          </a:xfrm>
          <a:prstGeom prst="roundRect">
            <a:avLst>
              <a:gd name="adj" fmla="val 2857"/>
            </a:avLst>
          </a:prstGeom>
          <a:solidFill>
            <a:srgbClr val="1F3864"/>
          </a:solidFill>
          <a:ln w="12700">
            <a:solidFill>
              <a:srgbClr val="1F3864"/>
            </a:solidFill>
            <a:prstDash val="solid"/>
          </a:ln>
        </p:spPr>
      </p:sp>
      <p:sp>
        <p:nvSpPr>
          <p:cNvPr id="16" name="Text 13"/>
          <p:cNvSpPr txBox="1"/>
          <p:nvPr/>
        </p:nvSpPr>
        <p:spPr>
          <a:xfrm>
            <a:off x="4700016" y="1371600"/>
            <a:ext cx="1920240" cy="548640"/>
          </a:xfrm>
          <a:prstGeom prst="rect">
            <a:avLst/>
          </a:prstGeom>
          <a:noFill/>
          <a:ln/>
        </p:spPr>
        <p:txBody>
          <a:bodyPr wrap="square" lIns="0" tIns="0" rIns="0" bIns="0" rtlCol="0" anchor="t"/>
          <a:lstStyle/>
          <a:p>
            <a:pPr algn="ctr" indent="0" marL="0">
              <a:buNone/>
            </a:pPr>
            <a:r>
              <a:rPr lang="en-US" sz="2800" b="1" dirty="0">
                <a:solidFill>
                  <a:srgbClr val="FFFFFF"/>
                </a:solidFill>
                <a:latin typeface="Arial" pitchFamily="34" charset="0"/>
                <a:ea typeface="Arial" pitchFamily="34" charset="-122"/>
                <a:cs typeface="Arial" pitchFamily="34" charset="-120"/>
              </a:rPr>
              <a:t>III</a:t>
            </a:r>
            <a:endParaRPr lang="en-US" sz="2800" dirty="0"/>
          </a:p>
        </p:txBody>
      </p:sp>
      <p:sp>
        <p:nvSpPr>
          <p:cNvPr id="17" name="Text 14"/>
          <p:cNvSpPr txBox="1"/>
          <p:nvPr/>
        </p:nvSpPr>
        <p:spPr>
          <a:xfrm>
            <a:off x="4791456" y="2011680"/>
            <a:ext cx="17373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Paul's Call</a:t>
            </a:r>
            <a:endParaRPr lang="en-US" sz="1400" dirty="0"/>
          </a:p>
        </p:txBody>
      </p:sp>
      <p:sp>
        <p:nvSpPr>
          <p:cNvPr id="18" name="Text 15"/>
          <p:cNvSpPr txBox="1"/>
          <p:nvPr/>
        </p:nvSpPr>
        <p:spPr>
          <a:xfrm>
            <a:off x="4791456" y="2423160"/>
            <a:ext cx="1737360" cy="457200"/>
          </a:xfrm>
          <a:prstGeom prst="rect">
            <a:avLst/>
          </a:prstGeom>
          <a:noFill/>
          <a:ln/>
        </p:spPr>
        <p:txBody>
          <a:bodyPr wrap="square" lIns="0" tIns="0" rIns="0" bIns="0" rtlCol="0" anchor="t"/>
          <a:lstStyle/>
          <a:p>
            <a:pPr algn="ctr" indent="0" marL="0">
              <a:buNone/>
            </a:pPr>
            <a:r>
              <a:rPr lang="en-US" sz="1100" dirty="0">
                <a:solidFill>
                  <a:srgbClr val="DCE4F2"/>
                </a:solidFill>
                <a:latin typeface="Arial" pitchFamily="34" charset="0"/>
                <a:ea typeface="Arial" pitchFamily="34" charset="-122"/>
                <a:cs typeface="Arial" pitchFamily="34" charset="-120"/>
              </a:rPr>
              <a:t>To preach</a:t>
            </a:r>
            <a:endParaRPr lang="en-US" sz="1100" dirty="0"/>
          </a:p>
        </p:txBody>
      </p:sp>
      <p:sp>
        <p:nvSpPr>
          <p:cNvPr id="19" name="Text 16"/>
          <p:cNvSpPr txBox="1"/>
          <p:nvPr/>
        </p:nvSpPr>
        <p:spPr>
          <a:xfrm>
            <a:off x="4791456" y="2971800"/>
            <a:ext cx="1737360" cy="320040"/>
          </a:xfrm>
          <a:prstGeom prst="rect">
            <a:avLst/>
          </a:prstGeom>
          <a:noFill/>
          <a:ln/>
        </p:spPr>
        <p:txBody>
          <a:bodyPr wrap="square" lIns="0" tIns="0" rIns="0" bIns="0" rtlCol="0" anchor="t"/>
          <a:lstStyle/>
          <a:p>
            <a:pPr algn="ctr" indent="0" marL="0">
              <a:buNone/>
            </a:pPr>
            <a:r>
              <a:rPr lang="en-US" sz="1100" i="1" dirty="0">
                <a:solidFill>
                  <a:srgbClr val="C9D5EE"/>
                </a:solidFill>
                <a:latin typeface="Arial" pitchFamily="34" charset="0"/>
                <a:ea typeface="Arial" pitchFamily="34" charset="-122"/>
                <a:cs typeface="Arial" pitchFamily="34" charset="-120"/>
              </a:rPr>
              <a:t>1:15–16a</a:t>
            </a:r>
            <a:endParaRPr lang="en-US" sz="1100" dirty="0"/>
          </a:p>
        </p:txBody>
      </p:sp>
      <p:sp>
        <p:nvSpPr>
          <p:cNvPr id="20" name="Shape 17"/>
          <p:cNvSpPr/>
          <p:nvPr/>
        </p:nvSpPr>
        <p:spPr>
          <a:xfrm>
            <a:off x="6821424" y="1234440"/>
            <a:ext cx="1920240" cy="2286000"/>
          </a:xfrm>
          <a:prstGeom prst="roundRect">
            <a:avLst>
              <a:gd name="adj" fmla="val 2857"/>
            </a:avLst>
          </a:prstGeom>
          <a:solidFill>
            <a:srgbClr val="F2F6FC"/>
          </a:solidFill>
          <a:ln w="12700">
            <a:solidFill>
              <a:srgbClr val="D5DCEA"/>
            </a:solidFill>
            <a:prstDash val="solid"/>
          </a:ln>
        </p:spPr>
      </p:sp>
      <p:sp>
        <p:nvSpPr>
          <p:cNvPr id="21" name="Text 18"/>
          <p:cNvSpPr txBox="1"/>
          <p:nvPr/>
        </p:nvSpPr>
        <p:spPr>
          <a:xfrm>
            <a:off x="6821424" y="1371600"/>
            <a:ext cx="1920240" cy="548640"/>
          </a:xfrm>
          <a:prstGeom prst="rect">
            <a:avLst/>
          </a:prstGeom>
          <a:noFill/>
          <a:ln/>
        </p:spPr>
        <p:txBody>
          <a:bodyPr wrap="square" lIns="0" tIns="0" rIns="0" bIns="0" rtlCol="0" anchor="t"/>
          <a:lstStyle/>
          <a:p>
            <a:pPr algn="ctr" indent="0" marL="0">
              <a:buNone/>
            </a:pPr>
            <a:r>
              <a:rPr lang="en-US" sz="2800" b="1" dirty="0">
                <a:solidFill>
                  <a:srgbClr val="2E5496"/>
                </a:solidFill>
                <a:latin typeface="Arial" pitchFamily="34" charset="0"/>
                <a:ea typeface="Arial" pitchFamily="34" charset="-122"/>
                <a:cs typeface="Arial" pitchFamily="34" charset="-120"/>
              </a:rPr>
              <a:t>IV</a:t>
            </a:r>
            <a:endParaRPr lang="en-US" sz="2800" dirty="0"/>
          </a:p>
        </p:txBody>
      </p:sp>
      <p:sp>
        <p:nvSpPr>
          <p:cNvPr id="22" name="Text 19"/>
          <p:cNvSpPr txBox="1"/>
          <p:nvPr/>
        </p:nvSpPr>
        <p:spPr>
          <a:xfrm>
            <a:off x="6912864" y="2011680"/>
            <a:ext cx="1737360" cy="365760"/>
          </a:xfrm>
          <a:prstGeom prst="rect">
            <a:avLst/>
          </a:prstGeom>
          <a:noFill/>
          <a:ln/>
        </p:spPr>
        <p:txBody>
          <a:bodyPr wrap="square" lIns="0" tIns="0" rIns="0" bIns="0" rtlCol="0" anchor="t"/>
          <a:lstStyle/>
          <a:p>
            <a:pPr algn="ctr" indent="0" marL="0">
              <a:buNone/>
            </a:pPr>
            <a:r>
              <a:rPr lang="en-US" sz="1400" b="1" dirty="0">
                <a:solidFill>
                  <a:srgbClr val="1F3864"/>
                </a:solidFill>
                <a:latin typeface="Arial" pitchFamily="34" charset="0"/>
                <a:ea typeface="Arial" pitchFamily="34" charset="-122"/>
                <a:cs typeface="Arial" pitchFamily="34" charset="-120"/>
              </a:rPr>
              <a:t>Paul's Course</a:t>
            </a:r>
            <a:endParaRPr lang="en-US" sz="1400" dirty="0"/>
          </a:p>
        </p:txBody>
      </p:sp>
      <p:sp>
        <p:nvSpPr>
          <p:cNvPr id="23" name="Text 20"/>
          <p:cNvSpPr txBox="1"/>
          <p:nvPr/>
        </p:nvSpPr>
        <p:spPr>
          <a:xfrm>
            <a:off x="6912864" y="2423160"/>
            <a:ext cx="1737360" cy="45720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After conversion</a:t>
            </a:r>
            <a:endParaRPr lang="en-US" sz="1100" dirty="0"/>
          </a:p>
        </p:txBody>
      </p:sp>
      <p:sp>
        <p:nvSpPr>
          <p:cNvPr id="24" name="Text 21"/>
          <p:cNvSpPr txBox="1"/>
          <p:nvPr/>
        </p:nvSpPr>
        <p:spPr>
          <a:xfrm>
            <a:off x="6912864" y="2971800"/>
            <a:ext cx="1737360" cy="320040"/>
          </a:xfrm>
          <a:prstGeom prst="rect">
            <a:avLst/>
          </a:prstGeom>
          <a:noFill/>
          <a:ln/>
        </p:spPr>
        <p:txBody>
          <a:bodyPr wrap="square" lIns="0" tIns="0" rIns="0" bIns="0" rtlCol="0" anchor="t"/>
          <a:lstStyle/>
          <a:p>
            <a:pPr algn="ctr" indent="0" marL="0">
              <a:buNone/>
            </a:pPr>
            <a:r>
              <a:rPr lang="en-US" sz="1100" i="1" dirty="0">
                <a:solidFill>
                  <a:srgbClr val="595959"/>
                </a:solidFill>
                <a:latin typeface="Arial" pitchFamily="34" charset="0"/>
                <a:ea typeface="Arial" pitchFamily="34" charset="-122"/>
                <a:cs typeface="Arial" pitchFamily="34" charset="-120"/>
              </a:rPr>
              <a:t>1:16b–17</a:t>
            </a:r>
            <a:endParaRPr lang="en-US" sz="1100" dirty="0"/>
          </a:p>
        </p:txBody>
      </p:sp>
      <p:sp>
        <p:nvSpPr>
          <p:cNvPr id="25" name="Shape 22"/>
          <p:cNvSpPr/>
          <p:nvPr/>
        </p:nvSpPr>
        <p:spPr>
          <a:xfrm>
            <a:off x="457200" y="3703320"/>
            <a:ext cx="4023360" cy="329184"/>
          </a:xfrm>
          <a:prstGeom prst="rect">
            <a:avLst/>
          </a:prstGeom>
          <a:solidFill>
            <a:srgbClr val="2E5496"/>
          </a:solidFill>
          <a:ln w="12700">
            <a:solidFill>
              <a:srgbClr val="2E5496"/>
            </a:solidFill>
            <a:prstDash val="solid"/>
          </a:ln>
        </p:spPr>
      </p:sp>
      <p:sp>
        <p:nvSpPr>
          <p:cNvPr id="26" name="Text 23"/>
          <p:cNvSpPr txBox="1"/>
          <p:nvPr/>
        </p:nvSpPr>
        <p:spPr>
          <a:xfrm>
            <a:off x="548640" y="3749040"/>
            <a:ext cx="384048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“Brethren” — 11 times in Galatians</a:t>
            </a:r>
            <a:endParaRPr lang="en-US" sz="1200" dirty="0"/>
          </a:p>
        </p:txBody>
      </p:sp>
      <p:sp>
        <p:nvSpPr>
          <p:cNvPr id="27" name="Shape 24"/>
          <p:cNvSpPr/>
          <p:nvPr/>
        </p:nvSpPr>
        <p:spPr>
          <a:xfrm>
            <a:off x="457200" y="4032504"/>
            <a:ext cx="4023360" cy="585216"/>
          </a:xfrm>
          <a:prstGeom prst="rect">
            <a:avLst/>
          </a:prstGeom>
          <a:solidFill>
            <a:srgbClr val="F2F6FC"/>
          </a:solidFill>
          <a:ln w="9525">
            <a:solidFill>
              <a:srgbClr val="D5DCEA"/>
            </a:solidFill>
            <a:prstDash val="solid"/>
          </a:ln>
        </p:spPr>
      </p:sp>
      <p:sp>
        <p:nvSpPr>
          <p:cNvPr id="28" name="Text 25"/>
          <p:cNvSpPr txBox="1"/>
          <p:nvPr/>
        </p:nvSpPr>
        <p:spPr>
          <a:xfrm>
            <a:off x="548640" y="4105656"/>
            <a:ext cx="3840480" cy="45720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The believers, the people in the pew</a:t>
            </a:r>
            <a:endParaRPr lang="en-US" sz="1100" dirty="0"/>
          </a:p>
        </p:txBody>
      </p:sp>
      <p:sp>
        <p:nvSpPr>
          <p:cNvPr id="29" name="Shape 26"/>
          <p:cNvSpPr/>
          <p:nvPr/>
        </p:nvSpPr>
        <p:spPr>
          <a:xfrm>
            <a:off x="4663440" y="3703320"/>
            <a:ext cx="4023360" cy="329184"/>
          </a:xfrm>
          <a:prstGeom prst="rect">
            <a:avLst/>
          </a:prstGeom>
          <a:solidFill>
            <a:srgbClr val="6B7280"/>
          </a:solidFill>
          <a:ln w="12700">
            <a:solidFill>
              <a:srgbClr val="6B7280"/>
            </a:solidFill>
            <a:prstDash val="solid"/>
          </a:ln>
        </p:spPr>
      </p:sp>
      <p:sp>
        <p:nvSpPr>
          <p:cNvPr id="30" name="Text 27"/>
          <p:cNvSpPr txBox="1"/>
          <p:nvPr/>
        </p:nvSpPr>
        <p:spPr>
          <a:xfrm>
            <a:off x="4754880" y="3749040"/>
            <a:ext cx="384048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“Accursed” — twice (vv.8–9)</a:t>
            </a:r>
            <a:endParaRPr lang="en-US" sz="1200" dirty="0"/>
          </a:p>
        </p:txBody>
      </p:sp>
      <p:sp>
        <p:nvSpPr>
          <p:cNvPr id="31" name="Shape 28"/>
          <p:cNvSpPr/>
          <p:nvPr/>
        </p:nvSpPr>
        <p:spPr>
          <a:xfrm>
            <a:off x="4663440" y="4032504"/>
            <a:ext cx="4023360" cy="585216"/>
          </a:xfrm>
          <a:prstGeom prst="rect">
            <a:avLst/>
          </a:prstGeom>
          <a:solidFill>
            <a:srgbClr val="F2F6FC"/>
          </a:solidFill>
          <a:ln w="9525">
            <a:solidFill>
              <a:srgbClr val="D5DCEA"/>
            </a:solidFill>
            <a:prstDash val="solid"/>
          </a:ln>
        </p:spPr>
      </p:sp>
      <p:sp>
        <p:nvSpPr>
          <p:cNvPr id="32" name="Text 29"/>
          <p:cNvSpPr txBox="1"/>
          <p:nvPr/>
        </p:nvSpPr>
        <p:spPr>
          <a:xfrm>
            <a:off x="4754880" y="4105656"/>
            <a:ext cx="3840480" cy="45720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The Judaizers — never called brethren here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did Paul's gospel come from?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1:11–12 · Outline I — Paul's claim</a:t>
            </a:r>
            <a:endParaRPr lang="en-US" sz="1200" dirty="0"/>
          </a:p>
        </p:txBody>
      </p:sp>
      <p:sp>
        <p:nvSpPr>
          <p:cNvPr id="5" name="Shape 2"/>
          <p:cNvSpPr/>
          <p:nvPr/>
        </p:nvSpPr>
        <p:spPr>
          <a:xfrm>
            <a:off x="457200" y="1188720"/>
            <a:ext cx="4114800" cy="804672"/>
          </a:xfrm>
          <a:prstGeom prst="rect">
            <a:avLst/>
          </a:prstGeom>
          <a:solidFill>
            <a:srgbClr val="F2F6FC"/>
          </a:solidFill>
          <a:ln w="9525">
            <a:solidFill>
              <a:srgbClr val="D5DCEA"/>
            </a:solidFill>
            <a:prstDash val="solid"/>
          </a:ln>
        </p:spPr>
      </p:sp>
      <p:sp>
        <p:nvSpPr>
          <p:cNvPr id="6" name="Shape 3"/>
          <p:cNvSpPr/>
          <p:nvPr/>
        </p:nvSpPr>
        <p:spPr>
          <a:xfrm>
            <a:off x="566928" y="1371600"/>
            <a:ext cx="438912" cy="438912"/>
          </a:xfrm>
          <a:prstGeom prst="ellipse">
            <a:avLst/>
          </a:prstGeom>
          <a:solidFill>
            <a:srgbClr val="6B7280"/>
          </a:solidFill>
          <a:ln w="12700">
            <a:solidFill>
              <a:srgbClr val="6B7280"/>
            </a:solidFill>
            <a:prstDash val="solid"/>
          </a:ln>
        </p:spPr>
      </p:sp>
      <p:sp>
        <p:nvSpPr>
          <p:cNvPr id="7" name="Text 4"/>
          <p:cNvSpPr txBox="1"/>
          <p:nvPr/>
        </p:nvSpPr>
        <p:spPr>
          <a:xfrm>
            <a:off x="566928" y="13716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8" name="Text 5"/>
          <p:cNvSpPr txBox="1"/>
          <p:nvPr/>
        </p:nvSpPr>
        <p:spPr>
          <a:xfrm>
            <a:off x="1143000" y="1188720"/>
            <a:ext cx="3337560" cy="804672"/>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Not fabrication</a:t>
            </a:r>
            <a:endParaRPr lang="en-US" sz="1200" dirty="0"/>
          </a:p>
          <a:p>
            <a:pPr indent="0" marL="0">
              <a:buNone/>
            </a:pPr>
            <a:r>
              <a:rPr lang="en-US" sz="1150" i="1" dirty="0">
                <a:solidFill>
                  <a:srgbClr val="595959"/>
                </a:solidFill>
                <a:latin typeface="Arial" pitchFamily="34" charset="0"/>
                <a:ea typeface="Arial" pitchFamily="34" charset="-122"/>
                <a:cs typeface="Arial" pitchFamily="34" charset="-120"/>
              </a:rPr>
              <a:t>“not according to man”  ·  v.11</a:t>
            </a:r>
            <a:endParaRPr lang="en-US" sz="1200" dirty="0"/>
          </a:p>
        </p:txBody>
      </p:sp>
      <p:sp>
        <p:nvSpPr>
          <p:cNvPr id="9" name="Shape 6"/>
          <p:cNvSpPr/>
          <p:nvPr/>
        </p:nvSpPr>
        <p:spPr>
          <a:xfrm>
            <a:off x="457200" y="2121408"/>
            <a:ext cx="4114800" cy="804672"/>
          </a:xfrm>
          <a:prstGeom prst="rect">
            <a:avLst/>
          </a:prstGeom>
          <a:solidFill>
            <a:srgbClr val="F2F6FC"/>
          </a:solidFill>
          <a:ln w="9525">
            <a:solidFill>
              <a:srgbClr val="D5DCEA"/>
            </a:solidFill>
            <a:prstDash val="solid"/>
          </a:ln>
        </p:spPr>
      </p:sp>
      <p:sp>
        <p:nvSpPr>
          <p:cNvPr id="10" name="Shape 7"/>
          <p:cNvSpPr/>
          <p:nvPr/>
        </p:nvSpPr>
        <p:spPr>
          <a:xfrm>
            <a:off x="566928" y="2304288"/>
            <a:ext cx="438912" cy="438912"/>
          </a:xfrm>
          <a:prstGeom prst="ellipse">
            <a:avLst/>
          </a:prstGeom>
          <a:solidFill>
            <a:srgbClr val="6B7280"/>
          </a:solidFill>
          <a:ln w="12700">
            <a:solidFill>
              <a:srgbClr val="6B7280"/>
            </a:solidFill>
            <a:prstDash val="solid"/>
          </a:ln>
        </p:spPr>
      </p:sp>
      <p:sp>
        <p:nvSpPr>
          <p:cNvPr id="11" name="Text 8"/>
          <p:cNvSpPr txBox="1"/>
          <p:nvPr/>
        </p:nvSpPr>
        <p:spPr>
          <a:xfrm>
            <a:off x="566928" y="23042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2" name="Text 9"/>
          <p:cNvSpPr txBox="1"/>
          <p:nvPr/>
        </p:nvSpPr>
        <p:spPr>
          <a:xfrm>
            <a:off x="1143000" y="2121408"/>
            <a:ext cx="3337560" cy="804672"/>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Not imitation</a:t>
            </a:r>
            <a:endParaRPr lang="en-US" sz="1200" dirty="0"/>
          </a:p>
          <a:p>
            <a:pPr indent="0" marL="0">
              <a:buNone/>
            </a:pPr>
            <a:r>
              <a:rPr lang="en-US" sz="1150" i="1" dirty="0">
                <a:solidFill>
                  <a:srgbClr val="595959"/>
                </a:solidFill>
                <a:latin typeface="Arial" pitchFamily="34" charset="0"/>
                <a:ea typeface="Arial" pitchFamily="34" charset="-122"/>
                <a:cs typeface="Arial" pitchFamily="34" charset="-120"/>
              </a:rPr>
              <a:t>“I neither received it from man”  ·  v.12a</a:t>
            </a:r>
            <a:endParaRPr lang="en-US" sz="1200" dirty="0"/>
          </a:p>
        </p:txBody>
      </p:sp>
      <p:sp>
        <p:nvSpPr>
          <p:cNvPr id="13" name="Shape 10"/>
          <p:cNvSpPr/>
          <p:nvPr/>
        </p:nvSpPr>
        <p:spPr>
          <a:xfrm>
            <a:off x="457200" y="3054096"/>
            <a:ext cx="4114800" cy="804672"/>
          </a:xfrm>
          <a:prstGeom prst="rect">
            <a:avLst/>
          </a:prstGeom>
          <a:solidFill>
            <a:srgbClr val="F2F6FC"/>
          </a:solidFill>
          <a:ln w="9525">
            <a:solidFill>
              <a:srgbClr val="D5DCEA"/>
            </a:solidFill>
            <a:prstDash val="solid"/>
          </a:ln>
        </p:spPr>
      </p:sp>
      <p:sp>
        <p:nvSpPr>
          <p:cNvPr id="14" name="Shape 11"/>
          <p:cNvSpPr/>
          <p:nvPr/>
        </p:nvSpPr>
        <p:spPr>
          <a:xfrm>
            <a:off x="566928" y="3236976"/>
            <a:ext cx="438912" cy="438912"/>
          </a:xfrm>
          <a:prstGeom prst="ellipse">
            <a:avLst/>
          </a:prstGeom>
          <a:solidFill>
            <a:srgbClr val="6B7280"/>
          </a:solidFill>
          <a:ln w="12700">
            <a:solidFill>
              <a:srgbClr val="6B7280"/>
            </a:solidFill>
            <a:prstDash val="solid"/>
          </a:ln>
        </p:spPr>
      </p:sp>
      <p:sp>
        <p:nvSpPr>
          <p:cNvPr id="15" name="Text 12"/>
          <p:cNvSpPr txBox="1"/>
          <p:nvPr/>
        </p:nvSpPr>
        <p:spPr>
          <a:xfrm>
            <a:off x="566928" y="323697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6" name="Text 13"/>
          <p:cNvSpPr txBox="1"/>
          <p:nvPr/>
        </p:nvSpPr>
        <p:spPr>
          <a:xfrm>
            <a:off x="1143000" y="3054096"/>
            <a:ext cx="3337560" cy="804672"/>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Not assimilation</a:t>
            </a:r>
            <a:endParaRPr lang="en-US" sz="1200" dirty="0"/>
          </a:p>
          <a:p>
            <a:pPr indent="0" marL="0">
              <a:buNone/>
            </a:pPr>
            <a:r>
              <a:rPr lang="en-US" sz="1150" i="1" dirty="0">
                <a:solidFill>
                  <a:srgbClr val="595959"/>
                </a:solidFill>
                <a:latin typeface="Arial" pitchFamily="34" charset="0"/>
                <a:ea typeface="Arial" pitchFamily="34" charset="-122"/>
                <a:cs typeface="Arial" pitchFamily="34" charset="-120"/>
              </a:rPr>
              <a:t>“nor was I taught it”  ·  v.12b</a:t>
            </a:r>
            <a:endParaRPr lang="en-US" sz="1200" dirty="0"/>
          </a:p>
        </p:txBody>
      </p:sp>
      <p:sp>
        <p:nvSpPr>
          <p:cNvPr id="17" name="Shape 14"/>
          <p:cNvSpPr/>
          <p:nvPr/>
        </p:nvSpPr>
        <p:spPr>
          <a:xfrm>
            <a:off x="4709160" y="2286000"/>
            <a:ext cx="365760" cy="237744"/>
          </a:xfrm>
          <a:prstGeom prst="rightArrow">
            <a:avLst/>
          </a:prstGeom>
          <a:solidFill>
            <a:srgbClr val="375623"/>
          </a:solidFill>
          <a:ln w="12700">
            <a:solidFill>
              <a:srgbClr val="375623"/>
            </a:solidFill>
            <a:prstDash val="solid"/>
          </a:ln>
        </p:spPr>
      </p:sp>
      <p:sp>
        <p:nvSpPr>
          <p:cNvPr id="18" name="Shape 15"/>
          <p:cNvSpPr/>
          <p:nvPr/>
        </p:nvSpPr>
        <p:spPr>
          <a:xfrm>
            <a:off x="5212080" y="1188720"/>
            <a:ext cx="3474720" cy="566928"/>
          </a:xfrm>
          <a:prstGeom prst="rect">
            <a:avLst/>
          </a:prstGeom>
          <a:solidFill>
            <a:srgbClr val="375623"/>
          </a:solidFill>
          <a:ln w="12700">
            <a:solidFill>
              <a:srgbClr val="375623"/>
            </a:solidFill>
            <a:prstDash val="solid"/>
          </a:ln>
        </p:spPr>
      </p:sp>
      <p:sp>
        <p:nvSpPr>
          <p:cNvPr id="19" name="Text 16"/>
          <p:cNvSpPr txBox="1"/>
          <p:nvPr/>
        </p:nvSpPr>
        <p:spPr>
          <a:xfrm>
            <a:off x="5303520" y="1234440"/>
            <a:ext cx="32918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But a revelation — v.12c</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ἀποκάλυψις</a:t>
            </a:r>
            <a:pPr indent="0" marL="0">
              <a:buNone/>
            </a:pPr>
            <a:r>
              <a:rPr lang="en-US" sz="850" dirty="0">
                <a:solidFill>
                  <a:srgbClr val="DCE4F2"/>
                </a:solidFill>
                <a:latin typeface="Arial" pitchFamily="34" charset="0"/>
                <a:ea typeface="Arial" pitchFamily="34" charset="-122"/>
                <a:cs typeface="Arial" pitchFamily="34" charset="-120"/>
              </a:rPr>
              <a:t>  apokalypsis · Gen. Fem. Sg.</a:t>
            </a:r>
            <a:endParaRPr lang="en-US" sz="1200" dirty="0"/>
          </a:p>
        </p:txBody>
      </p:sp>
      <p:sp>
        <p:nvSpPr>
          <p:cNvPr id="20" name="Shape 17"/>
          <p:cNvSpPr/>
          <p:nvPr/>
        </p:nvSpPr>
        <p:spPr>
          <a:xfrm>
            <a:off x="5212080" y="1755648"/>
            <a:ext cx="3474720" cy="2103120"/>
          </a:xfrm>
          <a:prstGeom prst="rect">
            <a:avLst/>
          </a:prstGeom>
          <a:solidFill>
            <a:srgbClr val="F2F6FC"/>
          </a:solidFill>
          <a:ln w="9525">
            <a:solidFill>
              <a:srgbClr val="D5DCEA"/>
            </a:solidFill>
            <a:prstDash val="solid"/>
          </a:ln>
        </p:spPr>
      </p:sp>
      <p:sp>
        <p:nvSpPr>
          <p:cNvPr id="21" name="Text 18"/>
          <p:cNvSpPr txBox="1"/>
          <p:nvPr/>
        </p:nvSpPr>
        <p:spPr>
          <a:xfrm>
            <a:off x="5303520" y="1828800"/>
            <a:ext cx="3291840" cy="197510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 laying bare, an uncovering of what was hidden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“through the revelation of Jesus Christ”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Received, not achieved — straight from Jesus Himself</a:t>
            </a:r>
            <a:endParaRPr lang="en-US" sz="1300" dirty="0"/>
          </a:p>
        </p:txBody>
      </p:sp>
      <p:sp>
        <p:nvSpPr>
          <p:cNvPr id="22" name="Shape 19"/>
          <p:cNvSpPr/>
          <p:nvPr/>
        </p:nvSpPr>
        <p:spPr>
          <a:xfrm>
            <a:off x="457200" y="4041648"/>
            <a:ext cx="8229600" cy="548640"/>
          </a:xfrm>
          <a:prstGeom prst="roundRect">
            <a:avLst>
              <a:gd name="adj" fmla="val 10000"/>
            </a:avLst>
          </a:prstGeom>
          <a:solidFill>
            <a:srgbClr val="1F3864"/>
          </a:solidFill>
          <a:ln w="12700">
            <a:solidFill>
              <a:srgbClr val="1F3864"/>
            </a:solidFill>
            <a:prstDash val="solid"/>
          </a:ln>
        </p:spPr>
      </p:sp>
      <p:sp>
        <p:nvSpPr>
          <p:cNvPr id="23" name="Text 20"/>
          <p:cNvSpPr txBox="1"/>
          <p:nvPr/>
        </p:nvSpPr>
        <p:spPr>
          <a:xfrm>
            <a:off x="621792" y="4041648"/>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Any gospel from men has things attached to believing. Paul's gospel: believe, and you have eternal life — nothing added.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 before grace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1:13–14 · Outline II — Paul's conduct before conversion</a:t>
            </a:r>
            <a:endParaRPr lang="en-US" sz="1200" dirty="0"/>
          </a:p>
        </p:txBody>
      </p:sp>
      <p:sp>
        <p:nvSpPr>
          <p:cNvPr id="5" name="Shape 2"/>
          <p:cNvSpPr/>
          <p:nvPr/>
        </p:nvSpPr>
        <p:spPr>
          <a:xfrm>
            <a:off x="457200" y="1115568"/>
            <a:ext cx="777240" cy="429768"/>
          </a:xfrm>
          <a:prstGeom prst="rect">
            <a:avLst/>
          </a:prstGeom>
          <a:solidFill>
            <a:srgbClr val="2E5496"/>
          </a:solidFill>
          <a:ln w="12700">
            <a:solidFill>
              <a:srgbClr val="2E5496"/>
            </a:solidFill>
            <a:prstDash val="solid"/>
          </a:ln>
        </p:spPr>
      </p:sp>
      <p:sp>
        <p:nvSpPr>
          <p:cNvPr id="6" name="Text 3"/>
          <p:cNvSpPr txBox="1"/>
          <p:nvPr/>
        </p:nvSpPr>
        <p:spPr>
          <a:xfrm>
            <a:off x="457200" y="1115568"/>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v.13</a:t>
            </a:r>
            <a:endParaRPr lang="en-US" sz="1100" dirty="0"/>
          </a:p>
        </p:txBody>
      </p:sp>
      <p:sp>
        <p:nvSpPr>
          <p:cNvPr id="7" name="Shape 4"/>
          <p:cNvSpPr/>
          <p:nvPr/>
        </p:nvSpPr>
        <p:spPr>
          <a:xfrm>
            <a:off x="1234440" y="1115568"/>
            <a:ext cx="7452360" cy="429768"/>
          </a:xfrm>
          <a:prstGeom prst="rect">
            <a:avLst/>
          </a:prstGeom>
          <a:solidFill>
            <a:srgbClr val="F2F6FC"/>
          </a:solidFill>
          <a:ln w="9525">
            <a:solidFill>
              <a:srgbClr val="D5DCEA"/>
            </a:solidFill>
            <a:prstDash val="solid"/>
          </a:ln>
        </p:spPr>
      </p:sp>
      <p:sp>
        <p:nvSpPr>
          <p:cNvPr id="8" name="Text 5"/>
          <p:cNvSpPr txBox="1"/>
          <p:nvPr/>
        </p:nvSpPr>
        <p:spPr>
          <a:xfrm>
            <a:off x="1344168" y="1115568"/>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“my former conduct in Judaism” — a whole way of life set against grace</a:t>
            </a:r>
            <a:endParaRPr lang="en-US" sz="1100" dirty="0"/>
          </a:p>
        </p:txBody>
      </p:sp>
      <p:sp>
        <p:nvSpPr>
          <p:cNvPr id="9" name="Text 6"/>
          <p:cNvSpPr txBox="1"/>
          <p:nvPr/>
        </p:nvSpPr>
        <p:spPr>
          <a:xfrm>
            <a:off x="5806440" y="1115568"/>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ἀναστροφή</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manner of life, not one act</a:t>
            </a:r>
            <a:endParaRPr lang="en-US" sz="1200" dirty="0"/>
          </a:p>
        </p:txBody>
      </p:sp>
      <p:sp>
        <p:nvSpPr>
          <p:cNvPr id="10" name="Shape 7"/>
          <p:cNvSpPr/>
          <p:nvPr/>
        </p:nvSpPr>
        <p:spPr>
          <a:xfrm>
            <a:off x="457200" y="1591056"/>
            <a:ext cx="777240" cy="429768"/>
          </a:xfrm>
          <a:prstGeom prst="rect">
            <a:avLst/>
          </a:prstGeom>
          <a:solidFill>
            <a:srgbClr val="2E5496"/>
          </a:solidFill>
          <a:ln w="12700">
            <a:solidFill>
              <a:srgbClr val="2E5496"/>
            </a:solidFill>
            <a:prstDash val="solid"/>
          </a:ln>
        </p:spPr>
      </p:sp>
      <p:sp>
        <p:nvSpPr>
          <p:cNvPr id="11" name="Text 8"/>
          <p:cNvSpPr txBox="1"/>
          <p:nvPr/>
        </p:nvSpPr>
        <p:spPr>
          <a:xfrm>
            <a:off x="457200" y="1591056"/>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v.13</a:t>
            </a:r>
            <a:endParaRPr lang="en-US" sz="1100" dirty="0"/>
          </a:p>
        </p:txBody>
      </p:sp>
      <p:sp>
        <p:nvSpPr>
          <p:cNvPr id="12" name="Shape 9"/>
          <p:cNvSpPr/>
          <p:nvPr/>
        </p:nvSpPr>
        <p:spPr>
          <a:xfrm>
            <a:off x="1234440" y="1591056"/>
            <a:ext cx="7452360" cy="429768"/>
          </a:xfrm>
          <a:prstGeom prst="rect">
            <a:avLst/>
          </a:prstGeom>
          <a:solidFill>
            <a:srgbClr val="FFFFFF"/>
          </a:solidFill>
          <a:ln w="9525">
            <a:solidFill>
              <a:srgbClr val="D5DCEA"/>
            </a:solidFill>
            <a:prstDash val="solid"/>
          </a:ln>
        </p:spPr>
      </p:sp>
      <p:sp>
        <p:nvSpPr>
          <p:cNvPr id="13" name="Text 10"/>
          <p:cNvSpPr txBox="1"/>
          <p:nvPr/>
        </p:nvSpPr>
        <p:spPr>
          <a:xfrm>
            <a:off x="1344168" y="1591056"/>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“I persecuted the church of God beyond measure” (Acts 8:1–3)</a:t>
            </a:r>
            <a:endParaRPr lang="en-US" sz="1100" dirty="0"/>
          </a:p>
        </p:txBody>
      </p:sp>
      <p:sp>
        <p:nvSpPr>
          <p:cNvPr id="14" name="Text 11"/>
          <p:cNvSpPr txBox="1"/>
          <p:nvPr/>
        </p:nvSpPr>
        <p:spPr>
          <a:xfrm>
            <a:off x="5806440" y="1591056"/>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ἐδίωκον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Imperf. — kept pursuing</a:t>
            </a:r>
            <a:endParaRPr lang="en-US" sz="1200" dirty="0"/>
          </a:p>
        </p:txBody>
      </p:sp>
      <p:sp>
        <p:nvSpPr>
          <p:cNvPr id="15" name="Shape 12"/>
          <p:cNvSpPr/>
          <p:nvPr/>
        </p:nvSpPr>
        <p:spPr>
          <a:xfrm>
            <a:off x="457200" y="2066544"/>
            <a:ext cx="777240" cy="429768"/>
          </a:xfrm>
          <a:prstGeom prst="rect">
            <a:avLst/>
          </a:prstGeom>
          <a:solidFill>
            <a:srgbClr val="2E5496"/>
          </a:solidFill>
          <a:ln w="12700">
            <a:solidFill>
              <a:srgbClr val="2E5496"/>
            </a:solidFill>
            <a:prstDash val="solid"/>
          </a:ln>
        </p:spPr>
      </p:sp>
      <p:sp>
        <p:nvSpPr>
          <p:cNvPr id="16" name="Text 13"/>
          <p:cNvSpPr txBox="1"/>
          <p:nvPr/>
        </p:nvSpPr>
        <p:spPr>
          <a:xfrm>
            <a:off x="457200" y="2066544"/>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v.13</a:t>
            </a:r>
            <a:endParaRPr lang="en-US" sz="1100" dirty="0"/>
          </a:p>
        </p:txBody>
      </p:sp>
      <p:sp>
        <p:nvSpPr>
          <p:cNvPr id="17" name="Shape 14"/>
          <p:cNvSpPr/>
          <p:nvPr/>
        </p:nvSpPr>
        <p:spPr>
          <a:xfrm>
            <a:off x="1234440" y="2066544"/>
            <a:ext cx="7452360" cy="429768"/>
          </a:xfrm>
          <a:prstGeom prst="rect">
            <a:avLst/>
          </a:prstGeom>
          <a:solidFill>
            <a:srgbClr val="F2F6FC"/>
          </a:solidFill>
          <a:ln w="9525">
            <a:solidFill>
              <a:srgbClr val="D5DCEA"/>
            </a:solidFill>
            <a:prstDash val="solid"/>
          </a:ln>
        </p:spPr>
      </p:sp>
      <p:sp>
        <p:nvSpPr>
          <p:cNvPr id="18" name="Text 15"/>
          <p:cNvSpPr txBox="1"/>
          <p:nvPr/>
        </p:nvSpPr>
        <p:spPr>
          <a:xfrm>
            <a:off x="1344168" y="2066544"/>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“and tried to destroy it” — to eradicate, not just hurt (Acts 26:9–11)</a:t>
            </a:r>
            <a:endParaRPr lang="en-US" sz="1100" dirty="0"/>
          </a:p>
        </p:txBody>
      </p:sp>
      <p:sp>
        <p:nvSpPr>
          <p:cNvPr id="19" name="Text 16"/>
          <p:cNvSpPr txBox="1"/>
          <p:nvPr/>
        </p:nvSpPr>
        <p:spPr>
          <a:xfrm>
            <a:off x="5806440" y="2066544"/>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ἐπόρθουν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Imperf. — a sustained campaign</a:t>
            </a:r>
            <a:endParaRPr lang="en-US" sz="1200" dirty="0"/>
          </a:p>
        </p:txBody>
      </p:sp>
      <p:sp>
        <p:nvSpPr>
          <p:cNvPr id="20" name="Shape 17"/>
          <p:cNvSpPr/>
          <p:nvPr/>
        </p:nvSpPr>
        <p:spPr>
          <a:xfrm>
            <a:off x="457200" y="2542032"/>
            <a:ext cx="777240" cy="429768"/>
          </a:xfrm>
          <a:prstGeom prst="rect">
            <a:avLst/>
          </a:prstGeom>
          <a:solidFill>
            <a:srgbClr val="2E5496"/>
          </a:solidFill>
          <a:ln w="12700">
            <a:solidFill>
              <a:srgbClr val="2E5496"/>
            </a:solidFill>
            <a:prstDash val="solid"/>
          </a:ln>
        </p:spPr>
      </p:sp>
      <p:sp>
        <p:nvSpPr>
          <p:cNvPr id="21" name="Text 18"/>
          <p:cNvSpPr txBox="1"/>
          <p:nvPr/>
        </p:nvSpPr>
        <p:spPr>
          <a:xfrm>
            <a:off x="457200" y="2542032"/>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v.14</a:t>
            </a:r>
            <a:endParaRPr lang="en-US" sz="1100" dirty="0"/>
          </a:p>
        </p:txBody>
      </p:sp>
      <p:sp>
        <p:nvSpPr>
          <p:cNvPr id="22" name="Shape 19"/>
          <p:cNvSpPr/>
          <p:nvPr/>
        </p:nvSpPr>
        <p:spPr>
          <a:xfrm>
            <a:off x="1234440" y="2542032"/>
            <a:ext cx="7452360" cy="429768"/>
          </a:xfrm>
          <a:prstGeom prst="rect">
            <a:avLst/>
          </a:prstGeom>
          <a:solidFill>
            <a:srgbClr val="FFFFFF"/>
          </a:solidFill>
          <a:ln w="9525">
            <a:solidFill>
              <a:srgbClr val="D5DCEA"/>
            </a:solidFill>
            <a:prstDash val="solid"/>
          </a:ln>
        </p:spPr>
      </p:sp>
      <p:sp>
        <p:nvSpPr>
          <p:cNvPr id="23" name="Text 20"/>
          <p:cNvSpPr txBox="1"/>
          <p:nvPr/>
        </p:nvSpPr>
        <p:spPr>
          <a:xfrm>
            <a:off x="1344168" y="2542032"/>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“I advanced in Judaism beyond many of my contemporaries”</a:t>
            </a:r>
            <a:endParaRPr lang="en-US" sz="1100" dirty="0"/>
          </a:p>
        </p:txBody>
      </p:sp>
      <p:sp>
        <p:nvSpPr>
          <p:cNvPr id="24" name="Text 21"/>
          <p:cNvSpPr txBox="1"/>
          <p:nvPr/>
        </p:nvSpPr>
        <p:spPr>
          <a:xfrm>
            <a:off x="5806440" y="2542032"/>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προέκοπτον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pioneer cutting a path ahead</a:t>
            </a:r>
            <a:endParaRPr lang="en-US" sz="1200" dirty="0"/>
          </a:p>
        </p:txBody>
      </p:sp>
      <p:sp>
        <p:nvSpPr>
          <p:cNvPr id="25" name="Shape 22"/>
          <p:cNvSpPr/>
          <p:nvPr/>
        </p:nvSpPr>
        <p:spPr>
          <a:xfrm>
            <a:off x="457200" y="3017520"/>
            <a:ext cx="777240" cy="429768"/>
          </a:xfrm>
          <a:prstGeom prst="rect">
            <a:avLst/>
          </a:prstGeom>
          <a:solidFill>
            <a:srgbClr val="2E5496"/>
          </a:solidFill>
          <a:ln w="12700">
            <a:solidFill>
              <a:srgbClr val="2E5496"/>
            </a:solidFill>
            <a:prstDash val="solid"/>
          </a:ln>
        </p:spPr>
      </p:sp>
      <p:sp>
        <p:nvSpPr>
          <p:cNvPr id="26" name="Text 23"/>
          <p:cNvSpPr txBox="1"/>
          <p:nvPr/>
        </p:nvSpPr>
        <p:spPr>
          <a:xfrm>
            <a:off x="457200" y="3017520"/>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v.14</a:t>
            </a:r>
            <a:endParaRPr lang="en-US" sz="1100" dirty="0"/>
          </a:p>
        </p:txBody>
      </p:sp>
      <p:sp>
        <p:nvSpPr>
          <p:cNvPr id="27" name="Shape 24"/>
          <p:cNvSpPr/>
          <p:nvPr/>
        </p:nvSpPr>
        <p:spPr>
          <a:xfrm>
            <a:off x="1234440" y="3017520"/>
            <a:ext cx="7452360" cy="429768"/>
          </a:xfrm>
          <a:prstGeom prst="rect">
            <a:avLst/>
          </a:prstGeom>
          <a:solidFill>
            <a:srgbClr val="F2F6FC"/>
          </a:solidFill>
          <a:ln w="9525">
            <a:solidFill>
              <a:srgbClr val="D5DCEA"/>
            </a:solidFill>
            <a:prstDash val="solid"/>
          </a:ln>
        </p:spPr>
      </p:sp>
      <p:sp>
        <p:nvSpPr>
          <p:cNvPr id="28" name="Text 25"/>
          <p:cNvSpPr txBox="1"/>
          <p:nvPr/>
        </p:nvSpPr>
        <p:spPr>
          <a:xfrm>
            <a:off x="1344168" y="3017520"/>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“exceedingly zealous” — sincere, yet misdirected (Phil 3:6)</a:t>
            </a:r>
            <a:endParaRPr lang="en-US" sz="1100" dirty="0"/>
          </a:p>
        </p:txBody>
      </p:sp>
      <p:sp>
        <p:nvSpPr>
          <p:cNvPr id="29" name="Text 26"/>
          <p:cNvSpPr txBox="1"/>
          <p:nvPr/>
        </p:nvSpPr>
        <p:spPr>
          <a:xfrm>
            <a:off x="5806440" y="3017520"/>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ζηλωτής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an ardent devotee</a:t>
            </a:r>
            <a:endParaRPr lang="en-US" sz="1200" dirty="0"/>
          </a:p>
        </p:txBody>
      </p:sp>
      <p:sp>
        <p:nvSpPr>
          <p:cNvPr id="30" name="Shape 27"/>
          <p:cNvSpPr/>
          <p:nvPr/>
        </p:nvSpPr>
        <p:spPr>
          <a:xfrm>
            <a:off x="457200" y="3493008"/>
            <a:ext cx="777240" cy="429768"/>
          </a:xfrm>
          <a:prstGeom prst="rect">
            <a:avLst/>
          </a:prstGeom>
          <a:solidFill>
            <a:srgbClr val="2E5496"/>
          </a:solidFill>
          <a:ln w="12700">
            <a:solidFill>
              <a:srgbClr val="2E5496"/>
            </a:solidFill>
            <a:prstDash val="solid"/>
          </a:ln>
        </p:spPr>
      </p:sp>
      <p:sp>
        <p:nvSpPr>
          <p:cNvPr id="31" name="Text 28"/>
          <p:cNvSpPr txBox="1"/>
          <p:nvPr/>
        </p:nvSpPr>
        <p:spPr>
          <a:xfrm>
            <a:off x="457200" y="3493008"/>
            <a:ext cx="77724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v.14</a:t>
            </a:r>
            <a:endParaRPr lang="en-US" sz="1100" dirty="0"/>
          </a:p>
        </p:txBody>
      </p:sp>
      <p:sp>
        <p:nvSpPr>
          <p:cNvPr id="32" name="Shape 29"/>
          <p:cNvSpPr/>
          <p:nvPr/>
        </p:nvSpPr>
        <p:spPr>
          <a:xfrm>
            <a:off x="1234440" y="3493008"/>
            <a:ext cx="7452360" cy="429768"/>
          </a:xfrm>
          <a:prstGeom prst="rect">
            <a:avLst/>
          </a:prstGeom>
          <a:solidFill>
            <a:srgbClr val="FFFFFF"/>
          </a:solidFill>
          <a:ln w="9525">
            <a:solidFill>
              <a:srgbClr val="D5DCEA"/>
            </a:solidFill>
            <a:prstDash val="solid"/>
          </a:ln>
        </p:spPr>
      </p:sp>
      <p:sp>
        <p:nvSpPr>
          <p:cNvPr id="33" name="Text 30"/>
          <p:cNvSpPr txBox="1"/>
          <p:nvPr/>
        </p:nvSpPr>
        <p:spPr>
          <a:xfrm>
            <a:off x="1344168" y="3493008"/>
            <a:ext cx="4389120" cy="42976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“the traditions of my fathers” — 613 human commandments around the law</a:t>
            </a:r>
            <a:endParaRPr lang="en-US" sz="1100" dirty="0"/>
          </a:p>
        </p:txBody>
      </p:sp>
      <p:sp>
        <p:nvSpPr>
          <p:cNvPr id="34" name="Text 31"/>
          <p:cNvSpPr txBox="1"/>
          <p:nvPr/>
        </p:nvSpPr>
        <p:spPr>
          <a:xfrm>
            <a:off x="5806440" y="3493008"/>
            <a:ext cx="2788920" cy="42976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παραδόσεων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handed down; cf. Matt 23:13</a:t>
            </a:r>
            <a:endParaRPr lang="en-US" sz="1200" dirty="0"/>
          </a:p>
        </p:txBody>
      </p:sp>
      <p:sp>
        <p:nvSpPr>
          <p:cNvPr id="35" name="Shape 32"/>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36" name="Text 33"/>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The anvil has ruined hundreds of hammers. Even Paul could not prevail against the church (Matt 16:18).</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Brought forth, sent forth — for a purpose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1:15–16a · Outline III — Paul's call to preach</a:t>
            </a:r>
            <a:endParaRPr lang="en-US" sz="1200" dirty="0"/>
          </a:p>
        </p:txBody>
      </p:sp>
      <p:sp>
        <p:nvSpPr>
          <p:cNvPr id="5" name="Text 2"/>
          <p:cNvSpPr txBox="1"/>
          <p:nvPr/>
        </p:nvSpPr>
        <p:spPr>
          <a:xfrm>
            <a:off x="457200" y="1143000"/>
            <a:ext cx="4023360" cy="292608"/>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God's preparation — v.15</a:t>
            </a:r>
            <a:endParaRPr lang="en-US" sz="1300" dirty="0"/>
          </a:p>
        </p:txBody>
      </p:sp>
      <p:sp>
        <p:nvSpPr>
          <p:cNvPr id="6" name="Shape 3"/>
          <p:cNvSpPr/>
          <p:nvPr/>
        </p:nvSpPr>
        <p:spPr>
          <a:xfrm>
            <a:off x="457200" y="1481328"/>
            <a:ext cx="1938528" cy="566928"/>
          </a:xfrm>
          <a:prstGeom prst="rect">
            <a:avLst/>
          </a:prstGeom>
          <a:solidFill>
            <a:srgbClr val="2E5496"/>
          </a:solidFill>
          <a:ln w="12700">
            <a:solidFill>
              <a:srgbClr val="2E5496"/>
            </a:solidFill>
            <a:prstDash val="solid"/>
          </a:ln>
        </p:spPr>
      </p:sp>
      <p:sp>
        <p:nvSpPr>
          <p:cNvPr id="7" name="Text 4"/>
          <p:cNvSpPr txBox="1"/>
          <p:nvPr/>
        </p:nvSpPr>
        <p:spPr>
          <a:xfrm>
            <a:off x="548640" y="1527048"/>
            <a:ext cx="1755648"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Brought forth</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ἀφορίσας</a:t>
            </a:r>
            <a:pPr indent="0" marL="0">
              <a:buNone/>
            </a:pPr>
            <a:r>
              <a:rPr lang="en-US" sz="850" dirty="0">
                <a:solidFill>
                  <a:srgbClr val="DCE4F2"/>
                </a:solidFill>
                <a:latin typeface="Arial" pitchFamily="34" charset="0"/>
                <a:ea typeface="Arial" pitchFamily="34" charset="-122"/>
                <a:cs typeface="Arial" pitchFamily="34" charset="-120"/>
              </a:rPr>
              <a:t>  Aor. Ptc.</a:t>
            </a:r>
            <a:endParaRPr lang="en-US" sz="1200" dirty="0"/>
          </a:p>
        </p:txBody>
      </p:sp>
      <p:sp>
        <p:nvSpPr>
          <p:cNvPr id="8" name="Shape 5"/>
          <p:cNvSpPr/>
          <p:nvPr/>
        </p:nvSpPr>
        <p:spPr>
          <a:xfrm>
            <a:off x="457200" y="2048256"/>
            <a:ext cx="1938528" cy="1673352"/>
          </a:xfrm>
          <a:prstGeom prst="rect">
            <a:avLst/>
          </a:prstGeom>
          <a:solidFill>
            <a:srgbClr val="F2F6FC"/>
          </a:solidFill>
          <a:ln w="9525">
            <a:solidFill>
              <a:srgbClr val="D5DCEA"/>
            </a:solidFill>
            <a:prstDash val="solid"/>
          </a:ln>
        </p:spPr>
      </p:sp>
      <p:sp>
        <p:nvSpPr>
          <p:cNvPr id="9" name="Text 6"/>
          <p:cNvSpPr txBox="1"/>
          <p:nvPr/>
        </p:nvSpPr>
        <p:spPr>
          <a:xfrm>
            <a:off x="548640" y="2121408"/>
            <a:ext cx="1755648" cy="15453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Set apart from his mother's womb for service</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Cf. Jer 1:5</a:t>
            </a:r>
            <a:endParaRPr lang="en-US" sz="1100" dirty="0"/>
          </a:p>
        </p:txBody>
      </p:sp>
      <p:sp>
        <p:nvSpPr>
          <p:cNvPr id="10" name="Shape 7"/>
          <p:cNvSpPr/>
          <p:nvPr/>
        </p:nvSpPr>
        <p:spPr>
          <a:xfrm>
            <a:off x="2542032" y="1481328"/>
            <a:ext cx="1938528" cy="566928"/>
          </a:xfrm>
          <a:prstGeom prst="rect">
            <a:avLst/>
          </a:prstGeom>
          <a:solidFill>
            <a:srgbClr val="2E5496"/>
          </a:solidFill>
          <a:ln w="12700">
            <a:solidFill>
              <a:srgbClr val="2E5496"/>
            </a:solidFill>
            <a:prstDash val="solid"/>
          </a:ln>
        </p:spPr>
      </p:sp>
      <p:sp>
        <p:nvSpPr>
          <p:cNvPr id="11" name="Text 8"/>
          <p:cNvSpPr txBox="1"/>
          <p:nvPr/>
        </p:nvSpPr>
        <p:spPr>
          <a:xfrm>
            <a:off x="2633472" y="1527048"/>
            <a:ext cx="1755648"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Sent forth</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χάριτος</a:t>
            </a:r>
            <a:pPr indent="0" marL="0">
              <a:buNone/>
            </a:pPr>
            <a:r>
              <a:rPr lang="en-US" sz="850" dirty="0">
                <a:solidFill>
                  <a:srgbClr val="DCE4F2"/>
                </a:solidFill>
                <a:latin typeface="Arial" pitchFamily="34" charset="0"/>
                <a:ea typeface="Arial" pitchFamily="34" charset="-122"/>
                <a:cs typeface="Arial" pitchFamily="34" charset="-120"/>
              </a:rPr>
              <a:t>  Gen. Fem. Sg.</a:t>
            </a:r>
            <a:endParaRPr lang="en-US" sz="1200" dirty="0"/>
          </a:p>
        </p:txBody>
      </p:sp>
      <p:sp>
        <p:nvSpPr>
          <p:cNvPr id="12" name="Shape 9"/>
          <p:cNvSpPr/>
          <p:nvPr/>
        </p:nvSpPr>
        <p:spPr>
          <a:xfrm>
            <a:off x="2542032" y="2048256"/>
            <a:ext cx="1938528" cy="1673352"/>
          </a:xfrm>
          <a:prstGeom prst="rect">
            <a:avLst/>
          </a:prstGeom>
          <a:solidFill>
            <a:srgbClr val="F2F6FC"/>
          </a:solidFill>
          <a:ln w="9525">
            <a:solidFill>
              <a:srgbClr val="D5DCEA"/>
            </a:solidFill>
            <a:prstDash val="solid"/>
          </a:ln>
        </p:spPr>
      </p:sp>
      <p:sp>
        <p:nvSpPr>
          <p:cNvPr id="13" name="Text 10"/>
          <p:cNvSpPr txBox="1"/>
          <p:nvPr/>
        </p:nvSpPr>
        <p:spPr>
          <a:xfrm>
            <a:off x="2633472" y="2121408"/>
            <a:ext cx="1755648" cy="15453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“called me through His grace”</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Not deserved — and neither is ours</a:t>
            </a:r>
            <a:endParaRPr lang="en-US" sz="1100" dirty="0"/>
          </a:p>
        </p:txBody>
      </p:sp>
      <p:sp>
        <p:nvSpPr>
          <p:cNvPr id="14" name="Text 11"/>
          <p:cNvSpPr txBox="1"/>
          <p:nvPr/>
        </p:nvSpPr>
        <p:spPr>
          <a:xfrm>
            <a:off x="4663440" y="1143000"/>
            <a:ext cx="4023360" cy="292608"/>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God's purpose — v.16a</a:t>
            </a:r>
            <a:endParaRPr lang="en-US" sz="1300" dirty="0"/>
          </a:p>
        </p:txBody>
      </p:sp>
      <p:sp>
        <p:nvSpPr>
          <p:cNvPr id="15" name="Shape 12"/>
          <p:cNvSpPr/>
          <p:nvPr/>
        </p:nvSpPr>
        <p:spPr>
          <a:xfrm>
            <a:off x="4663440" y="1481328"/>
            <a:ext cx="1938528" cy="566928"/>
          </a:xfrm>
          <a:prstGeom prst="rect">
            <a:avLst/>
          </a:prstGeom>
          <a:solidFill>
            <a:srgbClr val="375623"/>
          </a:solidFill>
          <a:ln w="12700">
            <a:solidFill>
              <a:srgbClr val="375623"/>
            </a:solidFill>
            <a:prstDash val="solid"/>
          </a:ln>
        </p:spPr>
      </p:sp>
      <p:sp>
        <p:nvSpPr>
          <p:cNvPr id="16" name="Text 13"/>
          <p:cNvSpPr txBox="1"/>
          <p:nvPr/>
        </p:nvSpPr>
        <p:spPr>
          <a:xfrm>
            <a:off x="4754880" y="1527048"/>
            <a:ext cx="1755648"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Reveal His Son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ἀποκαλύψαι</a:t>
            </a:r>
            <a:pPr indent="0" marL="0">
              <a:buNone/>
            </a:pPr>
            <a:r>
              <a:rPr lang="en-US" sz="850" dirty="0">
                <a:solidFill>
                  <a:srgbClr val="DCE4F2"/>
                </a:solidFill>
                <a:latin typeface="Arial" pitchFamily="34" charset="0"/>
                <a:ea typeface="Arial" pitchFamily="34" charset="-122"/>
                <a:cs typeface="Arial" pitchFamily="34" charset="-120"/>
              </a:rPr>
              <a:t>  Aor. Inf.</a:t>
            </a:r>
            <a:endParaRPr lang="en-US" sz="1200" dirty="0"/>
          </a:p>
        </p:txBody>
      </p:sp>
      <p:sp>
        <p:nvSpPr>
          <p:cNvPr id="17" name="Shape 14"/>
          <p:cNvSpPr/>
          <p:nvPr/>
        </p:nvSpPr>
        <p:spPr>
          <a:xfrm>
            <a:off x="4663440" y="2048256"/>
            <a:ext cx="1938528" cy="1673352"/>
          </a:xfrm>
          <a:prstGeom prst="rect">
            <a:avLst/>
          </a:prstGeom>
          <a:solidFill>
            <a:srgbClr val="F2F6FC"/>
          </a:solidFill>
          <a:ln w="9525">
            <a:solidFill>
              <a:srgbClr val="D5DCEA"/>
            </a:solidFill>
            <a:prstDash val="solid"/>
          </a:ln>
        </p:spPr>
      </p:sp>
      <p:sp>
        <p:nvSpPr>
          <p:cNvPr id="18" name="Text 15"/>
          <p:cNvSpPr txBox="1"/>
          <p:nvPr/>
        </p:nvSpPr>
        <p:spPr>
          <a:xfrm>
            <a:off x="4754880" y="2121408"/>
            <a:ext cx="1755648" cy="15453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“in me” — not only by my mouth</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“Son” stresses His deity (John 20:31)</a:t>
            </a:r>
            <a:endParaRPr lang="en-US" sz="1100" dirty="0"/>
          </a:p>
        </p:txBody>
      </p:sp>
      <p:sp>
        <p:nvSpPr>
          <p:cNvPr id="19" name="Shape 16"/>
          <p:cNvSpPr/>
          <p:nvPr/>
        </p:nvSpPr>
        <p:spPr>
          <a:xfrm>
            <a:off x="6748272" y="1481328"/>
            <a:ext cx="1938528" cy="566928"/>
          </a:xfrm>
          <a:prstGeom prst="rect">
            <a:avLst/>
          </a:prstGeom>
          <a:solidFill>
            <a:srgbClr val="375623"/>
          </a:solidFill>
          <a:ln w="12700">
            <a:solidFill>
              <a:srgbClr val="375623"/>
            </a:solidFill>
            <a:prstDash val="solid"/>
          </a:ln>
        </p:spPr>
      </p:sp>
      <p:sp>
        <p:nvSpPr>
          <p:cNvPr id="20" name="Text 17"/>
          <p:cNvSpPr txBox="1"/>
          <p:nvPr/>
        </p:nvSpPr>
        <p:spPr>
          <a:xfrm>
            <a:off x="6839712" y="1527048"/>
            <a:ext cx="1755648"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Reach the Gentiles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ἔθνεσιν</a:t>
            </a:r>
            <a:pPr indent="0" marL="0">
              <a:buNone/>
            </a:pPr>
            <a:r>
              <a:rPr lang="en-US" sz="850" dirty="0">
                <a:solidFill>
                  <a:srgbClr val="DCE4F2"/>
                </a:solidFill>
                <a:latin typeface="Arial" pitchFamily="34" charset="0"/>
                <a:ea typeface="Arial" pitchFamily="34" charset="-122"/>
                <a:cs typeface="Arial" pitchFamily="34" charset="-120"/>
              </a:rPr>
              <a:t>  Dat. Pl. Neut.</a:t>
            </a:r>
            <a:endParaRPr lang="en-US" sz="1200" dirty="0"/>
          </a:p>
        </p:txBody>
      </p:sp>
      <p:sp>
        <p:nvSpPr>
          <p:cNvPr id="21" name="Shape 18"/>
          <p:cNvSpPr/>
          <p:nvPr/>
        </p:nvSpPr>
        <p:spPr>
          <a:xfrm>
            <a:off x="6748272" y="2048256"/>
            <a:ext cx="1938528" cy="1673352"/>
          </a:xfrm>
          <a:prstGeom prst="rect">
            <a:avLst/>
          </a:prstGeom>
          <a:solidFill>
            <a:srgbClr val="F2F6FC"/>
          </a:solidFill>
          <a:ln w="9525">
            <a:solidFill>
              <a:srgbClr val="D5DCEA"/>
            </a:solidFill>
            <a:prstDash val="solid"/>
          </a:ln>
        </p:spPr>
      </p:sp>
      <p:sp>
        <p:nvSpPr>
          <p:cNvPr id="22" name="Text 19"/>
          <p:cNvSpPr txBox="1"/>
          <p:nvPr/>
        </p:nvSpPr>
        <p:spPr>
          <a:xfrm>
            <a:off x="6839712" y="2121408"/>
            <a:ext cx="1755648" cy="15453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“that I might preach Him among the Gentiles”</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Israel's zealot sent to the nations</a:t>
            </a:r>
            <a:endParaRPr lang="en-US" sz="1100" dirty="0"/>
          </a:p>
        </p:txBody>
      </p:sp>
      <p:sp>
        <p:nvSpPr>
          <p:cNvPr id="23" name="Shape 20"/>
          <p:cNvSpPr/>
          <p:nvPr/>
        </p:nvSpPr>
        <p:spPr>
          <a:xfrm>
            <a:off x="457200" y="3931920"/>
            <a:ext cx="8229600" cy="594360"/>
          </a:xfrm>
          <a:prstGeom prst="roundRect">
            <a:avLst>
              <a:gd name="adj" fmla="val 9231"/>
            </a:avLst>
          </a:prstGeom>
          <a:solidFill>
            <a:srgbClr val="1F3864"/>
          </a:solidFill>
          <a:ln w="12700">
            <a:solidFill>
              <a:srgbClr val="1F3864"/>
            </a:solidFill>
            <a:prstDash val="solid"/>
          </a:ln>
        </p:spPr>
      </p:sp>
      <p:sp>
        <p:nvSpPr>
          <p:cNvPr id="24" name="Text 21"/>
          <p:cNvSpPr txBox="1"/>
          <p:nvPr/>
        </p:nvSpPr>
        <p:spPr>
          <a:xfrm>
            <a:off x="621792" y="3931920"/>
            <a:ext cx="7900416" cy="59436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You don't have to like the people God sends you to. God loves them — give them the gospel, and they become your brother or sister.</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years with the Lord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1:16b–17 · Outline IV — Paul's course after conversion</a:t>
            </a:r>
            <a:endParaRPr lang="en-US" sz="1200" dirty="0"/>
          </a:p>
        </p:txBody>
      </p:sp>
      <p:sp>
        <p:nvSpPr>
          <p:cNvPr id="5" name="Shape 2"/>
          <p:cNvSpPr/>
          <p:nvPr/>
        </p:nvSpPr>
        <p:spPr>
          <a:xfrm>
            <a:off x="457200" y="1188720"/>
            <a:ext cx="2743200" cy="365760"/>
          </a:xfrm>
          <a:prstGeom prst="rect">
            <a:avLst/>
          </a:prstGeom>
          <a:solidFill>
            <a:srgbClr val="6B7280"/>
          </a:solidFill>
          <a:ln w="12700">
            <a:solidFill>
              <a:srgbClr val="6B7280"/>
            </a:solidFill>
            <a:prstDash val="solid"/>
          </a:ln>
        </p:spPr>
      </p:sp>
      <p:sp>
        <p:nvSpPr>
          <p:cNvPr id="6" name="Text 3"/>
          <p:cNvSpPr txBox="1"/>
          <p:nvPr/>
        </p:nvSpPr>
        <p:spPr>
          <a:xfrm>
            <a:off x="548640" y="1234440"/>
            <a:ext cx="25603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he did not do</a:t>
            </a:r>
            <a:endParaRPr lang="en-US" sz="1200" dirty="0"/>
          </a:p>
        </p:txBody>
      </p:sp>
      <p:sp>
        <p:nvSpPr>
          <p:cNvPr id="7" name="Shape 4"/>
          <p:cNvSpPr/>
          <p:nvPr/>
        </p:nvSpPr>
        <p:spPr>
          <a:xfrm>
            <a:off x="457200" y="1554480"/>
            <a:ext cx="2743200" cy="1645920"/>
          </a:xfrm>
          <a:prstGeom prst="rect">
            <a:avLst/>
          </a:prstGeom>
          <a:solidFill>
            <a:srgbClr val="F2F6FC"/>
          </a:solidFill>
          <a:ln w="9525">
            <a:solidFill>
              <a:srgbClr val="D5DCEA"/>
            </a:solidFill>
            <a:prstDash val="solid"/>
          </a:ln>
        </p:spPr>
      </p:sp>
      <p:sp>
        <p:nvSpPr>
          <p:cNvPr id="8" name="Text 5"/>
          <p:cNvSpPr txBox="1"/>
          <p:nvPr/>
        </p:nvSpPr>
        <p:spPr>
          <a:xfrm>
            <a:off x="548640" y="1627632"/>
            <a:ext cx="2560320" cy="151790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Did not confer with flesh and blood — no human being</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Did not go up to Jerusalem to the apostles</a:t>
            </a:r>
            <a:endParaRPr lang="en-US" sz="1300" dirty="0"/>
          </a:p>
        </p:txBody>
      </p:sp>
      <p:sp>
        <p:nvSpPr>
          <p:cNvPr id="9" name="Text 6"/>
          <p:cNvSpPr txBox="1"/>
          <p:nvPr/>
        </p:nvSpPr>
        <p:spPr>
          <a:xfrm>
            <a:off x="457200" y="3273552"/>
            <a:ext cx="2743200" cy="548640"/>
          </a:xfrm>
          <a:prstGeom prst="rect">
            <a:avLst/>
          </a:prstGeom>
          <a:noFill/>
          <a:ln/>
        </p:spPr>
        <p:txBody>
          <a:bodyPr wrap="square" lIns="0" tIns="0" rIns="0" bIns="0" rtlCol="0" anchor="t"/>
          <a:lstStyle/>
          <a:p>
            <a:pPr indent="0" marL="0">
              <a:buNone/>
            </a:pPr>
            <a:r>
              <a:rPr lang="en-US" sz="1200" b="1" dirty="0">
                <a:solidFill>
                  <a:srgbClr val="7030A0"/>
                </a:solidFill>
                <a:latin typeface="Arial" pitchFamily="34" charset="0"/>
                <a:ea typeface="Arial" pitchFamily="34" charset="-122"/>
                <a:cs typeface="Arial" pitchFamily="34" charset="-120"/>
              </a:rPr>
              <a:t>προσανεθέμην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Aor. Mid. — lay a matter before another; a deliberate choice</a:t>
            </a:r>
            <a:endParaRPr lang="en-US" sz="1200" dirty="0"/>
          </a:p>
        </p:txBody>
      </p:sp>
      <p:sp>
        <p:nvSpPr>
          <p:cNvPr id="10" name="Shape 7"/>
          <p:cNvSpPr/>
          <p:nvPr/>
        </p:nvSpPr>
        <p:spPr>
          <a:xfrm>
            <a:off x="3520440" y="1188720"/>
            <a:ext cx="1508760" cy="1417320"/>
          </a:xfrm>
          <a:prstGeom prst="roundRect">
            <a:avLst>
              <a:gd name="adj" fmla="val 3871"/>
            </a:avLst>
          </a:prstGeom>
          <a:solidFill>
            <a:srgbClr val="1F3864"/>
          </a:solidFill>
          <a:ln w="12700">
            <a:solidFill>
              <a:srgbClr val="1F3864"/>
            </a:solidFill>
            <a:prstDash val="solid"/>
          </a:ln>
        </p:spPr>
      </p:sp>
      <p:sp>
        <p:nvSpPr>
          <p:cNvPr id="11" name="Text 8"/>
          <p:cNvSpPr txBox="1"/>
          <p:nvPr/>
        </p:nvSpPr>
        <p:spPr>
          <a:xfrm>
            <a:off x="3593592" y="1261872"/>
            <a:ext cx="1362456" cy="347472"/>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Damascus</a:t>
            </a:r>
            <a:endParaRPr lang="en-US" sz="1300" dirty="0"/>
          </a:p>
        </p:txBody>
      </p:sp>
      <p:sp>
        <p:nvSpPr>
          <p:cNvPr id="12" name="Text 9"/>
          <p:cNvSpPr txBox="1"/>
          <p:nvPr/>
        </p:nvSpPr>
        <p:spPr>
          <a:xfrm>
            <a:off x="3593592" y="1627632"/>
            <a:ext cx="1362456" cy="914400"/>
          </a:xfrm>
          <a:prstGeom prst="rect">
            <a:avLst/>
          </a:prstGeom>
          <a:noFill/>
          <a:ln/>
        </p:spPr>
        <p:txBody>
          <a:bodyPr wrap="square" lIns="0" tIns="0" rIns="0" bIns="0" rtlCol="0" anchor="t"/>
          <a:lstStyle/>
          <a:p>
            <a:pPr algn="ctr" indent="0" marL="0">
              <a:buNone/>
            </a:pPr>
            <a:r>
              <a:rPr lang="en-US" sz="1000" dirty="0">
                <a:solidFill>
                  <a:srgbClr val="E6ECF7"/>
                </a:solidFill>
                <a:latin typeface="Arial" pitchFamily="34" charset="0"/>
                <a:ea typeface="Arial" pitchFamily="34" charset="-122"/>
                <a:cs typeface="Arial" pitchFamily="34" charset="-120"/>
              </a:rPr>
              <a:t>Converted on the road (Acts 9)</a:t>
            </a:r>
            <a:endParaRPr lang="en-US" sz="1000" dirty="0"/>
          </a:p>
        </p:txBody>
      </p:sp>
      <p:sp>
        <p:nvSpPr>
          <p:cNvPr id="13" name="Shape 10"/>
          <p:cNvSpPr/>
          <p:nvPr/>
        </p:nvSpPr>
        <p:spPr>
          <a:xfrm>
            <a:off x="5047488" y="1783080"/>
            <a:ext cx="237744" cy="237744"/>
          </a:xfrm>
          <a:prstGeom prst="rightArrow">
            <a:avLst/>
          </a:prstGeom>
          <a:solidFill>
            <a:srgbClr val="6B7280"/>
          </a:solidFill>
          <a:ln w="12700">
            <a:solidFill>
              <a:srgbClr val="6B7280"/>
            </a:solidFill>
            <a:prstDash val="solid"/>
          </a:ln>
        </p:spPr>
      </p:sp>
      <p:sp>
        <p:nvSpPr>
          <p:cNvPr id="14" name="Shape 11"/>
          <p:cNvSpPr/>
          <p:nvPr/>
        </p:nvSpPr>
        <p:spPr>
          <a:xfrm>
            <a:off x="5303520" y="1188720"/>
            <a:ext cx="1508760" cy="1417320"/>
          </a:xfrm>
          <a:prstGeom prst="roundRect">
            <a:avLst>
              <a:gd name="adj" fmla="val 3871"/>
            </a:avLst>
          </a:prstGeom>
          <a:solidFill>
            <a:srgbClr val="375623"/>
          </a:solidFill>
          <a:ln w="12700">
            <a:solidFill>
              <a:srgbClr val="375623"/>
            </a:solidFill>
            <a:prstDash val="solid"/>
          </a:ln>
        </p:spPr>
      </p:sp>
      <p:sp>
        <p:nvSpPr>
          <p:cNvPr id="15" name="Text 12"/>
          <p:cNvSpPr txBox="1"/>
          <p:nvPr/>
        </p:nvSpPr>
        <p:spPr>
          <a:xfrm>
            <a:off x="5376672" y="1261872"/>
            <a:ext cx="1362456" cy="347472"/>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Arabia</a:t>
            </a:r>
            <a:endParaRPr lang="en-US" sz="1300" dirty="0"/>
          </a:p>
        </p:txBody>
      </p:sp>
      <p:sp>
        <p:nvSpPr>
          <p:cNvPr id="16" name="Text 13"/>
          <p:cNvSpPr txBox="1"/>
          <p:nvPr/>
        </p:nvSpPr>
        <p:spPr>
          <a:xfrm>
            <a:off x="5376672" y="1627632"/>
            <a:ext cx="1362456" cy="914400"/>
          </a:xfrm>
          <a:prstGeom prst="rect">
            <a:avLst/>
          </a:prstGeom>
          <a:noFill/>
          <a:ln/>
        </p:spPr>
        <p:txBody>
          <a:bodyPr wrap="square" lIns="0" tIns="0" rIns="0" bIns="0" rtlCol="0" anchor="t"/>
          <a:lstStyle/>
          <a:p>
            <a:pPr algn="ctr" indent="0" marL="0">
              <a:buNone/>
            </a:pPr>
            <a:r>
              <a:rPr lang="en-US" sz="1000" dirty="0">
                <a:solidFill>
                  <a:srgbClr val="E6ECF7"/>
                </a:solidFill>
                <a:latin typeface="Arial" pitchFamily="34" charset="0"/>
                <a:ea typeface="Arial" pitchFamily="34" charset="-122"/>
                <a:cs typeface="Arial" pitchFamily="34" charset="-120"/>
              </a:rPr>
              <a:t>About three years — revelation from the risen Lord</a:t>
            </a:r>
            <a:endParaRPr lang="en-US" sz="1000" dirty="0"/>
          </a:p>
        </p:txBody>
      </p:sp>
      <p:sp>
        <p:nvSpPr>
          <p:cNvPr id="17" name="Shape 14"/>
          <p:cNvSpPr/>
          <p:nvPr/>
        </p:nvSpPr>
        <p:spPr>
          <a:xfrm>
            <a:off x="6830568" y="1783080"/>
            <a:ext cx="237744" cy="237744"/>
          </a:xfrm>
          <a:prstGeom prst="rightArrow">
            <a:avLst/>
          </a:prstGeom>
          <a:solidFill>
            <a:srgbClr val="6B7280"/>
          </a:solidFill>
          <a:ln w="12700">
            <a:solidFill>
              <a:srgbClr val="6B7280"/>
            </a:solidFill>
            <a:prstDash val="solid"/>
          </a:ln>
        </p:spPr>
      </p:sp>
      <p:sp>
        <p:nvSpPr>
          <p:cNvPr id="18" name="Shape 15"/>
          <p:cNvSpPr/>
          <p:nvPr/>
        </p:nvSpPr>
        <p:spPr>
          <a:xfrm>
            <a:off x="7086600" y="1188720"/>
            <a:ext cx="1508760" cy="1417320"/>
          </a:xfrm>
          <a:prstGeom prst="roundRect">
            <a:avLst>
              <a:gd name="adj" fmla="val 3871"/>
            </a:avLst>
          </a:prstGeom>
          <a:solidFill>
            <a:srgbClr val="1F3864"/>
          </a:solidFill>
          <a:ln w="12700">
            <a:solidFill>
              <a:srgbClr val="1F3864"/>
            </a:solidFill>
            <a:prstDash val="solid"/>
          </a:ln>
        </p:spPr>
      </p:sp>
      <p:sp>
        <p:nvSpPr>
          <p:cNvPr id="19" name="Text 16"/>
          <p:cNvSpPr txBox="1"/>
          <p:nvPr/>
        </p:nvSpPr>
        <p:spPr>
          <a:xfrm>
            <a:off x="7159752" y="1261872"/>
            <a:ext cx="1362456" cy="347472"/>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Damascus</a:t>
            </a:r>
            <a:endParaRPr lang="en-US" sz="1300" dirty="0"/>
          </a:p>
        </p:txBody>
      </p:sp>
      <p:sp>
        <p:nvSpPr>
          <p:cNvPr id="20" name="Text 17"/>
          <p:cNvSpPr txBox="1"/>
          <p:nvPr/>
        </p:nvSpPr>
        <p:spPr>
          <a:xfrm>
            <a:off x="7159752" y="1627632"/>
            <a:ext cx="1362456" cy="914400"/>
          </a:xfrm>
          <a:prstGeom prst="rect">
            <a:avLst/>
          </a:prstGeom>
          <a:noFill/>
          <a:ln/>
        </p:spPr>
        <p:txBody>
          <a:bodyPr wrap="square" lIns="0" tIns="0" rIns="0" bIns="0" rtlCol="0" anchor="t"/>
          <a:lstStyle/>
          <a:p>
            <a:pPr algn="ctr" indent="0" marL="0">
              <a:buNone/>
            </a:pPr>
            <a:r>
              <a:rPr lang="en-US" sz="1000" dirty="0">
                <a:solidFill>
                  <a:srgbClr val="E6ECF7"/>
                </a:solidFill>
                <a:latin typeface="Arial" pitchFamily="34" charset="0"/>
                <a:ea typeface="Arial" pitchFamily="34" charset="-122"/>
                <a:cs typeface="Arial" pitchFamily="34" charset="-120"/>
              </a:rPr>
              <a:t>Ministered — then over the wall in a basket</a:t>
            </a:r>
            <a:endParaRPr lang="en-US" sz="1000" dirty="0"/>
          </a:p>
        </p:txBody>
      </p:sp>
      <p:sp>
        <p:nvSpPr>
          <p:cNvPr id="21" name="Shape 18"/>
          <p:cNvSpPr/>
          <p:nvPr/>
        </p:nvSpPr>
        <p:spPr>
          <a:xfrm>
            <a:off x="3520440" y="2788920"/>
            <a:ext cx="2514600" cy="329184"/>
          </a:xfrm>
          <a:prstGeom prst="rect">
            <a:avLst/>
          </a:prstGeom>
          <a:solidFill>
            <a:srgbClr val="6B7280"/>
          </a:solidFill>
          <a:ln w="12700">
            <a:solidFill>
              <a:srgbClr val="6B7280"/>
            </a:solidFill>
            <a:prstDash val="solid"/>
          </a:ln>
        </p:spPr>
      </p:sp>
      <p:sp>
        <p:nvSpPr>
          <p:cNvPr id="22" name="Text 19"/>
          <p:cNvSpPr txBox="1"/>
          <p:nvPr/>
        </p:nvSpPr>
        <p:spPr>
          <a:xfrm>
            <a:off x="3611880" y="2834640"/>
            <a:ext cx="233172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Twelve</a:t>
            </a:r>
            <a:endParaRPr lang="en-US" sz="1200" dirty="0"/>
          </a:p>
        </p:txBody>
      </p:sp>
      <p:sp>
        <p:nvSpPr>
          <p:cNvPr id="23" name="Shape 20"/>
          <p:cNvSpPr/>
          <p:nvPr/>
        </p:nvSpPr>
        <p:spPr>
          <a:xfrm>
            <a:off x="3520440" y="3118104"/>
            <a:ext cx="2514600" cy="905256"/>
          </a:xfrm>
          <a:prstGeom prst="rect">
            <a:avLst/>
          </a:prstGeom>
          <a:solidFill>
            <a:srgbClr val="F2F6FC"/>
          </a:solidFill>
          <a:ln w="9525">
            <a:solidFill>
              <a:srgbClr val="D5DCEA"/>
            </a:solidFill>
            <a:prstDash val="solid"/>
          </a:ln>
        </p:spPr>
      </p:sp>
      <p:sp>
        <p:nvSpPr>
          <p:cNvPr id="24" name="Text 21"/>
          <p:cNvSpPr txBox="1"/>
          <p:nvPr/>
        </p:nvSpPr>
        <p:spPr>
          <a:xfrm>
            <a:off x="3611880" y="3191256"/>
            <a:ext cx="2331720" cy="77724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About three years with Jesus</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One speaking to twelve</a:t>
            </a:r>
            <a:endParaRPr lang="en-US" sz="1100" dirty="0"/>
          </a:p>
        </p:txBody>
      </p:sp>
      <p:sp>
        <p:nvSpPr>
          <p:cNvPr id="25" name="Shape 22"/>
          <p:cNvSpPr/>
          <p:nvPr/>
        </p:nvSpPr>
        <p:spPr>
          <a:xfrm>
            <a:off x="6172200" y="2788920"/>
            <a:ext cx="2514600" cy="329184"/>
          </a:xfrm>
          <a:prstGeom prst="rect">
            <a:avLst/>
          </a:prstGeom>
          <a:solidFill>
            <a:srgbClr val="375623"/>
          </a:solidFill>
          <a:ln w="12700">
            <a:solidFill>
              <a:srgbClr val="375623"/>
            </a:solidFill>
            <a:prstDash val="solid"/>
          </a:ln>
        </p:spPr>
      </p:sp>
      <p:sp>
        <p:nvSpPr>
          <p:cNvPr id="26" name="Text 23"/>
          <p:cNvSpPr txBox="1"/>
          <p:nvPr/>
        </p:nvSpPr>
        <p:spPr>
          <a:xfrm>
            <a:off x="6263640" y="2834640"/>
            <a:ext cx="233172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a:t>
            </a:r>
            <a:endParaRPr lang="en-US" sz="1200" dirty="0"/>
          </a:p>
        </p:txBody>
      </p:sp>
      <p:sp>
        <p:nvSpPr>
          <p:cNvPr id="27" name="Shape 24"/>
          <p:cNvSpPr/>
          <p:nvPr/>
        </p:nvSpPr>
        <p:spPr>
          <a:xfrm>
            <a:off x="6172200" y="3118104"/>
            <a:ext cx="2514600" cy="905256"/>
          </a:xfrm>
          <a:prstGeom prst="rect">
            <a:avLst/>
          </a:prstGeom>
          <a:solidFill>
            <a:srgbClr val="F2F6FC"/>
          </a:solidFill>
          <a:ln w="9525">
            <a:solidFill>
              <a:srgbClr val="D5DCEA"/>
            </a:solidFill>
            <a:prstDash val="solid"/>
          </a:ln>
        </p:spPr>
      </p:sp>
      <p:sp>
        <p:nvSpPr>
          <p:cNvPr id="28" name="Text 25"/>
          <p:cNvSpPr txBox="1"/>
          <p:nvPr/>
        </p:nvSpPr>
        <p:spPr>
          <a:xfrm>
            <a:off x="6263640" y="3191256"/>
            <a:ext cx="2331720" cy="77724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About three years in Arabia</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One-on-one with the risen Lord</a:t>
            </a:r>
            <a:endParaRPr lang="en-US" sz="1100" dirty="0"/>
          </a:p>
        </p:txBody>
      </p:sp>
      <p:sp>
        <p:nvSpPr>
          <p:cNvPr id="29" name="Shape 26"/>
          <p:cNvSpPr/>
          <p:nvPr/>
        </p:nvSpPr>
        <p:spPr>
          <a:xfrm>
            <a:off x="457200" y="4160520"/>
            <a:ext cx="8229600" cy="438912"/>
          </a:xfrm>
          <a:prstGeom prst="roundRect">
            <a:avLst>
              <a:gd name="adj" fmla="val 12500"/>
            </a:avLst>
          </a:prstGeom>
          <a:solidFill>
            <a:srgbClr val="1F3864"/>
          </a:solidFill>
          <a:ln w="12700">
            <a:solidFill>
              <a:srgbClr val="1F3864"/>
            </a:solidFill>
            <a:prstDash val="solid"/>
          </a:ln>
        </p:spPr>
      </p:sp>
      <p:sp>
        <p:nvSpPr>
          <p:cNvPr id="30" name="Text 27"/>
          <p:cNvSpPr txBox="1"/>
          <p:nvPr/>
        </p:nvSpPr>
        <p:spPr>
          <a:xfrm>
            <a:off x="621792" y="4160520"/>
            <a:ext cx="7900416" cy="438912"/>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Want to hear what God told Paul, in succinct form? Read Romans.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1:11–17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How does Paul's former conduct — persecuting and trying to destroy the church — strengthen his testimony rather than weaken it?</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Why did Paul deliberately avoid Jerusalem and the apostles after his conversion, going instead to Arabia?</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Grace Reaches the Least Likely</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someone you've decided is beyond reach and pray for them specifically, asking God to do for them what He did for Paul.</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Called Before You Could Earn It</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Thank God today for a purpose in your life that began before you could have earned it.</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Paul's gospel came by revelation, not invention — and a changed life proved it.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Galatians Study 3 — Paul's Independent Revelation: Charts</dc:title>
  <dc:subject>PptxGenJS Presentation</dc:subject>
  <dc:creator>The Gospel Vault</dc:creator>
  <cp:lastModifiedBy>The Gospel Vault</cp:lastModifiedBy>
  <cp:revision>1</cp:revision>
  <dcterms:created xsi:type="dcterms:W3CDTF">2026-10-30T05:30:26Z</dcterms:created>
  <dcterms:modified xsi:type="dcterms:W3CDTF">2026-10-30T05:30:26Z</dcterms:modified>
</cp:coreProperties>
</file>