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udy 13 · Galatians 5:13–26" id="{652bb94f-6f97-7ea6-083b-06692236115c}">
          <p14:sldIdLst>
            <p14:sldId id="256"/>
            <p14:sldId id="257"/>
            <p14:sldId id="258"/>
            <p14:sldId id="259"/>
            <p14:sldId id="260"/>
            <p14:sldId id="261"/>
            <p14:sldId id="262"/>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From here to the end of the letter Paul turns from the Judaizers to the believers' daily life. Four movements — the potential (5:13–15), performance (5:16–18), pictures (5:19–23) and participation (5:24–26) of liberty. Every chart in this deck stays within the posted commentary for this study; Greek words come from the study's posted Greek Word Study. Each slide's notes name the commentary section behind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Use this map to show the group where this passage sits in the letter.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(I.A–C): Called to liberty (ἐλευθερίᾳ, the goal of God's call). Free Grace is often accused of teaching that believers may sin all they want — neither we nor Paul teach that, but it must be possible for a believer, or Paul would not warn against it. ἀφορμή was a military staging ground. The cure is a paradox: freed people commanded into a voluntary slavery to one another — through love, not law (the Lord washing the disciples' feet, John 13). v.14 — the whole law stands fulfilled in one word. v.15 is written to believers, not Judaizers or unbelievers.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(II.A–C): How do you keep from fulfilling the lust of the flesh? Walk in the Spirit — hear the word the Spirit gave and rely on the Spirit to live it. The believer still has the flesh, so there is a war (v.17). Being led by the Spirit (v.18) is not about which car or job to choose — it is the same as walking by the Spirit in v.16; and if led by the Spirit, you are not under the law.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(III.A–B): The works are plural and self-produced — hard work. The commentary groups them: sexual sins, spiritual sins (idolatry; sorcery — pharmakeia, drugs used for trances in worship), and social sins — the longest list. “And the like” — it isn't exhaustive. The fruit is singular and grows from the root, the indwelling Spirit, as we walk in dependence on Him. The commentary groups the nine qualities as upward, outward and inward.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(III.A.2): The commentary: inheriting the kingdom refers to ruling with Christ in the kingdom (Matt 19:29; Rev 2:26), not entering it. Paul calls them brethren — believers, who cannot fail to enter; it is promised, they have eternal life. When believers live like unbelievers, they will not rule with Christ in His kingdom. The commentary compares Jacob's three sons who forfeited inheritance, birthright and blessing (Genesis 49).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(IV.A–C): v.24 — not self-crucifixion or self-mutilation; by our identification with Christ's death the flesh has been crucified (aorist — completed), and we lay hold of that by faith. v.25 — “if” here can be read “since” we live in the Spirit; and the verb changes from περιπατέω (v.16, everyday walking) to στοιχέω — marching in rank, keeping step behind a leader. v.26 — three particulars: conceit (empty glory — pride, the devil's sin; Isa 14, Ezek 28), provoking, envying. The commentary suggests these may mark three groups the Judaizing error had produced in Galatia.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(from the posted Study Questions and Application sections): Q1: What would it look like to “wash someone's feet” today — literally or figuratively — in your own relationships? — Leader answer: See Commentary I.B.1 and John 13:3–15.  Q2: Which fruit of the Spirit do you most need to grow in right now, and what's one step toward depending on the Spirit for it? — Leader answer: See Commentary III.B — fruit grows from the root, the indwelling Spirit, as we walk in dependence on Him.  Applications: Serve Through Love, Not License — Do one lowly, unglamorous task for someone this week — unasked, and without mentioning it.  Let the Root Produce the Fruit — Name the fruit you most need, and instead of resolving to try harder, spend time asking the Spirit for it.  Close by reading the summary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rtlCol="0"/>
          <a:lstStyle>
            <a:lvl1pPr algn="l" indent="0" marL="0">
              <a:buNone/>
              <a:defRPr lang="en-US" sz="2400" b="1" dirty="0">
                <a:solidFill>
                  <a:srgbClr val="1F3864"/>
                </a:solidFill>
                <a:latin typeface="Arial" pitchFamily="34" charset="0"/>
                <a:ea typeface="Arial" pitchFamily="34" charset="-122"/>
                <a:cs typeface="Arial" pitchFamily="34" charset="-120"/>
              </a:defRPr>
            </a:lvl1pPr>
          </a:lstStyle>
          <a:p>
            <a:pPr algn="l" indent="0" marL="0">
              <a:buNone/>
            </a:pP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rtlCol="0"/>
          <a:lstStyle>
            <a:lvl1pPr indent="0" marL="0">
              <a:buNone/>
              <a:defRPr lang="en-US" sz="1200" i="1" dirty="0">
                <a:solidFill>
                  <a:srgbClr val="595959"/>
                </a:solidFill>
                <a:latin typeface="Arial" pitchFamily="34" charset="0"/>
                <a:ea typeface="Arial" pitchFamily="34" charset="-122"/>
                <a:cs typeface="Arial" pitchFamily="34" charset="-120"/>
              </a:defRPr>
            </a:lvl1pPr>
          </a:lstStyle>
          <a:p>
            <a:pPr indent="0" marL="0">
              <a:buNone/>
            </a:pPr>
            <a:endParaRPr lang="en-US" sz="1200" dirty="0"/>
          </a:p>
        </p:txBody>
      </p:sp>
      <p:sp>
        <p:nvSpPr>
          <p:cNvPr id="4" name="Text 0"/>
          <p:cNvSpPr/>
          <p:nvPr/>
        </p:nvSpPr>
        <p:spPr>
          <a:xfrm>
            <a:off x="457200" y="4773168"/>
            <a:ext cx="6858000" cy="228600"/>
          </a:xfrm>
          <a:prstGeom prst="rect">
            <a:avLst/>
          </a:prstGeom>
          <a:noFill/>
          <a:ln/>
        </p:spPr>
        <p:txBody>
          <a:bodyPr wrap="square" lIns="0" tIns="0" rIns="0" bIns="0" rtlCol="0" anchor="ctr"/>
          <a:lstStyle/>
          <a:p>
            <a:pPr indent="0" marL="0">
              <a:buNone/>
            </a:pPr>
            <a:r>
              <a:rPr lang="en-US" sz="800" dirty="0">
                <a:solidFill>
                  <a:srgbClr val="6B7280"/>
                </a:solidFill>
                <a:latin typeface="Arial" pitchFamily="34" charset="0"/>
                <a:ea typeface="Arial" pitchFamily="34" charset="-122"/>
                <a:cs typeface="Arial" pitchFamily="34" charset="-120"/>
              </a:rPr>
              <a:t>Galatians · Study 13 of 16 · Galatians 5:13–26 · The Gospel Vault · NKJV</a:t>
            </a:r>
            <a:endParaRPr lang="en-US" sz="8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IDER">
    <p:bg>
      <p:bgPr>
        <a:solidFill>
          <a:srgbClr val="1F3864"/>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40080" y="1097280"/>
            <a:ext cx="7863840" cy="365760"/>
          </a:xfrm>
          <a:prstGeom prst="rect">
            <a:avLst/>
          </a:prstGeom>
          <a:noFill/>
          <a:ln/>
        </p:spPr>
        <p:txBody>
          <a:bodyPr wrap="square" rtlCol="0"/>
          <a:lstStyle>
            <a:lvl1pPr indent="0" marL="0">
              <a:buNone/>
              <a:defRPr lang="en-US" sz="1400" dirty="0">
                <a:solidFill>
                  <a:srgbClr val="C9D5EE"/>
                </a:solidFill>
                <a:latin typeface="Arial" pitchFamily="34" charset="0"/>
                <a:ea typeface="Arial" pitchFamily="34" charset="-122"/>
                <a:cs typeface="Arial" pitchFamily="34" charset="-120"/>
              </a:defRPr>
            </a:lvl1pPr>
          </a:lstStyle>
          <a:p>
            <a:pPr indent="0" marL="0">
              <a:buNone/>
            </a:pPr>
            <a:endParaRPr lang="en-US" sz="1400" dirty="0"/>
          </a:p>
        </p:txBody>
      </p:sp>
      <p:sp>
        <p:nvSpPr>
          <p:cNvPr id="3" name="Text 0"/>
          <p:cNvSpPr/>
          <p:nvPr>
            <p:ph idx="101" type="title" hasCustomPrompt="1"/>
          </p:nvPr>
        </p:nvSpPr>
        <p:spPr>
          <a:xfrm>
            <a:off x="640080" y="1508760"/>
            <a:ext cx="7863840" cy="1005840"/>
          </a:xfrm>
          <a:prstGeom prst="rect">
            <a:avLst/>
          </a:prstGeom>
          <a:noFill/>
          <a:ln/>
        </p:spPr>
        <p:txBody>
          <a:bodyPr wrap="square" rtlCol="0"/>
          <a:lstStyle>
            <a:lvl1pPr algn="l" indent="0" marL="0">
              <a:buNone/>
              <a:defRPr lang="en-US" sz="3400" b="1" dirty="0">
                <a:solidFill>
                  <a:srgbClr val="FFFFFF"/>
                </a:solidFill>
                <a:latin typeface="Arial" pitchFamily="34" charset="0"/>
                <a:ea typeface="Arial" pitchFamily="34" charset="-122"/>
                <a:cs typeface="Arial" pitchFamily="34" charset="-120"/>
              </a:defRPr>
            </a:lvl1pPr>
          </a:lstStyle>
          <a:p>
            <a:pPr algn="l" indent="0" marL="0">
              <a:buNone/>
            </a:pPr>
            <a:endParaRPr lang="en-US" sz="3400" dirty="0"/>
          </a:p>
        </p:txBody>
      </p:sp>
      <p:sp>
        <p:nvSpPr>
          <p:cNvPr id="4" name="Text 0"/>
          <p:cNvSpPr/>
          <p:nvPr>
            <p:ph idx="102" type="body" hasCustomPrompt="1"/>
          </p:nvPr>
        </p:nvSpPr>
        <p:spPr>
          <a:xfrm>
            <a:off x="640080" y="2743200"/>
            <a:ext cx="7589520" cy="1463040"/>
          </a:xfrm>
          <a:prstGeom prst="rect">
            <a:avLst/>
          </a:prstGeom>
          <a:noFill/>
          <a:ln/>
        </p:spPr>
        <p:txBody>
          <a:bodyPr wrap="square" rtlCol="0"/>
          <a:lstStyle>
            <a:lvl1pPr indent="0" marL="0">
              <a:buNone/>
              <a:defRPr lang="en-US" sz="1500" i="1" dirty="0">
                <a:solidFill>
                  <a:srgbClr val="E6ECF7"/>
                </a:solidFill>
                <a:latin typeface="Arial" pitchFamily="34" charset="0"/>
                <a:ea typeface="Arial" pitchFamily="34" charset="-122"/>
                <a:cs typeface="Arial" pitchFamily="34" charset="-120"/>
              </a:defRPr>
            </a:lvl1pPr>
          </a:lstStyle>
          <a:p>
            <a:pPr indent="0" marL="0">
              <a:buNone/>
            </a:pPr>
            <a:endParaRPr lang="en-US" sz="1500" dirty="0"/>
          </a:p>
        </p:txBody>
      </p:sp>
      <p:sp>
        <p:nvSpPr>
          <p:cNvPr id="5" name="Text 0"/>
          <p:cNvSpPr/>
          <p:nvPr/>
        </p:nvSpPr>
        <p:spPr>
          <a:xfrm>
            <a:off x="640080" y="4754880"/>
            <a:ext cx="7315200" cy="228600"/>
          </a:xfrm>
          <a:prstGeom prst="rect">
            <a:avLst/>
          </a:prstGeom>
          <a:noFill/>
          <a:ln/>
        </p:spPr>
        <p:txBody>
          <a:bodyPr wrap="square" lIns="0" tIns="0" rIns="0" bIns="0" rtlCol="0" anchor="ctr"/>
          <a:lstStyle/>
          <a:p>
            <a:pPr indent="0" marL="0">
              <a:buNone/>
            </a:pPr>
            <a:r>
              <a:rPr lang="en-US" sz="800" dirty="0">
                <a:solidFill>
                  <a:srgbClr val="AEBBD6"/>
                </a:solidFill>
                <a:latin typeface="Arial" pitchFamily="34" charset="0"/>
                <a:ea typeface="Arial" pitchFamily="34" charset="-122"/>
                <a:cs typeface="Arial" pitchFamily="34" charset="-120"/>
              </a:rPr>
              <a:t>Galatians · Study 13 of 16 · Galatians 5:13–26 · The Gospel Vault · NKJV</a:t>
            </a:r>
            <a:endParaRPr lang="en-US" sz="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640080" y="1097280"/>
            <a:ext cx="7863840" cy="365760"/>
          </a:xfrm>
          <a:prstGeom prst="rect">
            <a:avLst/>
          </a:prstGeom>
          <a:noFill/>
          <a:ln/>
        </p:spPr>
        <p:txBody>
          <a:bodyPr wrap="square" lIns="0" tIns="0" rIns="0" bIns="0" rtlCol="0"/>
          <a:lstStyle/>
          <a:p>
            <a:pPr indent="0" marL="0">
              <a:buNone/>
            </a:pPr>
            <a:r>
              <a:rPr lang="en-US" sz="1400" dirty="0">
                <a:solidFill>
                  <a:srgbClr val="C9D5EE"/>
                </a:solidFill>
                <a:latin typeface="Arial" pitchFamily="34" charset="0"/>
                <a:ea typeface="Arial" pitchFamily="34" charset="-122"/>
                <a:cs typeface="Arial" pitchFamily="34" charset="-120"/>
              </a:rPr>
              <a:t>Galatians · Study 13 of 16 · Galatians 5:13–26 · Leader charts</a:t>
            </a:r>
            <a:endParaRPr lang="en-US" sz="1400" dirty="0"/>
          </a:p>
        </p:txBody>
      </p:sp>
      <p:sp>
        <p:nvSpPr>
          <p:cNvPr id="3" name="Text 0"/>
          <p:cNvSpPr/>
          <p:nvPr>
            <p:ph idx="101" type="title" hasCustomPrompt="1"/>
          </p:nvPr>
        </p:nvSpPr>
        <p:spPr>
          <a:xfrm>
            <a:off x="640080" y="1508760"/>
            <a:ext cx="7863840" cy="1005840"/>
          </a:xfrm>
          <a:prstGeom prst="rect">
            <a:avLst/>
          </a:prstGeom>
          <a:noFill/>
          <a:ln/>
        </p:spPr>
        <p:txBody>
          <a:bodyPr wrap="square" lIns="0" tIns="0" rIns="0" bIns="0" rtlCol="0" anchor="t"/>
          <a:lstStyle/>
          <a:p>
            <a:pPr algn="l" indent="0" marL="0">
              <a:buNone/>
            </a:pPr>
            <a:r>
              <a:rPr lang="en-US" sz="3400" b="1" dirty="0">
                <a:solidFill>
                  <a:srgbClr val="FFFFFF"/>
                </a:solidFill>
                <a:latin typeface="Arial" pitchFamily="34" charset="0"/>
                <a:ea typeface="Arial" pitchFamily="34" charset="-122"/>
                <a:cs typeface="Arial" pitchFamily="34" charset="-120"/>
              </a:rPr>
              <a:t>Walk in the Spirit</a:t>
            </a:r>
            <a:endParaRPr lang="en-US" sz="3400" dirty="0"/>
          </a:p>
        </p:txBody>
      </p:sp>
      <p:sp>
        <p:nvSpPr>
          <p:cNvPr id="4" name="Text 0"/>
          <p:cNvSpPr/>
          <p:nvPr>
            <p:ph idx="102" type="body" hasCustomPrompt="1"/>
          </p:nvPr>
        </p:nvSpPr>
        <p:spPr>
          <a:xfrm>
            <a:off x="640080" y="2743200"/>
            <a:ext cx="7589520" cy="1463040"/>
          </a:xfrm>
          <a:prstGeom prst="rect">
            <a:avLst/>
          </a:prstGeom>
          <a:noFill/>
          <a:ln/>
        </p:spPr>
        <p:txBody>
          <a:bodyPr wrap="square" lIns="0" tIns="0" rIns="0" bIns="0" rtlCol="0" anchor="t"/>
          <a:lstStyle/>
          <a:p>
            <a:pPr indent="0" marL="0">
              <a:buNone/>
            </a:pPr>
            <a:r>
              <a:rPr lang="en-US" sz="1500" i="1" dirty="0">
                <a:solidFill>
                  <a:srgbClr val="E6ECF7"/>
                </a:solidFill>
                <a:latin typeface="Arial" pitchFamily="34" charset="0"/>
                <a:ea typeface="Arial" pitchFamily="34" charset="-122"/>
                <a:cs typeface="Arial" pitchFamily="34" charset="-120"/>
              </a:rPr>
              <a:t>Christian liberty is not freedom to indulge the flesh but freedom to walk continually in step with the Holy Spirit — who alone produces, as fruit rather than forced works, what the law could only demand.</a:t>
            </a:r>
            <a:endParaRPr lang="en-US" sz="1500" dirty="0"/>
          </a:p>
        </p:txBody>
      </p:sp>
      <p:sp>
        <p:nvSpPr>
          <p:cNvPr id="6" name="Text 3"/>
          <p:cNvSpPr txBox="1"/>
          <p:nvPr/>
        </p:nvSpPr>
        <p:spPr>
          <a:xfrm>
            <a:off x="640080" y="4343400"/>
            <a:ext cx="7863840" cy="274320"/>
          </a:xfrm>
          <a:prstGeom prst="rect">
            <a:avLst/>
          </a:prstGeom>
          <a:noFill/>
          <a:ln/>
        </p:spPr>
        <p:txBody>
          <a:bodyPr wrap="square" lIns="0" tIns="0" rIns="0" bIns="0" rtlCol="0" anchor="t"/>
          <a:lstStyle/>
          <a:p>
            <a:pPr indent="0" marL="0">
              <a:buNone/>
            </a:pPr>
            <a:r>
              <a:rPr lang="en-US" sz="1000" dirty="0">
                <a:solidFill>
                  <a:srgbClr val="AEBBD6"/>
                </a:solidFill>
                <a:latin typeface="Arial" pitchFamily="34" charset="0"/>
                <a:ea typeface="Arial" pitchFamily="34" charset="-122"/>
                <a:cs typeface="Arial" pitchFamily="34" charset="-120"/>
              </a:rPr>
              <a:t>Source: Dr. C. Norman Sellers, ThD · SellersBibleInstitute.com · used by permission</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Where this study fits</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Galatians · sixteen studies · this study highlighted</a:t>
            </a:r>
            <a:endParaRPr lang="en-US" sz="1200" dirty="0"/>
          </a:p>
        </p:txBody>
      </p:sp>
      <p:sp>
        <p:nvSpPr>
          <p:cNvPr id="5" name="Shape 2"/>
          <p:cNvSpPr/>
          <p:nvPr/>
        </p:nvSpPr>
        <p:spPr>
          <a:xfrm>
            <a:off x="457200" y="1115568"/>
            <a:ext cx="1954530" cy="786384"/>
          </a:xfrm>
          <a:prstGeom prst="rect">
            <a:avLst/>
          </a:prstGeom>
          <a:solidFill>
            <a:srgbClr val="F2F6FC"/>
          </a:solidFill>
          <a:ln w="9525">
            <a:solidFill>
              <a:srgbClr val="D5DCEA"/>
            </a:solidFill>
            <a:prstDash val="solid"/>
          </a:ln>
        </p:spPr>
      </p:sp>
      <p:sp>
        <p:nvSpPr>
          <p:cNvPr id="6" name="Text 3"/>
          <p:cNvSpPr txBox="1"/>
          <p:nvPr/>
        </p:nvSpPr>
        <p:spPr>
          <a:xfrm>
            <a:off x="548640" y="1170432"/>
            <a:ext cx="1771650" cy="676656"/>
          </a:xfrm>
          <a:prstGeom prst="rect">
            <a:avLst/>
          </a:prstGeom>
          <a:noFill/>
          <a:ln/>
        </p:spPr>
        <p:txBody>
          <a:bodyPr wrap="square" lIns="0" tIns="0" rIns="0" bIns="0" rtlCol="0" anchor="ctr"/>
          <a:lstStyle/>
          <a:p>
            <a:pPr indent="0" marL="0">
              <a:buNone/>
            </a:pPr>
            <a:r>
              <a:rPr lang="en-US" sz="1200" b="1" dirty="0">
                <a:solidFill>
                  <a:srgbClr val="2E5496"/>
                </a:solidFill>
                <a:latin typeface="Arial" pitchFamily="34" charset="0"/>
                <a:ea typeface="Arial" pitchFamily="34" charset="-122"/>
                <a:cs typeface="Arial" pitchFamily="34" charset="-120"/>
              </a:rPr>
              <a:t>01  </a:t>
            </a:r>
            <a:pPr indent="0" marL="0">
              <a:buNone/>
            </a:pPr>
            <a:r>
              <a:rPr lang="en-US" sz="1000" b="1" dirty="0">
                <a:solidFill>
                  <a:srgbClr val="595959"/>
                </a:solidFill>
                <a:latin typeface="Arial" pitchFamily="34" charset="0"/>
                <a:ea typeface="Arial" pitchFamily="34" charset="-122"/>
                <a:cs typeface="Arial" pitchFamily="34" charset="-120"/>
              </a:rPr>
              <a:t>1:1–5</a:t>
            </a:r>
            <a:endParaRPr lang="en-US" sz="1200" dirty="0"/>
          </a:p>
          <a:p>
            <a:pPr indent="0" marL="0">
              <a:buNone/>
            </a:pPr>
            <a:r>
              <a:rPr lang="en-US" sz="1050" b="1" dirty="0">
                <a:solidFill>
                  <a:srgbClr val="1F3864"/>
                </a:solidFill>
                <a:latin typeface="Arial" pitchFamily="34" charset="0"/>
                <a:ea typeface="Arial" pitchFamily="34" charset="-122"/>
                <a:cs typeface="Arial" pitchFamily="34" charset="-120"/>
              </a:rPr>
              <a:t>The Ground of Liberty</a:t>
            </a:r>
            <a:endParaRPr lang="en-US" sz="1200" dirty="0"/>
          </a:p>
        </p:txBody>
      </p:sp>
      <p:sp>
        <p:nvSpPr>
          <p:cNvPr id="7" name="Shape 4"/>
          <p:cNvSpPr/>
          <p:nvPr/>
        </p:nvSpPr>
        <p:spPr>
          <a:xfrm>
            <a:off x="2548890" y="1115568"/>
            <a:ext cx="1954530" cy="786384"/>
          </a:xfrm>
          <a:prstGeom prst="rect">
            <a:avLst/>
          </a:prstGeom>
          <a:solidFill>
            <a:srgbClr val="F2F6FC"/>
          </a:solidFill>
          <a:ln w="9525">
            <a:solidFill>
              <a:srgbClr val="D5DCEA"/>
            </a:solidFill>
            <a:prstDash val="solid"/>
          </a:ln>
        </p:spPr>
      </p:sp>
      <p:sp>
        <p:nvSpPr>
          <p:cNvPr id="8" name="Text 5"/>
          <p:cNvSpPr txBox="1"/>
          <p:nvPr/>
        </p:nvSpPr>
        <p:spPr>
          <a:xfrm>
            <a:off x="2640330" y="1170432"/>
            <a:ext cx="1771650" cy="676656"/>
          </a:xfrm>
          <a:prstGeom prst="rect">
            <a:avLst/>
          </a:prstGeom>
          <a:noFill/>
          <a:ln/>
        </p:spPr>
        <p:txBody>
          <a:bodyPr wrap="square" lIns="0" tIns="0" rIns="0" bIns="0" rtlCol="0" anchor="ctr"/>
          <a:lstStyle/>
          <a:p>
            <a:pPr indent="0" marL="0">
              <a:buNone/>
            </a:pPr>
            <a:r>
              <a:rPr lang="en-US" sz="1200" b="1" dirty="0">
                <a:solidFill>
                  <a:srgbClr val="2E5496"/>
                </a:solidFill>
                <a:latin typeface="Arial" pitchFamily="34" charset="0"/>
                <a:ea typeface="Arial" pitchFamily="34" charset="-122"/>
                <a:cs typeface="Arial" pitchFamily="34" charset="-120"/>
              </a:rPr>
              <a:t>02  </a:t>
            </a:r>
            <a:pPr indent="0" marL="0">
              <a:buNone/>
            </a:pPr>
            <a:r>
              <a:rPr lang="en-US" sz="1000" b="1" dirty="0">
                <a:solidFill>
                  <a:srgbClr val="595959"/>
                </a:solidFill>
                <a:latin typeface="Arial" pitchFamily="34" charset="0"/>
                <a:ea typeface="Arial" pitchFamily="34" charset="-122"/>
                <a:cs typeface="Arial" pitchFamily="34" charset="-120"/>
              </a:rPr>
              <a:t>1:6–10</a:t>
            </a:r>
            <a:endParaRPr lang="en-US" sz="1200" dirty="0"/>
          </a:p>
          <a:p>
            <a:pPr indent="0" marL="0">
              <a:buNone/>
            </a:pPr>
            <a:r>
              <a:rPr lang="en-US" sz="1050" b="1" dirty="0">
                <a:solidFill>
                  <a:srgbClr val="1F3864"/>
                </a:solidFill>
                <a:latin typeface="Arial" pitchFamily="34" charset="0"/>
                <a:ea typeface="Arial" pitchFamily="34" charset="-122"/>
                <a:cs typeface="Arial" pitchFamily="34" charset="-120"/>
              </a:rPr>
              <a:t>The One True Gospel</a:t>
            </a:r>
            <a:endParaRPr lang="en-US" sz="1200" dirty="0"/>
          </a:p>
        </p:txBody>
      </p:sp>
      <p:sp>
        <p:nvSpPr>
          <p:cNvPr id="9" name="Shape 6"/>
          <p:cNvSpPr/>
          <p:nvPr/>
        </p:nvSpPr>
        <p:spPr>
          <a:xfrm>
            <a:off x="4640580" y="1115568"/>
            <a:ext cx="1954530" cy="786384"/>
          </a:xfrm>
          <a:prstGeom prst="rect">
            <a:avLst/>
          </a:prstGeom>
          <a:solidFill>
            <a:srgbClr val="F2F6FC"/>
          </a:solidFill>
          <a:ln w="9525">
            <a:solidFill>
              <a:srgbClr val="D5DCEA"/>
            </a:solidFill>
            <a:prstDash val="solid"/>
          </a:ln>
        </p:spPr>
      </p:sp>
      <p:sp>
        <p:nvSpPr>
          <p:cNvPr id="10" name="Text 7"/>
          <p:cNvSpPr txBox="1"/>
          <p:nvPr/>
        </p:nvSpPr>
        <p:spPr>
          <a:xfrm>
            <a:off x="4732020" y="1170432"/>
            <a:ext cx="1771650" cy="676656"/>
          </a:xfrm>
          <a:prstGeom prst="rect">
            <a:avLst/>
          </a:prstGeom>
          <a:noFill/>
          <a:ln/>
        </p:spPr>
        <p:txBody>
          <a:bodyPr wrap="square" lIns="0" tIns="0" rIns="0" bIns="0" rtlCol="0" anchor="ctr"/>
          <a:lstStyle/>
          <a:p>
            <a:pPr indent="0" marL="0">
              <a:buNone/>
            </a:pPr>
            <a:r>
              <a:rPr lang="en-US" sz="1200" b="1" dirty="0">
                <a:solidFill>
                  <a:srgbClr val="2E5496"/>
                </a:solidFill>
                <a:latin typeface="Arial" pitchFamily="34" charset="0"/>
                <a:ea typeface="Arial" pitchFamily="34" charset="-122"/>
                <a:cs typeface="Arial" pitchFamily="34" charset="-120"/>
              </a:rPr>
              <a:t>03  </a:t>
            </a:r>
            <a:pPr indent="0" marL="0">
              <a:buNone/>
            </a:pPr>
            <a:r>
              <a:rPr lang="en-US" sz="1000" b="1" dirty="0">
                <a:solidFill>
                  <a:srgbClr val="595959"/>
                </a:solidFill>
                <a:latin typeface="Arial" pitchFamily="34" charset="0"/>
                <a:ea typeface="Arial" pitchFamily="34" charset="-122"/>
                <a:cs typeface="Arial" pitchFamily="34" charset="-120"/>
              </a:rPr>
              <a:t>1:11–17</a:t>
            </a:r>
            <a:endParaRPr lang="en-US" sz="1200" dirty="0"/>
          </a:p>
          <a:p>
            <a:pPr indent="0" marL="0">
              <a:buNone/>
            </a:pPr>
            <a:r>
              <a:rPr lang="en-US" sz="1050" b="1" dirty="0">
                <a:solidFill>
                  <a:srgbClr val="1F3864"/>
                </a:solidFill>
                <a:latin typeface="Arial" pitchFamily="34" charset="0"/>
                <a:ea typeface="Arial" pitchFamily="34" charset="-122"/>
                <a:cs typeface="Arial" pitchFamily="34" charset="-120"/>
              </a:rPr>
              <a:t>Paul's Independent Revelation</a:t>
            </a:r>
            <a:endParaRPr lang="en-US" sz="1200" dirty="0"/>
          </a:p>
        </p:txBody>
      </p:sp>
      <p:sp>
        <p:nvSpPr>
          <p:cNvPr id="11" name="Shape 8"/>
          <p:cNvSpPr/>
          <p:nvPr/>
        </p:nvSpPr>
        <p:spPr>
          <a:xfrm>
            <a:off x="6732270" y="1115568"/>
            <a:ext cx="1954530" cy="786384"/>
          </a:xfrm>
          <a:prstGeom prst="rect">
            <a:avLst/>
          </a:prstGeom>
          <a:solidFill>
            <a:srgbClr val="F2F6FC"/>
          </a:solidFill>
          <a:ln w="9525">
            <a:solidFill>
              <a:srgbClr val="D5DCEA"/>
            </a:solidFill>
            <a:prstDash val="solid"/>
          </a:ln>
        </p:spPr>
      </p:sp>
      <p:sp>
        <p:nvSpPr>
          <p:cNvPr id="12" name="Text 9"/>
          <p:cNvSpPr txBox="1"/>
          <p:nvPr/>
        </p:nvSpPr>
        <p:spPr>
          <a:xfrm>
            <a:off x="6823710" y="1170432"/>
            <a:ext cx="1771650" cy="676656"/>
          </a:xfrm>
          <a:prstGeom prst="rect">
            <a:avLst/>
          </a:prstGeom>
          <a:noFill/>
          <a:ln/>
        </p:spPr>
        <p:txBody>
          <a:bodyPr wrap="square" lIns="0" tIns="0" rIns="0" bIns="0" rtlCol="0" anchor="ctr"/>
          <a:lstStyle/>
          <a:p>
            <a:pPr indent="0" marL="0">
              <a:buNone/>
            </a:pPr>
            <a:r>
              <a:rPr lang="en-US" sz="1200" b="1" dirty="0">
                <a:solidFill>
                  <a:srgbClr val="2E5496"/>
                </a:solidFill>
                <a:latin typeface="Arial" pitchFamily="34" charset="0"/>
                <a:ea typeface="Arial" pitchFamily="34" charset="-122"/>
                <a:cs typeface="Arial" pitchFamily="34" charset="-120"/>
              </a:rPr>
              <a:t>04  </a:t>
            </a:r>
            <a:pPr indent="0" marL="0">
              <a:buNone/>
            </a:pPr>
            <a:r>
              <a:rPr lang="en-US" sz="1000" b="1" dirty="0">
                <a:solidFill>
                  <a:srgbClr val="595959"/>
                </a:solidFill>
                <a:latin typeface="Arial" pitchFamily="34" charset="0"/>
                <a:ea typeface="Arial" pitchFamily="34" charset="-122"/>
                <a:cs typeface="Arial" pitchFamily="34" charset="-120"/>
              </a:rPr>
              <a:t>1:18–2:10</a:t>
            </a:r>
            <a:endParaRPr lang="en-US" sz="1200" dirty="0"/>
          </a:p>
          <a:p>
            <a:pPr indent="0" marL="0">
              <a:buNone/>
            </a:pPr>
            <a:r>
              <a:rPr lang="en-US" sz="1050" b="1" dirty="0">
                <a:solidFill>
                  <a:srgbClr val="1F3864"/>
                </a:solidFill>
                <a:latin typeface="Arial" pitchFamily="34" charset="0"/>
                <a:ea typeface="Arial" pitchFamily="34" charset="-122"/>
                <a:cs typeface="Arial" pitchFamily="34" charset="-120"/>
              </a:rPr>
              <a:t>Paul's Gospel Is Independent of the Judean Churches</a:t>
            </a:r>
            <a:endParaRPr lang="en-US" sz="1200" dirty="0"/>
          </a:p>
        </p:txBody>
      </p:sp>
      <p:sp>
        <p:nvSpPr>
          <p:cNvPr id="13" name="Shape 10"/>
          <p:cNvSpPr/>
          <p:nvPr/>
        </p:nvSpPr>
        <p:spPr>
          <a:xfrm>
            <a:off x="457200" y="2020824"/>
            <a:ext cx="1954530" cy="786384"/>
          </a:xfrm>
          <a:prstGeom prst="rect">
            <a:avLst/>
          </a:prstGeom>
          <a:solidFill>
            <a:srgbClr val="F2F6FC"/>
          </a:solidFill>
          <a:ln w="9525">
            <a:solidFill>
              <a:srgbClr val="D5DCEA"/>
            </a:solidFill>
            <a:prstDash val="solid"/>
          </a:ln>
        </p:spPr>
      </p:sp>
      <p:sp>
        <p:nvSpPr>
          <p:cNvPr id="14" name="Text 11"/>
          <p:cNvSpPr txBox="1"/>
          <p:nvPr/>
        </p:nvSpPr>
        <p:spPr>
          <a:xfrm>
            <a:off x="548640" y="2075688"/>
            <a:ext cx="1771650" cy="676656"/>
          </a:xfrm>
          <a:prstGeom prst="rect">
            <a:avLst/>
          </a:prstGeom>
          <a:noFill/>
          <a:ln/>
        </p:spPr>
        <p:txBody>
          <a:bodyPr wrap="square" lIns="0" tIns="0" rIns="0" bIns="0" rtlCol="0" anchor="ctr"/>
          <a:lstStyle/>
          <a:p>
            <a:pPr indent="0" marL="0">
              <a:buNone/>
            </a:pPr>
            <a:r>
              <a:rPr lang="en-US" sz="1200" b="1" dirty="0">
                <a:solidFill>
                  <a:srgbClr val="2E5496"/>
                </a:solidFill>
                <a:latin typeface="Arial" pitchFamily="34" charset="0"/>
                <a:ea typeface="Arial" pitchFamily="34" charset="-122"/>
                <a:cs typeface="Arial" pitchFamily="34" charset="-120"/>
              </a:rPr>
              <a:t>05  </a:t>
            </a:r>
            <a:pPr indent="0" marL="0">
              <a:buNone/>
            </a:pPr>
            <a:r>
              <a:rPr lang="en-US" sz="1000" b="1" dirty="0">
                <a:solidFill>
                  <a:srgbClr val="595959"/>
                </a:solidFill>
                <a:latin typeface="Arial" pitchFamily="34" charset="0"/>
                <a:ea typeface="Arial" pitchFamily="34" charset="-122"/>
                <a:cs typeface="Arial" pitchFamily="34" charset="-120"/>
              </a:rPr>
              <a:t>2:11–21</a:t>
            </a:r>
            <a:endParaRPr lang="en-US" sz="1200" dirty="0"/>
          </a:p>
          <a:p>
            <a:pPr indent="0" marL="0">
              <a:buNone/>
            </a:pPr>
            <a:r>
              <a:rPr lang="en-US" sz="1050" b="1" dirty="0">
                <a:solidFill>
                  <a:srgbClr val="1F3864"/>
                </a:solidFill>
                <a:latin typeface="Arial" pitchFamily="34" charset="0"/>
                <a:ea typeface="Arial" pitchFamily="34" charset="-122"/>
                <a:cs typeface="Arial" pitchFamily="34" charset="-120"/>
              </a:rPr>
              <a:t>Peter Goes Back to School</a:t>
            </a:r>
            <a:endParaRPr lang="en-US" sz="1200" dirty="0"/>
          </a:p>
        </p:txBody>
      </p:sp>
      <p:sp>
        <p:nvSpPr>
          <p:cNvPr id="15" name="Shape 12"/>
          <p:cNvSpPr/>
          <p:nvPr/>
        </p:nvSpPr>
        <p:spPr>
          <a:xfrm>
            <a:off x="2548890" y="2020824"/>
            <a:ext cx="1954530" cy="786384"/>
          </a:xfrm>
          <a:prstGeom prst="rect">
            <a:avLst/>
          </a:prstGeom>
          <a:solidFill>
            <a:srgbClr val="F2F6FC"/>
          </a:solidFill>
          <a:ln w="9525">
            <a:solidFill>
              <a:srgbClr val="D5DCEA"/>
            </a:solidFill>
            <a:prstDash val="solid"/>
          </a:ln>
        </p:spPr>
      </p:sp>
      <p:sp>
        <p:nvSpPr>
          <p:cNvPr id="16" name="Text 13"/>
          <p:cNvSpPr txBox="1"/>
          <p:nvPr/>
        </p:nvSpPr>
        <p:spPr>
          <a:xfrm>
            <a:off x="2640330" y="2075688"/>
            <a:ext cx="1771650" cy="676656"/>
          </a:xfrm>
          <a:prstGeom prst="rect">
            <a:avLst/>
          </a:prstGeom>
          <a:noFill/>
          <a:ln/>
        </p:spPr>
        <p:txBody>
          <a:bodyPr wrap="square" lIns="0" tIns="0" rIns="0" bIns="0" rtlCol="0" anchor="ctr"/>
          <a:lstStyle/>
          <a:p>
            <a:pPr indent="0" marL="0">
              <a:buNone/>
            </a:pPr>
            <a:r>
              <a:rPr lang="en-US" sz="1200" b="1" dirty="0">
                <a:solidFill>
                  <a:srgbClr val="2E5496"/>
                </a:solidFill>
                <a:latin typeface="Arial" pitchFamily="34" charset="0"/>
                <a:ea typeface="Arial" pitchFamily="34" charset="-122"/>
                <a:cs typeface="Arial" pitchFamily="34" charset="-120"/>
              </a:rPr>
              <a:t>06  </a:t>
            </a:r>
            <a:pPr indent="0" marL="0">
              <a:buNone/>
            </a:pPr>
            <a:r>
              <a:rPr lang="en-US" sz="1000" b="1" dirty="0">
                <a:solidFill>
                  <a:srgbClr val="595959"/>
                </a:solidFill>
                <a:latin typeface="Arial" pitchFamily="34" charset="0"/>
                <a:ea typeface="Arial" pitchFamily="34" charset="-122"/>
                <a:cs typeface="Arial" pitchFamily="34" charset="-120"/>
              </a:rPr>
              <a:t>3:1–5</a:t>
            </a:r>
            <a:endParaRPr lang="en-US" sz="1200" dirty="0"/>
          </a:p>
          <a:p>
            <a:pPr indent="0" marL="0">
              <a:buNone/>
            </a:pPr>
            <a:r>
              <a:rPr lang="en-US" sz="1050" b="1" dirty="0">
                <a:solidFill>
                  <a:srgbClr val="1F3864"/>
                </a:solidFill>
                <a:latin typeface="Arial" pitchFamily="34" charset="0"/>
                <a:ea typeface="Arial" pitchFamily="34" charset="-122"/>
                <a:cs typeface="Arial" pitchFamily="34" charset="-120"/>
              </a:rPr>
              <a:t>Under a Spell</a:t>
            </a:r>
            <a:endParaRPr lang="en-US" sz="1200" dirty="0"/>
          </a:p>
        </p:txBody>
      </p:sp>
      <p:sp>
        <p:nvSpPr>
          <p:cNvPr id="17" name="Shape 14"/>
          <p:cNvSpPr/>
          <p:nvPr/>
        </p:nvSpPr>
        <p:spPr>
          <a:xfrm>
            <a:off x="4640580" y="2020824"/>
            <a:ext cx="1954530" cy="786384"/>
          </a:xfrm>
          <a:prstGeom prst="rect">
            <a:avLst/>
          </a:prstGeom>
          <a:solidFill>
            <a:srgbClr val="F2F6FC"/>
          </a:solidFill>
          <a:ln w="9525">
            <a:solidFill>
              <a:srgbClr val="D5DCEA"/>
            </a:solidFill>
            <a:prstDash val="solid"/>
          </a:ln>
        </p:spPr>
      </p:sp>
      <p:sp>
        <p:nvSpPr>
          <p:cNvPr id="18" name="Text 15"/>
          <p:cNvSpPr txBox="1"/>
          <p:nvPr/>
        </p:nvSpPr>
        <p:spPr>
          <a:xfrm>
            <a:off x="4732020" y="2075688"/>
            <a:ext cx="1771650" cy="676656"/>
          </a:xfrm>
          <a:prstGeom prst="rect">
            <a:avLst/>
          </a:prstGeom>
          <a:noFill/>
          <a:ln/>
        </p:spPr>
        <p:txBody>
          <a:bodyPr wrap="square" lIns="0" tIns="0" rIns="0" bIns="0" rtlCol="0" anchor="ctr"/>
          <a:lstStyle/>
          <a:p>
            <a:pPr indent="0" marL="0">
              <a:buNone/>
            </a:pPr>
            <a:r>
              <a:rPr lang="en-US" sz="1200" b="1" dirty="0">
                <a:solidFill>
                  <a:srgbClr val="2E5496"/>
                </a:solidFill>
                <a:latin typeface="Arial" pitchFamily="34" charset="0"/>
                <a:ea typeface="Arial" pitchFamily="34" charset="-122"/>
                <a:cs typeface="Arial" pitchFamily="34" charset="-120"/>
              </a:rPr>
              <a:t>07  </a:t>
            </a:r>
            <a:pPr indent="0" marL="0">
              <a:buNone/>
            </a:pPr>
            <a:r>
              <a:rPr lang="en-US" sz="1000" b="1" dirty="0">
                <a:solidFill>
                  <a:srgbClr val="595959"/>
                </a:solidFill>
                <a:latin typeface="Arial" pitchFamily="34" charset="0"/>
                <a:ea typeface="Arial" pitchFamily="34" charset="-122"/>
                <a:cs typeface="Arial" pitchFamily="34" charset="-120"/>
              </a:rPr>
              <a:t>3:6–14</a:t>
            </a:r>
            <a:endParaRPr lang="en-US" sz="1200" dirty="0"/>
          </a:p>
          <a:p>
            <a:pPr indent="0" marL="0">
              <a:buNone/>
            </a:pPr>
            <a:r>
              <a:rPr lang="en-US" sz="1050" b="1" dirty="0">
                <a:solidFill>
                  <a:srgbClr val="1F3864"/>
                </a:solidFill>
                <a:latin typeface="Arial" pitchFamily="34" charset="0"/>
                <a:ea typeface="Arial" pitchFamily="34" charset="-122"/>
                <a:cs typeface="Arial" pitchFamily="34" charset="-120"/>
              </a:rPr>
              <a:t>Blessing or a Curse</a:t>
            </a:r>
            <a:endParaRPr lang="en-US" sz="1200" dirty="0"/>
          </a:p>
        </p:txBody>
      </p:sp>
      <p:sp>
        <p:nvSpPr>
          <p:cNvPr id="19" name="Shape 16"/>
          <p:cNvSpPr/>
          <p:nvPr/>
        </p:nvSpPr>
        <p:spPr>
          <a:xfrm>
            <a:off x="6732270" y="2020824"/>
            <a:ext cx="1954530" cy="786384"/>
          </a:xfrm>
          <a:prstGeom prst="rect">
            <a:avLst/>
          </a:prstGeom>
          <a:solidFill>
            <a:srgbClr val="F2F6FC"/>
          </a:solidFill>
          <a:ln w="9525">
            <a:solidFill>
              <a:srgbClr val="D5DCEA"/>
            </a:solidFill>
            <a:prstDash val="solid"/>
          </a:ln>
        </p:spPr>
      </p:sp>
      <p:sp>
        <p:nvSpPr>
          <p:cNvPr id="20" name="Text 17"/>
          <p:cNvSpPr txBox="1"/>
          <p:nvPr/>
        </p:nvSpPr>
        <p:spPr>
          <a:xfrm>
            <a:off x="6823710" y="2075688"/>
            <a:ext cx="1771650" cy="676656"/>
          </a:xfrm>
          <a:prstGeom prst="rect">
            <a:avLst/>
          </a:prstGeom>
          <a:noFill/>
          <a:ln/>
        </p:spPr>
        <p:txBody>
          <a:bodyPr wrap="square" lIns="0" tIns="0" rIns="0" bIns="0" rtlCol="0" anchor="ctr"/>
          <a:lstStyle/>
          <a:p>
            <a:pPr indent="0" marL="0">
              <a:buNone/>
            </a:pPr>
            <a:r>
              <a:rPr lang="en-US" sz="1200" b="1" dirty="0">
                <a:solidFill>
                  <a:srgbClr val="2E5496"/>
                </a:solidFill>
                <a:latin typeface="Arial" pitchFamily="34" charset="0"/>
                <a:ea typeface="Arial" pitchFamily="34" charset="-122"/>
                <a:cs typeface="Arial" pitchFamily="34" charset="-120"/>
              </a:rPr>
              <a:t>08  </a:t>
            </a:r>
            <a:pPr indent="0" marL="0">
              <a:buNone/>
            </a:pPr>
            <a:r>
              <a:rPr lang="en-US" sz="1000" b="1" dirty="0">
                <a:solidFill>
                  <a:srgbClr val="595959"/>
                </a:solidFill>
                <a:latin typeface="Arial" pitchFamily="34" charset="0"/>
                <a:ea typeface="Arial" pitchFamily="34" charset="-122"/>
                <a:cs typeface="Arial" pitchFamily="34" charset="-120"/>
              </a:rPr>
              <a:t>3:15–29</a:t>
            </a:r>
            <a:endParaRPr lang="en-US" sz="1200" dirty="0"/>
          </a:p>
          <a:p>
            <a:pPr indent="0" marL="0">
              <a:buNone/>
            </a:pPr>
            <a:r>
              <a:rPr lang="en-US" sz="1050" b="1" dirty="0">
                <a:solidFill>
                  <a:srgbClr val="1F3864"/>
                </a:solidFill>
                <a:latin typeface="Arial" pitchFamily="34" charset="0"/>
                <a:ea typeface="Arial" pitchFamily="34" charset="-122"/>
                <a:cs typeface="Arial" pitchFamily="34" charset="-120"/>
              </a:rPr>
              <a:t>The Superiority of the Promise to the Law</a:t>
            </a:r>
            <a:endParaRPr lang="en-US" sz="1200" dirty="0"/>
          </a:p>
        </p:txBody>
      </p:sp>
      <p:sp>
        <p:nvSpPr>
          <p:cNvPr id="21" name="Shape 18"/>
          <p:cNvSpPr/>
          <p:nvPr/>
        </p:nvSpPr>
        <p:spPr>
          <a:xfrm>
            <a:off x="457200" y="2926080"/>
            <a:ext cx="1954530" cy="786384"/>
          </a:xfrm>
          <a:prstGeom prst="rect">
            <a:avLst/>
          </a:prstGeom>
          <a:solidFill>
            <a:srgbClr val="F2F6FC"/>
          </a:solidFill>
          <a:ln w="9525">
            <a:solidFill>
              <a:srgbClr val="D5DCEA"/>
            </a:solidFill>
            <a:prstDash val="solid"/>
          </a:ln>
        </p:spPr>
      </p:sp>
      <p:sp>
        <p:nvSpPr>
          <p:cNvPr id="22" name="Text 19"/>
          <p:cNvSpPr txBox="1"/>
          <p:nvPr/>
        </p:nvSpPr>
        <p:spPr>
          <a:xfrm>
            <a:off x="548640" y="2980944"/>
            <a:ext cx="1771650" cy="676656"/>
          </a:xfrm>
          <a:prstGeom prst="rect">
            <a:avLst/>
          </a:prstGeom>
          <a:noFill/>
          <a:ln/>
        </p:spPr>
        <p:txBody>
          <a:bodyPr wrap="square" lIns="0" tIns="0" rIns="0" bIns="0" rtlCol="0" anchor="ctr"/>
          <a:lstStyle/>
          <a:p>
            <a:pPr indent="0" marL="0">
              <a:buNone/>
            </a:pPr>
            <a:r>
              <a:rPr lang="en-US" sz="1200" b="1" dirty="0">
                <a:solidFill>
                  <a:srgbClr val="2E5496"/>
                </a:solidFill>
                <a:latin typeface="Arial" pitchFamily="34" charset="0"/>
                <a:ea typeface="Arial" pitchFamily="34" charset="-122"/>
                <a:cs typeface="Arial" pitchFamily="34" charset="-120"/>
              </a:rPr>
              <a:t>09  </a:t>
            </a:r>
            <a:pPr indent="0" marL="0">
              <a:buNone/>
            </a:pPr>
            <a:r>
              <a:rPr lang="en-US" sz="1000" b="1" dirty="0">
                <a:solidFill>
                  <a:srgbClr val="595959"/>
                </a:solidFill>
                <a:latin typeface="Arial" pitchFamily="34" charset="0"/>
                <a:ea typeface="Arial" pitchFamily="34" charset="-122"/>
                <a:cs typeface="Arial" pitchFamily="34" charset="-120"/>
              </a:rPr>
              <a:t>4:1–11</a:t>
            </a:r>
            <a:endParaRPr lang="en-US" sz="1200" dirty="0"/>
          </a:p>
          <a:p>
            <a:pPr indent="0" marL="0">
              <a:buNone/>
            </a:pPr>
            <a:r>
              <a:rPr lang="en-US" sz="1050" b="1" dirty="0">
                <a:solidFill>
                  <a:srgbClr val="1F3864"/>
                </a:solidFill>
                <a:latin typeface="Arial" pitchFamily="34" charset="0"/>
                <a:ea typeface="Arial" pitchFamily="34" charset="-122"/>
                <a:cs typeface="Arial" pitchFamily="34" charset="-120"/>
              </a:rPr>
              <a:t>When I Became a Man</a:t>
            </a:r>
            <a:endParaRPr lang="en-US" sz="1200" dirty="0"/>
          </a:p>
        </p:txBody>
      </p:sp>
      <p:sp>
        <p:nvSpPr>
          <p:cNvPr id="23" name="Shape 20"/>
          <p:cNvSpPr/>
          <p:nvPr/>
        </p:nvSpPr>
        <p:spPr>
          <a:xfrm>
            <a:off x="2548890" y="2926080"/>
            <a:ext cx="1954530" cy="786384"/>
          </a:xfrm>
          <a:prstGeom prst="rect">
            <a:avLst/>
          </a:prstGeom>
          <a:solidFill>
            <a:srgbClr val="F2F6FC"/>
          </a:solidFill>
          <a:ln w="9525">
            <a:solidFill>
              <a:srgbClr val="D5DCEA"/>
            </a:solidFill>
            <a:prstDash val="solid"/>
          </a:ln>
        </p:spPr>
      </p:sp>
      <p:sp>
        <p:nvSpPr>
          <p:cNvPr id="24" name="Text 21"/>
          <p:cNvSpPr txBox="1"/>
          <p:nvPr/>
        </p:nvSpPr>
        <p:spPr>
          <a:xfrm>
            <a:off x="2640330" y="2980944"/>
            <a:ext cx="1771650" cy="676656"/>
          </a:xfrm>
          <a:prstGeom prst="rect">
            <a:avLst/>
          </a:prstGeom>
          <a:noFill/>
          <a:ln/>
        </p:spPr>
        <p:txBody>
          <a:bodyPr wrap="square" lIns="0" tIns="0" rIns="0" bIns="0" rtlCol="0" anchor="ctr"/>
          <a:lstStyle/>
          <a:p>
            <a:pPr indent="0" marL="0">
              <a:buNone/>
            </a:pPr>
            <a:r>
              <a:rPr lang="en-US" sz="1200" b="1" dirty="0">
                <a:solidFill>
                  <a:srgbClr val="2E5496"/>
                </a:solidFill>
                <a:latin typeface="Arial" pitchFamily="34" charset="0"/>
                <a:ea typeface="Arial" pitchFamily="34" charset="-122"/>
                <a:cs typeface="Arial" pitchFamily="34" charset="-120"/>
              </a:rPr>
              <a:t>10  </a:t>
            </a:r>
            <a:pPr indent="0" marL="0">
              <a:buNone/>
            </a:pPr>
            <a:r>
              <a:rPr lang="en-US" sz="1000" b="1" dirty="0">
                <a:solidFill>
                  <a:srgbClr val="595959"/>
                </a:solidFill>
                <a:latin typeface="Arial" pitchFamily="34" charset="0"/>
                <a:ea typeface="Arial" pitchFamily="34" charset="-122"/>
                <a:cs typeface="Arial" pitchFamily="34" charset="-120"/>
              </a:rPr>
              <a:t>4:12–20</a:t>
            </a:r>
            <a:endParaRPr lang="en-US" sz="1200" dirty="0"/>
          </a:p>
          <a:p>
            <a:pPr indent="0" marL="0">
              <a:buNone/>
            </a:pPr>
            <a:r>
              <a:rPr lang="en-US" sz="1050" b="1" dirty="0">
                <a:solidFill>
                  <a:srgbClr val="1F3864"/>
                </a:solidFill>
                <a:latin typeface="Arial" pitchFamily="34" charset="0"/>
                <a:ea typeface="Arial" pitchFamily="34" charset="-122"/>
                <a:cs typeface="Arial" pitchFamily="34" charset="-120"/>
              </a:rPr>
              <a:t>A Steel Fist in a Velvet Glove</a:t>
            </a:r>
            <a:endParaRPr lang="en-US" sz="1200" dirty="0"/>
          </a:p>
        </p:txBody>
      </p:sp>
      <p:sp>
        <p:nvSpPr>
          <p:cNvPr id="25" name="Shape 22"/>
          <p:cNvSpPr/>
          <p:nvPr/>
        </p:nvSpPr>
        <p:spPr>
          <a:xfrm>
            <a:off x="4640580" y="2926080"/>
            <a:ext cx="1954530" cy="786384"/>
          </a:xfrm>
          <a:prstGeom prst="rect">
            <a:avLst/>
          </a:prstGeom>
          <a:solidFill>
            <a:srgbClr val="F2F6FC"/>
          </a:solidFill>
          <a:ln w="9525">
            <a:solidFill>
              <a:srgbClr val="D5DCEA"/>
            </a:solidFill>
            <a:prstDash val="solid"/>
          </a:ln>
        </p:spPr>
      </p:sp>
      <p:sp>
        <p:nvSpPr>
          <p:cNvPr id="26" name="Text 23"/>
          <p:cNvSpPr txBox="1"/>
          <p:nvPr/>
        </p:nvSpPr>
        <p:spPr>
          <a:xfrm>
            <a:off x="4732020" y="2980944"/>
            <a:ext cx="1771650" cy="676656"/>
          </a:xfrm>
          <a:prstGeom prst="rect">
            <a:avLst/>
          </a:prstGeom>
          <a:noFill/>
          <a:ln/>
        </p:spPr>
        <p:txBody>
          <a:bodyPr wrap="square" lIns="0" tIns="0" rIns="0" bIns="0" rtlCol="0" anchor="ctr"/>
          <a:lstStyle/>
          <a:p>
            <a:pPr indent="0" marL="0">
              <a:buNone/>
            </a:pPr>
            <a:r>
              <a:rPr lang="en-US" sz="1200" b="1" dirty="0">
                <a:solidFill>
                  <a:srgbClr val="2E5496"/>
                </a:solidFill>
                <a:latin typeface="Arial" pitchFamily="34" charset="0"/>
                <a:ea typeface="Arial" pitchFamily="34" charset="-122"/>
                <a:cs typeface="Arial" pitchFamily="34" charset="-120"/>
              </a:rPr>
              <a:t>11  </a:t>
            </a:r>
            <a:pPr indent="0" marL="0">
              <a:buNone/>
            </a:pPr>
            <a:r>
              <a:rPr lang="en-US" sz="1000" b="1" dirty="0">
                <a:solidFill>
                  <a:srgbClr val="595959"/>
                </a:solidFill>
                <a:latin typeface="Arial" pitchFamily="34" charset="0"/>
                <a:ea typeface="Arial" pitchFamily="34" charset="-122"/>
                <a:cs typeface="Arial" pitchFamily="34" charset="-120"/>
              </a:rPr>
              <a:t>4:21–31</a:t>
            </a:r>
            <a:endParaRPr lang="en-US" sz="1200" dirty="0"/>
          </a:p>
          <a:p>
            <a:pPr indent="0" marL="0">
              <a:buNone/>
            </a:pPr>
            <a:r>
              <a:rPr lang="en-US" sz="1050" b="1" dirty="0">
                <a:solidFill>
                  <a:srgbClr val="1F3864"/>
                </a:solidFill>
                <a:latin typeface="Arial" pitchFamily="34" charset="0"/>
                <a:ea typeface="Arial" pitchFamily="34" charset="-122"/>
                <a:cs typeface="Arial" pitchFamily="34" charset="-120"/>
              </a:rPr>
              <a:t>Paul's Old Testament Story</a:t>
            </a:r>
            <a:endParaRPr lang="en-US" sz="1200" dirty="0"/>
          </a:p>
        </p:txBody>
      </p:sp>
      <p:sp>
        <p:nvSpPr>
          <p:cNvPr id="27" name="Shape 24"/>
          <p:cNvSpPr/>
          <p:nvPr/>
        </p:nvSpPr>
        <p:spPr>
          <a:xfrm>
            <a:off x="6732270" y="2926080"/>
            <a:ext cx="1954530" cy="786384"/>
          </a:xfrm>
          <a:prstGeom prst="rect">
            <a:avLst/>
          </a:prstGeom>
          <a:solidFill>
            <a:srgbClr val="F2F6FC"/>
          </a:solidFill>
          <a:ln w="9525">
            <a:solidFill>
              <a:srgbClr val="D5DCEA"/>
            </a:solidFill>
            <a:prstDash val="solid"/>
          </a:ln>
        </p:spPr>
      </p:sp>
      <p:sp>
        <p:nvSpPr>
          <p:cNvPr id="28" name="Text 25"/>
          <p:cNvSpPr txBox="1"/>
          <p:nvPr/>
        </p:nvSpPr>
        <p:spPr>
          <a:xfrm>
            <a:off x="6823710" y="2980944"/>
            <a:ext cx="1771650" cy="676656"/>
          </a:xfrm>
          <a:prstGeom prst="rect">
            <a:avLst/>
          </a:prstGeom>
          <a:noFill/>
          <a:ln/>
        </p:spPr>
        <p:txBody>
          <a:bodyPr wrap="square" lIns="0" tIns="0" rIns="0" bIns="0" rtlCol="0" anchor="ctr"/>
          <a:lstStyle/>
          <a:p>
            <a:pPr indent="0" marL="0">
              <a:buNone/>
            </a:pPr>
            <a:r>
              <a:rPr lang="en-US" sz="1200" b="1" dirty="0">
                <a:solidFill>
                  <a:srgbClr val="2E5496"/>
                </a:solidFill>
                <a:latin typeface="Arial" pitchFamily="34" charset="0"/>
                <a:ea typeface="Arial" pitchFamily="34" charset="-122"/>
                <a:cs typeface="Arial" pitchFamily="34" charset="-120"/>
              </a:rPr>
              <a:t>12  </a:t>
            </a:r>
            <a:pPr indent="0" marL="0">
              <a:buNone/>
            </a:pPr>
            <a:r>
              <a:rPr lang="en-US" sz="1000" b="1" dirty="0">
                <a:solidFill>
                  <a:srgbClr val="595959"/>
                </a:solidFill>
                <a:latin typeface="Arial" pitchFamily="34" charset="0"/>
                <a:ea typeface="Arial" pitchFamily="34" charset="-122"/>
                <a:cs typeface="Arial" pitchFamily="34" charset="-120"/>
              </a:rPr>
              <a:t>5:1–12</a:t>
            </a:r>
            <a:endParaRPr lang="en-US" sz="1200" dirty="0"/>
          </a:p>
          <a:p>
            <a:pPr indent="0" marL="0">
              <a:buNone/>
            </a:pPr>
            <a:r>
              <a:rPr lang="en-US" sz="1050" b="1" dirty="0">
                <a:solidFill>
                  <a:srgbClr val="1F3864"/>
                </a:solidFill>
                <a:latin typeface="Arial" pitchFamily="34" charset="0"/>
                <a:ea typeface="Arial" pitchFamily="34" charset="-122"/>
                <a:cs typeface="Arial" pitchFamily="34" charset="-120"/>
              </a:rPr>
              <a:t>Taking a Stand in Liberty</a:t>
            </a:r>
            <a:endParaRPr lang="en-US" sz="1200" dirty="0"/>
          </a:p>
        </p:txBody>
      </p:sp>
      <p:sp>
        <p:nvSpPr>
          <p:cNvPr id="29" name="Shape 26"/>
          <p:cNvSpPr/>
          <p:nvPr/>
        </p:nvSpPr>
        <p:spPr>
          <a:xfrm>
            <a:off x="457200" y="3831336"/>
            <a:ext cx="1954530" cy="786384"/>
          </a:xfrm>
          <a:prstGeom prst="rect">
            <a:avLst/>
          </a:prstGeom>
          <a:solidFill>
            <a:srgbClr val="1F3864"/>
          </a:solidFill>
          <a:ln w="9525">
            <a:solidFill>
              <a:srgbClr val="1F3864"/>
            </a:solidFill>
            <a:prstDash val="solid"/>
          </a:ln>
        </p:spPr>
      </p:sp>
      <p:sp>
        <p:nvSpPr>
          <p:cNvPr id="30" name="Text 27"/>
          <p:cNvSpPr txBox="1"/>
          <p:nvPr/>
        </p:nvSpPr>
        <p:spPr>
          <a:xfrm>
            <a:off x="548640" y="3886200"/>
            <a:ext cx="1771650" cy="676656"/>
          </a:xfrm>
          <a:prstGeom prst="rect">
            <a:avLst/>
          </a:prstGeom>
          <a:noFill/>
          <a:ln/>
        </p:spPr>
        <p:txBody>
          <a:bodyPr wrap="square" lIns="0" tIns="0" rIns="0" bIns="0" rtlCol="0" anchor="ctr"/>
          <a:lstStyle/>
          <a:p>
            <a:pPr indent="0" marL="0">
              <a:buNone/>
            </a:pPr>
            <a:r>
              <a:rPr lang="en-US" sz="1200" b="1" dirty="0">
                <a:solidFill>
                  <a:srgbClr val="C9D5EE"/>
                </a:solidFill>
                <a:latin typeface="Arial" pitchFamily="34" charset="0"/>
                <a:ea typeface="Arial" pitchFamily="34" charset="-122"/>
                <a:cs typeface="Arial" pitchFamily="34" charset="-120"/>
              </a:rPr>
              <a:t>13  </a:t>
            </a:r>
            <a:pPr indent="0" marL="0">
              <a:buNone/>
            </a:pPr>
            <a:r>
              <a:rPr lang="en-US" sz="1000" b="1" dirty="0">
                <a:solidFill>
                  <a:srgbClr val="C9D5EE"/>
                </a:solidFill>
                <a:latin typeface="Arial" pitchFamily="34" charset="0"/>
                <a:ea typeface="Arial" pitchFamily="34" charset="-122"/>
                <a:cs typeface="Arial" pitchFamily="34" charset="-120"/>
              </a:rPr>
              <a:t>5:13–26</a:t>
            </a:r>
            <a:endParaRPr lang="en-US" sz="1200" dirty="0"/>
          </a:p>
          <a:p>
            <a:pPr indent="0" marL="0">
              <a:buNone/>
            </a:pPr>
            <a:r>
              <a:rPr lang="en-US" sz="1050" b="1" dirty="0">
                <a:solidFill>
                  <a:srgbClr val="FFFFFF"/>
                </a:solidFill>
                <a:latin typeface="Arial" pitchFamily="34" charset="0"/>
                <a:ea typeface="Arial" pitchFamily="34" charset="-122"/>
                <a:cs typeface="Arial" pitchFamily="34" charset="-120"/>
              </a:rPr>
              <a:t>Walk in the Spirit</a:t>
            </a:r>
            <a:endParaRPr lang="en-US" sz="1200" dirty="0"/>
          </a:p>
        </p:txBody>
      </p:sp>
      <p:sp>
        <p:nvSpPr>
          <p:cNvPr id="31" name="Shape 28"/>
          <p:cNvSpPr/>
          <p:nvPr/>
        </p:nvSpPr>
        <p:spPr>
          <a:xfrm>
            <a:off x="2548890" y="3831336"/>
            <a:ext cx="1954530" cy="786384"/>
          </a:xfrm>
          <a:prstGeom prst="rect">
            <a:avLst/>
          </a:prstGeom>
          <a:solidFill>
            <a:srgbClr val="F2F6FC"/>
          </a:solidFill>
          <a:ln w="9525">
            <a:solidFill>
              <a:srgbClr val="D5DCEA"/>
            </a:solidFill>
            <a:prstDash val="solid"/>
          </a:ln>
        </p:spPr>
      </p:sp>
      <p:sp>
        <p:nvSpPr>
          <p:cNvPr id="32" name="Text 29"/>
          <p:cNvSpPr txBox="1"/>
          <p:nvPr/>
        </p:nvSpPr>
        <p:spPr>
          <a:xfrm>
            <a:off x="2640330" y="3886200"/>
            <a:ext cx="1771650" cy="676656"/>
          </a:xfrm>
          <a:prstGeom prst="rect">
            <a:avLst/>
          </a:prstGeom>
          <a:noFill/>
          <a:ln/>
        </p:spPr>
        <p:txBody>
          <a:bodyPr wrap="square" lIns="0" tIns="0" rIns="0" bIns="0" rtlCol="0" anchor="ctr"/>
          <a:lstStyle/>
          <a:p>
            <a:pPr indent="0" marL="0">
              <a:buNone/>
            </a:pPr>
            <a:r>
              <a:rPr lang="en-US" sz="1200" b="1" dirty="0">
                <a:solidFill>
                  <a:srgbClr val="2E5496"/>
                </a:solidFill>
                <a:latin typeface="Arial" pitchFamily="34" charset="0"/>
                <a:ea typeface="Arial" pitchFamily="34" charset="-122"/>
                <a:cs typeface="Arial" pitchFamily="34" charset="-120"/>
              </a:rPr>
              <a:t>14  </a:t>
            </a:r>
            <a:pPr indent="0" marL="0">
              <a:buNone/>
            </a:pPr>
            <a:r>
              <a:rPr lang="en-US" sz="1000" b="1" dirty="0">
                <a:solidFill>
                  <a:srgbClr val="595959"/>
                </a:solidFill>
                <a:latin typeface="Arial" pitchFamily="34" charset="0"/>
                <a:ea typeface="Arial" pitchFamily="34" charset="-122"/>
                <a:cs typeface="Arial" pitchFamily="34" charset="-120"/>
              </a:rPr>
              <a:t>6:1–5</a:t>
            </a:r>
            <a:endParaRPr lang="en-US" sz="1200" dirty="0"/>
          </a:p>
          <a:p>
            <a:pPr indent="0" marL="0">
              <a:buNone/>
            </a:pPr>
            <a:r>
              <a:rPr lang="en-US" sz="1050" b="1" dirty="0">
                <a:solidFill>
                  <a:srgbClr val="1F3864"/>
                </a:solidFill>
                <a:latin typeface="Arial" pitchFamily="34" charset="0"/>
                <a:ea typeface="Arial" pitchFamily="34" charset="-122"/>
                <a:cs typeface="Arial" pitchFamily="34" charset="-120"/>
              </a:rPr>
              <a:t>Brothers and Burdens</a:t>
            </a:r>
            <a:endParaRPr lang="en-US" sz="1200" dirty="0"/>
          </a:p>
        </p:txBody>
      </p:sp>
      <p:sp>
        <p:nvSpPr>
          <p:cNvPr id="33" name="Shape 30"/>
          <p:cNvSpPr/>
          <p:nvPr/>
        </p:nvSpPr>
        <p:spPr>
          <a:xfrm>
            <a:off x="4640580" y="3831336"/>
            <a:ext cx="1954530" cy="786384"/>
          </a:xfrm>
          <a:prstGeom prst="rect">
            <a:avLst/>
          </a:prstGeom>
          <a:solidFill>
            <a:srgbClr val="F2F6FC"/>
          </a:solidFill>
          <a:ln w="9525">
            <a:solidFill>
              <a:srgbClr val="D5DCEA"/>
            </a:solidFill>
            <a:prstDash val="solid"/>
          </a:ln>
        </p:spPr>
      </p:sp>
      <p:sp>
        <p:nvSpPr>
          <p:cNvPr id="34" name="Text 31"/>
          <p:cNvSpPr txBox="1"/>
          <p:nvPr/>
        </p:nvSpPr>
        <p:spPr>
          <a:xfrm>
            <a:off x="4732020" y="3886200"/>
            <a:ext cx="1771650" cy="676656"/>
          </a:xfrm>
          <a:prstGeom prst="rect">
            <a:avLst/>
          </a:prstGeom>
          <a:noFill/>
          <a:ln/>
        </p:spPr>
        <p:txBody>
          <a:bodyPr wrap="square" lIns="0" tIns="0" rIns="0" bIns="0" rtlCol="0" anchor="ctr"/>
          <a:lstStyle/>
          <a:p>
            <a:pPr indent="0" marL="0">
              <a:buNone/>
            </a:pPr>
            <a:r>
              <a:rPr lang="en-US" sz="1200" b="1" dirty="0">
                <a:solidFill>
                  <a:srgbClr val="2E5496"/>
                </a:solidFill>
                <a:latin typeface="Arial" pitchFamily="34" charset="0"/>
                <a:ea typeface="Arial" pitchFamily="34" charset="-122"/>
                <a:cs typeface="Arial" pitchFamily="34" charset="-120"/>
              </a:rPr>
              <a:t>15  </a:t>
            </a:r>
            <a:pPr indent="0" marL="0">
              <a:buNone/>
            </a:pPr>
            <a:r>
              <a:rPr lang="en-US" sz="1000" b="1" dirty="0">
                <a:solidFill>
                  <a:srgbClr val="595959"/>
                </a:solidFill>
                <a:latin typeface="Arial" pitchFamily="34" charset="0"/>
                <a:ea typeface="Arial" pitchFamily="34" charset="-122"/>
                <a:cs typeface="Arial" pitchFamily="34" charset="-120"/>
              </a:rPr>
              <a:t>6:6–10</a:t>
            </a:r>
            <a:endParaRPr lang="en-US" sz="1200" dirty="0"/>
          </a:p>
          <a:p>
            <a:pPr indent="0" marL="0">
              <a:buNone/>
            </a:pPr>
            <a:r>
              <a:rPr lang="en-US" sz="1050" b="1" dirty="0">
                <a:solidFill>
                  <a:srgbClr val="1F3864"/>
                </a:solidFill>
                <a:latin typeface="Arial" pitchFamily="34" charset="0"/>
                <a:ea typeface="Arial" pitchFamily="34" charset="-122"/>
                <a:cs typeface="Arial" pitchFamily="34" charset="-120"/>
              </a:rPr>
              <a:t>Sowing and Reaping</a:t>
            </a:r>
            <a:endParaRPr lang="en-US" sz="1200" dirty="0"/>
          </a:p>
        </p:txBody>
      </p:sp>
      <p:sp>
        <p:nvSpPr>
          <p:cNvPr id="35" name="Shape 32"/>
          <p:cNvSpPr/>
          <p:nvPr/>
        </p:nvSpPr>
        <p:spPr>
          <a:xfrm>
            <a:off x="6732270" y="3831336"/>
            <a:ext cx="1954530" cy="786384"/>
          </a:xfrm>
          <a:prstGeom prst="rect">
            <a:avLst/>
          </a:prstGeom>
          <a:solidFill>
            <a:srgbClr val="F2F6FC"/>
          </a:solidFill>
          <a:ln w="9525">
            <a:solidFill>
              <a:srgbClr val="D5DCEA"/>
            </a:solidFill>
            <a:prstDash val="solid"/>
          </a:ln>
        </p:spPr>
      </p:sp>
      <p:sp>
        <p:nvSpPr>
          <p:cNvPr id="36" name="Text 33"/>
          <p:cNvSpPr txBox="1"/>
          <p:nvPr/>
        </p:nvSpPr>
        <p:spPr>
          <a:xfrm>
            <a:off x="6823710" y="3886200"/>
            <a:ext cx="1771650" cy="676656"/>
          </a:xfrm>
          <a:prstGeom prst="rect">
            <a:avLst/>
          </a:prstGeom>
          <a:noFill/>
          <a:ln/>
        </p:spPr>
        <p:txBody>
          <a:bodyPr wrap="square" lIns="0" tIns="0" rIns="0" bIns="0" rtlCol="0" anchor="ctr"/>
          <a:lstStyle/>
          <a:p>
            <a:pPr indent="0" marL="0">
              <a:buNone/>
            </a:pPr>
            <a:r>
              <a:rPr lang="en-US" sz="1200" b="1" dirty="0">
                <a:solidFill>
                  <a:srgbClr val="2E5496"/>
                </a:solidFill>
                <a:latin typeface="Arial" pitchFamily="34" charset="0"/>
                <a:ea typeface="Arial" pitchFamily="34" charset="-122"/>
                <a:cs typeface="Arial" pitchFamily="34" charset="-120"/>
              </a:rPr>
              <a:t>16  </a:t>
            </a:r>
            <a:pPr indent="0" marL="0">
              <a:buNone/>
            </a:pPr>
            <a:r>
              <a:rPr lang="en-US" sz="1000" b="1" dirty="0">
                <a:solidFill>
                  <a:srgbClr val="595959"/>
                </a:solidFill>
                <a:latin typeface="Arial" pitchFamily="34" charset="0"/>
                <a:ea typeface="Arial" pitchFamily="34" charset="-122"/>
                <a:cs typeface="Arial" pitchFamily="34" charset="-120"/>
              </a:rPr>
              <a:t>6:11–18</a:t>
            </a:r>
            <a:endParaRPr lang="en-US" sz="1200" dirty="0"/>
          </a:p>
          <a:p>
            <a:pPr indent="0" marL="0">
              <a:buNone/>
            </a:pPr>
            <a:r>
              <a:rPr lang="en-US" sz="1050" b="1" dirty="0">
                <a:solidFill>
                  <a:srgbClr val="1F3864"/>
                </a:solidFill>
                <a:latin typeface="Arial" pitchFamily="34" charset="0"/>
                <a:ea typeface="Arial" pitchFamily="34" charset="-122"/>
                <a:cs typeface="Arial" pitchFamily="34" charset="-120"/>
              </a:rPr>
              <a:t>Teaching the Truth</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Three things to do with liberty</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Galatians 5:13–15 · Outline I — The potential of liberty</a:t>
            </a:r>
            <a:endParaRPr lang="en-US" sz="1200" dirty="0"/>
          </a:p>
        </p:txBody>
      </p:sp>
      <p:sp>
        <p:nvSpPr>
          <p:cNvPr id="5" name="Shape 2"/>
          <p:cNvSpPr/>
          <p:nvPr/>
        </p:nvSpPr>
        <p:spPr>
          <a:xfrm>
            <a:off x="457200" y="1143000"/>
            <a:ext cx="2615184" cy="2377440"/>
          </a:xfrm>
          <a:prstGeom prst="rect">
            <a:avLst/>
          </a:prstGeom>
          <a:solidFill>
            <a:srgbClr val="F2F6FC"/>
          </a:solidFill>
          <a:ln w="9525">
            <a:solidFill>
              <a:srgbClr val="D5DCEA"/>
            </a:solidFill>
            <a:prstDash val="solid"/>
          </a:ln>
        </p:spPr>
      </p:sp>
      <p:sp>
        <p:nvSpPr>
          <p:cNvPr id="6" name="Shape 3"/>
          <p:cNvSpPr/>
          <p:nvPr/>
        </p:nvSpPr>
        <p:spPr>
          <a:xfrm>
            <a:off x="585216" y="1271016"/>
            <a:ext cx="402336" cy="402336"/>
          </a:xfrm>
          <a:prstGeom prst="ellipse">
            <a:avLst/>
          </a:prstGeom>
          <a:solidFill>
            <a:srgbClr val="6B7280"/>
          </a:solidFill>
          <a:ln w="12700">
            <a:solidFill>
              <a:srgbClr val="6B7280"/>
            </a:solidFill>
            <a:prstDash val="solid"/>
          </a:ln>
        </p:spPr>
      </p:sp>
      <p:sp>
        <p:nvSpPr>
          <p:cNvPr id="7" name="Text 4"/>
          <p:cNvSpPr txBox="1"/>
          <p:nvPr/>
        </p:nvSpPr>
        <p:spPr>
          <a:xfrm>
            <a:off x="585216" y="1271016"/>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A</a:t>
            </a:r>
            <a:endParaRPr lang="en-US" sz="1200" dirty="0"/>
          </a:p>
        </p:txBody>
      </p:sp>
      <p:sp>
        <p:nvSpPr>
          <p:cNvPr id="8" name="Text 5"/>
          <p:cNvSpPr txBox="1"/>
          <p:nvPr/>
        </p:nvSpPr>
        <p:spPr>
          <a:xfrm>
            <a:off x="1078992" y="1252728"/>
            <a:ext cx="1901952" cy="438912"/>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Exploit it through license</a:t>
            </a:r>
            <a:endParaRPr lang="en-US" sz="1200" dirty="0"/>
          </a:p>
        </p:txBody>
      </p:sp>
      <p:sp>
        <p:nvSpPr>
          <p:cNvPr id="9" name="Text 6"/>
          <p:cNvSpPr txBox="1"/>
          <p:nvPr/>
        </p:nvSpPr>
        <p:spPr>
          <a:xfrm>
            <a:off x="585216" y="1764792"/>
            <a:ext cx="2359152" cy="1664208"/>
          </a:xfrm>
          <a:prstGeom prst="rect">
            <a:avLst/>
          </a:prstGeom>
          <a:noFill/>
          <a:ln/>
        </p:spPr>
        <p:txBody>
          <a:bodyPr wrap="square" lIns="0" tIns="0" rIns="0" bIns="0" rtlCol="0" anchor="t"/>
          <a:lstStyle/>
          <a:p>
            <a:pPr indent="0" marL="0">
              <a:buNone/>
            </a:pPr>
            <a:r>
              <a:rPr lang="en-US" sz="1250" b="1" dirty="0">
                <a:solidFill>
                  <a:srgbClr val="7030A0"/>
                </a:solidFill>
                <a:latin typeface="Arial" pitchFamily="34" charset="0"/>
                <a:ea typeface="Arial" pitchFamily="34" charset="-122"/>
                <a:cs typeface="Arial" pitchFamily="34" charset="-120"/>
              </a:rPr>
              <a:t>ἀφορμή · v.13a</a:t>
            </a:r>
            <a:endParaRPr lang="en-US" sz="1200" dirty="0"/>
          </a:p>
          <a:p>
            <a:pPr indent="0" marL="0">
              <a:buNone/>
            </a:pPr>
            <a:r>
              <a:rPr lang="en-US" sz="1250" dirty="0">
                <a:solidFill>
                  <a:srgbClr val="262626"/>
                </a:solidFill>
                <a:latin typeface="Arial" pitchFamily="34" charset="0"/>
                <a:ea typeface="Arial" pitchFamily="34" charset="-122"/>
                <a:cs typeface="Arial" pitchFamily="34" charset="-120"/>
              </a:rPr>
              <a:t>Don't turn liberty into a staging ground for the flesh</a:t>
            </a:r>
            <a:endParaRPr lang="en-US" sz="1200" dirty="0"/>
          </a:p>
        </p:txBody>
      </p:sp>
      <p:sp>
        <p:nvSpPr>
          <p:cNvPr id="10" name="Shape 7"/>
          <p:cNvSpPr/>
          <p:nvPr/>
        </p:nvSpPr>
        <p:spPr>
          <a:xfrm>
            <a:off x="3264408" y="1143000"/>
            <a:ext cx="2615184" cy="2377440"/>
          </a:xfrm>
          <a:prstGeom prst="rect">
            <a:avLst/>
          </a:prstGeom>
          <a:solidFill>
            <a:srgbClr val="F2F6FC"/>
          </a:solidFill>
          <a:ln w="9525">
            <a:solidFill>
              <a:srgbClr val="D5DCEA"/>
            </a:solidFill>
            <a:prstDash val="solid"/>
          </a:ln>
        </p:spPr>
      </p:sp>
      <p:sp>
        <p:nvSpPr>
          <p:cNvPr id="11" name="Shape 8"/>
          <p:cNvSpPr/>
          <p:nvPr/>
        </p:nvSpPr>
        <p:spPr>
          <a:xfrm>
            <a:off x="3392424" y="1271016"/>
            <a:ext cx="402336" cy="402336"/>
          </a:xfrm>
          <a:prstGeom prst="ellipse">
            <a:avLst/>
          </a:prstGeom>
          <a:solidFill>
            <a:srgbClr val="2E5496"/>
          </a:solidFill>
          <a:ln w="12700">
            <a:solidFill>
              <a:srgbClr val="2E5496"/>
            </a:solidFill>
            <a:prstDash val="solid"/>
          </a:ln>
        </p:spPr>
      </p:sp>
      <p:sp>
        <p:nvSpPr>
          <p:cNvPr id="12" name="Text 9"/>
          <p:cNvSpPr txBox="1"/>
          <p:nvPr/>
        </p:nvSpPr>
        <p:spPr>
          <a:xfrm>
            <a:off x="3392424" y="1271016"/>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B</a:t>
            </a:r>
            <a:endParaRPr lang="en-US" sz="1200" dirty="0"/>
          </a:p>
        </p:txBody>
      </p:sp>
      <p:sp>
        <p:nvSpPr>
          <p:cNvPr id="13" name="Text 10"/>
          <p:cNvSpPr txBox="1"/>
          <p:nvPr/>
        </p:nvSpPr>
        <p:spPr>
          <a:xfrm>
            <a:off x="3886200" y="1252728"/>
            <a:ext cx="1901952" cy="438912"/>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Explore it through love</a:t>
            </a:r>
            <a:endParaRPr lang="en-US" sz="1200" dirty="0"/>
          </a:p>
        </p:txBody>
      </p:sp>
      <p:sp>
        <p:nvSpPr>
          <p:cNvPr id="14" name="Text 11"/>
          <p:cNvSpPr txBox="1"/>
          <p:nvPr/>
        </p:nvSpPr>
        <p:spPr>
          <a:xfrm>
            <a:off x="3392424" y="1764792"/>
            <a:ext cx="2359152" cy="1664208"/>
          </a:xfrm>
          <a:prstGeom prst="rect">
            <a:avLst/>
          </a:prstGeom>
          <a:noFill/>
          <a:ln/>
        </p:spPr>
        <p:txBody>
          <a:bodyPr wrap="square" lIns="0" tIns="0" rIns="0" bIns="0" rtlCol="0" anchor="t"/>
          <a:lstStyle/>
          <a:p>
            <a:pPr indent="0" marL="0">
              <a:buNone/>
            </a:pPr>
            <a:r>
              <a:rPr lang="en-US" sz="1250" b="1" dirty="0">
                <a:solidFill>
                  <a:srgbClr val="7030A0"/>
                </a:solidFill>
                <a:latin typeface="Arial" pitchFamily="34" charset="0"/>
                <a:ea typeface="Arial" pitchFamily="34" charset="-122"/>
                <a:cs typeface="Arial" pitchFamily="34" charset="-120"/>
              </a:rPr>
              <a:t>δουλεύετε · v.13b–14</a:t>
            </a:r>
            <a:endParaRPr lang="en-US" sz="1200" dirty="0"/>
          </a:p>
          <a:p>
            <a:pPr indent="0" marL="0">
              <a:buNone/>
            </a:pPr>
            <a:r>
              <a:rPr lang="en-US" sz="1250" dirty="0">
                <a:solidFill>
                  <a:srgbClr val="262626"/>
                </a:solidFill>
                <a:latin typeface="Arial" pitchFamily="34" charset="0"/>
                <a:ea typeface="Arial" pitchFamily="34" charset="-122"/>
                <a:cs typeface="Arial" pitchFamily="34" charset="-120"/>
              </a:rPr>
              <a:t>Through love serve one another — the law fulfilled in one word (πεπλήρωται)</a:t>
            </a:r>
            <a:endParaRPr lang="en-US" sz="1200" dirty="0"/>
          </a:p>
        </p:txBody>
      </p:sp>
      <p:sp>
        <p:nvSpPr>
          <p:cNvPr id="15" name="Shape 12"/>
          <p:cNvSpPr/>
          <p:nvPr/>
        </p:nvSpPr>
        <p:spPr>
          <a:xfrm>
            <a:off x="6071616" y="1143000"/>
            <a:ext cx="2615184" cy="2377440"/>
          </a:xfrm>
          <a:prstGeom prst="rect">
            <a:avLst/>
          </a:prstGeom>
          <a:solidFill>
            <a:srgbClr val="F2F6FC"/>
          </a:solidFill>
          <a:ln w="9525">
            <a:solidFill>
              <a:srgbClr val="D5DCEA"/>
            </a:solidFill>
            <a:prstDash val="solid"/>
          </a:ln>
        </p:spPr>
      </p:sp>
      <p:sp>
        <p:nvSpPr>
          <p:cNvPr id="16" name="Shape 13"/>
          <p:cNvSpPr/>
          <p:nvPr/>
        </p:nvSpPr>
        <p:spPr>
          <a:xfrm>
            <a:off x="6199632" y="1271016"/>
            <a:ext cx="402336" cy="402336"/>
          </a:xfrm>
          <a:prstGeom prst="ellipse">
            <a:avLst/>
          </a:prstGeom>
          <a:solidFill>
            <a:srgbClr val="375623"/>
          </a:solidFill>
          <a:ln w="12700">
            <a:solidFill>
              <a:srgbClr val="375623"/>
            </a:solidFill>
            <a:prstDash val="solid"/>
          </a:ln>
        </p:spPr>
      </p:sp>
      <p:sp>
        <p:nvSpPr>
          <p:cNvPr id="17" name="Text 14"/>
          <p:cNvSpPr txBox="1"/>
          <p:nvPr/>
        </p:nvSpPr>
        <p:spPr>
          <a:xfrm>
            <a:off x="6199632" y="1271016"/>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C</a:t>
            </a:r>
            <a:endParaRPr lang="en-US" sz="1200" dirty="0"/>
          </a:p>
        </p:txBody>
      </p:sp>
      <p:sp>
        <p:nvSpPr>
          <p:cNvPr id="18" name="Text 15"/>
          <p:cNvSpPr txBox="1"/>
          <p:nvPr/>
        </p:nvSpPr>
        <p:spPr>
          <a:xfrm>
            <a:off x="6693408" y="1252728"/>
            <a:ext cx="1901952" cy="438912"/>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Enjoy it through harmony</a:t>
            </a:r>
            <a:endParaRPr lang="en-US" sz="1200" dirty="0"/>
          </a:p>
        </p:txBody>
      </p:sp>
      <p:sp>
        <p:nvSpPr>
          <p:cNvPr id="19" name="Text 16"/>
          <p:cNvSpPr txBox="1"/>
          <p:nvPr/>
        </p:nvSpPr>
        <p:spPr>
          <a:xfrm>
            <a:off x="6199632" y="1764792"/>
            <a:ext cx="2359152" cy="1664208"/>
          </a:xfrm>
          <a:prstGeom prst="rect">
            <a:avLst/>
          </a:prstGeom>
          <a:noFill/>
          <a:ln/>
        </p:spPr>
        <p:txBody>
          <a:bodyPr wrap="square" lIns="0" tIns="0" rIns="0" bIns="0" rtlCol="0" anchor="t"/>
          <a:lstStyle/>
          <a:p>
            <a:pPr indent="0" marL="0">
              <a:buNone/>
            </a:pPr>
            <a:r>
              <a:rPr lang="en-US" sz="1250" b="1" dirty="0">
                <a:solidFill>
                  <a:srgbClr val="7030A0"/>
                </a:solidFill>
                <a:latin typeface="Arial" pitchFamily="34" charset="0"/>
                <a:ea typeface="Arial" pitchFamily="34" charset="-122"/>
                <a:cs typeface="Arial" pitchFamily="34" charset="-120"/>
              </a:rPr>
              <a:t>v.15</a:t>
            </a:r>
            <a:endParaRPr lang="en-US" sz="1200" dirty="0"/>
          </a:p>
          <a:p>
            <a:pPr indent="0" marL="0">
              <a:buNone/>
            </a:pPr>
            <a:r>
              <a:rPr lang="en-US" sz="1250" dirty="0">
                <a:solidFill>
                  <a:srgbClr val="262626"/>
                </a:solidFill>
                <a:latin typeface="Arial" pitchFamily="34" charset="0"/>
                <a:ea typeface="Arial" pitchFamily="34" charset="-122"/>
                <a:cs typeface="Arial" pitchFamily="34" charset="-120"/>
              </a:rPr>
              <a:t>Don't bite and devour one another — written to believers</a:t>
            </a:r>
            <a:endParaRPr lang="en-US" sz="1200" dirty="0"/>
          </a:p>
        </p:txBody>
      </p:sp>
      <p:sp>
        <p:nvSpPr>
          <p:cNvPr id="20" name="Shape 17"/>
          <p:cNvSpPr/>
          <p:nvPr/>
        </p:nvSpPr>
        <p:spPr>
          <a:xfrm>
            <a:off x="457200" y="3931920"/>
            <a:ext cx="8229600" cy="548640"/>
          </a:xfrm>
          <a:prstGeom prst="roundRect">
            <a:avLst>
              <a:gd name="adj" fmla="val 10000"/>
            </a:avLst>
          </a:prstGeom>
          <a:solidFill>
            <a:srgbClr val="1F3864"/>
          </a:solidFill>
          <a:ln w="12700">
            <a:solidFill>
              <a:srgbClr val="1F3864"/>
            </a:solidFill>
            <a:prstDash val="solid"/>
          </a:ln>
        </p:spPr>
      </p:sp>
      <p:sp>
        <p:nvSpPr>
          <p:cNvPr id="21" name="Text 18"/>
          <p:cNvSpPr txBox="1"/>
          <p:nvPr/>
        </p:nvSpPr>
        <p:spPr>
          <a:xfrm>
            <a:off x="621792" y="3931920"/>
            <a:ext cx="7900416" cy="548640"/>
          </a:xfrm>
          <a:prstGeom prst="rect">
            <a:avLst/>
          </a:prstGeom>
          <a:noFill/>
          <a:ln/>
        </p:spPr>
        <p:txBody>
          <a:bodyPr wrap="square" lIns="0" tIns="0" rIns="0" bIns="0" rtlCol="0" anchor="ctr"/>
          <a:lstStyle/>
          <a:p>
            <a:pPr indent="0" marL="0">
              <a:buNone/>
            </a:pPr>
            <a:r>
              <a:rPr lang="en-US" sz="1250" dirty="0">
                <a:solidFill>
                  <a:srgbClr val="FFFFFF"/>
                </a:solidFill>
                <a:latin typeface="Arial" pitchFamily="34" charset="0"/>
                <a:ea typeface="Arial" pitchFamily="34" charset="-122"/>
                <a:cs typeface="Arial" pitchFamily="34" charset="-120"/>
              </a:rPr>
              <a:t>Positionally we are already free (5:1). Experientially we choose, day by day, to live up to that position.</a:t>
            </a:r>
            <a:endParaRPr lang="en-US" sz="125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Walk, conflict, led</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Galatians 5:16–18 · Outline II — The performance of liberty</a:t>
            </a:r>
            <a:endParaRPr lang="en-US" sz="1200" dirty="0"/>
          </a:p>
        </p:txBody>
      </p:sp>
      <p:sp>
        <p:nvSpPr>
          <p:cNvPr id="5" name="Shape 2"/>
          <p:cNvSpPr/>
          <p:nvPr/>
        </p:nvSpPr>
        <p:spPr>
          <a:xfrm>
            <a:off x="457200" y="1188720"/>
            <a:ext cx="2596896" cy="2286000"/>
          </a:xfrm>
          <a:prstGeom prst="rect">
            <a:avLst/>
          </a:prstGeom>
          <a:solidFill>
            <a:srgbClr val="F2F6FC"/>
          </a:solidFill>
          <a:ln w="9525">
            <a:solidFill>
              <a:srgbClr val="D5DCEA"/>
            </a:solidFill>
            <a:prstDash val="solid"/>
          </a:ln>
        </p:spPr>
      </p:sp>
      <p:sp>
        <p:nvSpPr>
          <p:cNvPr id="6" name="Shape 3"/>
          <p:cNvSpPr/>
          <p:nvPr/>
        </p:nvSpPr>
        <p:spPr>
          <a:xfrm>
            <a:off x="457200" y="1188720"/>
            <a:ext cx="2596896" cy="566928"/>
          </a:xfrm>
          <a:prstGeom prst="rect">
            <a:avLst/>
          </a:prstGeom>
          <a:solidFill>
            <a:srgbClr val="2E5496"/>
          </a:solidFill>
          <a:ln w="12700">
            <a:solidFill>
              <a:srgbClr val="2E5496"/>
            </a:solidFill>
            <a:prstDash val="solid"/>
          </a:ln>
        </p:spPr>
      </p:sp>
      <p:sp>
        <p:nvSpPr>
          <p:cNvPr id="7" name="Text 4"/>
          <p:cNvSpPr txBox="1"/>
          <p:nvPr/>
        </p:nvSpPr>
        <p:spPr>
          <a:xfrm>
            <a:off x="512064" y="1188720"/>
            <a:ext cx="2487168" cy="566928"/>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The command</a:t>
            </a:r>
            <a:endParaRPr lang="en-US" sz="1150" dirty="0"/>
          </a:p>
        </p:txBody>
      </p:sp>
      <p:sp>
        <p:nvSpPr>
          <p:cNvPr id="8" name="Text 5"/>
          <p:cNvSpPr txBox="1"/>
          <p:nvPr/>
        </p:nvSpPr>
        <p:spPr>
          <a:xfrm>
            <a:off x="548640" y="1828800"/>
            <a:ext cx="2414016" cy="1335024"/>
          </a:xfrm>
          <a:prstGeom prst="rect">
            <a:avLst/>
          </a:prstGeom>
          <a:noFill/>
          <a:ln/>
        </p:spPr>
        <p:txBody>
          <a:bodyPr wrap="square" lIns="0" tIns="0" rIns="0" bIns="0" rtlCol="0" anchor="t"/>
          <a:lstStyle/>
          <a:p>
            <a:pPr algn="ctr" indent="0" marL="0">
              <a:buNone/>
            </a:pPr>
            <a:r>
              <a:rPr lang="en-US" sz="1250" b="1" dirty="0">
                <a:solidFill>
                  <a:srgbClr val="7030A0"/>
                </a:solidFill>
                <a:latin typeface="Arial" pitchFamily="34" charset="0"/>
                <a:ea typeface="Arial" pitchFamily="34" charset="-122"/>
                <a:cs typeface="Arial" pitchFamily="34" charset="-120"/>
              </a:rPr>
              <a:t>περιπατεῖτε</a:t>
            </a:r>
            <a:endParaRPr lang="en-US" sz="1200" dirty="0"/>
          </a:p>
          <a:p>
            <a:pPr algn="ctr" indent="0" marL="0">
              <a:buNone/>
            </a:pPr>
            <a:r>
              <a:rPr lang="en-US" sz="1200" dirty="0">
                <a:solidFill>
                  <a:srgbClr val="262626"/>
                </a:solidFill>
                <a:latin typeface="Arial" pitchFamily="34" charset="0"/>
                <a:ea typeface="Arial" pitchFamily="34" charset="-122"/>
                <a:cs typeface="Arial" pitchFamily="34" charset="-120"/>
              </a:rPr>
              <a:t>“Walk in the Spirit, and you shall not fulfill the lust of the flesh”</a:t>
            </a:r>
            <a:endParaRPr lang="en-US" sz="1200" dirty="0"/>
          </a:p>
        </p:txBody>
      </p:sp>
      <p:sp>
        <p:nvSpPr>
          <p:cNvPr id="9" name="Text 6"/>
          <p:cNvSpPr txBox="1"/>
          <p:nvPr/>
        </p:nvSpPr>
        <p:spPr>
          <a:xfrm>
            <a:off x="530352" y="3145536"/>
            <a:ext cx="2450592" cy="274320"/>
          </a:xfrm>
          <a:prstGeom prst="rect">
            <a:avLst/>
          </a:prstGeom>
          <a:noFill/>
          <a:ln/>
        </p:spPr>
        <p:txBody>
          <a:bodyPr wrap="square" lIns="0" tIns="0" rIns="0" bIns="0" rtlCol="0" anchor="t"/>
          <a:lstStyle/>
          <a:p>
            <a:pPr algn="ctr" indent="0" marL="0">
              <a:buNone/>
            </a:pPr>
            <a:r>
              <a:rPr lang="en-US" sz="950" i="1" dirty="0">
                <a:solidFill>
                  <a:srgbClr val="595959"/>
                </a:solidFill>
                <a:latin typeface="Arial" pitchFamily="34" charset="0"/>
                <a:ea typeface="Arial" pitchFamily="34" charset="-122"/>
                <a:cs typeface="Arial" pitchFamily="34" charset="-120"/>
              </a:rPr>
              <a:t>v.16</a:t>
            </a:r>
            <a:endParaRPr lang="en-US" sz="950" dirty="0"/>
          </a:p>
        </p:txBody>
      </p:sp>
      <p:sp>
        <p:nvSpPr>
          <p:cNvPr id="10" name="Shape 7"/>
          <p:cNvSpPr/>
          <p:nvPr/>
        </p:nvSpPr>
        <p:spPr>
          <a:xfrm>
            <a:off x="3063240" y="2212848"/>
            <a:ext cx="201168" cy="237744"/>
          </a:xfrm>
          <a:prstGeom prst="rightArrow">
            <a:avLst/>
          </a:prstGeom>
          <a:solidFill>
            <a:srgbClr val="6B7280"/>
          </a:solidFill>
          <a:ln w="12700">
            <a:solidFill>
              <a:srgbClr val="6B7280"/>
            </a:solidFill>
            <a:prstDash val="solid"/>
          </a:ln>
        </p:spPr>
      </p:sp>
      <p:sp>
        <p:nvSpPr>
          <p:cNvPr id="11" name="Shape 8"/>
          <p:cNvSpPr/>
          <p:nvPr/>
        </p:nvSpPr>
        <p:spPr>
          <a:xfrm>
            <a:off x="3273552" y="1188720"/>
            <a:ext cx="2596896" cy="2286000"/>
          </a:xfrm>
          <a:prstGeom prst="rect">
            <a:avLst/>
          </a:prstGeom>
          <a:solidFill>
            <a:srgbClr val="F2F6FC"/>
          </a:solidFill>
          <a:ln w="9525">
            <a:solidFill>
              <a:srgbClr val="D5DCEA"/>
            </a:solidFill>
            <a:prstDash val="solid"/>
          </a:ln>
        </p:spPr>
      </p:sp>
      <p:sp>
        <p:nvSpPr>
          <p:cNvPr id="12" name="Shape 9"/>
          <p:cNvSpPr/>
          <p:nvPr/>
        </p:nvSpPr>
        <p:spPr>
          <a:xfrm>
            <a:off x="3273552" y="1188720"/>
            <a:ext cx="2596896" cy="566928"/>
          </a:xfrm>
          <a:prstGeom prst="rect">
            <a:avLst/>
          </a:prstGeom>
          <a:solidFill>
            <a:srgbClr val="6B7280"/>
          </a:solidFill>
          <a:ln w="12700">
            <a:solidFill>
              <a:srgbClr val="6B7280"/>
            </a:solidFill>
            <a:prstDash val="solid"/>
          </a:ln>
        </p:spPr>
      </p:sp>
      <p:sp>
        <p:nvSpPr>
          <p:cNvPr id="13" name="Text 10"/>
          <p:cNvSpPr txBox="1"/>
          <p:nvPr/>
        </p:nvSpPr>
        <p:spPr>
          <a:xfrm>
            <a:off x="3328416" y="1188720"/>
            <a:ext cx="2487168" cy="566928"/>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The conflict</a:t>
            </a:r>
            <a:endParaRPr lang="en-US" sz="1150" dirty="0"/>
          </a:p>
        </p:txBody>
      </p:sp>
      <p:sp>
        <p:nvSpPr>
          <p:cNvPr id="14" name="Text 11"/>
          <p:cNvSpPr txBox="1"/>
          <p:nvPr/>
        </p:nvSpPr>
        <p:spPr>
          <a:xfrm>
            <a:off x="3364992" y="1828800"/>
            <a:ext cx="2414016" cy="1335024"/>
          </a:xfrm>
          <a:prstGeom prst="rect">
            <a:avLst/>
          </a:prstGeom>
          <a:noFill/>
          <a:ln/>
        </p:spPr>
        <p:txBody>
          <a:bodyPr wrap="square" lIns="0" tIns="0" rIns="0" bIns="0" rtlCol="0" anchor="t"/>
          <a:lstStyle/>
          <a:p>
            <a:pPr algn="ctr" indent="0" marL="0">
              <a:buNone/>
            </a:pPr>
            <a:r>
              <a:rPr lang="en-US" sz="1200" dirty="0">
                <a:solidFill>
                  <a:srgbClr val="262626"/>
                </a:solidFill>
                <a:latin typeface="Arial" pitchFamily="34" charset="0"/>
                <a:ea typeface="Arial" pitchFamily="34" charset="-122"/>
                <a:cs typeface="Arial" pitchFamily="34" charset="-120"/>
              </a:rPr>
              <a:t>Flesh and Spirit are contrary — a war within the believer</a:t>
            </a:r>
            <a:endParaRPr lang="en-US" sz="1200" dirty="0"/>
          </a:p>
        </p:txBody>
      </p:sp>
      <p:sp>
        <p:nvSpPr>
          <p:cNvPr id="15" name="Text 12"/>
          <p:cNvSpPr txBox="1"/>
          <p:nvPr/>
        </p:nvSpPr>
        <p:spPr>
          <a:xfrm>
            <a:off x="3346704" y="3145536"/>
            <a:ext cx="2450592" cy="274320"/>
          </a:xfrm>
          <a:prstGeom prst="rect">
            <a:avLst/>
          </a:prstGeom>
          <a:noFill/>
          <a:ln/>
        </p:spPr>
        <p:txBody>
          <a:bodyPr wrap="square" lIns="0" tIns="0" rIns="0" bIns="0" rtlCol="0" anchor="t"/>
          <a:lstStyle/>
          <a:p>
            <a:pPr algn="ctr" indent="0" marL="0">
              <a:buNone/>
            </a:pPr>
            <a:r>
              <a:rPr lang="en-US" sz="950" i="1" dirty="0">
                <a:solidFill>
                  <a:srgbClr val="595959"/>
                </a:solidFill>
                <a:latin typeface="Arial" pitchFamily="34" charset="0"/>
                <a:ea typeface="Arial" pitchFamily="34" charset="-122"/>
                <a:cs typeface="Arial" pitchFamily="34" charset="-120"/>
              </a:rPr>
              <a:t>v.17</a:t>
            </a:r>
            <a:endParaRPr lang="en-US" sz="950" dirty="0"/>
          </a:p>
        </p:txBody>
      </p:sp>
      <p:sp>
        <p:nvSpPr>
          <p:cNvPr id="16" name="Shape 13"/>
          <p:cNvSpPr/>
          <p:nvPr/>
        </p:nvSpPr>
        <p:spPr>
          <a:xfrm>
            <a:off x="5879592" y="2212848"/>
            <a:ext cx="201168" cy="237744"/>
          </a:xfrm>
          <a:prstGeom prst="rightArrow">
            <a:avLst/>
          </a:prstGeom>
          <a:solidFill>
            <a:srgbClr val="6B7280"/>
          </a:solidFill>
          <a:ln w="12700">
            <a:solidFill>
              <a:srgbClr val="6B7280"/>
            </a:solidFill>
            <a:prstDash val="solid"/>
          </a:ln>
        </p:spPr>
      </p:sp>
      <p:sp>
        <p:nvSpPr>
          <p:cNvPr id="17" name="Shape 14"/>
          <p:cNvSpPr/>
          <p:nvPr/>
        </p:nvSpPr>
        <p:spPr>
          <a:xfrm>
            <a:off x="6089904" y="1188720"/>
            <a:ext cx="2596896" cy="2286000"/>
          </a:xfrm>
          <a:prstGeom prst="rect">
            <a:avLst/>
          </a:prstGeom>
          <a:solidFill>
            <a:srgbClr val="F2F6FC"/>
          </a:solidFill>
          <a:ln w="9525">
            <a:solidFill>
              <a:srgbClr val="D5DCEA"/>
            </a:solidFill>
            <a:prstDash val="solid"/>
          </a:ln>
        </p:spPr>
      </p:sp>
      <p:sp>
        <p:nvSpPr>
          <p:cNvPr id="18" name="Shape 15"/>
          <p:cNvSpPr/>
          <p:nvPr/>
        </p:nvSpPr>
        <p:spPr>
          <a:xfrm>
            <a:off x="6089904" y="1188720"/>
            <a:ext cx="2596896" cy="566928"/>
          </a:xfrm>
          <a:prstGeom prst="rect">
            <a:avLst/>
          </a:prstGeom>
          <a:solidFill>
            <a:srgbClr val="375623"/>
          </a:solidFill>
          <a:ln w="12700">
            <a:solidFill>
              <a:srgbClr val="375623"/>
            </a:solidFill>
            <a:prstDash val="solid"/>
          </a:ln>
        </p:spPr>
      </p:sp>
      <p:sp>
        <p:nvSpPr>
          <p:cNvPr id="19" name="Text 16"/>
          <p:cNvSpPr txBox="1"/>
          <p:nvPr/>
        </p:nvSpPr>
        <p:spPr>
          <a:xfrm>
            <a:off x="6144768" y="1188720"/>
            <a:ext cx="2487168" cy="566928"/>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The call</a:t>
            </a:r>
            <a:endParaRPr lang="en-US" sz="1150" dirty="0"/>
          </a:p>
        </p:txBody>
      </p:sp>
      <p:sp>
        <p:nvSpPr>
          <p:cNvPr id="20" name="Text 17"/>
          <p:cNvSpPr txBox="1"/>
          <p:nvPr/>
        </p:nvSpPr>
        <p:spPr>
          <a:xfrm>
            <a:off x="6181344" y="1828800"/>
            <a:ext cx="2414016" cy="1335024"/>
          </a:xfrm>
          <a:prstGeom prst="rect">
            <a:avLst/>
          </a:prstGeom>
          <a:noFill/>
          <a:ln/>
        </p:spPr>
        <p:txBody>
          <a:bodyPr wrap="square" lIns="0" tIns="0" rIns="0" bIns="0" rtlCol="0" anchor="t"/>
          <a:lstStyle/>
          <a:p>
            <a:pPr algn="ctr" indent="0" marL="0">
              <a:buNone/>
            </a:pPr>
            <a:r>
              <a:rPr lang="en-US" sz="1200" dirty="0">
                <a:solidFill>
                  <a:srgbClr val="262626"/>
                </a:solidFill>
                <a:latin typeface="Arial" pitchFamily="34" charset="0"/>
                <a:ea typeface="Arial" pitchFamily="34" charset="-122"/>
                <a:cs typeface="Arial" pitchFamily="34" charset="-120"/>
              </a:rPr>
              <a:t>“If you are led by the Spirit, you are not under the law”</a:t>
            </a:r>
            <a:endParaRPr lang="en-US" sz="1200" dirty="0"/>
          </a:p>
        </p:txBody>
      </p:sp>
      <p:sp>
        <p:nvSpPr>
          <p:cNvPr id="21" name="Text 18"/>
          <p:cNvSpPr txBox="1"/>
          <p:nvPr/>
        </p:nvSpPr>
        <p:spPr>
          <a:xfrm>
            <a:off x="6163056" y="3145536"/>
            <a:ext cx="2450592" cy="274320"/>
          </a:xfrm>
          <a:prstGeom prst="rect">
            <a:avLst/>
          </a:prstGeom>
          <a:noFill/>
          <a:ln/>
        </p:spPr>
        <p:txBody>
          <a:bodyPr wrap="square" lIns="0" tIns="0" rIns="0" bIns="0" rtlCol="0" anchor="t"/>
          <a:lstStyle/>
          <a:p>
            <a:pPr algn="ctr" indent="0" marL="0">
              <a:buNone/>
            </a:pPr>
            <a:r>
              <a:rPr lang="en-US" sz="950" i="1" dirty="0">
                <a:solidFill>
                  <a:srgbClr val="595959"/>
                </a:solidFill>
                <a:latin typeface="Arial" pitchFamily="34" charset="0"/>
                <a:ea typeface="Arial" pitchFamily="34" charset="-122"/>
                <a:cs typeface="Arial" pitchFamily="34" charset="-120"/>
              </a:rPr>
              <a:t>v.18</a:t>
            </a:r>
            <a:endParaRPr lang="en-US" sz="950" dirty="0"/>
          </a:p>
        </p:txBody>
      </p:sp>
      <p:sp>
        <p:nvSpPr>
          <p:cNvPr id="22" name="Shape 19"/>
          <p:cNvSpPr/>
          <p:nvPr/>
        </p:nvSpPr>
        <p:spPr>
          <a:xfrm>
            <a:off x="457200" y="3749040"/>
            <a:ext cx="8229600" cy="548640"/>
          </a:xfrm>
          <a:prstGeom prst="roundRect">
            <a:avLst>
              <a:gd name="adj" fmla="val 10000"/>
            </a:avLst>
          </a:prstGeom>
          <a:solidFill>
            <a:srgbClr val="1F3864"/>
          </a:solidFill>
          <a:ln w="12700">
            <a:solidFill>
              <a:srgbClr val="1F3864"/>
            </a:solidFill>
            <a:prstDash val="solid"/>
          </a:ln>
        </p:spPr>
      </p:sp>
      <p:sp>
        <p:nvSpPr>
          <p:cNvPr id="23" name="Text 20"/>
          <p:cNvSpPr txBox="1"/>
          <p:nvPr/>
        </p:nvSpPr>
        <p:spPr>
          <a:xfrm>
            <a:off x="621792" y="3749040"/>
            <a:ext cx="7900416" cy="548640"/>
          </a:xfrm>
          <a:prstGeom prst="rect">
            <a:avLst/>
          </a:prstGeom>
          <a:noFill/>
          <a:ln/>
        </p:spPr>
        <p:txBody>
          <a:bodyPr wrap="square" lIns="0" tIns="0" rIns="0" bIns="0" rtlCol="0" anchor="ctr"/>
          <a:lstStyle/>
          <a:p>
            <a:pPr indent="0" marL="0">
              <a:buNone/>
            </a:pPr>
            <a:r>
              <a:rPr lang="en-US" sz="1250" dirty="0">
                <a:solidFill>
                  <a:srgbClr val="FFFFFF"/>
                </a:solidFill>
                <a:latin typeface="Arial" pitchFamily="34" charset="0"/>
                <a:ea typeface="Arial" pitchFamily="34" charset="-122"/>
                <a:cs typeface="Arial" pitchFamily="34" charset="-120"/>
              </a:rPr>
              <a:t>Walking in the Spirit, not self-effort, is how the believer overcomes the flesh.</a:t>
            </a:r>
            <a:endParaRPr lang="en-US" sz="125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Works of the flesh, fruit of the Spirit</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Galatians 5:19–23 · Outline III — The pictures of liberty</a:t>
            </a:r>
            <a:endParaRPr lang="en-US" sz="1200" dirty="0"/>
          </a:p>
        </p:txBody>
      </p:sp>
      <p:sp>
        <p:nvSpPr>
          <p:cNvPr id="5" name="Shape 2"/>
          <p:cNvSpPr/>
          <p:nvPr/>
        </p:nvSpPr>
        <p:spPr>
          <a:xfrm>
            <a:off x="457200" y="1143000"/>
            <a:ext cx="4023360" cy="566928"/>
          </a:xfrm>
          <a:prstGeom prst="rect">
            <a:avLst/>
          </a:prstGeom>
          <a:solidFill>
            <a:srgbClr val="6B7280"/>
          </a:solidFill>
          <a:ln w="12700">
            <a:solidFill>
              <a:srgbClr val="6B7280"/>
            </a:solidFill>
            <a:prstDash val="solid"/>
          </a:ln>
        </p:spPr>
      </p:sp>
      <p:sp>
        <p:nvSpPr>
          <p:cNvPr id="6" name="Text 3"/>
          <p:cNvSpPr txBox="1"/>
          <p:nvPr/>
        </p:nvSpPr>
        <p:spPr>
          <a:xfrm>
            <a:off x="548640" y="1188720"/>
            <a:ext cx="384048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Works of the flesh — plural, self-produced</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ἔργα τῆς σαρκός</a:t>
            </a:r>
            <a:pPr indent="0" marL="0">
              <a:buNone/>
            </a:pPr>
            <a:r>
              <a:rPr lang="en-US" sz="850" dirty="0">
                <a:solidFill>
                  <a:srgbClr val="DCE4F2"/>
                </a:solidFill>
                <a:latin typeface="Arial" pitchFamily="34" charset="0"/>
                <a:ea typeface="Arial" pitchFamily="34" charset="-122"/>
                <a:cs typeface="Arial" pitchFamily="34" charset="-120"/>
              </a:rPr>
              <a:t>  v.19</a:t>
            </a:r>
            <a:endParaRPr lang="en-US" sz="1200" dirty="0"/>
          </a:p>
        </p:txBody>
      </p:sp>
      <p:sp>
        <p:nvSpPr>
          <p:cNvPr id="7" name="Shape 4"/>
          <p:cNvSpPr/>
          <p:nvPr/>
        </p:nvSpPr>
        <p:spPr>
          <a:xfrm>
            <a:off x="457200" y="1709928"/>
            <a:ext cx="4023360" cy="2907792"/>
          </a:xfrm>
          <a:prstGeom prst="rect">
            <a:avLst/>
          </a:prstGeom>
          <a:solidFill>
            <a:srgbClr val="F2F6FC"/>
          </a:solidFill>
          <a:ln w="9525">
            <a:solidFill>
              <a:srgbClr val="D5DCEA"/>
            </a:solidFill>
            <a:prstDash val="solid"/>
          </a:ln>
        </p:spPr>
      </p:sp>
      <p:sp>
        <p:nvSpPr>
          <p:cNvPr id="8" name="Text 5"/>
          <p:cNvSpPr txBox="1"/>
          <p:nvPr/>
        </p:nvSpPr>
        <p:spPr>
          <a:xfrm>
            <a:off x="548640" y="1783080"/>
            <a:ext cx="3840480" cy="2779776"/>
          </a:xfrm>
          <a:prstGeom prst="rect">
            <a:avLst/>
          </a:prstGeom>
          <a:noFill/>
          <a:ln/>
        </p:spPr>
        <p:txBody>
          <a:bodyPr wrap="square" lIns="0" tIns="0" rIns="0" bIns="0" rtlCol="0" anchor="t"/>
          <a:lstStyle/>
          <a:p>
            <a:pPr indent="0" marL="0">
              <a:buNone/>
            </a:pPr>
            <a:endParaRPr lang="en-US" sz="1100" dirty="0"/>
          </a:p>
        </p:txBody>
      </p:sp>
      <p:sp>
        <p:nvSpPr>
          <p:cNvPr id="9" name="Text 6"/>
          <p:cNvSpPr txBox="1"/>
          <p:nvPr/>
        </p:nvSpPr>
        <p:spPr>
          <a:xfrm>
            <a:off x="566928" y="1801368"/>
            <a:ext cx="3803904" cy="2724912"/>
          </a:xfrm>
          <a:prstGeom prst="rect">
            <a:avLst/>
          </a:prstGeom>
          <a:noFill/>
          <a:ln/>
        </p:spPr>
        <p:txBody>
          <a:bodyPr wrap="square" lIns="0" tIns="0" rIns="0" bIns="0" rtlCol="0" anchor="t"/>
          <a:lstStyle/>
          <a:p>
            <a:pPr indent="0" marL="0">
              <a:buNone/>
            </a:pPr>
            <a:r>
              <a:rPr lang="en-US" sz="1300" b="1" dirty="0">
                <a:solidFill>
                  <a:srgbClr val="1F3864"/>
                </a:solidFill>
                <a:latin typeface="Arial" pitchFamily="34" charset="0"/>
                <a:ea typeface="Arial" pitchFamily="34" charset="-122"/>
                <a:cs typeface="Arial" pitchFamily="34" charset="-120"/>
              </a:rPr>
              <a:t>Sexual  </a:t>
            </a:r>
            <a:pPr indent="0" marL="0">
              <a:buNone/>
            </a:pPr>
            <a:r>
              <a:rPr lang="en-US" sz="1300" dirty="0">
                <a:solidFill>
                  <a:srgbClr val="262626"/>
                </a:solidFill>
                <a:latin typeface="Arial" pitchFamily="34" charset="0"/>
                <a:ea typeface="Arial" pitchFamily="34" charset="-122"/>
                <a:cs typeface="Arial" pitchFamily="34" charset="-120"/>
              </a:rPr>
              <a:t>adultery, fornication, uncleanness, lewdness</a:t>
            </a:r>
            <a:endParaRPr lang="en-US" sz="1300" dirty="0"/>
          </a:p>
          <a:p>
            <a:pPr indent="0" marL="0">
              <a:buNone/>
            </a:pPr>
            <a:r>
              <a:rPr lang="en-US" sz="500" dirty="0">
                <a:solidFill>
                  <a:srgbClr val="262626"/>
                </a:solidFill>
                <a:latin typeface="Arial" pitchFamily="34" charset="0"/>
                <a:ea typeface="Arial" pitchFamily="34" charset="-122"/>
                <a:cs typeface="Arial" pitchFamily="34" charset="-120"/>
              </a:rPr>
              <a:t> </a:t>
            </a:r>
            <a:endParaRPr lang="en-US" sz="1300" dirty="0"/>
          </a:p>
          <a:p>
            <a:pPr indent="0" marL="0">
              <a:buNone/>
            </a:pPr>
            <a:r>
              <a:rPr lang="en-US" sz="1300" b="1" dirty="0">
                <a:solidFill>
                  <a:srgbClr val="1F3864"/>
                </a:solidFill>
                <a:latin typeface="Arial" pitchFamily="34" charset="0"/>
                <a:ea typeface="Arial" pitchFamily="34" charset="-122"/>
                <a:cs typeface="Arial" pitchFamily="34" charset="-120"/>
              </a:rPr>
              <a:t>Spiritual  </a:t>
            </a:r>
            <a:pPr indent="0" marL="0">
              <a:buNone/>
            </a:pPr>
            <a:r>
              <a:rPr lang="en-US" sz="1300" dirty="0">
                <a:solidFill>
                  <a:srgbClr val="262626"/>
                </a:solidFill>
                <a:latin typeface="Arial" pitchFamily="34" charset="0"/>
                <a:ea typeface="Arial" pitchFamily="34" charset="-122"/>
                <a:cs typeface="Arial" pitchFamily="34" charset="-120"/>
              </a:rPr>
              <a:t>idolatry, sorcery</a:t>
            </a:r>
            <a:endParaRPr lang="en-US" sz="1300" dirty="0"/>
          </a:p>
          <a:p>
            <a:pPr indent="0" marL="0">
              <a:buNone/>
            </a:pPr>
            <a:r>
              <a:rPr lang="en-US" sz="500" dirty="0">
                <a:solidFill>
                  <a:srgbClr val="262626"/>
                </a:solidFill>
                <a:latin typeface="Arial" pitchFamily="34" charset="0"/>
                <a:ea typeface="Arial" pitchFamily="34" charset="-122"/>
                <a:cs typeface="Arial" pitchFamily="34" charset="-120"/>
              </a:rPr>
              <a:t> </a:t>
            </a:r>
            <a:endParaRPr lang="en-US" sz="1300" dirty="0"/>
          </a:p>
          <a:p>
            <a:pPr indent="0" marL="0">
              <a:buNone/>
            </a:pPr>
            <a:r>
              <a:rPr lang="en-US" sz="1300" b="1" dirty="0">
                <a:solidFill>
                  <a:srgbClr val="1F3864"/>
                </a:solidFill>
                <a:latin typeface="Arial" pitchFamily="34" charset="0"/>
                <a:ea typeface="Arial" pitchFamily="34" charset="-122"/>
                <a:cs typeface="Arial" pitchFamily="34" charset="-120"/>
              </a:rPr>
              <a:t>Social  </a:t>
            </a:r>
            <a:pPr indent="0" marL="0">
              <a:buNone/>
            </a:pPr>
            <a:r>
              <a:rPr lang="en-US" sz="1300" dirty="0">
                <a:solidFill>
                  <a:srgbClr val="262626"/>
                </a:solidFill>
                <a:latin typeface="Arial" pitchFamily="34" charset="0"/>
                <a:ea typeface="Arial" pitchFamily="34" charset="-122"/>
                <a:cs typeface="Arial" pitchFamily="34" charset="-120"/>
              </a:rPr>
              <a:t>hatred, contentions, jealousies, outbursts of wrath, selfish ambitions, dissensions, heresies, envy, murders … “and the like”</a:t>
            </a:r>
            <a:endParaRPr lang="en-US" sz="1300" dirty="0"/>
          </a:p>
        </p:txBody>
      </p:sp>
      <p:sp>
        <p:nvSpPr>
          <p:cNvPr id="10" name="Shape 7"/>
          <p:cNvSpPr/>
          <p:nvPr/>
        </p:nvSpPr>
        <p:spPr>
          <a:xfrm>
            <a:off x="4663440" y="1143000"/>
            <a:ext cx="4023360" cy="566928"/>
          </a:xfrm>
          <a:prstGeom prst="rect">
            <a:avLst/>
          </a:prstGeom>
          <a:solidFill>
            <a:srgbClr val="375623"/>
          </a:solidFill>
          <a:ln w="12700">
            <a:solidFill>
              <a:srgbClr val="375623"/>
            </a:solidFill>
            <a:prstDash val="solid"/>
          </a:ln>
        </p:spPr>
      </p:sp>
      <p:sp>
        <p:nvSpPr>
          <p:cNvPr id="11" name="Text 8"/>
          <p:cNvSpPr txBox="1"/>
          <p:nvPr/>
        </p:nvSpPr>
        <p:spPr>
          <a:xfrm>
            <a:off x="4754880" y="1188720"/>
            <a:ext cx="384048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Fruit of the Spirit — singular, grown</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καρπός</a:t>
            </a:r>
            <a:pPr indent="0" marL="0">
              <a:buNone/>
            </a:pPr>
            <a:r>
              <a:rPr lang="en-US" sz="850" dirty="0">
                <a:solidFill>
                  <a:srgbClr val="DCE4F2"/>
                </a:solidFill>
                <a:latin typeface="Arial" pitchFamily="34" charset="0"/>
                <a:ea typeface="Arial" pitchFamily="34" charset="-122"/>
                <a:cs typeface="Arial" pitchFamily="34" charset="-120"/>
              </a:rPr>
              <a:t>  v.22</a:t>
            </a:r>
            <a:endParaRPr lang="en-US" sz="1200" dirty="0"/>
          </a:p>
        </p:txBody>
      </p:sp>
      <p:sp>
        <p:nvSpPr>
          <p:cNvPr id="12" name="Shape 9"/>
          <p:cNvSpPr/>
          <p:nvPr/>
        </p:nvSpPr>
        <p:spPr>
          <a:xfrm>
            <a:off x="4663440" y="1709928"/>
            <a:ext cx="4023360" cy="2907792"/>
          </a:xfrm>
          <a:prstGeom prst="rect">
            <a:avLst/>
          </a:prstGeom>
          <a:solidFill>
            <a:srgbClr val="F2F6FC"/>
          </a:solidFill>
          <a:ln w="9525">
            <a:solidFill>
              <a:srgbClr val="D5DCEA"/>
            </a:solidFill>
            <a:prstDash val="solid"/>
          </a:ln>
        </p:spPr>
      </p:sp>
      <p:sp>
        <p:nvSpPr>
          <p:cNvPr id="13" name="Text 10"/>
          <p:cNvSpPr txBox="1"/>
          <p:nvPr/>
        </p:nvSpPr>
        <p:spPr>
          <a:xfrm>
            <a:off x="4754880" y="1783080"/>
            <a:ext cx="3840480" cy="2779776"/>
          </a:xfrm>
          <a:prstGeom prst="rect">
            <a:avLst/>
          </a:prstGeom>
          <a:noFill/>
          <a:ln/>
        </p:spPr>
        <p:txBody>
          <a:bodyPr wrap="square" lIns="0" tIns="0" rIns="0" bIns="0" rtlCol="0" anchor="t"/>
          <a:lstStyle/>
          <a:p>
            <a:pPr indent="0" marL="0">
              <a:buNone/>
            </a:pPr>
            <a:endParaRPr lang="en-US" sz="1100" dirty="0"/>
          </a:p>
        </p:txBody>
      </p:sp>
      <p:sp>
        <p:nvSpPr>
          <p:cNvPr id="14" name="Text 11"/>
          <p:cNvSpPr txBox="1"/>
          <p:nvPr/>
        </p:nvSpPr>
        <p:spPr>
          <a:xfrm>
            <a:off x="4773168" y="1801368"/>
            <a:ext cx="3803904" cy="2724912"/>
          </a:xfrm>
          <a:prstGeom prst="rect">
            <a:avLst/>
          </a:prstGeom>
          <a:noFill/>
          <a:ln/>
        </p:spPr>
        <p:txBody>
          <a:bodyPr wrap="square" lIns="0" tIns="0" rIns="0" bIns="0" rtlCol="0" anchor="t"/>
          <a:lstStyle/>
          <a:p>
            <a:pPr indent="0" marL="0">
              <a:buNone/>
            </a:pPr>
            <a:r>
              <a:rPr lang="en-US" sz="1300" b="1" dirty="0">
                <a:solidFill>
                  <a:srgbClr val="1F3864"/>
                </a:solidFill>
                <a:latin typeface="Arial" pitchFamily="34" charset="0"/>
                <a:ea typeface="Arial" pitchFamily="34" charset="-122"/>
                <a:cs typeface="Arial" pitchFamily="34" charset="-120"/>
              </a:rPr>
              <a:t>Upward  </a:t>
            </a:r>
            <a:pPr indent="0" marL="0">
              <a:buNone/>
            </a:pPr>
            <a:r>
              <a:rPr lang="en-US" sz="1300" dirty="0">
                <a:solidFill>
                  <a:srgbClr val="262626"/>
                </a:solidFill>
                <a:latin typeface="Arial" pitchFamily="34" charset="0"/>
                <a:ea typeface="Arial" pitchFamily="34" charset="-122"/>
                <a:cs typeface="Arial" pitchFamily="34" charset="-120"/>
              </a:rPr>
              <a:t>love, joy, peace</a:t>
            </a:r>
            <a:endParaRPr lang="en-US" sz="1300" dirty="0"/>
          </a:p>
          <a:p>
            <a:pPr indent="0" marL="0">
              <a:buNone/>
            </a:pPr>
            <a:r>
              <a:rPr lang="en-US" sz="500" dirty="0">
                <a:solidFill>
                  <a:srgbClr val="262626"/>
                </a:solidFill>
                <a:latin typeface="Arial" pitchFamily="34" charset="0"/>
                <a:ea typeface="Arial" pitchFamily="34" charset="-122"/>
                <a:cs typeface="Arial" pitchFamily="34" charset="-120"/>
              </a:rPr>
              <a:t> </a:t>
            </a:r>
            <a:endParaRPr lang="en-US" sz="1300" dirty="0"/>
          </a:p>
          <a:p>
            <a:pPr indent="0" marL="0">
              <a:buNone/>
            </a:pPr>
            <a:r>
              <a:rPr lang="en-US" sz="1300" b="1" dirty="0">
                <a:solidFill>
                  <a:srgbClr val="1F3864"/>
                </a:solidFill>
                <a:latin typeface="Arial" pitchFamily="34" charset="0"/>
                <a:ea typeface="Arial" pitchFamily="34" charset="-122"/>
                <a:cs typeface="Arial" pitchFamily="34" charset="-120"/>
              </a:rPr>
              <a:t>Outward  </a:t>
            </a:r>
            <a:pPr indent="0" marL="0">
              <a:buNone/>
            </a:pPr>
            <a:r>
              <a:rPr lang="en-US" sz="1300" dirty="0">
                <a:solidFill>
                  <a:srgbClr val="262626"/>
                </a:solidFill>
                <a:latin typeface="Arial" pitchFamily="34" charset="0"/>
                <a:ea typeface="Arial" pitchFamily="34" charset="-122"/>
                <a:cs typeface="Arial" pitchFamily="34" charset="-120"/>
              </a:rPr>
              <a:t>longsuffering, kindness, goodness</a:t>
            </a:r>
            <a:endParaRPr lang="en-US" sz="1300" dirty="0"/>
          </a:p>
          <a:p>
            <a:pPr indent="0" marL="0">
              <a:buNone/>
            </a:pPr>
            <a:r>
              <a:rPr lang="en-US" sz="500" dirty="0">
                <a:solidFill>
                  <a:srgbClr val="262626"/>
                </a:solidFill>
                <a:latin typeface="Arial" pitchFamily="34" charset="0"/>
                <a:ea typeface="Arial" pitchFamily="34" charset="-122"/>
                <a:cs typeface="Arial" pitchFamily="34" charset="-120"/>
              </a:rPr>
              <a:t> </a:t>
            </a:r>
            <a:endParaRPr lang="en-US" sz="1300" dirty="0"/>
          </a:p>
          <a:p>
            <a:pPr indent="0" marL="0">
              <a:buNone/>
            </a:pPr>
            <a:r>
              <a:rPr lang="en-US" sz="1300" b="1" dirty="0">
                <a:solidFill>
                  <a:srgbClr val="1F3864"/>
                </a:solidFill>
                <a:latin typeface="Arial" pitchFamily="34" charset="0"/>
                <a:ea typeface="Arial" pitchFamily="34" charset="-122"/>
                <a:cs typeface="Arial" pitchFamily="34" charset="-120"/>
              </a:rPr>
              <a:t>Inward  </a:t>
            </a:r>
            <a:pPr indent="0" marL="0">
              <a:buNone/>
            </a:pPr>
            <a:r>
              <a:rPr lang="en-US" sz="1300" dirty="0">
                <a:solidFill>
                  <a:srgbClr val="262626"/>
                </a:solidFill>
                <a:latin typeface="Arial" pitchFamily="34" charset="0"/>
                <a:ea typeface="Arial" pitchFamily="34" charset="-122"/>
                <a:cs typeface="Arial" pitchFamily="34" charset="-120"/>
              </a:rPr>
              <a:t>faithfulness, gentleness, self-control</a:t>
            </a:r>
            <a:endParaRPr lang="en-US" sz="1300" dirty="0"/>
          </a:p>
          <a:p>
            <a:pPr indent="0" marL="0">
              <a:buNone/>
            </a:pPr>
            <a:r>
              <a:rPr lang="en-US" sz="500" dirty="0">
                <a:solidFill>
                  <a:srgbClr val="262626"/>
                </a:solidFill>
                <a:latin typeface="Arial" pitchFamily="34" charset="0"/>
                <a:ea typeface="Arial" pitchFamily="34" charset="-122"/>
                <a:cs typeface="Arial" pitchFamily="34" charset="-120"/>
              </a:rPr>
              <a:t> </a:t>
            </a:r>
            <a:endParaRPr lang="en-US" sz="1300" dirty="0"/>
          </a:p>
          <a:p>
            <a:pPr indent="0" marL="0">
              <a:buNone/>
            </a:pPr>
            <a:r>
              <a:rPr lang="en-US" sz="1300" i="1" dirty="0">
                <a:solidFill>
                  <a:srgbClr val="595959"/>
                </a:solidFill>
                <a:latin typeface="Arial" pitchFamily="34" charset="0"/>
                <a:ea typeface="Arial" pitchFamily="34" charset="-122"/>
                <a:cs typeface="Arial" pitchFamily="34" charset="-120"/>
              </a:rPr>
              <a:t>Love (ἀγάπη) comes first — self-sacrificing, the root of the rest</a:t>
            </a:r>
            <a:endParaRPr lang="en-US" sz="13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“Will not inherit the kingdom of God”</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Galatians 5:21 · Outline III.A.2 — The danger of the works of the flesh</a:t>
            </a:r>
            <a:endParaRPr lang="en-US" sz="1200" dirty="0"/>
          </a:p>
        </p:txBody>
      </p:sp>
      <p:sp>
        <p:nvSpPr>
          <p:cNvPr id="5" name="Shape 2"/>
          <p:cNvSpPr/>
          <p:nvPr/>
        </p:nvSpPr>
        <p:spPr>
          <a:xfrm>
            <a:off x="457200" y="1143000"/>
            <a:ext cx="4023360" cy="365760"/>
          </a:xfrm>
          <a:prstGeom prst="rect">
            <a:avLst/>
          </a:prstGeom>
          <a:solidFill>
            <a:srgbClr val="6B7280"/>
          </a:solidFill>
          <a:ln w="12700">
            <a:solidFill>
              <a:srgbClr val="6B7280"/>
            </a:solidFill>
            <a:prstDash val="solid"/>
          </a:ln>
        </p:spPr>
      </p:sp>
      <p:sp>
        <p:nvSpPr>
          <p:cNvPr id="6" name="Text 3"/>
          <p:cNvSpPr txBox="1"/>
          <p:nvPr/>
        </p:nvSpPr>
        <p:spPr>
          <a:xfrm>
            <a:off x="548640" y="1188720"/>
            <a:ext cx="384048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Not entering the kingdom</a:t>
            </a:r>
            <a:endParaRPr lang="en-US" sz="1200" dirty="0"/>
          </a:p>
        </p:txBody>
      </p:sp>
      <p:sp>
        <p:nvSpPr>
          <p:cNvPr id="7" name="Shape 4"/>
          <p:cNvSpPr/>
          <p:nvPr/>
        </p:nvSpPr>
        <p:spPr>
          <a:xfrm>
            <a:off x="457200" y="1508760"/>
            <a:ext cx="4023360" cy="2148840"/>
          </a:xfrm>
          <a:prstGeom prst="rect">
            <a:avLst/>
          </a:prstGeom>
          <a:solidFill>
            <a:srgbClr val="F2F6FC"/>
          </a:solidFill>
          <a:ln w="9525">
            <a:solidFill>
              <a:srgbClr val="D5DCEA"/>
            </a:solidFill>
            <a:prstDash val="solid"/>
          </a:ln>
        </p:spPr>
      </p:sp>
      <p:sp>
        <p:nvSpPr>
          <p:cNvPr id="8" name="Text 5"/>
          <p:cNvSpPr txBox="1"/>
          <p:nvPr/>
        </p:nvSpPr>
        <p:spPr>
          <a:xfrm>
            <a:off x="548640" y="1581912"/>
            <a:ext cx="3840480" cy="2020824"/>
          </a:xfrm>
          <a:prstGeom prst="rect">
            <a:avLst/>
          </a:prstGeom>
          <a:noFill/>
          <a:ln/>
        </p:spPr>
        <p:txBody>
          <a:bodyPr wrap="square" lIns="0" tIns="0" rIns="0" bIns="0" rtlCol="0" anchor="t"/>
          <a:lstStyle/>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Paul is writing to brethren — believers</a:t>
            </a:r>
            <a:endParaRPr lang="en-US" sz="1300" dirty="0"/>
          </a:p>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They have eternal life</a:t>
            </a:r>
            <a:endParaRPr lang="en-US" sz="1300" dirty="0"/>
          </a:p>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Entrance is promised and cannot be lost</a:t>
            </a:r>
            <a:endParaRPr lang="en-US" sz="1300" dirty="0"/>
          </a:p>
        </p:txBody>
      </p:sp>
      <p:sp>
        <p:nvSpPr>
          <p:cNvPr id="9" name="Shape 6"/>
          <p:cNvSpPr/>
          <p:nvPr/>
        </p:nvSpPr>
        <p:spPr>
          <a:xfrm>
            <a:off x="4663440" y="1143000"/>
            <a:ext cx="4023360" cy="365760"/>
          </a:xfrm>
          <a:prstGeom prst="rect">
            <a:avLst/>
          </a:prstGeom>
          <a:solidFill>
            <a:srgbClr val="375623"/>
          </a:solidFill>
          <a:ln w="12700">
            <a:solidFill>
              <a:srgbClr val="375623"/>
            </a:solidFill>
            <a:prstDash val="solid"/>
          </a:ln>
        </p:spPr>
      </p:sp>
      <p:sp>
        <p:nvSpPr>
          <p:cNvPr id="10" name="Text 7"/>
          <p:cNvSpPr txBox="1"/>
          <p:nvPr/>
        </p:nvSpPr>
        <p:spPr>
          <a:xfrm>
            <a:off x="4754880" y="1188720"/>
            <a:ext cx="384048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But ruling with Christ in it</a:t>
            </a:r>
            <a:endParaRPr lang="en-US" sz="1200" dirty="0"/>
          </a:p>
        </p:txBody>
      </p:sp>
      <p:sp>
        <p:nvSpPr>
          <p:cNvPr id="11" name="Shape 8"/>
          <p:cNvSpPr/>
          <p:nvPr/>
        </p:nvSpPr>
        <p:spPr>
          <a:xfrm>
            <a:off x="4663440" y="1508760"/>
            <a:ext cx="4023360" cy="2148840"/>
          </a:xfrm>
          <a:prstGeom prst="rect">
            <a:avLst/>
          </a:prstGeom>
          <a:solidFill>
            <a:srgbClr val="F2F6FC"/>
          </a:solidFill>
          <a:ln w="9525">
            <a:solidFill>
              <a:srgbClr val="D5DCEA"/>
            </a:solidFill>
            <a:prstDash val="solid"/>
          </a:ln>
        </p:spPr>
      </p:sp>
      <p:sp>
        <p:nvSpPr>
          <p:cNvPr id="12" name="Text 9"/>
          <p:cNvSpPr txBox="1"/>
          <p:nvPr/>
        </p:nvSpPr>
        <p:spPr>
          <a:xfrm>
            <a:off x="4754880" y="1581912"/>
            <a:ext cx="3840480" cy="2020824"/>
          </a:xfrm>
          <a:prstGeom prst="rect">
            <a:avLst/>
          </a:prstGeom>
          <a:noFill/>
          <a:ln/>
        </p:spPr>
        <p:txBody>
          <a:bodyPr wrap="square" lIns="0" tIns="0" rIns="0" bIns="0" rtlCol="0" anchor="t"/>
          <a:lstStyle/>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Inheritance = reigning with Christ (Matt 19:29; Rev 2:26)</a:t>
            </a:r>
            <a:endParaRPr lang="en-US" sz="1300" dirty="0"/>
          </a:p>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Believers who live like unbelievers forfeit it</a:t>
            </a:r>
            <a:endParaRPr lang="en-US" sz="1300" dirty="0"/>
          </a:p>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Like Jacob's three sons in Genesis 49</a:t>
            </a:r>
            <a:endParaRPr lang="en-US" sz="1300" dirty="0"/>
          </a:p>
        </p:txBody>
      </p:sp>
      <p:sp>
        <p:nvSpPr>
          <p:cNvPr id="13" name="Shape 10"/>
          <p:cNvSpPr/>
          <p:nvPr/>
        </p:nvSpPr>
        <p:spPr>
          <a:xfrm>
            <a:off x="457200" y="3886200"/>
            <a:ext cx="8229600" cy="548640"/>
          </a:xfrm>
          <a:prstGeom prst="roundRect">
            <a:avLst>
              <a:gd name="adj" fmla="val 10000"/>
            </a:avLst>
          </a:prstGeom>
          <a:solidFill>
            <a:srgbClr val="1F3864"/>
          </a:solidFill>
          <a:ln w="12700">
            <a:solidFill>
              <a:srgbClr val="1F3864"/>
            </a:solidFill>
            <a:prstDash val="solid"/>
          </a:ln>
        </p:spPr>
      </p:sp>
      <p:sp>
        <p:nvSpPr>
          <p:cNvPr id="14" name="Text 11"/>
          <p:cNvSpPr txBox="1"/>
          <p:nvPr/>
        </p:nvSpPr>
        <p:spPr>
          <a:xfrm>
            <a:off x="621792" y="3886200"/>
            <a:ext cx="7900416" cy="548640"/>
          </a:xfrm>
          <a:prstGeom prst="rect">
            <a:avLst/>
          </a:prstGeom>
          <a:noFill/>
          <a:ln/>
        </p:spPr>
        <p:txBody>
          <a:bodyPr wrap="square" lIns="0" tIns="0" rIns="0" bIns="0" rtlCol="0" anchor="ctr"/>
          <a:lstStyle/>
          <a:p>
            <a:pPr indent="0" marL="0">
              <a:buNone/>
            </a:pPr>
            <a:r>
              <a:rPr lang="en-US" sz="1250" dirty="0">
                <a:solidFill>
                  <a:srgbClr val="FFFFFF"/>
                </a:solidFill>
                <a:latin typeface="Arial" pitchFamily="34" charset="0"/>
                <a:ea typeface="Arial" pitchFamily="34" charset="-122"/>
                <a:cs typeface="Arial" pitchFamily="34" charset="-120"/>
              </a:rPr>
              <a:t>When believers live like unbelievers, they will not rule with Christ in His righteous kingdom.</a:t>
            </a:r>
            <a:endParaRPr lang="en-US" sz="125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Participating in liberty</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Galatians 5:24–26 · Outline IV</a:t>
            </a:r>
            <a:endParaRPr lang="en-US" sz="1200" dirty="0"/>
          </a:p>
        </p:txBody>
      </p:sp>
      <p:sp>
        <p:nvSpPr>
          <p:cNvPr id="5" name="Shape 2"/>
          <p:cNvSpPr/>
          <p:nvPr/>
        </p:nvSpPr>
        <p:spPr>
          <a:xfrm>
            <a:off x="457200" y="1115568"/>
            <a:ext cx="777240" cy="621792"/>
          </a:xfrm>
          <a:prstGeom prst="rect">
            <a:avLst/>
          </a:prstGeom>
          <a:solidFill>
            <a:srgbClr val="2E5496"/>
          </a:solidFill>
          <a:ln w="12700">
            <a:solidFill>
              <a:srgbClr val="2E5496"/>
            </a:solidFill>
            <a:prstDash val="solid"/>
          </a:ln>
        </p:spPr>
      </p:sp>
      <p:sp>
        <p:nvSpPr>
          <p:cNvPr id="6" name="Text 3"/>
          <p:cNvSpPr txBox="1"/>
          <p:nvPr/>
        </p:nvSpPr>
        <p:spPr>
          <a:xfrm>
            <a:off x="457200" y="1115568"/>
            <a:ext cx="777240" cy="621792"/>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v.24</a:t>
            </a:r>
            <a:endParaRPr lang="en-US" sz="1100" dirty="0"/>
          </a:p>
        </p:txBody>
      </p:sp>
      <p:sp>
        <p:nvSpPr>
          <p:cNvPr id="7" name="Shape 4"/>
          <p:cNvSpPr/>
          <p:nvPr/>
        </p:nvSpPr>
        <p:spPr>
          <a:xfrm>
            <a:off x="1234440" y="1115568"/>
            <a:ext cx="7452360" cy="621792"/>
          </a:xfrm>
          <a:prstGeom prst="rect">
            <a:avLst/>
          </a:prstGeom>
          <a:solidFill>
            <a:srgbClr val="F2F6FC"/>
          </a:solidFill>
          <a:ln w="9525">
            <a:solidFill>
              <a:srgbClr val="D5DCEA"/>
            </a:solidFill>
            <a:prstDash val="solid"/>
          </a:ln>
        </p:spPr>
      </p:sp>
      <p:sp>
        <p:nvSpPr>
          <p:cNvPr id="8" name="Text 5"/>
          <p:cNvSpPr txBox="1"/>
          <p:nvPr/>
        </p:nvSpPr>
        <p:spPr>
          <a:xfrm>
            <a:off x="1344168" y="1115568"/>
            <a:ext cx="4206240" cy="621792"/>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Provision — “those who are Christ's have crucified the flesh”</a:t>
            </a:r>
            <a:endParaRPr lang="en-US" sz="1200" dirty="0"/>
          </a:p>
        </p:txBody>
      </p:sp>
      <p:sp>
        <p:nvSpPr>
          <p:cNvPr id="9" name="Text 6"/>
          <p:cNvSpPr txBox="1"/>
          <p:nvPr/>
        </p:nvSpPr>
        <p:spPr>
          <a:xfrm>
            <a:off x="5623560" y="1115568"/>
            <a:ext cx="2971800" cy="621792"/>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ἐσταύρωσαν</a:t>
            </a:r>
            <a:endParaRPr lang="en-US" sz="1200" dirty="0"/>
          </a:p>
          <a:p>
            <a:pPr indent="0" marL="0">
              <a:buNone/>
            </a:pPr>
            <a:r>
              <a:rPr lang="en-US" sz="950" dirty="0">
                <a:solidFill>
                  <a:srgbClr val="595959"/>
                </a:solidFill>
                <a:latin typeface="Arial" pitchFamily="34" charset="0"/>
                <a:ea typeface="Arial" pitchFamily="34" charset="-122"/>
                <a:cs typeface="Arial" pitchFamily="34" charset="-120"/>
              </a:rPr>
              <a:t>aorist — a completed identification</a:t>
            </a:r>
            <a:endParaRPr lang="en-US" sz="1200" dirty="0"/>
          </a:p>
        </p:txBody>
      </p:sp>
      <p:sp>
        <p:nvSpPr>
          <p:cNvPr id="10" name="Shape 7"/>
          <p:cNvSpPr/>
          <p:nvPr/>
        </p:nvSpPr>
        <p:spPr>
          <a:xfrm>
            <a:off x="457200" y="1810512"/>
            <a:ext cx="777240" cy="621792"/>
          </a:xfrm>
          <a:prstGeom prst="rect">
            <a:avLst/>
          </a:prstGeom>
          <a:solidFill>
            <a:srgbClr val="2E5496"/>
          </a:solidFill>
          <a:ln w="12700">
            <a:solidFill>
              <a:srgbClr val="2E5496"/>
            </a:solidFill>
            <a:prstDash val="solid"/>
          </a:ln>
        </p:spPr>
      </p:sp>
      <p:sp>
        <p:nvSpPr>
          <p:cNvPr id="11" name="Text 8"/>
          <p:cNvSpPr txBox="1"/>
          <p:nvPr/>
        </p:nvSpPr>
        <p:spPr>
          <a:xfrm>
            <a:off x="457200" y="1810512"/>
            <a:ext cx="777240" cy="621792"/>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v.16</a:t>
            </a:r>
            <a:endParaRPr lang="en-US" sz="1100" dirty="0"/>
          </a:p>
        </p:txBody>
      </p:sp>
      <p:sp>
        <p:nvSpPr>
          <p:cNvPr id="12" name="Shape 9"/>
          <p:cNvSpPr/>
          <p:nvPr/>
        </p:nvSpPr>
        <p:spPr>
          <a:xfrm>
            <a:off x="1234440" y="1810512"/>
            <a:ext cx="7452360" cy="621792"/>
          </a:xfrm>
          <a:prstGeom prst="rect">
            <a:avLst/>
          </a:prstGeom>
          <a:solidFill>
            <a:srgbClr val="FFFFFF"/>
          </a:solidFill>
          <a:ln w="9525">
            <a:solidFill>
              <a:srgbClr val="D5DCEA"/>
            </a:solidFill>
            <a:prstDash val="solid"/>
          </a:ln>
        </p:spPr>
      </p:sp>
      <p:sp>
        <p:nvSpPr>
          <p:cNvPr id="13" name="Text 10"/>
          <p:cNvSpPr txBox="1"/>
          <p:nvPr/>
        </p:nvSpPr>
        <p:spPr>
          <a:xfrm>
            <a:off x="1344168" y="1810512"/>
            <a:ext cx="4206240" cy="621792"/>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Daily walking — ordinary, everyday conduct</a:t>
            </a:r>
            <a:endParaRPr lang="en-US" sz="1200" dirty="0"/>
          </a:p>
        </p:txBody>
      </p:sp>
      <p:sp>
        <p:nvSpPr>
          <p:cNvPr id="14" name="Text 11"/>
          <p:cNvSpPr txBox="1"/>
          <p:nvPr/>
        </p:nvSpPr>
        <p:spPr>
          <a:xfrm>
            <a:off x="5623560" y="1810512"/>
            <a:ext cx="2971800" cy="621792"/>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περιπατεῖτε</a:t>
            </a:r>
            <a:endParaRPr lang="en-US" sz="1200" dirty="0"/>
          </a:p>
          <a:p>
            <a:pPr indent="0" marL="0">
              <a:buNone/>
            </a:pPr>
            <a:r>
              <a:rPr lang="en-US" sz="950" dirty="0">
                <a:solidFill>
                  <a:srgbClr val="595959"/>
                </a:solidFill>
                <a:latin typeface="Arial" pitchFamily="34" charset="0"/>
                <a:ea typeface="Arial" pitchFamily="34" charset="-122"/>
                <a:cs typeface="Arial" pitchFamily="34" charset="-120"/>
              </a:rPr>
              <a:t>to walk around, conduct life</a:t>
            </a:r>
            <a:endParaRPr lang="en-US" sz="1200" dirty="0"/>
          </a:p>
        </p:txBody>
      </p:sp>
      <p:sp>
        <p:nvSpPr>
          <p:cNvPr id="15" name="Shape 12"/>
          <p:cNvSpPr/>
          <p:nvPr/>
        </p:nvSpPr>
        <p:spPr>
          <a:xfrm>
            <a:off x="457200" y="2505456"/>
            <a:ext cx="777240" cy="621792"/>
          </a:xfrm>
          <a:prstGeom prst="rect">
            <a:avLst/>
          </a:prstGeom>
          <a:solidFill>
            <a:srgbClr val="375623"/>
          </a:solidFill>
          <a:ln w="12700">
            <a:solidFill>
              <a:srgbClr val="375623"/>
            </a:solidFill>
            <a:prstDash val="solid"/>
          </a:ln>
        </p:spPr>
      </p:sp>
      <p:sp>
        <p:nvSpPr>
          <p:cNvPr id="16" name="Text 13"/>
          <p:cNvSpPr txBox="1"/>
          <p:nvPr/>
        </p:nvSpPr>
        <p:spPr>
          <a:xfrm>
            <a:off x="457200" y="2505456"/>
            <a:ext cx="777240" cy="621792"/>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v.25</a:t>
            </a:r>
            <a:endParaRPr lang="en-US" sz="1100" dirty="0"/>
          </a:p>
        </p:txBody>
      </p:sp>
      <p:sp>
        <p:nvSpPr>
          <p:cNvPr id="17" name="Shape 14"/>
          <p:cNvSpPr/>
          <p:nvPr/>
        </p:nvSpPr>
        <p:spPr>
          <a:xfrm>
            <a:off x="1234440" y="2505456"/>
            <a:ext cx="7452360" cy="621792"/>
          </a:xfrm>
          <a:prstGeom prst="rect">
            <a:avLst/>
          </a:prstGeom>
          <a:solidFill>
            <a:srgbClr val="F2F6FC"/>
          </a:solidFill>
          <a:ln w="9525">
            <a:solidFill>
              <a:srgbClr val="D5DCEA"/>
            </a:solidFill>
            <a:prstDash val="solid"/>
          </a:ln>
        </p:spPr>
      </p:sp>
      <p:sp>
        <p:nvSpPr>
          <p:cNvPr id="18" name="Text 15"/>
          <p:cNvSpPr txBox="1"/>
          <p:nvPr/>
        </p:nvSpPr>
        <p:spPr>
          <a:xfrm>
            <a:off x="1344168" y="2505456"/>
            <a:ext cx="4206240" cy="621792"/>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Power — “since we live in the Spirit, let us also walk in the Spirit”</a:t>
            </a:r>
            <a:endParaRPr lang="en-US" sz="1200" dirty="0"/>
          </a:p>
        </p:txBody>
      </p:sp>
      <p:sp>
        <p:nvSpPr>
          <p:cNvPr id="19" name="Text 16"/>
          <p:cNvSpPr txBox="1"/>
          <p:nvPr/>
        </p:nvSpPr>
        <p:spPr>
          <a:xfrm>
            <a:off x="5623560" y="2505456"/>
            <a:ext cx="2971800" cy="621792"/>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στοιχῶμεν</a:t>
            </a:r>
            <a:endParaRPr lang="en-US" sz="1200" dirty="0"/>
          </a:p>
          <a:p>
            <a:pPr indent="0" marL="0">
              <a:buNone/>
            </a:pPr>
            <a:r>
              <a:rPr lang="en-US" sz="950" dirty="0">
                <a:solidFill>
                  <a:srgbClr val="595959"/>
                </a:solidFill>
                <a:latin typeface="Arial" pitchFamily="34" charset="0"/>
                <a:ea typeface="Arial" pitchFamily="34" charset="-122"/>
                <a:cs typeface="Arial" pitchFamily="34" charset="-120"/>
              </a:rPr>
              <a:t>march in rank, keep step</a:t>
            </a:r>
            <a:endParaRPr lang="en-US" sz="1200" dirty="0"/>
          </a:p>
        </p:txBody>
      </p:sp>
      <p:sp>
        <p:nvSpPr>
          <p:cNvPr id="20" name="Shape 17"/>
          <p:cNvSpPr/>
          <p:nvPr/>
        </p:nvSpPr>
        <p:spPr>
          <a:xfrm>
            <a:off x="457200" y="3200400"/>
            <a:ext cx="777240" cy="621792"/>
          </a:xfrm>
          <a:prstGeom prst="rect">
            <a:avLst/>
          </a:prstGeom>
          <a:solidFill>
            <a:srgbClr val="7030A0"/>
          </a:solidFill>
          <a:ln w="12700">
            <a:solidFill>
              <a:srgbClr val="7030A0"/>
            </a:solidFill>
            <a:prstDash val="solid"/>
          </a:ln>
        </p:spPr>
      </p:sp>
      <p:sp>
        <p:nvSpPr>
          <p:cNvPr id="21" name="Text 18"/>
          <p:cNvSpPr txBox="1"/>
          <p:nvPr/>
        </p:nvSpPr>
        <p:spPr>
          <a:xfrm>
            <a:off x="457200" y="3200400"/>
            <a:ext cx="777240" cy="621792"/>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v.26</a:t>
            </a:r>
            <a:endParaRPr lang="en-US" sz="1100" dirty="0"/>
          </a:p>
        </p:txBody>
      </p:sp>
      <p:sp>
        <p:nvSpPr>
          <p:cNvPr id="22" name="Shape 19"/>
          <p:cNvSpPr/>
          <p:nvPr/>
        </p:nvSpPr>
        <p:spPr>
          <a:xfrm>
            <a:off x="1234440" y="3200400"/>
            <a:ext cx="7452360" cy="621792"/>
          </a:xfrm>
          <a:prstGeom prst="rect">
            <a:avLst/>
          </a:prstGeom>
          <a:solidFill>
            <a:srgbClr val="FFFFFF"/>
          </a:solidFill>
          <a:ln w="9525">
            <a:solidFill>
              <a:srgbClr val="D5DCEA"/>
            </a:solidFill>
            <a:prstDash val="solid"/>
          </a:ln>
        </p:spPr>
      </p:sp>
      <p:sp>
        <p:nvSpPr>
          <p:cNvPr id="23" name="Text 20"/>
          <p:cNvSpPr txBox="1"/>
          <p:nvPr/>
        </p:nvSpPr>
        <p:spPr>
          <a:xfrm>
            <a:off x="1344168" y="3200400"/>
            <a:ext cx="4206240" cy="621792"/>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Particulars — not conceited, not provoking, not envying</a:t>
            </a:r>
            <a:endParaRPr lang="en-US" sz="1200" dirty="0"/>
          </a:p>
        </p:txBody>
      </p:sp>
      <p:sp>
        <p:nvSpPr>
          <p:cNvPr id="24" name="Text 21"/>
          <p:cNvSpPr txBox="1"/>
          <p:nvPr/>
        </p:nvSpPr>
        <p:spPr>
          <a:xfrm>
            <a:off x="5623560" y="3200400"/>
            <a:ext cx="2971800" cy="621792"/>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κενόδοξοι</a:t>
            </a:r>
            <a:endParaRPr lang="en-US" sz="1200" dirty="0"/>
          </a:p>
          <a:p>
            <a:pPr indent="0" marL="0">
              <a:buNone/>
            </a:pPr>
            <a:r>
              <a:rPr lang="en-US" sz="950" dirty="0">
                <a:solidFill>
                  <a:srgbClr val="595959"/>
                </a:solidFill>
                <a:latin typeface="Arial" pitchFamily="34" charset="0"/>
                <a:ea typeface="Arial" pitchFamily="34" charset="-122"/>
                <a:cs typeface="Arial" pitchFamily="34" charset="-120"/>
              </a:rPr>
              <a:t>“empty glory” — used only here</a:t>
            </a:r>
            <a:endParaRPr lang="en-US" sz="1200" dirty="0"/>
          </a:p>
        </p:txBody>
      </p:sp>
      <p:sp>
        <p:nvSpPr>
          <p:cNvPr id="25" name="Shape 22"/>
          <p:cNvSpPr/>
          <p:nvPr/>
        </p:nvSpPr>
        <p:spPr>
          <a:xfrm>
            <a:off x="457200" y="4069080"/>
            <a:ext cx="8229600" cy="502920"/>
          </a:xfrm>
          <a:prstGeom prst="roundRect">
            <a:avLst>
              <a:gd name="adj" fmla="val 10909"/>
            </a:avLst>
          </a:prstGeom>
          <a:solidFill>
            <a:srgbClr val="1F3864"/>
          </a:solidFill>
          <a:ln w="12700">
            <a:solidFill>
              <a:srgbClr val="1F3864"/>
            </a:solidFill>
            <a:prstDash val="solid"/>
          </a:ln>
        </p:spPr>
      </p:sp>
      <p:sp>
        <p:nvSpPr>
          <p:cNvPr id="26" name="Text 23"/>
          <p:cNvSpPr txBox="1"/>
          <p:nvPr/>
        </p:nvSpPr>
        <p:spPr>
          <a:xfrm>
            <a:off x="621792" y="4069080"/>
            <a:ext cx="7900416" cy="502920"/>
          </a:xfrm>
          <a:prstGeom prst="rect">
            <a:avLst/>
          </a:prstGeom>
          <a:noFill/>
          <a:ln/>
        </p:spPr>
        <p:txBody>
          <a:bodyPr wrap="square" lIns="0" tIns="0" rIns="0" bIns="0" rtlCol="0" anchor="ctr"/>
          <a:lstStyle/>
          <a:p>
            <a:pPr indent="0" marL="0">
              <a:buNone/>
            </a:pPr>
            <a:r>
              <a:rPr lang="en-US" sz="1250" dirty="0">
                <a:solidFill>
                  <a:srgbClr val="FFFFFF"/>
                </a:solidFill>
                <a:latin typeface="Arial" pitchFamily="34" charset="0"/>
                <a:ea typeface="Arial" pitchFamily="34" charset="-122"/>
                <a:cs typeface="Arial" pitchFamily="34" charset="-120"/>
              </a:rPr>
              <a:t>Don't try to live the Christian life without Him. You have the Holy Spirit from the moment you believed.</a:t>
            </a:r>
            <a:endParaRPr lang="en-US" sz="125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Discuss and apply</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Galatians 5:13–26 · from the study's posted questions and applications</a:t>
            </a:r>
            <a:endParaRPr lang="en-US" sz="1200" dirty="0"/>
          </a:p>
        </p:txBody>
      </p:sp>
      <p:sp>
        <p:nvSpPr>
          <p:cNvPr id="5" name="Shape 2"/>
          <p:cNvSpPr/>
          <p:nvPr/>
        </p:nvSpPr>
        <p:spPr>
          <a:xfrm>
            <a:off x="457200" y="1115568"/>
            <a:ext cx="4023360" cy="384048"/>
          </a:xfrm>
          <a:prstGeom prst="rect">
            <a:avLst/>
          </a:prstGeom>
          <a:solidFill>
            <a:srgbClr val="2E5496"/>
          </a:solidFill>
          <a:ln w="12700">
            <a:solidFill>
              <a:srgbClr val="2E5496"/>
            </a:solidFill>
            <a:prstDash val="solid"/>
          </a:ln>
        </p:spPr>
      </p:sp>
      <p:sp>
        <p:nvSpPr>
          <p:cNvPr id="6" name="Text 3"/>
          <p:cNvSpPr txBox="1"/>
          <p:nvPr/>
        </p:nvSpPr>
        <p:spPr>
          <a:xfrm>
            <a:off x="566928" y="1115568"/>
            <a:ext cx="3803904" cy="38404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Discuss</a:t>
            </a:r>
            <a:endParaRPr lang="en-US" sz="1300" dirty="0"/>
          </a:p>
        </p:txBody>
      </p:sp>
      <p:sp>
        <p:nvSpPr>
          <p:cNvPr id="7" name="Shape 4"/>
          <p:cNvSpPr/>
          <p:nvPr/>
        </p:nvSpPr>
        <p:spPr>
          <a:xfrm>
            <a:off x="457200" y="1499616"/>
            <a:ext cx="4023360" cy="2359152"/>
          </a:xfrm>
          <a:prstGeom prst="rect">
            <a:avLst/>
          </a:prstGeom>
          <a:solidFill>
            <a:srgbClr val="F2F6FC"/>
          </a:solidFill>
          <a:ln w="9525">
            <a:solidFill>
              <a:srgbClr val="D5DCEA"/>
            </a:solidFill>
            <a:prstDash val="solid"/>
          </a:ln>
        </p:spPr>
      </p:sp>
      <p:sp>
        <p:nvSpPr>
          <p:cNvPr id="8" name="Shape 5"/>
          <p:cNvSpPr/>
          <p:nvPr/>
        </p:nvSpPr>
        <p:spPr>
          <a:xfrm>
            <a:off x="4663440" y="1115568"/>
            <a:ext cx="4023360" cy="384048"/>
          </a:xfrm>
          <a:prstGeom prst="rect">
            <a:avLst/>
          </a:prstGeom>
          <a:solidFill>
            <a:srgbClr val="375623"/>
          </a:solidFill>
          <a:ln w="12700">
            <a:solidFill>
              <a:srgbClr val="375623"/>
            </a:solidFill>
            <a:prstDash val="solid"/>
          </a:ln>
        </p:spPr>
      </p:sp>
      <p:sp>
        <p:nvSpPr>
          <p:cNvPr id="9" name="Text 6"/>
          <p:cNvSpPr txBox="1"/>
          <p:nvPr/>
        </p:nvSpPr>
        <p:spPr>
          <a:xfrm>
            <a:off x="4773168" y="1115568"/>
            <a:ext cx="3803904" cy="38404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Apply</a:t>
            </a:r>
            <a:endParaRPr lang="en-US" sz="1300" dirty="0"/>
          </a:p>
        </p:txBody>
      </p:sp>
      <p:sp>
        <p:nvSpPr>
          <p:cNvPr id="10" name="Shape 7"/>
          <p:cNvSpPr/>
          <p:nvPr/>
        </p:nvSpPr>
        <p:spPr>
          <a:xfrm>
            <a:off x="4663440" y="1499616"/>
            <a:ext cx="4023360" cy="2359152"/>
          </a:xfrm>
          <a:prstGeom prst="rect">
            <a:avLst/>
          </a:prstGeom>
          <a:solidFill>
            <a:srgbClr val="F2F6FC"/>
          </a:solidFill>
          <a:ln w="9525">
            <a:solidFill>
              <a:srgbClr val="D5DCEA"/>
            </a:solidFill>
            <a:prstDash val="solid"/>
          </a:ln>
        </p:spPr>
      </p:sp>
      <p:sp>
        <p:nvSpPr>
          <p:cNvPr id="11" name="Shape 8"/>
          <p:cNvSpPr/>
          <p:nvPr/>
        </p:nvSpPr>
        <p:spPr>
          <a:xfrm>
            <a:off x="566928" y="1636776"/>
            <a:ext cx="347472" cy="347472"/>
          </a:xfrm>
          <a:prstGeom prst="ellipse">
            <a:avLst/>
          </a:prstGeom>
          <a:solidFill>
            <a:srgbClr val="2E5496"/>
          </a:solidFill>
          <a:ln w="12700">
            <a:solidFill>
              <a:srgbClr val="2E5496"/>
            </a:solidFill>
            <a:prstDash val="solid"/>
          </a:ln>
        </p:spPr>
      </p:sp>
      <p:sp>
        <p:nvSpPr>
          <p:cNvPr id="12" name="Text 9"/>
          <p:cNvSpPr txBox="1"/>
          <p:nvPr/>
        </p:nvSpPr>
        <p:spPr>
          <a:xfrm>
            <a:off x="566928" y="1636776"/>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13" name="Text 10"/>
          <p:cNvSpPr txBox="1"/>
          <p:nvPr/>
        </p:nvSpPr>
        <p:spPr>
          <a:xfrm>
            <a:off x="1005840" y="1591056"/>
            <a:ext cx="3364992" cy="1042416"/>
          </a:xfrm>
          <a:prstGeom prst="rect">
            <a:avLst/>
          </a:prstGeom>
          <a:noFill/>
          <a:ln/>
        </p:spPr>
        <p:txBody>
          <a:bodyPr wrap="square" lIns="0" tIns="0" rIns="0" bIns="0" rtlCol="0" anchor="t"/>
          <a:lstStyle/>
          <a:p>
            <a:pPr indent="0" marL="0">
              <a:buNone/>
            </a:pPr>
            <a:r>
              <a:rPr lang="en-US" sz="1350" dirty="0">
                <a:solidFill>
                  <a:srgbClr val="262626"/>
                </a:solidFill>
                <a:latin typeface="Arial" pitchFamily="34" charset="0"/>
                <a:ea typeface="Arial" pitchFamily="34" charset="-122"/>
                <a:cs typeface="Arial" pitchFamily="34" charset="-120"/>
              </a:rPr>
              <a:t>What would it look like to “wash someone's feet” today — literally or figuratively — in your own relationships?</a:t>
            </a:r>
            <a:endParaRPr lang="en-US" sz="1350" dirty="0"/>
          </a:p>
        </p:txBody>
      </p:sp>
      <p:sp>
        <p:nvSpPr>
          <p:cNvPr id="14" name="Shape 11"/>
          <p:cNvSpPr/>
          <p:nvPr/>
        </p:nvSpPr>
        <p:spPr>
          <a:xfrm>
            <a:off x="566928" y="2724912"/>
            <a:ext cx="347472" cy="347472"/>
          </a:xfrm>
          <a:prstGeom prst="ellipse">
            <a:avLst/>
          </a:prstGeom>
          <a:solidFill>
            <a:srgbClr val="2E5496"/>
          </a:solidFill>
          <a:ln w="12700">
            <a:solidFill>
              <a:srgbClr val="2E5496"/>
            </a:solidFill>
            <a:prstDash val="solid"/>
          </a:ln>
        </p:spPr>
      </p:sp>
      <p:sp>
        <p:nvSpPr>
          <p:cNvPr id="15" name="Text 12"/>
          <p:cNvSpPr txBox="1"/>
          <p:nvPr/>
        </p:nvSpPr>
        <p:spPr>
          <a:xfrm>
            <a:off x="566928" y="2724912"/>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6" name="Text 13"/>
          <p:cNvSpPr txBox="1"/>
          <p:nvPr/>
        </p:nvSpPr>
        <p:spPr>
          <a:xfrm>
            <a:off x="1005840" y="2679192"/>
            <a:ext cx="3364992" cy="1042416"/>
          </a:xfrm>
          <a:prstGeom prst="rect">
            <a:avLst/>
          </a:prstGeom>
          <a:noFill/>
          <a:ln/>
        </p:spPr>
        <p:txBody>
          <a:bodyPr wrap="square" lIns="0" tIns="0" rIns="0" bIns="0" rtlCol="0" anchor="t"/>
          <a:lstStyle/>
          <a:p>
            <a:pPr indent="0" marL="0">
              <a:buNone/>
            </a:pPr>
            <a:r>
              <a:rPr lang="en-US" sz="1350" dirty="0">
                <a:solidFill>
                  <a:srgbClr val="262626"/>
                </a:solidFill>
                <a:latin typeface="Arial" pitchFamily="34" charset="0"/>
                <a:ea typeface="Arial" pitchFamily="34" charset="-122"/>
                <a:cs typeface="Arial" pitchFamily="34" charset="-120"/>
              </a:rPr>
              <a:t>Which fruit of the Spirit do you most need to grow in right now, and what's one step toward depending on the Spirit for it?</a:t>
            </a:r>
            <a:endParaRPr lang="en-US" sz="1350" dirty="0"/>
          </a:p>
        </p:txBody>
      </p:sp>
      <p:sp>
        <p:nvSpPr>
          <p:cNvPr id="17" name="Text 14"/>
          <p:cNvSpPr txBox="1"/>
          <p:nvPr/>
        </p:nvSpPr>
        <p:spPr>
          <a:xfrm>
            <a:off x="4791456" y="1591056"/>
            <a:ext cx="3767328" cy="1042416"/>
          </a:xfrm>
          <a:prstGeom prst="rect">
            <a:avLst/>
          </a:prstGeom>
          <a:noFill/>
          <a:ln/>
        </p:spPr>
        <p:txBody>
          <a:bodyPr wrap="square" lIns="0" tIns="0" rIns="0" bIns="0" rtlCol="0" anchor="t"/>
          <a:lstStyle/>
          <a:p>
            <a:pPr indent="0" marL="0">
              <a:buNone/>
            </a:pPr>
            <a:r>
              <a:rPr lang="en-US" sz="1300" b="1" dirty="0">
                <a:solidFill>
                  <a:srgbClr val="1F3864"/>
                </a:solidFill>
                <a:latin typeface="Arial" pitchFamily="34" charset="0"/>
                <a:ea typeface="Arial" pitchFamily="34" charset="-122"/>
                <a:cs typeface="Arial" pitchFamily="34" charset="-120"/>
              </a:rPr>
              <a:t>Serve Through Love, Not License</a:t>
            </a:r>
            <a:endParaRPr lang="en-US" sz="1200" dirty="0"/>
          </a:p>
          <a:p>
            <a:pPr indent="0" marL="0">
              <a:buNone/>
            </a:pPr>
            <a:r>
              <a:rPr lang="en-US" sz="1250" dirty="0">
                <a:solidFill>
                  <a:srgbClr val="262626"/>
                </a:solidFill>
                <a:latin typeface="Arial" pitchFamily="34" charset="0"/>
                <a:ea typeface="Arial" pitchFamily="34" charset="-122"/>
                <a:cs typeface="Arial" pitchFamily="34" charset="-120"/>
              </a:rPr>
              <a:t>Do one lowly, unglamorous task for someone this week — unasked, and without mentioning it.</a:t>
            </a:r>
            <a:endParaRPr lang="en-US" sz="1200" dirty="0"/>
          </a:p>
        </p:txBody>
      </p:sp>
      <p:sp>
        <p:nvSpPr>
          <p:cNvPr id="18" name="Text 15"/>
          <p:cNvSpPr txBox="1"/>
          <p:nvPr/>
        </p:nvSpPr>
        <p:spPr>
          <a:xfrm>
            <a:off x="4791456" y="2679192"/>
            <a:ext cx="3767328" cy="1042416"/>
          </a:xfrm>
          <a:prstGeom prst="rect">
            <a:avLst/>
          </a:prstGeom>
          <a:noFill/>
          <a:ln/>
        </p:spPr>
        <p:txBody>
          <a:bodyPr wrap="square" lIns="0" tIns="0" rIns="0" bIns="0" rtlCol="0" anchor="t"/>
          <a:lstStyle/>
          <a:p>
            <a:pPr indent="0" marL="0">
              <a:buNone/>
            </a:pPr>
            <a:r>
              <a:rPr lang="en-US" sz="1300" b="1" dirty="0">
                <a:solidFill>
                  <a:srgbClr val="1F3864"/>
                </a:solidFill>
                <a:latin typeface="Arial" pitchFamily="34" charset="0"/>
                <a:ea typeface="Arial" pitchFamily="34" charset="-122"/>
                <a:cs typeface="Arial" pitchFamily="34" charset="-120"/>
              </a:rPr>
              <a:t>Let the Root Produce the Fruit</a:t>
            </a:r>
            <a:endParaRPr lang="en-US" sz="1200" dirty="0"/>
          </a:p>
          <a:p>
            <a:pPr indent="0" marL="0">
              <a:buNone/>
            </a:pPr>
            <a:r>
              <a:rPr lang="en-US" sz="1250" dirty="0">
                <a:solidFill>
                  <a:srgbClr val="262626"/>
                </a:solidFill>
                <a:latin typeface="Arial" pitchFamily="34" charset="0"/>
                <a:ea typeface="Arial" pitchFamily="34" charset="-122"/>
                <a:cs typeface="Arial" pitchFamily="34" charset="-120"/>
              </a:rPr>
              <a:t>Name the fruit you most need, and instead of resolving to try harder, spend time asking the Spirit for it.</a:t>
            </a:r>
            <a:endParaRPr lang="en-US" sz="1200" dirty="0"/>
          </a:p>
        </p:txBody>
      </p:sp>
      <p:sp>
        <p:nvSpPr>
          <p:cNvPr id="19" name="Shape 16"/>
          <p:cNvSpPr/>
          <p:nvPr/>
        </p:nvSpPr>
        <p:spPr>
          <a:xfrm>
            <a:off x="457200" y="4023360"/>
            <a:ext cx="8229600" cy="566928"/>
          </a:xfrm>
          <a:prstGeom prst="roundRect">
            <a:avLst>
              <a:gd name="adj" fmla="val 9677"/>
            </a:avLst>
          </a:prstGeom>
          <a:solidFill>
            <a:srgbClr val="1F3864"/>
          </a:solidFill>
          <a:ln w="12700">
            <a:solidFill>
              <a:srgbClr val="1F3864"/>
            </a:solidFill>
            <a:prstDash val="solid"/>
          </a:ln>
        </p:spPr>
      </p:sp>
      <p:sp>
        <p:nvSpPr>
          <p:cNvPr id="20" name="Text 17"/>
          <p:cNvSpPr txBox="1"/>
          <p:nvPr/>
        </p:nvSpPr>
        <p:spPr>
          <a:xfrm>
            <a:off x="621792" y="4023360"/>
            <a:ext cx="7900416" cy="566928"/>
          </a:xfrm>
          <a:prstGeom prst="rect">
            <a:avLst/>
          </a:prstGeom>
          <a:noFill/>
          <a:ln/>
        </p:spPr>
        <p:txBody>
          <a:bodyPr wrap="square" lIns="0" tIns="0" rIns="0" bIns="0" rtlCol="0" anchor="ctr"/>
          <a:lstStyle/>
          <a:p>
            <a:pPr indent="0" marL="0">
              <a:buNone/>
            </a:pPr>
            <a:r>
              <a:rPr lang="en-US" sz="1250" b="1" dirty="0">
                <a:solidFill>
                  <a:srgbClr val="C9D5EE"/>
                </a:solidFill>
                <a:latin typeface="Arial" pitchFamily="34" charset="0"/>
                <a:ea typeface="Arial" pitchFamily="34" charset="-122"/>
                <a:cs typeface="Arial" pitchFamily="34" charset="-120"/>
              </a:rPr>
              <a:t>In one line:  </a:t>
            </a:r>
            <a:pPr indent="0" marL="0">
              <a:buNone/>
            </a:pPr>
            <a:r>
              <a:rPr lang="en-US" sz="1250" dirty="0">
                <a:solidFill>
                  <a:srgbClr val="FFFFFF"/>
                </a:solidFill>
                <a:latin typeface="Arial" pitchFamily="34" charset="0"/>
                <a:ea typeface="Arial" pitchFamily="34" charset="-122"/>
                <a:cs typeface="Arial" pitchFamily="34" charset="-120"/>
              </a:rPr>
              <a:t>Liberty is lived by walking in step with the Spirit, who grows what the law could only demand.</a:t>
            </a:r>
            <a:endParaRPr lang="en-US" sz="125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Galatians Study 13 — Walk in the Spirit: Charts</dc:title>
  <dc:subject>PptxGenJS Presentation</dc:subject>
  <dc:creator>The Gospel Vault</dc:creator>
  <cp:lastModifiedBy>The Gospel Vault</cp:lastModifiedBy>
  <cp:revision>1</cp:revision>
  <dcterms:created xsi:type="dcterms:W3CDTF">2026-10-30T05:30:26Z</dcterms:created>
  <dcterms:modified xsi:type="dcterms:W3CDTF">2026-10-30T05:30:26Z</dcterms:modified>
</cp:coreProperties>
</file>