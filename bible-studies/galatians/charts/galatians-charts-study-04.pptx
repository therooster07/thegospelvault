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tudy 4 · Galatians 1:18 – 2:10" id="{57128bfb-1796-b7d7-d687-8a65d19491aa}">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This study covers two of Paul's five Jerusalem visits — the first after Damascus (1:18–20) and the famine visit (2:1–10). The main thrust is the famine visit. Every chart in this deck stays within the posted commentary for this study; Greek words come from the study's posted Greek Word Study. Each slide's notes name the commentary section behind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Use this map to show the group where this passage sits in the letter.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(Introduction: Five Visits to Jerusalem): Acts gives five Jerusalem visits. Galatians 1:18–20 is the first; Galatians 2:1–10 is the second, the famine visit. The commentary gives Acts references for the first three. Rows 1 and 2 are this study's text. (See also the posted companion page, Paul's Five Visits to Jerusalem.)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 and II.C.3.e): Verse 20 is a solemn oath: Paul is listing every Jerusalem visit, and leaving one out would be a lie — so 2:1–10 must be the next visit, the famine visit of Acts 11. If this were the council, Paul would have pulled the council's letter from his “hip pocket” and ended the argument. And 2:10 asks only that they remember the poor — nothing about things strangled or blood, which the council's letter included. So: A.D. 48, not 49 or 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(I.A–B): Three years after his conversion Paul went up to get acquainted with Peter (ἱστορῆσαι — to visit and come to know, not to be taught), and saw only James the Lord's brother besides. NKJV: “remained with him fifteen days” (the transcript reads “five days”). Acts 9:26–28: the disciples were afraid of him until Barnabas vouched for him. Acts 9:29–30: he disputed with the Hellenists as Stephen had, they sought to kill him, and the brothers sent him by Caesarea to Tarsus — the regions of Syria and Cilicia (v.21).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(I.C.1–3): The Judean churches did not know Paul by face — more evidence he did not minister under Jerusalem's supervision. They only heard the report, and they glorified God — not Paul. Acts 9:31 pictures the result: walking in the fear of the Lord and the comfort of the Holy Spirit, the church multiplied.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(II.A–B): Time: 14 years — the commentary takes this from Paul's conversion, while noting good reasons for the other view. Team: Paul leading, Barnabas, and Titus — first mention of Titus, a Gentile, uncircumcised. Text: the gospel of grace. Reason: in response to a revelation (Agabus, Acts 11:27–30) — not summoned by the church. Private, not a council. Note the “and”: Paul went with relief and, while there, laid out his gospel — not to ask whether it was right (it came from the Lord), but to get on the same page. If Jerusalem required circumcision and law-keeping, he would be running in vain — at least uphill.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(II.C.1–2): Read v.4 before v.3. False brothers slipped into a private meeting under false pretenses, to spy out our liberty in Christ Jesus and bring us into bondage. Their means: get Titus circumcised and set a precedent. Paul refused — not even for an hour. Add one thing to the gospel and it becomes a false gospel (1:8–9). The commentary's application: separate what you should do (come to church, serve) from what you have to do to be saved (believe).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(II.C.3.a–e): (a) Paul is not angry at the apostles — even an apostle's word would not make heresy right, because God does not receive the face of any man; and they added nothing to Paul's gospel. (b) The same gospel committed to Paul for the uncircumcised as to Peter for the circumcised — one answer to “what must I do to be saved?” (Acts 16:31). (c) The same power worked in both (cf. 1 Cor 3:6). (d) The pillars gave the right hand of fellowship — separate fields, same gospel. (e) Remember the poor — the very thing Paul had come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Leader notes (from the posted Study Questions and Application sections): Q1: Paul went to Jerusalem “by revelation” and discussed his gospel almost as an aside. What does that order of events protect? — Leader answer: That Paul's gospel didn't originate with or depend on Jerusalem's approval. He went for famine relief; discussing his gospel was incidental.  Q2: What two-fold purpose did the false brothers have in 2:4, and how does καταδουλόω (“to enslave”) describe the stakes? — Leader answer: To spy out believers' liberty, then bring them into bondage through circumcision. Adding one requirement to grace doesn't improve the gospel — it enslaves.  Applications: Not Yielding, Not Even for an Hour — Practice stating the gospel this week in one sentence, with nothing added to “believe.”  Bring the Relief, Discuss the Gospel Along the Way — Meet one practical need for someone in your church family this week, without waiting for a “spiritual” reason.  Close by reading the summary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rtlCol="0"/>
          <a:lstStyle>
            <a:lvl1pPr algn="l" indent="0" marL="0">
              <a:buNone/>
              <a:defRPr lang="en-US" sz="2400" b="1" dirty="0">
                <a:solidFill>
                  <a:srgbClr val="1F3864"/>
                </a:solidFill>
                <a:latin typeface="Arial" pitchFamily="34" charset="0"/>
                <a:ea typeface="Arial" pitchFamily="34" charset="-122"/>
                <a:cs typeface="Arial" pitchFamily="34" charset="-120"/>
              </a:defRPr>
            </a:lvl1pPr>
          </a:lstStyle>
          <a:p>
            <a:pPr algn="l" indent="0" marL="0">
              <a:buNone/>
            </a:pP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rtlCol="0"/>
          <a:lstStyle>
            <a:lvl1pPr indent="0" marL="0">
              <a:buNone/>
              <a:defRPr lang="en-US" sz="1200" i="1" dirty="0">
                <a:solidFill>
                  <a:srgbClr val="595959"/>
                </a:solidFill>
                <a:latin typeface="Arial" pitchFamily="34" charset="0"/>
                <a:ea typeface="Arial" pitchFamily="34" charset="-122"/>
                <a:cs typeface="Arial" pitchFamily="34" charset="-120"/>
              </a:defRPr>
            </a:lvl1pPr>
          </a:lstStyle>
          <a:p>
            <a:pPr indent="0" marL="0">
              <a:buNone/>
            </a:pPr>
            <a:endParaRPr lang="en-US" sz="1200" dirty="0"/>
          </a:p>
        </p:txBody>
      </p:sp>
      <p:sp>
        <p:nvSpPr>
          <p:cNvPr id="4" name="Text 0"/>
          <p:cNvSpPr/>
          <p:nvPr/>
        </p:nvSpPr>
        <p:spPr>
          <a:xfrm>
            <a:off x="457200" y="4773168"/>
            <a:ext cx="6858000" cy="228600"/>
          </a:xfrm>
          <a:prstGeom prst="rect">
            <a:avLst/>
          </a:prstGeom>
          <a:noFill/>
          <a:ln/>
        </p:spPr>
        <p:txBody>
          <a:bodyPr wrap="square" lIns="0" tIns="0" rIns="0" bIns="0" rtlCol="0" anchor="ctr"/>
          <a:lstStyle/>
          <a:p>
            <a:pPr indent="0" marL="0">
              <a:buNone/>
            </a:pPr>
            <a:r>
              <a:rPr lang="en-US" sz="800" dirty="0">
                <a:solidFill>
                  <a:srgbClr val="6B7280"/>
                </a:solidFill>
                <a:latin typeface="Arial" pitchFamily="34" charset="0"/>
                <a:ea typeface="Arial" pitchFamily="34" charset="-122"/>
                <a:cs typeface="Arial" pitchFamily="34" charset="-120"/>
              </a:rPr>
              <a:t>Galatians · Study 4 of 16 · Galatians 1:18 – 2:10 · The Gospel Vault · NKJV</a:t>
            </a:r>
            <a:endParaRPr lang="en-US" sz="8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
    <p:bg>
      <p:bgPr>
        <a:solidFill>
          <a:srgbClr val="1F3864"/>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rtlCol="0"/>
          <a:lstStyle>
            <a:lvl1pPr indent="0" marL="0">
              <a:buNone/>
              <a:defRPr lang="en-US" sz="1400" dirty="0">
                <a:solidFill>
                  <a:srgbClr val="C9D5EE"/>
                </a:solidFill>
                <a:latin typeface="Arial" pitchFamily="34" charset="0"/>
                <a:ea typeface="Arial" pitchFamily="34" charset="-122"/>
                <a:cs typeface="Arial" pitchFamily="34" charset="-120"/>
              </a:defRPr>
            </a:lvl1pPr>
          </a:lstStyle>
          <a:p>
            <a:pPr indent="0" marL="0">
              <a:buNone/>
            </a:pP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rtlCol="0"/>
          <a:lstStyle>
            <a:lvl1pPr algn="l" indent="0" marL="0">
              <a:buNone/>
              <a:defRPr lang="en-US" sz="3400" b="1" dirty="0">
                <a:solidFill>
                  <a:srgbClr val="FFFFFF"/>
                </a:solidFill>
                <a:latin typeface="Arial" pitchFamily="34" charset="0"/>
                <a:ea typeface="Arial" pitchFamily="34" charset="-122"/>
                <a:cs typeface="Arial" pitchFamily="34" charset="-120"/>
              </a:defRPr>
            </a:lvl1pPr>
          </a:lstStyle>
          <a:p>
            <a:pPr algn="l" indent="0" marL="0">
              <a:buNone/>
            </a:pP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rtlCol="0"/>
          <a:lstStyle>
            <a:lvl1pPr indent="0" marL="0">
              <a:buNone/>
              <a:defRPr lang="en-US" sz="1500" i="1" dirty="0">
                <a:solidFill>
                  <a:srgbClr val="E6ECF7"/>
                </a:solidFill>
                <a:latin typeface="Arial" pitchFamily="34" charset="0"/>
                <a:ea typeface="Arial" pitchFamily="34" charset="-122"/>
                <a:cs typeface="Arial" pitchFamily="34" charset="-120"/>
              </a:defRPr>
            </a:lvl1pPr>
          </a:lstStyle>
          <a:p>
            <a:pPr indent="0" marL="0">
              <a:buNone/>
            </a:pPr>
            <a:endParaRPr lang="en-US" sz="1500" dirty="0"/>
          </a:p>
        </p:txBody>
      </p:sp>
      <p:sp>
        <p:nvSpPr>
          <p:cNvPr id="5" name="Text 0"/>
          <p:cNvSpPr/>
          <p:nvPr/>
        </p:nvSpPr>
        <p:spPr>
          <a:xfrm>
            <a:off x="640080" y="4754880"/>
            <a:ext cx="7315200" cy="228600"/>
          </a:xfrm>
          <a:prstGeom prst="rect">
            <a:avLst/>
          </a:prstGeom>
          <a:noFill/>
          <a:ln/>
        </p:spPr>
        <p:txBody>
          <a:bodyPr wrap="square" lIns="0" tIns="0" rIns="0" bIns="0" rtlCol="0" anchor="ctr"/>
          <a:lstStyle/>
          <a:p>
            <a:pPr indent="0" marL="0">
              <a:buNone/>
            </a:pPr>
            <a:r>
              <a:rPr lang="en-US" sz="800" dirty="0">
                <a:solidFill>
                  <a:srgbClr val="AEBBD6"/>
                </a:solidFill>
                <a:latin typeface="Arial" pitchFamily="34" charset="0"/>
                <a:ea typeface="Arial" pitchFamily="34" charset="-122"/>
                <a:cs typeface="Arial" pitchFamily="34" charset="-120"/>
              </a:rPr>
              <a:t>Galatians · Study 4 of 16 · Galatians 1:18 – 2:10 · The Gospel Vault · NKJV</a:t>
            </a:r>
            <a:endParaRPr lang="en-US" sz="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640080" y="1097280"/>
            <a:ext cx="7863840" cy="365760"/>
          </a:xfrm>
          <a:prstGeom prst="rect">
            <a:avLst/>
          </a:prstGeom>
          <a:noFill/>
          <a:ln/>
        </p:spPr>
        <p:txBody>
          <a:bodyPr wrap="square" lIns="0" tIns="0" rIns="0" bIns="0" rtlCol="0"/>
          <a:lstStyle/>
          <a:p>
            <a:pPr indent="0" marL="0">
              <a:buNone/>
            </a:pPr>
            <a:r>
              <a:rPr lang="en-US" sz="1400" dirty="0">
                <a:solidFill>
                  <a:srgbClr val="C9D5EE"/>
                </a:solidFill>
                <a:latin typeface="Arial" pitchFamily="34" charset="0"/>
                <a:ea typeface="Arial" pitchFamily="34" charset="-122"/>
                <a:cs typeface="Arial" pitchFamily="34" charset="-120"/>
              </a:rPr>
              <a:t>Galatians · Study 4 of 16 · Galatians 1:18 – 2:10 · Leader charts</a:t>
            </a:r>
            <a:endParaRPr lang="en-US" sz="1400" dirty="0"/>
          </a:p>
        </p:txBody>
      </p:sp>
      <p:sp>
        <p:nvSpPr>
          <p:cNvPr id="3" name="Text 0"/>
          <p:cNvSpPr/>
          <p:nvPr>
            <p:ph idx="101" type="title" hasCustomPrompt="1"/>
          </p:nvPr>
        </p:nvSpPr>
        <p:spPr>
          <a:xfrm>
            <a:off x="640080" y="1508760"/>
            <a:ext cx="7863840" cy="1005840"/>
          </a:xfrm>
          <a:prstGeom prst="rect">
            <a:avLst/>
          </a:prstGeom>
          <a:noFill/>
          <a:ln/>
        </p:spPr>
        <p:txBody>
          <a:bodyPr wrap="square" lIns="0" tIns="0" rIns="0" bIns="0" rtlCol="0" anchor="t"/>
          <a:lstStyle/>
          <a:p>
            <a:pPr algn="l" indent="0" marL="0">
              <a:buNone/>
            </a:pPr>
            <a:r>
              <a:rPr lang="en-US" sz="3400" b="1" dirty="0">
                <a:solidFill>
                  <a:srgbClr val="FFFFFF"/>
                </a:solidFill>
                <a:latin typeface="Arial" pitchFamily="34" charset="0"/>
                <a:ea typeface="Arial" pitchFamily="34" charset="-122"/>
                <a:cs typeface="Arial" pitchFamily="34" charset="-120"/>
              </a:rPr>
              <a:t>Paul's Gospel Is Independent of the Judean Churches</a:t>
            </a:r>
            <a:endParaRPr lang="en-US" sz="3400" dirty="0"/>
          </a:p>
        </p:txBody>
      </p:sp>
      <p:sp>
        <p:nvSpPr>
          <p:cNvPr id="4" name="Text 0"/>
          <p:cNvSpPr/>
          <p:nvPr>
            <p:ph idx="102" type="body" hasCustomPrompt="1"/>
          </p:nvPr>
        </p:nvSpPr>
        <p:spPr>
          <a:xfrm>
            <a:off x="640080" y="2743200"/>
            <a:ext cx="7589520" cy="1463040"/>
          </a:xfrm>
          <a:prstGeom prst="rect">
            <a:avLst/>
          </a:prstGeom>
          <a:noFill/>
          <a:ln/>
        </p:spPr>
        <p:txBody>
          <a:bodyPr wrap="square" lIns="0" tIns="0" rIns="0" bIns="0" rtlCol="0" anchor="t"/>
          <a:lstStyle/>
          <a:p>
            <a:pPr indent="0" marL="0">
              <a:buNone/>
            </a:pPr>
            <a:r>
              <a:rPr lang="en-US" sz="1500" i="1" dirty="0">
                <a:solidFill>
                  <a:srgbClr val="E6ECF7"/>
                </a:solidFill>
                <a:latin typeface="Arial" pitchFamily="34" charset="0"/>
                <a:ea typeface="Arial" pitchFamily="34" charset="-122"/>
                <a:cs typeface="Arial" pitchFamily="34" charset="-120"/>
              </a:rPr>
              <a:t>Paul's gospel and apostleship were never subordinate to Jerusalem — confirmed by the Judean churches' own testimony and the Jerusalem apostles' own recognition.</a:t>
            </a:r>
            <a:endParaRPr lang="en-US" sz="1500" dirty="0"/>
          </a:p>
        </p:txBody>
      </p:sp>
      <p:sp>
        <p:nvSpPr>
          <p:cNvPr id="6" name="Text 3"/>
          <p:cNvSpPr txBox="1"/>
          <p:nvPr/>
        </p:nvSpPr>
        <p:spPr>
          <a:xfrm>
            <a:off x="640080" y="4343400"/>
            <a:ext cx="7863840" cy="274320"/>
          </a:xfrm>
          <a:prstGeom prst="rect">
            <a:avLst/>
          </a:prstGeom>
          <a:noFill/>
          <a:ln/>
        </p:spPr>
        <p:txBody>
          <a:bodyPr wrap="square" lIns="0" tIns="0" rIns="0" bIns="0" rtlCol="0" anchor="t"/>
          <a:lstStyle/>
          <a:p>
            <a:pPr indent="0" marL="0">
              <a:buNone/>
            </a:pPr>
            <a:r>
              <a:rPr lang="en-US" sz="1000" dirty="0">
                <a:solidFill>
                  <a:srgbClr val="AEBBD6"/>
                </a:solidFill>
                <a:latin typeface="Arial" pitchFamily="34" charset="0"/>
                <a:ea typeface="Arial" pitchFamily="34" charset="-122"/>
                <a:cs typeface="Arial" pitchFamily="34" charset="-120"/>
              </a:rPr>
              <a:t>Source: Dr. C. Norman Sellers, ThD · SellersBibleInstitute.com · used by permission</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Where this study fits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 sixteen studies · this study highlighted</a:t>
            </a:r>
            <a:endParaRPr lang="en-US" sz="1200" dirty="0"/>
          </a:p>
        </p:txBody>
      </p:sp>
      <p:sp>
        <p:nvSpPr>
          <p:cNvPr id="5" name="Shape 2"/>
          <p:cNvSpPr/>
          <p:nvPr/>
        </p:nvSpPr>
        <p:spPr>
          <a:xfrm>
            <a:off x="457200" y="1115568"/>
            <a:ext cx="1954530" cy="786384"/>
          </a:xfrm>
          <a:prstGeom prst="rect">
            <a:avLst/>
          </a:prstGeom>
          <a:solidFill>
            <a:srgbClr val="F2F6FC"/>
          </a:solidFill>
          <a:ln w="9525">
            <a:solidFill>
              <a:srgbClr val="D5DCEA"/>
            </a:solidFill>
            <a:prstDash val="solid"/>
          </a:ln>
        </p:spPr>
      </p:sp>
      <p:sp>
        <p:nvSpPr>
          <p:cNvPr id="6" name="Text 3"/>
          <p:cNvSpPr txBox="1"/>
          <p:nvPr/>
        </p:nvSpPr>
        <p:spPr>
          <a:xfrm>
            <a:off x="54864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01  </a:t>
            </a:r>
            <a:pPr indent="0" marL="0">
              <a:buNone/>
            </a:pPr>
            <a:r>
              <a:rPr lang="en-US" sz="1000" b="1" dirty="0">
                <a:solidFill>
                  <a:srgbClr val="595959"/>
                </a:solidFill>
                <a:latin typeface="Arial" pitchFamily="34" charset="0"/>
                <a:ea typeface="Arial" pitchFamily="34" charset="-122"/>
                <a:cs typeface="Arial" pitchFamily="34" charset="-120"/>
              </a:rPr>
              <a:t>1:1–5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Ground of Liberty</a:t>
            </a:r>
            <a:endParaRPr lang="en-US" sz="1200" dirty="0"/>
          </a:p>
        </p:txBody>
      </p:sp>
      <p:sp>
        <p:nvSpPr>
          <p:cNvPr id="7" name="Shape 4"/>
          <p:cNvSpPr/>
          <p:nvPr/>
        </p:nvSpPr>
        <p:spPr>
          <a:xfrm>
            <a:off x="2548890" y="1115568"/>
            <a:ext cx="1954530" cy="786384"/>
          </a:xfrm>
          <a:prstGeom prst="rect">
            <a:avLst/>
          </a:prstGeom>
          <a:solidFill>
            <a:srgbClr val="F2F6FC"/>
          </a:solidFill>
          <a:ln w="9525">
            <a:solidFill>
              <a:srgbClr val="D5DCEA"/>
            </a:solidFill>
            <a:prstDash val="solid"/>
          </a:ln>
        </p:spPr>
      </p:sp>
      <p:sp>
        <p:nvSpPr>
          <p:cNvPr id="8" name="Text 5"/>
          <p:cNvSpPr txBox="1"/>
          <p:nvPr/>
        </p:nvSpPr>
        <p:spPr>
          <a:xfrm>
            <a:off x="264033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02  </a:t>
            </a:r>
            <a:pPr indent="0" marL="0">
              <a:buNone/>
            </a:pPr>
            <a:r>
              <a:rPr lang="en-US" sz="1000" b="1" dirty="0">
                <a:solidFill>
                  <a:srgbClr val="595959"/>
                </a:solidFill>
                <a:latin typeface="Arial" pitchFamily="34" charset="0"/>
                <a:ea typeface="Arial" pitchFamily="34" charset="-122"/>
                <a:cs typeface="Arial" pitchFamily="34" charset="-120"/>
              </a:rPr>
              <a:t>1:6–10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One True Gospel</a:t>
            </a:r>
            <a:endParaRPr lang="en-US" sz="1200" dirty="0"/>
          </a:p>
        </p:txBody>
      </p:sp>
      <p:sp>
        <p:nvSpPr>
          <p:cNvPr id="9" name="Shape 6"/>
          <p:cNvSpPr/>
          <p:nvPr/>
        </p:nvSpPr>
        <p:spPr>
          <a:xfrm>
            <a:off x="4640580" y="1115568"/>
            <a:ext cx="1954530" cy="786384"/>
          </a:xfrm>
          <a:prstGeom prst="rect">
            <a:avLst/>
          </a:prstGeom>
          <a:solidFill>
            <a:srgbClr val="F2F6FC"/>
          </a:solidFill>
          <a:ln w="9525">
            <a:solidFill>
              <a:srgbClr val="D5DCEA"/>
            </a:solidFill>
            <a:prstDash val="solid"/>
          </a:ln>
        </p:spPr>
      </p:sp>
      <p:sp>
        <p:nvSpPr>
          <p:cNvPr id="10" name="Text 7"/>
          <p:cNvSpPr txBox="1"/>
          <p:nvPr/>
        </p:nvSpPr>
        <p:spPr>
          <a:xfrm>
            <a:off x="4732020" y="1170432"/>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03  </a:t>
            </a:r>
            <a:pPr indent="0" marL="0">
              <a:buNone/>
            </a:pPr>
            <a:r>
              <a:rPr lang="en-US" sz="1000" b="1" dirty="0">
                <a:solidFill>
                  <a:srgbClr val="595959"/>
                </a:solidFill>
                <a:latin typeface="Arial" pitchFamily="34" charset="0"/>
                <a:ea typeface="Arial" pitchFamily="34" charset="-122"/>
                <a:cs typeface="Arial" pitchFamily="34" charset="-120"/>
              </a:rPr>
              <a:t>1:11–17</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Independent Revelation</a:t>
            </a:r>
            <a:endParaRPr lang="en-US" sz="1200" dirty="0"/>
          </a:p>
        </p:txBody>
      </p:sp>
      <p:sp>
        <p:nvSpPr>
          <p:cNvPr id="11" name="Shape 8"/>
          <p:cNvSpPr/>
          <p:nvPr/>
        </p:nvSpPr>
        <p:spPr>
          <a:xfrm>
            <a:off x="6732270" y="1115568"/>
            <a:ext cx="1954530" cy="786384"/>
          </a:xfrm>
          <a:prstGeom prst="rect">
            <a:avLst/>
          </a:prstGeom>
          <a:solidFill>
            <a:srgbClr val="1F3864"/>
          </a:solidFill>
          <a:ln w="9525">
            <a:solidFill>
              <a:srgbClr val="1F3864"/>
            </a:solidFill>
            <a:prstDash val="solid"/>
          </a:ln>
        </p:spPr>
      </p:sp>
      <p:sp>
        <p:nvSpPr>
          <p:cNvPr id="12" name="Text 9"/>
          <p:cNvSpPr txBox="1"/>
          <p:nvPr/>
        </p:nvSpPr>
        <p:spPr>
          <a:xfrm>
            <a:off x="6823710" y="1170432"/>
            <a:ext cx="1771650" cy="676656"/>
          </a:xfrm>
          <a:prstGeom prst="rect">
            <a:avLst/>
          </a:prstGeom>
          <a:noFill/>
          <a:ln/>
        </p:spPr>
        <p:txBody>
          <a:bodyPr wrap="square" lIns="0" tIns="0" rIns="0" bIns="0" rtlCol="0" anchor="ctr"/>
          <a:lstStyle/>
          <a:p>
            <a:pPr indent="0" marL="0">
              <a:buNone/>
            </a:pPr>
            <a:r>
              <a:rPr lang="en-US" sz="1200" b="1" dirty="0">
                <a:solidFill>
                  <a:srgbClr val="C9D5EE"/>
                </a:solidFill>
                <a:latin typeface="Arial" pitchFamily="34" charset="0"/>
                <a:ea typeface="Arial" pitchFamily="34" charset="-122"/>
                <a:cs typeface="Arial" pitchFamily="34" charset="-120"/>
              </a:rPr>
              <a:t>04  </a:t>
            </a:r>
            <a:pPr indent="0" marL="0">
              <a:buNone/>
            </a:pPr>
            <a:r>
              <a:rPr lang="en-US" sz="1000" b="1" dirty="0">
                <a:solidFill>
                  <a:srgbClr val="C9D5EE"/>
                </a:solidFill>
                <a:latin typeface="Arial" pitchFamily="34" charset="0"/>
                <a:ea typeface="Arial" pitchFamily="34" charset="-122"/>
                <a:cs typeface="Arial" pitchFamily="34" charset="-120"/>
              </a:rPr>
              <a:t>1:18–2:10</a:t>
            </a:r>
            <a:endParaRPr lang="en-US" sz="1200" dirty="0"/>
          </a:p>
          <a:p>
            <a:pPr indent="0" marL="0">
              <a:buNone/>
            </a:pPr>
            <a:r>
              <a:rPr lang="en-US" sz="1050" b="1" dirty="0">
                <a:solidFill>
                  <a:srgbClr val="FFFFFF"/>
                </a:solidFill>
                <a:latin typeface="Arial" pitchFamily="34" charset="0"/>
                <a:ea typeface="Arial" pitchFamily="34" charset="-122"/>
                <a:cs typeface="Arial" pitchFamily="34" charset="-120"/>
              </a:rPr>
              <a:t>Paul's Gospel Is Independent of the Judean Churches</a:t>
            </a:r>
            <a:endParaRPr lang="en-US" sz="1200" dirty="0"/>
          </a:p>
        </p:txBody>
      </p:sp>
      <p:sp>
        <p:nvSpPr>
          <p:cNvPr id="13" name="Shape 10"/>
          <p:cNvSpPr/>
          <p:nvPr/>
        </p:nvSpPr>
        <p:spPr>
          <a:xfrm>
            <a:off x="457200" y="2020824"/>
            <a:ext cx="1954530" cy="786384"/>
          </a:xfrm>
          <a:prstGeom prst="rect">
            <a:avLst/>
          </a:prstGeom>
          <a:solidFill>
            <a:srgbClr val="F2F6FC"/>
          </a:solidFill>
          <a:ln w="9525">
            <a:solidFill>
              <a:srgbClr val="D5DCEA"/>
            </a:solidFill>
            <a:prstDash val="solid"/>
          </a:ln>
        </p:spPr>
      </p:sp>
      <p:sp>
        <p:nvSpPr>
          <p:cNvPr id="14" name="Text 11"/>
          <p:cNvSpPr txBox="1"/>
          <p:nvPr/>
        </p:nvSpPr>
        <p:spPr>
          <a:xfrm>
            <a:off x="54864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05  </a:t>
            </a:r>
            <a:pPr indent="0" marL="0">
              <a:buNone/>
            </a:pPr>
            <a:r>
              <a:rPr lang="en-US" sz="1000" b="1" dirty="0">
                <a:solidFill>
                  <a:srgbClr val="595959"/>
                </a:solidFill>
                <a:latin typeface="Arial" pitchFamily="34" charset="0"/>
                <a:ea typeface="Arial" pitchFamily="34" charset="-122"/>
                <a:cs typeface="Arial" pitchFamily="34" charset="-120"/>
              </a:rPr>
              <a:t>2:11–21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Peter Goes Back to School</a:t>
            </a:r>
            <a:endParaRPr lang="en-US" sz="1200" dirty="0"/>
          </a:p>
        </p:txBody>
      </p:sp>
      <p:sp>
        <p:nvSpPr>
          <p:cNvPr id="15" name="Shape 12"/>
          <p:cNvSpPr/>
          <p:nvPr/>
        </p:nvSpPr>
        <p:spPr>
          <a:xfrm>
            <a:off x="2548890" y="2020824"/>
            <a:ext cx="1954530" cy="786384"/>
          </a:xfrm>
          <a:prstGeom prst="rect">
            <a:avLst/>
          </a:prstGeom>
          <a:solidFill>
            <a:srgbClr val="F2F6FC"/>
          </a:solidFill>
          <a:ln w="9525">
            <a:solidFill>
              <a:srgbClr val="D5DCEA"/>
            </a:solidFill>
            <a:prstDash val="solid"/>
          </a:ln>
        </p:spPr>
      </p:sp>
      <p:sp>
        <p:nvSpPr>
          <p:cNvPr id="16" name="Text 13"/>
          <p:cNvSpPr txBox="1"/>
          <p:nvPr/>
        </p:nvSpPr>
        <p:spPr>
          <a:xfrm>
            <a:off x="264033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06  </a:t>
            </a:r>
            <a:pPr indent="0" marL="0">
              <a:buNone/>
            </a:pPr>
            <a:r>
              <a:rPr lang="en-US" sz="1000" b="1" dirty="0">
                <a:solidFill>
                  <a:srgbClr val="595959"/>
                </a:solidFill>
                <a:latin typeface="Arial" pitchFamily="34" charset="0"/>
                <a:ea typeface="Arial" pitchFamily="34" charset="-122"/>
                <a:cs typeface="Arial" pitchFamily="34" charset="-120"/>
              </a:rPr>
              <a:t>3:1–5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Under a Spell</a:t>
            </a:r>
            <a:endParaRPr lang="en-US" sz="1200" dirty="0"/>
          </a:p>
        </p:txBody>
      </p:sp>
      <p:sp>
        <p:nvSpPr>
          <p:cNvPr id="17" name="Shape 14"/>
          <p:cNvSpPr/>
          <p:nvPr/>
        </p:nvSpPr>
        <p:spPr>
          <a:xfrm>
            <a:off x="4640580" y="2020824"/>
            <a:ext cx="1954530" cy="786384"/>
          </a:xfrm>
          <a:prstGeom prst="rect">
            <a:avLst/>
          </a:prstGeom>
          <a:solidFill>
            <a:srgbClr val="F2F6FC"/>
          </a:solidFill>
          <a:ln w="9525">
            <a:solidFill>
              <a:srgbClr val="D5DCEA"/>
            </a:solidFill>
            <a:prstDash val="solid"/>
          </a:ln>
        </p:spPr>
      </p:sp>
      <p:sp>
        <p:nvSpPr>
          <p:cNvPr id="18" name="Text 15"/>
          <p:cNvSpPr txBox="1"/>
          <p:nvPr/>
        </p:nvSpPr>
        <p:spPr>
          <a:xfrm>
            <a:off x="473202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07  </a:t>
            </a:r>
            <a:pPr indent="0" marL="0">
              <a:buNone/>
            </a:pPr>
            <a:r>
              <a:rPr lang="en-US" sz="1000" b="1" dirty="0">
                <a:solidFill>
                  <a:srgbClr val="595959"/>
                </a:solidFill>
                <a:latin typeface="Arial" pitchFamily="34" charset="0"/>
                <a:ea typeface="Arial" pitchFamily="34" charset="-122"/>
                <a:cs typeface="Arial" pitchFamily="34" charset="-120"/>
              </a:rPr>
              <a:t>3:6–14</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Blessing or a Curse</a:t>
            </a:r>
            <a:endParaRPr lang="en-US" sz="1200" dirty="0"/>
          </a:p>
        </p:txBody>
      </p:sp>
      <p:sp>
        <p:nvSpPr>
          <p:cNvPr id="19" name="Shape 16"/>
          <p:cNvSpPr/>
          <p:nvPr/>
        </p:nvSpPr>
        <p:spPr>
          <a:xfrm>
            <a:off x="6732270" y="2020824"/>
            <a:ext cx="1954530" cy="786384"/>
          </a:xfrm>
          <a:prstGeom prst="rect">
            <a:avLst/>
          </a:prstGeom>
          <a:solidFill>
            <a:srgbClr val="F2F6FC"/>
          </a:solidFill>
          <a:ln w="9525">
            <a:solidFill>
              <a:srgbClr val="D5DCEA"/>
            </a:solidFill>
            <a:prstDash val="solid"/>
          </a:ln>
        </p:spPr>
      </p:sp>
      <p:sp>
        <p:nvSpPr>
          <p:cNvPr id="20" name="Text 17"/>
          <p:cNvSpPr txBox="1"/>
          <p:nvPr/>
        </p:nvSpPr>
        <p:spPr>
          <a:xfrm>
            <a:off x="6823710" y="2075688"/>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08  </a:t>
            </a:r>
            <a:pPr indent="0" marL="0">
              <a:buNone/>
            </a:pPr>
            <a:r>
              <a:rPr lang="en-US" sz="1000" b="1" dirty="0">
                <a:solidFill>
                  <a:srgbClr val="595959"/>
                </a:solidFill>
                <a:latin typeface="Arial" pitchFamily="34" charset="0"/>
                <a:ea typeface="Arial" pitchFamily="34" charset="-122"/>
                <a:cs typeface="Arial" pitchFamily="34" charset="-120"/>
              </a:rPr>
              <a:t>3:15–29</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The Superiority of the Promise to the Law</a:t>
            </a:r>
            <a:endParaRPr lang="en-US" sz="1200" dirty="0"/>
          </a:p>
        </p:txBody>
      </p:sp>
      <p:sp>
        <p:nvSpPr>
          <p:cNvPr id="21" name="Shape 18"/>
          <p:cNvSpPr/>
          <p:nvPr/>
        </p:nvSpPr>
        <p:spPr>
          <a:xfrm>
            <a:off x="457200" y="2926080"/>
            <a:ext cx="1954530" cy="786384"/>
          </a:xfrm>
          <a:prstGeom prst="rect">
            <a:avLst/>
          </a:prstGeom>
          <a:solidFill>
            <a:srgbClr val="F2F6FC"/>
          </a:solidFill>
          <a:ln w="9525">
            <a:solidFill>
              <a:srgbClr val="D5DCEA"/>
            </a:solidFill>
            <a:prstDash val="solid"/>
          </a:ln>
        </p:spPr>
      </p:sp>
      <p:sp>
        <p:nvSpPr>
          <p:cNvPr id="22" name="Text 19"/>
          <p:cNvSpPr txBox="1"/>
          <p:nvPr/>
        </p:nvSpPr>
        <p:spPr>
          <a:xfrm>
            <a:off x="54864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09  </a:t>
            </a:r>
            <a:pPr indent="0" marL="0">
              <a:buNone/>
            </a:pPr>
            <a:r>
              <a:rPr lang="en-US" sz="1000" b="1" dirty="0">
                <a:solidFill>
                  <a:srgbClr val="595959"/>
                </a:solidFill>
                <a:latin typeface="Arial" pitchFamily="34" charset="0"/>
                <a:ea typeface="Arial" pitchFamily="34" charset="-122"/>
                <a:cs typeface="Arial" pitchFamily="34" charset="-120"/>
              </a:rPr>
              <a:t>4:1–11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When I Became a Man</a:t>
            </a:r>
            <a:endParaRPr lang="en-US" sz="1200" dirty="0"/>
          </a:p>
        </p:txBody>
      </p:sp>
      <p:sp>
        <p:nvSpPr>
          <p:cNvPr id="23" name="Shape 20"/>
          <p:cNvSpPr/>
          <p:nvPr/>
        </p:nvSpPr>
        <p:spPr>
          <a:xfrm>
            <a:off x="2548890" y="2926080"/>
            <a:ext cx="1954530" cy="786384"/>
          </a:xfrm>
          <a:prstGeom prst="rect">
            <a:avLst/>
          </a:prstGeom>
          <a:solidFill>
            <a:srgbClr val="F2F6FC"/>
          </a:solidFill>
          <a:ln w="9525">
            <a:solidFill>
              <a:srgbClr val="D5DCEA"/>
            </a:solidFill>
            <a:prstDash val="solid"/>
          </a:ln>
        </p:spPr>
      </p:sp>
      <p:sp>
        <p:nvSpPr>
          <p:cNvPr id="24" name="Text 21"/>
          <p:cNvSpPr txBox="1"/>
          <p:nvPr/>
        </p:nvSpPr>
        <p:spPr>
          <a:xfrm>
            <a:off x="264033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10  </a:t>
            </a:r>
            <a:pPr indent="0" marL="0">
              <a:buNone/>
            </a:pPr>
            <a:r>
              <a:rPr lang="en-US" sz="1000" b="1" dirty="0">
                <a:solidFill>
                  <a:srgbClr val="595959"/>
                </a:solidFill>
                <a:latin typeface="Arial" pitchFamily="34" charset="0"/>
                <a:ea typeface="Arial" pitchFamily="34" charset="-122"/>
                <a:cs typeface="Arial" pitchFamily="34" charset="-120"/>
              </a:rPr>
              <a:t>4:12–20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A Steel Fist in a Velvet Glove</a:t>
            </a:r>
            <a:endParaRPr lang="en-US" sz="1200" dirty="0"/>
          </a:p>
        </p:txBody>
      </p:sp>
      <p:sp>
        <p:nvSpPr>
          <p:cNvPr id="25" name="Shape 22"/>
          <p:cNvSpPr/>
          <p:nvPr/>
        </p:nvSpPr>
        <p:spPr>
          <a:xfrm>
            <a:off x="4640580" y="2926080"/>
            <a:ext cx="1954530" cy="786384"/>
          </a:xfrm>
          <a:prstGeom prst="rect">
            <a:avLst/>
          </a:prstGeom>
          <a:solidFill>
            <a:srgbClr val="F2F6FC"/>
          </a:solidFill>
          <a:ln w="9525">
            <a:solidFill>
              <a:srgbClr val="D5DCEA"/>
            </a:solidFill>
            <a:prstDash val="solid"/>
          </a:ln>
        </p:spPr>
      </p:sp>
      <p:sp>
        <p:nvSpPr>
          <p:cNvPr id="26" name="Text 23"/>
          <p:cNvSpPr txBox="1"/>
          <p:nvPr/>
        </p:nvSpPr>
        <p:spPr>
          <a:xfrm>
            <a:off x="473202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11  </a:t>
            </a:r>
            <a:pPr indent="0" marL="0">
              <a:buNone/>
            </a:pPr>
            <a:r>
              <a:rPr lang="en-US" sz="1000" b="1" dirty="0">
                <a:solidFill>
                  <a:srgbClr val="595959"/>
                </a:solidFill>
                <a:latin typeface="Arial" pitchFamily="34" charset="0"/>
                <a:ea typeface="Arial" pitchFamily="34" charset="-122"/>
                <a:cs typeface="Arial" pitchFamily="34" charset="-120"/>
              </a:rPr>
              <a:t>4:21–31</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Paul's Old Testament Story</a:t>
            </a:r>
            <a:endParaRPr lang="en-US" sz="1200" dirty="0"/>
          </a:p>
        </p:txBody>
      </p:sp>
      <p:sp>
        <p:nvSpPr>
          <p:cNvPr id="27" name="Shape 24"/>
          <p:cNvSpPr/>
          <p:nvPr/>
        </p:nvSpPr>
        <p:spPr>
          <a:xfrm>
            <a:off x="6732270" y="2926080"/>
            <a:ext cx="1954530" cy="786384"/>
          </a:xfrm>
          <a:prstGeom prst="rect">
            <a:avLst/>
          </a:prstGeom>
          <a:solidFill>
            <a:srgbClr val="F2F6FC"/>
          </a:solidFill>
          <a:ln w="9525">
            <a:solidFill>
              <a:srgbClr val="D5DCEA"/>
            </a:solidFill>
            <a:prstDash val="solid"/>
          </a:ln>
        </p:spPr>
      </p:sp>
      <p:sp>
        <p:nvSpPr>
          <p:cNvPr id="28" name="Text 25"/>
          <p:cNvSpPr txBox="1"/>
          <p:nvPr/>
        </p:nvSpPr>
        <p:spPr>
          <a:xfrm>
            <a:off x="6823710" y="2980944"/>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12  </a:t>
            </a:r>
            <a:pPr indent="0" marL="0">
              <a:buNone/>
            </a:pPr>
            <a:r>
              <a:rPr lang="en-US" sz="1000" b="1" dirty="0">
                <a:solidFill>
                  <a:srgbClr val="595959"/>
                </a:solidFill>
                <a:latin typeface="Arial" pitchFamily="34" charset="0"/>
                <a:ea typeface="Arial" pitchFamily="34" charset="-122"/>
                <a:cs typeface="Arial" pitchFamily="34" charset="-120"/>
              </a:rPr>
              <a:t>5:1–12</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Taking a Stand in Liberty</a:t>
            </a:r>
            <a:endParaRPr lang="en-US" sz="1200" dirty="0"/>
          </a:p>
        </p:txBody>
      </p:sp>
      <p:sp>
        <p:nvSpPr>
          <p:cNvPr id="29" name="Shape 26"/>
          <p:cNvSpPr/>
          <p:nvPr/>
        </p:nvSpPr>
        <p:spPr>
          <a:xfrm>
            <a:off x="457200" y="3831336"/>
            <a:ext cx="1954530" cy="786384"/>
          </a:xfrm>
          <a:prstGeom prst="rect">
            <a:avLst/>
          </a:prstGeom>
          <a:solidFill>
            <a:srgbClr val="F2F6FC"/>
          </a:solidFill>
          <a:ln w="9525">
            <a:solidFill>
              <a:srgbClr val="D5DCEA"/>
            </a:solidFill>
            <a:prstDash val="solid"/>
          </a:ln>
        </p:spPr>
      </p:sp>
      <p:sp>
        <p:nvSpPr>
          <p:cNvPr id="30" name="Text 27"/>
          <p:cNvSpPr txBox="1"/>
          <p:nvPr/>
        </p:nvSpPr>
        <p:spPr>
          <a:xfrm>
            <a:off x="54864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13  </a:t>
            </a:r>
            <a:pPr indent="0" marL="0">
              <a:buNone/>
            </a:pPr>
            <a:r>
              <a:rPr lang="en-US" sz="1000" b="1" dirty="0">
                <a:solidFill>
                  <a:srgbClr val="595959"/>
                </a:solidFill>
                <a:latin typeface="Arial" pitchFamily="34" charset="0"/>
                <a:ea typeface="Arial" pitchFamily="34" charset="-122"/>
                <a:cs typeface="Arial" pitchFamily="34" charset="-120"/>
              </a:rPr>
              <a:t>5:13–26</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Walk in the Spirit</a:t>
            </a:r>
            <a:endParaRPr lang="en-US" sz="1200" dirty="0"/>
          </a:p>
        </p:txBody>
      </p:sp>
      <p:sp>
        <p:nvSpPr>
          <p:cNvPr id="31" name="Shape 28"/>
          <p:cNvSpPr/>
          <p:nvPr/>
        </p:nvSpPr>
        <p:spPr>
          <a:xfrm>
            <a:off x="2548890" y="3831336"/>
            <a:ext cx="1954530" cy="786384"/>
          </a:xfrm>
          <a:prstGeom prst="rect">
            <a:avLst/>
          </a:prstGeom>
          <a:solidFill>
            <a:srgbClr val="F2F6FC"/>
          </a:solidFill>
          <a:ln w="9525">
            <a:solidFill>
              <a:srgbClr val="D5DCEA"/>
            </a:solidFill>
            <a:prstDash val="solid"/>
          </a:ln>
        </p:spPr>
      </p:sp>
      <p:sp>
        <p:nvSpPr>
          <p:cNvPr id="32" name="Text 29"/>
          <p:cNvSpPr txBox="1"/>
          <p:nvPr/>
        </p:nvSpPr>
        <p:spPr>
          <a:xfrm>
            <a:off x="264033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14  </a:t>
            </a:r>
            <a:pPr indent="0" marL="0">
              <a:buNone/>
            </a:pPr>
            <a:r>
              <a:rPr lang="en-US" sz="1000" b="1" dirty="0">
                <a:solidFill>
                  <a:srgbClr val="595959"/>
                </a:solidFill>
                <a:latin typeface="Arial" pitchFamily="34" charset="0"/>
                <a:ea typeface="Arial" pitchFamily="34" charset="-122"/>
                <a:cs typeface="Arial" pitchFamily="34" charset="-120"/>
              </a:rPr>
              <a:t>6:1–5</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Brothers and Burdens</a:t>
            </a:r>
            <a:endParaRPr lang="en-US" sz="1200" dirty="0"/>
          </a:p>
        </p:txBody>
      </p:sp>
      <p:sp>
        <p:nvSpPr>
          <p:cNvPr id="33" name="Shape 30"/>
          <p:cNvSpPr/>
          <p:nvPr/>
        </p:nvSpPr>
        <p:spPr>
          <a:xfrm>
            <a:off x="4640580" y="3831336"/>
            <a:ext cx="1954530" cy="786384"/>
          </a:xfrm>
          <a:prstGeom prst="rect">
            <a:avLst/>
          </a:prstGeom>
          <a:solidFill>
            <a:srgbClr val="F2F6FC"/>
          </a:solidFill>
          <a:ln w="9525">
            <a:solidFill>
              <a:srgbClr val="D5DCEA"/>
            </a:solidFill>
            <a:prstDash val="solid"/>
          </a:ln>
        </p:spPr>
      </p:sp>
      <p:sp>
        <p:nvSpPr>
          <p:cNvPr id="34" name="Text 31"/>
          <p:cNvSpPr txBox="1"/>
          <p:nvPr/>
        </p:nvSpPr>
        <p:spPr>
          <a:xfrm>
            <a:off x="473202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15  </a:t>
            </a:r>
            <a:pPr indent="0" marL="0">
              <a:buNone/>
            </a:pPr>
            <a:r>
              <a:rPr lang="en-US" sz="1000" b="1" dirty="0">
                <a:solidFill>
                  <a:srgbClr val="595959"/>
                </a:solidFill>
                <a:latin typeface="Arial" pitchFamily="34" charset="0"/>
                <a:ea typeface="Arial" pitchFamily="34" charset="-122"/>
                <a:cs typeface="Arial" pitchFamily="34" charset="-120"/>
              </a:rPr>
              <a:t>6:6–10</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Sowing and Reaping</a:t>
            </a:r>
            <a:endParaRPr lang="en-US" sz="1200" dirty="0"/>
          </a:p>
        </p:txBody>
      </p:sp>
      <p:sp>
        <p:nvSpPr>
          <p:cNvPr id="35" name="Shape 32"/>
          <p:cNvSpPr/>
          <p:nvPr/>
        </p:nvSpPr>
        <p:spPr>
          <a:xfrm>
            <a:off x="6732270" y="3831336"/>
            <a:ext cx="1954530" cy="786384"/>
          </a:xfrm>
          <a:prstGeom prst="rect">
            <a:avLst/>
          </a:prstGeom>
          <a:solidFill>
            <a:srgbClr val="F2F6FC"/>
          </a:solidFill>
          <a:ln w="9525">
            <a:solidFill>
              <a:srgbClr val="D5DCEA"/>
            </a:solidFill>
            <a:prstDash val="solid"/>
          </a:ln>
        </p:spPr>
      </p:sp>
      <p:sp>
        <p:nvSpPr>
          <p:cNvPr id="36" name="Text 33"/>
          <p:cNvSpPr txBox="1"/>
          <p:nvPr/>
        </p:nvSpPr>
        <p:spPr>
          <a:xfrm>
            <a:off x="6823710" y="3886200"/>
            <a:ext cx="1771650" cy="676656"/>
          </a:xfrm>
          <a:prstGeom prst="rect">
            <a:avLst/>
          </a:prstGeom>
          <a:noFill/>
          <a:ln/>
        </p:spPr>
        <p:txBody>
          <a:bodyPr wrap="square" lIns="0" tIns="0" rIns="0" bIns="0" rtlCol="0" anchor="ctr"/>
          <a:lstStyle/>
          <a:p>
            <a:pPr indent="0" marL="0">
              <a:buNone/>
            </a:pPr>
            <a:r>
              <a:rPr lang="en-US" sz="1200" b="1" dirty="0">
                <a:solidFill>
                  <a:srgbClr val="2E5496"/>
                </a:solidFill>
                <a:latin typeface="Arial" pitchFamily="34" charset="0"/>
                <a:ea typeface="Arial" pitchFamily="34" charset="-122"/>
                <a:cs typeface="Arial" pitchFamily="34" charset="-120"/>
              </a:rPr>
              <a:t>16  </a:t>
            </a:r>
            <a:pPr indent="0" marL="0">
              <a:buNone/>
            </a:pPr>
            <a:r>
              <a:rPr lang="en-US" sz="1000" b="1" dirty="0">
                <a:solidFill>
                  <a:srgbClr val="595959"/>
                </a:solidFill>
                <a:latin typeface="Arial" pitchFamily="34" charset="0"/>
                <a:ea typeface="Arial" pitchFamily="34" charset="-122"/>
                <a:cs typeface="Arial" pitchFamily="34" charset="-120"/>
              </a:rPr>
              <a:t>6:11–18</a:t>
            </a:r>
            <a:endParaRPr lang="en-US" sz="1200" dirty="0"/>
          </a:p>
          <a:p>
            <a:pPr indent="0" marL="0">
              <a:buNone/>
            </a:pPr>
            <a:r>
              <a:rPr lang="en-US" sz="1050" b="1" dirty="0">
                <a:solidFill>
                  <a:srgbClr val="1F3864"/>
                </a:solidFill>
                <a:latin typeface="Arial" pitchFamily="34" charset="0"/>
                <a:ea typeface="Arial" pitchFamily="34" charset="-122"/>
                <a:cs typeface="Arial" pitchFamily="34" charset="-120"/>
              </a:rPr>
              <a:t>Teaching the Truth</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five visits to Jerusalem</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Introduction · Acts and Galatians together</a:t>
            </a:r>
            <a:endParaRPr lang="en-US" sz="1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411480"/>
                <a:gridCol w="2011680"/>
                <a:gridCol w="868680"/>
                <a:gridCol w="960120"/>
                <a:gridCol w="3977640"/>
              </a:tblGrid>
              <a:tr h="310896">
                <a:tc>
                  <a:txBody>
                    <a:bodyPr/>
                    <a:lstStyle/>
                    <a:p>
                      <a:pPr indent="0" marL="0">
                        <a:buNone/>
                      </a:pPr>
                      <a:r>
                        <a:rPr lang="en-US" sz="1100" b="1" dirty="0">
                          <a:solidFill>
                            <a:srgbClr val="FFFFFF"/>
                          </a:solidFill>
                          <a:latin typeface="Arial" pitchFamily="34" charset="0"/>
                          <a:ea typeface="Arial" pitchFamily="34" charset="-122"/>
                          <a:cs typeface="Arial" pitchFamily="34" charset="-120"/>
                        </a:rPr>
                        <a:t>#</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Visit</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Acts</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Galatians</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What happened</a:t>
                      </a:r>
                      <a:endParaRPr lang="en-US" sz="11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200" b="1" dirty="0">
                          <a:solidFill>
                            <a:srgbClr val="262626"/>
                          </a:solidFill>
                          <a:latin typeface="Arial" pitchFamily="34" charset="0"/>
                          <a:ea typeface="Arial" pitchFamily="34" charset="-122"/>
                          <a:cs typeface="Arial" pitchFamily="34" charset="-120"/>
                        </a:rPr>
                        <a:t>After leaving Damascus</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9:26–30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b="1" dirty="0">
                          <a:solidFill>
                            <a:srgbClr val="7030A0"/>
                          </a:solidFill>
                          <a:latin typeface="Arial" pitchFamily="34" charset="0"/>
                          <a:ea typeface="Arial" pitchFamily="34" charset="-122"/>
                          <a:cs typeface="Arial" pitchFamily="34" charset="-120"/>
                        </a:rPr>
                        <a:t>1:18–20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Barnabas brings him to the apostles; he preaches boldly</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2E5496"/>
                    </a:solidFill>
                  </a:tcPr>
                </a:tc>
                <a:tc>
                  <a:txBody>
                    <a:bodyPr/>
                    <a:lstStyle/>
                    <a:p>
                      <a:pPr indent="0" marL="0">
                        <a:buNone/>
                      </a:pPr>
                      <a:r>
                        <a:rPr lang="en-US" sz="1200" b="1" dirty="0">
                          <a:solidFill>
                            <a:srgbClr val="262626"/>
                          </a:solidFill>
                          <a:latin typeface="Arial" pitchFamily="34" charset="0"/>
                          <a:ea typeface="Arial" pitchFamily="34" charset="-122"/>
                          <a:cs typeface="Arial" pitchFamily="34" charset="-120"/>
                        </a:rPr>
                        <a:t>The famine visit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11:27–30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b="1" dirty="0">
                          <a:solidFill>
                            <a:srgbClr val="7030A0"/>
                          </a:solidFill>
                          <a:latin typeface="Arial" pitchFamily="34" charset="0"/>
                          <a:ea typeface="Arial" pitchFamily="34" charset="-122"/>
                          <a:cs typeface="Arial" pitchFamily="34" charset="-120"/>
                        </a:rPr>
                        <a:t>2:1–10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Relief from Antioch; Paul discusses his gospel privately</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6B7280"/>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The Jerusalem Council</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The law-and-grace question settled (A.D. 49/50)</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6B7280"/>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End of the second journey</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Greets the church, returns to Antioch</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FFFFF"/>
                    </a:solidFill>
                  </a:tcPr>
                </a:tc>
              </a:tr>
              <a:tr h="502920">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6B7280"/>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The final visit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c>
                  <a:txBody>
                    <a:bodyPr/>
                    <a:lstStyle/>
                    <a:p>
                      <a:pPr indent="0" marL="0">
                        <a:buNone/>
                      </a:pPr>
                      <a:r>
                        <a:rPr lang="en-US" sz="1200" dirty="0">
                          <a:solidFill>
                            <a:srgbClr val="262626"/>
                          </a:solidFill>
                          <a:latin typeface="Arial" pitchFamily="34" charset="0"/>
                          <a:ea typeface="Arial" pitchFamily="34" charset="-122"/>
                          <a:cs typeface="Arial" pitchFamily="34" charset="-120"/>
                        </a:rPr>
                        <a:t>Taken in the temple; two years in Caesarea, two in Rome</a:t>
                      </a:r>
                      <a:endParaRPr lang="en-US" sz="1200" dirty="0">
                        <a:latin typeface="Arial" charset="0"/>
                        <a:ea typeface="Arial" charset="0"/>
                        <a:cs typeface="Arial" charset="0"/>
                      </a:endParaRPr>
                    </a:p>
                  </a:txBody>
                  <a:tcPr marL="76200" marR="76200" marT="38100" marB="38100" anchor="ctr">
                    <a:lnL w="9525" cap="flat" cmpd="sng" algn="ctr">
                      <a:solidFill>
                        <a:srgbClr val="D5DCEA"/>
                      </a:solidFill>
                      <a:prstDash val="solid"/>
                      <a:round/>
                      <a:headEnd type="none" w="med" len="med"/>
                      <a:tailEnd type="none" w="med" len="med"/>
                    </a:lnL>
                    <a:lnR w="9525" cap="flat" cmpd="sng" algn="ctr">
                      <a:solidFill>
                        <a:srgbClr val="D5DCEA"/>
                      </a:solidFill>
                      <a:prstDash val="solid"/>
                      <a:round/>
                      <a:headEnd type="none" w="med" len="med"/>
                      <a:tailEnd type="none" w="med" len="med"/>
                    </a:lnR>
                    <a:lnT w="9525" cap="flat" cmpd="sng" algn="ctr">
                      <a:solidFill>
                        <a:srgbClr val="D5DCEA"/>
                      </a:solidFill>
                      <a:prstDash val="solid"/>
                      <a:round/>
                      <a:headEnd type="none" w="med" len="med"/>
                      <a:tailEnd type="none" w="med" len="med"/>
                    </a:lnT>
                    <a:lnB w="9525" cap="flat" cmpd="sng" algn="ctr">
                      <a:solidFill>
                        <a:srgbClr val="D5DCEA"/>
                      </a:solidFill>
                      <a:prstDash val="solid"/>
                      <a:round/>
                      <a:headEnd type="none" w="med" len="med"/>
                      <a:tailEnd type="none" w="med" len="med"/>
                    </a:lnB>
                    <a:solidFill>
                      <a:srgbClr val="F2F6FC"/>
                    </a:solidFill>
                  </a:tcPr>
                </a:tc>
              </a:tr>
            </a:tbl>
          </a:graphicData>
        </a:graphic>
      </p:graphicFrame>
      <p:sp>
        <p:nvSpPr>
          <p:cNvPr id="6" name="Shape 2"/>
          <p:cNvSpPr/>
          <p:nvPr/>
        </p:nvSpPr>
        <p:spPr>
          <a:xfrm>
            <a:off x="457200" y="4160520"/>
            <a:ext cx="8229600" cy="438912"/>
          </a:xfrm>
          <a:prstGeom prst="roundRect">
            <a:avLst>
              <a:gd name="adj" fmla="val 12500"/>
            </a:avLst>
          </a:prstGeom>
          <a:solidFill>
            <a:srgbClr val="1F3864"/>
          </a:solidFill>
          <a:ln w="12700">
            <a:solidFill>
              <a:srgbClr val="1F3864"/>
            </a:solidFill>
            <a:prstDash val="solid"/>
          </a:ln>
        </p:spPr>
      </p:sp>
      <p:sp>
        <p:nvSpPr>
          <p:cNvPr id="7" name="Text 3"/>
          <p:cNvSpPr txBox="1"/>
          <p:nvPr/>
        </p:nvSpPr>
        <p:spPr>
          <a:xfrm>
            <a:off x="621792" y="4160520"/>
            <a:ext cx="7900416" cy="438912"/>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Galatians covers visits 1 and 2 only — it was written before visit 3, the council.</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Why 2:1–10 is the famine visit, not the council</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1:20; 2:10 · The commentary's three reasons</a:t>
            </a:r>
            <a:endParaRPr lang="en-US" sz="1200" dirty="0"/>
          </a:p>
        </p:txBody>
      </p:sp>
      <p:sp>
        <p:nvSpPr>
          <p:cNvPr id="5" name="Shape 2"/>
          <p:cNvSpPr/>
          <p:nvPr/>
        </p:nvSpPr>
        <p:spPr>
          <a:xfrm>
            <a:off x="457200" y="1170432"/>
            <a:ext cx="8229600" cy="804672"/>
          </a:xfrm>
          <a:prstGeom prst="rect">
            <a:avLst/>
          </a:prstGeom>
          <a:solidFill>
            <a:srgbClr val="F2F6FC"/>
          </a:solidFill>
          <a:ln w="9525">
            <a:solidFill>
              <a:srgbClr val="D5DCEA"/>
            </a:solidFill>
            <a:prstDash val="solid"/>
          </a:ln>
        </p:spPr>
      </p:sp>
      <p:sp>
        <p:nvSpPr>
          <p:cNvPr id="6" name="Shape 3"/>
          <p:cNvSpPr/>
          <p:nvPr/>
        </p:nvSpPr>
        <p:spPr>
          <a:xfrm>
            <a:off x="594360" y="1344168"/>
            <a:ext cx="457200" cy="457200"/>
          </a:xfrm>
          <a:prstGeom prst="ellipse">
            <a:avLst/>
          </a:prstGeom>
          <a:solidFill>
            <a:srgbClr val="2E5496"/>
          </a:solidFill>
          <a:ln w="12700">
            <a:solidFill>
              <a:srgbClr val="2E5496"/>
            </a:solidFill>
            <a:prstDash val="solid"/>
          </a:ln>
        </p:spPr>
      </p:sp>
      <p:sp>
        <p:nvSpPr>
          <p:cNvPr id="7" name="Text 4"/>
          <p:cNvSpPr txBox="1"/>
          <p:nvPr/>
        </p:nvSpPr>
        <p:spPr>
          <a:xfrm>
            <a:off x="594360" y="13441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5"/>
          <p:cNvSpPr txBox="1"/>
          <p:nvPr/>
        </p:nvSpPr>
        <p:spPr>
          <a:xfrm>
            <a:off x="1234440" y="1170432"/>
            <a:ext cx="5212080" cy="80467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A solemn oath</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“Before God, I do not lie” (1:20). Paul is listing every visit; skipping one would be a lie.</a:t>
            </a:r>
            <a:endParaRPr lang="en-US" sz="1200" dirty="0"/>
          </a:p>
        </p:txBody>
      </p:sp>
      <p:sp>
        <p:nvSpPr>
          <p:cNvPr id="9" name="Text 6"/>
          <p:cNvSpPr txBox="1"/>
          <p:nvPr/>
        </p:nvSpPr>
        <p:spPr>
          <a:xfrm>
            <a:off x="6583680" y="1170432"/>
            <a:ext cx="2011680" cy="804672"/>
          </a:xfrm>
          <a:prstGeom prst="rect">
            <a:avLst/>
          </a:prstGeom>
          <a:noFill/>
          <a:ln/>
        </p:spPr>
        <p:txBody>
          <a:bodyPr wrap="square" lIns="0" tIns="0" rIns="0" bIns="0" rtlCol="0" anchor="ctr"/>
          <a:lstStyle/>
          <a:p>
            <a:pPr indent="0" marL="0">
              <a:buNone/>
            </a:pPr>
            <a:r>
              <a:rPr lang="en-US" sz="1200" b="1" dirty="0">
                <a:solidFill>
                  <a:srgbClr val="7030A0"/>
                </a:solidFill>
                <a:latin typeface="Arial" pitchFamily="34" charset="0"/>
                <a:ea typeface="Arial" pitchFamily="34" charset="-122"/>
                <a:cs typeface="Arial" pitchFamily="34" charset="-120"/>
              </a:rPr>
              <a:t>ψεύδομαι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to speak falsely · Pres. Ind. 1st Sg.</a:t>
            </a:r>
            <a:endParaRPr lang="en-US" sz="1200" dirty="0"/>
          </a:p>
        </p:txBody>
      </p:sp>
      <p:sp>
        <p:nvSpPr>
          <p:cNvPr id="10" name="Shape 7"/>
          <p:cNvSpPr/>
          <p:nvPr/>
        </p:nvSpPr>
        <p:spPr>
          <a:xfrm>
            <a:off x="457200" y="2084832"/>
            <a:ext cx="8229600" cy="804672"/>
          </a:xfrm>
          <a:prstGeom prst="rect">
            <a:avLst/>
          </a:prstGeom>
          <a:solidFill>
            <a:srgbClr val="FFFFFF"/>
          </a:solidFill>
          <a:ln w="9525">
            <a:solidFill>
              <a:srgbClr val="D5DCEA"/>
            </a:solidFill>
            <a:prstDash val="solid"/>
          </a:ln>
        </p:spPr>
      </p:sp>
      <p:sp>
        <p:nvSpPr>
          <p:cNvPr id="11" name="Shape 8"/>
          <p:cNvSpPr/>
          <p:nvPr/>
        </p:nvSpPr>
        <p:spPr>
          <a:xfrm>
            <a:off x="594360" y="2258568"/>
            <a:ext cx="457200" cy="457200"/>
          </a:xfrm>
          <a:prstGeom prst="ellipse">
            <a:avLst/>
          </a:prstGeom>
          <a:solidFill>
            <a:srgbClr val="2E5496"/>
          </a:solidFill>
          <a:ln w="12700">
            <a:solidFill>
              <a:srgbClr val="2E5496"/>
            </a:solidFill>
            <a:prstDash val="solid"/>
          </a:ln>
        </p:spPr>
      </p:sp>
      <p:sp>
        <p:nvSpPr>
          <p:cNvPr id="12" name="Text 9"/>
          <p:cNvSpPr txBox="1"/>
          <p:nvPr/>
        </p:nvSpPr>
        <p:spPr>
          <a:xfrm>
            <a:off x="594360" y="22585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3" name="Text 10"/>
          <p:cNvSpPr txBox="1"/>
          <p:nvPr/>
        </p:nvSpPr>
        <p:spPr>
          <a:xfrm>
            <a:off x="1234440" y="2084832"/>
            <a:ext cx="5212080" cy="80467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No council letter cited</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Acts 15 ended with a letter to the Gentile churches. Paul would surely have quoted it to settle the matter.</a:t>
            </a:r>
            <a:endParaRPr lang="en-US" sz="1200" dirty="0"/>
          </a:p>
        </p:txBody>
      </p:sp>
      <p:sp>
        <p:nvSpPr>
          <p:cNvPr id="14" name="Shape 11"/>
          <p:cNvSpPr/>
          <p:nvPr/>
        </p:nvSpPr>
        <p:spPr>
          <a:xfrm>
            <a:off x="457200" y="2999232"/>
            <a:ext cx="8229600" cy="804672"/>
          </a:xfrm>
          <a:prstGeom prst="rect">
            <a:avLst/>
          </a:prstGeom>
          <a:solidFill>
            <a:srgbClr val="F2F6FC"/>
          </a:solidFill>
          <a:ln w="9525">
            <a:solidFill>
              <a:srgbClr val="D5DCEA"/>
            </a:solidFill>
            <a:prstDash val="solid"/>
          </a:ln>
        </p:spPr>
      </p:sp>
      <p:sp>
        <p:nvSpPr>
          <p:cNvPr id="15" name="Shape 12"/>
          <p:cNvSpPr/>
          <p:nvPr/>
        </p:nvSpPr>
        <p:spPr>
          <a:xfrm>
            <a:off x="594360" y="3172968"/>
            <a:ext cx="457200" cy="457200"/>
          </a:xfrm>
          <a:prstGeom prst="ellipse">
            <a:avLst/>
          </a:prstGeom>
          <a:solidFill>
            <a:srgbClr val="2E5496"/>
          </a:solidFill>
          <a:ln w="12700">
            <a:solidFill>
              <a:srgbClr val="2E5496"/>
            </a:solidFill>
            <a:prstDash val="solid"/>
          </a:ln>
        </p:spPr>
      </p:sp>
      <p:sp>
        <p:nvSpPr>
          <p:cNvPr id="16" name="Text 13"/>
          <p:cNvSpPr txBox="1"/>
          <p:nvPr/>
        </p:nvSpPr>
        <p:spPr>
          <a:xfrm>
            <a:off x="59436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7" name="Text 14"/>
          <p:cNvSpPr txBox="1"/>
          <p:nvPr/>
        </p:nvSpPr>
        <p:spPr>
          <a:xfrm>
            <a:off x="1234440" y="2999232"/>
            <a:ext cx="5212080" cy="804672"/>
          </a:xfrm>
          <a:prstGeom prst="rect">
            <a:avLst/>
          </a:prstGeom>
          <a:noFill/>
          <a:ln/>
        </p:spPr>
        <p:txBody>
          <a:bodyPr wrap="square" lIns="0" tIns="0" rIns="0" bIns="0" rtlCol="0" anchor="ctr"/>
          <a:lstStyle/>
          <a:p>
            <a:pPr indent="0" marL="0">
              <a:buNone/>
            </a:pPr>
            <a:r>
              <a:rPr lang="en-US" sz="1200" b="1" dirty="0">
                <a:solidFill>
                  <a:srgbClr val="1F3864"/>
                </a:solidFill>
                <a:latin typeface="Arial" pitchFamily="34" charset="0"/>
                <a:ea typeface="Arial" pitchFamily="34" charset="-122"/>
                <a:cs typeface="Arial" pitchFamily="34" charset="-120"/>
              </a:rPr>
              <a:t>Only “remember the poor”</a:t>
            </a:r>
            <a:endParaRPr lang="en-US" sz="1200" dirty="0"/>
          </a:p>
          <a:p>
            <a:pPr indent="0" marL="0">
              <a:buNone/>
            </a:pPr>
            <a:r>
              <a:rPr lang="en-US" sz="1150" dirty="0">
                <a:solidFill>
                  <a:srgbClr val="262626"/>
                </a:solidFill>
                <a:latin typeface="Arial" pitchFamily="34" charset="0"/>
                <a:ea typeface="Arial" pitchFamily="34" charset="-122"/>
                <a:cs typeface="Arial" pitchFamily="34" charset="-120"/>
              </a:rPr>
              <a:t>2:10 says nothing about things strangled or blood — requests in the council's letter.</a:t>
            </a:r>
            <a:endParaRPr lang="en-US" sz="1200" dirty="0"/>
          </a:p>
        </p:txBody>
      </p:sp>
      <p:sp>
        <p:nvSpPr>
          <p:cNvPr id="18" name="Text 15"/>
          <p:cNvSpPr txBox="1"/>
          <p:nvPr/>
        </p:nvSpPr>
        <p:spPr>
          <a:xfrm>
            <a:off x="6583680" y="2999232"/>
            <a:ext cx="2011680" cy="804672"/>
          </a:xfrm>
          <a:prstGeom prst="rect">
            <a:avLst/>
          </a:prstGeom>
          <a:noFill/>
          <a:ln/>
        </p:spPr>
        <p:txBody>
          <a:bodyPr wrap="square" lIns="0" tIns="0" rIns="0" bIns="0" rtlCol="0" anchor="ctr"/>
          <a:lstStyle/>
          <a:p>
            <a:pPr indent="0" marL="0">
              <a:buNone/>
            </a:pPr>
            <a:r>
              <a:rPr lang="en-US" sz="1200" b="1" dirty="0">
                <a:solidFill>
                  <a:srgbClr val="7030A0"/>
                </a:solidFill>
                <a:latin typeface="Arial" pitchFamily="34" charset="0"/>
                <a:ea typeface="Arial" pitchFamily="34" charset="-122"/>
                <a:cs typeface="Arial" pitchFamily="34" charset="-120"/>
              </a:rPr>
              <a:t>πτωχῶν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the destitute · Gen. Pl.</a:t>
            </a:r>
            <a:endParaRPr lang="en-US" sz="1200" dirty="0"/>
          </a:p>
        </p:txBody>
      </p:sp>
      <p:sp>
        <p:nvSpPr>
          <p:cNvPr id="19" name="Shape 16"/>
          <p:cNvSpPr/>
          <p:nvPr/>
        </p:nvSpPr>
        <p:spPr>
          <a:xfrm>
            <a:off x="457200" y="4023360"/>
            <a:ext cx="8229600" cy="548640"/>
          </a:xfrm>
          <a:prstGeom prst="roundRect">
            <a:avLst>
              <a:gd name="adj" fmla="val 10000"/>
            </a:avLst>
          </a:prstGeom>
          <a:solidFill>
            <a:srgbClr val="1F3864"/>
          </a:solidFill>
          <a:ln w="12700">
            <a:solidFill>
              <a:srgbClr val="1F3864"/>
            </a:solidFill>
            <a:prstDash val="solid"/>
          </a:ln>
        </p:spPr>
      </p:sp>
      <p:sp>
        <p:nvSpPr>
          <p:cNvPr id="20" name="Text 17"/>
          <p:cNvSpPr txBox="1"/>
          <p:nvPr/>
        </p:nvSpPr>
        <p:spPr>
          <a:xfrm>
            <a:off x="621792" y="402336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Conclusion: Galatians 2:1–10 is the famine visit of Acts 11:27–30 — A.D. 48, before the council of A.D. 49/50.</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Paul's early travels</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1:18–21 · Outline I.A–B</a:t>
            </a:r>
            <a:endParaRPr lang="en-US" sz="1200" dirty="0"/>
          </a:p>
        </p:txBody>
      </p:sp>
      <p:sp>
        <p:nvSpPr>
          <p:cNvPr id="5" name="Shape 2"/>
          <p:cNvSpPr/>
          <p:nvPr/>
        </p:nvSpPr>
        <p:spPr>
          <a:xfrm>
            <a:off x="457200" y="1188720"/>
            <a:ext cx="1481328" cy="1828800"/>
          </a:xfrm>
          <a:prstGeom prst="roundRect">
            <a:avLst>
              <a:gd name="adj" fmla="val 3704"/>
            </a:avLst>
          </a:prstGeom>
          <a:solidFill>
            <a:srgbClr val="F2F6FC"/>
          </a:solidFill>
          <a:ln w="12700">
            <a:solidFill>
              <a:srgbClr val="D5DCEA"/>
            </a:solidFill>
            <a:prstDash val="solid"/>
          </a:ln>
        </p:spPr>
      </p:sp>
      <p:sp>
        <p:nvSpPr>
          <p:cNvPr id="6" name="Shape 3"/>
          <p:cNvSpPr/>
          <p:nvPr/>
        </p:nvSpPr>
        <p:spPr>
          <a:xfrm>
            <a:off x="457200" y="1188720"/>
            <a:ext cx="1481328" cy="566928"/>
          </a:xfrm>
          <a:prstGeom prst="rect">
            <a:avLst/>
          </a:prstGeom>
          <a:solidFill>
            <a:srgbClr val="2E5496"/>
          </a:solidFill>
          <a:ln w="12700">
            <a:solidFill>
              <a:srgbClr val="2E5496"/>
            </a:solidFill>
            <a:prstDash val="solid"/>
          </a:ln>
        </p:spPr>
      </p:sp>
      <p:sp>
        <p:nvSpPr>
          <p:cNvPr id="7" name="Text 4"/>
          <p:cNvSpPr txBox="1"/>
          <p:nvPr/>
        </p:nvSpPr>
        <p:spPr>
          <a:xfrm>
            <a:off x="51206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After three years</a:t>
            </a:r>
            <a:endParaRPr lang="en-US" sz="1100" dirty="0"/>
          </a:p>
        </p:txBody>
      </p:sp>
      <p:sp>
        <p:nvSpPr>
          <p:cNvPr id="8" name="Text 5"/>
          <p:cNvSpPr txBox="1"/>
          <p:nvPr/>
        </p:nvSpPr>
        <p:spPr>
          <a:xfrm>
            <a:off x="54864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Up to Jerusalem to see Peter; only James besides</a:t>
            </a:r>
            <a:endParaRPr lang="en-US" sz="1100" dirty="0"/>
          </a:p>
        </p:txBody>
      </p:sp>
      <p:sp>
        <p:nvSpPr>
          <p:cNvPr id="9" name="Text 6"/>
          <p:cNvSpPr txBox="1"/>
          <p:nvPr/>
        </p:nvSpPr>
        <p:spPr>
          <a:xfrm>
            <a:off x="54864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1:18–19</a:t>
            </a:r>
            <a:endParaRPr lang="en-US" sz="950" dirty="0"/>
          </a:p>
        </p:txBody>
      </p:sp>
      <p:sp>
        <p:nvSpPr>
          <p:cNvPr id="10" name="Shape 7"/>
          <p:cNvSpPr/>
          <p:nvPr/>
        </p:nvSpPr>
        <p:spPr>
          <a:xfrm>
            <a:off x="1947672" y="1984248"/>
            <a:ext cx="192024" cy="237744"/>
          </a:xfrm>
          <a:prstGeom prst="rightArrow">
            <a:avLst/>
          </a:prstGeom>
          <a:solidFill>
            <a:srgbClr val="6B7280"/>
          </a:solidFill>
          <a:ln w="12700">
            <a:solidFill>
              <a:srgbClr val="6B7280"/>
            </a:solidFill>
            <a:prstDash val="solid"/>
          </a:ln>
        </p:spPr>
      </p:sp>
      <p:sp>
        <p:nvSpPr>
          <p:cNvPr id="11" name="Shape 8"/>
          <p:cNvSpPr/>
          <p:nvPr/>
        </p:nvSpPr>
        <p:spPr>
          <a:xfrm>
            <a:off x="2148840" y="1188720"/>
            <a:ext cx="1481328" cy="1828800"/>
          </a:xfrm>
          <a:prstGeom prst="roundRect">
            <a:avLst>
              <a:gd name="adj" fmla="val 3704"/>
            </a:avLst>
          </a:prstGeom>
          <a:solidFill>
            <a:srgbClr val="F2F6FC"/>
          </a:solidFill>
          <a:ln w="12700">
            <a:solidFill>
              <a:srgbClr val="D5DCEA"/>
            </a:solidFill>
            <a:prstDash val="solid"/>
          </a:ln>
        </p:spPr>
      </p:sp>
      <p:sp>
        <p:nvSpPr>
          <p:cNvPr id="12" name="Shape 9"/>
          <p:cNvSpPr/>
          <p:nvPr/>
        </p:nvSpPr>
        <p:spPr>
          <a:xfrm>
            <a:off x="2148840" y="1188720"/>
            <a:ext cx="1481328" cy="566928"/>
          </a:xfrm>
          <a:prstGeom prst="rect">
            <a:avLst/>
          </a:prstGeom>
          <a:solidFill>
            <a:srgbClr val="2E5496"/>
          </a:solidFill>
          <a:ln w="12700">
            <a:solidFill>
              <a:srgbClr val="2E5496"/>
            </a:solidFill>
            <a:prstDash val="solid"/>
          </a:ln>
        </p:spPr>
      </p:sp>
      <p:sp>
        <p:nvSpPr>
          <p:cNvPr id="13" name="Text 10"/>
          <p:cNvSpPr txBox="1"/>
          <p:nvPr/>
        </p:nvSpPr>
        <p:spPr>
          <a:xfrm>
            <a:off x="220370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Barnabas vouches</a:t>
            </a:r>
            <a:endParaRPr lang="en-US" sz="1100" dirty="0"/>
          </a:p>
        </p:txBody>
      </p:sp>
      <p:sp>
        <p:nvSpPr>
          <p:cNvPr id="14" name="Text 11"/>
          <p:cNvSpPr txBox="1"/>
          <p:nvPr/>
        </p:nvSpPr>
        <p:spPr>
          <a:xfrm>
            <a:off x="224028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The disciples were afraid; Barnabas brings him to the apostles</a:t>
            </a:r>
            <a:endParaRPr lang="en-US" sz="1100" dirty="0"/>
          </a:p>
        </p:txBody>
      </p:sp>
      <p:sp>
        <p:nvSpPr>
          <p:cNvPr id="15" name="Text 12"/>
          <p:cNvSpPr txBox="1"/>
          <p:nvPr/>
        </p:nvSpPr>
        <p:spPr>
          <a:xfrm>
            <a:off x="224028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9:26–28</a:t>
            </a:r>
            <a:endParaRPr lang="en-US" sz="950" dirty="0"/>
          </a:p>
        </p:txBody>
      </p:sp>
      <p:sp>
        <p:nvSpPr>
          <p:cNvPr id="16" name="Shape 13"/>
          <p:cNvSpPr/>
          <p:nvPr/>
        </p:nvSpPr>
        <p:spPr>
          <a:xfrm>
            <a:off x="3639312" y="1984248"/>
            <a:ext cx="192024" cy="237744"/>
          </a:xfrm>
          <a:prstGeom prst="rightArrow">
            <a:avLst/>
          </a:prstGeom>
          <a:solidFill>
            <a:srgbClr val="6B7280"/>
          </a:solidFill>
          <a:ln w="12700">
            <a:solidFill>
              <a:srgbClr val="6B7280"/>
            </a:solidFill>
            <a:prstDash val="solid"/>
          </a:ln>
        </p:spPr>
      </p:sp>
      <p:sp>
        <p:nvSpPr>
          <p:cNvPr id="17" name="Shape 14"/>
          <p:cNvSpPr/>
          <p:nvPr/>
        </p:nvSpPr>
        <p:spPr>
          <a:xfrm>
            <a:off x="3840480" y="1188720"/>
            <a:ext cx="1481328" cy="1828800"/>
          </a:xfrm>
          <a:prstGeom prst="roundRect">
            <a:avLst>
              <a:gd name="adj" fmla="val 3704"/>
            </a:avLst>
          </a:prstGeom>
          <a:solidFill>
            <a:srgbClr val="F2F6FC"/>
          </a:solidFill>
          <a:ln w="12700">
            <a:solidFill>
              <a:srgbClr val="D5DCEA"/>
            </a:solidFill>
            <a:prstDash val="solid"/>
          </a:ln>
        </p:spPr>
      </p:sp>
      <p:sp>
        <p:nvSpPr>
          <p:cNvPr id="18" name="Shape 15"/>
          <p:cNvSpPr/>
          <p:nvPr/>
        </p:nvSpPr>
        <p:spPr>
          <a:xfrm>
            <a:off x="3840480" y="1188720"/>
            <a:ext cx="1481328" cy="566928"/>
          </a:xfrm>
          <a:prstGeom prst="rect">
            <a:avLst/>
          </a:prstGeom>
          <a:solidFill>
            <a:srgbClr val="6B7280"/>
          </a:solidFill>
          <a:ln w="12700">
            <a:solidFill>
              <a:srgbClr val="6B7280"/>
            </a:solidFill>
            <a:prstDash val="solid"/>
          </a:ln>
        </p:spPr>
      </p:sp>
      <p:sp>
        <p:nvSpPr>
          <p:cNvPr id="19" name="Text 16"/>
          <p:cNvSpPr txBox="1"/>
          <p:nvPr/>
        </p:nvSpPr>
        <p:spPr>
          <a:xfrm>
            <a:off x="389534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Disputes with Hellenists</a:t>
            </a:r>
            <a:endParaRPr lang="en-US" sz="1100" dirty="0"/>
          </a:p>
        </p:txBody>
      </p:sp>
      <p:sp>
        <p:nvSpPr>
          <p:cNvPr id="20" name="Text 17"/>
          <p:cNvSpPr txBox="1"/>
          <p:nvPr/>
        </p:nvSpPr>
        <p:spPr>
          <a:xfrm>
            <a:off x="393192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As Stephen had — and they seek to kill him</a:t>
            </a:r>
            <a:endParaRPr lang="en-US" sz="1100" dirty="0"/>
          </a:p>
        </p:txBody>
      </p:sp>
      <p:sp>
        <p:nvSpPr>
          <p:cNvPr id="21" name="Text 18"/>
          <p:cNvSpPr txBox="1"/>
          <p:nvPr/>
        </p:nvSpPr>
        <p:spPr>
          <a:xfrm>
            <a:off x="393192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9:29</a:t>
            </a:r>
            <a:endParaRPr lang="en-US" sz="950" dirty="0"/>
          </a:p>
        </p:txBody>
      </p:sp>
      <p:sp>
        <p:nvSpPr>
          <p:cNvPr id="22" name="Shape 19"/>
          <p:cNvSpPr/>
          <p:nvPr/>
        </p:nvSpPr>
        <p:spPr>
          <a:xfrm>
            <a:off x="5330952" y="1984248"/>
            <a:ext cx="192024" cy="237744"/>
          </a:xfrm>
          <a:prstGeom prst="rightArrow">
            <a:avLst/>
          </a:prstGeom>
          <a:solidFill>
            <a:srgbClr val="6B7280"/>
          </a:solidFill>
          <a:ln w="12700">
            <a:solidFill>
              <a:srgbClr val="6B7280"/>
            </a:solidFill>
            <a:prstDash val="solid"/>
          </a:ln>
        </p:spPr>
      </p:sp>
      <p:sp>
        <p:nvSpPr>
          <p:cNvPr id="23" name="Shape 20"/>
          <p:cNvSpPr/>
          <p:nvPr/>
        </p:nvSpPr>
        <p:spPr>
          <a:xfrm>
            <a:off x="5532120" y="1188720"/>
            <a:ext cx="1481328" cy="1828800"/>
          </a:xfrm>
          <a:prstGeom prst="roundRect">
            <a:avLst>
              <a:gd name="adj" fmla="val 3704"/>
            </a:avLst>
          </a:prstGeom>
          <a:solidFill>
            <a:srgbClr val="F2F6FC"/>
          </a:solidFill>
          <a:ln w="12700">
            <a:solidFill>
              <a:srgbClr val="D5DCEA"/>
            </a:solidFill>
            <a:prstDash val="solid"/>
          </a:ln>
        </p:spPr>
      </p:sp>
      <p:sp>
        <p:nvSpPr>
          <p:cNvPr id="24" name="Shape 21"/>
          <p:cNvSpPr/>
          <p:nvPr/>
        </p:nvSpPr>
        <p:spPr>
          <a:xfrm>
            <a:off x="5532120" y="1188720"/>
            <a:ext cx="1481328" cy="566928"/>
          </a:xfrm>
          <a:prstGeom prst="rect">
            <a:avLst/>
          </a:prstGeom>
          <a:solidFill>
            <a:srgbClr val="6B7280"/>
          </a:solidFill>
          <a:ln w="12700">
            <a:solidFill>
              <a:srgbClr val="6B7280"/>
            </a:solidFill>
            <a:prstDash val="solid"/>
          </a:ln>
        </p:spPr>
      </p:sp>
      <p:sp>
        <p:nvSpPr>
          <p:cNvPr id="25" name="Text 22"/>
          <p:cNvSpPr txBox="1"/>
          <p:nvPr/>
        </p:nvSpPr>
        <p:spPr>
          <a:xfrm>
            <a:off x="558698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Sent away</a:t>
            </a:r>
            <a:endParaRPr lang="en-US" sz="1100" dirty="0"/>
          </a:p>
        </p:txBody>
      </p:sp>
      <p:sp>
        <p:nvSpPr>
          <p:cNvPr id="26" name="Text 23"/>
          <p:cNvSpPr txBox="1"/>
          <p:nvPr/>
        </p:nvSpPr>
        <p:spPr>
          <a:xfrm>
            <a:off x="562356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Down to Caesarea and off to Tarsus</a:t>
            </a:r>
            <a:endParaRPr lang="en-US" sz="1100" dirty="0"/>
          </a:p>
        </p:txBody>
      </p:sp>
      <p:sp>
        <p:nvSpPr>
          <p:cNvPr id="27" name="Text 24"/>
          <p:cNvSpPr txBox="1"/>
          <p:nvPr/>
        </p:nvSpPr>
        <p:spPr>
          <a:xfrm>
            <a:off x="562356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Acts 9:30</a:t>
            </a:r>
            <a:endParaRPr lang="en-US" sz="950" dirty="0"/>
          </a:p>
        </p:txBody>
      </p:sp>
      <p:sp>
        <p:nvSpPr>
          <p:cNvPr id="28" name="Shape 25"/>
          <p:cNvSpPr/>
          <p:nvPr/>
        </p:nvSpPr>
        <p:spPr>
          <a:xfrm>
            <a:off x="7022592" y="1984248"/>
            <a:ext cx="192024" cy="237744"/>
          </a:xfrm>
          <a:prstGeom prst="rightArrow">
            <a:avLst/>
          </a:prstGeom>
          <a:solidFill>
            <a:srgbClr val="6B7280"/>
          </a:solidFill>
          <a:ln w="12700">
            <a:solidFill>
              <a:srgbClr val="6B7280"/>
            </a:solidFill>
            <a:prstDash val="solid"/>
          </a:ln>
        </p:spPr>
      </p:sp>
      <p:sp>
        <p:nvSpPr>
          <p:cNvPr id="29" name="Shape 26"/>
          <p:cNvSpPr/>
          <p:nvPr/>
        </p:nvSpPr>
        <p:spPr>
          <a:xfrm>
            <a:off x="7223760" y="1188720"/>
            <a:ext cx="1481328" cy="1828800"/>
          </a:xfrm>
          <a:prstGeom prst="roundRect">
            <a:avLst>
              <a:gd name="adj" fmla="val 3704"/>
            </a:avLst>
          </a:prstGeom>
          <a:solidFill>
            <a:srgbClr val="F2F6FC"/>
          </a:solidFill>
          <a:ln w="12700">
            <a:solidFill>
              <a:srgbClr val="D5DCEA"/>
            </a:solidFill>
            <a:prstDash val="solid"/>
          </a:ln>
        </p:spPr>
      </p:sp>
      <p:sp>
        <p:nvSpPr>
          <p:cNvPr id="30" name="Shape 27"/>
          <p:cNvSpPr/>
          <p:nvPr/>
        </p:nvSpPr>
        <p:spPr>
          <a:xfrm>
            <a:off x="7223760" y="1188720"/>
            <a:ext cx="1481328" cy="566928"/>
          </a:xfrm>
          <a:prstGeom prst="rect">
            <a:avLst/>
          </a:prstGeom>
          <a:solidFill>
            <a:srgbClr val="375623"/>
          </a:solidFill>
          <a:ln w="12700">
            <a:solidFill>
              <a:srgbClr val="375623"/>
            </a:solidFill>
            <a:prstDash val="solid"/>
          </a:ln>
        </p:spPr>
      </p:sp>
      <p:sp>
        <p:nvSpPr>
          <p:cNvPr id="31" name="Text 28"/>
          <p:cNvSpPr txBox="1"/>
          <p:nvPr/>
        </p:nvSpPr>
        <p:spPr>
          <a:xfrm>
            <a:off x="7278624" y="1188720"/>
            <a:ext cx="137160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Syria and Cilicia</a:t>
            </a:r>
            <a:endParaRPr lang="en-US" sz="1100" dirty="0"/>
          </a:p>
        </p:txBody>
      </p:sp>
      <p:sp>
        <p:nvSpPr>
          <p:cNvPr id="32" name="Text 29"/>
          <p:cNvSpPr txBox="1"/>
          <p:nvPr/>
        </p:nvSpPr>
        <p:spPr>
          <a:xfrm>
            <a:off x="7315200" y="1828800"/>
            <a:ext cx="1298448" cy="822960"/>
          </a:xfrm>
          <a:prstGeom prst="rect">
            <a:avLst/>
          </a:prstGeom>
          <a:noFill/>
          <a:ln/>
        </p:spPr>
        <p:txBody>
          <a:bodyPr wrap="square" lIns="0" tIns="0" rIns="0" bIns="0" rtlCol="0" anchor="t"/>
          <a:lstStyle/>
          <a:p>
            <a:pPr algn="ctr" indent="0" marL="0">
              <a:buNone/>
            </a:pPr>
            <a:r>
              <a:rPr lang="en-US" sz="1100" dirty="0">
                <a:solidFill>
                  <a:srgbClr val="262626"/>
                </a:solidFill>
                <a:latin typeface="Arial" pitchFamily="34" charset="0"/>
                <a:ea typeface="Arial" pitchFamily="34" charset="-122"/>
                <a:cs typeface="Arial" pitchFamily="34" charset="-120"/>
              </a:rPr>
              <a:t>Ministry in his home region</a:t>
            </a:r>
            <a:endParaRPr lang="en-US" sz="1100" dirty="0"/>
          </a:p>
        </p:txBody>
      </p:sp>
      <p:sp>
        <p:nvSpPr>
          <p:cNvPr id="33" name="Text 30"/>
          <p:cNvSpPr txBox="1"/>
          <p:nvPr/>
        </p:nvSpPr>
        <p:spPr>
          <a:xfrm>
            <a:off x="7315200" y="2670048"/>
            <a:ext cx="1298448" cy="274320"/>
          </a:xfrm>
          <a:prstGeom prst="rect">
            <a:avLst/>
          </a:prstGeom>
          <a:noFill/>
          <a:ln/>
        </p:spPr>
        <p:txBody>
          <a:bodyPr wrap="square" lIns="0" tIns="0" rIns="0" bIns="0" rtlCol="0" anchor="t"/>
          <a:lstStyle/>
          <a:p>
            <a:pPr algn="ctr" indent="0" marL="0">
              <a:buNone/>
            </a:pPr>
            <a:r>
              <a:rPr lang="en-US" sz="950" i="1" dirty="0">
                <a:solidFill>
                  <a:srgbClr val="595959"/>
                </a:solidFill>
                <a:latin typeface="Arial" pitchFamily="34" charset="0"/>
                <a:ea typeface="Arial" pitchFamily="34" charset="-122"/>
                <a:cs typeface="Arial" pitchFamily="34" charset="-120"/>
              </a:rPr>
              <a:t>1:21</a:t>
            </a:r>
            <a:endParaRPr lang="en-US" sz="950" dirty="0"/>
          </a:p>
        </p:txBody>
      </p:sp>
      <p:sp>
        <p:nvSpPr>
          <p:cNvPr id="34" name="Shape 31"/>
          <p:cNvSpPr/>
          <p:nvPr/>
        </p:nvSpPr>
        <p:spPr>
          <a:xfrm>
            <a:off x="457200" y="3200400"/>
            <a:ext cx="4023360" cy="566928"/>
          </a:xfrm>
          <a:prstGeom prst="rect">
            <a:avLst/>
          </a:prstGeom>
          <a:solidFill>
            <a:srgbClr val="2E5496"/>
          </a:solidFill>
          <a:ln w="12700">
            <a:solidFill>
              <a:srgbClr val="2E5496"/>
            </a:solidFill>
            <a:prstDash val="solid"/>
          </a:ln>
        </p:spPr>
      </p:sp>
      <p:sp>
        <p:nvSpPr>
          <p:cNvPr id="35" name="Text 32"/>
          <p:cNvSpPr txBox="1"/>
          <p:nvPr/>
        </p:nvSpPr>
        <p:spPr>
          <a:xfrm>
            <a:off x="548640" y="32461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“to see Peter” — v.18</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ἱστορῆσαι</a:t>
            </a:r>
            <a:pPr indent="0" marL="0">
              <a:buNone/>
            </a:pPr>
            <a:r>
              <a:rPr lang="en-US" sz="850" dirty="0">
                <a:solidFill>
                  <a:srgbClr val="DCE4F2"/>
                </a:solidFill>
                <a:latin typeface="Arial" pitchFamily="34" charset="0"/>
                <a:ea typeface="Arial" pitchFamily="34" charset="-122"/>
                <a:cs typeface="Arial" pitchFamily="34" charset="-120"/>
              </a:rPr>
              <a:t>  Aor. Act. Inf.</a:t>
            </a:r>
            <a:endParaRPr lang="en-US" sz="1200" dirty="0"/>
          </a:p>
        </p:txBody>
      </p:sp>
      <p:sp>
        <p:nvSpPr>
          <p:cNvPr id="36" name="Shape 33"/>
          <p:cNvSpPr/>
          <p:nvPr/>
        </p:nvSpPr>
        <p:spPr>
          <a:xfrm>
            <a:off x="457200" y="3767328"/>
            <a:ext cx="4023360" cy="850392"/>
          </a:xfrm>
          <a:prstGeom prst="rect">
            <a:avLst/>
          </a:prstGeom>
          <a:solidFill>
            <a:srgbClr val="F2F6FC"/>
          </a:solidFill>
          <a:ln w="9525">
            <a:solidFill>
              <a:srgbClr val="D5DCEA"/>
            </a:solidFill>
            <a:prstDash val="solid"/>
          </a:ln>
        </p:spPr>
      </p:sp>
      <p:sp>
        <p:nvSpPr>
          <p:cNvPr id="37" name="Text 34"/>
          <p:cNvSpPr txBox="1"/>
          <p:nvPr/>
        </p:nvSpPr>
        <p:spPr>
          <a:xfrm>
            <a:off x="548640" y="3840480"/>
            <a:ext cx="3840480" cy="72237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To visit and become acquainted — not to be taught</a:t>
            </a:r>
            <a:endParaRPr lang="en-US" sz="1100" dirty="0"/>
          </a:p>
        </p:txBody>
      </p:sp>
      <p:sp>
        <p:nvSpPr>
          <p:cNvPr id="38" name="Shape 35"/>
          <p:cNvSpPr/>
          <p:nvPr/>
        </p:nvSpPr>
        <p:spPr>
          <a:xfrm>
            <a:off x="4663440" y="3200400"/>
            <a:ext cx="4023360" cy="566928"/>
          </a:xfrm>
          <a:prstGeom prst="rect">
            <a:avLst/>
          </a:prstGeom>
          <a:solidFill>
            <a:srgbClr val="2E5496"/>
          </a:solidFill>
          <a:ln w="12700">
            <a:solidFill>
              <a:srgbClr val="2E5496"/>
            </a:solidFill>
            <a:prstDash val="solid"/>
          </a:ln>
        </p:spPr>
      </p:sp>
      <p:sp>
        <p:nvSpPr>
          <p:cNvPr id="39" name="Text 36"/>
          <p:cNvSpPr txBox="1"/>
          <p:nvPr/>
        </p:nvSpPr>
        <p:spPr>
          <a:xfrm>
            <a:off x="4754880" y="3246120"/>
            <a:ext cx="3840480"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“before God, I do not lie” — v.20</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ψεύδομαι</a:t>
            </a:r>
            <a:pPr indent="0" marL="0">
              <a:buNone/>
            </a:pPr>
            <a:r>
              <a:rPr lang="en-US" sz="850" dirty="0">
                <a:solidFill>
                  <a:srgbClr val="DCE4F2"/>
                </a:solidFill>
                <a:latin typeface="Arial" pitchFamily="34" charset="0"/>
                <a:ea typeface="Arial" pitchFamily="34" charset="-122"/>
                <a:cs typeface="Arial" pitchFamily="34" charset="-120"/>
              </a:rPr>
              <a:t>  Pres. Ind. 1st Sg.</a:t>
            </a:r>
            <a:endParaRPr lang="en-US" sz="1200" dirty="0"/>
          </a:p>
        </p:txBody>
      </p:sp>
      <p:sp>
        <p:nvSpPr>
          <p:cNvPr id="40" name="Shape 37"/>
          <p:cNvSpPr/>
          <p:nvPr/>
        </p:nvSpPr>
        <p:spPr>
          <a:xfrm>
            <a:off x="4663440" y="3767328"/>
            <a:ext cx="4023360" cy="850392"/>
          </a:xfrm>
          <a:prstGeom prst="rect">
            <a:avLst/>
          </a:prstGeom>
          <a:solidFill>
            <a:srgbClr val="F2F6FC"/>
          </a:solidFill>
          <a:ln w="9525">
            <a:solidFill>
              <a:srgbClr val="D5DCEA"/>
            </a:solidFill>
            <a:prstDash val="solid"/>
          </a:ln>
        </p:spPr>
      </p:sp>
      <p:sp>
        <p:nvSpPr>
          <p:cNvPr id="41" name="Text 38"/>
          <p:cNvSpPr txBox="1"/>
          <p:nvPr/>
        </p:nvSpPr>
        <p:spPr>
          <a:xfrm>
            <a:off x="4754880" y="3840480"/>
            <a:ext cx="3840480" cy="722376"/>
          </a:xfrm>
          <a:prstGeom prst="rect">
            <a:avLst/>
          </a:prstGeom>
          <a:noFill/>
          <a:ln/>
        </p:spPr>
        <p:txBody>
          <a:bodyPr wrap="square" lIns="0" tIns="0" rIns="0" bIns="0" rtlCol="0" anchor="t"/>
          <a:lstStyle/>
          <a:p>
            <a:pPr marL="127000" indent="-127000">
              <a:spcAft>
                <a:spcPts val="300"/>
              </a:spcAft>
              <a:buSzPct val="100000"/>
              <a:buChar char="•"/>
            </a:pPr>
            <a:r>
              <a:rPr lang="en-US" sz="1100" dirty="0">
                <a:solidFill>
                  <a:srgbClr val="262626"/>
                </a:solidFill>
                <a:latin typeface="Arial" pitchFamily="34" charset="0"/>
                <a:ea typeface="Arial" pitchFamily="34" charset="-122"/>
                <a:cs typeface="Arial" pitchFamily="34" charset="-120"/>
              </a:rPr>
              <a:t>A solemn oath: this account of his visits is complete</a:t>
            </a:r>
            <a:endParaRPr lang="en-US" sz="11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How the Judean churches responded</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1:22–24 · Outline I.C</a:t>
            </a:r>
            <a:endParaRPr lang="en-US" sz="1200" dirty="0"/>
          </a:p>
        </p:txBody>
      </p:sp>
      <p:sp>
        <p:nvSpPr>
          <p:cNvPr id="5" name="Shape 2"/>
          <p:cNvSpPr/>
          <p:nvPr/>
        </p:nvSpPr>
        <p:spPr>
          <a:xfrm>
            <a:off x="457200" y="1188720"/>
            <a:ext cx="2615184" cy="566928"/>
          </a:xfrm>
          <a:prstGeom prst="rect">
            <a:avLst/>
          </a:prstGeom>
          <a:solidFill>
            <a:srgbClr val="6B7280"/>
          </a:solidFill>
          <a:ln w="12700">
            <a:solidFill>
              <a:srgbClr val="6B7280"/>
            </a:solidFill>
            <a:prstDash val="solid"/>
          </a:ln>
        </p:spPr>
      </p:sp>
      <p:sp>
        <p:nvSpPr>
          <p:cNvPr id="6" name="Text 3"/>
          <p:cNvSpPr txBox="1"/>
          <p:nvPr/>
        </p:nvSpPr>
        <p:spPr>
          <a:xfrm>
            <a:off x="548640" y="1234440"/>
            <a:ext cx="2432304"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did not know him  ·  v.22</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ἀγνοούμενος</a:t>
            </a:r>
            <a:pPr indent="0" marL="0">
              <a:buNone/>
            </a:pPr>
            <a:r>
              <a:rPr lang="en-US" sz="850" dirty="0">
                <a:solidFill>
                  <a:srgbClr val="DCE4F2"/>
                </a:solidFill>
                <a:latin typeface="Arial" pitchFamily="34" charset="0"/>
                <a:ea typeface="Arial" pitchFamily="34" charset="-122"/>
                <a:cs typeface="Arial" pitchFamily="34" charset="-120"/>
              </a:rPr>
              <a:t>  Pres. Pass. Ptc.</a:t>
            </a:r>
            <a:endParaRPr lang="en-US" sz="1200" dirty="0"/>
          </a:p>
        </p:txBody>
      </p:sp>
      <p:sp>
        <p:nvSpPr>
          <p:cNvPr id="7" name="Shape 4"/>
          <p:cNvSpPr/>
          <p:nvPr/>
        </p:nvSpPr>
        <p:spPr>
          <a:xfrm>
            <a:off x="457200" y="1755648"/>
            <a:ext cx="2615184" cy="2039112"/>
          </a:xfrm>
          <a:prstGeom prst="rect">
            <a:avLst/>
          </a:prstGeom>
          <a:solidFill>
            <a:srgbClr val="F2F6FC"/>
          </a:solidFill>
          <a:ln w="9525">
            <a:solidFill>
              <a:srgbClr val="D5DCEA"/>
            </a:solidFill>
            <a:prstDash val="solid"/>
          </a:ln>
        </p:spPr>
      </p:sp>
      <p:sp>
        <p:nvSpPr>
          <p:cNvPr id="8" name="Text 5"/>
          <p:cNvSpPr txBox="1"/>
          <p:nvPr/>
        </p:nvSpPr>
        <p:spPr>
          <a:xfrm>
            <a:off x="548640" y="1828800"/>
            <a:ext cx="2432304" cy="191109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“unknown by face to the churches of Judea” — a stranger by sight</a:t>
            </a:r>
            <a:endParaRPr lang="en-US" sz="1200" dirty="0"/>
          </a:p>
        </p:txBody>
      </p:sp>
      <p:sp>
        <p:nvSpPr>
          <p:cNvPr id="9" name="Shape 6"/>
          <p:cNvSpPr/>
          <p:nvPr/>
        </p:nvSpPr>
        <p:spPr>
          <a:xfrm>
            <a:off x="3264408" y="1188720"/>
            <a:ext cx="2615184" cy="365760"/>
          </a:xfrm>
          <a:prstGeom prst="rect">
            <a:avLst/>
          </a:prstGeom>
          <a:solidFill>
            <a:srgbClr val="2E5496"/>
          </a:solidFill>
          <a:ln w="12700">
            <a:solidFill>
              <a:srgbClr val="2E5496"/>
            </a:solidFill>
            <a:prstDash val="solid"/>
          </a:ln>
        </p:spPr>
      </p:sp>
      <p:sp>
        <p:nvSpPr>
          <p:cNvPr id="10" name="Text 7"/>
          <p:cNvSpPr txBox="1"/>
          <p:nvPr/>
        </p:nvSpPr>
        <p:spPr>
          <a:xfrm>
            <a:off x="3355848" y="1234440"/>
            <a:ext cx="2432304"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heard  ·  v.23</a:t>
            </a:r>
            <a:endParaRPr lang="en-US" sz="1200" dirty="0"/>
          </a:p>
        </p:txBody>
      </p:sp>
      <p:sp>
        <p:nvSpPr>
          <p:cNvPr id="11" name="Shape 8"/>
          <p:cNvSpPr/>
          <p:nvPr/>
        </p:nvSpPr>
        <p:spPr>
          <a:xfrm>
            <a:off x="3264408" y="1554480"/>
            <a:ext cx="2615184" cy="2240280"/>
          </a:xfrm>
          <a:prstGeom prst="rect">
            <a:avLst/>
          </a:prstGeom>
          <a:solidFill>
            <a:srgbClr val="F2F6FC"/>
          </a:solidFill>
          <a:ln w="9525">
            <a:solidFill>
              <a:srgbClr val="D5DCEA"/>
            </a:solidFill>
            <a:prstDash val="solid"/>
          </a:ln>
        </p:spPr>
      </p:sp>
      <p:sp>
        <p:nvSpPr>
          <p:cNvPr id="12" name="Text 9"/>
          <p:cNvSpPr txBox="1"/>
          <p:nvPr/>
        </p:nvSpPr>
        <p:spPr>
          <a:xfrm>
            <a:off x="3355848" y="1627632"/>
            <a:ext cx="2432304" cy="2112264"/>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“He who formerly persecuted us now preaches the faith which he once tried to destroy”</a:t>
            </a:r>
            <a:endParaRPr lang="en-US" sz="1200" dirty="0"/>
          </a:p>
        </p:txBody>
      </p:sp>
      <p:sp>
        <p:nvSpPr>
          <p:cNvPr id="13" name="Shape 10"/>
          <p:cNvSpPr/>
          <p:nvPr/>
        </p:nvSpPr>
        <p:spPr>
          <a:xfrm>
            <a:off x="6071616" y="1188720"/>
            <a:ext cx="2615184" cy="566928"/>
          </a:xfrm>
          <a:prstGeom prst="rect">
            <a:avLst/>
          </a:prstGeom>
          <a:solidFill>
            <a:srgbClr val="375623"/>
          </a:solidFill>
          <a:ln w="12700">
            <a:solidFill>
              <a:srgbClr val="375623"/>
            </a:solidFill>
            <a:prstDash val="solid"/>
          </a:ln>
        </p:spPr>
      </p:sp>
      <p:sp>
        <p:nvSpPr>
          <p:cNvPr id="14" name="Text 11"/>
          <p:cNvSpPr txBox="1"/>
          <p:nvPr/>
        </p:nvSpPr>
        <p:spPr>
          <a:xfrm>
            <a:off x="6163056" y="1234440"/>
            <a:ext cx="2432304" cy="475488"/>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They glorified God  ·  v.24</a:t>
            </a:r>
            <a:endParaRPr lang="en-US" sz="1200" dirty="0"/>
          </a:p>
          <a:p>
            <a:pPr indent="0" marL="0">
              <a:buNone/>
            </a:pPr>
            <a:r>
              <a:rPr lang="en-US" sz="1300" b="1" dirty="0">
                <a:solidFill>
                  <a:srgbClr val="E4D6F7"/>
                </a:solidFill>
                <a:latin typeface="Arial" pitchFamily="34" charset="0"/>
                <a:ea typeface="Arial" pitchFamily="34" charset="-122"/>
                <a:cs typeface="Arial" pitchFamily="34" charset="-120"/>
              </a:rPr>
              <a:t>ἐδόξαζον</a:t>
            </a:r>
            <a:pPr indent="0" marL="0">
              <a:buNone/>
            </a:pPr>
            <a:r>
              <a:rPr lang="en-US" sz="850" dirty="0">
                <a:solidFill>
                  <a:srgbClr val="DCE4F2"/>
                </a:solidFill>
                <a:latin typeface="Arial" pitchFamily="34" charset="0"/>
                <a:ea typeface="Arial" pitchFamily="34" charset="-122"/>
                <a:cs typeface="Arial" pitchFamily="34" charset="-120"/>
              </a:rPr>
              <a:t>  Imperf. Act.</a:t>
            </a:r>
            <a:endParaRPr lang="en-US" sz="1200" dirty="0"/>
          </a:p>
        </p:txBody>
      </p:sp>
      <p:sp>
        <p:nvSpPr>
          <p:cNvPr id="15" name="Shape 12"/>
          <p:cNvSpPr/>
          <p:nvPr/>
        </p:nvSpPr>
        <p:spPr>
          <a:xfrm>
            <a:off x="6071616" y="1755648"/>
            <a:ext cx="2615184" cy="2039112"/>
          </a:xfrm>
          <a:prstGeom prst="rect">
            <a:avLst/>
          </a:prstGeom>
          <a:solidFill>
            <a:srgbClr val="F2F6FC"/>
          </a:solidFill>
          <a:ln w="9525">
            <a:solidFill>
              <a:srgbClr val="D5DCEA"/>
            </a:solidFill>
            <a:prstDash val="solid"/>
          </a:ln>
        </p:spPr>
      </p:sp>
      <p:sp>
        <p:nvSpPr>
          <p:cNvPr id="16" name="Text 13"/>
          <p:cNvSpPr txBox="1"/>
          <p:nvPr/>
        </p:nvSpPr>
        <p:spPr>
          <a:xfrm>
            <a:off x="6163056" y="1828800"/>
            <a:ext cx="2432304" cy="1911096"/>
          </a:xfrm>
          <a:prstGeom prst="rect">
            <a:avLst/>
          </a:prstGeom>
          <a:noFill/>
          <a:ln/>
        </p:spPr>
        <p:txBody>
          <a:bodyPr wrap="square" lIns="0" tIns="0" rIns="0" bIns="0" rtlCol="0" anchor="t"/>
          <a:lstStyle/>
          <a:p>
            <a:pPr indent="0" marL="0">
              <a:buNone/>
            </a:pPr>
            <a:r>
              <a:rPr lang="en-US" sz="1200" dirty="0">
                <a:solidFill>
                  <a:srgbClr val="262626"/>
                </a:solidFill>
                <a:latin typeface="Arial" pitchFamily="34" charset="0"/>
                <a:ea typeface="Arial" pitchFamily="34" charset="-122"/>
                <a:cs typeface="Arial" pitchFamily="34" charset="-120"/>
              </a:rPr>
              <a:t>“they glorified God in me” — grace, not Paul's achievement</a:t>
            </a:r>
            <a:endParaRPr lang="en-US" sz="1200" dirty="0"/>
          </a:p>
        </p:txBody>
      </p:sp>
      <p:sp>
        <p:nvSpPr>
          <p:cNvPr id="17" name="Shape 14"/>
          <p:cNvSpPr/>
          <p:nvPr/>
        </p:nvSpPr>
        <p:spPr>
          <a:xfrm>
            <a:off x="457200" y="3977640"/>
            <a:ext cx="8229600" cy="566928"/>
          </a:xfrm>
          <a:prstGeom prst="roundRect">
            <a:avLst>
              <a:gd name="adj" fmla="val 9677"/>
            </a:avLst>
          </a:prstGeom>
          <a:solidFill>
            <a:srgbClr val="1F3864"/>
          </a:solidFill>
          <a:ln w="12700">
            <a:solidFill>
              <a:srgbClr val="1F3864"/>
            </a:solidFill>
            <a:prstDash val="solid"/>
          </a:ln>
        </p:spPr>
      </p:sp>
      <p:sp>
        <p:nvSpPr>
          <p:cNvPr id="18" name="Text 15"/>
          <p:cNvSpPr txBox="1"/>
          <p:nvPr/>
        </p:nvSpPr>
        <p:spPr>
          <a:xfrm>
            <a:off x="621792" y="3977640"/>
            <a:ext cx="7900416" cy="566928"/>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Acts 9:31 — walking in the fear of the Lord and the comfort of the Holy Spirit, the church multiplied.</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famine visit: who went, and why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2:1–2 · Outline II.A–B</a:t>
            </a:r>
            <a:endParaRPr lang="en-US" sz="1200" dirty="0"/>
          </a:p>
        </p:txBody>
      </p:sp>
      <p:sp>
        <p:nvSpPr>
          <p:cNvPr id="5" name="Shape 2"/>
          <p:cNvSpPr/>
          <p:nvPr/>
        </p:nvSpPr>
        <p:spPr>
          <a:xfrm>
            <a:off x="457200" y="1188720"/>
            <a:ext cx="4023360" cy="365760"/>
          </a:xfrm>
          <a:prstGeom prst="rect">
            <a:avLst/>
          </a:prstGeom>
          <a:solidFill>
            <a:srgbClr val="2E5496"/>
          </a:solidFill>
          <a:ln w="12700">
            <a:solidFill>
              <a:srgbClr val="2E5496"/>
            </a:solidFill>
            <a:prstDash val="solid"/>
          </a:ln>
        </p:spPr>
      </p:sp>
      <p:sp>
        <p:nvSpPr>
          <p:cNvPr id="6" name="Text 3"/>
          <p:cNvSpPr txBox="1"/>
          <p:nvPr/>
        </p:nvSpPr>
        <p:spPr>
          <a:xfrm>
            <a:off x="548640" y="1234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representatives — vv.1–2a</a:t>
            </a:r>
            <a:endParaRPr lang="en-US" sz="1200" dirty="0"/>
          </a:p>
        </p:txBody>
      </p:sp>
      <p:sp>
        <p:nvSpPr>
          <p:cNvPr id="7" name="Shape 4"/>
          <p:cNvSpPr/>
          <p:nvPr/>
        </p:nvSpPr>
        <p:spPr>
          <a:xfrm>
            <a:off x="457200" y="1554480"/>
            <a:ext cx="4023360" cy="2377440"/>
          </a:xfrm>
          <a:prstGeom prst="rect">
            <a:avLst/>
          </a:prstGeom>
          <a:solidFill>
            <a:srgbClr val="F2F6FC"/>
          </a:solidFill>
          <a:ln w="9525">
            <a:solidFill>
              <a:srgbClr val="D5DCEA"/>
            </a:solidFill>
            <a:prstDash val="solid"/>
          </a:ln>
        </p:spPr>
      </p:sp>
      <p:sp>
        <p:nvSpPr>
          <p:cNvPr id="8" name="Text 5"/>
          <p:cNvSpPr txBox="1"/>
          <p:nvPr/>
        </p:nvSpPr>
        <p:spPr>
          <a:xfrm>
            <a:off x="548640" y="1627632"/>
            <a:ext cx="3840480" cy="2249424"/>
          </a:xfrm>
          <a:prstGeom prst="rect">
            <a:avLst/>
          </a:prstGeom>
          <a:noFill/>
          <a:ln/>
        </p:spPr>
        <p:txBody>
          <a:bodyPr wrap="square" lIns="0" tIns="0" rIns="0" bIns="0" rtlCol="0" anchor="t"/>
          <a:lstStyle/>
          <a:p>
            <a:pPr indent="0" marL="0">
              <a:buNone/>
            </a:pPr>
            <a:endParaRPr lang="en-US" sz="1300" dirty="0"/>
          </a:p>
        </p:txBody>
      </p:sp>
      <p:sp>
        <p:nvSpPr>
          <p:cNvPr id="9" name="Text 6"/>
          <p:cNvSpPr txBox="1"/>
          <p:nvPr/>
        </p:nvSpPr>
        <p:spPr>
          <a:xfrm>
            <a:off x="566928" y="1691640"/>
            <a:ext cx="3803904" cy="2148840"/>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Time  </a:t>
            </a:r>
            <a:pPr indent="0" marL="0">
              <a:buNone/>
            </a:pPr>
            <a:r>
              <a:rPr lang="en-US" sz="1150" dirty="0">
                <a:solidFill>
                  <a:srgbClr val="262626"/>
                </a:solidFill>
                <a:latin typeface="Arial" pitchFamily="34" charset="0"/>
                <a:ea typeface="Arial" pitchFamily="34" charset="-122"/>
                <a:cs typeface="Arial" pitchFamily="34" charset="-120"/>
              </a:rPr>
              <a:t>14 years after Paul's conversion</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Team  </a:t>
            </a:r>
            <a:pPr indent="0" marL="0">
              <a:buNone/>
            </a:pPr>
            <a:r>
              <a:rPr lang="en-US" sz="1150" dirty="0">
                <a:solidFill>
                  <a:srgbClr val="262626"/>
                </a:solidFill>
                <a:latin typeface="Arial" pitchFamily="34" charset="0"/>
                <a:ea typeface="Arial" pitchFamily="34" charset="-122"/>
                <a:cs typeface="Arial" pitchFamily="34" charset="-120"/>
              </a:rPr>
              <a:t>Paul (leader), Barnabas, and Titus — a Gentile, uncircumcised; his first mention</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Text  </a:t>
            </a:r>
            <a:pPr indent="0" marL="0">
              <a:buNone/>
            </a:pPr>
            <a:r>
              <a:rPr lang="en-US" sz="1150" dirty="0">
                <a:solidFill>
                  <a:srgbClr val="262626"/>
                </a:solidFill>
                <a:latin typeface="Arial" pitchFamily="34" charset="0"/>
                <a:ea typeface="Arial" pitchFamily="34" charset="-122"/>
                <a:cs typeface="Arial" pitchFamily="34" charset="-120"/>
              </a:rPr>
              <a:t>The gospel Paul preached — the gospel of grace</a:t>
            </a:r>
            <a:endParaRPr lang="en-US" sz="1150" dirty="0"/>
          </a:p>
        </p:txBody>
      </p:sp>
      <p:sp>
        <p:nvSpPr>
          <p:cNvPr id="10" name="Shape 7"/>
          <p:cNvSpPr/>
          <p:nvPr/>
        </p:nvSpPr>
        <p:spPr>
          <a:xfrm>
            <a:off x="4663440" y="1188720"/>
            <a:ext cx="4023360" cy="365760"/>
          </a:xfrm>
          <a:prstGeom prst="rect">
            <a:avLst/>
          </a:prstGeom>
          <a:solidFill>
            <a:srgbClr val="2E5496"/>
          </a:solidFill>
          <a:ln w="12700">
            <a:solidFill>
              <a:srgbClr val="2E5496"/>
            </a:solidFill>
            <a:prstDash val="solid"/>
          </a:ln>
        </p:spPr>
      </p:sp>
      <p:sp>
        <p:nvSpPr>
          <p:cNvPr id="11" name="Text 8"/>
          <p:cNvSpPr txBox="1"/>
          <p:nvPr/>
        </p:nvSpPr>
        <p:spPr>
          <a:xfrm>
            <a:off x="4754880" y="1234440"/>
            <a:ext cx="384048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The reason — v.2</a:t>
            </a:r>
            <a:endParaRPr lang="en-US" sz="1200" dirty="0"/>
          </a:p>
        </p:txBody>
      </p:sp>
      <p:sp>
        <p:nvSpPr>
          <p:cNvPr id="12" name="Shape 9"/>
          <p:cNvSpPr/>
          <p:nvPr/>
        </p:nvSpPr>
        <p:spPr>
          <a:xfrm>
            <a:off x="4663440" y="1554480"/>
            <a:ext cx="4023360" cy="2377440"/>
          </a:xfrm>
          <a:prstGeom prst="rect">
            <a:avLst/>
          </a:prstGeom>
          <a:solidFill>
            <a:srgbClr val="F2F6FC"/>
          </a:solidFill>
          <a:ln w="9525">
            <a:solidFill>
              <a:srgbClr val="D5DCEA"/>
            </a:solidFill>
            <a:prstDash val="solid"/>
          </a:ln>
        </p:spPr>
      </p:sp>
      <p:sp>
        <p:nvSpPr>
          <p:cNvPr id="13" name="Text 10"/>
          <p:cNvSpPr txBox="1"/>
          <p:nvPr/>
        </p:nvSpPr>
        <p:spPr>
          <a:xfrm>
            <a:off x="4754880" y="1627632"/>
            <a:ext cx="3840480" cy="2249424"/>
          </a:xfrm>
          <a:prstGeom prst="rect">
            <a:avLst/>
          </a:prstGeom>
          <a:noFill/>
          <a:ln/>
        </p:spPr>
        <p:txBody>
          <a:bodyPr wrap="square" lIns="0" tIns="0" rIns="0" bIns="0" rtlCol="0" anchor="t"/>
          <a:lstStyle/>
          <a:p>
            <a:pPr indent="0" marL="0">
              <a:buNone/>
            </a:pPr>
            <a:endParaRPr lang="en-US" sz="1300" dirty="0"/>
          </a:p>
        </p:txBody>
      </p:sp>
      <p:sp>
        <p:nvSpPr>
          <p:cNvPr id="14" name="Text 11"/>
          <p:cNvSpPr txBox="1"/>
          <p:nvPr/>
        </p:nvSpPr>
        <p:spPr>
          <a:xfrm>
            <a:off x="4773168" y="1691640"/>
            <a:ext cx="3803904" cy="2148840"/>
          </a:xfrm>
          <a:prstGeom prst="rect">
            <a:avLst/>
          </a:prstGeom>
          <a:noFill/>
          <a:ln/>
        </p:spPr>
        <p:txBody>
          <a:bodyPr wrap="square" lIns="0" tIns="0" rIns="0" bIns="0" rtlCol="0" anchor="t"/>
          <a:lstStyle/>
          <a:p>
            <a:pPr indent="0" marL="0">
              <a:buNone/>
            </a:pPr>
            <a:r>
              <a:rPr lang="en-US" sz="1150" b="1" dirty="0">
                <a:solidFill>
                  <a:srgbClr val="1F3864"/>
                </a:solidFill>
                <a:latin typeface="Arial" pitchFamily="34" charset="0"/>
                <a:ea typeface="Arial" pitchFamily="34" charset="-122"/>
                <a:cs typeface="Arial" pitchFamily="34" charset="-120"/>
              </a:rPr>
              <a:t>By revelation  </a:t>
            </a:r>
            <a:pPr indent="0" marL="0">
              <a:buNone/>
            </a:pPr>
            <a:r>
              <a:rPr lang="en-US" sz="1150" dirty="0">
                <a:solidFill>
                  <a:srgbClr val="262626"/>
                </a:solidFill>
                <a:latin typeface="Arial" pitchFamily="34" charset="0"/>
                <a:ea typeface="Arial" pitchFamily="34" charset="-122"/>
                <a:cs typeface="Arial" pitchFamily="34" charset="-120"/>
              </a:rPr>
              <a:t>Agabus foretold the famine (Acts 11:27–30); not summoned</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Privately  </a:t>
            </a:r>
            <a:pPr indent="0" marL="0">
              <a:buNone/>
            </a:pPr>
            <a:r>
              <a:rPr lang="en-US" sz="1150" dirty="0">
                <a:solidFill>
                  <a:srgbClr val="262626"/>
                </a:solidFill>
                <a:latin typeface="Arial" pitchFamily="34" charset="0"/>
                <a:ea typeface="Arial" pitchFamily="34" charset="-122"/>
                <a:cs typeface="Arial" pitchFamily="34" charset="-120"/>
              </a:rPr>
              <a:t>not a council or public meeting</a:t>
            </a:r>
            <a:endParaRPr lang="en-US" sz="1150" dirty="0"/>
          </a:p>
          <a:p>
            <a:pPr indent="0" marL="0">
              <a:buNone/>
            </a:pPr>
            <a:r>
              <a:rPr lang="en-US" sz="500" dirty="0">
                <a:solidFill>
                  <a:srgbClr val="262626"/>
                </a:solidFill>
                <a:latin typeface="Arial" pitchFamily="34" charset="0"/>
                <a:ea typeface="Arial" pitchFamily="34" charset="-122"/>
                <a:cs typeface="Arial" pitchFamily="34" charset="-120"/>
              </a:rPr>
              <a:t> </a:t>
            </a:r>
            <a:endParaRPr lang="en-US" sz="1150" dirty="0"/>
          </a:p>
          <a:p>
            <a:pPr indent="0" marL="0">
              <a:buNone/>
            </a:pPr>
            <a:r>
              <a:rPr lang="en-US" sz="1150" b="1" dirty="0">
                <a:solidFill>
                  <a:srgbClr val="1F3864"/>
                </a:solidFill>
                <a:latin typeface="Arial" pitchFamily="34" charset="0"/>
                <a:ea typeface="Arial" pitchFamily="34" charset="-122"/>
                <a:cs typeface="Arial" pitchFamily="34" charset="-120"/>
              </a:rPr>
              <a:t>And communicated  </a:t>
            </a:r>
            <a:pPr indent="0" marL="0">
              <a:buNone/>
            </a:pPr>
            <a:r>
              <a:rPr lang="en-US" sz="1150" b="1" dirty="0">
                <a:solidFill>
                  <a:srgbClr val="7030A0"/>
                </a:solidFill>
                <a:latin typeface="Arial" pitchFamily="34" charset="0"/>
                <a:ea typeface="Arial" pitchFamily="34" charset="-122"/>
                <a:cs typeface="Arial" pitchFamily="34" charset="-120"/>
              </a:rPr>
              <a:t>ἀνεθέμην</a:t>
            </a:r>
            <a:pPr indent="0" marL="0">
              <a:buNone/>
            </a:pPr>
            <a:r>
              <a:rPr lang="en-US" sz="1150" dirty="0">
                <a:solidFill>
                  <a:srgbClr val="262626"/>
                </a:solidFill>
                <a:latin typeface="Arial" pitchFamily="34" charset="0"/>
                <a:ea typeface="Arial" pitchFamily="34" charset="-122"/>
                <a:cs typeface="Arial" pitchFamily="34" charset="-120"/>
              </a:rPr>
              <a:t> — laid it before them to be on the same page, not to ask if it was true</a:t>
            </a:r>
            <a:endParaRPr lang="en-US" sz="1150" dirty="0"/>
          </a:p>
        </p:txBody>
      </p:sp>
      <p:sp>
        <p:nvSpPr>
          <p:cNvPr id="15" name="Shape 12"/>
          <p:cNvSpPr/>
          <p:nvPr/>
        </p:nvSpPr>
        <p:spPr>
          <a:xfrm>
            <a:off x="457200" y="4069080"/>
            <a:ext cx="8229600" cy="548640"/>
          </a:xfrm>
          <a:prstGeom prst="roundRect">
            <a:avLst>
              <a:gd name="adj" fmla="val 10000"/>
            </a:avLst>
          </a:prstGeom>
          <a:solidFill>
            <a:srgbClr val="1F3864"/>
          </a:solidFill>
          <a:ln w="12700">
            <a:solidFill>
              <a:srgbClr val="1F3864"/>
            </a:solidFill>
            <a:prstDash val="solid"/>
          </a:ln>
        </p:spPr>
      </p:sp>
      <p:sp>
        <p:nvSpPr>
          <p:cNvPr id="16" name="Text 13"/>
          <p:cNvSpPr txBox="1"/>
          <p:nvPr/>
        </p:nvSpPr>
        <p:spPr>
          <a:xfrm>
            <a:off x="621792" y="4069080"/>
            <a:ext cx="7900416" cy="54864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“Lest I might run, or had run, in vain” — if Jerusalem demanded law-keeping of Gentiles, Paul would be running uphill.</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The disruption: liberty under attack</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2:3–5 · Outline II.C.1–2</a:t>
            </a:r>
            <a:endParaRPr lang="en-US" sz="1200" dirty="0"/>
          </a:p>
        </p:txBody>
      </p:sp>
      <p:sp>
        <p:nvSpPr>
          <p:cNvPr id="5" name="Shape 2"/>
          <p:cNvSpPr/>
          <p:nvPr/>
        </p:nvSpPr>
        <p:spPr>
          <a:xfrm>
            <a:off x="457200" y="1143000"/>
            <a:ext cx="1417320" cy="566928"/>
          </a:xfrm>
          <a:prstGeom prst="rect">
            <a:avLst/>
          </a:prstGeom>
          <a:solidFill>
            <a:srgbClr val="6B7280"/>
          </a:solidFill>
          <a:ln w="12700">
            <a:solidFill>
              <a:srgbClr val="6B7280"/>
            </a:solidFill>
            <a:prstDash val="solid"/>
          </a:ln>
        </p:spPr>
      </p:sp>
      <p:sp>
        <p:nvSpPr>
          <p:cNvPr id="6" name="Text 3"/>
          <p:cNvSpPr txBox="1"/>
          <p:nvPr/>
        </p:nvSpPr>
        <p:spPr>
          <a:xfrm>
            <a:off x="457200" y="1143000"/>
            <a:ext cx="14173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Slipped in</a:t>
            </a:r>
            <a:endParaRPr lang="en-US" sz="1100" dirty="0"/>
          </a:p>
        </p:txBody>
      </p:sp>
      <p:sp>
        <p:nvSpPr>
          <p:cNvPr id="7" name="Shape 4"/>
          <p:cNvSpPr/>
          <p:nvPr/>
        </p:nvSpPr>
        <p:spPr>
          <a:xfrm>
            <a:off x="1874520" y="1143000"/>
            <a:ext cx="3703320" cy="566928"/>
          </a:xfrm>
          <a:prstGeom prst="rect">
            <a:avLst/>
          </a:prstGeom>
          <a:solidFill>
            <a:srgbClr val="F2F6FC"/>
          </a:solidFill>
          <a:ln w="9525">
            <a:solidFill>
              <a:srgbClr val="D5DCEA"/>
            </a:solidFill>
            <a:prstDash val="solid"/>
          </a:ln>
        </p:spPr>
      </p:sp>
      <p:sp>
        <p:nvSpPr>
          <p:cNvPr id="8" name="Text 5"/>
          <p:cNvSpPr txBox="1"/>
          <p:nvPr/>
        </p:nvSpPr>
        <p:spPr>
          <a:xfrm>
            <a:off x="1984248" y="1143000"/>
            <a:ext cx="3520440" cy="566928"/>
          </a:xfrm>
          <a:prstGeom prst="rect">
            <a:avLst/>
          </a:prstGeom>
          <a:noFill/>
          <a:ln/>
        </p:spPr>
        <p:txBody>
          <a:bodyPr wrap="square" lIns="0" tIns="0" rIns="0" bIns="0" rtlCol="0" anchor="ctr"/>
          <a:lstStyle/>
          <a:p>
            <a:pPr indent="0" marL="0">
              <a:buNone/>
            </a:pPr>
            <a:r>
              <a:rPr lang="en-US" sz="1150" b="1" dirty="0">
                <a:solidFill>
                  <a:srgbClr val="7030A0"/>
                </a:solidFill>
                <a:latin typeface="Arial" pitchFamily="34" charset="0"/>
                <a:ea typeface="Arial" pitchFamily="34" charset="-122"/>
                <a:cs typeface="Arial" pitchFamily="34" charset="-120"/>
              </a:rPr>
              <a:t>ψευδαδέλφους</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false brothers — by stealth, under false pretenses (v.4a)</a:t>
            </a:r>
            <a:endParaRPr lang="en-US" sz="1200" dirty="0"/>
          </a:p>
        </p:txBody>
      </p:sp>
      <p:sp>
        <p:nvSpPr>
          <p:cNvPr id="9" name="Shape 6"/>
          <p:cNvSpPr/>
          <p:nvPr/>
        </p:nvSpPr>
        <p:spPr>
          <a:xfrm>
            <a:off x="457200" y="1801368"/>
            <a:ext cx="1417320" cy="566928"/>
          </a:xfrm>
          <a:prstGeom prst="rect">
            <a:avLst/>
          </a:prstGeom>
          <a:solidFill>
            <a:srgbClr val="6B7280"/>
          </a:solidFill>
          <a:ln w="12700">
            <a:solidFill>
              <a:srgbClr val="6B7280"/>
            </a:solidFill>
            <a:prstDash val="solid"/>
          </a:ln>
        </p:spPr>
      </p:sp>
      <p:sp>
        <p:nvSpPr>
          <p:cNvPr id="10" name="Text 7"/>
          <p:cNvSpPr txBox="1"/>
          <p:nvPr/>
        </p:nvSpPr>
        <p:spPr>
          <a:xfrm>
            <a:off x="457200" y="1801368"/>
            <a:ext cx="14173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Spied out</a:t>
            </a:r>
            <a:endParaRPr lang="en-US" sz="1100" dirty="0"/>
          </a:p>
        </p:txBody>
      </p:sp>
      <p:sp>
        <p:nvSpPr>
          <p:cNvPr id="11" name="Shape 8"/>
          <p:cNvSpPr/>
          <p:nvPr/>
        </p:nvSpPr>
        <p:spPr>
          <a:xfrm>
            <a:off x="1874520" y="1801368"/>
            <a:ext cx="3703320" cy="566928"/>
          </a:xfrm>
          <a:prstGeom prst="rect">
            <a:avLst/>
          </a:prstGeom>
          <a:solidFill>
            <a:srgbClr val="FFFFFF"/>
          </a:solidFill>
          <a:ln w="9525">
            <a:solidFill>
              <a:srgbClr val="D5DCEA"/>
            </a:solidFill>
            <a:prstDash val="solid"/>
          </a:ln>
        </p:spPr>
      </p:sp>
      <p:sp>
        <p:nvSpPr>
          <p:cNvPr id="12" name="Text 9"/>
          <p:cNvSpPr txBox="1"/>
          <p:nvPr/>
        </p:nvSpPr>
        <p:spPr>
          <a:xfrm>
            <a:off x="1984248" y="1801368"/>
            <a:ext cx="3520440" cy="566928"/>
          </a:xfrm>
          <a:prstGeom prst="rect">
            <a:avLst/>
          </a:prstGeom>
          <a:noFill/>
          <a:ln/>
        </p:spPr>
        <p:txBody>
          <a:bodyPr wrap="square" lIns="0" tIns="0" rIns="0" bIns="0" rtlCol="0" anchor="ctr"/>
          <a:lstStyle/>
          <a:p>
            <a:pPr indent="0" marL="0">
              <a:buNone/>
            </a:pPr>
            <a:r>
              <a:rPr lang="en-US" sz="1150" b="1" dirty="0">
                <a:solidFill>
                  <a:srgbClr val="7030A0"/>
                </a:solidFill>
                <a:latin typeface="Arial" pitchFamily="34" charset="0"/>
                <a:ea typeface="Arial" pitchFamily="34" charset="-122"/>
                <a:cs typeface="Arial" pitchFamily="34" charset="-120"/>
              </a:rPr>
              <a:t>κατασκοπῆσαι</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“our liberty which we have in Christ Jesus” (v.4b)</a:t>
            </a:r>
            <a:endParaRPr lang="en-US" sz="1200" dirty="0"/>
          </a:p>
        </p:txBody>
      </p:sp>
      <p:sp>
        <p:nvSpPr>
          <p:cNvPr id="13" name="Shape 10"/>
          <p:cNvSpPr/>
          <p:nvPr/>
        </p:nvSpPr>
        <p:spPr>
          <a:xfrm>
            <a:off x="457200" y="2459736"/>
            <a:ext cx="1417320" cy="566928"/>
          </a:xfrm>
          <a:prstGeom prst="rect">
            <a:avLst/>
          </a:prstGeom>
          <a:solidFill>
            <a:srgbClr val="6B7280"/>
          </a:solidFill>
          <a:ln w="12700">
            <a:solidFill>
              <a:srgbClr val="6B7280"/>
            </a:solidFill>
            <a:prstDash val="solid"/>
          </a:ln>
        </p:spPr>
      </p:sp>
      <p:sp>
        <p:nvSpPr>
          <p:cNvPr id="14" name="Text 11"/>
          <p:cNvSpPr txBox="1"/>
          <p:nvPr/>
        </p:nvSpPr>
        <p:spPr>
          <a:xfrm>
            <a:off x="457200" y="2459736"/>
            <a:ext cx="14173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To enslave</a:t>
            </a:r>
            <a:endParaRPr lang="en-US" sz="1100" dirty="0"/>
          </a:p>
        </p:txBody>
      </p:sp>
      <p:sp>
        <p:nvSpPr>
          <p:cNvPr id="15" name="Shape 12"/>
          <p:cNvSpPr/>
          <p:nvPr/>
        </p:nvSpPr>
        <p:spPr>
          <a:xfrm>
            <a:off x="1874520" y="2459736"/>
            <a:ext cx="3703320" cy="566928"/>
          </a:xfrm>
          <a:prstGeom prst="rect">
            <a:avLst/>
          </a:prstGeom>
          <a:solidFill>
            <a:srgbClr val="F2F6FC"/>
          </a:solidFill>
          <a:ln w="9525">
            <a:solidFill>
              <a:srgbClr val="D5DCEA"/>
            </a:solidFill>
            <a:prstDash val="solid"/>
          </a:ln>
        </p:spPr>
      </p:sp>
      <p:sp>
        <p:nvSpPr>
          <p:cNvPr id="16" name="Text 13"/>
          <p:cNvSpPr txBox="1"/>
          <p:nvPr/>
        </p:nvSpPr>
        <p:spPr>
          <a:xfrm>
            <a:off x="1984248" y="2459736"/>
            <a:ext cx="3520440" cy="566928"/>
          </a:xfrm>
          <a:prstGeom prst="rect">
            <a:avLst/>
          </a:prstGeom>
          <a:noFill/>
          <a:ln/>
        </p:spPr>
        <p:txBody>
          <a:bodyPr wrap="square" lIns="0" tIns="0" rIns="0" bIns="0" rtlCol="0" anchor="ctr"/>
          <a:lstStyle/>
          <a:p>
            <a:pPr indent="0" marL="0">
              <a:buNone/>
            </a:pPr>
            <a:r>
              <a:rPr lang="en-US" sz="1150" b="1" dirty="0">
                <a:solidFill>
                  <a:srgbClr val="7030A0"/>
                </a:solidFill>
                <a:latin typeface="Arial" pitchFamily="34" charset="0"/>
                <a:ea typeface="Arial" pitchFamily="34" charset="-122"/>
                <a:cs typeface="Arial" pitchFamily="34" charset="-120"/>
              </a:rPr>
              <a:t>καταδουλώσουσιν</a:t>
            </a:r>
            <a:endParaRPr lang="en-US" sz="1200" dirty="0"/>
          </a:p>
          <a:p>
            <a:pPr indent="0" marL="0">
              <a:buNone/>
            </a:pPr>
            <a:r>
              <a:rPr lang="en-US" sz="1100" dirty="0">
                <a:solidFill>
                  <a:srgbClr val="262626"/>
                </a:solidFill>
                <a:latin typeface="Arial" pitchFamily="34" charset="0"/>
                <a:ea typeface="Arial" pitchFamily="34" charset="-122"/>
                <a:cs typeface="Arial" pitchFamily="34" charset="-120"/>
              </a:rPr>
              <a:t>bring us back into the bondage of the law (v.4c)</a:t>
            </a:r>
            <a:endParaRPr lang="en-US" sz="1200" dirty="0"/>
          </a:p>
        </p:txBody>
      </p:sp>
      <p:sp>
        <p:nvSpPr>
          <p:cNvPr id="17" name="Shape 14"/>
          <p:cNvSpPr/>
          <p:nvPr/>
        </p:nvSpPr>
        <p:spPr>
          <a:xfrm>
            <a:off x="457200" y="3118104"/>
            <a:ext cx="1417320" cy="566928"/>
          </a:xfrm>
          <a:prstGeom prst="rect">
            <a:avLst/>
          </a:prstGeom>
          <a:solidFill>
            <a:srgbClr val="2E5496"/>
          </a:solidFill>
          <a:ln w="12700">
            <a:solidFill>
              <a:srgbClr val="2E5496"/>
            </a:solidFill>
            <a:prstDash val="solid"/>
          </a:ln>
        </p:spPr>
      </p:sp>
      <p:sp>
        <p:nvSpPr>
          <p:cNvPr id="18" name="Text 15"/>
          <p:cNvSpPr txBox="1"/>
          <p:nvPr/>
        </p:nvSpPr>
        <p:spPr>
          <a:xfrm>
            <a:off x="457200" y="3118104"/>
            <a:ext cx="1417320" cy="56692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Targeted Titus</a:t>
            </a:r>
            <a:endParaRPr lang="en-US" sz="1100" dirty="0"/>
          </a:p>
        </p:txBody>
      </p:sp>
      <p:sp>
        <p:nvSpPr>
          <p:cNvPr id="19" name="Shape 16"/>
          <p:cNvSpPr/>
          <p:nvPr/>
        </p:nvSpPr>
        <p:spPr>
          <a:xfrm>
            <a:off x="1874520" y="3118104"/>
            <a:ext cx="3703320" cy="566928"/>
          </a:xfrm>
          <a:prstGeom prst="rect">
            <a:avLst/>
          </a:prstGeom>
          <a:solidFill>
            <a:srgbClr val="FFFFFF"/>
          </a:solidFill>
          <a:ln w="9525">
            <a:solidFill>
              <a:srgbClr val="D5DCEA"/>
            </a:solidFill>
            <a:prstDash val="solid"/>
          </a:ln>
        </p:spPr>
      </p:sp>
      <p:sp>
        <p:nvSpPr>
          <p:cNvPr id="20" name="Text 17"/>
          <p:cNvSpPr txBox="1"/>
          <p:nvPr/>
        </p:nvSpPr>
        <p:spPr>
          <a:xfrm>
            <a:off x="1984248" y="3118104"/>
            <a:ext cx="3520440" cy="566928"/>
          </a:xfrm>
          <a:prstGeom prst="rect">
            <a:avLst/>
          </a:prstGeom>
          <a:noFill/>
          <a:ln/>
        </p:spPr>
        <p:txBody>
          <a:bodyPr wrap="square" lIns="0" tIns="0" rIns="0" bIns="0" rtlCol="0" anchor="ctr"/>
          <a:lstStyle/>
          <a:p>
            <a:pPr indent="0" marL="0">
              <a:buNone/>
            </a:pPr>
            <a:r>
              <a:rPr lang="en-US" sz="1100" dirty="0">
                <a:solidFill>
                  <a:srgbClr val="262626"/>
                </a:solidFill>
                <a:latin typeface="Arial" pitchFamily="34" charset="0"/>
                <a:ea typeface="Arial" pitchFamily="34" charset="-122"/>
                <a:cs typeface="Arial" pitchFamily="34" charset="-120"/>
              </a:rPr>
              <a:t>a Greek, uncircumcised — compel him and set a precedent (v.3)</a:t>
            </a:r>
            <a:endParaRPr lang="en-US" sz="1200" dirty="0"/>
          </a:p>
        </p:txBody>
      </p:sp>
      <p:sp>
        <p:nvSpPr>
          <p:cNvPr id="21" name="Shape 18"/>
          <p:cNvSpPr/>
          <p:nvPr/>
        </p:nvSpPr>
        <p:spPr>
          <a:xfrm>
            <a:off x="5669280" y="2240280"/>
            <a:ext cx="320040" cy="237744"/>
          </a:xfrm>
          <a:prstGeom prst="rightArrow">
            <a:avLst/>
          </a:prstGeom>
          <a:solidFill>
            <a:srgbClr val="375623"/>
          </a:solidFill>
          <a:ln w="12700">
            <a:solidFill>
              <a:srgbClr val="375623"/>
            </a:solidFill>
            <a:prstDash val="solid"/>
          </a:ln>
        </p:spPr>
      </p:sp>
      <p:sp>
        <p:nvSpPr>
          <p:cNvPr id="22" name="Shape 19"/>
          <p:cNvSpPr/>
          <p:nvPr/>
        </p:nvSpPr>
        <p:spPr>
          <a:xfrm>
            <a:off x="6126480" y="1143000"/>
            <a:ext cx="2560320" cy="365760"/>
          </a:xfrm>
          <a:prstGeom prst="rect">
            <a:avLst/>
          </a:prstGeom>
          <a:solidFill>
            <a:srgbClr val="375623"/>
          </a:solidFill>
          <a:ln w="12700">
            <a:solidFill>
              <a:srgbClr val="375623"/>
            </a:solidFill>
            <a:prstDash val="solid"/>
          </a:ln>
        </p:spPr>
      </p:sp>
      <p:sp>
        <p:nvSpPr>
          <p:cNvPr id="23" name="Text 20"/>
          <p:cNvSpPr txBox="1"/>
          <p:nvPr/>
        </p:nvSpPr>
        <p:spPr>
          <a:xfrm>
            <a:off x="6217920" y="1188720"/>
            <a:ext cx="2377440" cy="274320"/>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Paul's response — v.5</a:t>
            </a:r>
            <a:endParaRPr lang="en-US" sz="1200" dirty="0"/>
          </a:p>
        </p:txBody>
      </p:sp>
      <p:sp>
        <p:nvSpPr>
          <p:cNvPr id="24" name="Shape 21"/>
          <p:cNvSpPr/>
          <p:nvPr/>
        </p:nvSpPr>
        <p:spPr>
          <a:xfrm>
            <a:off x="6126480" y="1508760"/>
            <a:ext cx="2560320" cy="2194560"/>
          </a:xfrm>
          <a:prstGeom prst="rect">
            <a:avLst/>
          </a:prstGeom>
          <a:solidFill>
            <a:srgbClr val="F2F6FC"/>
          </a:solidFill>
          <a:ln w="9525">
            <a:solidFill>
              <a:srgbClr val="D5DCEA"/>
            </a:solidFill>
            <a:prstDash val="solid"/>
          </a:ln>
        </p:spPr>
      </p:sp>
      <p:sp>
        <p:nvSpPr>
          <p:cNvPr id="25" name="Text 22"/>
          <p:cNvSpPr txBox="1"/>
          <p:nvPr/>
        </p:nvSpPr>
        <p:spPr>
          <a:xfrm>
            <a:off x="6217920" y="1581912"/>
            <a:ext cx="2377440" cy="2066544"/>
          </a:xfrm>
          <a:prstGeom prst="rect">
            <a:avLst/>
          </a:prstGeom>
          <a:noFill/>
          <a:ln/>
        </p:spPr>
        <p:txBody>
          <a:bodyPr wrap="square" lIns="0" tIns="0" rIns="0" bIns="0" rtlCol="0" anchor="t"/>
          <a:lstStyle/>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“We did not yield submission even for an hour”</a:t>
            </a:r>
            <a:endParaRPr lang="en-US" sz="1300" dirty="0"/>
          </a:p>
          <a:p>
            <a:pPr marL="127000" indent="-127000">
              <a:spcAft>
                <a:spcPts val="300"/>
              </a:spcAft>
              <a:buSzPct val="100000"/>
              <a:buChar char="•"/>
            </a:pPr>
            <a:r>
              <a:rPr lang="en-US" sz="1300" dirty="0">
                <a:solidFill>
                  <a:srgbClr val="262626"/>
                </a:solidFill>
                <a:latin typeface="Arial" pitchFamily="34" charset="0"/>
                <a:ea typeface="Arial" pitchFamily="34" charset="-122"/>
                <a:cs typeface="Arial" pitchFamily="34" charset="-120"/>
              </a:rPr>
              <a:t>“that the truth of the gospel might continue with you”</a:t>
            </a:r>
            <a:endParaRPr lang="en-US" sz="1300" dirty="0"/>
          </a:p>
        </p:txBody>
      </p:sp>
      <p:sp>
        <p:nvSpPr>
          <p:cNvPr id="26" name="Text 23"/>
          <p:cNvSpPr txBox="1"/>
          <p:nvPr/>
        </p:nvSpPr>
        <p:spPr>
          <a:xfrm>
            <a:off x="6126480" y="3749040"/>
            <a:ext cx="2560320" cy="365760"/>
          </a:xfrm>
          <a:prstGeom prst="rect">
            <a:avLst/>
          </a:prstGeom>
          <a:noFill/>
          <a:ln/>
        </p:spPr>
        <p:txBody>
          <a:bodyPr wrap="square" lIns="0" tIns="0" rIns="0" bIns="0" rtlCol="0" anchor="t"/>
          <a:lstStyle/>
          <a:p>
            <a:pPr indent="0" marL="0">
              <a:buNone/>
            </a:pPr>
            <a:r>
              <a:rPr lang="en-US" sz="1150" b="1" dirty="0">
                <a:solidFill>
                  <a:srgbClr val="7030A0"/>
                </a:solidFill>
                <a:latin typeface="Arial" pitchFamily="34" charset="0"/>
                <a:ea typeface="Arial" pitchFamily="34" charset="-122"/>
                <a:cs typeface="Arial" pitchFamily="34" charset="-120"/>
              </a:rPr>
              <a:t>ἐλευθερίαν</a:t>
            </a:r>
            <a:pPr indent="0" marL="0">
              <a:buNone/>
            </a:pPr>
            <a:r>
              <a:rPr lang="en-US" sz="1000" dirty="0">
                <a:solidFill>
                  <a:srgbClr val="595959"/>
                </a:solidFill>
                <a:latin typeface="Arial" pitchFamily="34" charset="0"/>
                <a:ea typeface="Arial" pitchFamily="34" charset="-122"/>
                <a:cs typeface="Arial" pitchFamily="34" charset="-120"/>
              </a:rPr>
              <a:t>  liberty — every believer's from the moment of faith</a:t>
            </a:r>
            <a:endParaRPr lang="en-US" sz="1200" dirty="0"/>
          </a:p>
        </p:txBody>
      </p:sp>
      <p:sp>
        <p:nvSpPr>
          <p:cNvPr id="27" name="Shape 24"/>
          <p:cNvSpPr/>
          <p:nvPr/>
        </p:nvSpPr>
        <p:spPr>
          <a:xfrm>
            <a:off x="457200" y="4160520"/>
            <a:ext cx="8229600" cy="502920"/>
          </a:xfrm>
          <a:prstGeom prst="roundRect">
            <a:avLst>
              <a:gd name="adj" fmla="val 10909"/>
            </a:avLst>
          </a:prstGeom>
          <a:solidFill>
            <a:srgbClr val="1F3864"/>
          </a:solidFill>
          <a:ln w="12700">
            <a:solidFill>
              <a:srgbClr val="1F3864"/>
            </a:solidFill>
            <a:prstDash val="solid"/>
          </a:ln>
        </p:spPr>
      </p:sp>
      <p:sp>
        <p:nvSpPr>
          <p:cNvPr id="28" name="Text 25"/>
          <p:cNvSpPr txBox="1"/>
          <p:nvPr/>
        </p:nvSpPr>
        <p:spPr>
          <a:xfrm>
            <a:off x="621792" y="4160520"/>
            <a:ext cx="7900416" cy="502920"/>
          </a:xfrm>
          <a:prstGeom prst="rect">
            <a:avLst/>
          </a:prstGeom>
          <a:noFill/>
          <a:ln/>
        </p:spPr>
        <p:txBody>
          <a:bodyPr wrap="square" lIns="0" tIns="0" rIns="0" bIns="0" rtlCol="0" anchor="ctr"/>
          <a:lstStyle/>
          <a:p>
            <a:pPr indent="0" marL="0">
              <a:buNone/>
            </a:pPr>
            <a:r>
              <a:rPr lang="en-US" sz="1250" dirty="0">
                <a:solidFill>
                  <a:srgbClr val="FFFFFF"/>
                </a:solidFill>
                <a:latin typeface="Arial" pitchFamily="34" charset="0"/>
                <a:ea typeface="Arial" pitchFamily="34" charset="-122"/>
                <a:cs typeface="Arial" pitchFamily="34" charset="-120"/>
              </a:rPr>
              <a:t>Add one thing to the gospel and you have made it a false gospel. Separate what you should do from what you have to do: believe.</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What the apostles did — and did not do</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2:6–10 · Outline II.C.3 — Reaction of the apostles</a:t>
            </a:r>
            <a:endParaRPr lang="en-US" sz="1200" dirty="0"/>
          </a:p>
        </p:txBody>
      </p:sp>
      <p:sp>
        <p:nvSpPr>
          <p:cNvPr id="5" name="Shape 2"/>
          <p:cNvSpPr/>
          <p:nvPr/>
        </p:nvSpPr>
        <p:spPr>
          <a:xfrm>
            <a:off x="457200" y="1115568"/>
            <a:ext cx="914400" cy="548640"/>
          </a:xfrm>
          <a:prstGeom prst="rect">
            <a:avLst/>
          </a:prstGeom>
          <a:solidFill>
            <a:srgbClr val="2E5496"/>
          </a:solidFill>
          <a:ln w="12700">
            <a:solidFill>
              <a:srgbClr val="2E5496"/>
            </a:solidFill>
            <a:prstDash val="solid"/>
          </a:ln>
        </p:spPr>
      </p:sp>
      <p:sp>
        <p:nvSpPr>
          <p:cNvPr id="6" name="Text 3"/>
          <p:cNvSpPr txBox="1"/>
          <p:nvPr/>
        </p:nvSpPr>
        <p:spPr>
          <a:xfrm>
            <a:off x="457200" y="1115568"/>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 · v.6</a:t>
            </a:r>
            <a:endParaRPr lang="en-US" sz="1100" dirty="0"/>
          </a:p>
        </p:txBody>
      </p:sp>
      <p:sp>
        <p:nvSpPr>
          <p:cNvPr id="7" name="Shape 4"/>
          <p:cNvSpPr/>
          <p:nvPr/>
        </p:nvSpPr>
        <p:spPr>
          <a:xfrm>
            <a:off x="1371600" y="1115568"/>
            <a:ext cx="7315200" cy="548640"/>
          </a:xfrm>
          <a:prstGeom prst="rect">
            <a:avLst/>
          </a:prstGeom>
          <a:solidFill>
            <a:srgbClr val="F2F6FC"/>
          </a:solidFill>
          <a:ln w="9525">
            <a:solidFill>
              <a:srgbClr val="D5DCEA"/>
            </a:solidFill>
            <a:prstDash val="solid"/>
          </a:ln>
        </p:spPr>
      </p:sp>
      <p:sp>
        <p:nvSpPr>
          <p:cNvPr id="8" name="Text 5"/>
          <p:cNvSpPr txBox="1"/>
          <p:nvPr/>
        </p:nvSpPr>
        <p:spPr>
          <a:xfrm>
            <a:off x="1481328" y="1115568"/>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Added nothing to Paul's gospel — God shows personal favoritism to no man</a:t>
            </a:r>
            <a:endParaRPr lang="en-US" sz="1200" dirty="0"/>
          </a:p>
        </p:txBody>
      </p:sp>
      <p:sp>
        <p:nvSpPr>
          <p:cNvPr id="9" name="Text 6"/>
          <p:cNvSpPr txBox="1"/>
          <p:nvPr/>
        </p:nvSpPr>
        <p:spPr>
          <a:xfrm>
            <a:off x="5715000" y="1115568"/>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πρόσωπον λαμβάνει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“receives the face” — judges by status</a:t>
            </a:r>
            <a:endParaRPr lang="en-US" sz="1200" dirty="0"/>
          </a:p>
        </p:txBody>
      </p:sp>
      <p:sp>
        <p:nvSpPr>
          <p:cNvPr id="10" name="Shape 7"/>
          <p:cNvSpPr/>
          <p:nvPr/>
        </p:nvSpPr>
        <p:spPr>
          <a:xfrm>
            <a:off x="457200" y="1728216"/>
            <a:ext cx="914400" cy="548640"/>
          </a:xfrm>
          <a:prstGeom prst="rect">
            <a:avLst/>
          </a:prstGeom>
          <a:solidFill>
            <a:srgbClr val="2E5496"/>
          </a:solidFill>
          <a:ln w="12700">
            <a:solidFill>
              <a:srgbClr val="2E5496"/>
            </a:solidFill>
            <a:prstDash val="solid"/>
          </a:ln>
        </p:spPr>
      </p:sp>
      <p:sp>
        <p:nvSpPr>
          <p:cNvPr id="11" name="Text 8"/>
          <p:cNvSpPr txBox="1"/>
          <p:nvPr/>
        </p:nvSpPr>
        <p:spPr>
          <a:xfrm>
            <a:off x="457200" y="1728216"/>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 · v.7</a:t>
            </a:r>
            <a:endParaRPr lang="en-US" sz="1100" dirty="0"/>
          </a:p>
        </p:txBody>
      </p:sp>
      <p:sp>
        <p:nvSpPr>
          <p:cNvPr id="12" name="Shape 9"/>
          <p:cNvSpPr/>
          <p:nvPr/>
        </p:nvSpPr>
        <p:spPr>
          <a:xfrm>
            <a:off x="1371600" y="1728216"/>
            <a:ext cx="7315200" cy="548640"/>
          </a:xfrm>
          <a:prstGeom prst="rect">
            <a:avLst/>
          </a:prstGeom>
          <a:solidFill>
            <a:srgbClr val="FFFFFF"/>
          </a:solidFill>
          <a:ln w="9525">
            <a:solidFill>
              <a:srgbClr val="D5DCEA"/>
            </a:solidFill>
            <a:prstDash val="solid"/>
          </a:ln>
        </p:spPr>
      </p:sp>
      <p:sp>
        <p:nvSpPr>
          <p:cNvPr id="13" name="Text 10"/>
          <p:cNvSpPr txBox="1"/>
          <p:nvPr/>
        </p:nvSpPr>
        <p:spPr>
          <a:xfrm>
            <a:off x="1481328" y="1728216"/>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Saw his gospel was the same as Peter's — to Gentile and Jew alike</a:t>
            </a:r>
            <a:endParaRPr lang="en-US" sz="1200" dirty="0"/>
          </a:p>
        </p:txBody>
      </p:sp>
      <p:sp>
        <p:nvSpPr>
          <p:cNvPr id="14" name="Text 11"/>
          <p:cNvSpPr txBox="1"/>
          <p:nvPr/>
        </p:nvSpPr>
        <p:spPr>
          <a:xfrm>
            <a:off x="5715000" y="1728216"/>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πεπίστευμαι</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Perf. Pass. — entrusted, and still so</a:t>
            </a:r>
            <a:endParaRPr lang="en-US" sz="1200" dirty="0"/>
          </a:p>
        </p:txBody>
      </p:sp>
      <p:sp>
        <p:nvSpPr>
          <p:cNvPr id="15" name="Shape 12"/>
          <p:cNvSpPr/>
          <p:nvPr/>
        </p:nvSpPr>
        <p:spPr>
          <a:xfrm>
            <a:off x="457200" y="2340864"/>
            <a:ext cx="914400" cy="548640"/>
          </a:xfrm>
          <a:prstGeom prst="rect">
            <a:avLst/>
          </a:prstGeom>
          <a:solidFill>
            <a:srgbClr val="2E5496"/>
          </a:solidFill>
          <a:ln w="12700">
            <a:solidFill>
              <a:srgbClr val="2E5496"/>
            </a:solidFill>
            <a:prstDash val="solid"/>
          </a:ln>
        </p:spPr>
      </p:sp>
      <p:sp>
        <p:nvSpPr>
          <p:cNvPr id="16" name="Text 13"/>
          <p:cNvSpPr txBox="1"/>
          <p:nvPr/>
        </p:nvSpPr>
        <p:spPr>
          <a:xfrm>
            <a:off x="457200" y="2340864"/>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 · v.8</a:t>
            </a:r>
            <a:endParaRPr lang="en-US" sz="1100" dirty="0"/>
          </a:p>
        </p:txBody>
      </p:sp>
      <p:sp>
        <p:nvSpPr>
          <p:cNvPr id="17" name="Shape 14"/>
          <p:cNvSpPr/>
          <p:nvPr/>
        </p:nvSpPr>
        <p:spPr>
          <a:xfrm>
            <a:off x="1371600" y="2340864"/>
            <a:ext cx="7315200" cy="548640"/>
          </a:xfrm>
          <a:prstGeom prst="rect">
            <a:avLst/>
          </a:prstGeom>
          <a:solidFill>
            <a:srgbClr val="F2F6FC"/>
          </a:solidFill>
          <a:ln w="9525">
            <a:solidFill>
              <a:srgbClr val="D5DCEA"/>
            </a:solidFill>
            <a:prstDash val="solid"/>
          </a:ln>
        </p:spPr>
      </p:sp>
      <p:sp>
        <p:nvSpPr>
          <p:cNvPr id="18" name="Text 15"/>
          <p:cNvSpPr txBox="1"/>
          <p:nvPr/>
        </p:nvSpPr>
        <p:spPr>
          <a:xfrm>
            <a:off x="1481328" y="2340864"/>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Recognized the same power at work in Peter and in Paul</a:t>
            </a:r>
            <a:endParaRPr lang="en-US" sz="1200" dirty="0"/>
          </a:p>
        </p:txBody>
      </p:sp>
      <p:sp>
        <p:nvSpPr>
          <p:cNvPr id="19" name="Text 16"/>
          <p:cNvSpPr txBox="1"/>
          <p:nvPr/>
        </p:nvSpPr>
        <p:spPr>
          <a:xfrm>
            <a:off x="5715000" y="2340864"/>
            <a:ext cx="2880360" cy="548640"/>
          </a:xfrm>
          <a:prstGeom prst="rect">
            <a:avLst/>
          </a:prstGeom>
          <a:noFill/>
          <a:ln/>
        </p:spPr>
        <p:txBody>
          <a:bodyPr wrap="square" lIns="0" tIns="0" rIns="0" bIns="0" rtlCol="0" anchor="ctr"/>
          <a:lstStyle/>
          <a:p>
            <a:pPr indent="0" marL="0">
              <a:buNone/>
            </a:pPr>
            <a:r>
              <a:rPr lang="en-US" sz="950" dirty="0">
                <a:solidFill>
                  <a:srgbClr val="595959"/>
                </a:solidFill>
                <a:latin typeface="Arial" pitchFamily="34" charset="0"/>
                <a:ea typeface="Arial" pitchFamily="34" charset="-122"/>
                <a:cs typeface="Arial" pitchFamily="34" charset="-120"/>
              </a:rPr>
              <a:t>God gives the increase (1 Cor 3:6)</a:t>
            </a:r>
            <a:endParaRPr lang="en-US" sz="1200" dirty="0"/>
          </a:p>
        </p:txBody>
      </p:sp>
      <p:sp>
        <p:nvSpPr>
          <p:cNvPr id="20" name="Shape 17"/>
          <p:cNvSpPr/>
          <p:nvPr/>
        </p:nvSpPr>
        <p:spPr>
          <a:xfrm>
            <a:off x="457200" y="2953512"/>
            <a:ext cx="914400" cy="548640"/>
          </a:xfrm>
          <a:prstGeom prst="rect">
            <a:avLst/>
          </a:prstGeom>
          <a:solidFill>
            <a:srgbClr val="2E5496"/>
          </a:solidFill>
          <a:ln w="12700">
            <a:solidFill>
              <a:srgbClr val="2E5496"/>
            </a:solidFill>
            <a:prstDash val="solid"/>
          </a:ln>
        </p:spPr>
      </p:sp>
      <p:sp>
        <p:nvSpPr>
          <p:cNvPr id="21" name="Text 18"/>
          <p:cNvSpPr txBox="1"/>
          <p:nvPr/>
        </p:nvSpPr>
        <p:spPr>
          <a:xfrm>
            <a:off x="457200" y="2953512"/>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 · v.9</a:t>
            </a:r>
            <a:endParaRPr lang="en-US" sz="1100" dirty="0"/>
          </a:p>
        </p:txBody>
      </p:sp>
      <p:sp>
        <p:nvSpPr>
          <p:cNvPr id="22" name="Shape 19"/>
          <p:cNvSpPr/>
          <p:nvPr/>
        </p:nvSpPr>
        <p:spPr>
          <a:xfrm>
            <a:off x="1371600" y="2953512"/>
            <a:ext cx="7315200" cy="548640"/>
          </a:xfrm>
          <a:prstGeom prst="rect">
            <a:avLst/>
          </a:prstGeom>
          <a:solidFill>
            <a:srgbClr val="FFFFFF"/>
          </a:solidFill>
          <a:ln w="9525">
            <a:solidFill>
              <a:srgbClr val="D5DCEA"/>
            </a:solidFill>
            <a:prstDash val="solid"/>
          </a:ln>
        </p:spPr>
      </p:sp>
      <p:sp>
        <p:nvSpPr>
          <p:cNvPr id="23" name="Text 20"/>
          <p:cNvSpPr txBox="1"/>
          <p:nvPr/>
        </p:nvSpPr>
        <p:spPr>
          <a:xfrm>
            <a:off x="1481328" y="2953512"/>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James, Peter and John gave the right hand of fellowship</a:t>
            </a:r>
            <a:endParaRPr lang="en-US" sz="1200" dirty="0"/>
          </a:p>
        </p:txBody>
      </p:sp>
      <p:sp>
        <p:nvSpPr>
          <p:cNvPr id="24" name="Text 21"/>
          <p:cNvSpPr txBox="1"/>
          <p:nvPr/>
        </p:nvSpPr>
        <p:spPr>
          <a:xfrm>
            <a:off x="5715000" y="2953512"/>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κοινωνίας</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full partnership, one gospel</a:t>
            </a:r>
            <a:endParaRPr lang="en-US" sz="1200" dirty="0"/>
          </a:p>
        </p:txBody>
      </p:sp>
      <p:sp>
        <p:nvSpPr>
          <p:cNvPr id="25" name="Shape 22"/>
          <p:cNvSpPr/>
          <p:nvPr/>
        </p:nvSpPr>
        <p:spPr>
          <a:xfrm>
            <a:off x="457200" y="3566160"/>
            <a:ext cx="914400" cy="548640"/>
          </a:xfrm>
          <a:prstGeom prst="rect">
            <a:avLst/>
          </a:prstGeom>
          <a:solidFill>
            <a:srgbClr val="375623"/>
          </a:solidFill>
          <a:ln w="12700">
            <a:solidFill>
              <a:srgbClr val="375623"/>
            </a:solidFill>
            <a:prstDash val="solid"/>
          </a:ln>
        </p:spPr>
      </p:sp>
      <p:sp>
        <p:nvSpPr>
          <p:cNvPr id="26" name="Text 23"/>
          <p:cNvSpPr txBox="1"/>
          <p:nvPr/>
        </p:nvSpPr>
        <p:spPr>
          <a:xfrm>
            <a:off x="457200" y="3566160"/>
            <a:ext cx="914400" cy="548640"/>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 · v.10</a:t>
            </a:r>
            <a:endParaRPr lang="en-US" sz="1100" dirty="0"/>
          </a:p>
        </p:txBody>
      </p:sp>
      <p:sp>
        <p:nvSpPr>
          <p:cNvPr id="27" name="Shape 24"/>
          <p:cNvSpPr/>
          <p:nvPr/>
        </p:nvSpPr>
        <p:spPr>
          <a:xfrm>
            <a:off x="1371600" y="3566160"/>
            <a:ext cx="7315200" cy="548640"/>
          </a:xfrm>
          <a:prstGeom prst="rect">
            <a:avLst/>
          </a:prstGeom>
          <a:solidFill>
            <a:srgbClr val="F2F6FC"/>
          </a:solidFill>
          <a:ln w="9525">
            <a:solidFill>
              <a:srgbClr val="D5DCEA"/>
            </a:solidFill>
            <a:prstDash val="solid"/>
          </a:ln>
        </p:spPr>
      </p:sp>
      <p:sp>
        <p:nvSpPr>
          <p:cNvPr id="28" name="Text 25"/>
          <p:cNvSpPr txBox="1"/>
          <p:nvPr/>
        </p:nvSpPr>
        <p:spPr>
          <a:xfrm>
            <a:off x="1481328" y="3566160"/>
            <a:ext cx="4160520" cy="548640"/>
          </a:xfrm>
          <a:prstGeom prst="rect">
            <a:avLst/>
          </a:prstGeom>
          <a:noFill/>
          <a:ln/>
        </p:spPr>
        <p:txBody>
          <a:bodyPr wrap="square" lIns="0" tIns="0" rIns="0" bIns="0" rtlCol="0" anchor="ctr"/>
          <a:lstStyle/>
          <a:p>
            <a:pPr indent="0" marL="0">
              <a:buNone/>
            </a:pPr>
            <a:r>
              <a:rPr lang="en-US" sz="1200" dirty="0">
                <a:solidFill>
                  <a:srgbClr val="262626"/>
                </a:solidFill>
                <a:latin typeface="Arial" pitchFamily="34" charset="0"/>
                <a:ea typeface="Arial" pitchFamily="34" charset="-122"/>
                <a:cs typeface="Arial" pitchFamily="34" charset="-120"/>
              </a:rPr>
              <a:t>Asked only that they remember the poor — what Paul came to do</a:t>
            </a:r>
            <a:endParaRPr lang="en-US" sz="1200" dirty="0"/>
          </a:p>
        </p:txBody>
      </p:sp>
      <p:sp>
        <p:nvSpPr>
          <p:cNvPr id="29" name="Text 26"/>
          <p:cNvSpPr txBox="1"/>
          <p:nvPr/>
        </p:nvSpPr>
        <p:spPr>
          <a:xfrm>
            <a:off x="5715000" y="3566160"/>
            <a:ext cx="2880360" cy="548640"/>
          </a:xfrm>
          <a:prstGeom prst="rect">
            <a:avLst/>
          </a:prstGeom>
          <a:noFill/>
          <a:ln/>
        </p:spPr>
        <p:txBody>
          <a:bodyPr wrap="square" lIns="0" tIns="0" rIns="0" bIns="0" rtlCol="0" anchor="ctr"/>
          <a:lstStyle/>
          <a:p>
            <a:pPr indent="0" marL="0">
              <a:buNone/>
            </a:pPr>
            <a:r>
              <a:rPr lang="en-US" sz="1300" b="1" dirty="0">
                <a:solidFill>
                  <a:srgbClr val="7030A0"/>
                </a:solidFill>
                <a:latin typeface="Arial" pitchFamily="34" charset="0"/>
                <a:ea typeface="Arial" pitchFamily="34" charset="-122"/>
                <a:cs typeface="Arial" pitchFamily="34" charset="-120"/>
              </a:rPr>
              <a:t>πτωχῶν</a:t>
            </a:r>
            <a:endParaRPr lang="en-US" sz="1200" dirty="0"/>
          </a:p>
          <a:p>
            <a:pPr indent="0" marL="0">
              <a:buNone/>
            </a:pPr>
            <a:r>
              <a:rPr lang="en-US" sz="950" dirty="0">
                <a:solidFill>
                  <a:srgbClr val="595959"/>
                </a:solidFill>
                <a:latin typeface="Arial" pitchFamily="34" charset="0"/>
                <a:ea typeface="Arial" pitchFamily="34" charset="-122"/>
                <a:cs typeface="Arial" pitchFamily="34" charset="-120"/>
              </a:rPr>
              <a:t>a fruit of grace, not an addition</a:t>
            </a:r>
            <a:endParaRPr lang="en-US" sz="120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457200"/>
          </a:xfrm>
          <a:prstGeom prst="rect">
            <a:avLst/>
          </a:prstGeom>
          <a:noFill/>
          <a:ln/>
        </p:spPr>
        <p:txBody>
          <a:bodyPr wrap="square" lIns="0" tIns="0" rIns="0" bIns="0" rtlCol="0" anchor="ctr"/>
          <a:lstStyle/>
          <a:p>
            <a:pPr algn="l" indent="0" marL="0">
              <a:buNone/>
            </a:pPr>
            <a:r>
              <a:rPr lang="en-US" sz="2400" b="1" dirty="0">
                <a:solidFill>
                  <a:srgbClr val="1F3864"/>
                </a:solidFill>
                <a:latin typeface="Arial" pitchFamily="34" charset="0"/>
                <a:ea typeface="Arial" pitchFamily="34" charset="-122"/>
                <a:cs typeface="Arial" pitchFamily="34" charset="-120"/>
              </a:rPr>
              <a:t>Discuss and apply</a:t>
            </a:r>
            <a:endParaRPr lang="en-US" sz="2400" dirty="0"/>
          </a:p>
        </p:txBody>
      </p:sp>
      <p:sp>
        <p:nvSpPr>
          <p:cNvPr id="3" name="Text 0"/>
          <p:cNvSpPr/>
          <p:nvPr>
            <p:ph idx="101" type="body" hasCustomPrompt="1"/>
          </p:nvPr>
        </p:nvSpPr>
        <p:spPr>
          <a:xfrm>
            <a:off x="457200" y="713232"/>
            <a:ext cx="822960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Galatians 1:18 – 2:10 · from the study's posted questions and applications</a:t>
            </a:r>
            <a:endParaRPr lang="en-US" sz="1200" dirty="0"/>
          </a:p>
        </p:txBody>
      </p:sp>
      <p:sp>
        <p:nvSpPr>
          <p:cNvPr id="5" name="Shape 2"/>
          <p:cNvSpPr/>
          <p:nvPr/>
        </p:nvSpPr>
        <p:spPr>
          <a:xfrm>
            <a:off x="457200" y="1115568"/>
            <a:ext cx="4023360" cy="384048"/>
          </a:xfrm>
          <a:prstGeom prst="rect">
            <a:avLst/>
          </a:prstGeom>
          <a:solidFill>
            <a:srgbClr val="2E5496"/>
          </a:solidFill>
          <a:ln w="12700">
            <a:solidFill>
              <a:srgbClr val="2E5496"/>
            </a:solidFill>
            <a:prstDash val="solid"/>
          </a:ln>
        </p:spPr>
      </p:sp>
      <p:sp>
        <p:nvSpPr>
          <p:cNvPr id="6" name="Text 3"/>
          <p:cNvSpPr txBox="1"/>
          <p:nvPr/>
        </p:nvSpPr>
        <p:spPr>
          <a:xfrm>
            <a:off x="56692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Discuss</a:t>
            </a:r>
            <a:endParaRPr lang="en-US" sz="1300" dirty="0"/>
          </a:p>
        </p:txBody>
      </p:sp>
      <p:sp>
        <p:nvSpPr>
          <p:cNvPr id="7" name="Shape 4"/>
          <p:cNvSpPr/>
          <p:nvPr/>
        </p:nvSpPr>
        <p:spPr>
          <a:xfrm>
            <a:off x="457200" y="1499616"/>
            <a:ext cx="4023360" cy="2359152"/>
          </a:xfrm>
          <a:prstGeom prst="rect">
            <a:avLst/>
          </a:prstGeom>
          <a:solidFill>
            <a:srgbClr val="F2F6FC"/>
          </a:solidFill>
          <a:ln w="9525">
            <a:solidFill>
              <a:srgbClr val="D5DCEA"/>
            </a:solidFill>
            <a:prstDash val="solid"/>
          </a:ln>
        </p:spPr>
      </p:sp>
      <p:sp>
        <p:nvSpPr>
          <p:cNvPr id="8" name="Shape 5"/>
          <p:cNvSpPr/>
          <p:nvPr/>
        </p:nvSpPr>
        <p:spPr>
          <a:xfrm>
            <a:off x="4663440" y="1115568"/>
            <a:ext cx="4023360" cy="384048"/>
          </a:xfrm>
          <a:prstGeom prst="rect">
            <a:avLst/>
          </a:prstGeom>
          <a:solidFill>
            <a:srgbClr val="375623"/>
          </a:solidFill>
          <a:ln w="12700">
            <a:solidFill>
              <a:srgbClr val="375623"/>
            </a:solidFill>
            <a:prstDash val="solid"/>
          </a:ln>
        </p:spPr>
      </p:sp>
      <p:sp>
        <p:nvSpPr>
          <p:cNvPr id="9" name="Text 6"/>
          <p:cNvSpPr txBox="1"/>
          <p:nvPr/>
        </p:nvSpPr>
        <p:spPr>
          <a:xfrm>
            <a:off x="4773168" y="1115568"/>
            <a:ext cx="3803904" cy="38404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Apply</a:t>
            </a:r>
            <a:endParaRPr lang="en-US" sz="1300" dirty="0"/>
          </a:p>
        </p:txBody>
      </p:sp>
      <p:sp>
        <p:nvSpPr>
          <p:cNvPr id="10" name="Shape 7"/>
          <p:cNvSpPr/>
          <p:nvPr/>
        </p:nvSpPr>
        <p:spPr>
          <a:xfrm>
            <a:off x="4663440" y="1499616"/>
            <a:ext cx="4023360" cy="2359152"/>
          </a:xfrm>
          <a:prstGeom prst="rect">
            <a:avLst/>
          </a:prstGeom>
          <a:solidFill>
            <a:srgbClr val="F2F6FC"/>
          </a:solidFill>
          <a:ln w="9525">
            <a:solidFill>
              <a:srgbClr val="D5DCEA"/>
            </a:solidFill>
            <a:prstDash val="solid"/>
          </a:ln>
        </p:spPr>
      </p:sp>
      <p:sp>
        <p:nvSpPr>
          <p:cNvPr id="11" name="Shape 8"/>
          <p:cNvSpPr/>
          <p:nvPr/>
        </p:nvSpPr>
        <p:spPr>
          <a:xfrm>
            <a:off x="566928" y="1636776"/>
            <a:ext cx="347472" cy="347472"/>
          </a:xfrm>
          <a:prstGeom prst="ellipse">
            <a:avLst/>
          </a:prstGeom>
          <a:solidFill>
            <a:srgbClr val="2E5496"/>
          </a:solidFill>
          <a:ln w="12700">
            <a:solidFill>
              <a:srgbClr val="2E5496"/>
            </a:solidFill>
            <a:prstDash val="solid"/>
          </a:ln>
        </p:spPr>
      </p:sp>
      <p:sp>
        <p:nvSpPr>
          <p:cNvPr id="12" name="Text 9"/>
          <p:cNvSpPr txBox="1"/>
          <p:nvPr/>
        </p:nvSpPr>
        <p:spPr>
          <a:xfrm>
            <a:off x="566928" y="1636776"/>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13" name="Text 10"/>
          <p:cNvSpPr txBox="1"/>
          <p:nvPr/>
        </p:nvSpPr>
        <p:spPr>
          <a:xfrm>
            <a:off x="1005840" y="1591056"/>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Paul went to Jerusalem “by revelation” and discussed his gospel almost as an aside. What does that order of events protect?</a:t>
            </a:r>
            <a:endParaRPr lang="en-US" sz="1350" dirty="0"/>
          </a:p>
        </p:txBody>
      </p:sp>
      <p:sp>
        <p:nvSpPr>
          <p:cNvPr id="14" name="Shape 11"/>
          <p:cNvSpPr/>
          <p:nvPr/>
        </p:nvSpPr>
        <p:spPr>
          <a:xfrm>
            <a:off x="566928" y="2724912"/>
            <a:ext cx="347472" cy="347472"/>
          </a:xfrm>
          <a:prstGeom prst="ellipse">
            <a:avLst/>
          </a:prstGeom>
          <a:solidFill>
            <a:srgbClr val="2E5496"/>
          </a:solidFill>
          <a:ln w="12700">
            <a:solidFill>
              <a:srgbClr val="2E5496"/>
            </a:solidFill>
            <a:prstDash val="solid"/>
          </a:ln>
        </p:spPr>
      </p:sp>
      <p:sp>
        <p:nvSpPr>
          <p:cNvPr id="15" name="Text 12"/>
          <p:cNvSpPr txBox="1"/>
          <p:nvPr/>
        </p:nvSpPr>
        <p:spPr>
          <a:xfrm>
            <a:off x="566928" y="2724912"/>
            <a:ext cx="347472" cy="347472"/>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6" name="Text 13"/>
          <p:cNvSpPr txBox="1"/>
          <p:nvPr/>
        </p:nvSpPr>
        <p:spPr>
          <a:xfrm>
            <a:off x="1005840" y="2679192"/>
            <a:ext cx="3364992" cy="1042416"/>
          </a:xfrm>
          <a:prstGeom prst="rect">
            <a:avLst/>
          </a:prstGeom>
          <a:noFill/>
          <a:ln/>
        </p:spPr>
        <p:txBody>
          <a:bodyPr wrap="square" lIns="0" tIns="0" rIns="0" bIns="0" rtlCol="0" anchor="t"/>
          <a:lstStyle/>
          <a:p>
            <a:pPr indent="0" marL="0">
              <a:buNone/>
            </a:pPr>
            <a:r>
              <a:rPr lang="en-US" sz="1350" dirty="0">
                <a:solidFill>
                  <a:srgbClr val="262626"/>
                </a:solidFill>
                <a:latin typeface="Arial" pitchFamily="34" charset="0"/>
                <a:ea typeface="Arial" pitchFamily="34" charset="-122"/>
                <a:cs typeface="Arial" pitchFamily="34" charset="-120"/>
              </a:rPr>
              <a:t>What two-fold purpose did the false brothers have in 2:4, and how does καταδουλόω (“to enslave”) describe the stakes?</a:t>
            </a:r>
            <a:endParaRPr lang="en-US" sz="1350" dirty="0"/>
          </a:p>
        </p:txBody>
      </p:sp>
      <p:sp>
        <p:nvSpPr>
          <p:cNvPr id="17" name="Text 14"/>
          <p:cNvSpPr txBox="1"/>
          <p:nvPr/>
        </p:nvSpPr>
        <p:spPr>
          <a:xfrm>
            <a:off x="4791456" y="1591056"/>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Not Yielding, Not Even for an Hour</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Practice stating the gospel this week in one sentence, with nothing added to “believe.”</a:t>
            </a:r>
            <a:endParaRPr lang="en-US" sz="1200" dirty="0"/>
          </a:p>
        </p:txBody>
      </p:sp>
      <p:sp>
        <p:nvSpPr>
          <p:cNvPr id="18" name="Text 15"/>
          <p:cNvSpPr txBox="1"/>
          <p:nvPr/>
        </p:nvSpPr>
        <p:spPr>
          <a:xfrm>
            <a:off x="4791456" y="2679192"/>
            <a:ext cx="3767328" cy="1042416"/>
          </a:xfrm>
          <a:prstGeom prst="rect">
            <a:avLst/>
          </a:prstGeom>
          <a:noFill/>
          <a:ln/>
        </p:spPr>
        <p:txBody>
          <a:bodyPr wrap="square" lIns="0" tIns="0" rIns="0" bIns="0" rtlCol="0" anchor="t"/>
          <a:lstStyle/>
          <a:p>
            <a:pPr indent="0" marL="0">
              <a:buNone/>
            </a:pPr>
            <a:r>
              <a:rPr lang="en-US" sz="1300" b="1" dirty="0">
                <a:solidFill>
                  <a:srgbClr val="1F3864"/>
                </a:solidFill>
                <a:latin typeface="Arial" pitchFamily="34" charset="0"/>
                <a:ea typeface="Arial" pitchFamily="34" charset="-122"/>
                <a:cs typeface="Arial" pitchFamily="34" charset="-120"/>
              </a:rPr>
              <a:t>Bring the Relief, Discuss the Gospel Along the Way</a:t>
            </a:r>
            <a:endParaRPr lang="en-US" sz="1200" dirty="0"/>
          </a:p>
          <a:p>
            <a:pPr indent="0" marL="0">
              <a:buNone/>
            </a:pPr>
            <a:r>
              <a:rPr lang="en-US" sz="1250" dirty="0">
                <a:solidFill>
                  <a:srgbClr val="262626"/>
                </a:solidFill>
                <a:latin typeface="Arial" pitchFamily="34" charset="0"/>
                <a:ea typeface="Arial" pitchFamily="34" charset="-122"/>
                <a:cs typeface="Arial" pitchFamily="34" charset="-120"/>
              </a:rPr>
              <a:t>Meet one practical need for someone in your church family this week, without waiting for a “spiritual” reason.</a:t>
            </a:r>
            <a:endParaRPr lang="en-US" sz="1200" dirty="0"/>
          </a:p>
        </p:txBody>
      </p:sp>
      <p:sp>
        <p:nvSpPr>
          <p:cNvPr id="19" name="Shape 16"/>
          <p:cNvSpPr/>
          <p:nvPr/>
        </p:nvSpPr>
        <p:spPr>
          <a:xfrm>
            <a:off x="457200" y="4023360"/>
            <a:ext cx="8229600" cy="566928"/>
          </a:xfrm>
          <a:prstGeom prst="roundRect">
            <a:avLst>
              <a:gd name="adj" fmla="val 9677"/>
            </a:avLst>
          </a:prstGeom>
          <a:solidFill>
            <a:srgbClr val="1F3864"/>
          </a:solidFill>
          <a:ln w="12700">
            <a:solidFill>
              <a:srgbClr val="1F3864"/>
            </a:solidFill>
            <a:prstDash val="solid"/>
          </a:ln>
        </p:spPr>
      </p:sp>
      <p:sp>
        <p:nvSpPr>
          <p:cNvPr id="20" name="Text 17"/>
          <p:cNvSpPr txBox="1"/>
          <p:nvPr/>
        </p:nvSpPr>
        <p:spPr>
          <a:xfrm>
            <a:off x="621792" y="4023360"/>
            <a:ext cx="7900416" cy="566928"/>
          </a:xfrm>
          <a:prstGeom prst="rect">
            <a:avLst/>
          </a:prstGeom>
          <a:noFill/>
          <a:ln/>
        </p:spPr>
        <p:txBody>
          <a:bodyPr wrap="square" lIns="0" tIns="0" rIns="0" bIns="0" rtlCol="0" anchor="ctr"/>
          <a:lstStyle/>
          <a:p>
            <a:pPr indent="0" marL="0">
              <a:buNone/>
            </a:pPr>
            <a:r>
              <a:rPr lang="en-US" sz="1250" b="1" dirty="0">
                <a:solidFill>
                  <a:srgbClr val="C9D5EE"/>
                </a:solidFill>
                <a:latin typeface="Arial" pitchFamily="34" charset="0"/>
                <a:ea typeface="Arial" pitchFamily="34" charset="-122"/>
                <a:cs typeface="Arial" pitchFamily="34" charset="-120"/>
              </a:rPr>
              <a:t>In one line:  </a:t>
            </a:r>
            <a:pPr indent="0" marL="0">
              <a:buNone/>
            </a:pPr>
            <a:r>
              <a:rPr lang="en-US" sz="1250" dirty="0">
                <a:solidFill>
                  <a:srgbClr val="FFFFFF"/>
                </a:solidFill>
                <a:latin typeface="Arial" pitchFamily="34" charset="0"/>
                <a:ea typeface="Arial" pitchFamily="34" charset="-122"/>
                <a:cs typeface="Arial" pitchFamily="34" charset="-120"/>
              </a:rPr>
              <a:t>Jerusalem added nothing to Paul's gospel. There is one gospel — and the ground is level at the cross.</a:t>
            </a:r>
            <a:endParaRPr lang="en-US" sz="1250" dirty="0"/>
          </a:p>
        </p:txBody>
      </p:sp>
      <p:sp>
        <p:nvSpPr>
          <p:cNvPr id="25" name="Slide Number Placeholder 0"/>
          <p:cNvSpPr>
            <a:spLocks noGrp="1"/>
          </p:cNvSpPr>
          <p:nvPr>
            <p:ph type="sldNum" sz="quarter" idx="4294967295"/>
          </p:nvPr>
        </p:nvSpPr>
        <p:spPr>
          <a:xfrm>
            <a:off x="8229600" y="4773168"/>
            <a:ext cx="45720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6B7280"/>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Galatians Study 4 — Paul's Gospel Is Independent of the Judean Churches: Charts</dc:title>
  <dc:subject>PptxGenJS Presentation</dc:subject>
  <dc:creator>The Gospel Vault</dc:creator>
  <cp:lastModifiedBy>The Gospel Vault</cp:lastModifiedBy>
  <cp:revision>1</cp:revision>
  <dcterms:created xsi:type="dcterms:W3CDTF">2026-10-30T05:30:26Z</dcterms:created>
  <dcterms:modified xsi:type="dcterms:W3CDTF">2026-10-30T05:30:26Z</dcterms:modified>
</cp:coreProperties>
</file>