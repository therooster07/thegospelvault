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Lst>
  <p:notesMasterIdLst>
    <p:notesMasterId r:id="rId1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6269d7a-e89c-96b8-7e78-4d41e942a67c}">
          <p14:sldIdLst>
            <p14:sldId id="256"/>
            <p14:sldId id="257"/>
            <p14:sldId id="258"/>
          </p14:sldIdLst>
        </p14:section>
        <p14:section name="Study 1 · Galatians 1:1–5" id="{ba672d14-dd22-2770-ce3f-90fa157753fd}">
          <p14:sldIdLst>
            <p14:sldId id="259"/>
            <p14:sldId id="260"/>
            <p14:sldId id="261"/>
            <p14:sldId id="262"/>
            <p14:sldId id="263"/>
            <p14:sldId id="264"/>
            <p14:sldId id="265"/>
            <p14:sldId id="266"/>
            <p14:sldId id="267"/>
            <p14:sldId id="268"/>
          </p14:sldIdLst>
        </p14:section>
        <p14:section name="Study 2 · Galatians 1:6–10" id="{7ebc289e-015b-9397-b6f0-69d5fd7d11e3}">
          <p14:sldIdLst>
            <p14:sldId id="269"/>
            <p14:sldId id="270"/>
            <p14:sldId id="271"/>
            <p14:sldId id="272"/>
            <p14:sldId id="273"/>
            <p14:sldId id="274"/>
            <p14:sldId id="275"/>
          </p14:sldIdLst>
        </p14:section>
        <p14:section name="Study 3 · Galatians 1:11–17" id="{76d902b1-507e-c8ec-1426-67ac2c9cc3e5}">
          <p14:sldIdLst>
            <p14:sldId id="276"/>
            <p14:sldId id="277"/>
            <p14:sldId id="278"/>
            <p14:sldId id="279"/>
            <p14:sldId id="280"/>
            <p14:sldId id="281"/>
            <p14:sldId id="282"/>
          </p14:sldIdLst>
        </p14:section>
        <p14:section name="Study 4 · Galatians 1:18 – 2:10" id="{3f9e36f6-1ecd-52e3-1b1e-dc62c7fc64ea}">
          <p14:sldIdLst>
            <p14:sldId id="283"/>
            <p14:sldId id="284"/>
            <p14:sldId id="285"/>
            <p14:sldId id="286"/>
            <p14:sldId id="287"/>
            <p14:sldId id="288"/>
            <p14:sldId id="289"/>
            <p14:sldId id="290"/>
            <p14:sldId id="291"/>
          </p14:sldIdLst>
        </p14:section>
        <p14:section name="Study 5 · Galatians 2:11–21" id="{a38c8a18-3ef6-1a66-dd5a-1e9fb1d31451}">
          <p14:sldIdLst>
            <p14:sldId id="292"/>
            <p14:sldId id="293"/>
            <p14:sldId id="294"/>
            <p14:sldId id="295"/>
            <p14:sldId id="296"/>
            <p14:sldId id="297"/>
            <p14:sldId id="298"/>
          </p14:sldIdLst>
        </p14:section>
        <p14:section name="Study 6 · Galatians 3:1–5" id="{c5253866-1a66-8ea0-784a-3505c7020984}">
          <p14:sldIdLst>
            <p14:sldId id="299"/>
            <p14:sldId id="300"/>
            <p14:sldId id="301"/>
            <p14:sldId id="302"/>
            <p14:sldId id="303"/>
            <p14:sldId id="304"/>
            <p14:sldId id="305"/>
          </p14:sldIdLst>
        </p14:section>
        <p14:section name="Study 7 · Galatians 3:6–14" id="{9e086ea2-f8dc-3127-64e4-00c5ce4bf3dc}">
          <p14:sldIdLst>
            <p14:sldId id="306"/>
            <p14:sldId id="307"/>
            <p14:sldId id="308"/>
            <p14:sldId id="309"/>
            <p14:sldId id="310"/>
            <p14:sldId id="311"/>
            <p14:sldId id="312"/>
          </p14:sldIdLst>
        </p14:section>
        <p14:section name="Study 8 · Galatians 3:15–29" id="{07caf979-455f-6e8b-766f-c459da494ba5}">
          <p14:sldIdLst>
            <p14:sldId id="313"/>
            <p14:sldId id="314"/>
            <p14:sldId id="315"/>
            <p14:sldId id="316"/>
            <p14:sldId id="317"/>
            <p14:sldId id="318"/>
            <p14:sldId id="319"/>
            <p14:sldId id="320"/>
          </p14:sldIdLst>
        </p14:section>
        <p14:section name="Study 9 · Galatians 4:1–11" id="{056aee93-07e6-e1b9-fcaf-eaf3d35a4b6c}">
          <p14:sldIdLst>
            <p14:sldId id="321"/>
            <p14:sldId id="322"/>
            <p14:sldId id="323"/>
            <p14:sldId id="324"/>
            <p14:sldId id="325"/>
            <p14:sldId id="326"/>
          </p14:sldIdLst>
        </p14:section>
        <p14:section name="Study 10 · Galatians 4:12–20" id="{82e725e5-fb64-88db-b8da-5b3715703151}">
          <p14:sldIdLst>
            <p14:sldId id="327"/>
            <p14:sldId id="328"/>
            <p14:sldId id="329"/>
            <p14:sldId id="330"/>
            <p14:sldId id="331"/>
            <p14:sldId id="332"/>
          </p14:sldIdLst>
        </p14:section>
        <p14:section name="Study 11 · Galatians 4:21–31" id="{a5887a64-79a0-a617-f088-18a2e7ee89b9}">
          <p14:sldIdLst>
            <p14:sldId id="333"/>
            <p14:sldId id="334"/>
            <p14:sldId id="335"/>
            <p14:sldId id="336"/>
            <p14:sldId id="337"/>
            <p14:sldId id="338"/>
            <p14:sldId id="339"/>
          </p14:sldIdLst>
        </p14:section>
        <p14:section name="Study 12 · Galatians 5:1–12" id="{2423ca35-5897-7b60-5745-7aebf1057dda}">
          <p14:sldIdLst>
            <p14:sldId id="340"/>
            <p14:sldId id="341"/>
            <p14:sldId id="342"/>
            <p14:sldId id="343"/>
            <p14:sldId id="344"/>
            <p14:sldId id="345"/>
            <p14:sldId id="346"/>
          </p14:sldIdLst>
        </p14:section>
        <p14:section name="Study 13 · Galatians 5:13–26" id="{f55e8180-183e-2f38-245c-96e3ea52f008}">
          <p14:sldIdLst>
            <p14:sldId id="347"/>
            <p14:sldId id="348"/>
            <p14:sldId id="349"/>
            <p14:sldId id="350"/>
            <p14:sldId id="351"/>
            <p14:sldId id="352"/>
            <p14:sldId id="353"/>
          </p14:sldIdLst>
        </p14:section>
        <p14:section name="Study 14 · Galatians 6:1–5" id="{5bc59f42-b0d0-0301-17c4-8b3889a8eb83}">
          <p14:sldIdLst>
            <p14:sldId id="354"/>
            <p14:sldId id="355"/>
            <p14:sldId id="356"/>
            <p14:sldId id="357"/>
            <p14:sldId id="358"/>
            <p14:sldId id="359"/>
          </p14:sldIdLst>
        </p14:section>
        <p14:section name="Study 15 · Galatians 6:6–10" id="{bd37af73-a821-5ea6-173f-9a1e7309dbb3}">
          <p14:sldIdLst>
            <p14:sldId id="360"/>
            <p14:sldId id="361"/>
            <p14:sldId id="362"/>
            <p14:sldId id="363"/>
            <p14:sldId id="364"/>
            <p14:sldId id="365"/>
            <p14:sldId id="366"/>
          </p14:sldIdLst>
        </p14:section>
        <p14:section name="Study 16 · Galatians 6:11–18" id="{805b2b5a-e361-5949-c995-39036528b953}">
          <p14:sldIdLst>
            <p14:sldId id="367"/>
            <p14:sldId id="368"/>
            <p14:sldId id="369"/>
            <p14:sldId id="370"/>
            <p14:sldId id="371"/>
            <p14:sldId id="372"/>
            <p14:sldId id="373"/>
          </p14:sldIdLst>
        </p14:section>
        <p14:section name="Conclusion" id="{97e8b31c-b82f-7e38-8b96-a348b312fa0a}">
          <p14:sldIdLst>
            <p14:sldId id="3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notesMaster" Target="notesMasters/notesMaster1.xml"/><Relationship Id="rId122" Type="http://schemas.openxmlformats.org/officeDocument/2006/relationships/presProps" Target="presProps.xml"/><Relationship Id="rId123" Type="http://schemas.openxmlformats.org/officeDocument/2006/relationships/viewProps" Target="viewProps.xml"/><Relationship Id="rId124" Type="http://schemas.openxmlformats.org/officeDocument/2006/relationships/theme" Target="theme/theme1.xml"/><Relationship Id="rId1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This full-series deck gathers the sixteen individual study decks in order. Each section opens with that study's proposition. Every chart stays within the posted commentary for its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Propositions in brief, condensed from each posted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Propositions in brief, condensed from each posted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Study 1 opens with the Background (introduction to the letter) and then the Exposition of 1:1–5. The first four charts cover the Background; the rest cover the Exposition.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(Background III, Date of Writing; IV, Place of Writing): The commentary places Galatians between Paul's famine visit and the Jerusalem Council, making it Paul's first epistle (A.D. 48), written from his home church in Antioch of Syria. Point out that the famine visit of Acts 11 is the same visit Paul describes in Galatians 2:1–10 (Study 4). Note: the posted Jerusalem-visits timeline page says c. A.D. 49; the commentary says A.D. 48.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(Background II, The Recipients): The commentary takes the South Galatia view. The deciding reason: Galatians never mentions the Jerusalem Council. Since the council settled the very problem Galatians addresses, Paul would have used its letter to prove his case if it already existed. Dr. Sellers notes he covers the debate at length in academic settings, but for him the silence settles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(Background V, A–F): Walk the six quickly. Two to stress: (C) no thanksgiving — Paul had nothing to thank them for while they followed false teachers; and (E) Romans and Galatians both teach justification by faith, but Romans says what it is and Galatians says what it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(Background VI, A–B): Their message shifted with the setting — in the Gospels, salvation by the law; in the Epistles, sanctification by the law. Their appeal was strong: the Old Testament on their side, Jew-to-Jew sympathy, man's love of doing something, and the prestige of Jerusalem. The commentary also notes some Judaizers may have been believers who had the gospel wrong about how you live it. Close with the commentary's reading rule: remember where we are in the argument when reading any one 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(Exposition 1, The Writer): ἀπόστολος means one who is sent. Nobody disputed that Paul was sent; the question was, sent by whom? When the Judaizers couldn't answer Paul's doctrine, they attacked his apostleship. So Paul stops in verse 1 to say his commission came from no group and no single man — not the Jerusalem apostles, not the Antioch leaders, not Ananias, not Barnabas. Paul returns to this at 1:10 (Study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(Exposition 1–6): This is the passage outline in one view. On verse 3, the commentary notes the debate over where “our” belongs makes little if any difference — God is our Father and Jesus is our Lord. On verse 4, the sacrifice is the basis of grace and peace: all sins, past, present and future, were paid for; the question now is not the sin question but the Son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(Exposition 3): Stress the commentary's main point: in this greeting, grace is not saving grace but God's unmerited favor sufficient to sustain us in living a life honorable to God. Peace is wholeness when right with God positionally and experientially — you can't have the peace of God until you have peace with God. Only a believer living under grace can extend grace; the Judaizers, even if some were believers, were not living under grace. Also note: no thanksgiving here, and the pastoral epistles add mercy, because pastors need mercy.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(Exposition 5–6): The active verb shows the death was voluntary (“I lay down My life”); the reflexive pronoun shows the surrender was personal and total. The purpose: deliverance from this present evil age — fully when the Lord returns, and now, in this life (John 17:15–17: not taken out of the world, but kept from the evil one). Salvation is a ticket to heaven — but not just that. Then the doxology: every tongue will confess “Lord Jesus Christ” to the glory of God the Father (Phil 2:11); there is no jealousy in the Godhead.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the posted Study Questions and Application sections): Q1: Why does Paul spend so much of verse 1 defending his apostleship before he even gets to his main subject? — Leader answer: The Judaizers could not answer Paul's doctrine, so they attacked his authority. Paul settles his commission at once — directly from Christ and the Father — so everything after carries full apostolic weight.  Q2: How does Paul's use of “grace” in verse 3 differ from how the word is often used today? — Leader answer: Today grace is often reduced to the moment of salvation. Paul's grace-greeting is aimed at believers already saved — God's ongoing, sustaining favor for the whole Christian life.  Applications: Resting in a Settled Identity — Write down one identity truth Scripture gives you and read it aloud each morning this week.  Living Under Grace, Not Under Law — Name one “rule” you've kept to feel acceptable to God, and replace it with a specific act of grateful obedience.  Close by reading the summary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IMPORTANT — on the live site, the Commentary section of the 1:6–10 page currently repeats Study 1's commentary (Galatians introduction and 1:1–5). The charts in this study are therefore built from the parts of the posted 1:6–10 page that are specific to this passage: the Part 1 outline table, the Greek Word Study, the leader answers, the Passage Summary and the Devotional. Nothing here goes beyond those posted sections.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(Self-Study Guide, Part 1 — From the Commentary): Three movements. I: the Galatians are deserting — from Christ, to a perverted gospel. II: two scenarios, one verdict. III: Paul serves Christ, not human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(Greek Word Study v.6; Study Question 1–2): μετατίθεσθε is a military term for desertion. Present tense: it is in progress. Middle voice: it is voluntary, self-initiated. And it was “so soon” — within about a year of Paul's first visit. The participle “who called” points to Christ, not Paul: rejecting the gospel was rejecting Christ Himself (cf. 2 Cor 5:20). The posted Greek study adds that this is a believer's practical drift, not a loss of the eternal life already received by faith — they are still the “called.”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(Greek Word Study vv.6–7; Study Question 3): ἄλλος is another of the same kind; ἕτερος is a different kind altogether. Paul uses ἕτερος for the Judaizers' message and then denies it is ἄλλος — it is not a variation of the true gospel. εὐαγγέλιον appears three times in two verses, pressing the question: which good news? The troublers' goal (μεταστρέψαι) was not to supplement the gospel but to turn it into its opposite.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(Greek Word Study vv.8–9; Study Question 4): Paul pronounces the same curse on an unlikely messenger (himself or an angel) and a likely one (anyone preaching now). The point: the authority of the gospel rests in the message, tested against the Word — not in the credentials of the messenger, however impressive. ἀνάθεμα is the LXX word for Hebrew cherem, the ban devoted to destruction (Josh 6:17) — Israel's most severe covenant-curse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(Greek Word Study v.10; Study Question 5): The charge behind verse 10 was that Paul's law-free gospel was crafted to flatter Gentiles. Paul answers with his identity: a δοῦλος has one Master to please. The posted study then turns to motive: knowing the debt is already paid moves a believer from serving in fear to serving in love — “the love of Christ compels us” (2 Cor 5:14).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the posted Study Questions and Application sections): Q1: According to 1:6b, whose call were the Galatians actually rejecting when they abandoned Paul's gospel — and why does that matter? — Leader answer: They were rejecting Christ Himself, who called them; Paul was only the messenger (cf. 2 Cor 5:20).  Q2: Why does Paul pronounce the same curse (ἀνάθεμα) on an unlikely messenger and a likely one? — Leader answer: The authority of the gospel rests in the message, tested against the Word — not in the credentials of the messenger.  Applications: Grace Cannot Be Improved Upon — Write out in one sentence how a person receives eternal life. Check it against Ephesians 2:8–9 and John 3:16.  Test Every Message Against the Word — Pick one teaching you've accepted secondhand and trace it back to see whether it holds up against the Word.  Close by reading the summary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The Judaizers may have said Paul made up his grace gospel. Paul answers: it came from God. Four movements — his claim, his conduct before conversion, his call, and his course after conversion.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(Outline I–IV): Each movement answers the charge that Paul invented his gospel. Before conversion he was the least likely man to invent a law-free gospel; after conversion he deliberately avoided human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(I.A–C): Three denials, one affirmation. Not according to man — not fabricated; man-made religions always attach something to believing. Not received from man — not imitation. Not taught — not assimilated; Paul studied the law under Gamaliel but went to no school of Christianity. It came by revelation of Jesus Christ, straight from Jesus Himself.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(II.A–B): Context: Paul shows he was not predisposed to a gospel apart from the law — he fought against it. Cross-references from the commentary: Acts 8:1, 3; 9:1–2; 26:9–11; Phil 3:6. On v.14, the traditions of the fathers had grown into a hedge of 613 commandments around the law (see Matt 23:13). Illustration: the blacksmith's anvil has worn out hundreds of hammers — the church will prevail (Matt 16:18).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(III.A–B): God's preparation came before anything Paul did: set apart from his mother's womb (cf. Jer 1:5), then called through His grace — not because Paul deserved it. God's purpose: to reveal His Son in Paul — not merely by his mouth, but in his life. “His Son” stresses Jesus' deity (John 20:31; John 3:16). And to preach among the Gentiles — the strangest assignment imaginable for a man who had hated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(IV.A–B): What Paul did not do: confer with flesh and blood — any human being — or go up to Jerusalem to the apostles. What he did: went to Arabia, then back to Damascus. The Twelve had about three years with Jesus; Paul had about three years in Arabia, one-on-one. Much of what he received there can be read in Romans. Later, let down the wall in a basket, he went on to Jerusalem (Study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the posted Study Questions and Application sections): Q1: How does Paul's former conduct — persecuting and trying to destroy the church — strengthen his testimony rather than weaken it? — Leader answer: A man so committed to destroying the church had every reason to reject grace. His transformation can't be explained by human persuasion; it points to a real, divine encounter.  Q2: Why did Paul deliberately avoid Jerusalem and the apostles after his conversion, going instead to Arabia? — Leader answer: So it would be unmistakable that his gospel was not shaped or corrected by men, but received from the Lord.  Applications: Grace Reaches the Least Likely — Name someone you've decided is beyond reach and pray for them specifically, asking God to do for them what He did for Paul.  Called Before You Could Earn It — Thank God today for a purpose in your life that began before you could have earned it.  Close by reading the summary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This study covers two of Paul's five Jerusalem visits — the first after Damascus (1:18–20) and the famine visit (2:1–10). The main thrust is the famine visit.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(Introduction: Five Visits to Jerusalem): Acts gives five Jerusalem visits. Galatians 1:18–20 is the first; Galatians 2:1–10 is the second, the famine visit. The commentary gives Acts references for the first three. Rows 1 and 2 are this study's text. (See also the posted companion page, Paul's Five Visits to Jerusalem.)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(I.A and II.C.3.e): Verse 20 is a solemn oath: Paul is listing every Jerusalem visit, and leaving one out would be a lie — so 2:1–10 must be the next visit, the famine visit of Acts 11. If this were the council, Paul would have pulled the council's letter from his “hip pocket” and ended the argument. And 2:10 asks only that they remember the poor — nothing about things strangled or blood, which the council's letter included. So: A.D. 48, not 49 or 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(I.A–B): Three years after his conversion Paul went up to get acquainted with Peter (ἱστορῆσαι — to visit and come to know, not to be taught), and saw only James the Lord's brother besides. NKJV: “remained with him fifteen days” (the transcript reads “five days”). Acts 9:26–28: the disciples were afraid of him until Barnabas vouched for him. Acts 9:29–30: he disputed with the Hellenists as Stephen had, they sought to kill him, and the brothers sent him by Caesarea to Tarsus — the regions of Syria and Cilicia (v.21).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(I.C.1–3): The Judean churches did not know Paul by face — more evidence he did not minister under Jerusalem's supervision. They only heard the report, and they glorified God — not Paul. Acts 9:31 pictures the result: walking in the fear of the Lord and the comfort of the Holy Spirit, the church multiplied.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(II.A–B): Time: 14 years — the commentary takes this from Paul's conversion, while noting good reasons for the other view. Team: Paul leading, Barnabas, and Titus — first mention of Titus, a Gentile, uncircumcised. Text: the gospel of grace. Reason: in response to a revelation (Agabus, Acts 11:27–30) — not summoned by the church. Private, not a council. Note the “and”: Paul went with relief and, while there, laid out his gospel — not to ask whether it was right (it came from the Lord), but to get on the same page. If Jerusalem required circumcision and law-keeping, he would be running in vain — at least uphill.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(II.C.1–2): Read v.4 before v.3. False brothers slipped into a private meeting under false pretenses, to spy out our liberty in Christ Jesus and bring us into bondage. Their means: get Titus circumcised and set a precedent. Paul refused — not even for an hour. Add one thing to the gospel and it becomes a false gospel (1:8–9). The commentary's application: separate what you should do (come to church, serve) from what you have to do to be saved (believe).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(II.C.3.a–e): (a) Paul is not angry at the apostles — even an apostle's word would not make heresy right, because God does not receive the face of any man; and they added nothing to Paul's gospel. (b) The same gospel committed to Paul for the uncircumcised as to Peter for the circumcised — one answer to “what must I do to be saved?” (Acts 16:31). (c) The same power worked in both (cf. 1 Cor 3:6). (d) The pillars gave the right hand of fellowship — separate fields, same gospel. (e) Remember the poor — the very thing Paul had come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the posted Study Questions and Application sections): Q1: Paul went to Jerusalem “by revelation” and discussed his gospel almost as an aside. What does that order of events protect? — Leader answer: That Paul's gospel didn't originate with or depend on Jerusalem's approval. He went for famine relief; discussing his gospel was incidental.  Q2: What two-fold purpose did the false brothers have in 2:4, and how does καταδουλόω (“to enslave”) describe the stakes? — Leader answer: To spy out believers' liberty, then bring them into bondage through circumcision. Adding one requirement to grace doesn't improve the gospel — it enslaves.  Applications: Not Yielding, Not Even for an Hour — Practice stating the gospel this week in one sentence, with nothing added to “believe.”  Bring the Relief, Discuss the Gospel Along the Way — Meet one practical need for someone in your church family this week, without waiting for a “spiritual” reason.  Close by reading the summary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The commentary places this event before the Jerusalem Council. Peter had learned the grace gospel by revelation (Acts 10, about A.D. 40), yet drifted under pressure at Antioch. Three movements: Paul confronts Peter (2:11–14), corrects Peter (2:15–16), and concludes his argument (2:17–21).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(I.A–D): The commentary's four marks. Public — Paul withstood Peter to his face and spoke “before them all,” because the sin itself was public. Pointed — Peter ate with Gentiles until men came from James, then withdrew. Poisonous — the rest of the Jews followed, and even Barnabas. Practical — Peter's feet no longer matched his gospel. The posted Greek study adds that Peter's censure was behavioral, not a loss of standing before God.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(I.A.1–3): Peter had been prepared better (the sheet vision of Acts 10, about A.D. 40: “What God has cleansed you must not call common”), had preached better (defending his visit to Cornelius in Acts 11:17), and had promised better (the right hand of fellowship, Gal 2:9 — in that day a handshake was as good as a notarized document). κατεγνωσμένος: Peter “stood condemned” in his conduct — the commentary and Greek study keep this behavioral.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(I.B.1–2, I.C): The verb tenses show a gradual withdrawal — perhaps one meal at a time, until Peter was eating permanently at the Jewish table. The example was bad: it suggested two churches, two bodies of Christ. Then it spread — the Jewish believers of Antioch followed, and finally even Barnabas.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(II.A–B): Verse 15 grants the difference by birth — Jews by nature (cf. Phil 3:4–5, circumcised the eighth day), not Gentile “sinners.” Verse 16 erases it before God: three times Paul says no one is justified by works of the law, and three times that we are justified by faith in Christ — six times in one verse. The posted Greek study: δικαιόω is a courtroom word, “to declare righteous,” complete the moment a person believes.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(III.A–D): v.17–18 — eating with Gentiles in keeping with grace does not make Christ a minister of sin; going back and rebuilding the law Peter had torn down is what makes him a transgressor. v.19 — the law pointed to Christ; through the law Paul died to the law, to live to God. v.20 — Christ is our representative: when He died, we died; now Christ lives in us, and the life is lived by faith. Just as salvation is by faith, so also sanctification is by faith. v.21 — if righteousness came by the law, Christ died for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the posted Study Questions and Application sections): Q1: Peter already knew the truth. What made him withdraw from the Gentiles anyway? — Leader answer: Fear of those of the circumcision (v.12). Knowledge alone did not protect Peter from social pressure. Note it was gradual (imperfect tense) — small compromises accumulate.  Q2: Why did Paul confront Peter publicly, “before them all,” rather than privately? — Leader answer: The sin was public and had already misled others (v.13). The goal was protecting the gospel's clarity for the whole church, not shaming Peter.  Applications: When Doing Right Costs You Socially — Name one place you've been managing others' opinions instead of living what you know is true — and take one visible step back toward it.  Resting in a Righteousness That Isn't Yours — Write down one way you've treated God's acceptance as conditional, then thank Him for the standing already yours in Christ.  Close by reading the summary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The study is built on Paul's five questions — the precedence, procedure, perfection, persecution and promotion of the Christian life. Each one asks: did this come by the works of the law, or by faith?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(Outline I–V): Each question presses the same point — every stage of the Christian life, from first hearing to ongoing power, came by faith and not by the works of the law. Use this as the map for the whole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 ἀνόητοι — not demented, simply not using the sense God gave them. ἐβάσκανεν — “who put a hex on you?” is hyperbole, exaggeration for effect, to underline how irrational their turn was. προεγράφη — Christ crucified had been publicly posted before their eyes, like a placard: in the preaching, in baptism and at the Lord's Table. The perfect participle ἐσταυρωμένος: Christ stands permanently in the crucified position — the cross is a settled, present reality.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 Only one question — if Paul could get this one answer, he would need nothing else. The Galatians were already saved and had received the Spirit. Salvation and receiving the Spirit are simultaneous, though not synonymous: they happen at the same moment. The commentary notes Chafer's list of some thirty-three things that happen the moment a person believes.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(III): The irony Paul presses: trying to finish by the flesh what only the Spirit began. The present tense of ἐπιτελεῖσθε pictures an ongoing (attempted) process. Hebrews 10:14: by one offering He has perfected forever those who are being sanctified. The commentary cites J. B. Phillips' paraphrase to the same effect — that one cannot begin in the Spirit and complete it by reverting to outward observances.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(IV–V): When they believed, they suffered much. Paul had warned them before returning to Antioch: “We must through many tribulations enter the kingdom of God” (Acts 14:22). Turning back to the law would make that suffering pointless. Verse 5: God supplies the Spirit and works miracles among them — the commentary points to the man lame from birth at Lystra (Acts 14:8–10). ἐπιχορηγῶν once meant funding a chorus at one's own expense — lavish, ongoing provision.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the posted Study Questions and Application sections): Q1: What does it mean that receiving the Spirit and being saved are simultaneous but not synonymous? — Leader answer: Both happen at the moment of faith but are distinct: salvation is God's declaration; the Spirit is God's gift of His presence. Both come by the hearing of faith.  Q2: Explain in your own words the difference between your perfection and your practice (3:3). — Leader answer: Perfection is your settled standing, secured forever by Christ's one sacrifice (Heb 10:14). Practice is your daily walk; it flows from being accepted, never causes it.  Applications: Trade Trying for Trusting — Tell God out loud today that you are trusting Him rather than trying to earn the outcome yourself.  Let Your Practice Catch Up to Your Perfection — Practice one habit this week as a response to being accepted — not as an attempt to become accepted.  Close by reading the summary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Three movements — the study of faith (3:6–9), the substitute for faith (3:10–12), and the solution of faith (3:13–14). The Judaizers claimed the Old Testament; Paul answers from Abraham, Deuteronomy and Habakkuk.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(Outline I–III): The Judaizers claimed the Old Testament — Moses and Abraham. Paul goes back to Abraham. The introduction notes there were men of faith before Abraham too (Abel, Enoch, Noah — Hebrews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(I.A–C): v.6 — Abraham believed God (aorist: a definite act of trust) and it was accounted to him for righteousness — a bookkeeping term: credited to his account, not earned. v.7 — sonship to Abraham is by faith, not family tree. vv.8–9 — Scripture foresaw that God would justify the Gentiles by faith and preached the gospel to Abraham beforehand (Genesis 12:3). Those of faith are blessed with believing Abraham.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(II.A–C): A curse is attached to the law and falls on whoever does not keep it — all of it (Deut 27:26). Suppose someone did keep it? Leviticus 18:5 — “the man who does them shall live by them” — but no one does. The weakness was not in the law but in the people under it (Hebrews 8:7–8; the posted study answers this way). Even in the time of the law, Habakkuk said the just shall live by faith. So everyone is under the curse.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(II.B): Habakkuk spoke in the time of the law, just before the Babylonian captivity. The commentary traces his verse through its three New Testament quotations, each with its own emphasis.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(III.A–B): Redeemed — bought out of the slave market of sin. We were under the curse; He became the curse in our place: “Cursed is everyone who hangs on a tree” (Deut 21:23). The posted Greek study notes Paul uses the same word for the law's curse (v.10) and Christ's curse (v.13). The blessing has two parts: the blessing of Abraham — justification by faith apart from the law — comes to the Gentiles, and we receive the promise of the Spirit through faith.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the posted Study Questions and Application sections): Q1: What does it mean that righteousness was “accounted” to Abraham (v.6)? How does that differ from earning it? — Leader answer: Imputation credits to Abraham's account something he did not produce — God declared him righteous on the basis of faith, not achievement.  Q2: In what sense did Christ “become a curse” for us (v.13), and what does “redeemed” (ἐξαγοράζω) add? — Leader answer: Christ took the curse the law pronounced on lawbreakers (Deut 21:23). “Redeemed” pictures Him buying us out of slavery to that curse.  Applications: Resting in an Imputed Righteousness — Write down one place you're tempted to “earn” what God has given freely, and replace the striving with a prayer of thanks.  Refusing to Trade Good News for Bad News — When you share your faith this week, consciously keep the gospel free of add-on requirements.  Close by reading the summary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Four movements — the law is not part of the promise (3:15–18), not on a par with it (3:19–20), had a purpose in it (3:21–25), and its prospects were inferior to it (3:26–29). The posted study has no separate proposition box; this summary is drawn from its passage summary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(Outline I–IV): The law is not part of the promise, not on a par with it, had a purpose within it, and its prospects were inferior to it. The conclusion: the law was holy, good and righteous — it did its job of bringing us to Christ, and now it is gone. We are under grace.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(I.A–B): v.15 argues from the known to the unknown: even a confirmed human covenant can't be altered by an outsider. God simply told Abraham what He would do (Gen 12:3) — no requirements. When Abraham asked for confirmation (Gen 15:8), God had him lay out the animals as men did for a covenant, then put Abraham into a deep sleep. A smoking furnace and a burning lamp — symbols of God — passed between the pieces alone. Abraham could not be a party to it: the covenant was unconditional. Hebrews 6:17 adds God's oath. v.16: “Seed,” not “seeds” — one Person, Christ.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(I.B–C, and Part 2 of the posted study): Land, nation and blessing were promised unconditionally; each is expanded in a later covenant. The law came 430 years later, too late to annul a covenant already confirmed (προκεκυρωμένην — confirmed before), and it contradicts the promise: if the inheritance is of the law, it is no longer of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(II.A–C): The law came because of disobedience — the promise because of obedience (Abraham believed God). The law was temporary — “till the Seed should come” — and when Christ died on the cross, the law died. The law needed a mediator, Moses (the commentary takes Moses, not the angels, as the mediator), because two parties were involved. The promise had none — “God is one”: God alone bound Himself.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(III.A–C): Is the law against the promises? μὴ γένοιτο — “Certainly not!” (the strongest possible denial). The law could not give life, so it demonstrated man's weakness; Scripture shut up all under sin (Rom 3:9, 23); and the law was a παιδαγωγός — not a teacher but the household slave who escorted a boy to school until he came of age — to bring us to Christ. You can't be saved until you know you need to be. After faith has come, we are no longer under the tutor.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(IV.A–D): Higher — sons of God through faith. Deeper — baptized into Christ: the commentary takes this as Spirit baptism (1 Cor 12:13), not water baptism; we have put on Christ like a garment. Wider — no national, social or gender distinction in standing: all one in Christ. Longer — the law ran about 1,500 years; the promise reaches from Genesis 12 into forever: heirs according to the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the posted Study Questions and Application sections): Q1: What does it mean that Abraham was asleep while God alone passed through the pieces (Genesis 15)? — Leader answer: In a normal covenant both parties walked through the pieces. Here only God passed through — the covenant was unconditional; Abraham had only to believe.  Q2: Of the four ways our standing surpasses the law — higher, deeper, wider, longer — which means most to you right now, and why? — Leader answer: Answers will vary. Connect each: higher (sonship), deeper (Spirit baptism into Christ), wider (all one in Christ), longer (heirs forever).  Applications: Rest in “You Have Been Blessed, Do This” — Before you pray tonight, say aloud “I have already been blessed” before anything you plan to do for God.  Live the Wide Ground — Extend a specific honor this week to a believer you might ordinarily overlook.  Close by reading the summary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Three movements — our situation (4:1–3), our salvation (4:4–7), and our selection (4:8–11). The posted study has no separate proposition box; this summary is drawn from its Part 1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(I.A–B): The passage from childhood to manhood was well known — Romans and Greeks had the toga virilis; Jews had bar mitzvah. A minor heir legally owns everything but lives no differently from a slave, under guardians (over his person) and stewards (over his estate) until the date his father set. “Even so we” — Paul and the Jewish believers, and the Gentiles too: “the elements of the world” covers everyone. Before Christ, everyone was under rules and regulations — that's what religion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(II.A.1–2): The commentary's five marks of the right season. Then the right Savior: God sent His Son, “born of a woman” — γενόμενον, came into existence by a woman, with no mention of a human father (the virgin birth) — “born under the law.” He was the promised Seed (3:16).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(II.A–D): The adoption has to do with the inheritance, not with how we get into the family — we are born into the family (John 3). We received the inheritance when we believed. Everyone who believes receives the Spirit (Rom 8:9); the law cried “Sinner,” the Spirit cries “Abba, Father” — present tense, an ongoing cry. v.7 is a first-class condition, assumed true: since you are a son, you are an heir.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(III.A–D): Ignorant — they served what by nature are not gods, and were without excuse (Rom 1:19–32). Illumined — they came to know God, or rather were known by God. Immersed in the law again — days, months, seasons and years: a system that is powerless and poor. About to be dis-inherited — the commentary's heading. Paul is NOT speaking of salvation: eternal life received by faith cannot be lost. His fear is that they have exchanged one slavery for another and are no better off — that his labor among them would be in vain.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the posted Study Questions and Application sections): Q1: What is the difference between how we enter God's family (birth) and how we receive the inheritance (adoption)? — Leader answer: We are born into the family by faith in Christ. Adoption (huiothesia) is the legal term for receiving the heir's rights.  Q2: In verses 9–11, why is Paul “afraid” for the Galatians, if he is not questioning their salvation? — Leader answer: He grieves their direction, not their standing. They have eternal life and cannot lose it; his fear is that they are trading sonship's freedom for another slavery.  Applications: Let “Abba” Change How You Pray — Begin at least one prayer time this week simply saying, “Abba, Father.”  Don't Trade Grace for Another Slavery — Name one rule-keeping substitute for grace in your life and bring it to a trusted friend or your group.  Close by reading the summary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Two movements — Paul's affection for the Galatians (4:12–16) and Paul's allegiance to them (4:17–20). The title pictures firm truth delivered with tender love. The posted study has no separate proposition box; this summary is drawn from its Part 1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(Outline I–II): After three chapters of rebuke, the tone changes. The introduction recalls Dare to Discipline: after discipline, hold the child and let him know he is loved. This passage is that moment — the steel fist in the velvet glove.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(I.B–D): Paul first preached to them because of a physical infirmity — the gospel came through, not despite, his weakness. They did not despise him or “spit him out” (ἐξεπτύσατε — the posted Greek study notes the old superstition of spitting to ward off a sufferer's affliction). They received him as an angel of God, even as Christ Jesus, and would have given him their own eyes. Now: I told you the truth; now I am your enemy; so I became your enemy because I told you the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(II.A–B.1): Zeal itself isn't wrong — the Judaizers were zealous, and so was Paul. The test is the truth and the good of others. The same verb (ζηλόω) describes both. The Judaizers' strategy was to shut the Galatians out (ἐκκλεῖσαι) from Paul's influence, so they would be zealous for the Judaizers. Paul's zeal was for a good thing, always — not only when he was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(II.B.2–4): “My little children” — τεκνία, the posted Greek study notes this is otherwise a Johannine word; Paul sounds more like John, the apostle of love. He is in labor a second time for the same children. μορφωθῇ — Christ formed from the inside out (the same root as “transformed” in Romans 12:2). His goal is not mere belief but Christ formed in them. v.20 — he would rather be with them face to face and change his tone; he is perplexed, not condemning. Close with the commentary's conclusion: dare to discipline — and hold them in your arms.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the posted Study Questions and Application sections): Q1: How can Paul call his truth-telling the reason he became their “enemy” (v.16), and what does that warn us about? — Leader answer: Truth spoken in love can still be received as hostility once someone is committed to another course. Faithful correction may cost relational capital.  Q2: What does it mean for Christ to be “formed” (μορφόω) in the Galatians, and how does that differ from simply believing correct doctrine? — Leader answer: Morphoō points to an essential, inward shape rather than outward performance (cf. Rom 12:2). Paul's labor aims past correct belief to Christ's own character within.  Applications: Correct Like a Father, Labor Like a Mother — When you must say a hard true thing, pair it with a concrete word or act that shows the relationship survives it.  Aim at Formation, Not Attendance — Where you've managed behavior from the outside in, ask the Lord this week to do the inside-out work.  Close by reading the summary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The key to the passage is the number two — two sons, two women, two spheres, two covenants, two places, two mountains, two Jerusalems. Three movements: the argument (4:21), the allegory (4:22–27), and the application (4:28–31).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(Introduction): Paul lines up two of everything. The commentary's picture: the old Westerns — black hats on the left, white hats on the right. Everything in the left column belongs together; so does everything in the right. Only one column is one any believer can stand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 “Tell me, you who desire to be under the law, do you not hear the law?” The Galatians embraced law-keeping as a system without reckoning with what the law actually demands or produces. Paul answers them from the law itself — Genesis, a book of the 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(II.A–B): Abraham's story can be followed by his age. Called from Ur at seventy-five, he was promised many things, and all of it hinged on one thing: a son. Ishmael came by Sarah's plan, carried out by ordinary human means apart from God's revealed will — no miracle. Isaac came by promise, against all natural possibility, when God said; God waited twenty-five years so no one could question who did it. “Flesh” here is the scheme behind the birth, not physical birth — both boys were born the ordinary way physically.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(II.C): ἀλληγορούμενα is passive — these things “have been made into an allegory.” They were not allegory to begin with; they happened exactly as recorded. Paul uses the history after the fact as a teaching illustration. Hagar/Sinai keeps bearing children into bondage (present participle). συστοιχεῖ — a military word, standing in the same rank. Isaiah 54:1 — the barren woman will have more children: what looked hopeless becomes fruitful by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(III.A–D): Isaac's birth leaves no doubt God did it — and every believer is born the same way. Ishmael mocked Isaac (Gen 21:9); the imperfect ἐδίωκεν pictures ongoing harassment — even so it is now. The answer to legalism: “Cast out the bondwoman and her son” — the whole left-hand column; law and promise cannot share the inheritance. The commentary's contrast: under law you work six days, then rest — you work for the blessing; under grace we rest, then work — we work from the blessing.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the posted Study Questions and Application sections): Q1: Paul says the Jerusalem above “is the mother of us all.” What does it mean practically to live as a citizen of that city? — Leader answer: See Commentary II.C — the two symbols, Sinai and Zion, and the Jerusalem above.  Q2: What would it look like concretely to “cast out” a legalistic rule you've let sit alongside your faith in Christ? — Leader answer: See Commentary III.C–D — the no-mixture principle: cast out the whole left-hand column.  Applications: Know Which Column You're In — Identify one requirement you've added, and set it back outside your standing with God — not a condition of it.  Work From the Blessing, Not For It — Do one act of service this week from rest and gratitude rather than obligation to earn favor.  Close by reading the summary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Four movements — the request to stand fast (5:1), the results of submitting to the law (5:2–4), the reality of the Spirit-filled life (5:5–6), and the reputation of the teachers of the law (5:7–12).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(I.A–B): “Therefore” ties this to the allegory just finished. Freedom is a settled fact — Christ has made us free — but standing in it is an ongoing decision (present imperative); if believers don't actively stand, they drift. The previous yoke was pagan religion for Gentiles or Judaism for Jews; going back to the law would put the same yoke back on their necks.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(II.A–C): v.2 — circumcision as a way to please God: Christ will profit you nothing (subjunctive — Paul writes before the decision is final). v.3 — the law is one indivisible whole: take any part, and you owe all of it (cf. James 2:10). v.4 — “fallen from grace”: the commentary and posted study are clear — not from salvation, which cannot be lost, but from fellowship and from grace as the operating principle of life. ἐξεπέσατε pictures a ship driven off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(III.A–B): Instead of the law's “fast way” to acceptability, the Spirit-filled believer waits patiently. v.6 — circumcision and uncircumcision mean nothing in Christ; neither is a special class. “Faith working through love” — the commentary and posted study read it as serving Christ out of love for Him rather than fear of the law: love, not fear, is the motive.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(IV.A–E): v.7 — the Galatians hadn't quit; someone cut in on their lane (ἐνέκοψεν). v.8 — “this persuasion” (adding works to the cross) did not come from God; the commentary traces it not to Jerusalem — the council would soon affirm grace — but ultimately to Satan. v.9 — heretical doctrine can't be left in the church (the commentary distinguishes heresy from minor differences). v.10 — Paul is confident “in the Lord” about the Galatians; the troubler will bear his judgment. vv.11–12 — if Paul still preached circumcision, why persecute him? The offense of the cross would cease.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(Introduction and Conclusion): The commentary opens and closes with a building illustration: works done to add to grace are limited to this life — there is no door to carry them out. Only those who do the work of the Lord have works that follow them, rewarded at the judgment seat of Christ. Add anything to salvation and you demean the cross that bought the freedom.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the posted Study Questions and Application sections): Q1: The Galatians were told “just one small thing” needed adding to their faith. What “small things” do people quietly add to grace today? — Leader answer: See Commentary II — the results of submitting to the law: any one addition obligates the whole law.  Q2: How would you describe the difference between serving Christ out of love and serving out of fear or guilt (5:6)? — Leader answer: See Commentary III.B — faith working through love: love for Christ, not fear of the law, is the motive.  Applications: Resist the “Just One Small Thing” — Name one addition before God as unnecessary — not wrong to do, but adding nothing to what Christ finished.  Take Your Stand — Where you've been passively hoping to feel free, make one concrete, deliberate decision instead.  Close by reading the summary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here to the end of the letter Paul turns from the Judaizers to the believers' daily life. Four movements — the potential (5:13–15), performance (5:16–18), pictures (5:19–23) and participation (5:24–26) of liberty.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(I.A–C): Called to liberty (ἐλευθερίᾳ, the goal of God's call). Free Grace is often accused of teaching that believers may sin all they want — neither we nor Paul teach that, but it must be possible for a believer, or Paul would not warn against it. ἀφορμή was a military staging ground. The cure is a paradox: freed people commanded into a voluntary slavery to one another — through love, not law (the Lord washing the disciples' feet, John 13). v.14 — the whole law stands fulfilled in one word. v.15 is written to believers, not Judaizers or unbelievers.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(II.A–C): How do you keep from fulfilling the lust of the flesh? Walk in the Spirit — hear the word the Spirit gave and rely on the Spirit to live it. The believer still has the flesh, so there is a war (v.17). Being led by the Spirit (v.18) is not about which car or job to choose — it is the same as walking by the Spirit in v.16; and if led by the Spirit, you are not under the 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(III.A–B): The works are plural and self-produced — hard work. The commentary groups them: sexual sins, spiritual sins (idolatry; sorcery — pharmakeia, drugs used for trances in worship), and social sins — the longest list. “And the like” — it isn't exhaustive. The fruit is singular and grows from the root, the indwelling Spirit, as we walk in dependence on Him. The commentary groups the nine qualities as upward, outward and inward.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(III.A.2): The commentary: inheriting the kingdom refers to ruling with Christ in the kingdom (Matt 19:29; Rev 2:26), not entering it. Paul calls them brethren — believers, who cannot fail to enter; it is promised, they have eternal life. When believers live like unbelievers, they will not rule with Christ in His kingdom. The commentary compares Jacob's three sons who forfeited inheritance, birthright and blessing (Genesis 49).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(IV.A–C): v.24 — not self-crucifixion or self-mutilation; by our identification with Christ's death the flesh has been crucified (aorist — completed), and we lay hold of that by faith. v.25 — “if” here can be read “since” we live in the Spirit; and the verb changes from περιπατέω (v.16, everyday walking) to στοιχέω — marching in rank, keeping step behind a leader. v.26 — three particulars: conceit (empty glory — pride, the devil's sin; Isa 14, Ezek 28), provoking, envying. The commentary suggests these may mark three groups the Judaizing error had produced in Galatia.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the posted Study Questions and Application sections): Q1: What would it look like to “wash someone's feet” today — literally or figuratively — in your own relationships? — Leader answer: See Commentary I.B.1 and John 13:3–15.  Q2: Which fruit of the Spirit do you most need to grow in right now, and what's one step toward depending on the Spirit for it? — Leader answer: See Commentary III.B — fruit grows from the root, the indwelling Spirit, as we walk in dependence on Him.  Applications: Serve Through Love, Not License — Do one lowly, unglamorous task for someone this week — unasked, and without mentioning it.  Let the Root Produce the Fruit — Name the fruit you most need, and instead of resolving to try harder, spend time asking the Spirit for it.  Close by reading the summary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Two movements — bear one another's burdens (6:1–3) and bear your own burden (6:4–5). The key is two different Greek words for burden.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(II.C): Verse 2 says bear one another's burdens; verse 5 says each shall bear his own load. Contradictory? No — two different words. βάρος is a weight too heavy to carry alone; it takes someone else's help. φορτίον is a soldier's own pack — the personal accountability each believer carries to the judgment seat of Christ, which no one else can carry for him.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(I.A): “Brethren” — Paul is speaking of believers. προλημφθῇ — caught by surprise; παράπτωμα — a slip, not premeditated rebellion. “You who are spiritual” is defined by chapter 5: those walking in, led by, and bearing the fruit of the Spirit — not sinless. καταρτίζετε — the word for mending nets (Matt 4:21) and, outside the NT, setting a broken bone: the goal is restoration to function, never condemnation. Gentleness is the same fruit named in 5:23. “Considering yourself” — the helper can be overtaken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(I.B): The commentary builds the explanation on the small word γάρ — “for, because.” v.2 — bearing another's crushing burden fills up (ἀναπληρώσατε, an intensified form) the law of Christ. v.3 — the one who thinks himself something after helping a fallen brother deceives himself; φρεναπατᾷ occurs only here in the NT and carries the idea of self-fancy.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(II.A–C): Examining one's own work and service is biblical — but not to check whether you are saved. Assurance rests on the objective promise of God's Word to the one who believes, not on a subjective review of performance. The examination concerns service and stewardship. Then rejoicing — measured against one's own calling before the Lord, not against another believer — and even then, rejoicing in the Lord. Each carries his own pack to the judgment seat of Christ.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the posted Study Questions and Application sections): Q1: Think of a time someone gently restored you after a failure. What made it feel like restoration rather than condemnation? — Leader answer: See Commentary I.A — restore: mend the net, set the bone, in gentleness.  Q2: Is there a burden in your life right now too heavy to carry alone? Who could you ask to help carry it? — Leader answer: See Commentary II.C — the baros / phortion distinction.  Applications: Restore, Don't Gossip — If a brother or sister has been overtaken, go to them privately and gently before mentioning it to anyone else.  Carry What's Too Heavy, Alone What's Yours — Ask someone specific for help with a crushing burden — or stop comparing and take one step in your own course.  Close by reading the summary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Four movements — the performance (6:6), principles (6:7–8), pledge (6:9) and priority (6:10) of sowing and reaping.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(Introduction and Outline I–IV): “Whatever a man sows, that he will also reap” — rooted first in agriculture and in God's promise to Noah after the flood (seedtime and harvest). Paul uses it for the believer's use of time, money and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 Support of the one who teaches is Paul's first, concrete illustration of sowing and reaping. Why would it have seemed strange to the Galatians? The posted study names three pressures: the law (the temple system was already funded), the Judaizers (who discouraged support of grace teachers), and Paul's own example of not charging. In 1 Corinthians 9 Paul insists he had the right to be paid; not using it was his personal choice, binding no one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(II.A–D): First the red flag: God is not mocked (μυκτηρίζεται — to turn up the nose, sneer; used only here). God means what He says. Then four principles: put in before you take out (John 12:24); what you put in is what you take out (flesh → corruption, Spirit → everlasting life); you take out more than you put in (one kernel of corn yields many); and the harvest comes later than the sowing.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(Part 2, Question 4 of the posted study, citing the Grace New Testament Commentary): Paul writes to believers (3:29) who already possess eternal life and cannot lose it. The reaping in view parallels 5:21 and 2 Timothy 2:12 — ruling with Christ in the kingdom as a reward for faithfulness, not the gift of life itself. Eternal life is received as a free gift by faith alone; what is reaped here is reward.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(III–IV): v.9 — the exhortation and the condition. Paul names two failures: growing weary (ἐγκακῶμεν, losing courage) and losing heart (ἐκλυόμενοι — a runner's muscles giving out). The harvest comes “in due season” — καιρός, the right time, not just elapsed time. v.10 — “therefore” concludes the section. The commentary weighs two readings (law and grace, or the use of our resources) and takes the resources reading from the immediate context: do good to all, with first — not exclusive — responsibility to the household of faith, as families care first for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the posted Study Questions and Application sections): Q1: What is one thing in your life that is clearly “sowing to the flesh,” and what would sowing to the Spirit look like in that same area? — Leader answer: See Commentary II.B — we reap what we sow: corruption from the flesh, lasting reward from the Spirit.  Q2: Where have you been tempted to grow weary in doing good because you haven't yet seen a harvest? — Leader answer: See Commentary III — the pledge: “in due season,” if we do not lose heart.  Applications: Sow Into Your Teachers — Take one concrete step this week — financial or otherwise — to support someone who faithfully teaches you the word.  Don't Lose Heart — Recommit to a work for one more defined season, and ask someone to check in with you on it.  Close by reading the summary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Paul's last shot at the Galatians. The commentary asks not only what Paul says but how he says it — five ways to present the truth (6:11, 12–15, 16, 17,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(Outline I–V): The commentary asks not only what Paul says in his last word, but how he says it. These five adverbs are the pattern for teaching the truth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(II.A–B): Paul looks behind the scenes at the Judaizers' motives — the commentary names four: the approval of people (a good showing in the flesh), the avoidance of persecution for the cross, the appearance of perfection (they don't keep the law themselves), and the attitude of pride (boasting in numbers). Against them Paul sets his upper motives: the cross, by which the world is crucified to him (perfect tense), and Christ — in whom only a new creation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 and IV): v.11 — Paul had been dictating; now he takes the pen himself for a final, forceful emphasis, writing in large letters so the seriousness would not be missed. v.17 — the marks are not “stigmata” some claim in imitation of Christ's wounds, but Paul's actual scars from stoning, beatings and rods — proof of his dedication. στίγματα was the mark that showed whom a slave or soldier belonged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(III.A–B): “This rule” (κανών — a measuring rod, the source of “canon”) is the message of salvation by grace through faith, plus not one thing — nothing added, nothing subtracted. Instead of a curse for the false gospel (1:8–9), there is peace for the true. The posted study reads the blessing as on two groups: those who walk by this rule, and among them, “the Israel of God” — Jews who have believed in Christ — not an equation of the church with Israel. See the companion page The Israel of God: Galatians 6:16.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(V): Paul's benediction matches his greeting. He opened with “grace to you” (1:3); in between he called them foolish and bewitched; he came to address them again as brethren; and he closes: “the grace of our Lord Jesus Christ be with your spirit.” Paul's last word to the Galatians is his first word to them, said one more time: grace.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the posted Study Questions and Application sections): Q1: What modern equivalents of the Judaizers' motives — approval, avoiding conflict, appearing put-together, pride in numbers — show up in ministry today? — Leader answer: See Commentary II.A — the four unseen motives.  Q2: What does it look like practically to boast in nothing except the cross of Christ? — Leader answer: See Commentary II.B.1 — Paul was motivated by the cross.  Applications: Check Your Own Unseen Motives — Name one motive honestly before God this week and ask Him to replace it with a desire to boast only in the cross.  Live as the New Creation You Are — Write down one way your new-creation identity in Christ should change a decision you're facing.  Close by reading the summary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The series closes where the letter does. Paul's apostleship came from God, his gospel admits no rival, grace — not law — begins, sustains and completes the Christian life, and liberty is lived out by walking in the Spirit.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rtlCol="0"/>
          <a:lstStyle>
            <a:lvl1pPr algn="l" indent="0" marL="0">
              <a:buNone/>
              <a:defRPr lang="en-US" sz="2400" b="1" dirty="0">
                <a:solidFill>
                  <a:srgbClr val="1F3864"/>
                </a:solidFill>
                <a:latin typeface="Arial" pitchFamily="34" charset="0"/>
                <a:ea typeface="Arial" pitchFamily="34" charset="-122"/>
                <a:cs typeface="Arial" pitchFamily="34" charset="-120"/>
              </a:defRPr>
            </a:lvl1pPr>
          </a:lstStyle>
          <a:p>
            <a:pPr algn="l" indent="0" marL="0">
              <a:buNone/>
            </a:pP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rtlCol="0"/>
          <a:lstStyle>
            <a:lvl1pPr indent="0" marL="0">
              <a:buNone/>
              <a:defRPr lang="en-US" sz="1200" i="1" dirty="0">
                <a:solidFill>
                  <a:srgbClr val="595959"/>
                </a:solidFill>
                <a:latin typeface="Arial" pitchFamily="34" charset="0"/>
                <a:ea typeface="Arial" pitchFamily="34" charset="-122"/>
                <a:cs typeface="Arial" pitchFamily="34" charset="-120"/>
              </a:defRPr>
            </a:lvl1pPr>
          </a:lstStyle>
          <a:p>
            <a:pPr indent="0" marL="0">
              <a:buNone/>
            </a:pPr>
            <a:endParaRPr lang="en-US" sz="1200" dirty="0"/>
          </a:p>
        </p:txBody>
      </p:sp>
      <p:sp>
        <p:nvSpPr>
          <p:cNvPr id="4" name="Text 0"/>
          <p:cNvSpPr/>
          <p:nvPr/>
        </p:nvSpPr>
        <p:spPr>
          <a:xfrm>
            <a:off x="457200" y="4773168"/>
            <a:ext cx="6858000" cy="228600"/>
          </a:xfrm>
          <a:prstGeom prst="rect">
            <a:avLst/>
          </a:prstGeom>
          <a:noFill/>
          <a:ln/>
        </p:spPr>
        <p:txBody>
          <a:bodyPr wrap="square" lIns="0" tIns="0" rIns="0" bIns="0" rtlCol="0" anchor="ctr"/>
          <a:lstStyle/>
          <a:p>
            <a:pPr indent="0" marL="0">
              <a:buNone/>
            </a:pPr>
            <a:r>
              <a:rPr lang="en-US" sz="800" dirty="0">
                <a:solidFill>
                  <a:srgbClr val="6B7280"/>
                </a:solidFill>
                <a:latin typeface="Arial" pitchFamily="34" charset="0"/>
                <a:ea typeface="Arial" pitchFamily="34" charset="-122"/>
                <a:cs typeface="Arial" pitchFamily="34" charset="-120"/>
              </a:rPr>
              <a:t>Galatians · Charts from the 16 studies · The Gospel Vault · NKJV</a:t>
            </a:r>
            <a:endParaRPr lang="en-US" sz="8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1F3864"/>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rtlCol="0"/>
          <a:lstStyle>
            <a:lvl1pPr indent="0" marL="0">
              <a:buNone/>
              <a:defRPr lang="en-US" sz="1400" dirty="0">
                <a:solidFill>
                  <a:srgbClr val="C9D5EE"/>
                </a:solidFill>
                <a:latin typeface="Arial" pitchFamily="34" charset="0"/>
                <a:ea typeface="Arial" pitchFamily="34" charset="-122"/>
                <a:cs typeface="Arial" pitchFamily="34" charset="-120"/>
              </a:defRPr>
            </a:lvl1pPr>
          </a:lstStyle>
          <a:p>
            <a:pPr indent="0" marL="0">
              <a:buNone/>
            </a:pP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rtlCol="0"/>
          <a:lstStyle>
            <a:lvl1pPr algn="l" indent="0" marL="0">
              <a:buNone/>
              <a:defRPr lang="en-US" sz="3400" b="1" dirty="0">
                <a:solidFill>
                  <a:srgbClr val="FFFFFF"/>
                </a:solidFill>
                <a:latin typeface="Arial" pitchFamily="34" charset="0"/>
                <a:ea typeface="Arial" pitchFamily="34" charset="-122"/>
                <a:cs typeface="Arial" pitchFamily="34" charset="-120"/>
              </a:defRPr>
            </a:lvl1pPr>
          </a:lstStyle>
          <a:p>
            <a:pPr algn="l" indent="0" marL="0">
              <a:buNone/>
            </a:pP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rtlCol="0"/>
          <a:lstStyle>
            <a:lvl1pPr indent="0" marL="0">
              <a:buNone/>
              <a:defRPr lang="en-US" sz="1500" i="1" dirty="0">
                <a:solidFill>
                  <a:srgbClr val="E6ECF7"/>
                </a:solidFill>
                <a:latin typeface="Arial" pitchFamily="34" charset="0"/>
                <a:ea typeface="Arial" pitchFamily="34" charset="-122"/>
                <a:cs typeface="Arial" pitchFamily="34" charset="-120"/>
              </a:defRPr>
            </a:lvl1pPr>
          </a:lstStyle>
          <a:p>
            <a:pPr indent="0" marL="0">
              <a:buNone/>
            </a:pPr>
            <a:endParaRPr lang="en-US" sz="1500" dirty="0"/>
          </a:p>
        </p:txBody>
      </p:sp>
      <p:sp>
        <p:nvSpPr>
          <p:cNvPr id="5" name="Text 0"/>
          <p:cNvSpPr/>
          <p:nvPr/>
        </p:nvSpPr>
        <p:spPr>
          <a:xfrm>
            <a:off x="640080" y="4754880"/>
            <a:ext cx="7315200" cy="228600"/>
          </a:xfrm>
          <a:prstGeom prst="rect">
            <a:avLst/>
          </a:prstGeom>
          <a:noFill/>
          <a:ln/>
        </p:spPr>
        <p:txBody>
          <a:bodyPr wrap="square" lIns="0" tIns="0" rIns="0" bIns="0" rtlCol="0" anchor="ctr"/>
          <a:lstStyle/>
          <a:p>
            <a:pPr indent="0" marL="0">
              <a:buNone/>
            </a:pPr>
            <a:r>
              <a:rPr lang="en-US" sz="800" dirty="0">
                <a:solidFill>
                  <a:srgbClr val="AEBBD6"/>
                </a:solidFill>
                <a:latin typeface="Arial" pitchFamily="34" charset="0"/>
                <a:ea typeface="Arial" pitchFamily="34" charset="-122"/>
                <a:cs typeface="Arial" pitchFamily="34" charset="-120"/>
              </a:rPr>
              <a:t>Galatians · Charts from the 16 studies · The Gospel Vault · NKJV</a:t>
            </a:r>
            <a:endParaRPr lang="en-US" sz="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lstStyle/>
          <a:p>
            <a:pPr indent="0" marL="0">
              <a:buNone/>
            </a:pPr>
            <a:r>
              <a:rPr lang="en-US" sz="1400" dirty="0">
                <a:solidFill>
                  <a:srgbClr val="C9D5EE"/>
                </a:solidFill>
                <a:latin typeface="Arial" pitchFamily="34" charset="0"/>
                <a:ea typeface="Arial" pitchFamily="34" charset="-122"/>
                <a:cs typeface="Arial" pitchFamily="34" charset="-120"/>
              </a:rPr>
              <a:t>Leader resource · all sixteen posted studies · NKJV</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Galatians: Charts from the Sixteen Studies</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t"/>
          <a:lstStyle/>
          <a:p>
            <a:pPr indent="0" marL="0">
              <a:buNone/>
            </a:pPr>
            <a:r>
              <a:rPr lang="en-US" sz="1500" i="1" dirty="0">
                <a:solidFill>
                  <a:srgbClr val="E6ECF7"/>
                </a:solidFill>
                <a:latin typeface="Arial" pitchFamily="34" charset="0"/>
                <a:ea typeface="Arial" pitchFamily="34" charset="-122"/>
                <a:cs typeface="Arial" pitchFamily="34" charset="-120"/>
              </a:rPr>
              <a:t>Every chart from the sixteen Galatians studies, in study order — one section per study, with leader notes on every slide.</a:t>
            </a:r>
            <a:endParaRPr lang="en-US" sz="1500" dirty="0"/>
          </a:p>
        </p:txBody>
      </p:sp>
      <p:sp>
        <p:nvSpPr>
          <p:cNvPr id="6" name="Text 3"/>
          <p:cNvSpPr txBox="1"/>
          <p:nvPr/>
        </p:nvSpPr>
        <p:spPr>
          <a:xfrm>
            <a:off x="640080" y="4343400"/>
            <a:ext cx="7863840" cy="274320"/>
          </a:xfrm>
          <a:prstGeom prst="rect">
            <a:avLst/>
          </a:prstGeom>
          <a:noFill/>
          <a:ln/>
        </p:spPr>
        <p:txBody>
          <a:bodyPr wrap="square" lIns="0" tIns="0" rIns="0" bIns="0" rtlCol="0" anchor="t"/>
          <a:lstStyle/>
          <a:p>
            <a:pPr indent="0" marL="0">
              <a:buNone/>
            </a:pPr>
            <a:r>
              <a:rPr lang="en-US" sz="1000" dirty="0">
                <a:solidFill>
                  <a:srgbClr val="AEBBD6"/>
                </a:solidFill>
                <a:latin typeface="Arial" pitchFamily="34" charset="0"/>
                <a:ea typeface="Arial" pitchFamily="34" charset="-122"/>
                <a:cs typeface="Arial" pitchFamily="34" charset="-120"/>
              </a:rPr>
              <a:t>Source: Dr. C. Norman Sellers, ThD · SellersBibleInstitute.com · used by permission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The series at a glance (1 of 2)</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Studies 1–8</a:t>
            </a:r>
            <a:endParaRPr lang="en-US" sz="1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411480"/>
                <a:gridCol w="1051560"/>
                <a:gridCol w="2743200"/>
                <a:gridCol w="4023360"/>
              </a:tblGrid>
              <a:tr h="274320">
                <a:tc>
                  <a:txBody>
                    <a:bodyPr/>
                    <a:lstStyle/>
                    <a:p>
                      <a:pP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2E5496"/>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Passage</a:t>
                      </a:r>
                      <a:endParaRPr lang="en-US" sz="11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2E5496"/>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Title</a:t>
                      </a:r>
                      <a:endParaRPr lang="en-US" sz="11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2E5496"/>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In brief</a:t>
                      </a:r>
                      <a:endParaRPr lang="en-US" sz="11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2E5496"/>
                    </a:solidFill>
                  </a:tcPr>
                </a:tc>
              </a:tr>
              <a:tr h="411480">
                <a:tc>
                  <a:txBody>
                    <a:bodyPr/>
                    <a:lstStyle/>
                    <a:p>
                      <a:pPr algn="ctr" indent="0" marL="0">
                        <a:buNone/>
                      </a:pPr>
                      <a:r>
                        <a:rPr lang="en-US" sz="1050" b="1" dirty="0">
                          <a:solidFill>
                            <a:srgbClr val="1F3864"/>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1:1–5</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b="1" dirty="0">
                          <a:solidFill>
                            <a:srgbClr val="262626"/>
                          </a:solidFill>
                          <a:latin typeface="Arial" pitchFamily="34" charset="0"/>
                          <a:ea typeface="Arial" pitchFamily="34" charset="-122"/>
                          <a:cs typeface="Arial" pitchFamily="34" charset="-120"/>
                        </a:rPr>
                        <a:t>The Ground of Liberty</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Paul's God-given apostleship and the grace by which believers stand</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r>
              <a:tr h="411480">
                <a:tc>
                  <a:txBody>
                    <a:bodyPr/>
                    <a:lstStyle/>
                    <a:p>
                      <a:pPr algn="ctr" indent="0" marL="0">
                        <a:buNone/>
                      </a:pPr>
                      <a:r>
                        <a:rPr lang="en-US" sz="1050" b="1" dirty="0">
                          <a:solidFill>
                            <a:srgbClr val="1F3864"/>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1:6–10</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indent="0" marL="0">
                        <a:buNone/>
                      </a:pPr>
                      <a:r>
                        <a:rPr lang="en-US" sz="1050" b="1" dirty="0">
                          <a:solidFill>
                            <a:srgbClr val="262626"/>
                          </a:solidFill>
                          <a:latin typeface="Arial" pitchFamily="34" charset="0"/>
                          <a:ea typeface="Arial" pitchFamily="34" charset="-122"/>
                          <a:cs typeface="Arial" pitchFamily="34" charset="-120"/>
                        </a:rPr>
                        <a:t>The One True Gospel</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Adding law to grace replaces the gospel; any other gospel stands accursed</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r>
              <a:tr h="411480">
                <a:tc>
                  <a:txBody>
                    <a:bodyPr/>
                    <a:lstStyle/>
                    <a:p>
                      <a:pPr algn="ctr" indent="0" marL="0">
                        <a:buNone/>
                      </a:pPr>
                      <a:r>
                        <a:rPr lang="en-US" sz="1050" b="1" dirty="0">
                          <a:solidFill>
                            <a:srgbClr val="1F3864"/>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1:11–17</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b="1" dirty="0">
                          <a:solidFill>
                            <a:srgbClr val="262626"/>
                          </a:solidFill>
                          <a:latin typeface="Arial" pitchFamily="34" charset="0"/>
                          <a:ea typeface="Arial" pitchFamily="34" charset="-122"/>
                          <a:cs typeface="Arial" pitchFamily="34" charset="-120"/>
                        </a:rPr>
                        <a:t>Paul's Independent Revelation</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Paul's gospel came by direct revelation of Jesus Christ, not from man</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r>
              <a:tr h="411480">
                <a:tc>
                  <a:txBody>
                    <a:bodyPr/>
                    <a:lstStyle/>
                    <a:p>
                      <a:pPr algn="ctr" indent="0" marL="0">
                        <a:buNone/>
                      </a:pPr>
                      <a:r>
                        <a:rPr lang="en-US" sz="1050" b="1" dirty="0">
                          <a:solidFill>
                            <a:srgbClr val="1F3864"/>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1:18–2:10</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indent="0" marL="0">
                        <a:buNone/>
                      </a:pPr>
                      <a:r>
                        <a:rPr lang="en-US" sz="1050" b="1" dirty="0">
                          <a:solidFill>
                            <a:srgbClr val="262626"/>
                          </a:solidFill>
                          <a:latin typeface="Arial" pitchFamily="34" charset="0"/>
                          <a:ea typeface="Arial" pitchFamily="34" charset="-122"/>
                          <a:cs typeface="Arial" pitchFamily="34" charset="-120"/>
                        </a:rPr>
                        <a:t>Paul's Gospel Is Independent of the Judean Churches</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Confirmed by the Judean churches and recognized by the Jerusalem apostles</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r>
              <a:tr h="411480">
                <a:tc>
                  <a:txBody>
                    <a:bodyPr/>
                    <a:lstStyle/>
                    <a:p>
                      <a:pPr algn="ctr" indent="0" marL="0">
                        <a:buNone/>
                      </a:pPr>
                      <a:r>
                        <a:rPr lang="en-US" sz="1050" b="1" dirty="0">
                          <a:solidFill>
                            <a:srgbClr val="1F3864"/>
                          </a:solidFill>
                          <a:latin typeface="Arial" pitchFamily="34" charset="0"/>
                          <a:ea typeface="Arial" pitchFamily="34" charset="-122"/>
                          <a:cs typeface="Arial" pitchFamily="34" charset="-120"/>
                        </a:rPr>
                        <a:t>5</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2:11–21</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b="1" dirty="0">
                          <a:solidFill>
                            <a:srgbClr val="262626"/>
                          </a:solidFill>
                          <a:latin typeface="Arial" pitchFamily="34" charset="0"/>
                          <a:ea typeface="Arial" pitchFamily="34" charset="-122"/>
                          <a:cs typeface="Arial" pitchFamily="34" charset="-120"/>
                        </a:rPr>
                        <a:t>Peter Goes Back to School</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Grace governs how believers live together; Paul corrects Peter publicly</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r>
              <a:tr h="411480">
                <a:tc>
                  <a:txBody>
                    <a:bodyPr/>
                    <a:lstStyle/>
                    <a:p>
                      <a:pPr algn="ctr" indent="0" marL="0">
                        <a:buNone/>
                      </a:pPr>
                      <a:r>
                        <a:rPr lang="en-US" sz="1050" b="1" dirty="0">
                          <a:solidFill>
                            <a:srgbClr val="1F3864"/>
                          </a:solidFill>
                          <a:latin typeface="Arial" pitchFamily="34" charset="0"/>
                          <a:ea typeface="Arial" pitchFamily="34" charset="-122"/>
                          <a:cs typeface="Arial" pitchFamily="34" charset="-120"/>
                        </a:rPr>
                        <a:t>6</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3:1–5</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indent="0" marL="0">
                        <a:buNone/>
                      </a:pPr>
                      <a:r>
                        <a:rPr lang="en-US" sz="1050" b="1" dirty="0">
                          <a:solidFill>
                            <a:srgbClr val="262626"/>
                          </a:solidFill>
                          <a:latin typeface="Arial" pitchFamily="34" charset="0"/>
                          <a:ea typeface="Arial" pitchFamily="34" charset="-122"/>
                          <a:cs typeface="Arial" pitchFamily="34" charset="-120"/>
                        </a:rPr>
                        <a:t>Under a Spell</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Five questions expose the folly of turning from grace to law</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r>
              <a:tr h="411480">
                <a:tc>
                  <a:txBody>
                    <a:bodyPr/>
                    <a:lstStyle/>
                    <a:p>
                      <a:pPr algn="ctr" indent="0" marL="0">
                        <a:buNone/>
                      </a:pPr>
                      <a:r>
                        <a:rPr lang="en-US" sz="1050" b="1" dirty="0">
                          <a:solidFill>
                            <a:srgbClr val="1F3864"/>
                          </a:solidFill>
                          <a:latin typeface="Arial" pitchFamily="34" charset="0"/>
                          <a:ea typeface="Arial" pitchFamily="34" charset="-122"/>
                          <a:cs typeface="Arial" pitchFamily="34" charset="-120"/>
                        </a:rPr>
                        <a:t>7</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3:6–14</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b="1" dirty="0">
                          <a:solidFill>
                            <a:srgbClr val="262626"/>
                          </a:solidFill>
                          <a:latin typeface="Arial" pitchFamily="34" charset="0"/>
                          <a:ea typeface="Arial" pitchFamily="34" charset="-122"/>
                          <a:cs typeface="Arial" pitchFamily="34" charset="-120"/>
                        </a:rPr>
                        <a:t>Blessing or a Curse</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The law can only curse; Christ became a curse so the blessing comes by faith</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r>
              <a:tr h="411480">
                <a:tc>
                  <a:txBody>
                    <a:bodyPr/>
                    <a:lstStyle/>
                    <a:p>
                      <a:pPr algn="ctr" indent="0" marL="0">
                        <a:buNone/>
                      </a:pPr>
                      <a:r>
                        <a:rPr lang="en-US" sz="1050" b="1" dirty="0">
                          <a:solidFill>
                            <a:srgbClr val="1F3864"/>
                          </a:solidFill>
                          <a:latin typeface="Arial" pitchFamily="34" charset="0"/>
                          <a:ea typeface="Arial" pitchFamily="34" charset="-122"/>
                          <a:cs typeface="Arial" pitchFamily="34" charset="-120"/>
                        </a:rPr>
                        <a:t>8</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3:15–29</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indent="0" marL="0">
                        <a:buNone/>
                      </a:pPr>
                      <a:r>
                        <a:rPr lang="en-US" sz="1050" b="1" dirty="0">
                          <a:solidFill>
                            <a:srgbClr val="262626"/>
                          </a:solidFill>
                          <a:latin typeface="Arial" pitchFamily="34" charset="0"/>
                          <a:ea typeface="Arial" pitchFamily="34" charset="-122"/>
                          <a:cs typeface="Arial" pitchFamily="34" charset="-120"/>
                        </a:rPr>
                        <a:t>The Superiority of the Promise to the Law</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The law cannot annul the promise; it served to drive sinners to Christ</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The series at a glance (2 of 2)</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Studies 9–16</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411480"/>
                <a:gridCol w="1051560"/>
                <a:gridCol w="2743200"/>
                <a:gridCol w="4023360"/>
              </a:tblGrid>
              <a:tr h="274320">
                <a:tc>
                  <a:txBody>
                    <a:bodyPr/>
                    <a:lstStyle/>
                    <a:p>
                      <a:pP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2E5496"/>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Passage</a:t>
                      </a:r>
                      <a:endParaRPr lang="en-US" sz="11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2E5496"/>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Title</a:t>
                      </a:r>
                      <a:endParaRPr lang="en-US" sz="11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2E5496"/>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In brief</a:t>
                      </a:r>
                      <a:endParaRPr lang="en-US" sz="11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2E5496"/>
                    </a:solidFill>
                  </a:tcPr>
                </a:tc>
              </a:tr>
              <a:tr h="411480">
                <a:tc>
                  <a:txBody>
                    <a:bodyPr/>
                    <a:lstStyle/>
                    <a:p>
                      <a:pPr algn="ctr" indent="0" marL="0">
                        <a:buNone/>
                      </a:pPr>
                      <a:r>
                        <a:rPr lang="en-US" sz="1050" b="1" dirty="0">
                          <a:solidFill>
                            <a:srgbClr val="1F3864"/>
                          </a:solidFill>
                          <a:latin typeface="Arial" pitchFamily="34" charset="0"/>
                          <a:ea typeface="Arial" pitchFamily="34" charset="-122"/>
                          <a:cs typeface="Arial" pitchFamily="34" charset="-120"/>
                        </a:rPr>
                        <a:t>9</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4:1–11</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b="1" dirty="0">
                          <a:solidFill>
                            <a:srgbClr val="262626"/>
                          </a:solidFill>
                          <a:latin typeface="Arial" pitchFamily="34" charset="0"/>
                          <a:ea typeface="Arial" pitchFamily="34" charset="-122"/>
                          <a:cs typeface="Arial" pitchFamily="34" charset="-120"/>
                        </a:rPr>
                        <a:t>When I Became a Man</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From child-heir under guardians to son and heir — don't go back to slavery</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r>
              <a:tr h="411480">
                <a:tc>
                  <a:txBody>
                    <a:bodyPr/>
                    <a:lstStyle/>
                    <a:p>
                      <a:pPr algn="ctr" indent="0" marL="0">
                        <a:buNone/>
                      </a:pPr>
                      <a:r>
                        <a:rPr lang="en-US" sz="1050" b="1" dirty="0">
                          <a:solidFill>
                            <a:srgbClr val="1F3864"/>
                          </a:solidFill>
                          <a:latin typeface="Arial" pitchFamily="34" charset="0"/>
                          <a:ea typeface="Arial" pitchFamily="34" charset="-122"/>
                          <a:cs typeface="Arial" pitchFamily="34" charset="-120"/>
                        </a:rPr>
                        <a:t>10</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4:12–20</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indent="0" marL="0">
                        <a:buNone/>
                      </a:pPr>
                      <a:r>
                        <a:rPr lang="en-US" sz="1050" b="1" dirty="0">
                          <a:solidFill>
                            <a:srgbClr val="262626"/>
                          </a:solidFill>
                          <a:latin typeface="Arial" pitchFamily="34" charset="0"/>
                          <a:ea typeface="Arial" pitchFamily="34" charset="-122"/>
                          <a:cs typeface="Arial" pitchFamily="34" charset="-120"/>
                        </a:rPr>
                        <a:t>A Steel Fist in a Velvet Glove</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Paul the pastor pleads: become like me — until Christ is formed in you</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r>
              <a:tr h="411480">
                <a:tc>
                  <a:txBody>
                    <a:bodyPr/>
                    <a:lstStyle/>
                    <a:p>
                      <a:pPr algn="ctr" indent="0" marL="0">
                        <a:buNone/>
                      </a:pPr>
                      <a:r>
                        <a:rPr lang="en-US" sz="1050" b="1" dirty="0">
                          <a:solidFill>
                            <a:srgbClr val="1F3864"/>
                          </a:solidFill>
                          <a:latin typeface="Arial" pitchFamily="34" charset="0"/>
                          <a:ea typeface="Arial" pitchFamily="34" charset="-122"/>
                          <a:cs typeface="Arial" pitchFamily="34" charset="-120"/>
                        </a:rPr>
                        <a:t>11</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4:21–31</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b="1" dirty="0">
                          <a:solidFill>
                            <a:srgbClr val="262626"/>
                          </a:solidFill>
                          <a:latin typeface="Arial" pitchFamily="34" charset="0"/>
                          <a:ea typeface="Arial" pitchFamily="34" charset="-122"/>
                          <a:cs typeface="Arial" pitchFamily="34" charset="-120"/>
                        </a:rPr>
                        <a:t>Paul's Old Testament Story</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Two sons, two covenants: cast out the bondwoman and stand in liberty</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r>
              <a:tr h="411480">
                <a:tc>
                  <a:txBody>
                    <a:bodyPr/>
                    <a:lstStyle/>
                    <a:p>
                      <a:pPr algn="ctr" indent="0" marL="0">
                        <a:buNone/>
                      </a:pPr>
                      <a:r>
                        <a:rPr lang="en-US" sz="1050" b="1" dirty="0">
                          <a:solidFill>
                            <a:srgbClr val="1F3864"/>
                          </a:solidFill>
                          <a:latin typeface="Arial" pitchFamily="34" charset="0"/>
                          <a:ea typeface="Arial" pitchFamily="34" charset="-122"/>
                          <a:cs typeface="Arial" pitchFamily="34" charset="-120"/>
                        </a:rPr>
                        <a:t>12</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5:1–12</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indent="0" marL="0">
                        <a:buNone/>
                      </a:pPr>
                      <a:r>
                        <a:rPr lang="en-US" sz="1050" b="1" dirty="0">
                          <a:solidFill>
                            <a:srgbClr val="262626"/>
                          </a:solidFill>
                          <a:latin typeface="Arial" pitchFamily="34" charset="0"/>
                          <a:ea typeface="Arial" pitchFamily="34" charset="-122"/>
                          <a:cs typeface="Arial" pitchFamily="34" charset="-120"/>
                        </a:rPr>
                        <a:t>Taking a Stand in Liberty</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Stand fast in liberty; adding to grace forfeits its profit</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r>
              <a:tr h="411480">
                <a:tc>
                  <a:txBody>
                    <a:bodyPr/>
                    <a:lstStyle/>
                    <a:p>
                      <a:pPr algn="ctr" indent="0" marL="0">
                        <a:buNone/>
                      </a:pPr>
                      <a:r>
                        <a:rPr lang="en-US" sz="1050" b="1" dirty="0">
                          <a:solidFill>
                            <a:srgbClr val="1F3864"/>
                          </a:solidFill>
                          <a:latin typeface="Arial" pitchFamily="34" charset="0"/>
                          <a:ea typeface="Arial" pitchFamily="34" charset="-122"/>
                          <a:cs typeface="Arial" pitchFamily="34" charset="-120"/>
                        </a:rPr>
                        <a:t>13</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5:13–26</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b="1" dirty="0">
                          <a:solidFill>
                            <a:srgbClr val="262626"/>
                          </a:solidFill>
                          <a:latin typeface="Arial" pitchFamily="34" charset="0"/>
                          <a:ea typeface="Arial" pitchFamily="34" charset="-122"/>
                          <a:cs typeface="Arial" pitchFamily="34" charset="-120"/>
                        </a:rPr>
                        <a:t>Walk in the Spirit</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Liberty is not license; walk in the Spirit, who produces the fruit</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r>
              <a:tr h="411480">
                <a:tc>
                  <a:txBody>
                    <a:bodyPr/>
                    <a:lstStyle/>
                    <a:p>
                      <a:pPr algn="ctr" indent="0" marL="0">
                        <a:buNone/>
                      </a:pPr>
                      <a:r>
                        <a:rPr lang="en-US" sz="1050" b="1" dirty="0">
                          <a:solidFill>
                            <a:srgbClr val="1F3864"/>
                          </a:solidFill>
                          <a:latin typeface="Arial" pitchFamily="34" charset="0"/>
                          <a:ea typeface="Arial" pitchFamily="34" charset="-122"/>
                          <a:cs typeface="Arial" pitchFamily="34" charset="-120"/>
                        </a:rPr>
                        <a:t>14</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6:1–5</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indent="0" marL="0">
                        <a:buNone/>
                      </a:pPr>
                      <a:r>
                        <a:rPr lang="en-US" sz="1050" b="1" dirty="0">
                          <a:solidFill>
                            <a:srgbClr val="262626"/>
                          </a:solidFill>
                          <a:latin typeface="Arial" pitchFamily="34" charset="0"/>
                          <a:ea typeface="Arial" pitchFamily="34" charset="-122"/>
                          <a:cs typeface="Arial" pitchFamily="34" charset="-120"/>
                        </a:rPr>
                        <a:t>Brothers and Burdens</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Restore the fallen gently; each one carries his own load</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r>
              <a:tr h="411480">
                <a:tc>
                  <a:txBody>
                    <a:bodyPr/>
                    <a:lstStyle/>
                    <a:p>
                      <a:pPr algn="ctr" indent="0" marL="0">
                        <a:buNone/>
                      </a:pPr>
                      <a:r>
                        <a:rPr lang="en-US" sz="1050" b="1" dirty="0">
                          <a:solidFill>
                            <a:srgbClr val="1F3864"/>
                          </a:solidFill>
                          <a:latin typeface="Arial" pitchFamily="34" charset="0"/>
                          <a:ea typeface="Arial" pitchFamily="34" charset="-122"/>
                          <a:cs typeface="Arial" pitchFamily="34" charset="-120"/>
                        </a:rPr>
                        <a:t>15</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6:6–10</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b="1" dirty="0">
                          <a:solidFill>
                            <a:srgbClr val="262626"/>
                          </a:solidFill>
                          <a:latin typeface="Arial" pitchFamily="34" charset="0"/>
                          <a:ea typeface="Arial" pitchFamily="34" charset="-122"/>
                          <a:cs typeface="Arial" pitchFamily="34" charset="-120"/>
                        </a:rPr>
                        <a:t>Sowing and Reaping</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God is not mocked: sow to the Spirit and don't grow weary</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r>
              <a:tr h="411480">
                <a:tc>
                  <a:txBody>
                    <a:bodyPr/>
                    <a:lstStyle/>
                    <a:p>
                      <a:pPr algn="ctr" indent="0" marL="0">
                        <a:buNone/>
                      </a:pPr>
                      <a:r>
                        <a:rPr lang="en-US" sz="1050" b="1" dirty="0">
                          <a:solidFill>
                            <a:srgbClr val="1F3864"/>
                          </a:solidFill>
                          <a:latin typeface="Arial" pitchFamily="34" charset="0"/>
                          <a:ea typeface="Arial" pitchFamily="34" charset="-122"/>
                          <a:cs typeface="Arial" pitchFamily="34" charset="-120"/>
                        </a:rPr>
                        <a:t>16</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6:11–18</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indent="0" marL="0">
                        <a:buNone/>
                      </a:pPr>
                      <a:r>
                        <a:rPr lang="en-US" sz="1050" b="1" dirty="0">
                          <a:solidFill>
                            <a:srgbClr val="262626"/>
                          </a:solidFill>
                          <a:latin typeface="Arial" pitchFamily="34" charset="0"/>
                          <a:ea typeface="Arial" pitchFamily="34" charset="-122"/>
                          <a:cs typeface="Arial" pitchFamily="34" charset="-120"/>
                        </a:rPr>
                        <a:t>Teaching the Truth</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Present the truth persuasively, precisely, plainly, positively, personally</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lstStyle/>
          <a:p>
            <a:pPr indent="0" marL="0">
              <a:buNone/>
            </a:pPr>
            <a:r>
              <a:rPr lang="en-US" sz="1400" dirty="0">
                <a:solidFill>
                  <a:srgbClr val="C9D5EE"/>
                </a:solidFill>
                <a:latin typeface="Arial" pitchFamily="34" charset="0"/>
                <a:ea typeface="Arial" pitchFamily="34" charset="-122"/>
                <a:cs typeface="Arial" pitchFamily="34" charset="-120"/>
              </a:rPr>
              <a:t>Study 1 of 16 · Galatians 1:1–5</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The Ground of Liberty</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t"/>
          <a:lstStyle/>
          <a:p>
            <a:pPr indent="0" marL="0">
              <a:buNone/>
            </a:pPr>
            <a:r>
              <a:rPr lang="en-US" sz="1500" i="1" dirty="0">
                <a:solidFill>
                  <a:srgbClr val="E6ECF7"/>
                </a:solidFill>
                <a:latin typeface="Arial" pitchFamily="34" charset="0"/>
                <a:ea typeface="Arial" pitchFamily="34" charset="-122"/>
                <a:cs typeface="Arial" pitchFamily="34" charset="-120"/>
              </a:rPr>
              <a:t>Paul lays the ground of liberty: his God-given authority as an apostle, and the grace by which believers stand — the very things the Judaizers were undermining.</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Where Galatians fits in Acts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Background III–IV · Date and place of writing</a:t>
            </a:r>
            <a:endParaRPr lang="en-US" sz="1200" dirty="0"/>
          </a:p>
        </p:txBody>
      </p:sp>
      <p:sp>
        <p:nvSpPr>
          <p:cNvPr id="5" name="Shape 2"/>
          <p:cNvSpPr/>
          <p:nvPr/>
        </p:nvSpPr>
        <p:spPr>
          <a:xfrm>
            <a:off x="457200" y="1188720"/>
            <a:ext cx="1481328" cy="2011680"/>
          </a:xfrm>
          <a:prstGeom prst="roundRect">
            <a:avLst>
              <a:gd name="adj" fmla="val 3704"/>
            </a:avLst>
          </a:prstGeom>
          <a:solidFill>
            <a:srgbClr val="F2F6FC"/>
          </a:solidFill>
          <a:ln w="9525">
            <a:solidFill>
              <a:srgbClr val="D5DCEA"/>
            </a:solidFill>
            <a:prstDash val="solid"/>
          </a:ln>
        </p:spPr>
      </p:sp>
      <p:sp>
        <p:nvSpPr>
          <p:cNvPr id="6" name="Shape 3"/>
          <p:cNvSpPr/>
          <p:nvPr/>
        </p:nvSpPr>
        <p:spPr>
          <a:xfrm>
            <a:off x="996696" y="1298448"/>
            <a:ext cx="402336" cy="402336"/>
          </a:xfrm>
          <a:prstGeom prst="ellipse">
            <a:avLst/>
          </a:prstGeom>
          <a:solidFill>
            <a:srgbClr val="2E5496"/>
          </a:solidFill>
          <a:ln w="12700">
            <a:solidFill>
              <a:srgbClr val="2E5496"/>
            </a:solidFill>
            <a:prstDash val="solid"/>
          </a:ln>
        </p:spPr>
      </p:sp>
      <p:sp>
        <p:nvSpPr>
          <p:cNvPr id="7" name="Text 4"/>
          <p:cNvSpPr txBox="1"/>
          <p:nvPr/>
        </p:nvSpPr>
        <p:spPr>
          <a:xfrm>
            <a:off x="996696"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txBox="1"/>
          <p:nvPr/>
        </p:nvSpPr>
        <p:spPr>
          <a:xfrm>
            <a:off x="548640" y="1801368"/>
            <a:ext cx="1298448" cy="292608"/>
          </a:xfrm>
          <a:prstGeom prst="rect">
            <a:avLst/>
          </a:prstGeom>
          <a:noFill/>
          <a:ln/>
        </p:spPr>
        <p:txBody>
          <a:bodyPr wrap="square" lIns="0" tIns="0" rIns="0" bIns="0" rtlCol="0" anchor="t"/>
          <a:lstStyle/>
          <a:p>
            <a:pPr algn="ctr" indent="0" marL="0">
              <a:buNone/>
            </a:pPr>
            <a:r>
              <a:rPr lang="en-US" sz="1200" b="1" dirty="0">
                <a:solidFill>
                  <a:srgbClr val="1F3864"/>
                </a:solidFill>
                <a:latin typeface="Arial" pitchFamily="34" charset="0"/>
                <a:ea typeface="Arial" pitchFamily="34" charset="-122"/>
                <a:cs typeface="Arial" pitchFamily="34" charset="-120"/>
              </a:rPr>
              <a:t>Famine visit</a:t>
            </a:r>
            <a:endParaRPr lang="en-US" sz="1200" dirty="0"/>
          </a:p>
        </p:txBody>
      </p:sp>
      <p:sp>
        <p:nvSpPr>
          <p:cNvPr id="9" name="Text 6"/>
          <p:cNvSpPr txBox="1"/>
          <p:nvPr/>
        </p:nvSpPr>
        <p:spPr>
          <a:xfrm>
            <a:off x="548640" y="2103120"/>
            <a:ext cx="1298448" cy="594360"/>
          </a:xfrm>
          <a:prstGeom prst="rect">
            <a:avLst/>
          </a:prstGeom>
          <a:noFill/>
          <a:ln/>
        </p:spPr>
        <p:txBody>
          <a:bodyPr wrap="square" lIns="0" tIns="0" rIns="0" bIns="0" rtlCol="0" anchor="t"/>
          <a:lstStyle/>
          <a:p>
            <a:pPr algn="ctr" indent="0" marL="0">
              <a:buNone/>
            </a:pPr>
            <a:r>
              <a:rPr lang="en-US" sz="1100" dirty="0">
                <a:solidFill>
                  <a:srgbClr val="262626"/>
                </a:solidFill>
                <a:latin typeface="Arial" pitchFamily="34" charset="0"/>
                <a:ea typeface="Arial" pitchFamily="34" charset="-122"/>
                <a:cs typeface="Arial" pitchFamily="34" charset="-120"/>
              </a:rPr>
              <a:t>Paul and Barnabas carry relief to Jerusalem</a:t>
            </a:r>
            <a:endParaRPr lang="en-US" sz="1100" dirty="0"/>
          </a:p>
        </p:txBody>
      </p:sp>
      <p:sp>
        <p:nvSpPr>
          <p:cNvPr id="10" name="Text 7"/>
          <p:cNvSpPr txBox="1"/>
          <p:nvPr/>
        </p:nvSpPr>
        <p:spPr>
          <a:xfrm>
            <a:off x="548640" y="2724912"/>
            <a:ext cx="1298448" cy="41148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Acts 11:29–30; Gal 2:1–10</a:t>
            </a:r>
            <a:endParaRPr lang="en-US" sz="950" dirty="0"/>
          </a:p>
        </p:txBody>
      </p:sp>
      <p:sp>
        <p:nvSpPr>
          <p:cNvPr id="11" name="Shape 8"/>
          <p:cNvSpPr/>
          <p:nvPr/>
        </p:nvSpPr>
        <p:spPr>
          <a:xfrm>
            <a:off x="1938528" y="2075688"/>
            <a:ext cx="201168" cy="237744"/>
          </a:xfrm>
          <a:prstGeom prst="rightArrow">
            <a:avLst/>
          </a:prstGeom>
          <a:solidFill>
            <a:srgbClr val="6B7280"/>
          </a:solidFill>
          <a:ln w="12700">
            <a:solidFill>
              <a:srgbClr val="6B7280"/>
            </a:solidFill>
            <a:prstDash val="solid"/>
          </a:ln>
        </p:spPr>
      </p:sp>
      <p:sp>
        <p:nvSpPr>
          <p:cNvPr id="12" name="Shape 9"/>
          <p:cNvSpPr/>
          <p:nvPr/>
        </p:nvSpPr>
        <p:spPr>
          <a:xfrm>
            <a:off x="2144268" y="1188720"/>
            <a:ext cx="1481328" cy="2011680"/>
          </a:xfrm>
          <a:prstGeom prst="roundRect">
            <a:avLst>
              <a:gd name="adj" fmla="val 3704"/>
            </a:avLst>
          </a:prstGeom>
          <a:solidFill>
            <a:srgbClr val="F2F6FC"/>
          </a:solidFill>
          <a:ln w="9525">
            <a:solidFill>
              <a:srgbClr val="D5DCEA"/>
            </a:solidFill>
            <a:prstDash val="solid"/>
          </a:ln>
        </p:spPr>
      </p:sp>
      <p:sp>
        <p:nvSpPr>
          <p:cNvPr id="13" name="Shape 10"/>
          <p:cNvSpPr/>
          <p:nvPr/>
        </p:nvSpPr>
        <p:spPr>
          <a:xfrm>
            <a:off x="2683764" y="1298448"/>
            <a:ext cx="402336" cy="402336"/>
          </a:xfrm>
          <a:prstGeom prst="ellipse">
            <a:avLst/>
          </a:prstGeom>
          <a:solidFill>
            <a:srgbClr val="2E5496"/>
          </a:solidFill>
          <a:ln w="12700">
            <a:solidFill>
              <a:srgbClr val="2E5496"/>
            </a:solidFill>
            <a:prstDash val="solid"/>
          </a:ln>
        </p:spPr>
      </p:sp>
      <p:sp>
        <p:nvSpPr>
          <p:cNvPr id="14" name="Text 11"/>
          <p:cNvSpPr txBox="1"/>
          <p:nvPr/>
        </p:nvSpPr>
        <p:spPr>
          <a:xfrm>
            <a:off x="2683764"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5" name="Text 12"/>
          <p:cNvSpPr txBox="1"/>
          <p:nvPr/>
        </p:nvSpPr>
        <p:spPr>
          <a:xfrm>
            <a:off x="2235708" y="1801368"/>
            <a:ext cx="1298448" cy="292608"/>
          </a:xfrm>
          <a:prstGeom prst="rect">
            <a:avLst/>
          </a:prstGeom>
          <a:noFill/>
          <a:ln/>
        </p:spPr>
        <p:txBody>
          <a:bodyPr wrap="square" lIns="0" tIns="0" rIns="0" bIns="0" rtlCol="0" anchor="t"/>
          <a:lstStyle/>
          <a:p>
            <a:pPr algn="ctr" indent="0" marL="0">
              <a:buNone/>
            </a:pPr>
            <a:r>
              <a:rPr lang="en-US" sz="1200" b="1" dirty="0">
                <a:solidFill>
                  <a:srgbClr val="1F3864"/>
                </a:solidFill>
                <a:latin typeface="Arial" pitchFamily="34" charset="0"/>
                <a:ea typeface="Arial" pitchFamily="34" charset="-122"/>
                <a:cs typeface="Arial" pitchFamily="34" charset="-120"/>
              </a:rPr>
              <a:t>Back to Antioch</a:t>
            </a:r>
            <a:endParaRPr lang="en-US" sz="1200" dirty="0"/>
          </a:p>
        </p:txBody>
      </p:sp>
      <p:sp>
        <p:nvSpPr>
          <p:cNvPr id="16" name="Text 13"/>
          <p:cNvSpPr txBox="1"/>
          <p:nvPr/>
        </p:nvSpPr>
        <p:spPr>
          <a:xfrm>
            <a:off x="2235708" y="2103120"/>
            <a:ext cx="1298448" cy="594360"/>
          </a:xfrm>
          <a:prstGeom prst="rect">
            <a:avLst/>
          </a:prstGeom>
          <a:noFill/>
          <a:ln/>
        </p:spPr>
        <p:txBody>
          <a:bodyPr wrap="square" lIns="0" tIns="0" rIns="0" bIns="0" rtlCol="0" anchor="t"/>
          <a:lstStyle/>
          <a:p>
            <a:pPr algn="ctr" indent="0" marL="0">
              <a:buNone/>
            </a:pPr>
            <a:r>
              <a:rPr lang="en-US" sz="1100" dirty="0">
                <a:solidFill>
                  <a:srgbClr val="262626"/>
                </a:solidFill>
                <a:latin typeface="Arial" pitchFamily="34" charset="0"/>
                <a:ea typeface="Arial" pitchFamily="34" charset="-122"/>
                <a:cs typeface="Arial" pitchFamily="34" charset="-120"/>
              </a:rPr>
              <a:t>Return from the first missionary journey</a:t>
            </a:r>
            <a:endParaRPr lang="en-US" sz="1100" dirty="0"/>
          </a:p>
        </p:txBody>
      </p:sp>
      <p:sp>
        <p:nvSpPr>
          <p:cNvPr id="17" name="Text 14"/>
          <p:cNvSpPr txBox="1"/>
          <p:nvPr/>
        </p:nvSpPr>
        <p:spPr>
          <a:xfrm>
            <a:off x="2235708" y="2724912"/>
            <a:ext cx="1298448" cy="41148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Antioch in Syria</a:t>
            </a:r>
            <a:endParaRPr lang="en-US" sz="950" dirty="0"/>
          </a:p>
        </p:txBody>
      </p:sp>
      <p:sp>
        <p:nvSpPr>
          <p:cNvPr id="18" name="Shape 15"/>
          <p:cNvSpPr/>
          <p:nvPr/>
        </p:nvSpPr>
        <p:spPr>
          <a:xfrm>
            <a:off x="3625596" y="2075688"/>
            <a:ext cx="201168" cy="237744"/>
          </a:xfrm>
          <a:prstGeom prst="rightArrow">
            <a:avLst/>
          </a:prstGeom>
          <a:solidFill>
            <a:srgbClr val="6B7280"/>
          </a:solidFill>
          <a:ln w="12700">
            <a:solidFill>
              <a:srgbClr val="6B7280"/>
            </a:solidFill>
            <a:prstDash val="solid"/>
          </a:ln>
        </p:spPr>
      </p:sp>
      <p:sp>
        <p:nvSpPr>
          <p:cNvPr id="19" name="Shape 16"/>
          <p:cNvSpPr/>
          <p:nvPr/>
        </p:nvSpPr>
        <p:spPr>
          <a:xfrm>
            <a:off x="3831336" y="1188720"/>
            <a:ext cx="1481328" cy="2011680"/>
          </a:xfrm>
          <a:prstGeom prst="roundRect">
            <a:avLst>
              <a:gd name="adj" fmla="val 3704"/>
            </a:avLst>
          </a:prstGeom>
          <a:solidFill>
            <a:srgbClr val="F2F6FC"/>
          </a:solidFill>
          <a:ln w="9525">
            <a:solidFill>
              <a:srgbClr val="D5DCEA"/>
            </a:solidFill>
            <a:prstDash val="solid"/>
          </a:ln>
        </p:spPr>
      </p:sp>
      <p:sp>
        <p:nvSpPr>
          <p:cNvPr id="20" name="Shape 17"/>
          <p:cNvSpPr/>
          <p:nvPr/>
        </p:nvSpPr>
        <p:spPr>
          <a:xfrm>
            <a:off x="4370832" y="1298448"/>
            <a:ext cx="402336" cy="402336"/>
          </a:xfrm>
          <a:prstGeom prst="ellipse">
            <a:avLst/>
          </a:prstGeom>
          <a:solidFill>
            <a:srgbClr val="2E5496"/>
          </a:solidFill>
          <a:ln w="12700">
            <a:solidFill>
              <a:srgbClr val="2E5496"/>
            </a:solidFill>
            <a:prstDash val="solid"/>
          </a:ln>
        </p:spPr>
      </p:sp>
      <p:sp>
        <p:nvSpPr>
          <p:cNvPr id="21" name="Text 18"/>
          <p:cNvSpPr txBox="1"/>
          <p:nvPr/>
        </p:nvSpPr>
        <p:spPr>
          <a:xfrm>
            <a:off x="4370832"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t>
            </a:r>
            <a:endParaRPr lang="en-US" sz="1300" dirty="0"/>
          </a:p>
        </p:txBody>
      </p:sp>
      <p:sp>
        <p:nvSpPr>
          <p:cNvPr id="22" name="Text 19"/>
          <p:cNvSpPr txBox="1"/>
          <p:nvPr/>
        </p:nvSpPr>
        <p:spPr>
          <a:xfrm>
            <a:off x="3922776" y="1801368"/>
            <a:ext cx="1298448" cy="292608"/>
          </a:xfrm>
          <a:prstGeom prst="rect">
            <a:avLst/>
          </a:prstGeom>
          <a:noFill/>
          <a:ln/>
        </p:spPr>
        <p:txBody>
          <a:bodyPr wrap="square" lIns="0" tIns="0" rIns="0" bIns="0" rtlCol="0" anchor="t"/>
          <a:lstStyle/>
          <a:p>
            <a:pPr algn="ctr" indent="0" marL="0">
              <a:buNone/>
            </a:pPr>
            <a:r>
              <a:rPr lang="en-US" sz="1200" b="1" dirty="0">
                <a:solidFill>
                  <a:srgbClr val="1F3864"/>
                </a:solidFill>
                <a:latin typeface="Arial" pitchFamily="34" charset="0"/>
                <a:ea typeface="Arial" pitchFamily="34" charset="-122"/>
                <a:cs typeface="Arial" pitchFamily="34" charset="-120"/>
              </a:rPr>
              <a:t>Reports arrive</a:t>
            </a:r>
            <a:endParaRPr lang="en-US" sz="1200" dirty="0"/>
          </a:p>
        </p:txBody>
      </p:sp>
      <p:sp>
        <p:nvSpPr>
          <p:cNvPr id="23" name="Text 20"/>
          <p:cNvSpPr txBox="1"/>
          <p:nvPr/>
        </p:nvSpPr>
        <p:spPr>
          <a:xfrm>
            <a:off x="3922776" y="2103120"/>
            <a:ext cx="1298448" cy="594360"/>
          </a:xfrm>
          <a:prstGeom prst="rect">
            <a:avLst/>
          </a:prstGeom>
          <a:noFill/>
          <a:ln/>
        </p:spPr>
        <p:txBody>
          <a:bodyPr wrap="square" lIns="0" tIns="0" rIns="0" bIns="0" rtlCol="0" anchor="t"/>
          <a:lstStyle/>
          <a:p>
            <a:pPr algn="ctr" indent="0" marL="0">
              <a:buNone/>
            </a:pPr>
            <a:r>
              <a:rPr lang="en-US" sz="1100" dirty="0">
                <a:solidFill>
                  <a:srgbClr val="262626"/>
                </a:solidFill>
                <a:latin typeface="Arial" pitchFamily="34" charset="0"/>
                <a:ea typeface="Arial" pitchFamily="34" charset="-122"/>
                <a:cs typeface="Arial" pitchFamily="34" charset="-120"/>
              </a:rPr>
              <a:t>Judaizers are ravaging the Galatian churches</a:t>
            </a:r>
            <a:endParaRPr lang="en-US" sz="1100" dirty="0"/>
          </a:p>
        </p:txBody>
      </p:sp>
      <p:sp>
        <p:nvSpPr>
          <p:cNvPr id="24" name="Text 21"/>
          <p:cNvSpPr txBox="1"/>
          <p:nvPr/>
        </p:nvSpPr>
        <p:spPr>
          <a:xfrm>
            <a:off x="3922776" y="2724912"/>
            <a:ext cx="1298448" cy="41148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Galatia</a:t>
            </a:r>
            <a:endParaRPr lang="en-US" sz="950" dirty="0"/>
          </a:p>
        </p:txBody>
      </p:sp>
      <p:sp>
        <p:nvSpPr>
          <p:cNvPr id="25" name="Shape 22"/>
          <p:cNvSpPr/>
          <p:nvPr/>
        </p:nvSpPr>
        <p:spPr>
          <a:xfrm>
            <a:off x="5312664" y="2075688"/>
            <a:ext cx="201168" cy="237744"/>
          </a:xfrm>
          <a:prstGeom prst="rightArrow">
            <a:avLst/>
          </a:prstGeom>
          <a:solidFill>
            <a:srgbClr val="6B7280"/>
          </a:solidFill>
          <a:ln w="12700">
            <a:solidFill>
              <a:srgbClr val="6B7280"/>
            </a:solidFill>
            <a:prstDash val="solid"/>
          </a:ln>
        </p:spPr>
      </p:sp>
      <p:sp>
        <p:nvSpPr>
          <p:cNvPr id="26" name="Shape 23"/>
          <p:cNvSpPr/>
          <p:nvPr/>
        </p:nvSpPr>
        <p:spPr>
          <a:xfrm>
            <a:off x="5518404" y="1188720"/>
            <a:ext cx="1481328" cy="2011680"/>
          </a:xfrm>
          <a:prstGeom prst="roundRect">
            <a:avLst>
              <a:gd name="adj" fmla="val 3704"/>
            </a:avLst>
          </a:prstGeom>
          <a:solidFill>
            <a:srgbClr val="1F3864"/>
          </a:solidFill>
          <a:ln w="9525">
            <a:solidFill>
              <a:srgbClr val="1F3864"/>
            </a:solidFill>
            <a:prstDash val="solid"/>
          </a:ln>
        </p:spPr>
      </p:sp>
      <p:sp>
        <p:nvSpPr>
          <p:cNvPr id="27" name="Shape 24"/>
          <p:cNvSpPr/>
          <p:nvPr/>
        </p:nvSpPr>
        <p:spPr>
          <a:xfrm>
            <a:off x="6057900" y="1298448"/>
            <a:ext cx="402336" cy="402336"/>
          </a:xfrm>
          <a:prstGeom prst="ellipse">
            <a:avLst/>
          </a:prstGeom>
          <a:solidFill>
            <a:srgbClr val="FFFFFF"/>
          </a:solidFill>
          <a:ln w="12700">
            <a:solidFill>
              <a:srgbClr val="FFFFFF"/>
            </a:solidFill>
            <a:prstDash val="solid"/>
          </a:ln>
        </p:spPr>
      </p:sp>
      <p:sp>
        <p:nvSpPr>
          <p:cNvPr id="28" name="Text 25"/>
          <p:cNvSpPr txBox="1"/>
          <p:nvPr/>
        </p:nvSpPr>
        <p:spPr>
          <a:xfrm>
            <a:off x="6057900"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D</a:t>
            </a:r>
            <a:endParaRPr lang="en-US" sz="1300" dirty="0"/>
          </a:p>
        </p:txBody>
      </p:sp>
      <p:sp>
        <p:nvSpPr>
          <p:cNvPr id="29" name="Text 26"/>
          <p:cNvSpPr txBox="1"/>
          <p:nvPr/>
        </p:nvSpPr>
        <p:spPr>
          <a:xfrm>
            <a:off x="5609844" y="1801368"/>
            <a:ext cx="1298448" cy="29260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Paul writes</a:t>
            </a:r>
            <a:endParaRPr lang="en-US" sz="1200" dirty="0"/>
          </a:p>
        </p:txBody>
      </p:sp>
      <p:sp>
        <p:nvSpPr>
          <p:cNvPr id="30" name="Text 27"/>
          <p:cNvSpPr txBox="1"/>
          <p:nvPr/>
        </p:nvSpPr>
        <p:spPr>
          <a:xfrm>
            <a:off x="5609844" y="2103120"/>
            <a:ext cx="1298448" cy="594360"/>
          </a:xfrm>
          <a:prstGeom prst="rect">
            <a:avLst/>
          </a:prstGeom>
          <a:noFill/>
          <a:ln/>
        </p:spPr>
        <p:txBody>
          <a:bodyPr wrap="square" lIns="0" tIns="0" rIns="0" bIns="0" rtlCol="0" anchor="t"/>
          <a:lstStyle/>
          <a:p>
            <a:pPr algn="ctr" indent="0" marL="0">
              <a:buNone/>
            </a:pPr>
            <a:r>
              <a:rPr lang="en-US" sz="1100" dirty="0">
                <a:solidFill>
                  <a:srgbClr val="FFFFFF"/>
                </a:solidFill>
                <a:latin typeface="Arial" pitchFamily="34" charset="0"/>
                <a:ea typeface="Arial" pitchFamily="34" charset="-122"/>
                <a:cs typeface="Arial" pitchFamily="34" charset="-120"/>
              </a:rPr>
              <a:t>The Epistle to the Galatians</a:t>
            </a:r>
            <a:endParaRPr lang="en-US" sz="1100" dirty="0"/>
          </a:p>
        </p:txBody>
      </p:sp>
      <p:sp>
        <p:nvSpPr>
          <p:cNvPr id="31" name="Text 28"/>
          <p:cNvSpPr txBox="1"/>
          <p:nvPr/>
        </p:nvSpPr>
        <p:spPr>
          <a:xfrm>
            <a:off x="5609844" y="2724912"/>
            <a:ext cx="1298448" cy="411480"/>
          </a:xfrm>
          <a:prstGeom prst="rect">
            <a:avLst/>
          </a:prstGeom>
          <a:noFill/>
          <a:ln/>
        </p:spPr>
        <p:txBody>
          <a:bodyPr wrap="square" lIns="0" tIns="0" rIns="0" bIns="0" rtlCol="0" anchor="t"/>
          <a:lstStyle/>
          <a:p>
            <a:pPr algn="ctr" indent="0" marL="0">
              <a:buNone/>
            </a:pPr>
            <a:r>
              <a:rPr lang="en-US" sz="950" i="1" dirty="0">
                <a:solidFill>
                  <a:srgbClr val="DCE4F2"/>
                </a:solidFill>
                <a:latin typeface="Arial" pitchFamily="34" charset="0"/>
                <a:ea typeface="Arial" pitchFamily="34" charset="-122"/>
                <a:cs typeface="Arial" pitchFamily="34" charset="-120"/>
              </a:rPr>
              <a:t>A.D. 48 · his first epistle</a:t>
            </a:r>
            <a:endParaRPr lang="en-US" sz="950" dirty="0"/>
          </a:p>
        </p:txBody>
      </p:sp>
      <p:sp>
        <p:nvSpPr>
          <p:cNvPr id="32" name="Shape 29"/>
          <p:cNvSpPr/>
          <p:nvPr/>
        </p:nvSpPr>
        <p:spPr>
          <a:xfrm>
            <a:off x="6999732" y="2075688"/>
            <a:ext cx="201168" cy="237744"/>
          </a:xfrm>
          <a:prstGeom prst="rightArrow">
            <a:avLst/>
          </a:prstGeom>
          <a:solidFill>
            <a:srgbClr val="6B7280"/>
          </a:solidFill>
          <a:ln w="12700">
            <a:solidFill>
              <a:srgbClr val="6B7280"/>
            </a:solidFill>
            <a:prstDash val="solid"/>
          </a:ln>
        </p:spPr>
      </p:sp>
      <p:sp>
        <p:nvSpPr>
          <p:cNvPr id="33" name="Shape 30"/>
          <p:cNvSpPr/>
          <p:nvPr/>
        </p:nvSpPr>
        <p:spPr>
          <a:xfrm>
            <a:off x="7205472" y="1188720"/>
            <a:ext cx="1481328" cy="2011680"/>
          </a:xfrm>
          <a:prstGeom prst="roundRect">
            <a:avLst>
              <a:gd name="adj" fmla="val 3704"/>
            </a:avLst>
          </a:prstGeom>
          <a:solidFill>
            <a:srgbClr val="F2F6FC"/>
          </a:solidFill>
          <a:ln w="9525">
            <a:solidFill>
              <a:srgbClr val="D5DCEA"/>
            </a:solidFill>
            <a:prstDash val="solid"/>
          </a:ln>
        </p:spPr>
      </p:sp>
      <p:sp>
        <p:nvSpPr>
          <p:cNvPr id="34" name="Shape 31"/>
          <p:cNvSpPr/>
          <p:nvPr/>
        </p:nvSpPr>
        <p:spPr>
          <a:xfrm>
            <a:off x="7744968" y="1298448"/>
            <a:ext cx="402336" cy="402336"/>
          </a:xfrm>
          <a:prstGeom prst="ellipse">
            <a:avLst/>
          </a:prstGeom>
          <a:solidFill>
            <a:srgbClr val="2E5496"/>
          </a:solidFill>
          <a:ln w="12700">
            <a:solidFill>
              <a:srgbClr val="2E5496"/>
            </a:solidFill>
            <a:prstDash val="solid"/>
          </a:ln>
        </p:spPr>
      </p:sp>
      <p:sp>
        <p:nvSpPr>
          <p:cNvPr id="35" name="Text 32"/>
          <p:cNvSpPr txBox="1"/>
          <p:nvPr/>
        </p:nvSpPr>
        <p:spPr>
          <a:xfrm>
            <a:off x="7744968"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E</a:t>
            </a:r>
            <a:endParaRPr lang="en-US" sz="1300" dirty="0"/>
          </a:p>
        </p:txBody>
      </p:sp>
      <p:sp>
        <p:nvSpPr>
          <p:cNvPr id="36" name="Text 33"/>
          <p:cNvSpPr txBox="1"/>
          <p:nvPr/>
        </p:nvSpPr>
        <p:spPr>
          <a:xfrm>
            <a:off x="7296912" y="1801368"/>
            <a:ext cx="1298448" cy="292608"/>
          </a:xfrm>
          <a:prstGeom prst="rect">
            <a:avLst/>
          </a:prstGeom>
          <a:noFill/>
          <a:ln/>
        </p:spPr>
        <p:txBody>
          <a:bodyPr wrap="square" lIns="0" tIns="0" rIns="0" bIns="0" rtlCol="0" anchor="t"/>
          <a:lstStyle/>
          <a:p>
            <a:pPr algn="ctr" indent="0" marL="0">
              <a:buNone/>
            </a:pPr>
            <a:r>
              <a:rPr lang="en-US" sz="1200" b="1" dirty="0">
                <a:solidFill>
                  <a:srgbClr val="1F3864"/>
                </a:solidFill>
                <a:latin typeface="Arial" pitchFamily="34" charset="0"/>
                <a:ea typeface="Arial" pitchFamily="34" charset="-122"/>
                <a:cs typeface="Arial" pitchFamily="34" charset="-120"/>
              </a:rPr>
              <a:t>Council meets</a:t>
            </a:r>
            <a:endParaRPr lang="en-US" sz="1200" dirty="0"/>
          </a:p>
        </p:txBody>
      </p:sp>
      <p:sp>
        <p:nvSpPr>
          <p:cNvPr id="37" name="Text 34"/>
          <p:cNvSpPr txBox="1"/>
          <p:nvPr/>
        </p:nvSpPr>
        <p:spPr>
          <a:xfrm>
            <a:off x="7296912" y="2103120"/>
            <a:ext cx="1298448" cy="594360"/>
          </a:xfrm>
          <a:prstGeom prst="rect">
            <a:avLst/>
          </a:prstGeom>
          <a:noFill/>
          <a:ln/>
        </p:spPr>
        <p:txBody>
          <a:bodyPr wrap="square" lIns="0" tIns="0" rIns="0" bIns="0" rtlCol="0" anchor="t"/>
          <a:lstStyle/>
          <a:p>
            <a:pPr algn="ctr" indent="0" marL="0">
              <a:buNone/>
            </a:pPr>
            <a:r>
              <a:rPr lang="en-US" sz="1100" dirty="0">
                <a:solidFill>
                  <a:srgbClr val="262626"/>
                </a:solidFill>
                <a:latin typeface="Arial" pitchFamily="34" charset="0"/>
                <a:ea typeface="Arial" pitchFamily="34" charset="-122"/>
                <a:cs typeface="Arial" pitchFamily="34" charset="-120"/>
              </a:rPr>
              <a:t>The law-and-grace question settled</a:t>
            </a:r>
            <a:endParaRPr lang="en-US" sz="1100" dirty="0"/>
          </a:p>
        </p:txBody>
      </p:sp>
      <p:sp>
        <p:nvSpPr>
          <p:cNvPr id="38" name="Text 35"/>
          <p:cNvSpPr txBox="1"/>
          <p:nvPr/>
        </p:nvSpPr>
        <p:spPr>
          <a:xfrm>
            <a:off x="7296912" y="2724912"/>
            <a:ext cx="1298448" cy="41148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Acts 15 · A.D. 49/50</a:t>
            </a:r>
            <a:endParaRPr lang="en-US" sz="950" dirty="0"/>
          </a:p>
        </p:txBody>
      </p:sp>
      <p:sp>
        <p:nvSpPr>
          <p:cNvPr id="39" name="Shape 36"/>
          <p:cNvSpPr/>
          <p:nvPr/>
        </p:nvSpPr>
        <p:spPr>
          <a:xfrm>
            <a:off x="457200" y="3383280"/>
            <a:ext cx="4023360" cy="365760"/>
          </a:xfrm>
          <a:prstGeom prst="rect">
            <a:avLst/>
          </a:prstGeom>
          <a:solidFill>
            <a:srgbClr val="2E5496"/>
          </a:solidFill>
          <a:ln w="12700">
            <a:solidFill>
              <a:srgbClr val="2E5496"/>
            </a:solidFill>
            <a:prstDash val="solid"/>
          </a:ln>
        </p:spPr>
      </p:sp>
      <p:sp>
        <p:nvSpPr>
          <p:cNvPr id="40" name="Text 37"/>
          <p:cNvSpPr txBox="1"/>
          <p:nvPr/>
        </p:nvSpPr>
        <p:spPr>
          <a:xfrm>
            <a:off x="548640" y="3429000"/>
            <a:ext cx="3840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Recipients — South Galatia</a:t>
            </a:r>
            <a:endParaRPr lang="en-US" sz="1200" dirty="0"/>
          </a:p>
        </p:txBody>
      </p:sp>
      <p:sp>
        <p:nvSpPr>
          <p:cNvPr id="41" name="Shape 38"/>
          <p:cNvSpPr/>
          <p:nvPr/>
        </p:nvSpPr>
        <p:spPr>
          <a:xfrm>
            <a:off x="457200" y="3749040"/>
            <a:ext cx="4023360" cy="868680"/>
          </a:xfrm>
          <a:prstGeom prst="rect">
            <a:avLst/>
          </a:prstGeom>
          <a:solidFill>
            <a:srgbClr val="F2F6FC"/>
          </a:solidFill>
          <a:ln w="9525">
            <a:solidFill>
              <a:srgbClr val="D5DCEA"/>
            </a:solidFill>
            <a:prstDash val="solid"/>
          </a:ln>
        </p:spPr>
      </p:sp>
      <p:sp>
        <p:nvSpPr>
          <p:cNvPr id="42" name="Text 39"/>
          <p:cNvSpPr txBox="1"/>
          <p:nvPr/>
        </p:nvSpPr>
        <p:spPr>
          <a:xfrm>
            <a:off x="548640" y="3822192"/>
            <a:ext cx="3840480" cy="740664"/>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The churches of the first journey: Derbe, Lystra, Iconium, Antioch (in Pisidia)</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A group epistle — “to the churches” (1:2)</a:t>
            </a:r>
            <a:endParaRPr lang="en-US" sz="1300" dirty="0"/>
          </a:p>
        </p:txBody>
      </p:sp>
      <p:sp>
        <p:nvSpPr>
          <p:cNvPr id="43" name="Shape 40"/>
          <p:cNvSpPr/>
          <p:nvPr/>
        </p:nvSpPr>
        <p:spPr>
          <a:xfrm>
            <a:off x="4663440" y="3383280"/>
            <a:ext cx="4023360" cy="365760"/>
          </a:xfrm>
          <a:prstGeom prst="rect">
            <a:avLst/>
          </a:prstGeom>
          <a:solidFill>
            <a:srgbClr val="2E5496"/>
          </a:solidFill>
          <a:ln w="12700">
            <a:solidFill>
              <a:srgbClr val="2E5496"/>
            </a:solidFill>
            <a:prstDash val="solid"/>
          </a:ln>
        </p:spPr>
      </p:sp>
      <p:sp>
        <p:nvSpPr>
          <p:cNvPr id="44" name="Text 41"/>
          <p:cNvSpPr txBox="1"/>
          <p:nvPr/>
        </p:nvSpPr>
        <p:spPr>
          <a:xfrm>
            <a:off x="4754880" y="3429000"/>
            <a:ext cx="3840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Written from Antioch in Syria</a:t>
            </a:r>
            <a:endParaRPr lang="en-US" sz="1200" dirty="0"/>
          </a:p>
        </p:txBody>
      </p:sp>
      <p:sp>
        <p:nvSpPr>
          <p:cNvPr id="45" name="Shape 42"/>
          <p:cNvSpPr/>
          <p:nvPr/>
        </p:nvSpPr>
        <p:spPr>
          <a:xfrm>
            <a:off x="4663440" y="3749040"/>
            <a:ext cx="4023360" cy="868680"/>
          </a:xfrm>
          <a:prstGeom prst="rect">
            <a:avLst/>
          </a:prstGeom>
          <a:solidFill>
            <a:srgbClr val="F2F6FC"/>
          </a:solidFill>
          <a:ln w="9525">
            <a:solidFill>
              <a:srgbClr val="D5DCEA"/>
            </a:solidFill>
            <a:prstDash val="solid"/>
          </a:ln>
        </p:spPr>
      </p:sp>
      <p:sp>
        <p:nvSpPr>
          <p:cNvPr id="46" name="Text 43"/>
          <p:cNvSpPr txBox="1"/>
          <p:nvPr/>
        </p:nvSpPr>
        <p:spPr>
          <a:xfrm>
            <a:off x="4754880" y="3822192"/>
            <a:ext cx="3840480" cy="740664"/>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Paul's home church and base for several years</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Before the council — so the council's letter is never cited</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Why South Galatia?</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Background II · The recipients</a:t>
            </a:r>
            <a:endParaRPr lang="en-US" sz="1200" dirty="0"/>
          </a:p>
        </p:txBody>
      </p:sp>
      <p:sp>
        <p:nvSpPr>
          <p:cNvPr id="5" name="Shape 2"/>
          <p:cNvSpPr/>
          <p:nvPr/>
        </p:nvSpPr>
        <p:spPr>
          <a:xfrm>
            <a:off x="457200" y="1188720"/>
            <a:ext cx="3931920" cy="365760"/>
          </a:xfrm>
          <a:prstGeom prst="rect">
            <a:avLst/>
          </a:prstGeom>
          <a:solidFill>
            <a:srgbClr val="6B7280"/>
          </a:solidFill>
          <a:ln w="12700">
            <a:solidFill>
              <a:srgbClr val="6B7280"/>
            </a:solidFill>
            <a:prstDash val="solid"/>
          </a:ln>
        </p:spPr>
      </p:sp>
      <p:sp>
        <p:nvSpPr>
          <p:cNvPr id="6" name="Text 3"/>
          <p:cNvSpPr txBox="1"/>
          <p:nvPr/>
        </p:nvSpPr>
        <p:spPr>
          <a:xfrm>
            <a:off x="548640" y="1234440"/>
            <a:ext cx="374904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North Galatia</a:t>
            </a:r>
            <a:endParaRPr lang="en-US" sz="1200" dirty="0"/>
          </a:p>
        </p:txBody>
      </p:sp>
      <p:sp>
        <p:nvSpPr>
          <p:cNvPr id="7" name="Shape 4"/>
          <p:cNvSpPr/>
          <p:nvPr/>
        </p:nvSpPr>
        <p:spPr>
          <a:xfrm>
            <a:off x="457200" y="1554480"/>
            <a:ext cx="3931920" cy="1783080"/>
          </a:xfrm>
          <a:prstGeom prst="rect">
            <a:avLst/>
          </a:prstGeom>
          <a:solidFill>
            <a:srgbClr val="F2F6FC"/>
          </a:solidFill>
          <a:ln w="9525">
            <a:solidFill>
              <a:srgbClr val="D5DCEA"/>
            </a:solidFill>
            <a:prstDash val="solid"/>
          </a:ln>
        </p:spPr>
      </p:sp>
      <p:sp>
        <p:nvSpPr>
          <p:cNvPr id="8" name="Text 5"/>
          <p:cNvSpPr txBox="1"/>
          <p:nvPr/>
        </p:nvSpPr>
        <p:spPr>
          <a:xfrm>
            <a:off x="548640" y="1627632"/>
            <a:ext cx="3749040" cy="1655064"/>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Upper region of Asia Minor</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Paul did not go there until the second missionary journey</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The letter could then be no earlier than about A.D. 53–54</a:t>
            </a:r>
            <a:endParaRPr lang="en-US" sz="1300" dirty="0"/>
          </a:p>
        </p:txBody>
      </p:sp>
      <p:sp>
        <p:nvSpPr>
          <p:cNvPr id="9" name="Shape 6"/>
          <p:cNvSpPr/>
          <p:nvPr/>
        </p:nvSpPr>
        <p:spPr>
          <a:xfrm>
            <a:off x="4754880" y="1188720"/>
            <a:ext cx="3931920" cy="365760"/>
          </a:xfrm>
          <a:prstGeom prst="rect">
            <a:avLst/>
          </a:prstGeom>
          <a:solidFill>
            <a:srgbClr val="375623"/>
          </a:solidFill>
          <a:ln w="12700">
            <a:solidFill>
              <a:srgbClr val="375623"/>
            </a:solidFill>
            <a:prstDash val="solid"/>
          </a:ln>
        </p:spPr>
      </p:sp>
      <p:sp>
        <p:nvSpPr>
          <p:cNvPr id="10" name="Text 7"/>
          <p:cNvSpPr txBox="1"/>
          <p:nvPr/>
        </p:nvSpPr>
        <p:spPr>
          <a:xfrm>
            <a:off x="4846320" y="1234440"/>
            <a:ext cx="374904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South Galatia  ✓  commentary's view</a:t>
            </a:r>
            <a:endParaRPr lang="en-US" sz="1200" dirty="0"/>
          </a:p>
        </p:txBody>
      </p:sp>
      <p:sp>
        <p:nvSpPr>
          <p:cNvPr id="11" name="Shape 8"/>
          <p:cNvSpPr/>
          <p:nvPr/>
        </p:nvSpPr>
        <p:spPr>
          <a:xfrm>
            <a:off x="4754880" y="1554480"/>
            <a:ext cx="3931920" cy="1783080"/>
          </a:xfrm>
          <a:prstGeom prst="rect">
            <a:avLst/>
          </a:prstGeom>
          <a:solidFill>
            <a:srgbClr val="F2F6FC"/>
          </a:solidFill>
          <a:ln w="9525">
            <a:solidFill>
              <a:srgbClr val="D5DCEA"/>
            </a:solidFill>
            <a:prstDash val="solid"/>
          </a:ln>
        </p:spPr>
      </p:sp>
      <p:sp>
        <p:nvSpPr>
          <p:cNvPr id="12" name="Text 9"/>
          <p:cNvSpPr txBox="1"/>
          <p:nvPr/>
        </p:nvSpPr>
        <p:spPr>
          <a:xfrm>
            <a:off x="4846320" y="1627632"/>
            <a:ext cx="3749040" cy="1655064"/>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The churches Paul planted on the first missionary journey</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Derbe, Lystra, Iconium, Antioch in Pisidia</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The letter comes before the council — A.D. 48</a:t>
            </a:r>
            <a:endParaRPr lang="en-US" sz="1300" dirty="0"/>
          </a:p>
        </p:txBody>
      </p:sp>
      <p:sp>
        <p:nvSpPr>
          <p:cNvPr id="13" name="Text 10"/>
          <p:cNvSpPr txBox="1"/>
          <p:nvPr/>
        </p:nvSpPr>
        <p:spPr>
          <a:xfrm>
            <a:off x="4389120" y="2011680"/>
            <a:ext cx="365760" cy="365760"/>
          </a:xfrm>
          <a:prstGeom prst="rect">
            <a:avLst/>
          </a:prstGeom>
          <a:noFill/>
          <a:ln/>
        </p:spPr>
        <p:txBody>
          <a:bodyPr wrap="square" lIns="0" tIns="0" rIns="0" bIns="0" rtlCol="0" anchor="ctr"/>
          <a:lstStyle/>
          <a:p>
            <a:pPr algn="ctr" indent="0" marL="0">
              <a:buNone/>
            </a:pPr>
            <a:r>
              <a:rPr lang="en-US" sz="1400" b="1" dirty="0">
                <a:solidFill>
                  <a:srgbClr val="595959"/>
                </a:solidFill>
                <a:latin typeface="Arial" pitchFamily="34" charset="0"/>
                <a:ea typeface="Arial" pitchFamily="34" charset="-122"/>
                <a:cs typeface="Arial" pitchFamily="34" charset="-120"/>
              </a:rPr>
              <a:t>vs</a:t>
            </a:r>
            <a:endParaRPr lang="en-US" sz="1400" dirty="0"/>
          </a:p>
        </p:txBody>
      </p:sp>
      <p:sp>
        <p:nvSpPr>
          <p:cNvPr id="14" name="Shape 11"/>
          <p:cNvSpPr/>
          <p:nvPr/>
        </p:nvSpPr>
        <p:spPr>
          <a:xfrm>
            <a:off x="457200" y="3566160"/>
            <a:ext cx="8229600" cy="868680"/>
          </a:xfrm>
          <a:prstGeom prst="roundRect">
            <a:avLst>
              <a:gd name="adj" fmla="val 6316"/>
            </a:avLst>
          </a:prstGeom>
          <a:solidFill>
            <a:srgbClr val="1F3864"/>
          </a:solidFill>
          <a:ln w="12700">
            <a:solidFill>
              <a:srgbClr val="1F3864"/>
            </a:solidFill>
            <a:prstDash val="solid"/>
          </a:ln>
        </p:spPr>
      </p:sp>
      <p:sp>
        <p:nvSpPr>
          <p:cNvPr id="15" name="Text 12"/>
          <p:cNvSpPr txBox="1"/>
          <p:nvPr/>
        </p:nvSpPr>
        <p:spPr>
          <a:xfrm>
            <a:off x="621792" y="3566160"/>
            <a:ext cx="7900416" cy="86868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The main reason: no mention of the Jerusalem Council. The council settled this exact issue — Gentiles do not keep the Law for salvation or sanctification. Had it met already, Paul would simply have cited its letter.</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Six characteristics of Galatians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Background V · What sets this letter apart</a:t>
            </a:r>
            <a:endParaRPr lang="en-US" sz="1200" dirty="0"/>
          </a:p>
        </p:txBody>
      </p:sp>
      <p:sp>
        <p:nvSpPr>
          <p:cNvPr id="5" name="Shape 2"/>
          <p:cNvSpPr/>
          <p:nvPr/>
        </p:nvSpPr>
        <p:spPr>
          <a:xfrm>
            <a:off x="457200" y="1188720"/>
            <a:ext cx="2615184" cy="1572768"/>
          </a:xfrm>
          <a:prstGeom prst="rect">
            <a:avLst/>
          </a:prstGeom>
          <a:solidFill>
            <a:srgbClr val="F2F6FC"/>
          </a:solidFill>
          <a:ln w="9525">
            <a:solidFill>
              <a:srgbClr val="D5DCEA"/>
            </a:solidFill>
            <a:prstDash val="solid"/>
          </a:ln>
        </p:spPr>
      </p:sp>
      <p:sp>
        <p:nvSpPr>
          <p:cNvPr id="6" name="Shape 3"/>
          <p:cNvSpPr/>
          <p:nvPr/>
        </p:nvSpPr>
        <p:spPr>
          <a:xfrm>
            <a:off x="594360" y="1325880"/>
            <a:ext cx="420624" cy="420624"/>
          </a:xfrm>
          <a:prstGeom prst="ellipse">
            <a:avLst/>
          </a:prstGeom>
          <a:solidFill>
            <a:srgbClr val="2E5496"/>
          </a:solidFill>
          <a:ln w="12700">
            <a:solidFill>
              <a:srgbClr val="2E5496"/>
            </a:solidFill>
            <a:prstDash val="solid"/>
          </a:ln>
        </p:spPr>
      </p:sp>
      <p:sp>
        <p:nvSpPr>
          <p:cNvPr id="7" name="Text 4"/>
          <p:cNvSpPr txBox="1"/>
          <p:nvPr/>
        </p:nvSpPr>
        <p:spPr>
          <a:xfrm>
            <a:off x="594360"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txBox="1"/>
          <p:nvPr/>
        </p:nvSpPr>
        <p:spPr>
          <a:xfrm>
            <a:off x="1115568" y="1325880"/>
            <a:ext cx="1874520"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Contrasts in feelings</a:t>
            </a:r>
            <a:endParaRPr lang="en-US" sz="1200" dirty="0"/>
          </a:p>
        </p:txBody>
      </p:sp>
      <p:sp>
        <p:nvSpPr>
          <p:cNvPr id="9" name="Text 6"/>
          <p:cNvSpPr txBox="1"/>
          <p:nvPr/>
        </p:nvSpPr>
        <p:spPr>
          <a:xfrm>
            <a:off x="594360" y="1847088"/>
            <a:ext cx="2359152" cy="841248"/>
          </a:xfrm>
          <a:prstGeom prst="rect">
            <a:avLst/>
          </a:prstGeom>
          <a:noFill/>
          <a:ln/>
        </p:spPr>
        <p:txBody>
          <a:bodyPr wrap="square" lIns="0" tIns="0" rIns="0" bIns="0" rtlCol="0" anchor="t"/>
          <a:lstStyle/>
          <a:p>
            <a:pPr indent="0" marL="0">
              <a:buNone/>
            </a:pPr>
            <a:r>
              <a:rPr lang="en-US" sz="1150" dirty="0">
                <a:solidFill>
                  <a:srgbClr val="262626"/>
                </a:solidFill>
                <a:latin typeface="Arial" pitchFamily="34" charset="0"/>
                <a:ea typeface="Arial" pitchFamily="34" charset="-122"/>
                <a:cs typeface="Arial" pitchFamily="34" charset="-120"/>
              </a:rPr>
              <a:t>Great love for the Galatian believers — and a godly hatred of the Judaizers' teaching</a:t>
            </a:r>
            <a:endParaRPr lang="en-US" sz="1150" dirty="0"/>
          </a:p>
        </p:txBody>
      </p:sp>
      <p:sp>
        <p:nvSpPr>
          <p:cNvPr id="10" name="Shape 7"/>
          <p:cNvSpPr/>
          <p:nvPr/>
        </p:nvSpPr>
        <p:spPr>
          <a:xfrm>
            <a:off x="3264408" y="1188720"/>
            <a:ext cx="2615184" cy="1572768"/>
          </a:xfrm>
          <a:prstGeom prst="rect">
            <a:avLst/>
          </a:prstGeom>
          <a:solidFill>
            <a:srgbClr val="F2F6FC"/>
          </a:solidFill>
          <a:ln w="9525">
            <a:solidFill>
              <a:srgbClr val="D5DCEA"/>
            </a:solidFill>
            <a:prstDash val="solid"/>
          </a:ln>
        </p:spPr>
      </p:sp>
      <p:sp>
        <p:nvSpPr>
          <p:cNvPr id="11" name="Shape 8"/>
          <p:cNvSpPr/>
          <p:nvPr/>
        </p:nvSpPr>
        <p:spPr>
          <a:xfrm>
            <a:off x="3401568" y="1325880"/>
            <a:ext cx="420624" cy="420624"/>
          </a:xfrm>
          <a:prstGeom prst="ellipse">
            <a:avLst/>
          </a:prstGeom>
          <a:solidFill>
            <a:srgbClr val="2E5496"/>
          </a:solidFill>
          <a:ln w="12700">
            <a:solidFill>
              <a:srgbClr val="2E5496"/>
            </a:solidFill>
            <a:prstDash val="solid"/>
          </a:ln>
        </p:spPr>
      </p:sp>
      <p:sp>
        <p:nvSpPr>
          <p:cNvPr id="12" name="Text 9"/>
          <p:cNvSpPr txBox="1"/>
          <p:nvPr/>
        </p:nvSpPr>
        <p:spPr>
          <a:xfrm>
            <a:off x="3401568"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3" name="Text 10"/>
          <p:cNvSpPr txBox="1"/>
          <p:nvPr/>
        </p:nvSpPr>
        <p:spPr>
          <a:xfrm>
            <a:off x="3922776" y="1325880"/>
            <a:ext cx="1874520"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A group epistle</a:t>
            </a:r>
            <a:endParaRPr lang="en-US" sz="1200" dirty="0"/>
          </a:p>
        </p:txBody>
      </p:sp>
      <p:sp>
        <p:nvSpPr>
          <p:cNvPr id="14" name="Text 11"/>
          <p:cNvSpPr txBox="1"/>
          <p:nvPr/>
        </p:nvSpPr>
        <p:spPr>
          <a:xfrm>
            <a:off x="3401568" y="1847088"/>
            <a:ext cx="2359152" cy="841248"/>
          </a:xfrm>
          <a:prstGeom prst="rect">
            <a:avLst/>
          </a:prstGeom>
          <a:noFill/>
          <a:ln/>
        </p:spPr>
        <p:txBody>
          <a:bodyPr wrap="square" lIns="0" tIns="0" rIns="0" bIns="0" rtlCol="0" anchor="t"/>
          <a:lstStyle/>
          <a:p>
            <a:pPr indent="0" marL="0">
              <a:buNone/>
            </a:pPr>
            <a:r>
              <a:rPr lang="en-US" sz="1150" dirty="0">
                <a:solidFill>
                  <a:srgbClr val="262626"/>
                </a:solidFill>
                <a:latin typeface="Arial" pitchFamily="34" charset="0"/>
                <a:ea typeface="Arial" pitchFamily="34" charset="-122"/>
                <a:cs typeface="Arial" pitchFamily="34" charset="-120"/>
              </a:rPr>
              <a:t>Like Ephesians, written to a circle of churches, not one congregation</a:t>
            </a:r>
            <a:endParaRPr lang="en-US" sz="1150" dirty="0"/>
          </a:p>
        </p:txBody>
      </p:sp>
      <p:sp>
        <p:nvSpPr>
          <p:cNvPr id="15" name="Shape 12"/>
          <p:cNvSpPr/>
          <p:nvPr/>
        </p:nvSpPr>
        <p:spPr>
          <a:xfrm>
            <a:off x="6071616" y="1188720"/>
            <a:ext cx="2615184" cy="1572768"/>
          </a:xfrm>
          <a:prstGeom prst="rect">
            <a:avLst/>
          </a:prstGeom>
          <a:solidFill>
            <a:srgbClr val="F2F6FC"/>
          </a:solidFill>
          <a:ln w="9525">
            <a:solidFill>
              <a:srgbClr val="D5DCEA"/>
            </a:solidFill>
            <a:prstDash val="solid"/>
          </a:ln>
        </p:spPr>
      </p:sp>
      <p:sp>
        <p:nvSpPr>
          <p:cNvPr id="16" name="Shape 13"/>
          <p:cNvSpPr/>
          <p:nvPr/>
        </p:nvSpPr>
        <p:spPr>
          <a:xfrm>
            <a:off x="6208776" y="1325880"/>
            <a:ext cx="420624" cy="420624"/>
          </a:xfrm>
          <a:prstGeom prst="ellipse">
            <a:avLst/>
          </a:prstGeom>
          <a:solidFill>
            <a:srgbClr val="2E5496"/>
          </a:solidFill>
          <a:ln w="12700">
            <a:solidFill>
              <a:srgbClr val="2E5496"/>
            </a:solidFill>
            <a:prstDash val="solid"/>
          </a:ln>
        </p:spPr>
      </p:sp>
      <p:sp>
        <p:nvSpPr>
          <p:cNvPr id="17" name="Text 14"/>
          <p:cNvSpPr txBox="1"/>
          <p:nvPr/>
        </p:nvSpPr>
        <p:spPr>
          <a:xfrm>
            <a:off x="6208776"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t>
            </a:r>
            <a:endParaRPr lang="en-US" sz="1300" dirty="0"/>
          </a:p>
        </p:txBody>
      </p:sp>
      <p:sp>
        <p:nvSpPr>
          <p:cNvPr id="18" name="Text 15"/>
          <p:cNvSpPr txBox="1"/>
          <p:nvPr/>
        </p:nvSpPr>
        <p:spPr>
          <a:xfrm>
            <a:off x="6729984" y="1325880"/>
            <a:ext cx="1874520"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No thanksgiving</a:t>
            </a:r>
            <a:endParaRPr lang="en-US" sz="1200" dirty="0"/>
          </a:p>
        </p:txBody>
      </p:sp>
      <p:sp>
        <p:nvSpPr>
          <p:cNvPr id="19" name="Text 16"/>
          <p:cNvSpPr txBox="1"/>
          <p:nvPr/>
        </p:nvSpPr>
        <p:spPr>
          <a:xfrm>
            <a:off x="6208776" y="1847088"/>
            <a:ext cx="2359152" cy="841248"/>
          </a:xfrm>
          <a:prstGeom prst="rect">
            <a:avLst/>
          </a:prstGeom>
          <a:noFill/>
          <a:ln/>
        </p:spPr>
        <p:txBody>
          <a:bodyPr wrap="square" lIns="0" tIns="0" rIns="0" bIns="0" rtlCol="0" anchor="t"/>
          <a:lstStyle/>
          <a:p>
            <a:pPr indent="0" marL="0">
              <a:buNone/>
            </a:pPr>
            <a:r>
              <a:rPr lang="en-US" sz="1150" dirty="0">
                <a:solidFill>
                  <a:srgbClr val="262626"/>
                </a:solidFill>
                <a:latin typeface="Arial" pitchFamily="34" charset="0"/>
                <a:ea typeface="Arial" pitchFamily="34" charset="-122"/>
                <a:cs typeface="Arial" pitchFamily="34" charset="-120"/>
              </a:rPr>
              <a:t>The only Pauline letter with no thanksgiving in the salutation</a:t>
            </a:r>
            <a:endParaRPr lang="en-US" sz="1150" dirty="0"/>
          </a:p>
        </p:txBody>
      </p:sp>
      <p:sp>
        <p:nvSpPr>
          <p:cNvPr id="20" name="Shape 17"/>
          <p:cNvSpPr/>
          <p:nvPr/>
        </p:nvSpPr>
        <p:spPr>
          <a:xfrm>
            <a:off x="457200" y="2926080"/>
            <a:ext cx="2615184" cy="1572768"/>
          </a:xfrm>
          <a:prstGeom prst="rect">
            <a:avLst/>
          </a:prstGeom>
          <a:solidFill>
            <a:srgbClr val="F2F6FC"/>
          </a:solidFill>
          <a:ln w="9525">
            <a:solidFill>
              <a:srgbClr val="D5DCEA"/>
            </a:solidFill>
            <a:prstDash val="solid"/>
          </a:ln>
        </p:spPr>
      </p:sp>
      <p:sp>
        <p:nvSpPr>
          <p:cNvPr id="21" name="Shape 18"/>
          <p:cNvSpPr/>
          <p:nvPr/>
        </p:nvSpPr>
        <p:spPr>
          <a:xfrm>
            <a:off x="594360" y="3063240"/>
            <a:ext cx="420624" cy="420624"/>
          </a:xfrm>
          <a:prstGeom prst="ellipse">
            <a:avLst/>
          </a:prstGeom>
          <a:solidFill>
            <a:srgbClr val="2E5496"/>
          </a:solidFill>
          <a:ln w="12700">
            <a:solidFill>
              <a:srgbClr val="2E5496"/>
            </a:solidFill>
            <a:prstDash val="solid"/>
          </a:ln>
        </p:spPr>
      </p:sp>
      <p:sp>
        <p:nvSpPr>
          <p:cNvPr id="22" name="Text 19"/>
          <p:cNvSpPr txBox="1"/>
          <p:nvPr/>
        </p:nvSpPr>
        <p:spPr>
          <a:xfrm>
            <a:off x="594360" y="30632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D</a:t>
            </a:r>
            <a:endParaRPr lang="en-US" sz="1300" dirty="0"/>
          </a:p>
        </p:txBody>
      </p:sp>
      <p:sp>
        <p:nvSpPr>
          <p:cNvPr id="23" name="Text 20"/>
          <p:cNvSpPr txBox="1"/>
          <p:nvPr/>
        </p:nvSpPr>
        <p:spPr>
          <a:xfrm>
            <a:off x="1115568" y="3063240"/>
            <a:ext cx="1874520"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Autobiographical</a:t>
            </a:r>
            <a:endParaRPr lang="en-US" sz="1200" dirty="0"/>
          </a:p>
        </p:txBody>
      </p:sp>
      <p:sp>
        <p:nvSpPr>
          <p:cNvPr id="24" name="Text 21"/>
          <p:cNvSpPr txBox="1"/>
          <p:nvPr/>
        </p:nvSpPr>
        <p:spPr>
          <a:xfrm>
            <a:off x="594360" y="3584448"/>
            <a:ext cx="2359152" cy="841248"/>
          </a:xfrm>
          <a:prstGeom prst="rect">
            <a:avLst/>
          </a:prstGeom>
          <a:noFill/>
          <a:ln/>
        </p:spPr>
        <p:txBody>
          <a:bodyPr wrap="square" lIns="0" tIns="0" rIns="0" bIns="0" rtlCol="0" anchor="t"/>
          <a:lstStyle/>
          <a:p>
            <a:pPr indent="0" marL="0">
              <a:buNone/>
            </a:pPr>
            <a:r>
              <a:rPr lang="en-US" sz="1150" dirty="0">
                <a:solidFill>
                  <a:srgbClr val="262626"/>
                </a:solidFill>
                <a:latin typeface="Arial" pitchFamily="34" charset="0"/>
                <a:ea typeface="Arial" pitchFamily="34" charset="-122"/>
                <a:cs typeface="Arial" pitchFamily="34" charset="-120"/>
              </a:rPr>
              <a:t>With 2 Corinthians, the letter that tells us most about Paul's own life</a:t>
            </a:r>
            <a:endParaRPr lang="en-US" sz="1150" dirty="0"/>
          </a:p>
        </p:txBody>
      </p:sp>
      <p:sp>
        <p:nvSpPr>
          <p:cNvPr id="25" name="Shape 22"/>
          <p:cNvSpPr/>
          <p:nvPr/>
        </p:nvSpPr>
        <p:spPr>
          <a:xfrm>
            <a:off x="3264408" y="2926080"/>
            <a:ext cx="2615184" cy="1572768"/>
          </a:xfrm>
          <a:prstGeom prst="rect">
            <a:avLst/>
          </a:prstGeom>
          <a:solidFill>
            <a:srgbClr val="F2F6FC"/>
          </a:solidFill>
          <a:ln w="9525">
            <a:solidFill>
              <a:srgbClr val="D5DCEA"/>
            </a:solidFill>
            <a:prstDash val="solid"/>
          </a:ln>
        </p:spPr>
      </p:sp>
      <p:sp>
        <p:nvSpPr>
          <p:cNvPr id="26" name="Shape 23"/>
          <p:cNvSpPr/>
          <p:nvPr/>
        </p:nvSpPr>
        <p:spPr>
          <a:xfrm>
            <a:off x="3401568" y="3063240"/>
            <a:ext cx="420624" cy="420624"/>
          </a:xfrm>
          <a:prstGeom prst="ellipse">
            <a:avLst/>
          </a:prstGeom>
          <a:solidFill>
            <a:srgbClr val="7030A0"/>
          </a:solidFill>
          <a:ln w="12700">
            <a:solidFill>
              <a:srgbClr val="7030A0"/>
            </a:solidFill>
            <a:prstDash val="solid"/>
          </a:ln>
        </p:spPr>
      </p:sp>
      <p:sp>
        <p:nvSpPr>
          <p:cNvPr id="27" name="Text 24"/>
          <p:cNvSpPr txBox="1"/>
          <p:nvPr/>
        </p:nvSpPr>
        <p:spPr>
          <a:xfrm>
            <a:off x="3401568" y="30632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E</a:t>
            </a:r>
            <a:endParaRPr lang="en-US" sz="1300" dirty="0"/>
          </a:p>
        </p:txBody>
      </p:sp>
      <p:sp>
        <p:nvSpPr>
          <p:cNvPr id="28" name="Text 25"/>
          <p:cNvSpPr txBox="1"/>
          <p:nvPr/>
        </p:nvSpPr>
        <p:spPr>
          <a:xfrm>
            <a:off x="3922776" y="3063240"/>
            <a:ext cx="1874520"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Parallel with Romans</a:t>
            </a:r>
            <a:endParaRPr lang="en-US" sz="1200" dirty="0"/>
          </a:p>
        </p:txBody>
      </p:sp>
      <p:sp>
        <p:nvSpPr>
          <p:cNvPr id="29" name="Text 26"/>
          <p:cNvSpPr txBox="1"/>
          <p:nvPr/>
        </p:nvSpPr>
        <p:spPr>
          <a:xfrm>
            <a:off x="3401568" y="3584448"/>
            <a:ext cx="2359152" cy="841248"/>
          </a:xfrm>
          <a:prstGeom prst="rect">
            <a:avLst/>
          </a:prstGeom>
          <a:noFill/>
          <a:ln/>
        </p:spPr>
        <p:txBody>
          <a:bodyPr wrap="square" lIns="0" tIns="0" rIns="0" bIns="0" rtlCol="0" anchor="t"/>
          <a:lstStyle/>
          <a:p>
            <a:pPr indent="0" marL="0">
              <a:buNone/>
            </a:pPr>
            <a:r>
              <a:rPr lang="en-US" sz="1150" dirty="0">
                <a:solidFill>
                  <a:srgbClr val="262626"/>
                </a:solidFill>
                <a:latin typeface="Arial" pitchFamily="34" charset="0"/>
                <a:ea typeface="Arial" pitchFamily="34" charset="-122"/>
                <a:cs typeface="Arial" pitchFamily="34" charset="-120"/>
              </a:rPr>
              <a:t>Romans tells what justification by faith is; Galatians tells what it is not</a:t>
            </a:r>
            <a:endParaRPr lang="en-US" sz="1150" dirty="0"/>
          </a:p>
        </p:txBody>
      </p:sp>
      <p:sp>
        <p:nvSpPr>
          <p:cNvPr id="30" name="Shape 27"/>
          <p:cNvSpPr/>
          <p:nvPr/>
        </p:nvSpPr>
        <p:spPr>
          <a:xfrm>
            <a:off x="6071616" y="2926080"/>
            <a:ext cx="2615184" cy="1572768"/>
          </a:xfrm>
          <a:prstGeom prst="rect">
            <a:avLst/>
          </a:prstGeom>
          <a:solidFill>
            <a:srgbClr val="F2F6FC"/>
          </a:solidFill>
          <a:ln w="9525">
            <a:solidFill>
              <a:srgbClr val="D5DCEA"/>
            </a:solidFill>
            <a:prstDash val="solid"/>
          </a:ln>
        </p:spPr>
      </p:sp>
      <p:sp>
        <p:nvSpPr>
          <p:cNvPr id="31" name="Shape 28"/>
          <p:cNvSpPr/>
          <p:nvPr/>
        </p:nvSpPr>
        <p:spPr>
          <a:xfrm>
            <a:off x="6208776" y="3063240"/>
            <a:ext cx="420624" cy="420624"/>
          </a:xfrm>
          <a:prstGeom prst="ellipse">
            <a:avLst/>
          </a:prstGeom>
          <a:solidFill>
            <a:srgbClr val="2E5496"/>
          </a:solidFill>
          <a:ln w="12700">
            <a:solidFill>
              <a:srgbClr val="2E5496"/>
            </a:solidFill>
            <a:prstDash val="solid"/>
          </a:ln>
        </p:spPr>
      </p:sp>
      <p:sp>
        <p:nvSpPr>
          <p:cNvPr id="32" name="Text 29"/>
          <p:cNvSpPr txBox="1"/>
          <p:nvPr/>
        </p:nvSpPr>
        <p:spPr>
          <a:xfrm>
            <a:off x="6208776" y="30632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F</a:t>
            </a:r>
            <a:endParaRPr lang="en-US" sz="1300" dirty="0"/>
          </a:p>
        </p:txBody>
      </p:sp>
      <p:sp>
        <p:nvSpPr>
          <p:cNvPr id="33" name="Text 30"/>
          <p:cNvSpPr txBox="1"/>
          <p:nvPr/>
        </p:nvSpPr>
        <p:spPr>
          <a:xfrm>
            <a:off x="6729984" y="3063240"/>
            <a:ext cx="1874520"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A unique ending</a:t>
            </a:r>
            <a:endParaRPr lang="en-US" sz="1200" dirty="0"/>
          </a:p>
        </p:txBody>
      </p:sp>
      <p:sp>
        <p:nvSpPr>
          <p:cNvPr id="34" name="Text 31"/>
          <p:cNvSpPr txBox="1"/>
          <p:nvPr/>
        </p:nvSpPr>
        <p:spPr>
          <a:xfrm>
            <a:off x="6208776" y="3584448"/>
            <a:ext cx="2359152" cy="841248"/>
          </a:xfrm>
          <a:prstGeom prst="rect">
            <a:avLst/>
          </a:prstGeom>
          <a:noFill/>
          <a:ln/>
        </p:spPr>
        <p:txBody>
          <a:bodyPr wrap="square" lIns="0" tIns="0" rIns="0" bIns="0" rtlCol="0" anchor="t"/>
          <a:lstStyle/>
          <a:p>
            <a:pPr indent="0" marL="0">
              <a:buNone/>
            </a:pPr>
            <a:r>
              <a:rPr lang="en-US" sz="1150" dirty="0">
                <a:solidFill>
                  <a:srgbClr val="262626"/>
                </a:solidFill>
                <a:latin typeface="Arial" pitchFamily="34" charset="0"/>
                <a:ea typeface="Arial" pitchFamily="34" charset="-122"/>
                <a:cs typeface="Arial" pitchFamily="34" charset="-120"/>
              </a:rPr>
              <a:t>“Large letters” (6:11) — likely Paul's own large handwriting, due to his eyesight</a:t>
            </a:r>
            <a:endParaRPr lang="en-US" sz="11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The Judaizers: their message and their appeal</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Background VI · Who Paul is answering</a:t>
            </a:r>
            <a:endParaRPr lang="en-US" sz="1200" dirty="0"/>
          </a:p>
        </p:txBody>
      </p:sp>
      <p:sp>
        <p:nvSpPr>
          <p:cNvPr id="5" name="Shape 2"/>
          <p:cNvSpPr/>
          <p:nvPr/>
        </p:nvSpPr>
        <p:spPr>
          <a:xfrm>
            <a:off x="457200" y="1188720"/>
            <a:ext cx="3291840" cy="365760"/>
          </a:xfrm>
          <a:prstGeom prst="rect">
            <a:avLst/>
          </a:prstGeom>
          <a:solidFill>
            <a:srgbClr val="2E5496"/>
          </a:solidFill>
          <a:ln w="12700">
            <a:solidFill>
              <a:srgbClr val="2E5496"/>
            </a:solidFill>
            <a:prstDash val="solid"/>
          </a:ln>
        </p:spPr>
      </p:sp>
      <p:sp>
        <p:nvSpPr>
          <p:cNvPr id="6" name="Text 3"/>
          <p:cNvSpPr txBox="1"/>
          <p:nvPr/>
        </p:nvSpPr>
        <p:spPr>
          <a:xfrm>
            <a:off x="548640" y="1234440"/>
            <a:ext cx="310896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Their message</a:t>
            </a:r>
            <a:endParaRPr lang="en-US" sz="1200" dirty="0"/>
          </a:p>
        </p:txBody>
      </p:sp>
      <p:sp>
        <p:nvSpPr>
          <p:cNvPr id="7" name="Shape 4"/>
          <p:cNvSpPr/>
          <p:nvPr/>
        </p:nvSpPr>
        <p:spPr>
          <a:xfrm>
            <a:off x="457200" y="1554480"/>
            <a:ext cx="3291840" cy="2423160"/>
          </a:xfrm>
          <a:prstGeom prst="rect">
            <a:avLst/>
          </a:prstGeom>
          <a:solidFill>
            <a:srgbClr val="F2F6FC"/>
          </a:solidFill>
          <a:ln w="9525">
            <a:solidFill>
              <a:srgbClr val="D5DCEA"/>
            </a:solidFill>
            <a:prstDash val="solid"/>
          </a:ln>
        </p:spPr>
      </p:sp>
      <p:sp>
        <p:nvSpPr>
          <p:cNvPr id="8" name="Text 5"/>
          <p:cNvSpPr txBox="1"/>
          <p:nvPr/>
        </p:nvSpPr>
        <p:spPr>
          <a:xfrm>
            <a:off x="548640" y="1627632"/>
            <a:ext cx="3108960" cy="2295144"/>
          </a:xfrm>
          <a:prstGeom prst="rect">
            <a:avLst/>
          </a:prstGeom>
          <a:noFill/>
          <a:ln/>
        </p:spPr>
        <p:txBody>
          <a:bodyPr wrap="square" lIns="0" tIns="0" rIns="0" bIns="0" rtlCol="0" anchor="t"/>
          <a:lstStyle/>
          <a:p>
            <a:pPr indent="0" marL="0">
              <a:buNone/>
            </a:pPr>
            <a:endParaRPr lang="en-US" sz="1300" dirty="0"/>
          </a:p>
        </p:txBody>
      </p:sp>
      <p:sp>
        <p:nvSpPr>
          <p:cNvPr id="9" name="Text 6"/>
          <p:cNvSpPr txBox="1"/>
          <p:nvPr/>
        </p:nvSpPr>
        <p:spPr>
          <a:xfrm>
            <a:off x="566928" y="1664208"/>
            <a:ext cx="3072384" cy="2240280"/>
          </a:xfrm>
          <a:prstGeom prst="rect">
            <a:avLst/>
          </a:prstGeom>
          <a:noFill/>
          <a:ln/>
        </p:spPr>
        <p:txBody>
          <a:bodyPr wrap="square" lIns="0" tIns="0" rIns="0" bIns="0" rtlCol="0" anchor="t"/>
          <a:lstStyle/>
          <a:p>
            <a:pPr indent="0" marL="0">
              <a:buNone/>
            </a:pPr>
            <a:r>
              <a:rPr lang="en-US" sz="1100" b="1" dirty="0">
                <a:solidFill>
                  <a:srgbClr val="1F3864"/>
                </a:solidFill>
                <a:latin typeface="Arial" pitchFamily="34" charset="0"/>
                <a:ea typeface="Arial" pitchFamily="34" charset="-122"/>
                <a:cs typeface="Arial" pitchFamily="34" charset="-120"/>
              </a:rPr>
              <a:t>In the Gospels</a:t>
            </a:r>
            <a:endParaRPr lang="en-US" sz="1200" dirty="0"/>
          </a:p>
          <a:p>
            <a:pPr indent="0" marL="0">
              <a:buNone/>
            </a:pPr>
            <a:r>
              <a:rPr lang="en-US" sz="1150" dirty="0">
                <a:solidFill>
                  <a:srgbClr val="262626"/>
                </a:solidFill>
                <a:latin typeface="Arial" pitchFamily="34" charset="0"/>
                <a:ea typeface="Arial" pitchFamily="34" charset="-122"/>
                <a:cs typeface="Arial" pitchFamily="34" charset="-120"/>
              </a:rPr>
              <a:t>Salvation is by the Law — circumcision is necessary for salvation.</a:t>
            </a:r>
            <a:endParaRPr lang="en-US" sz="1200" dirty="0"/>
          </a:p>
          <a:p>
            <a:pPr indent="0" marL="0">
              <a:buNone/>
            </a:pPr>
            <a:r>
              <a:rPr lang="en-US" sz="600" dirty="0">
                <a:solidFill>
                  <a:srgbClr val="262626"/>
                </a:solidFill>
                <a:latin typeface="Arial" pitchFamily="34" charset="0"/>
                <a:ea typeface="Arial" pitchFamily="34" charset="-122"/>
                <a:cs typeface="Arial" pitchFamily="34" charset="-120"/>
              </a:rPr>
              <a:t> </a:t>
            </a:r>
            <a:endParaRPr lang="en-US" sz="1200" dirty="0"/>
          </a:p>
          <a:p>
            <a:pPr indent="0" marL="0">
              <a:buNone/>
            </a:pPr>
            <a:r>
              <a:rPr lang="en-US" sz="1100" b="1" dirty="0">
                <a:solidFill>
                  <a:srgbClr val="1F3864"/>
                </a:solidFill>
                <a:latin typeface="Arial" pitchFamily="34" charset="0"/>
                <a:ea typeface="Arial" pitchFamily="34" charset="-122"/>
                <a:cs typeface="Arial" pitchFamily="34" charset="-120"/>
              </a:rPr>
              <a:t>In the Epistles</a:t>
            </a:r>
            <a:endParaRPr lang="en-US" sz="1200" dirty="0"/>
          </a:p>
          <a:p>
            <a:pPr indent="0" marL="0">
              <a:buNone/>
            </a:pPr>
            <a:r>
              <a:rPr lang="en-US" sz="1150" dirty="0">
                <a:solidFill>
                  <a:srgbClr val="262626"/>
                </a:solidFill>
                <a:latin typeface="Arial" pitchFamily="34" charset="0"/>
                <a:ea typeface="Arial" pitchFamily="34" charset="-122"/>
                <a:cs typeface="Arial" pitchFamily="34" charset="-120"/>
              </a:rPr>
              <a:t>Sanctification is by the Law — keeping the Law is necessary to please God and live a holy life.</a:t>
            </a:r>
            <a:endParaRPr lang="en-US" sz="1200" dirty="0"/>
          </a:p>
        </p:txBody>
      </p:sp>
      <p:sp>
        <p:nvSpPr>
          <p:cNvPr id="10" name="Text 7"/>
          <p:cNvSpPr txBox="1"/>
          <p:nvPr/>
        </p:nvSpPr>
        <p:spPr>
          <a:xfrm>
            <a:off x="3977640" y="1188720"/>
            <a:ext cx="4663440" cy="292608"/>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Their appeal</a:t>
            </a:r>
            <a:endParaRPr lang="en-US" sz="1300" dirty="0"/>
          </a:p>
        </p:txBody>
      </p:sp>
      <p:sp>
        <p:nvSpPr>
          <p:cNvPr id="11" name="Shape 8"/>
          <p:cNvSpPr/>
          <p:nvPr/>
        </p:nvSpPr>
        <p:spPr>
          <a:xfrm>
            <a:off x="3977640" y="1591056"/>
            <a:ext cx="384048" cy="384048"/>
          </a:xfrm>
          <a:prstGeom prst="ellipse">
            <a:avLst/>
          </a:prstGeom>
          <a:solidFill>
            <a:srgbClr val="2E5496"/>
          </a:solidFill>
          <a:ln w="12700">
            <a:solidFill>
              <a:srgbClr val="2E5496"/>
            </a:solidFill>
            <a:prstDash val="solid"/>
          </a:ln>
        </p:spPr>
      </p:sp>
      <p:sp>
        <p:nvSpPr>
          <p:cNvPr id="12" name="Text 9"/>
          <p:cNvSpPr txBox="1"/>
          <p:nvPr/>
        </p:nvSpPr>
        <p:spPr>
          <a:xfrm>
            <a:off x="3977640" y="15910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3" name="Text 10"/>
          <p:cNvSpPr txBox="1"/>
          <p:nvPr/>
        </p:nvSpPr>
        <p:spPr>
          <a:xfrm>
            <a:off x="4480560" y="1536192"/>
            <a:ext cx="4206240" cy="548640"/>
          </a:xfrm>
          <a:prstGeom prst="rect">
            <a:avLst/>
          </a:prstGeom>
          <a:noFill/>
          <a:ln/>
        </p:spPr>
        <p:txBody>
          <a:bodyPr wrap="square" lIns="0" tIns="0" rIns="0" bIns="0" rtlCol="0" anchor="ctr"/>
          <a:lstStyle/>
          <a:p>
            <a:pPr indent="0" marL="0">
              <a:buNone/>
            </a:pPr>
            <a:r>
              <a:rPr lang="en-US" sz="1100" b="1" dirty="0">
                <a:solidFill>
                  <a:srgbClr val="262626"/>
                </a:solidFill>
                <a:latin typeface="Arial" pitchFamily="34" charset="0"/>
                <a:ea typeface="Arial" pitchFamily="34" charset="-122"/>
                <a:cs typeface="Arial" pitchFamily="34" charset="-120"/>
              </a:rPr>
              <a:t>The Scriptures on their side</a:t>
            </a:r>
            <a:endParaRPr lang="en-US" sz="1200" dirty="0"/>
          </a:p>
          <a:p>
            <a:pPr indent="0" marL="0">
              <a:buNone/>
            </a:pPr>
            <a:r>
              <a:rPr lang="en-US" sz="1100" dirty="0">
                <a:solidFill>
                  <a:srgbClr val="595959"/>
                </a:solidFill>
                <a:latin typeface="Arial" pitchFamily="34" charset="0"/>
                <a:ea typeface="Arial" pitchFamily="34" charset="-122"/>
                <a:cs typeface="Arial" pitchFamily="34" charset="-120"/>
              </a:rPr>
              <a:t>Only the OT (plus James, perhaps Matthew) existed — “it says here you must be circumcised”</a:t>
            </a:r>
            <a:endParaRPr lang="en-US" sz="1200" dirty="0"/>
          </a:p>
        </p:txBody>
      </p:sp>
      <p:sp>
        <p:nvSpPr>
          <p:cNvPr id="14" name="Shape 11"/>
          <p:cNvSpPr/>
          <p:nvPr/>
        </p:nvSpPr>
        <p:spPr>
          <a:xfrm>
            <a:off x="3977640" y="2212848"/>
            <a:ext cx="384048" cy="384048"/>
          </a:xfrm>
          <a:prstGeom prst="ellipse">
            <a:avLst/>
          </a:prstGeom>
          <a:solidFill>
            <a:srgbClr val="2E5496"/>
          </a:solidFill>
          <a:ln w="12700">
            <a:solidFill>
              <a:srgbClr val="2E5496"/>
            </a:solidFill>
            <a:prstDash val="solid"/>
          </a:ln>
        </p:spPr>
      </p:sp>
      <p:sp>
        <p:nvSpPr>
          <p:cNvPr id="15" name="Text 12"/>
          <p:cNvSpPr txBox="1"/>
          <p:nvPr/>
        </p:nvSpPr>
        <p:spPr>
          <a:xfrm>
            <a:off x="3977640" y="221284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6" name="Text 13"/>
          <p:cNvSpPr txBox="1"/>
          <p:nvPr/>
        </p:nvSpPr>
        <p:spPr>
          <a:xfrm>
            <a:off x="4480560" y="2157984"/>
            <a:ext cx="4206240" cy="548640"/>
          </a:xfrm>
          <a:prstGeom prst="rect">
            <a:avLst/>
          </a:prstGeom>
          <a:noFill/>
          <a:ln/>
        </p:spPr>
        <p:txBody>
          <a:bodyPr wrap="square" lIns="0" tIns="0" rIns="0" bIns="0" rtlCol="0" anchor="ctr"/>
          <a:lstStyle/>
          <a:p>
            <a:pPr indent="0" marL="0">
              <a:buNone/>
            </a:pPr>
            <a:r>
              <a:rPr lang="en-US" sz="1100" b="1" dirty="0">
                <a:solidFill>
                  <a:srgbClr val="262626"/>
                </a:solidFill>
                <a:latin typeface="Arial" pitchFamily="34" charset="0"/>
                <a:ea typeface="Arial" pitchFamily="34" charset="-122"/>
                <a:cs typeface="Arial" pitchFamily="34" charset="-120"/>
              </a:rPr>
              <a:t>Natural sympathy, Jew to Jew</a:t>
            </a:r>
            <a:endParaRPr lang="en-US" sz="1200" dirty="0"/>
          </a:p>
          <a:p>
            <a:pPr indent="0" marL="0">
              <a:buNone/>
            </a:pPr>
            <a:r>
              <a:rPr lang="en-US" sz="1100" dirty="0">
                <a:solidFill>
                  <a:srgbClr val="595959"/>
                </a:solidFill>
                <a:latin typeface="Arial" pitchFamily="34" charset="0"/>
                <a:ea typeface="Arial" pitchFamily="34" charset="-122"/>
                <a:cs typeface="Arial" pitchFamily="34" charset="-120"/>
              </a:rPr>
              <a:t>“We're both Jews here — don't you believe the law?”</a:t>
            </a:r>
            <a:endParaRPr lang="en-US" sz="1200" dirty="0"/>
          </a:p>
        </p:txBody>
      </p:sp>
      <p:sp>
        <p:nvSpPr>
          <p:cNvPr id="17" name="Shape 14"/>
          <p:cNvSpPr/>
          <p:nvPr/>
        </p:nvSpPr>
        <p:spPr>
          <a:xfrm>
            <a:off x="3977640" y="2834640"/>
            <a:ext cx="384048" cy="384048"/>
          </a:xfrm>
          <a:prstGeom prst="ellipse">
            <a:avLst/>
          </a:prstGeom>
          <a:solidFill>
            <a:srgbClr val="2E5496"/>
          </a:solidFill>
          <a:ln w="12700">
            <a:solidFill>
              <a:srgbClr val="2E5496"/>
            </a:solidFill>
            <a:prstDash val="solid"/>
          </a:ln>
        </p:spPr>
      </p:sp>
      <p:sp>
        <p:nvSpPr>
          <p:cNvPr id="18" name="Text 15"/>
          <p:cNvSpPr txBox="1"/>
          <p:nvPr/>
        </p:nvSpPr>
        <p:spPr>
          <a:xfrm>
            <a:off x="3977640" y="28346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9" name="Text 16"/>
          <p:cNvSpPr txBox="1"/>
          <p:nvPr/>
        </p:nvSpPr>
        <p:spPr>
          <a:xfrm>
            <a:off x="4480560" y="2779776"/>
            <a:ext cx="4206240" cy="548640"/>
          </a:xfrm>
          <a:prstGeom prst="rect">
            <a:avLst/>
          </a:prstGeom>
          <a:noFill/>
          <a:ln/>
        </p:spPr>
        <p:txBody>
          <a:bodyPr wrap="square" lIns="0" tIns="0" rIns="0" bIns="0" rtlCol="0" anchor="ctr"/>
          <a:lstStyle/>
          <a:p>
            <a:pPr indent="0" marL="0">
              <a:buNone/>
            </a:pPr>
            <a:r>
              <a:rPr lang="en-US" sz="1100" b="1" dirty="0">
                <a:solidFill>
                  <a:srgbClr val="262626"/>
                </a:solidFill>
                <a:latin typeface="Arial" pitchFamily="34" charset="0"/>
                <a:ea typeface="Arial" pitchFamily="34" charset="-122"/>
                <a:cs typeface="Arial" pitchFamily="34" charset="-120"/>
              </a:rPr>
              <a:t>Man's religiosity</a:t>
            </a:r>
            <a:endParaRPr lang="en-US" sz="1200" dirty="0"/>
          </a:p>
          <a:p>
            <a:pPr indent="0" marL="0">
              <a:buNone/>
            </a:pPr>
            <a:r>
              <a:rPr lang="en-US" sz="1100" dirty="0">
                <a:solidFill>
                  <a:srgbClr val="595959"/>
                </a:solidFill>
                <a:latin typeface="Arial" pitchFamily="34" charset="0"/>
                <a:ea typeface="Arial" pitchFamily="34" charset="-122"/>
                <a:cs typeface="Arial" pitchFamily="34" charset="-120"/>
              </a:rPr>
              <a:t>People want something to do: rules, rituals, works</a:t>
            </a:r>
            <a:endParaRPr lang="en-US" sz="1200" dirty="0"/>
          </a:p>
        </p:txBody>
      </p:sp>
      <p:sp>
        <p:nvSpPr>
          <p:cNvPr id="20" name="Shape 17"/>
          <p:cNvSpPr/>
          <p:nvPr/>
        </p:nvSpPr>
        <p:spPr>
          <a:xfrm>
            <a:off x="3977640" y="3456432"/>
            <a:ext cx="384048" cy="384048"/>
          </a:xfrm>
          <a:prstGeom prst="ellipse">
            <a:avLst/>
          </a:prstGeom>
          <a:solidFill>
            <a:srgbClr val="2E5496"/>
          </a:solidFill>
          <a:ln w="12700">
            <a:solidFill>
              <a:srgbClr val="2E5496"/>
            </a:solidFill>
            <a:prstDash val="solid"/>
          </a:ln>
        </p:spPr>
      </p:sp>
      <p:sp>
        <p:nvSpPr>
          <p:cNvPr id="21" name="Text 18"/>
          <p:cNvSpPr txBox="1"/>
          <p:nvPr/>
        </p:nvSpPr>
        <p:spPr>
          <a:xfrm>
            <a:off x="3977640" y="345643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2" name="Text 19"/>
          <p:cNvSpPr txBox="1"/>
          <p:nvPr/>
        </p:nvSpPr>
        <p:spPr>
          <a:xfrm>
            <a:off x="4480560" y="3401568"/>
            <a:ext cx="4206240" cy="548640"/>
          </a:xfrm>
          <a:prstGeom prst="rect">
            <a:avLst/>
          </a:prstGeom>
          <a:noFill/>
          <a:ln/>
        </p:spPr>
        <p:txBody>
          <a:bodyPr wrap="square" lIns="0" tIns="0" rIns="0" bIns="0" rtlCol="0" anchor="ctr"/>
          <a:lstStyle/>
          <a:p>
            <a:pPr indent="0" marL="0">
              <a:buNone/>
            </a:pPr>
            <a:r>
              <a:rPr lang="en-US" sz="1100" b="1" dirty="0">
                <a:solidFill>
                  <a:srgbClr val="262626"/>
                </a:solidFill>
                <a:latin typeface="Arial" pitchFamily="34" charset="0"/>
                <a:ea typeface="Arial" pitchFamily="34" charset="-122"/>
                <a:cs typeface="Arial" pitchFamily="34" charset="-120"/>
              </a:rPr>
              <a:t>The “mother church”</a:t>
            </a:r>
            <a:endParaRPr lang="en-US" sz="1200" dirty="0"/>
          </a:p>
          <a:p>
            <a:pPr indent="0" marL="0">
              <a:buNone/>
            </a:pPr>
            <a:r>
              <a:rPr lang="en-US" sz="1100" dirty="0">
                <a:solidFill>
                  <a:srgbClr val="595959"/>
                </a:solidFill>
                <a:latin typeface="Arial" pitchFamily="34" charset="0"/>
                <a:ea typeface="Arial" pitchFamily="34" charset="-122"/>
                <a:cs typeface="Arial" pitchFamily="34" charset="-120"/>
              </a:rPr>
              <a:t>They came from Jerusalem; Paul came from Gentile Antioch</a:t>
            </a:r>
            <a:endParaRPr lang="en-US" sz="1200" dirty="0"/>
          </a:p>
        </p:txBody>
      </p:sp>
      <p:sp>
        <p:nvSpPr>
          <p:cNvPr id="23" name="Shape 20"/>
          <p:cNvSpPr/>
          <p:nvPr/>
        </p:nvSpPr>
        <p:spPr>
          <a:xfrm>
            <a:off x="457200" y="4114800"/>
            <a:ext cx="8229600" cy="502920"/>
          </a:xfrm>
          <a:prstGeom prst="roundRect">
            <a:avLst>
              <a:gd name="adj" fmla="val 10909"/>
            </a:avLst>
          </a:prstGeom>
          <a:solidFill>
            <a:srgbClr val="1F3864"/>
          </a:solidFill>
          <a:ln w="12700">
            <a:solidFill>
              <a:srgbClr val="1F3864"/>
            </a:solidFill>
            <a:prstDash val="solid"/>
          </a:ln>
        </p:spPr>
      </p:sp>
      <p:sp>
        <p:nvSpPr>
          <p:cNvPr id="24" name="Text 21"/>
          <p:cNvSpPr txBox="1"/>
          <p:nvPr/>
        </p:nvSpPr>
        <p:spPr>
          <a:xfrm>
            <a:off x="621792" y="4114800"/>
            <a:ext cx="7900416" cy="50292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Reading rule from the commentary: remember where we are in Paul's argument, and let that guide how you read any single verse.</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“Not from men nor through man”</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1:1 · Exposition 1 — The Writer</a:t>
            </a:r>
            <a:endParaRPr lang="en-US" sz="1200" dirty="0"/>
          </a:p>
        </p:txBody>
      </p:sp>
      <p:sp>
        <p:nvSpPr>
          <p:cNvPr id="5" name="Shape 2"/>
          <p:cNvSpPr/>
          <p:nvPr/>
        </p:nvSpPr>
        <p:spPr>
          <a:xfrm>
            <a:off x="457200" y="1188720"/>
            <a:ext cx="2468880" cy="566928"/>
          </a:xfrm>
          <a:prstGeom prst="rect">
            <a:avLst/>
          </a:prstGeom>
          <a:solidFill>
            <a:srgbClr val="2E5496"/>
          </a:solidFill>
          <a:ln w="12700">
            <a:solidFill>
              <a:srgbClr val="2E5496"/>
            </a:solidFill>
            <a:prstDash val="solid"/>
          </a:ln>
        </p:spPr>
      </p:sp>
      <p:sp>
        <p:nvSpPr>
          <p:cNvPr id="6" name="Text 3"/>
          <p:cNvSpPr txBox="1"/>
          <p:nvPr/>
        </p:nvSpPr>
        <p:spPr>
          <a:xfrm>
            <a:off x="548640" y="1234440"/>
            <a:ext cx="22860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Paul, an apostle</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ἀπόστολος</a:t>
            </a:r>
            <a:pPr indent="0" marL="0">
              <a:buNone/>
            </a:pPr>
            <a:r>
              <a:rPr lang="en-US" sz="850" dirty="0">
                <a:solidFill>
                  <a:srgbClr val="DCE4F2"/>
                </a:solidFill>
                <a:latin typeface="Arial" pitchFamily="34" charset="0"/>
                <a:ea typeface="Arial" pitchFamily="34" charset="-122"/>
                <a:cs typeface="Arial" pitchFamily="34" charset="-120"/>
              </a:rPr>
              <a:t>  apostolos · G652</a:t>
            </a:r>
            <a:endParaRPr lang="en-US" sz="1200" dirty="0"/>
          </a:p>
        </p:txBody>
      </p:sp>
      <p:sp>
        <p:nvSpPr>
          <p:cNvPr id="7" name="Shape 4"/>
          <p:cNvSpPr/>
          <p:nvPr/>
        </p:nvSpPr>
        <p:spPr>
          <a:xfrm>
            <a:off x="457200" y="1755648"/>
            <a:ext cx="2468880" cy="2130552"/>
          </a:xfrm>
          <a:prstGeom prst="rect">
            <a:avLst/>
          </a:prstGeom>
          <a:solidFill>
            <a:srgbClr val="F2F6FC"/>
          </a:solidFill>
          <a:ln w="9525">
            <a:solidFill>
              <a:srgbClr val="D5DCEA"/>
            </a:solidFill>
            <a:prstDash val="solid"/>
          </a:ln>
        </p:spPr>
      </p:sp>
      <p:sp>
        <p:nvSpPr>
          <p:cNvPr id="8" name="Text 5"/>
          <p:cNvSpPr txBox="1"/>
          <p:nvPr/>
        </p:nvSpPr>
        <p:spPr>
          <a:xfrm>
            <a:off x="548640" y="1828800"/>
            <a:ext cx="2286000" cy="2002536"/>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“One who is sent”</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Not in dispute: Paul was sent</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In dispute: sent by whom?</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Answering it is the letter's direct purpose</a:t>
            </a:r>
            <a:endParaRPr lang="en-US" sz="1300" dirty="0"/>
          </a:p>
        </p:txBody>
      </p:sp>
      <p:sp>
        <p:nvSpPr>
          <p:cNvPr id="9" name="Shape 6"/>
          <p:cNvSpPr/>
          <p:nvPr/>
        </p:nvSpPr>
        <p:spPr>
          <a:xfrm>
            <a:off x="3017520" y="2423160"/>
            <a:ext cx="274320" cy="237744"/>
          </a:xfrm>
          <a:prstGeom prst="rightArrow">
            <a:avLst/>
          </a:prstGeom>
          <a:solidFill>
            <a:srgbClr val="6B7280"/>
          </a:solidFill>
          <a:ln w="12700">
            <a:solidFill>
              <a:srgbClr val="6B7280"/>
            </a:solidFill>
            <a:prstDash val="solid"/>
          </a:ln>
        </p:spPr>
      </p:sp>
      <p:sp>
        <p:nvSpPr>
          <p:cNvPr id="10" name="Shape 7"/>
          <p:cNvSpPr/>
          <p:nvPr/>
        </p:nvSpPr>
        <p:spPr>
          <a:xfrm>
            <a:off x="3383280" y="1188720"/>
            <a:ext cx="2468880" cy="365760"/>
          </a:xfrm>
          <a:prstGeom prst="rect">
            <a:avLst/>
          </a:prstGeom>
          <a:solidFill>
            <a:srgbClr val="6B7280"/>
          </a:solidFill>
          <a:ln w="12700">
            <a:solidFill>
              <a:srgbClr val="6B7280"/>
            </a:solidFill>
            <a:prstDash val="solid"/>
          </a:ln>
        </p:spPr>
      </p:sp>
      <p:sp>
        <p:nvSpPr>
          <p:cNvPr id="11" name="Text 8"/>
          <p:cNvSpPr txBox="1"/>
          <p:nvPr/>
        </p:nvSpPr>
        <p:spPr>
          <a:xfrm>
            <a:off x="3474720" y="1234440"/>
            <a:ext cx="228600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Not from / through men</a:t>
            </a:r>
            <a:endParaRPr lang="en-US" sz="1200" dirty="0"/>
          </a:p>
        </p:txBody>
      </p:sp>
      <p:sp>
        <p:nvSpPr>
          <p:cNvPr id="12" name="Shape 9"/>
          <p:cNvSpPr/>
          <p:nvPr/>
        </p:nvSpPr>
        <p:spPr>
          <a:xfrm>
            <a:off x="3383280" y="1554480"/>
            <a:ext cx="2468880" cy="2331720"/>
          </a:xfrm>
          <a:prstGeom prst="rect">
            <a:avLst/>
          </a:prstGeom>
          <a:solidFill>
            <a:srgbClr val="F2F6FC"/>
          </a:solidFill>
          <a:ln w="9525">
            <a:solidFill>
              <a:srgbClr val="D5DCEA"/>
            </a:solidFill>
            <a:prstDash val="solid"/>
          </a:ln>
        </p:spPr>
      </p:sp>
      <p:sp>
        <p:nvSpPr>
          <p:cNvPr id="13" name="Text 10"/>
          <p:cNvSpPr txBox="1"/>
          <p:nvPr/>
        </p:nvSpPr>
        <p:spPr>
          <a:xfrm>
            <a:off x="3474720" y="1627632"/>
            <a:ext cx="2286000" cy="2203704"/>
          </a:xfrm>
          <a:prstGeom prst="rect">
            <a:avLst/>
          </a:prstGeom>
          <a:noFill/>
          <a:ln/>
        </p:spPr>
        <p:txBody>
          <a:bodyPr wrap="square" lIns="0" tIns="0" rIns="0" bIns="0" rtlCol="0" anchor="t"/>
          <a:lstStyle/>
          <a:p>
            <a:pPr indent="0" marL="0">
              <a:buNone/>
            </a:pPr>
            <a:endParaRPr lang="en-US" sz="1300" dirty="0"/>
          </a:p>
        </p:txBody>
      </p:sp>
      <p:sp>
        <p:nvSpPr>
          <p:cNvPr id="14" name="Text 11"/>
          <p:cNvSpPr txBox="1"/>
          <p:nvPr/>
        </p:nvSpPr>
        <p:spPr>
          <a:xfrm>
            <a:off x="3474720" y="1664208"/>
            <a:ext cx="2286000" cy="2148840"/>
          </a:xfrm>
          <a:prstGeom prst="rect">
            <a:avLst/>
          </a:prstGeom>
          <a:noFill/>
          <a:ln/>
        </p:spPr>
        <p:txBody>
          <a:bodyPr wrap="square" lIns="0" tIns="0" rIns="0" bIns="0" rtlCol="0" anchor="t"/>
          <a:lstStyle/>
          <a:p>
            <a:pPr indent="0" marL="0">
              <a:buNone/>
            </a:pPr>
            <a:r>
              <a:rPr lang="en-US" sz="1150" b="1" dirty="0">
                <a:solidFill>
                  <a:srgbClr val="1F3864"/>
                </a:solidFill>
                <a:latin typeface="Arial" pitchFamily="34" charset="0"/>
                <a:ea typeface="Arial" pitchFamily="34" charset="-122"/>
                <a:cs typeface="Arial" pitchFamily="34" charset="-120"/>
              </a:rPr>
              <a:t>No group of men</a:t>
            </a:r>
            <a:endParaRPr lang="en-US" sz="1150" dirty="0"/>
          </a:p>
          <a:p>
            <a:pPr marL="127000" indent="-127000">
              <a:buSzPct val="100000"/>
              <a:buChar char="•"/>
            </a:pPr>
            <a:r>
              <a:rPr lang="en-US" sz="1150" dirty="0">
                <a:solidFill>
                  <a:srgbClr val="262626"/>
                </a:solidFill>
                <a:latin typeface="Arial" pitchFamily="34" charset="0"/>
                <a:ea typeface="Arial" pitchFamily="34" charset="-122"/>
                <a:cs typeface="Arial" pitchFamily="34" charset="-120"/>
              </a:rPr>
              <a:t>Not the apostles in Jerusalem</a:t>
            </a:r>
            <a:endParaRPr lang="en-US" sz="1150" dirty="0"/>
          </a:p>
          <a:p>
            <a:pPr marL="127000" indent="-127000">
              <a:buSzPct val="100000"/>
              <a:buChar char="•"/>
            </a:pPr>
            <a:r>
              <a:rPr lang="en-US" sz="1150" dirty="0">
                <a:solidFill>
                  <a:srgbClr val="262626"/>
                </a:solidFill>
                <a:latin typeface="Arial" pitchFamily="34" charset="0"/>
                <a:ea typeface="Arial" pitchFamily="34" charset="-122"/>
                <a:cs typeface="Arial" pitchFamily="34" charset="-120"/>
              </a:rPr>
              <a:t>Not the leaders in Antioch</a:t>
            </a:r>
            <a:endParaRPr lang="en-US" sz="1150" dirty="0"/>
          </a:p>
          <a:p>
            <a:pPr indent="0" marL="0">
              <a:buNone/>
            </a:pPr>
            <a:r>
              <a:rPr lang="en-US" sz="500" dirty="0">
                <a:solidFill>
                  <a:srgbClr val="262626"/>
                </a:solidFill>
                <a:latin typeface="Arial" pitchFamily="34" charset="0"/>
                <a:ea typeface="Arial" pitchFamily="34" charset="-122"/>
                <a:cs typeface="Arial" pitchFamily="34" charset="-120"/>
              </a:rPr>
              <a:t> </a:t>
            </a:r>
            <a:endParaRPr lang="en-US" sz="1150" dirty="0"/>
          </a:p>
          <a:p>
            <a:pPr indent="0" marL="0">
              <a:buNone/>
            </a:pPr>
            <a:r>
              <a:rPr lang="en-US" sz="1150" b="1" dirty="0">
                <a:solidFill>
                  <a:srgbClr val="1F3864"/>
                </a:solidFill>
                <a:latin typeface="Arial" pitchFamily="34" charset="0"/>
                <a:ea typeface="Arial" pitchFamily="34" charset="-122"/>
                <a:cs typeface="Arial" pitchFamily="34" charset="-120"/>
              </a:rPr>
              <a:t>No single man</a:t>
            </a:r>
            <a:endParaRPr lang="en-US" sz="1150" dirty="0"/>
          </a:p>
          <a:p>
            <a:pPr marL="127000" indent="-127000">
              <a:buSzPct val="100000"/>
              <a:buChar char="•"/>
            </a:pPr>
            <a:r>
              <a:rPr lang="en-US" sz="1150" dirty="0">
                <a:solidFill>
                  <a:srgbClr val="262626"/>
                </a:solidFill>
                <a:latin typeface="Arial" pitchFamily="34" charset="0"/>
                <a:ea typeface="Arial" pitchFamily="34" charset="-122"/>
                <a:cs typeface="Arial" pitchFamily="34" charset="-120"/>
              </a:rPr>
              <a:t>Not Ananias in Damascus</a:t>
            </a:r>
            <a:endParaRPr lang="en-US" sz="1150" dirty="0"/>
          </a:p>
          <a:p>
            <a:pPr marL="127000" indent="-127000">
              <a:buSzPct val="100000"/>
              <a:buChar char="•"/>
            </a:pPr>
            <a:r>
              <a:rPr lang="en-US" sz="1150" dirty="0">
                <a:solidFill>
                  <a:srgbClr val="262626"/>
                </a:solidFill>
                <a:latin typeface="Arial" pitchFamily="34" charset="0"/>
                <a:ea typeface="Arial" pitchFamily="34" charset="-122"/>
                <a:cs typeface="Arial" pitchFamily="34" charset="-120"/>
              </a:rPr>
              <a:t>Not Barnabas, who brought him to Antioch</a:t>
            </a:r>
            <a:endParaRPr lang="en-US" sz="1150" dirty="0"/>
          </a:p>
        </p:txBody>
      </p:sp>
      <p:sp>
        <p:nvSpPr>
          <p:cNvPr id="15" name="Shape 12"/>
          <p:cNvSpPr/>
          <p:nvPr/>
        </p:nvSpPr>
        <p:spPr>
          <a:xfrm>
            <a:off x="5943600" y="2423160"/>
            <a:ext cx="274320" cy="237744"/>
          </a:xfrm>
          <a:prstGeom prst="rightArrow">
            <a:avLst/>
          </a:prstGeom>
          <a:solidFill>
            <a:srgbClr val="375623"/>
          </a:solidFill>
          <a:ln w="12700">
            <a:solidFill>
              <a:srgbClr val="375623"/>
            </a:solidFill>
            <a:prstDash val="solid"/>
          </a:ln>
        </p:spPr>
      </p:sp>
      <p:sp>
        <p:nvSpPr>
          <p:cNvPr id="16" name="Shape 13"/>
          <p:cNvSpPr/>
          <p:nvPr/>
        </p:nvSpPr>
        <p:spPr>
          <a:xfrm>
            <a:off x="6309360" y="1188720"/>
            <a:ext cx="2377440" cy="365760"/>
          </a:xfrm>
          <a:prstGeom prst="rect">
            <a:avLst/>
          </a:prstGeom>
          <a:solidFill>
            <a:srgbClr val="375623"/>
          </a:solidFill>
          <a:ln w="12700">
            <a:solidFill>
              <a:srgbClr val="375623"/>
            </a:solidFill>
            <a:prstDash val="solid"/>
          </a:ln>
        </p:spPr>
      </p:sp>
      <p:sp>
        <p:nvSpPr>
          <p:cNvPr id="17" name="Text 14"/>
          <p:cNvSpPr txBox="1"/>
          <p:nvPr/>
        </p:nvSpPr>
        <p:spPr>
          <a:xfrm>
            <a:off x="6400800" y="1234440"/>
            <a:ext cx="219456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But through</a:t>
            </a:r>
            <a:endParaRPr lang="en-US" sz="1200" dirty="0"/>
          </a:p>
        </p:txBody>
      </p:sp>
      <p:sp>
        <p:nvSpPr>
          <p:cNvPr id="18" name="Shape 15"/>
          <p:cNvSpPr/>
          <p:nvPr/>
        </p:nvSpPr>
        <p:spPr>
          <a:xfrm>
            <a:off x="6309360" y="1554480"/>
            <a:ext cx="2377440" cy="2331720"/>
          </a:xfrm>
          <a:prstGeom prst="rect">
            <a:avLst/>
          </a:prstGeom>
          <a:solidFill>
            <a:srgbClr val="F2F6FC"/>
          </a:solidFill>
          <a:ln w="9525">
            <a:solidFill>
              <a:srgbClr val="D5DCEA"/>
            </a:solidFill>
            <a:prstDash val="solid"/>
          </a:ln>
        </p:spPr>
      </p:sp>
      <p:sp>
        <p:nvSpPr>
          <p:cNvPr id="19" name="Text 16"/>
          <p:cNvSpPr txBox="1"/>
          <p:nvPr/>
        </p:nvSpPr>
        <p:spPr>
          <a:xfrm>
            <a:off x="6400800" y="1627632"/>
            <a:ext cx="2194560" cy="2203704"/>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Jesus Christ</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and God the Father who raised Him from the dead</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Paul is a spokesman for God</a:t>
            </a:r>
            <a:endParaRPr lang="en-US" sz="1300" dirty="0"/>
          </a:p>
        </p:txBody>
      </p:sp>
      <p:sp>
        <p:nvSpPr>
          <p:cNvPr id="20" name="Shape 17"/>
          <p:cNvSpPr/>
          <p:nvPr/>
        </p:nvSpPr>
        <p:spPr>
          <a:xfrm>
            <a:off x="457200" y="4069080"/>
            <a:ext cx="8229600" cy="502920"/>
          </a:xfrm>
          <a:prstGeom prst="roundRect">
            <a:avLst>
              <a:gd name="adj" fmla="val 10909"/>
            </a:avLst>
          </a:prstGeom>
          <a:solidFill>
            <a:srgbClr val="1F3864"/>
          </a:solidFill>
          <a:ln w="12700">
            <a:solidFill>
              <a:srgbClr val="1F3864"/>
            </a:solidFill>
            <a:prstDash val="solid"/>
          </a:ln>
        </p:spPr>
      </p:sp>
      <p:sp>
        <p:nvSpPr>
          <p:cNvPr id="21" name="Text 18"/>
          <p:cNvSpPr txBox="1"/>
          <p:nvPr/>
        </p:nvSpPr>
        <p:spPr>
          <a:xfrm>
            <a:off x="621792" y="4069080"/>
            <a:ext cx="7900416" cy="50292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When they couldn't argue with Paul's doctrine, they attacked his person. Verse 1 answers them before the letter begins.</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The ground of liberty, verse by verse</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1:1–5 · Exposition outline points 1–6</a:t>
            </a:r>
            <a:endParaRPr lang="en-US" sz="1200" dirty="0"/>
          </a:p>
        </p:txBody>
      </p:sp>
      <p:sp>
        <p:nvSpPr>
          <p:cNvPr id="5" name="Shape 2"/>
          <p:cNvSpPr/>
          <p:nvPr/>
        </p:nvSpPr>
        <p:spPr>
          <a:xfrm>
            <a:off x="457200" y="1115568"/>
            <a:ext cx="777240" cy="457200"/>
          </a:xfrm>
          <a:prstGeom prst="rect">
            <a:avLst/>
          </a:prstGeom>
          <a:solidFill>
            <a:srgbClr val="2E5496"/>
          </a:solidFill>
          <a:ln w="12700">
            <a:solidFill>
              <a:srgbClr val="2E5496"/>
            </a:solidFill>
            <a:prstDash val="solid"/>
          </a:ln>
        </p:spPr>
      </p:sp>
      <p:sp>
        <p:nvSpPr>
          <p:cNvPr id="6" name="Text 3"/>
          <p:cNvSpPr txBox="1"/>
          <p:nvPr/>
        </p:nvSpPr>
        <p:spPr>
          <a:xfrm>
            <a:off x="457200" y="1115568"/>
            <a:ext cx="7772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a:t>
            </a:r>
            <a:endParaRPr lang="en-US" sz="1100" dirty="0"/>
          </a:p>
        </p:txBody>
      </p:sp>
      <p:sp>
        <p:nvSpPr>
          <p:cNvPr id="7" name="Shape 4"/>
          <p:cNvSpPr/>
          <p:nvPr/>
        </p:nvSpPr>
        <p:spPr>
          <a:xfrm>
            <a:off x="1234440" y="1115568"/>
            <a:ext cx="7452360" cy="457200"/>
          </a:xfrm>
          <a:prstGeom prst="rect">
            <a:avLst/>
          </a:prstGeom>
          <a:solidFill>
            <a:srgbClr val="F2F6FC"/>
          </a:solidFill>
          <a:ln w="9525">
            <a:solidFill>
              <a:srgbClr val="D5DCEA"/>
            </a:solidFill>
            <a:prstDash val="solid"/>
          </a:ln>
        </p:spPr>
      </p:sp>
      <p:sp>
        <p:nvSpPr>
          <p:cNvPr id="8" name="Text 5"/>
          <p:cNvSpPr txBox="1"/>
          <p:nvPr/>
        </p:nvSpPr>
        <p:spPr>
          <a:xfrm>
            <a:off x="1344168" y="1115568"/>
            <a:ext cx="4389120" cy="457200"/>
          </a:xfrm>
          <a:prstGeom prst="rect">
            <a:avLst/>
          </a:prstGeom>
          <a:noFill/>
          <a:ln/>
        </p:spPr>
        <p:txBody>
          <a:bodyPr wrap="square" lIns="0" tIns="0" rIns="0" bIns="0" rtlCol="0" anchor="ctr"/>
          <a:lstStyle/>
          <a:p>
            <a:pPr indent="0" marL="0">
              <a:buNone/>
            </a:pPr>
            <a:r>
              <a:rPr lang="en-US" sz="1100" dirty="0">
                <a:solidFill>
                  <a:srgbClr val="262626"/>
                </a:solidFill>
                <a:latin typeface="Arial" pitchFamily="34" charset="0"/>
                <a:ea typeface="Arial" pitchFamily="34" charset="-122"/>
                <a:cs typeface="Arial" pitchFamily="34" charset="-120"/>
              </a:rPr>
              <a:t>1 · The Writer — “Paul, an apostle”</a:t>
            </a:r>
            <a:endParaRPr lang="en-US" sz="1100" dirty="0"/>
          </a:p>
        </p:txBody>
      </p:sp>
      <p:sp>
        <p:nvSpPr>
          <p:cNvPr id="9" name="Text 6"/>
          <p:cNvSpPr txBox="1"/>
          <p:nvPr/>
        </p:nvSpPr>
        <p:spPr>
          <a:xfrm>
            <a:off x="5806440" y="1115568"/>
            <a:ext cx="2788920" cy="45720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ἀπόστολος</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sent — but by God, not men</a:t>
            </a:r>
            <a:endParaRPr lang="en-US" sz="1200" dirty="0"/>
          </a:p>
        </p:txBody>
      </p:sp>
      <p:sp>
        <p:nvSpPr>
          <p:cNvPr id="10" name="Shape 7"/>
          <p:cNvSpPr/>
          <p:nvPr/>
        </p:nvSpPr>
        <p:spPr>
          <a:xfrm>
            <a:off x="457200" y="1627632"/>
            <a:ext cx="777240" cy="457200"/>
          </a:xfrm>
          <a:prstGeom prst="rect">
            <a:avLst/>
          </a:prstGeom>
          <a:solidFill>
            <a:srgbClr val="2E5496"/>
          </a:solidFill>
          <a:ln w="12700">
            <a:solidFill>
              <a:srgbClr val="2E5496"/>
            </a:solidFill>
            <a:prstDash val="solid"/>
          </a:ln>
        </p:spPr>
      </p:sp>
      <p:sp>
        <p:nvSpPr>
          <p:cNvPr id="11" name="Text 8"/>
          <p:cNvSpPr txBox="1"/>
          <p:nvPr/>
        </p:nvSpPr>
        <p:spPr>
          <a:xfrm>
            <a:off x="457200" y="1627632"/>
            <a:ext cx="7772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v.2</a:t>
            </a:r>
            <a:endParaRPr lang="en-US" sz="1100" dirty="0"/>
          </a:p>
        </p:txBody>
      </p:sp>
      <p:sp>
        <p:nvSpPr>
          <p:cNvPr id="12" name="Shape 9"/>
          <p:cNvSpPr/>
          <p:nvPr/>
        </p:nvSpPr>
        <p:spPr>
          <a:xfrm>
            <a:off x="1234440" y="1627632"/>
            <a:ext cx="7452360" cy="457200"/>
          </a:xfrm>
          <a:prstGeom prst="rect">
            <a:avLst/>
          </a:prstGeom>
          <a:solidFill>
            <a:srgbClr val="FFFFFF"/>
          </a:solidFill>
          <a:ln w="9525">
            <a:solidFill>
              <a:srgbClr val="D5DCEA"/>
            </a:solidFill>
            <a:prstDash val="solid"/>
          </a:ln>
        </p:spPr>
      </p:sp>
      <p:sp>
        <p:nvSpPr>
          <p:cNvPr id="13" name="Text 10"/>
          <p:cNvSpPr txBox="1"/>
          <p:nvPr/>
        </p:nvSpPr>
        <p:spPr>
          <a:xfrm>
            <a:off x="1344168" y="1627632"/>
            <a:ext cx="4389120" cy="457200"/>
          </a:xfrm>
          <a:prstGeom prst="rect">
            <a:avLst/>
          </a:prstGeom>
          <a:noFill/>
          <a:ln/>
        </p:spPr>
        <p:txBody>
          <a:bodyPr wrap="square" lIns="0" tIns="0" rIns="0" bIns="0" rtlCol="0" anchor="ctr"/>
          <a:lstStyle/>
          <a:p>
            <a:pPr indent="0" marL="0">
              <a:buNone/>
            </a:pPr>
            <a:r>
              <a:rPr lang="en-US" sz="1100" dirty="0">
                <a:solidFill>
                  <a:srgbClr val="262626"/>
                </a:solidFill>
                <a:latin typeface="Arial" pitchFamily="34" charset="0"/>
                <a:ea typeface="Arial" pitchFamily="34" charset="-122"/>
                <a:cs typeface="Arial" pitchFamily="34" charset="-120"/>
              </a:rPr>
              <a:t>2 · The Readers — “to the churches of Galatia” (plural)</a:t>
            </a:r>
            <a:endParaRPr lang="en-US" sz="1100" dirty="0"/>
          </a:p>
        </p:txBody>
      </p:sp>
      <p:sp>
        <p:nvSpPr>
          <p:cNvPr id="14" name="Text 11"/>
          <p:cNvSpPr txBox="1"/>
          <p:nvPr/>
        </p:nvSpPr>
        <p:spPr>
          <a:xfrm>
            <a:off x="5806440" y="1627632"/>
            <a:ext cx="2788920" cy="457200"/>
          </a:xfrm>
          <a:prstGeom prst="rect">
            <a:avLst/>
          </a:prstGeom>
          <a:noFill/>
          <a:ln/>
        </p:spPr>
        <p:txBody>
          <a:bodyPr wrap="square" lIns="0" tIns="0" rIns="0" bIns="0" rtlCol="0" anchor="ctr"/>
          <a:lstStyle/>
          <a:p>
            <a:pPr indent="0" marL="0">
              <a:buNone/>
            </a:pPr>
            <a:r>
              <a:rPr lang="en-US" sz="950" dirty="0">
                <a:solidFill>
                  <a:srgbClr val="595959"/>
                </a:solidFill>
                <a:latin typeface="Arial" pitchFamily="34" charset="0"/>
                <a:ea typeface="Arial" pitchFamily="34" charset="-122"/>
                <a:cs typeface="Arial" pitchFamily="34" charset="-120"/>
              </a:rPr>
              <a:t>Derbe, Lystra, Iconium, Antioch</a:t>
            </a:r>
            <a:endParaRPr lang="en-US" sz="1200" dirty="0"/>
          </a:p>
        </p:txBody>
      </p:sp>
      <p:sp>
        <p:nvSpPr>
          <p:cNvPr id="15" name="Shape 12"/>
          <p:cNvSpPr/>
          <p:nvPr/>
        </p:nvSpPr>
        <p:spPr>
          <a:xfrm>
            <a:off x="457200" y="2139696"/>
            <a:ext cx="777240" cy="457200"/>
          </a:xfrm>
          <a:prstGeom prst="rect">
            <a:avLst/>
          </a:prstGeom>
          <a:solidFill>
            <a:srgbClr val="2E5496"/>
          </a:solidFill>
          <a:ln w="12700">
            <a:solidFill>
              <a:srgbClr val="2E5496"/>
            </a:solidFill>
            <a:prstDash val="solid"/>
          </a:ln>
        </p:spPr>
      </p:sp>
      <p:sp>
        <p:nvSpPr>
          <p:cNvPr id="16" name="Text 13"/>
          <p:cNvSpPr txBox="1"/>
          <p:nvPr/>
        </p:nvSpPr>
        <p:spPr>
          <a:xfrm>
            <a:off x="457200" y="2139696"/>
            <a:ext cx="7772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v.3a</a:t>
            </a:r>
            <a:endParaRPr lang="en-US" sz="1100" dirty="0"/>
          </a:p>
        </p:txBody>
      </p:sp>
      <p:sp>
        <p:nvSpPr>
          <p:cNvPr id="17" name="Shape 14"/>
          <p:cNvSpPr/>
          <p:nvPr/>
        </p:nvSpPr>
        <p:spPr>
          <a:xfrm>
            <a:off x="1234440" y="2139696"/>
            <a:ext cx="7452360" cy="457200"/>
          </a:xfrm>
          <a:prstGeom prst="rect">
            <a:avLst/>
          </a:prstGeom>
          <a:solidFill>
            <a:srgbClr val="F2F6FC"/>
          </a:solidFill>
          <a:ln w="9525">
            <a:solidFill>
              <a:srgbClr val="D5DCEA"/>
            </a:solidFill>
            <a:prstDash val="solid"/>
          </a:ln>
        </p:spPr>
      </p:sp>
      <p:sp>
        <p:nvSpPr>
          <p:cNvPr id="18" name="Text 15"/>
          <p:cNvSpPr txBox="1"/>
          <p:nvPr/>
        </p:nvSpPr>
        <p:spPr>
          <a:xfrm>
            <a:off x="1344168" y="2139696"/>
            <a:ext cx="4389120" cy="457200"/>
          </a:xfrm>
          <a:prstGeom prst="rect">
            <a:avLst/>
          </a:prstGeom>
          <a:noFill/>
          <a:ln/>
        </p:spPr>
        <p:txBody>
          <a:bodyPr wrap="square" lIns="0" tIns="0" rIns="0" bIns="0" rtlCol="0" anchor="ctr"/>
          <a:lstStyle/>
          <a:p>
            <a:pPr indent="0" marL="0">
              <a:buNone/>
            </a:pPr>
            <a:r>
              <a:rPr lang="en-US" sz="1100" dirty="0">
                <a:solidFill>
                  <a:srgbClr val="262626"/>
                </a:solidFill>
                <a:latin typeface="Arial" pitchFamily="34" charset="0"/>
                <a:ea typeface="Arial" pitchFamily="34" charset="-122"/>
                <a:cs typeface="Arial" pitchFamily="34" charset="-120"/>
              </a:rPr>
              <a:t>3 · The Greeting — “Grace to you and peace”</a:t>
            </a:r>
            <a:endParaRPr lang="en-US" sz="1100" dirty="0"/>
          </a:p>
        </p:txBody>
      </p:sp>
      <p:sp>
        <p:nvSpPr>
          <p:cNvPr id="19" name="Text 16"/>
          <p:cNvSpPr txBox="1"/>
          <p:nvPr/>
        </p:nvSpPr>
        <p:spPr>
          <a:xfrm>
            <a:off x="5806440" y="2139696"/>
            <a:ext cx="2788920" cy="45720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χάρις · εἰρήνη</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Greek greeting · Jewish greeting</a:t>
            </a:r>
            <a:endParaRPr lang="en-US" sz="1200" dirty="0"/>
          </a:p>
        </p:txBody>
      </p:sp>
      <p:sp>
        <p:nvSpPr>
          <p:cNvPr id="20" name="Shape 17"/>
          <p:cNvSpPr/>
          <p:nvPr/>
        </p:nvSpPr>
        <p:spPr>
          <a:xfrm>
            <a:off x="457200" y="2651760"/>
            <a:ext cx="777240" cy="457200"/>
          </a:xfrm>
          <a:prstGeom prst="rect">
            <a:avLst/>
          </a:prstGeom>
          <a:solidFill>
            <a:srgbClr val="2E5496"/>
          </a:solidFill>
          <a:ln w="12700">
            <a:solidFill>
              <a:srgbClr val="2E5496"/>
            </a:solidFill>
            <a:prstDash val="solid"/>
          </a:ln>
        </p:spPr>
      </p:sp>
      <p:sp>
        <p:nvSpPr>
          <p:cNvPr id="21" name="Text 18"/>
          <p:cNvSpPr txBox="1"/>
          <p:nvPr/>
        </p:nvSpPr>
        <p:spPr>
          <a:xfrm>
            <a:off x="457200" y="2651760"/>
            <a:ext cx="7772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v.3b</a:t>
            </a:r>
            <a:endParaRPr lang="en-US" sz="1100" dirty="0"/>
          </a:p>
        </p:txBody>
      </p:sp>
      <p:sp>
        <p:nvSpPr>
          <p:cNvPr id="22" name="Shape 19"/>
          <p:cNvSpPr/>
          <p:nvPr/>
        </p:nvSpPr>
        <p:spPr>
          <a:xfrm>
            <a:off x="1234440" y="2651760"/>
            <a:ext cx="7452360" cy="457200"/>
          </a:xfrm>
          <a:prstGeom prst="rect">
            <a:avLst/>
          </a:prstGeom>
          <a:solidFill>
            <a:srgbClr val="FFFFFF"/>
          </a:solidFill>
          <a:ln w="9525">
            <a:solidFill>
              <a:srgbClr val="D5DCEA"/>
            </a:solidFill>
            <a:prstDash val="solid"/>
          </a:ln>
        </p:spPr>
      </p:sp>
      <p:sp>
        <p:nvSpPr>
          <p:cNvPr id="23" name="Text 20"/>
          <p:cNvSpPr txBox="1"/>
          <p:nvPr/>
        </p:nvSpPr>
        <p:spPr>
          <a:xfrm>
            <a:off x="1344168" y="2651760"/>
            <a:ext cx="4389120" cy="457200"/>
          </a:xfrm>
          <a:prstGeom prst="rect">
            <a:avLst/>
          </a:prstGeom>
          <a:noFill/>
          <a:ln/>
        </p:spPr>
        <p:txBody>
          <a:bodyPr wrap="square" lIns="0" tIns="0" rIns="0" bIns="0" rtlCol="0" anchor="ctr"/>
          <a:lstStyle/>
          <a:p>
            <a:pPr indent="0" marL="0">
              <a:buNone/>
            </a:pPr>
            <a:r>
              <a:rPr lang="en-US" sz="1100" dirty="0">
                <a:solidFill>
                  <a:srgbClr val="262626"/>
                </a:solidFill>
                <a:latin typeface="Arial" pitchFamily="34" charset="0"/>
                <a:ea typeface="Arial" pitchFamily="34" charset="-122"/>
                <a:cs typeface="Arial" pitchFamily="34" charset="-120"/>
              </a:rPr>
              <a:t>4 · The Source — “from God the Father and our Lord Jesus Christ”</a:t>
            </a:r>
            <a:endParaRPr lang="en-US" sz="1100" dirty="0"/>
          </a:p>
        </p:txBody>
      </p:sp>
      <p:sp>
        <p:nvSpPr>
          <p:cNvPr id="24" name="Text 21"/>
          <p:cNvSpPr txBox="1"/>
          <p:nvPr/>
        </p:nvSpPr>
        <p:spPr>
          <a:xfrm>
            <a:off x="5806440" y="2651760"/>
            <a:ext cx="2788920" cy="457200"/>
          </a:xfrm>
          <a:prstGeom prst="rect">
            <a:avLst/>
          </a:prstGeom>
          <a:noFill/>
          <a:ln/>
        </p:spPr>
        <p:txBody>
          <a:bodyPr wrap="square" lIns="0" tIns="0" rIns="0" bIns="0" rtlCol="0" anchor="ctr"/>
          <a:lstStyle/>
          <a:p>
            <a:pPr indent="0" marL="0">
              <a:buNone/>
            </a:pPr>
            <a:r>
              <a:rPr lang="en-US" sz="950" dirty="0">
                <a:solidFill>
                  <a:srgbClr val="595959"/>
                </a:solidFill>
                <a:latin typeface="Arial" pitchFamily="34" charset="0"/>
                <a:ea typeface="Arial" pitchFamily="34" charset="-122"/>
                <a:cs typeface="Arial" pitchFamily="34" charset="-120"/>
              </a:rPr>
              <a:t>the Father is our Father too</a:t>
            </a:r>
            <a:endParaRPr lang="en-US" sz="1200" dirty="0"/>
          </a:p>
        </p:txBody>
      </p:sp>
      <p:sp>
        <p:nvSpPr>
          <p:cNvPr id="25" name="Shape 22"/>
          <p:cNvSpPr/>
          <p:nvPr/>
        </p:nvSpPr>
        <p:spPr>
          <a:xfrm>
            <a:off x="457200" y="3163824"/>
            <a:ext cx="777240" cy="457200"/>
          </a:xfrm>
          <a:prstGeom prst="rect">
            <a:avLst/>
          </a:prstGeom>
          <a:solidFill>
            <a:srgbClr val="2E5496"/>
          </a:solidFill>
          <a:ln w="12700">
            <a:solidFill>
              <a:srgbClr val="2E5496"/>
            </a:solidFill>
            <a:prstDash val="solid"/>
          </a:ln>
        </p:spPr>
      </p:sp>
      <p:sp>
        <p:nvSpPr>
          <p:cNvPr id="26" name="Text 23"/>
          <p:cNvSpPr txBox="1"/>
          <p:nvPr/>
        </p:nvSpPr>
        <p:spPr>
          <a:xfrm>
            <a:off x="457200" y="3163824"/>
            <a:ext cx="7772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v.4a</a:t>
            </a:r>
            <a:endParaRPr lang="en-US" sz="1100" dirty="0"/>
          </a:p>
        </p:txBody>
      </p:sp>
      <p:sp>
        <p:nvSpPr>
          <p:cNvPr id="27" name="Shape 24"/>
          <p:cNvSpPr/>
          <p:nvPr/>
        </p:nvSpPr>
        <p:spPr>
          <a:xfrm>
            <a:off x="1234440" y="3163824"/>
            <a:ext cx="7452360" cy="457200"/>
          </a:xfrm>
          <a:prstGeom prst="rect">
            <a:avLst/>
          </a:prstGeom>
          <a:solidFill>
            <a:srgbClr val="F2F6FC"/>
          </a:solidFill>
          <a:ln w="9525">
            <a:solidFill>
              <a:srgbClr val="D5DCEA"/>
            </a:solidFill>
            <a:prstDash val="solid"/>
          </a:ln>
        </p:spPr>
      </p:sp>
      <p:sp>
        <p:nvSpPr>
          <p:cNvPr id="28" name="Text 25"/>
          <p:cNvSpPr txBox="1"/>
          <p:nvPr/>
        </p:nvSpPr>
        <p:spPr>
          <a:xfrm>
            <a:off x="1344168" y="3163824"/>
            <a:ext cx="4389120" cy="457200"/>
          </a:xfrm>
          <a:prstGeom prst="rect">
            <a:avLst/>
          </a:prstGeom>
          <a:noFill/>
          <a:ln/>
        </p:spPr>
        <p:txBody>
          <a:bodyPr wrap="square" lIns="0" tIns="0" rIns="0" bIns="0" rtlCol="0" anchor="ctr"/>
          <a:lstStyle/>
          <a:p>
            <a:pPr indent="0" marL="0">
              <a:buNone/>
            </a:pPr>
            <a:r>
              <a:rPr lang="en-US" sz="1100" dirty="0">
                <a:solidFill>
                  <a:srgbClr val="262626"/>
                </a:solidFill>
                <a:latin typeface="Arial" pitchFamily="34" charset="0"/>
                <a:ea typeface="Arial" pitchFamily="34" charset="-122"/>
                <a:cs typeface="Arial" pitchFamily="34" charset="-120"/>
              </a:rPr>
              <a:t>5 · The Basis — “who gave Himself for our sins”</a:t>
            </a:r>
            <a:endParaRPr lang="en-US" sz="1100" dirty="0"/>
          </a:p>
        </p:txBody>
      </p:sp>
      <p:sp>
        <p:nvSpPr>
          <p:cNvPr id="29" name="Text 26"/>
          <p:cNvSpPr txBox="1"/>
          <p:nvPr/>
        </p:nvSpPr>
        <p:spPr>
          <a:xfrm>
            <a:off x="5806440" y="3163824"/>
            <a:ext cx="2788920" cy="45720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δούς · ἑαυτόν</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voluntary · total</a:t>
            </a:r>
            <a:endParaRPr lang="en-US" sz="1200" dirty="0"/>
          </a:p>
        </p:txBody>
      </p:sp>
      <p:sp>
        <p:nvSpPr>
          <p:cNvPr id="30" name="Shape 27"/>
          <p:cNvSpPr/>
          <p:nvPr/>
        </p:nvSpPr>
        <p:spPr>
          <a:xfrm>
            <a:off x="457200" y="3675888"/>
            <a:ext cx="777240" cy="457200"/>
          </a:xfrm>
          <a:prstGeom prst="rect">
            <a:avLst/>
          </a:prstGeom>
          <a:solidFill>
            <a:srgbClr val="2E5496"/>
          </a:solidFill>
          <a:ln w="12700">
            <a:solidFill>
              <a:srgbClr val="2E5496"/>
            </a:solidFill>
            <a:prstDash val="solid"/>
          </a:ln>
        </p:spPr>
      </p:sp>
      <p:sp>
        <p:nvSpPr>
          <p:cNvPr id="31" name="Text 28"/>
          <p:cNvSpPr txBox="1"/>
          <p:nvPr/>
        </p:nvSpPr>
        <p:spPr>
          <a:xfrm>
            <a:off x="457200" y="3675888"/>
            <a:ext cx="7772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v.4b</a:t>
            </a:r>
            <a:endParaRPr lang="en-US" sz="1100" dirty="0"/>
          </a:p>
        </p:txBody>
      </p:sp>
      <p:sp>
        <p:nvSpPr>
          <p:cNvPr id="32" name="Shape 29"/>
          <p:cNvSpPr/>
          <p:nvPr/>
        </p:nvSpPr>
        <p:spPr>
          <a:xfrm>
            <a:off x="1234440" y="3675888"/>
            <a:ext cx="7452360" cy="457200"/>
          </a:xfrm>
          <a:prstGeom prst="rect">
            <a:avLst/>
          </a:prstGeom>
          <a:solidFill>
            <a:srgbClr val="FFFFFF"/>
          </a:solidFill>
          <a:ln w="9525">
            <a:solidFill>
              <a:srgbClr val="D5DCEA"/>
            </a:solidFill>
            <a:prstDash val="solid"/>
          </a:ln>
        </p:spPr>
      </p:sp>
      <p:sp>
        <p:nvSpPr>
          <p:cNvPr id="33" name="Text 30"/>
          <p:cNvSpPr txBox="1"/>
          <p:nvPr/>
        </p:nvSpPr>
        <p:spPr>
          <a:xfrm>
            <a:off x="1344168" y="3675888"/>
            <a:ext cx="4389120" cy="457200"/>
          </a:xfrm>
          <a:prstGeom prst="rect">
            <a:avLst/>
          </a:prstGeom>
          <a:noFill/>
          <a:ln/>
        </p:spPr>
        <p:txBody>
          <a:bodyPr wrap="square" lIns="0" tIns="0" rIns="0" bIns="0" rtlCol="0" anchor="ctr"/>
          <a:lstStyle/>
          <a:p>
            <a:pPr indent="0" marL="0">
              <a:buNone/>
            </a:pPr>
            <a:r>
              <a:rPr lang="en-US" sz="1100" dirty="0">
                <a:solidFill>
                  <a:srgbClr val="262626"/>
                </a:solidFill>
                <a:latin typeface="Arial" pitchFamily="34" charset="0"/>
                <a:ea typeface="Arial" pitchFamily="34" charset="-122"/>
                <a:cs typeface="Arial" pitchFamily="34" charset="-120"/>
              </a:rPr>
              <a:t>6 · The Purpose — “that He might deliver us from this present evil age”</a:t>
            </a:r>
            <a:endParaRPr lang="en-US" sz="1100" dirty="0"/>
          </a:p>
        </p:txBody>
      </p:sp>
      <p:sp>
        <p:nvSpPr>
          <p:cNvPr id="34" name="Text 31"/>
          <p:cNvSpPr txBox="1"/>
          <p:nvPr/>
        </p:nvSpPr>
        <p:spPr>
          <a:xfrm>
            <a:off x="5806440" y="3675888"/>
            <a:ext cx="2788920" cy="45720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ἐξέληται</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rescue — now and when He returns</a:t>
            </a:r>
            <a:endParaRPr lang="en-US" sz="1200" dirty="0"/>
          </a:p>
        </p:txBody>
      </p:sp>
      <p:sp>
        <p:nvSpPr>
          <p:cNvPr id="35" name="Shape 32"/>
          <p:cNvSpPr/>
          <p:nvPr/>
        </p:nvSpPr>
        <p:spPr>
          <a:xfrm>
            <a:off x="457200" y="4187952"/>
            <a:ext cx="777240" cy="457200"/>
          </a:xfrm>
          <a:prstGeom prst="rect">
            <a:avLst/>
          </a:prstGeom>
          <a:solidFill>
            <a:srgbClr val="375623"/>
          </a:solidFill>
          <a:ln w="12700">
            <a:solidFill>
              <a:srgbClr val="375623"/>
            </a:solidFill>
            <a:prstDash val="solid"/>
          </a:ln>
        </p:spPr>
      </p:sp>
      <p:sp>
        <p:nvSpPr>
          <p:cNvPr id="36" name="Text 33"/>
          <p:cNvSpPr txBox="1"/>
          <p:nvPr/>
        </p:nvSpPr>
        <p:spPr>
          <a:xfrm>
            <a:off x="457200" y="4187952"/>
            <a:ext cx="7772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v.5</a:t>
            </a:r>
            <a:endParaRPr lang="en-US" sz="1100" dirty="0"/>
          </a:p>
        </p:txBody>
      </p:sp>
      <p:sp>
        <p:nvSpPr>
          <p:cNvPr id="37" name="Shape 34"/>
          <p:cNvSpPr/>
          <p:nvPr/>
        </p:nvSpPr>
        <p:spPr>
          <a:xfrm>
            <a:off x="1234440" y="4187952"/>
            <a:ext cx="7452360" cy="457200"/>
          </a:xfrm>
          <a:prstGeom prst="rect">
            <a:avLst/>
          </a:prstGeom>
          <a:solidFill>
            <a:srgbClr val="F2F6FC"/>
          </a:solidFill>
          <a:ln w="9525">
            <a:solidFill>
              <a:srgbClr val="D5DCEA"/>
            </a:solidFill>
            <a:prstDash val="solid"/>
          </a:ln>
        </p:spPr>
      </p:sp>
      <p:sp>
        <p:nvSpPr>
          <p:cNvPr id="38" name="Text 35"/>
          <p:cNvSpPr txBox="1"/>
          <p:nvPr/>
        </p:nvSpPr>
        <p:spPr>
          <a:xfrm>
            <a:off x="1344168" y="4187952"/>
            <a:ext cx="4389120" cy="457200"/>
          </a:xfrm>
          <a:prstGeom prst="rect">
            <a:avLst/>
          </a:prstGeom>
          <a:noFill/>
          <a:ln/>
        </p:spPr>
        <p:txBody>
          <a:bodyPr wrap="square" lIns="0" tIns="0" rIns="0" bIns="0" rtlCol="0" anchor="ctr"/>
          <a:lstStyle/>
          <a:p>
            <a:pPr indent="0" marL="0">
              <a:buNone/>
            </a:pPr>
            <a:r>
              <a:rPr lang="en-US" sz="1100" dirty="0">
                <a:solidFill>
                  <a:srgbClr val="262626"/>
                </a:solidFill>
                <a:latin typeface="Arial" pitchFamily="34" charset="0"/>
                <a:ea typeface="Arial" pitchFamily="34" charset="-122"/>
                <a:cs typeface="Arial" pitchFamily="34" charset="-120"/>
              </a:rPr>
              <a:t>Doxology — “to whom be glory forever and ever. Amen”</a:t>
            </a:r>
            <a:endParaRPr lang="en-US" sz="1100" dirty="0"/>
          </a:p>
        </p:txBody>
      </p:sp>
      <p:sp>
        <p:nvSpPr>
          <p:cNvPr id="39" name="Text 36"/>
          <p:cNvSpPr txBox="1"/>
          <p:nvPr/>
        </p:nvSpPr>
        <p:spPr>
          <a:xfrm>
            <a:off x="5806440" y="4187952"/>
            <a:ext cx="2788920" cy="45720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δόξα</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the Father's glory (cf. Phil 2:11)</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Grace and peace — a greeting with a point</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1:3 · Exposition 3 — The Greeting</a:t>
            </a:r>
            <a:endParaRPr lang="en-US" sz="1200" dirty="0"/>
          </a:p>
        </p:txBody>
      </p:sp>
      <p:sp>
        <p:nvSpPr>
          <p:cNvPr id="5" name="Shape 2"/>
          <p:cNvSpPr/>
          <p:nvPr/>
        </p:nvSpPr>
        <p:spPr>
          <a:xfrm>
            <a:off x="457200" y="1188720"/>
            <a:ext cx="4023360" cy="566928"/>
          </a:xfrm>
          <a:prstGeom prst="rect">
            <a:avLst/>
          </a:prstGeom>
          <a:solidFill>
            <a:srgbClr val="2E5496"/>
          </a:solidFill>
          <a:ln w="12700">
            <a:solidFill>
              <a:srgbClr val="2E5496"/>
            </a:solidFill>
            <a:prstDash val="solid"/>
          </a:ln>
        </p:spPr>
      </p:sp>
      <p:sp>
        <p:nvSpPr>
          <p:cNvPr id="6" name="Text 3"/>
          <p:cNvSpPr txBox="1"/>
          <p:nvPr/>
        </p:nvSpPr>
        <p:spPr>
          <a:xfrm>
            <a:off x="548640" y="1234440"/>
            <a:ext cx="3840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Grace — the Greek greeting</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χάρις</a:t>
            </a:r>
            <a:pPr indent="0" marL="0">
              <a:buNone/>
            </a:pPr>
            <a:r>
              <a:rPr lang="en-US" sz="850" dirty="0">
                <a:solidFill>
                  <a:srgbClr val="DCE4F2"/>
                </a:solidFill>
                <a:latin typeface="Arial" pitchFamily="34" charset="0"/>
                <a:ea typeface="Arial" pitchFamily="34" charset="-122"/>
                <a:cs typeface="Arial" pitchFamily="34" charset="-120"/>
              </a:rPr>
              <a:t>  charis · G5485 · Nom. Fem. Sg.</a:t>
            </a:r>
            <a:endParaRPr lang="en-US" sz="1200" dirty="0"/>
          </a:p>
        </p:txBody>
      </p:sp>
      <p:sp>
        <p:nvSpPr>
          <p:cNvPr id="7" name="Shape 4"/>
          <p:cNvSpPr/>
          <p:nvPr/>
        </p:nvSpPr>
        <p:spPr>
          <a:xfrm>
            <a:off x="457200" y="1755648"/>
            <a:ext cx="4023360" cy="1947672"/>
          </a:xfrm>
          <a:prstGeom prst="rect">
            <a:avLst/>
          </a:prstGeom>
          <a:solidFill>
            <a:srgbClr val="F2F6FC"/>
          </a:solidFill>
          <a:ln w="9525">
            <a:solidFill>
              <a:srgbClr val="D5DCEA"/>
            </a:solidFill>
            <a:prstDash val="solid"/>
          </a:ln>
        </p:spPr>
      </p:sp>
      <p:sp>
        <p:nvSpPr>
          <p:cNvPr id="8" name="Text 5"/>
          <p:cNvSpPr txBox="1"/>
          <p:nvPr/>
        </p:nvSpPr>
        <p:spPr>
          <a:xfrm>
            <a:off x="548640" y="1828800"/>
            <a:ext cx="3840480" cy="1819656"/>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Here, not grace for salvation</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God's unmerited favor sufficient to sustain the believer's daily life</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The very truth the Judaizers undermined by adding law-keeping</a:t>
            </a:r>
            <a:endParaRPr lang="en-US" sz="1300" dirty="0"/>
          </a:p>
        </p:txBody>
      </p:sp>
      <p:sp>
        <p:nvSpPr>
          <p:cNvPr id="9" name="Shape 6"/>
          <p:cNvSpPr/>
          <p:nvPr/>
        </p:nvSpPr>
        <p:spPr>
          <a:xfrm>
            <a:off x="4663440" y="1188720"/>
            <a:ext cx="4023360" cy="566928"/>
          </a:xfrm>
          <a:prstGeom prst="rect">
            <a:avLst/>
          </a:prstGeom>
          <a:solidFill>
            <a:srgbClr val="2E5496"/>
          </a:solidFill>
          <a:ln w="12700">
            <a:solidFill>
              <a:srgbClr val="2E5496"/>
            </a:solidFill>
            <a:prstDash val="solid"/>
          </a:ln>
        </p:spPr>
      </p:sp>
      <p:sp>
        <p:nvSpPr>
          <p:cNvPr id="10" name="Text 7"/>
          <p:cNvSpPr txBox="1"/>
          <p:nvPr/>
        </p:nvSpPr>
        <p:spPr>
          <a:xfrm>
            <a:off x="4754880" y="1234440"/>
            <a:ext cx="3840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Peace — the Jewish greeting</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εἰρήνη · שָׁלוֹם</a:t>
            </a:r>
            <a:pPr indent="0" marL="0">
              <a:buNone/>
            </a:pPr>
            <a:r>
              <a:rPr lang="en-US" sz="850" dirty="0">
                <a:solidFill>
                  <a:srgbClr val="DCE4F2"/>
                </a:solidFill>
                <a:latin typeface="Arial" pitchFamily="34" charset="0"/>
                <a:ea typeface="Arial" pitchFamily="34" charset="-122"/>
                <a:cs typeface="Arial" pitchFamily="34" charset="-120"/>
              </a:rPr>
              <a:t>  eirēnē · G1515 · LXX: shalom</a:t>
            </a:r>
            <a:endParaRPr lang="en-US" sz="1200" dirty="0"/>
          </a:p>
        </p:txBody>
      </p:sp>
      <p:sp>
        <p:nvSpPr>
          <p:cNvPr id="11" name="Shape 8"/>
          <p:cNvSpPr/>
          <p:nvPr/>
        </p:nvSpPr>
        <p:spPr>
          <a:xfrm>
            <a:off x="4663440" y="1755648"/>
            <a:ext cx="4023360" cy="1947672"/>
          </a:xfrm>
          <a:prstGeom prst="rect">
            <a:avLst/>
          </a:prstGeom>
          <a:solidFill>
            <a:srgbClr val="F2F6FC"/>
          </a:solidFill>
          <a:ln w="9525">
            <a:solidFill>
              <a:srgbClr val="D5DCEA"/>
            </a:solidFill>
            <a:prstDash val="solid"/>
          </a:ln>
        </p:spPr>
      </p:sp>
      <p:sp>
        <p:nvSpPr>
          <p:cNvPr id="12" name="Text 9"/>
          <p:cNvSpPr txBox="1"/>
          <p:nvPr/>
        </p:nvSpPr>
        <p:spPr>
          <a:xfrm>
            <a:off x="4754880" y="1828800"/>
            <a:ext cx="3840480" cy="1819656"/>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Positive wholeness and wellness</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Enjoyed when right with God, positionally and experientially</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Only a believer living under grace can extend it</a:t>
            </a:r>
            <a:endParaRPr lang="en-US" sz="1300" dirty="0"/>
          </a:p>
        </p:txBody>
      </p:sp>
      <p:sp>
        <p:nvSpPr>
          <p:cNvPr id="13" name="Shape 10"/>
          <p:cNvSpPr/>
          <p:nvPr/>
        </p:nvSpPr>
        <p:spPr>
          <a:xfrm>
            <a:off x="457200" y="3886200"/>
            <a:ext cx="8229600" cy="548640"/>
          </a:xfrm>
          <a:prstGeom prst="roundRect">
            <a:avLst>
              <a:gd name="adj" fmla="val 10000"/>
            </a:avLst>
          </a:prstGeom>
          <a:solidFill>
            <a:srgbClr val="1F3864"/>
          </a:solidFill>
          <a:ln w="12700">
            <a:solidFill>
              <a:srgbClr val="1F3864"/>
            </a:solidFill>
            <a:prstDash val="solid"/>
          </a:ln>
        </p:spPr>
      </p:sp>
      <p:sp>
        <p:nvSpPr>
          <p:cNvPr id="14" name="Text 11"/>
          <p:cNvSpPr txBox="1"/>
          <p:nvPr/>
        </p:nvSpPr>
        <p:spPr>
          <a:xfrm>
            <a:off x="621792" y="3886200"/>
            <a:ext cx="7900416" cy="54864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Our goal: hold fast to grace so we may serve God acceptably. You cannot give a greeting of grace apart from living under it.</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“Who gave Himself … that He might deliver us”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1:4–5 · Exposition 5–6 — Basis and purpose</a:t>
            </a:r>
            <a:endParaRPr lang="en-US" sz="1200" dirty="0"/>
          </a:p>
        </p:txBody>
      </p:sp>
      <p:sp>
        <p:nvSpPr>
          <p:cNvPr id="5" name="Shape 2"/>
          <p:cNvSpPr/>
          <p:nvPr/>
        </p:nvSpPr>
        <p:spPr>
          <a:xfrm>
            <a:off x="457200" y="1188720"/>
            <a:ext cx="2651760" cy="566928"/>
          </a:xfrm>
          <a:prstGeom prst="rect">
            <a:avLst/>
          </a:prstGeom>
          <a:solidFill>
            <a:srgbClr val="2E5496"/>
          </a:solidFill>
          <a:ln w="12700">
            <a:solidFill>
              <a:srgbClr val="2E5496"/>
            </a:solidFill>
            <a:prstDash val="solid"/>
          </a:ln>
        </p:spPr>
      </p:sp>
      <p:sp>
        <p:nvSpPr>
          <p:cNvPr id="6" name="Text 3"/>
          <p:cNvSpPr txBox="1"/>
          <p:nvPr/>
        </p:nvSpPr>
        <p:spPr>
          <a:xfrm>
            <a:off x="548640" y="1234440"/>
            <a:ext cx="24688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He gave</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δούς</a:t>
            </a:r>
            <a:pPr indent="0" marL="0">
              <a:buNone/>
            </a:pPr>
            <a:r>
              <a:rPr lang="en-US" sz="850" dirty="0">
                <a:solidFill>
                  <a:srgbClr val="DCE4F2"/>
                </a:solidFill>
                <a:latin typeface="Arial" pitchFamily="34" charset="0"/>
                <a:ea typeface="Arial" pitchFamily="34" charset="-122"/>
                <a:cs typeface="Arial" pitchFamily="34" charset="-120"/>
              </a:rPr>
              <a:t>  Aor. Act. Ptc.</a:t>
            </a:r>
            <a:endParaRPr lang="en-US" sz="1200" dirty="0"/>
          </a:p>
        </p:txBody>
      </p:sp>
      <p:sp>
        <p:nvSpPr>
          <p:cNvPr id="7" name="Shape 4"/>
          <p:cNvSpPr/>
          <p:nvPr/>
        </p:nvSpPr>
        <p:spPr>
          <a:xfrm>
            <a:off x="457200" y="1755648"/>
            <a:ext cx="2651760" cy="1810512"/>
          </a:xfrm>
          <a:prstGeom prst="rect">
            <a:avLst/>
          </a:prstGeom>
          <a:solidFill>
            <a:srgbClr val="F2F6FC"/>
          </a:solidFill>
          <a:ln w="9525">
            <a:solidFill>
              <a:srgbClr val="D5DCEA"/>
            </a:solidFill>
            <a:prstDash val="solid"/>
          </a:ln>
        </p:spPr>
      </p:sp>
      <p:sp>
        <p:nvSpPr>
          <p:cNvPr id="8" name="Text 5"/>
          <p:cNvSpPr txBox="1"/>
          <p:nvPr/>
        </p:nvSpPr>
        <p:spPr>
          <a:xfrm>
            <a:off x="548640" y="1828800"/>
            <a:ext cx="2468880" cy="1682496"/>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Active voice</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A voluntary death — not a tragedy that overtook Him</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“No one takes My life from Me”</a:t>
            </a:r>
            <a:endParaRPr lang="en-US" sz="1300" dirty="0"/>
          </a:p>
        </p:txBody>
      </p:sp>
      <p:sp>
        <p:nvSpPr>
          <p:cNvPr id="9" name="Shape 6"/>
          <p:cNvSpPr/>
          <p:nvPr/>
        </p:nvSpPr>
        <p:spPr>
          <a:xfrm>
            <a:off x="3246120" y="1188720"/>
            <a:ext cx="2651760" cy="566928"/>
          </a:xfrm>
          <a:prstGeom prst="rect">
            <a:avLst/>
          </a:prstGeom>
          <a:solidFill>
            <a:srgbClr val="2E5496"/>
          </a:solidFill>
          <a:ln w="12700">
            <a:solidFill>
              <a:srgbClr val="2E5496"/>
            </a:solidFill>
            <a:prstDash val="solid"/>
          </a:ln>
        </p:spPr>
      </p:sp>
      <p:sp>
        <p:nvSpPr>
          <p:cNvPr id="10" name="Text 7"/>
          <p:cNvSpPr txBox="1"/>
          <p:nvPr/>
        </p:nvSpPr>
        <p:spPr>
          <a:xfrm>
            <a:off x="3337560" y="1234440"/>
            <a:ext cx="24688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Himself</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ἑαυτόν</a:t>
            </a:r>
            <a:pPr indent="0" marL="0">
              <a:buNone/>
            </a:pPr>
            <a:r>
              <a:rPr lang="en-US" sz="850" dirty="0">
                <a:solidFill>
                  <a:srgbClr val="DCE4F2"/>
                </a:solidFill>
                <a:latin typeface="Arial" pitchFamily="34" charset="0"/>
                <a:ea typeface="Arial" pitchFamily="34" charset="-122"/>
                <a:cs typeface="Arial" pitchFamily="34" charset="-120"/>
              </a:rPr>
              <a:t>  Acc. Masc. Sg. (reflexive)</a:t>
            </a:r>
            <a:endParaRPr lang="en-US" sz="1200" dirty="0"/>
          </a:p>
        </p:txBody>
      </p:sp>
      <p:sp>
        <p:nvSpPr>
          <p:cNvPr id="11" name="Shape 8"/>
          <p:cNvSpPr/>
          <p:nvPr/>
        </p:nvSpPr>
        <p:spPr>
          <a:xfrm>
            <a:off x="3246120" y="1755648"/>
            <a:ext cx="2651760" cy="1810512"/>
          </a:xfrm>
          <a:prstGeom prst="rect">
            <a:avLst/>
          </a:prstGeom>
          <a:solidFill>
            <a:srgbClr val="F2F6FC"/>
          </a:solidFill>
          <a:ln w="9525">
            <a:solidFill>
              <a:srgbClr val="D5DCEA"/>
            </a:solidFill>
            <a:prstDash val="solid"/>
          </a:ln>
        </p:spPr>
      </p:sp>
      <p:sp>
        <p:nvSpPr>
          <p:cNvPr id="12" name="Text 9"/>
          <p:cNvSpPr txBox="1"/>
          <p:nvPr/>
        </p:nvSpPr>
        <p:spPr>
          <a:xfrm>
            <a:off x="3337560" y="1828800"/>
            <a:ext cx="2468880" cy="1682496"/>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Personal and total surrender</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His whole person, not merely His body</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Ground of complete forgiveness</a:t>
            </a:r>
            <a:endParaRPr lang="en-US" sz="1300" dirty="0"/>
          </a:p>
        </p:txBody>
      </p:sp>
      <p:sp>
        <p:nvSpPr>
          <p:cNvPr id="13" name="Shape 10"/>
          <p:cNvSpPr/>
          <p:nvPr/>
        </p:nvSpPr>
        <p:spPr>
          <a:xfrm>
            <a:off x="6035040" y="1188720"/>
            <a:ext cx="2651760" cy="566928"/>
          </a:xfrm>
          <a:prstGeom prst="rect">
            <a:avLst/>
          </a:prstGeom>
          <a:solidFill>
            <a:srgbClr val="2E5496"/>
          </a:solidFill>
          <a:ln w="12700">
            <a:solidFill>
              <a:srgbClr val="2E5496"/>
            </a:solidFill>
            <a:prstDash val="solid"/>
          </a:ln>
        </p:spPr>
      </p:sp>
      <p:sp>
        <p:nvSpPr>
          <p:cNvPr id="14" name="Text 11"/>
          <p:cNvSpPr txBox="1"/>
          <p:nvPr/>
        </p:nvSpPr>
        <p:spPr>
          <a:xfrm>
            <a:off x="6126480" y="1234440"/>
            <a:ext cx="24688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Might deliver</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ἐξέληται</a:t>
            </a:r>
            <a:pPr indent="0" marL="0">
              <a:buNone/>
            </a:pPr>
            <a:r>
              <a:rPr lang="en-US" sz="850" dirty="0">
                <a:solidFill>
                  <a:srgbClr val="DCE4F2"/>
                </a:solidFill>
                <a:latin typeface="Arial" pitchFamily="34" charset="0"/>
                <a:ea typeface="Arial" pitchFamily="34" charset="-122"/>
                <a:cs typeface="Arial" pitchFamily="34" charset="-120"/>
              </a:rPr>
              <a:t>  Aor. Mid. Subj.</a:t>
            </a:r>
            <a:endParaRPr lang="en-US" sz="1200" dirty="0"/>
          </a:p>
        </p:txBody>
      </p:sp>
      <p:sp>
        <p:nvSpPr>
          <p:cNvPr id="15" name="Shape 12"/>
          <p:cNvSpPr/>
          <p:nvPr/>
        </p:nvSpPr>
        <p:spPr>
          <a:xfrm>
            <a:off x="6035040" y="1755648"/>
            <a:ext cx="2651760" cy="1810512"/>
          </a:xfrm>
          <a:prstGeom prst="rect">
            <a:avLst/>
          </a:prstGeom>
          <a:solidFill>
            <a:srgbClr val="F2F6FC"/>
          </a:solidFill>
          <a:ln w="9525">
            <a:solidFill>
              <a:srgbClr val="D5DCEA"/>
            </a:solidFill>
            <a:prstDash val="solid"/>
          </a:ln>
        </p:spPr>
      </p:sp>
      <p:sp>
        <p:nvSpPr>
          <p:cNvPr id="16" name="Text 13"/>
          <p:cNvSpPr txBox="1"/>
          <p:nvPr/>
        </p:nvSpPr>
        <p:spPr>
          <a:xfrm>
            <a:off x="6126480" y="1828800"/>
            <a:ext cx="2468880" cy="1682496"/>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To pluck out, rescue</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Future: when He returns</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Present: from this evil age now (John 17:15–17)</a:t>
            </a:r>
            <a:endParaRPr lang="en-US" sz="1300" dirty="0"/>
          </a:p>
        </p:txBody>
      </p:sp>
      <p:sp>
        <p:nvSpPr>
          <p:cNvPr id="17" name="Shape 14"/>
          <p:cNvSpPr/>
          <p:nvPr/>
        </p:nvSpPr>
        <p:spPr>
          <a:xfrm>
            <a:off x="457200" y="3749040"/>
            <a:ext cx="8229600" cy="548640"/>
          </a:xfrm>
          <a:prstGeom prst="roundRect">
            <a:avLst>
              <a:gd name="adj" fmla="val 10000"/>
            </a:avLst>
          </a:prstGeom>
          <a:solidFill>
            <a:srgbClr val="1F3864"/>
          </a:solidFill>
          <a:ln w="12700">
            <a:solidFill>
              <a:srgbClr val="1F3864"/>
            </a:solidFill>
            <a:prstDash val="solid"/>
          </a:ln>
        </p:spPr>
      </p:sp>
      <p:sp>
        <p:nvSpPr>
          <p:cNvPr id="18" name="Text 15"/>
          <p:cNvSpPr txBox="1"/>
          <p:nvPr/>
        </p:nvSpPr>
        <p:spPr>
          <a:xfrm>
            <a:off x="621792" y="3749040"/>
            <a:ext cx="7900416" cy="54864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Salvation is not just a ticket to heaven — but it is that. Verse 5: “to whom be glory forever and ever. Amen.”</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Discuss and apply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1:1–5 · from the study's posted questions and applications</a:t>
            </a:r>
            <a:endParaRPr lang="en-US" sz="1200" dirty="0"/>
          </a:p>
        </p:txBody>
      </p:sp>
      <p:sp>
        <p:nvSpPr>
          <p:cNvPr id="5" name="Shape 2"/>
          <p:cNvSpPr/>
          <p:nvPr/>
        </p:nvSpPr>
        <p:spPr>
          <a:xfrm>
            <a:off x="457200" y="1115568"/>
            <a:ext cx="4023360" cy="384048"/>
          </a:xfrm>
          <a:prstGeom prst="rect">
            <a:avLst/>
          </a:prstGeom>
          <a:solidFill>
            <a:srgbClr val="2E5496"/>
          </a:solidFill>
          <a:ln w="12700">
            <a:solidFill>
              <a:srgbClr val="2E5496"/>
            </a:solidFill>
            <a:prstDash val="solid"/>
          </a:ln>
        </p:spPr>
      </p:sp>
      <p:sp>
        <p:nvSpPr>
          <p:cNvPr id="6" name="Text 3"/>
          <p:cNvSpPr txBox="1"/>
          <p:nvPr/>
        </p:nvSpPr>
        <p:spPr>
          <a:xfrm>
            <a:off x="56692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Discuss</a:t>
            </a:r>
            <a:endParaRPr lang="en-US" sz="1300" dirty="0"/>
          </a:p>
        </p:txBody>
      </p:sp>
      <p:sp>
        <p:nvSpPr>
          <p:cNvPr id="7" name="Shape 4"/>
          <p:cNvSpPr/>
          <p:nvPr/>
        </p:nvSpPr>
        <p:spPr>
          <a:xfrm>
            <a:off x="457200" y="1499616"/>
            <a:ext cx="4023360" cy="2359152"/>
          </a:xfrm>
          <a:prstGeom prst="rect">
            <a:avLst/>
          </a:prstGeom>
          <a:solidFill>
            <a:srgbClr val="F2F6FC"/>
          </a:solidFill>
          <a:ln w="9525">
            <a:solidFill>
              <a:srgbClr val="D5DCEA"/>
            </a:solidFill>
            <a:prstDash val="solid"/>
          </a:ln>
        </p:spPr>
      </p:sp>
      <p:sp>
        <p:nvSpPr>
          <p:cNvPr id="8" name="Shape 5"/>
          <p:cNvSpPr/>
          <p:nvPr/>
        </p:nvSpPr>
        <p:spPr>
          <a:xfrm>
            <a:off x="4663440" y="1115568"/>
            <a:ext cx="4023360" cy="384048"/>
          </a:xfrm>
          <a:prstGeom prst="rect">
            <a:avLst/>
          </a:prstGeom>
          <a:solidFill>
            <a:srgbClr val="375623"/>
          </a:solidFill>
          <a:ln w="12700">
            <a:solidFill>
              <a:srgbClr val="375623"/>
            </a:solidFill>
            <a:prstDash val="solid"/>
          </a:ln>
        </p:spPr>
      </p:sp>
      <p:sp>
        <p:nvSpPr>
          <p:cNvPr id="9" name="Text 6"/>
          <p:cNvSpPr txBox="1"/>
          <p:nvPr/>
        </p:nvSpPr>
        <p:spPr>
          <a:xfrm>
            <a:off x="477316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Apply</a:t>
            </a:r>
            <a:endParaRPr lang="en-US" sz="1300" dirty="0"/>
          </a:p>
        </p:txBody>
      </p:sp>
      <p:sp>
        <p:nvSpPr>
          <p:cNvPr id="10" name="Shape 7"/>
          <p:cNvSpPr/>
          <p:nvPr/>
        </p:nvSpPr>
        <p:spPr>
          <a:xfrm>
            <a:off x="4663440" y="1499616"/>
            <a:ext cx="4023360" cy="2359152"/>
          </a:xfrm>
          <a:prstGeom prst="rect">
            <a:avLst/>
          </a:prstGeom>
          <a:solidFill>
            <a:srgbClr val="F2F6FC"/>
          </a:solidFill>
          <a:ln w="9525">
            <a:solidFill>
              <a:srgbClr val="D5DCEA"/>
            </a:solidFill>
            <a:prstDash val="solid"/>
          </a:ln>
        </p:spPr>
      </p:sp>
      <p:sp>
        <p:nvSpPr>
          <p:cNvPr id="11" name="Shape 8"/>
          <p:cNvSpPr/>
          <p:nvPr/>
        </p:nvSpPr>
        <p:spPr>
          <a:xfrm>
            <a:off x="566928" y="1636776"/>
            <a:ext cx="347472" cy="347472"/>
          </a:xfrm>
          <a:prstGeom prst="ellipse">
            <a:avLst/>
          </a:prstGeom>
          <a:solidFill>
            <a:srgbClr val="2E5496"/>
          </a:solidFill>
          <a:ln w="12700">
            <a:solidFill>
              <a:srgbClr val="2E5496"/>
            </a:solidFill>
            <a:prstDash val="solid"/>
          </a:ln>
        </p:spPr>
      </p:sp>
      <p:sp>
        <p:nvSpPr>
          <p:cNvPr id="12" name="Text 9"/>
          <p:cNvSpPr txBox="1"/>
          <p:nvPr/>
        </p:nvSpPr>
        <p:spPr>
          <a:xfrm>
            <a:off x="566928" y="163677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3" name="Text 10"/>
          <p:cNvSpPr txBox="1"/>
          <p:nvPr/>
        </p:nvSpPr>
        <p:spPr>
          <a:xfrm>
            <a:off x="1005840" y="1591056"/>
            <a:ext cx="3364992" cy="1042416"/>
          </a:xfrm>
          <a:prstGeom prst="rect">
            <a:avLst/>
          </a:prstGeom>
          <a:noFill/>
          <a:ln/>
        </p:spPr>
        <p:txBody>
          <a:bodyPr wrap="square" lIns="0" tIns="0" rIns="0" bIns="0" rtlCol="0" anchor="t"/>
          <a:lstStyle/>
          <a:p>
            <a:pPr indent="0" marL="0">
              <a:buNone/>
            </a:pPr>
            <a:r>
              <a:rPr lang="en-US" sz="1350" dirty="0">
                <a:solidFill>
                  <a:srgbClr val="262626"/>
                </a:solidFill>
                <a:latin typeface="Arial" pitchFamily="34" charset="0"/>
                <a:ea typeface="Arial" pitchFamily="34" charset="-122"/>
                <a:cs typeface="Arial" pitchFamily="34" charset="-120"/>
              </a:rPr>
              <a:t>Why does Paul spend so much of verse 1 defending his apostleship before he even gets to his main subject?</a:t>
            </a:r>
            <a:endParaRPr lang="en-US" sz="1350" dirty="0"/>
          </a:p>
        </p:txBody>
      </p:sp>
      <p:sp>
        <p:nvSpPr>
          <p:cNvPr id="14" name="Shape 11"/>
          <p:cNvSpPr/>
          <p:nvPr/>
        </p:nvSpPr>
        <p:spPr>
          <a:xfrm>
            <a:off x="566928" y="2724912"/>
            <a:ext cx="347472" cy="347472"/>
          </a:xfrm>
          <a:prstGeom prst="ellipse">
            <a:avLst/>
          </a:prstGeom>
          <a:solidFill>
            <a:srgbClr val="2E5496"/>
          </a:solidFill>
          <a:ln w="12700">
            <a:solidFill>
              <a:srgbClr val="2E5496"/>
            </a:solidFill>
            <a:prstDash val="solid"/>
          </a:ln>
        </p:spPr>
      </p:sp>
      <p:sp>
        <p:nvSpPr>
          <p:cNvPr id="15" name="Text 12"/>
          <p:cNvSpPr txBox="1"/>
          <p:nvPr/>
        </p:nvSpPr>
        <p:spPr>
          <a:xfrm>
            <a:off x="566928" y="272491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6" name="Text 13"/>
          <p:cNvSpPr txBox="1"/>
          <p:nvPr/>
        </p:nvSpPr>
        <p:spPr>
          <a:xfrm>
            <a:off x="1005840" y="2679192"/>
            <a:ext cx="3364992" cy="1042416"/>
          </a:xfrm>
          <a:prstGeom prst="rect">
            <a:avLst/>
          </a:prstGeom>
          <a:noFill/>
          <a:ln/>
        </p:spPr>
        <p:txBody>
          <a:bodyPr wrap="square" lIns="0" tIns="0" rIns="0" bIns="0" rtlCol="0" anchor="t"/>
          <a:lstStyle/>
          <a:p>
            <a:pPr indent="0" marL="0">
              <a:buNone/>
            </a:pPr>
            <a:r>
              <a:rPr lang="en-US" sz="1350" dirty="0">
                <a:solidFill>
                  <a:srgbClr val="262626"/>
                </a:solidFill>
                <a:latin typeface="Arial" pitchFamily="34" charset="0"/>
                <a:ea typeface="Arial" pitchFamily="34" charset="-122"/>
                <a:cs typeface="Arial" pitchFamily="34" charset="-120"/>
              </a:rPr>
              <a:t>How does Paul's use of “grace” in verse 3 differ from how the word is often used today?</a:t>
            </a:r>
            <a:endParaRPr lang="en-US" sz="1350" dirty="0"/>
          </a:p>
        </p:txBody>
      </p:sp>
      <p:sp>
        <p:nvSpPr>
          <p:cNvPr id="17" name="Text 14"/>
          <p:cNvSpPr txBox="1"/>
          <p:nvPr/>
        </p:nvSpPr>
        <p:spPr>
          <a:xfrm>
            <a:off x="4791456" y="1591056"/>
            <a:ext cx="3767328" cy="1042416"/>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Resting in a Settled Identity</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Write down one identity truth Scripture gives you and read it aloud each morning this week.</a:t>
            </a:r>
            <a:endParaRPr lang="en-US" sz="1200" dirty="0"/>
          </a:p>
        </p:txBody>
      </p:sp>
      <p:sp>
        <p:nvSpPr>
          <p:cNvPr id="18" name="Text 15"/>
          <p:cNvSpPr txBox="1"/>
          <p:nvPr/>
        </p:nvSpPr>
        <p:spPr>
          <a:xfrm>
            <a:off x="4791456" y="2679192"/>
            <a:ext cx="3767328" cy="1042416"/>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Living Under Grace, Not Under Law</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Name one “rule” you've kept to feel acceptable to God, and replace it with a specific act of grateful obedience.</a:t>
            </a:r>
            <a:endParaRPr lang="en-US" sz="1200" dirty="0"/>
          </a:p>
        </p:txBody>
      </p:sp>
      <p:sp>
        <p:nvSpPr>
          <p:cNvPr id="19" name="Shape 16"/>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0" name="Text 17"/>
          <p:cNvSpPr txBox="1"/>
          <p:nvPr/>
        </p:nvSpPr>
        <p:spPr>
          <a:xfrm>
            <a:off x="621792" y="4023360"/>
            <a:ext cx="7900416" cy="566928"/>
          </a:xfrm>
          <a:prstGeom prst="rect">
            <a:avLst/>
          </a:prstGeom>
          <a:noFill/>
          <a:ln/>
        </p:spPr>
        <p:txBody>
          <a:bodyPr wrap="square" lIns="0" tIns="0" rIns="0" bIns="0" rtlCol="0" anchor="ctr"/>
          <a:lstStyle/>
          <a:p>
            <a:pPr indent="0" marL="0">
              <a:buNone/>
            </a:pPr>
            <a:r>
              <a:rPr lang="en-US" sz="1250" b="1" dirty="0">
                <a:solidFill>
                  <a:srgbClr val="C9D5EE"/>
                </a:solidFill>
                <a:latin typeface="Arial" pitchFamily="34" charset="0"/>
                <a:ea typeface="Arial" pitchFamily="34" charset="-122"/>
                <a:cs typeface="Arial" pitchFamily="34" charset="-120"/>
              </a:rPr>
              <a:t>In one line:  </a:t>
            </a:r>
            <a:pPr indent="0" marL="0">
              <a:buNone/>
            </a:pPr>
            <a:r>
              <a:rPr lang="en-US" sz="1250" dirty="0">
                <a:solidFill>
                  <a:srgbClr val="FFFFFF"/>
                </a:solidFill>
                <a:latin typeface="Arial" pitchFamily="34" charset="0"/>
                <a:ea typeface="Arial" pitchFamily="34" charset="-122"/>
                <a:cs typeface="Arial" pitchFamily="34" charset="-120"/>
              </a:rPr>
              <a:t>Paul's authority came from God — and the grace that saves us is the grace that sustains us.</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lstStyle/>
          <a:p>
            <a:pPr indent="0" marL="0">
              <a:buNone/>
            </a:pPr>
            <a:r>
              <a:rPr lang="en-US" sz="1400" dirty="0">
                <a:solidFill>
                  <a:srgbClr val="C9D5EE"/>
                </a:solidFill>
                <a:latin typeface="Arial" pitchFamily="34" charset="0"/>
                <a:ea typeface="Arial" pitchFamily="34" charset="-122"/>
                <a:cs typeface="Arial" pitchFamily="34" charset="-120"/>
              </a:rPr>
              <a:t>Study 2 of 16 · Galatians 1:6–10</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The One True Gospel</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t"/>
          <a:lstStyle/>
          <a:p>
            <a:pPr indent="0" marL="0">
              <a:buNone/>
            </a:pPr>
            <a:r>
              <a:rPr lang="en-US" sz="1500" i="1" dirty="0">
                <a:solidFill>
                  <a:srgbClr val="E6ECF7"/>
                </a:solidFill>
                <a:latin typeface="Arial" pitchFamily="34" charset="0"/>
                <a:ea typeface="Arial" pitchFamily="34" charset="-122"/>
                <a:cs typeface="Arial" pitchFamily="34" charset="-120"/>
              </a:rPr>
              <a:t>Turning from grace is desertion from Christ Himself. Adding law to grace doesn't modify the gospel — it replaces it, and any other gospel stands under God's curse.</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The passage at a glance</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1:6–10 · Outline from the posted Part 1 table</a:t>
            </a:r>
            <a:endParaRPr lang="en-US" sz="1200" dirty="0"/>
          </a:p>
        </p:txBody>
      </p:sp>
      <p:sp>
        <p:nvSpPr>
          <p:cNvPr id="5" name="Shape 2"/>
          <p:cNvSpPr/>
          <p:nvPr/>
        </p:nvSpPr>
        <p:spPr>
          <a:xfrm>
            <a:off x="457200" y="1188720"/>
            <a:ext cx="2615184" cy="457200"/>
          </a:xfrm>
          <a:prstGeom prst="rect">
            <a:avLst/>
          </a:prstGeom>
          <a:solidFill>
            <a:srgbClr val="2E5496"/>
          </a:solidFill>
          <a:ln w="12700">
            <a:solidFill>
              <a:srgbClr val="2E5496"/>
            </a:solidFill>
            <a:prstDash val="solid"/>
          </a:ln>
        </p:spPr>
      </p:sp>
      <p:sp>
        <p:nvSpPr>
          <p:cNvPr id="6" name="Text 3"/>
          <p:cNvSpPr txBox="1"/>
          <p:nvPr/>
        </p:nvSpPr>
        <p:spPr>
          <a:xfrm>
            <a:off x="548640" y="1234440"/>
            <a:ext cx="2432304"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 The Galatians' Desertion  ·  vv.6–7</a:t>
            </a:r>
            <a:endParaRPr lang="en-US" sz="1200" dirty="0"/>
          </a:p>
        </p:txBody>
      </p:sp>
      <p:sp>
        <p:nvSpPr>
          <p:cNvPr id="7" name="Shape 4"/>
          <p:cNvSpPr/>
          <p:nvPr/>
        </p:nvSpPr>
        <p:spPr>
          <a:xfrm>
            <a:off x="457200" y="1645920"/>
            <a:ext cx="2615184" cy="2926080"/>
          </a:xfrm>
          <a:prstGeom prst="rect">
            <a:avLst/>
          </a:prstGeom>
          <a:solidFill>
            <a:srgbClr val="F2F6FC"/>
          </a:solidFill>
          <a:ln w="9525">
            <a:solidFill>
              <a:srgbClr val="D5DCEA"/>
            </a:solidFill>
            <a:prstDash val="solid"/>
          </a:ln>
        </p:spPr>
      </p:sp>
      <p:sp>
        <p:nvSpPr>
          <p:cNvPr id="8" name="Text 5"/>
          <p:cNvSpPr txBox="1"/>
          <p:nvPr/>
        </p:nvSpPr>
        <p:spPr>
          <a:xfrm>
            <a:off x="548640" y="1719072"/>
            <a:ext cx="2432304" cy="2798064"/>
          </a:xfrm>
          <a:prstGeom prst="rect">
            <a:avLst/>
          </a:prstGeom>
          <a:noFill/>
          <a:ln/>
        </p:spPr>
        <p:txBody>
          <a:bodyPr wrap="square" lIns="0" tIns="0" rIns="0" bIns="0" rtlCol="0" anchor="t"/>
          <a:lstStyle/>
          <a:p>
            <a:pPr marL="127000" indent="-127000">
              <a:spcAft>
                <a:spcPts val="300"/>
              </a:spcAft>
              <a:buSzPct val="100000"/>
              <a:buChar char="•"/>
            </a:pPr>
            <a:r>
              <a:rPr lang="en-US" sz="1200" dirty="0">
                <a:solidFill>
                  <a:srgbClr val="262626"/>
                </a:solidFill>
                <a:latin typeface="Arial" pitchFamily="34" charset="0"/>
                <a:ea typeface="Arial" pitchFamily="34" charset="-122"/>
                <a:cs typeface="Arial" pitchFamily="34" charset="-120"/>
              </a:rPr>
              <a:t>A · Turning from grace is military desertion — voluntary and already underway</a:t>
            </a:r>
            <a:endParaRPr lang="en-US" sz="1200" dirty="0"/>
          </a:p>
          <a:p>
            <a:pPr marL="127000" indent="-127000">
              <a:spcAft>
                <a:spcPts val="300"/>
              </a:spcAft>
              <a:buSzPct val="100000"/>
              <a:buChar char="•"/>
            </a:pPr>
            <a:r>
              <a:rPr lang="en-US" sz="1200" dirty="0">
                <a:solidFill>
                  <a:srgbClr val="262626"/>
                </a:solidFill>
                <a:latin typeface="Arial" pitchFamily="34" charset="0"/>
                <a:ea typeface="Arial" pitchFamily="34" charset="-122"/>
                <a:cs typeface="Arial" pitchFamily="34" charset="-120"/>
              </a:rPr>
              <a:t>B · Deserted from Christ, the One who called them</a:t>
            </a:r>
            <a:endParaRPr lang="en-US" sz="1200" dirty="0"/>
          </a:p>
          <a:p>
            <a:pPr marL="127000" indent="-127000">
              <a:spcAft>
                <a:spcPts val="300"/>
              </a:spcAft>
              <a:buSzPct val="100000"/>
              <a:buChar char="•"/>
            </a:pPr>
            <a:r>
              <a:rPr lang="en-US" sz="1200" dirty="0">
                <a:solidFill>
                  <a:srgbClr val="262626"/>
                </a:solidFill>
                <a:latin typeface="Arial" pitchFamily="34" charset="0"/>
                <a:ea typeface="Arial" pitchFamily="34" charset="-122"/>
                <a:cs typeface="Arial" pitchFamily="34" charset="-120"/>
              </a:rPr>
              <a:t>C · Deserted to a perverted gospel — law added to grace replaces it</a:t>
            </a:r>
            <a:endParaRPr lang="en-US" sz="1200" dirty="0"/>
          </a:p>
        </p:txBody>
      </p:sp>
      <p:sp>
        <p:nvSpPr>
          <p:cNvPr id="9" name="Shape 6"/>
          <p:cNvSpPr/>
          <p:nvPr/>
        </p:nvSpPr>
        <p:spPr>
          <a:xfrm>
            <a:off x="3264408" y="1188720"/>
            <a:ext cx="2615184" cy="457200"/>
          </a:xfrm>
          <a:prstGeom prst="rect">
            <a:avLst/>
          </a:prstGeom>
          <a:solidFill>
            <a:srgbClr val="7030A0"/>
          </a:solidFill>
          <a:ln w="12700">
            <a:solidFill>
              <a:srgbClr val="7030A0"/>
            </a:solidFill>
            <a:prstDash val="solid"/>
          </a:ln>
        </p:spPr>
      </p:sp>
      <p:sp>
        <p:nvSpPr>
          <p:cNvPr id="10" name="Text 7"/>
          <p:cNvSpPr txBox="1"/>
          <p:nvPr/>
        </p:nvSpPr>
        <p:spPr>
          <a:xfrm>
            <a:off x="3355848" y="1234440"/>
            <a:ext cx="2432304"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II. The Curse  ·  vv.8–9</a:t>
            </a:r>
            <a:endParaRPr lang="en-US" sz="1200" dirty="0"/>
          </a:p>
        </p:txBody>
      </p:sp>
      <p:sp>
        <p:nvSpPr>
          <p:cNvPr id="11" name="Shape 8"/>
          <p:cNvSpPr/>
          <p:nvPr/>
        </p:nvSpPr>
        <p:spPr>
          <a:xfrm>
            <a:off x="3264408" y="1645920"/>
            <a:ext cx="2615184" cy="2926080"/>
          </a:xfrm>
          <a:prstGeom prst="rect">
            <a:avLst/>
          </a:prstGeom>
          <a:solidFill>
            <a:srgbClr val="F2F6FC"/>
          </a:solidFill>
          <a:ln w="9525">
            <a:solidFill>
              <a:srgbClr val="D5DCEA"/>
            </a:solidFill>
            <a:prstDash val="solid"/>
          </a:ln>
        </p:spPr>
      </p:sp>
      <p:sp>
        <p:nvSpPr>
          <p:cNvPr id="12" name="Text 9"/>
          <p:cNvSpPr txBox="1"/>
          <p:nvPr/>
        </p:nvSpPr>
        <p:spPr>
          <a:xfrm>
            <a:off x="3355848" y="1719072"/>
            <a:ext cx="2432304" cy="2798064"/>
          </a:xfrm>
          <a:prstGeom prst="rect">
            <a:avLst/>
          </a:prstGeom>
          <a:noFill/>
          <a:ln/>
        </p:spPr>
        <p:txBody>
          <a:bodyPr wrap="square" lIns="0" tIns="0" rIns="0" bIns="0" rtlCol="0" anchor="t"/>
          <a:lstStyle/>
          <a:p>
            <a:pPr marL="127000" indent="-127000">
              <a:spcAft>
                <a:spcPts val="300"/>
              </a:spcAft>
              <a:buSzPct val="100000"/>
              <a:buChar char="•"/>
            </a:pPr>
            <a:r>
              <a:rPr lang="en-US" sz="1200" dirty="0">
                <a:solidFill>
                  <a:srgbClr val="262626"/>
                </a:solidFill>
                <a:latin typeface="Arial" pitchFamily="34" charset="0"/>
                <a:ea typeface="Arial" pitchFamily="34" charset="-122"/>
                <a:cs typeface="Arial" pitchFamily="34" charset="-120"/>
              </a:rPr>
              <a:t>A · Unlikely scenario: even Paul or an angel would be accursed</a:t>
            </a:r>
            <a:endParaRPr lang="en-US" sz="1200" dirty="0"/>
          </a:p>
          <a:p>
            <a:pPr marL="127000" indent="-127000">
              <a:spcAft>
                <a:spcPts val="300"/>
              </a:spcAft>
              <a:buSzPct val="100000"/>
              <a:buChar char="•"/>
            </a:pPr>
            <a:r>
              <a:rPr lang="en-US" sz="1200" dirty="0">
                <a:solidFill>
                  <a:srgbClr val="262626"/>
                </a:solidFill>
                <a:latin typeface="Arial" pitchFamily="34" charset="0"/>
                <a:ea typeface="Arial" pitchFamily="34" charset="-122"/>
                <a:cs typeface="Arial" pitchFamily="34" charset="-120"/>
              </a:rPr>
              <a:t>B · Likely scenario: the Judaizers preaching a different gospel now</a:t>
            </a:r>
            <a:endParaRPr lang="en-US" sz="1200" dirty="0"/>
          </a:p>
          <a:p>
            <a:pPr marL="127000" indent="-127000">
              <a:spcAft>
                <a:spcPts val="300"/>
              </a:spcAft>
              <a:buSzPct val="100000"/>
              <a:buChar char="•"/>
            </a:pPr>
            <a:r>
              <a:rPr lang="en-US" sz="1200" dirty="0">
                <a:solidFill>
                  <a:srgbClr val="262626"/>
                </a:solidFill>
                <a:latin typeface="Arial" pitchFamily="34" charset="0"/>
                <a:ea typeface="Arial" pitchFamily="34" charset="-122"/>
                <a:cs typeface="Arial" pitchFamily="34" charset="-120"/>
              </a:rPr>
              <a:t>Scripture alone is the test of truth</a:t>
            </a:r>
            <a:endParaRPr lang="en-US" sz="1200" dirty="0"/>
          </a:p>
        </p:txBody>
      </p:sp>
      <p:sp>
        <p:nvSpPr>
          <p:cNvPr id="13" name="Shape 10"/>
          <p:cNvSpPr/>
          <p:nvPr/>
        </p:nvSpPr>
        <p:spPr>
          <a:xfrm>
            <a:off x="6071616" y="1188720"/>
            <a:ext cx="2615184" cy="457200"/>
          </a:xfrm>
          <a:prstGeom prst="rect">
            <a:avLst/>
          </a:prstGeom>
          <a:solidFill>
            <a:srgbClr val="375623"/>
          </a:solidFill>
          <a:ln w="12700">
            <a:solidFill>
              <a:srgbClr val="375623"/>
            </a:solidFill>
            <a:prstDash val="solid"/>
          </a:ln>
        </p:spPr>
      </p:sp>
      <p:sp>
        <p:nvSpPr>
          <p:cNvPr id="14" name="Text 11"/>
          <p:cNvSpPr txBox="1"/>
          <p:nvPr/>
        </p:nvSpPr>
        <p:spPr>
          <a:xfrm>
            <a:off x="6163056" y="1234440"/>
            <a:ext cx="2432304"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III. Paul's Wisdom  ·  v.10</a:t>
            </a:r>
            <a:endParaRPr lang="en-US" sz="1200" dirty="0"/>
          </a:p>
        </p:txBody>
      </p:sp>
      <p:sp>
        <p:nvSpPr>
          <p:cNvPr id="15" name="Shape 12"/>
          <p:cNvSpPr/>
          <p:nvPr/>
        </p:nvSpPr>
        <p:spPr>
          <a:xfrm>
            <a:off x="6071616" y="1645920"/>
            <a:ext cx="2615184" cy="2926080"/>
          </a:xfrm>
          <a:prstGeom prst="rect">
            <a:avLst/>
          </a:prstGeom>
          <a:solidFill>
            <a:srgbClr val="F2F6FC"/>
          </a:solidFill>
          <a:ln w="9525">
            <a:solidFill>
              <a:srgbClr val="D5DCEA"/>
            </a:solidFill>
            <a:prstDash val="solid"/>
          </a:ln>
        </p:spPr>
      </p:sp>
      <p:sp>
        <p:nvSpPr>
          <p:cNvPr id="16" name="Text 13"/>
          <p:cNvSpPr txBox="1"/>
          <p:nvPr/>
        </p:nvSpPr>
        <p:spPr>
          <a:xfrm>
            <a:off x="6163056" y="1719072"/>
            <a:ext cx="2432304" cy="2798064"/>
          </a:xfrm>
          <a:prstGeom prst="rect">
            <a:avLst/>
          </a:prstGeom>
          <a:noFill/>
          <a:ln/>
        </p:spPr>
        <p:txBody>
          <a:bodyPr wrap="square" lIns="0" tIns="0" rIns="0" bIns="0" rtlCol="0" anchor="t"/>
          <a:lstStyle/>
          <a:p>
            <a:pPr marL="127000" indent="-127000">
              <a:spcAft>
                <a:spcPts val="300"/>
              </a:spcAft>
              <a:buSzPct val="100000"/>
              <a:buChar char="•"/>
            </a:pPr>
            <a:r>
              <a:rPr lang="en-US" sz="1200" dirty="0">
                <a:solidFill>
                  <a:srgbClr val="262626"/>
                </a:solidFill>
                <a:latin typeface="Arial" pitchFamily="34" charset="0"/>
                <a:ea typeface="Arial" pitchFamily="34" charset="-122"/>
                <a:cs typeface="Arial" pitchFamily="34" charset="-120"/>
              </a:rPr>
              <a:t>Paul serves Christ, not human approval</a:t>
            </a:r>
            <a:endParaRPr lang="en-US" sz="1200" dirty="0"/>
          </a:p>
          <a:p>
            <a:pPr marL="127000" indent="-127000">
              <a:spcAft>
                <a:spcPts val="300"/>
              </a:spcAft>
              <a:buSzPct val="100000"/>
              <a:buChar char="•"/>
            </a:pPr>
            <a:r>
              <a:rPr lang="en-US" sz="1200" dirty="0">
                <a:solidFill>
                  <a:srgbClr val="262626"/>
                </a:solidFill>
                <a:latin typeface="Arial" pitchFamily="34" charset="0"/>
                <a:ea typeface="Arial" pitchFamily="34" charset="-122"/>
                <a:cs typeface="Arial" pitchFamily="34" charset="-120"/>
              </a:rPr>
              <a:t>Grace, not works, is what glorifies Jesus</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Deserting — and so soon</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1:6 · Outline I.A–B</a:t>
            </a:r>
            <a:endParaRPr lang="en-US" sz="1200" dirty="0"/>
          </a:p>
        </p:txBody>
      </p:sp>
      <p:sp>
        <p:nvSpPr>
          <p:cNvPr id="5" name="Shape 2"/>
          <p:cNvSpPr/>
          <p:nvPr/>
        </p:nvSpPr>
        <p:spPr>
          <a:xfrm>
            <a:off x="457200" y="1188720"/>
            <a:ext cx="4023360" cy="566928"/>
          </a:xfrm>
          <a:prstGeom prst="rect">
            <a:avLst/>
          </a:prstGeom>
          <a:solidFill>
            <a:srgbClr val="2E5496"/>
          </a:solidFill>
          <a:ln w="12700">
            <a:solidFill>
              <a:srgbClr val="2E5496"/>
            </a:solidFill>
            <a:prstDash val="solid"/>
          </a:ln>
        </p:spPr>
      </p:sp>
      <p:sp>
        <p:nvSpPr>
          <p:cNvPr id="6" name="Text 3"/>
          <p:cNvSpPr txBox="1"/>
          <p:nvPr/>
        </p:nvSpPr>
        <p:spPr>
          <a:xfrm>
            <a:off x="548640" y="1234440"/>
            <a:ext cx="3840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“You are turning away”</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μετατίθεσθε</a:t>
            </a:r>
            <a:pPr indent="0" marL="0">
              <a:buNone/>
            </a:pPr>
            <a:r>
              <a:rPr lang="en-US" sz="850" dirty="0">
                <a:solidFill>
                  <a:srgbClr val="DCE4F2"/>
                </a:solidFill>
                <a:latin typeface="Arial" pitchFamily="34" charset="0"/>
                <a:ea typeface="Arial" pitchFamily="34" charset="-122"/>
                <a:cs typeface="Arial" pitchFamily="34" charset="-120"/>
              </a:rPr>
              <a:t>  metatithesthe · Pres. Mid. Ind. 2nd Pl.</a:t>
            </a:r>
            <a:endParaRPr lang="en-US" sz="1200" dirty="0"/>
          </a:p>
        </p:txBody>
      </p:sp>
      <p:sp>
        <p:nvSpPr>
          <p:cNvPr id="7" name="Shape 4"/>
          <p:cNvSpPr/>
          <p:nvPr/>
        </p:nvSpPr>
        <p:spPr>
          <a:xfrm>
            <a:off x="457200" y="1755648"/>
            <a:ext cx="4023360" cy="2176272"/>
          </a:xfrm>
          <a:prstGeom prst="rect">
            <a:avLst/>
          </a:prstGeom>
          <a:solidFill>
            <a:srgbClr val="F2F6FC"/>
          </a:solidFill>
          <a:ln w="9525">
            <a:solidFill>
              <a:srgbClr val="D5DCEA"/>
            </a:solidFill>
            <a:prstDash val="solid"/>
          </a:ln>
        </p:spPr>
      </p:sp>
      <p:sp>
        <p:nvSpPr>
          <p:cNvPr id="8" name="Text 5"/>
          <p:cNvSpPr txBox="1"/>
          <p:nvPr/>
        </p:nvSpPr>
        <p:spPr>
          <a:xfrm>
            <a:off x="548640" y="1828800"/>
            <a:ext cx="3840480" cy="2048256"/>
          </a:xfrm>
          <a:prstGeom prst="rect">
            <a:avLst/>
          </a:prstGeom>
          <a:noFill/>
          <a:ln/>
        </p:spPr>
        <p:txBody>
          <a:bodyPr wrap="square" lIns="0" tIns="0" rIns="0" bIns="0" rtlCol="0" anchor="t"/>
          <a:lstStyle/>
          <a:p>
            <a:pPr indent="0" marL="0">
              <a:buNone/>
            </a:pPr>
            <a:endParaRPr lang="en-US" sz="1300" dirty="0"/>
          </a:p>
        </p:txBody>
      </p:sp>
      <p:sp>
        <p:nvSpPr>
          <p:cNvPr id="9" name="Text 6"/>
          <p:cNvSpPr txBox="1"/>
          <p:nvPr/>
        </p:nvSpPr>
        <p:spPr>
          <a:xfrm>
            <a:off x="594360" y="1874520"/>
            <a:ext cx="3749040" cy="411480"/>
          </a:xfrm>
          <a:prstGeom prst="rect">
            <a:avLst/>
          </a:prstGeom>
          <a:noFill/>
          <a:ln/>
        </p:spPr>
        <p:txBody>
          <a:bodyPr wrap="square" lIns="0" tIns="0" rIns="0" bIns="0" rtlCol="0" anchor="ctr"/>
          <a:lstStyle/>
          <a:p>
            <a:pPr indent="0" marL="0">
              <a:buNone/>
            </a:pPr>
            <a:r>
              <a:rPr lang="en-US" sz="1100" b="1" dirty="0">
                <a:solidFill>
                  <a:srgbClr val="1F3864"/>
                </a:solidFill>
                <a:latin typeface="Arial" pitchFamily="34" charset="0"/>
                <a:ea typeface="Arial" pitchFamily="34" charset="-122"/>
                <a:cs typeface="Arial" pitchFamily="34" charset="-120"/>
              </a:rPr>
              <a:t>Military term  </a:t>
            </a:r>
            <a:pPr indent="0" marL="0">
              <a:buNone/>
            </a:pPr>
            <a:r>
              <a:rPr lang="en-US" sz="1150" dirty="0">
                <a:solidFill>
                  <a:srgbClr val="262626"/>
                </a:solidFill>
                <a:latin typeface="Arial" pitchFamily="34" charset="0"/>
                <a:ea typeface="Arial" pitchFamily="34" charset="-122"/>
                <a:cs typeface="Arial" pitchFamily="34" charset="-120"/>
              </a:rPr>
              <a:t>— a soldier deserting his post in battle</a:t>
            </a:r>
            <a:endParaRPr lang="en-US" sz="1200" dirty="0"/>
          </a:p>
        </p:txBody>
      </p:sp>
      <p:sp>
        <p:nvSpPr>
          <p:cNvPr id="10" name="Text 7"/>
          <p:cNvSpPr txBox="1"/>
          <p:nvPr/>
        </p:nvSpPr>
        <p:spPr>
          <a:xfrm>
            <a:off x="594360" y="2350008"/>
            <a:ext cx="3749040" cy="411480"/>
          </a:xfrm>
          <a:prstGeom prst="rect">
            <a:avLst/>
          </a:prstGeom>
          <a:noFill/>
          <a:ln/>
        </p:spPr>
        <p:txBody>
          <a:bodyPr wrap="square" lIns="0" tIns="0" rIns="0" bIns="0" rtlCol="0" anchor="ctr"/>
          <a:lstStyle/>
          <a:p>
            <a:pPr indent="0" marL="0">
              <a:buNone/>
            </a:pPr>
            <a:r>
              <a:rPr lang="en-US" sz="1100" b="1" dirty="0">
                <a:solidFill>
                  <a:srgbClr val="1F3864"/>
                </a:solidFill>
                <a:latin typeface="Arial" pitchFamily="34" charset="0"/>
                <a:ea typeface="Arial" pitchFamily="34" charset="-122"/>
                <a:cs typeface="Arial" pitchFamily="34" charset="-120"/>
              </a:rPr>
              <a:t>Present tense  </a:t>
            </a:r>
            <a:pPr indent="0" marL="0">
              <a:buNone/>
            </a:pPr>
            <a:r>
              <a:rPr lang="en-US" sz="1150" dirty="0">
                <a:solidFill>
                  <a:srgbClr val="262626"/>
                </a:solidFill>
                <a:latin typeface="Arial" pitchFamily="34" charset="0"/>
                <a:ea typeface="Arial" pitchFamily="34" charset="-122"/>
                <a:cs typeface="Arial" pitchFamily="34" charset="-120"/>
              </a:rPr>
              <a:t>— already underway</a:t>
            </a:r>
            <a:endParaRPr lang="en-US" sz="1200" dirty="0"/>
          </a:p>
        </p:txBody>
      </p:sp>
      <p:sp>
        <p:nvSpPr>
          <p:cNvPr id="11" name="Text 8"/>
          <p:cNvSpPr txBox="1"/>
          <p:nvPr/>
        </p:nvSpPr>
        <p:spPr>
          <a:xfrm>
            <a:off x="594360" y="2825496"/>
            <a:ext cx="3749040" cy="411480"/>
          </a:xfrm>
          <a:prstGeom prst="rect">
            <a:avLst/>
          </a:prstGeom>
          <a:noFill/>
          <a:ln/>
        </p:spPr>
        <p:txBody>
          <a:bodyPr wrap="square" lIns="0" tIns="0" rIns="0" bIns="0" rtlCol="0" anchor="ctr"/>
          <a:lstStyle/>
          <a:p>
            <a:pPr indent="0" marL="0">
              <a:buNone/>
            </a:pPr>
            <a:r>
              <a:rPr lang="en-US" sz="1100" b="1" dirty="0">
                <a:solidFill>
                  <a:srgbClr val="1F3864"/>
                </a:solidFill>
                <a:latin typeface="Arial" pitchFamily="34" charset="0"/>
                <a:ea typeface="Arial" pitchFamily="34" charset="-122"/>
                <a:cs typeface="Arial" pitchFamily="34" charset="-120"/>
              </a:rPr>
              <a:t>Middle voice  </a:t>
            </a:r>
            <a:pPr indent="0" marL="0">
              <a:buNone/>
            </a:pPr>
            <a:r>
              <a:rPr lang="en-US" sz="1150" dirty="0">
                <a:solidFill>
                  <a:srgbClr val="262626"/>
                </a:solidFill>
                <a:latin typeface="Arial" pitchFamily="34" charset="0"/>
                <a:ea typeface="Arial" pitchFamily="34" charset="-122"/>
                <a:cs typeface="Arial" pitchFamily="34" charset="-120"/>
              </a:rPr>
              <a:t>— self-initiated, voluntary</a:t>
            </a:r>
            <a:endParaRPr lang="en-US" sz="1200" dirty="0"/>
          </a:p>
        </p:txBody>
      </p:sp>
      <p:sp>
        <p:nvSpPr>
          <p:cNvPr id="12" name="Text 9"/>
          <p:cNvSpPr txBox="1"/>
          <p:nvPr/>
        </p:nvSpPr>
        <p:spPr>
          <a:xfrm>
            <a:off x="594360" y="3300984"/>
            <a:ext cx="3749040" cy="411480"/>
          </a:xfrm>
          <a:prstGeom prst="rect">
            <a:avLst/>
          </a:prstGeom>
          <a:noFill/>
          <a:ln/>
        </p:spPr>
        <p:txBody>
          <a:bodyPr wrap="square" lIns="0" tIns="0" rIns="0" bIns="0" rtlCol="0" anchor="ctr"/>
          <a:lstStyle/>
          <a:p>
            <a:pPr indent="0" marL="0">
              <a:buNone/>
            </a:pPr>
            <a:r>
              <a:rPr lang="en-US" sz="1100" b="1" dirty="0">
                <a:solidFill>
                  <a:srgbClr val="1F3864"/>
                </a:solidFill>
                <a:latin typeface="Arial" pitchFamily="34" charset="0"/>
                <a:ea typeface="Arial" pitchFamily="34" charset="-122"/>
                <a:cs typeface="Arial" pitchFamily="34" charset="-120"/>
              </a:rPr>
              <a:t>“So soon”  </a:t>
            </a:r>
            <a:pPr indent="0" marL="0">
              <a:buNone/>
            </a:pPr>
            <a:r>
              <a:rPr lang="en-US" sz="1150" dirty="0">
                <a:solidFill>
                  <a:srgbClr val="262626"/>
                </a:solidFill>
                <a:latin typeface="Arial" pitchFamily="34" charset="0"/>
                <a:ea typeface="Arial" pitchFamily="34" charset="-122"/>
                <a:cs typeface="Arial" pitchFamily="34" charset="-120"/>
              </a:rPr>
              <a:t>— within about a year of Paul's visit</a:t>
            </a:r>
            <a:endParaRPr lang="en-US" sz="1200" dirty="0"/>
          </a:p>
        </p:txBody>
      </p:sp>
      <p:sp>
        <p:nvSpPr>
          <p:cNvPr id="13" name="Shape 10"/>
          <p:cNvSpPr/>
          <p:nvPr/>
        </p:nvSpPr>
        <p:spPr>
          <a:xfrm>
            <a:off x="4663440" y="1188720"/>
            <a:ext cx="4023360" cy="365760"/>
          </a:xfrm>
          <a:prstGeom prst="rect">
            <a:avLst/>
          </a:prstGeom>
          <a:solidFill>
            <a:srgbClr val="2E5496"/>
          </a:solidFill>
          <a:ln w="12700">
            <a:solidFill>
              <a:srgbClr val="2E5496"/>
            </a:solidFill>
            <a:prstDash val="solid"/>
          </a:ln>
        </p:spPr>
      </p:sp>
      <p:sp>
        <p:nvSpPr>
          <p:cNvPr id="14" name="Text 11"/>
          <p:cNvSpPr txBox="1"/>
          <p:nvPr/>
        </p:nvSpPr>
        <p:spPr>
          <a:xfrm>
            <a:off x="4754880" y="1234440"/>
            <a:ext cx="3840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From whom? To what?</a:t>
            </a:r>
            <a:endParaRPr lang="en-US" sz="1200" dirty="0"/>
          </a:p>
        </p:txBody>
      </p:sp>
      <p:sp>
        <p:nvSpPr>
          <p:cNvPr id="15" name="Shape 12"/>
          <p:cNvSpPr/>
          <p:nvPr/>
        </p:nvSpPr>
        <p:spPr>
          <a:xfrm>
            <a:off x="4663440" y="1554480"/>
            <a:ext cx="4023360" cy="2377440"/>
          </a:xfrm>
          <a:prstGeom prst="rect">
            <a:avLst/>
          </a:prstGeom>
          <a:solidFill>
            <a:srgbClr val="F2F6FC"/>
          </a:solidFill>
          <a:ln w="9525">
            <a:solidFill>
              <a:srgbClr val="D5DCEA"/>
            </a:solidFill>
            <a:prstDash val="solid"/>
          </a:ln>
        </p:spPr>
      </p:sp>
      <p:sp>
        <p:nvSpPr>
          <p:cNvPr id="16" name="Text 13"/>
          <p:cNvSpPr txBox="1"/>
          <p:nvPr/>
        </p:nvSpPr>
        <p:spPr>
          <a:xfrm>
            <a:off x="4754880" y="1627632"/>
            <a:ext cx="3840480" cy="2249424"/>
          </a:xfrm>
          <a:prstGeom prst="rect">
            <a:avLst/>
          </a:prstGeom>
          <a:noFill/>
          <a:ln/>
        </p:spPr>
        <p:txBody>
          <a:bodyPr wrap="square" lIns="0" tIns="0" rIns="0" bIns="0" rtlCol="0" anchor="t"/>
          <a:lstStyle/>
          <a:p>
            <a:pPr indent="0" marL="0">
              <a:buNone/>
            </a:pPr>
            <a:endParaRPr lang="en-US" sz="1300" dirty="0"/>
          </a:p>
        </p:txBody>
      </p:sp>
      <p:sp>
        <p:nvSpPr>
          <p:cNvPr id="17" name="Text 14"/>
          <p:cNvSpPr txBox="1"/>
          <p:nvPr/>
        </p:nvSpPr>
        <p:spPr>
          <a:xfrm>
            <a:off x="4773168" y="1664208"/>
            <a:ext cx="3803904" cy="2194560"/>
          </a:xfrm>
          <a:prstGeom prst="rect">
            <a:avLst/>
          </a:prstGeom>
          <a:noFill/>
          <a:ln/>
        </p:spPr>
        <p:txBody>
          <a:bodyPr wrap="square" lIns="0" tIns="0" rIns="0" bIns="0" rtlCol="0" anchor="t"/>
          <a:lstStyle/>
          <a:p>
            <a:pPr indent="0" marL="0">
              <a:buNone/>
            </a:pPr>
            <a:r>
              <a:rPr lang="en-US" sz="1100" b="1" dirty="0">
                <a:solidFill>
                  <a:srgbClr val="1F3864"/>
                </a:solidFill>
                <a:latin typeface="Arial" pitchFamily="34" charset="0"/>
                <a:ea typeface="Arial" pitchFamily="34" charset="-122"/>
                <a:cs typeface="Arial" pitchFamily="34" charset="-120"/>
              </a:rPr>
              <a:t>From Him who called you</a:t>
            </a:r>
            <a:endParaRPr lang="en-US" sz="1200" dirty="0"/>
          </a:p>
          <a:p>
            <a:pPr indent="0" marL="0">
              <a:buNone/>
            </a:pPr>
            <a:r>
              <a:rPr lang="en-US" sz="1200" b="1" dirty="0">
                <a:solidFill>
                  <a:srgbClr val="7030A0"/>
                </a:solidFill>
                <a:latin typeface="Arial" pitchFamily="34" charset="0"/>
                <a:ea typeface="Arial" pitchFamily="34" charset="-122"/>
                <a:cs typeface="Arial" pitchFamily="34" charset="-120"/>
              </a:rPr>
              <a:t>τοῦ καλέσαντος</a:t>
            </a:r>
            <a:pPr indent="0" marL="0">
              <a:buNone/>
            </a:pPr>
            <a:r>
              <a:rPr lang="en-US" sz="1000" dirty="0">
                <a:solidFill>
                  <a:srgbClr val="595959"/>
                </a:solidFill>
                <a:latin typeface="Arial" pitchFamily="34" charset="0"/>
                <a:ea typeface="Arial" pitchFamily="34" charset="-122"/>
                <a:cs typeface="Arial" pitchFamily="34" charset="-120"/>
              </a:rPr>
              <a:t>  Aor. Act. Ptc. — the caller is Christ, not Paul</a:t>
            </a:r>
            <a:endParaRPr lang="en-US" sz="1200" dirty="0"/>
          </a:p>
          <a:p>
            <a:pPr indent="0" marL="0">
              <a:buNone/>
            </a:pPr>
            <a:r>
              <a:rPr lang="en-US" sz="1150" dirty="0">
                <a:solidFill>
                  <a:srgbClr val="262626"/>
                </a:solidFill>
                <a:latin typeface="Arial" pitchFamily="34" charset="0"/>
                <a:ea typeface="Arial" pitchFamily="34" charset="-122"/>
                <a:cs typeface="Arial" pitchFamily="34" charset="-120"/>
              </a:rPr>
              <a:t>in the grace of Christ — </a:t>
            </a:r>
            <a:pPr indent="0" marL="0">
              <a:buNone/>
            </a:pPr>
            <a:r>
              <a:rPr lang="en-US" sz="1200" b="1" dirty="0">
                <a:solidFill>
                  <a:srgbClr val="7030A0"/>
                </a:solidFill>
                <a:latin typeface="Arial" pitchFamily="34" charset="0"/>
                <a:ea typeface="Arial" pitchFamily="34" charset="-122"/>
                <a:cs typeface="Arial" pitchFamily="34" charset="-120"/>
              </a:rPr>
              <a:t>χάριτι</a:t>
            </a:r>
            <a:pPr indent="0" marL="0">
              <a:buNone/>
            </a:pPr>
            <a:r>
              <a:rPr lang="en-US" sz="1150" dirty="0">
                <a:solidFill>
                  <a:srgbClr val="262626"/>
                </a:solidFill>
                <a:latin typeface="Arial" pitchFamily="34" charset="0"/>
                <a:ea typeface="Arial" pitchFamily="34" charset="-122"/>
                <a:cs typeface="Arial" pitchFamily="34" charset="-120"/>
              </a:rPr>
              <a:t> (dative): the sphere of the call</a:t>
            </a:r>
            <a:endParaRPr lang="en-US" sz="1200" dirty="0"/>
          </a:p>
          <a:p>
            <a:pPr indent="0" marL="0">
              <a:buNone/>
            </a:pPr>
            <a:r>
              <a:rPr lang="en-US" sz="600" dirty="0">
                <a:solidFill>
                  <a:srgbClr val="262626"/>
                </a:solidFill>
                <a:latin typeface="Arial" pitchFamily="34" charset="0"/>
                <a:ea typeface="Arial" pitchFamily="34" charset="-122"/>
                <a:cs typeface="Arial" pitchFamily="34" charset="-120"/>
              </a:rPr>
              <a:t> </a:t>
            </a:r>
            <a:endParaRPr lang="en-US" sz="1200" dirty="0"/>
          </a:p>
          <a:p>
            <a:pPr indent="0" marL="0">
              <a:buNone/>
            </a:pPr>
            <a:r>
              <a:rPr lang="en-US" sz="1100" b="1" dirty="0">
                <a:solidFill>
                  <a:srgbClr val="1F3864"/>
                </a:solidFill>
                <a:latin typeface="Arial" pitchFamily="34" charset="0"/>
                <a:ea typeface="Arial" pitchFamily="34" charset="-122"/>
                <a:cs typeface="Arial" pitchFamily="34" charset="-120"/>
              </a:rPr>
              <a:t>To a different gospel</a:t>
            </a:r>
            <a:endParaRPr lang="en-US" sz="1200" dirty="0"/>
          </a:p>
          <a:p>
            <a:pPr indent="0" marL="0">
              <a:buNone/>
            </a:pPr>
            <a:r>
              <a:rPr lang="en-US" sz="1150" dirty="0">
                <a:solidFill>
                  <a:srgbClr val="262626"/>
                </a:solidFill>
                <a:latin typeface="Arial" pitchFamily="34" charset="0"/>
                <a:ea typeface="Arial" pitchFamily="34" charset="-122"/>
                <a:cs typeface="Arial" pitchFamily="34" charset="-120"/>
              </a:rPr>
              <a:t>A counterfeit with additions and requirements — no good news at all</a:t>
            </a:r>
            <a:endParaRPr lang="en-US" sz="1200" dirty="0"/>
          </a:p>
        </p:txBody>
      </p:sp>
      <p:sp>
        <p:nvSpPr>
          <p:cNvPr id="18" name="Shape 15"/>
          <p:cNvSpPr/>
          <p:nvPr/>
        </p:nvSpPr>
        <p:spPr>
          <a:xfrm>
            <a:off x="457200" y="4069080"/>
            <a:ext cx="8229600" cy="548640"/>
          </a:xfrm>
          <a:prstGeom prst="roundRect">
            <a:avLst>
              <a:gd name="adj" fmla="val 10000"/>
            </a:avLst>
          </a:prstGeom>
          <a:solidFill>
            <a:srgbClr val="1F3864"/>
          </a:solidFill>
          <a:ln w="12700">
            <a:solidFill>
              <a:srgbClr val="1F3864"/>
            </a:solidFill>
            <a:prstDash val="solid"/>
          </a:ln>
        </p:spPr>
      </p:sp>
      <p:sp>
        <p:nvSpPr>
          <p:cNvPr id="19" name="Text 16"/>
          <p:cNvSpPr txBox="1"/>
          <p:nvPr/>
        </p:nvSpPr>
        <p:spPr>
          <a:xfrm>
            <a:off x="621792" y="4069080"/>
            <a:ext cx="7900416" cy="54864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It was never really about the messenger: to reject the grace gospel is to reject the One who called — Jesus Christ Himself.</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“A different gospel, which is not another”</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1:6–7 · Outline I.C</a:t>
            </a:r>
            <a:endParaRPr lang="en-US" sz="1200" dirty="0"/>
          </a:p>
        </p:txBody>
      </p:sp>
      <p:sp>
        <p:nvSpPr>
          <p:cNvPr id="5" name="Shape 2"/>
          <p:cNvSpPr/>
          <p:nvPr/>
        </p:nvSpPr>
        <p:spPr>
          <a:xfrm>
            <a:off x="457200" y="1188720"/>
            <a:ext cx="4023360" cy="566928"/>
          </a:xfrm>
          <a:prstGeom prst="rect">
            <a:avLst/>
          </a:prstGeom>
          <a:solidFill>
            <a:srgbClr val="2E5496"/>
          </a:solidFill>
          <a:ln w="12700">
            <a:solidFill>
              <a:srgbClr val="2E5496"/>
            </a:solidFill>
            <a:prstDash val="solid"/>
          </a:ln>
        </p:spPr>
      </p:sp>
      <p:sp>
        <p:nvSpPr>
          <p:cNvPr id="6" name="Text 3"/>
          <p:cNvSpPr txBox="1"/>
          <p:nvPr/>
        </p:nvSpPr>
        <p:spPr>
          <a:xfrm>
            <a:off x="548640" y="1234440"/>
            <a:ext cx="3840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Different in kind</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ἕτερος</a:t>
            </a:r>
            <a:pPr indent="0" marL="0">
              <a:buNone/>
            </a:pPr>
            <a:r>
              <a:rPr lang="en-US" sz="850" dirty="0">
                <a:solidFill>
                  <a:srgbClr val="DCE4F2"/>
                </a:solidFill>
                <a:latin typeface="Arial" pitchFamily="34" charset="0"/>
                <a:ea typeface="Arial" pitchFamily="34" charset="-122"/>
                <a:cs typeface="Arial" pitchFamily="34" charset="-120"/>
              </a:rPr>
              <a:t>  heteron · G2087</a:t>
            </a:r>
            <a:endParaRPr lang="en-US" sz="1200" dirty="0"/>
          </a:p>
        </p:txBody>
      </p:sp>
      <p:sp>
        <p:nvSpPr>
          <p:cNvPr id="7" name="Shape 4"/>
          <p:cNvSpPr/>
          <p:nvPr/>
        </p:nvSpPr>
        <p:spPr>
          <a:xfrm>
            <a:off x="457200" y="1755648"/>
            <a:ext cx="4023360" cy="1124712"/>
          </a:xfrm>
          <a:prstGeom prst="rect">
            <a:avLst/>
          </a:prstGeom>
          <a:solidFill>
            <a:srgbClr val="F2F6FC"/>
          </a:solidFill>
          <a:ln w="9525">
            <a:solidFill>
              <a:srgbClr val="D5DCEA"/>
            </a:solidFill>
            <a:prstDash val="solid"/>
          </a:ln>
        </p:spPr>
      </p:sp>
      <p:sp>
        <p:nvSpPr>
          <p:cNvPr id="8" name="Text 5"/>
          <p:cNvSpPr txBox="1"/>
          <p:nvPr/>
        </p:nvSpPr>
        <p:spPr>
          <a:xfrm>
            <a:off x="548640" y="1828800"/>
            <a:ext cx="3840480" cy="996696"/>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What the Judaizers preach (v.6)</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A categorically different message</a:t>
            </a:r>
            <a:endParaRPr lang="en-US" sz="1300" dirty="0"/>
          </a:p>
        </p:txBody>
      </p:sp>
      <p:sp>
        <p:nvSpPr>
          <p:cNvPr id="9" name="Shape 6"/>
          <p:cNvSpPr/>
          <p:nvPr/>
        </p:nvSpPr>
        <p:spPr>
          <a:xfrm>
            <a:off x="4663440" y="1188720"/>
            <a:ext cx="4023360" cy="566928"/>
          </a:xfrm>
          <a:prstGeom prst="rect">
            <a:avLst/>
          </a:prstGeom>
          <a:solidFill>
            <a:srgbClr val="6B7280"/>
          </a:solidFill>
          <a:ln w="12700">
            <a:solidFill>
              <a:srgbClr val="6B7280"/>
            </a:solidFill>
            <a:prstDash val="solid"/>
          </a:ln>
        </p:spPr>
      </p:sp>
      <p:sp>
        <p:nvSpPr>
          <p:cNvPr id="10" name="Text 7"/>
          <p:cNvSpPr txBox="1"/>
          <p:nvPr/>
        </p:nvSpPr>
        <p:spPr>
          <a:xfrm>
            <a:off x="4754880" y="1234440"/>
            <a:ext cx="3840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Another of the same kind</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ἄλλος</a:t>
            </a:r>
            <a:pPr indent="0" marL="0">
              <a:buNone/>
            </a:pPr>
            <a:r>
              <a:rPr lang="en-US" sz="850" dirty="0">
                <a:solidFill>
                  <a:srgbClr val="DCE4F2"/>
                </a:solidFill>
                <a:latin typeface="Arial" pitchFamily="34" charset="0"/>
                <a:ea typeface="Arial" pitchFamily="34" charset="-122"/>
                <a:cs typeface="Arial" pitchFamily="34" charset="-120"/>
              </a:rPr>
              <a:t>  allo · G243</a:t>
            </a:r>
            <a:endParaRPr lang="en-US" sz="1200" dirty="0"/>
          </a:p>
        </p:txBody>
      </p:sp>
      <p:sp>
        <p:nvSpPr>
          <p:cNvPr id="11" name="Shape 8"/>
          <p:cNvSpPr/>
          <p:nvPr/>
        </p:nvSpPr>
        <p:spPr>
          <a:xfrm>
            <a:off x="4663440" y="1755648"/>
            <a:ext cx="4023360" cy="1124712"/>
          </a:xfrm>
          <a:prstGeom prst="rect">
            <a:avLst/>
          </a:prstGeom>
          <a:solidFill>
            <a:srgbClr val="F2F6FC"/>
          </a:solidFill>
          <a:ln w="9525">
            <a:solidFill>
              <a:srgbClr val="D5DCEA"/>
            </a:solidFill>
            <a:prstDash val="solid"/>
          </a:ln>
        </p:spPr>
      </p:sp>
      <p:sp>
        <p:nvSpPr>
          <p:cNvPr id="12" name="Text 9"/>
          <p:cNvSpPr txBox="1"/>
          <p:nvPr/>
        </p:nvSpPr>
        <p:spPr>
          <a:xfrm>
            <a:off x="4754880" y="1828800"/>
            <a:ext cx="3840480" cy="996696"/>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What it is not (v.7)</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No legitimate alternative gospel exists — only imitations</a:t>
            </a:r>
            <a:endParaRPr lang="en-US" sz="1300" dirty="0"/>
          </a:p>
        </p:txBody>
      </p:sp>
      <p:sp>
        <p:nvSpPr>
          <p:cNvPr id="13" name="Shape 10"/>
          <p:cNvSpPr/>
          <p:nvPr/>
        </p:nvSpPr>
        <p:spPr>
          <a:xfrm>
            <a:off x="457200" y="3017520"/>
            <a:ext cx="777240" cy="475488"/>
          </a:xfrm>
          <a:prstGeom prst="rect">
            <a:avLst/>
          </a:prstGeom>
          <a:solidFill>
            <a:srgbClr val="2E5496"/>
          </a:solidFill>
          <a:ln w="12700">
            <a:solidFill>
              <a:srgbClr val="2E5496"/>
            </a:solidFill>
            <a:prstDash val="solid"/>
          </a:ln>
        </p:spPr>
      </p:sp>
      <p:sp>
        <p:nvSpPr>
          <p:cNvPr id="14" name="Text 11"/>
          <p:cNvSpPr txBox="1"/>
          <p:nvPr/>
        </p:nvSpPr>
        <p:spPr>
          <a:xfrm>
            <a:off x="457200" y="3017520"/>
            <a:ext cx="777240"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v.6–7</a:t>
            </a:r>
            <a:endParaRPr lang="en-US" sz="1100" dirty="0"/>
          </a:p>
        </p:txBody>
      </p:sp>
      <p:sp>
        <p:nvSpPr>
          <p:cNvPr id="15" name="Shape 12"/>
          <p:cNvSpPr/>
          <p:nvPr/>
        </p:nvSpPr>
        <p:spPr>
          <a:xfrm>
            <a:off x="1234440" y="3017520"/>
            <a:ext cx="7452360" cy="475488"/>
          </a:xfrm>
          <a:prstGeom prst="rect">
            <a:avLst/>
          </a:prstGeom>
          <a:solidFill>
            <a:srgbClr val="F2F6FC"/>
          </a:solidFill>
          <a:ln w="9525">
            <a:solidFill>
              <a:srgbClr val="D5DCEA"/>
            </a:solidFill>
            <a:prstDash val="solid"/>
          </a:ln>
        </p:spPr>
      </p:sp>
      <p:sp>
        <p:nvSpPr>
          <p:cNvPr id="16" name="Text 13"/>
          <p:cNvSpPr txBox="1"/>
          <p:nvPr/>
        </p:nvSpPr>
        <p:spPr>
          <a:xfrm>
            <a:off x="1344168" y="3017520"/>
            <a:ext cx="4297680" cy="475488"/>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“gospel” — three times in two verses: which good news?</a:t>
            </a:r>
            <a:endParaRPr lang="en-US" sz="1200" dirty="0"/>
          </a:p>
        </p:txBody>
      </p:sp>
      <p:sp>
        <p:nvSpPr>
          <p:cNvPr id="17" name="Text 14"/>
          <p:cNvSpPr txBox="1"/>
          <p:nvPr/>
        </p:nvSpPr>
        <p:spPr>
          <a:xfrm>
            <a:off x="5715000" y="3017520"/>
            <a:ext cx="2880360" cy="47548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εὐαγγέλιον</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only one is entitled to the name</a:t>
            </a:r>
            <a:endParaRPr lang="en-US" sz="1200" dirty="0"/>
          </a:p>
        </p:txBody>
      </p:sp>
      <p:sp>
        <p:nvSpPr>
          <p:cNvPr id="18" name="Shape 15"/>
          <p:cNvSpPr/>
          <p:nvPr/>
        </p:nvSpPr>
        <p:spPr>
          <a:xfrm>
            <a:off x="457200" y="3547872"/>
            <a:ext cx="777240" cy="475488"/>
          </a:xfrm>
          <a:prstGeom prst="rect">
            <a:avLst/>
          </a:prstGeom>
          <a:solidFill>
            <a:srgbClr val="2E5496"/>
          </a:solidFill>
          <a:ln w="12700">
            <a:solidFill>
              <a:srgbClr val="2E5496"/>
            </a:solidFill>
            <a:prstDash val="solid"/>
          </a:ln>
        </p:spPr>
      </p:sp>
      <p:sp>
        <p:nvSpPr>
          <p:cNvPr id="19" name="Text 16"/>
          <p:cNvSpPr txBox="1"/>
          <p:nvPr/>
        </p:nvSpPr>
        <p:spPr>
          <a:xfrm>
            <a:off x="457200" y="3547872"/>
            <a:ext cx="777240"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v.7</a:t>
            </a:r>
            <a:endParaRPr lang="en-US" sz="1100" dirty="0"/>
          </a:p>
        </p:txBody>
      </p:sp>
      <p:sp>
        <p:nvSpPr>
          <p:cNvPr id="20" name="Shape 17"/>
          <p:cNvSpPr/>
          <p:nvPr/>
        </p:nvSpPr>
        <p:spPr>
          <a:xfrm>
            <a:off x="1234440" y="3547872"/>
            <a:ext cx="7452360" cy="475488"/>
          </a:xfrm>
          <a:prstGeom prst="rect">
            <a:avLst/>
          </a:prstGeom>
          <a:solidFill>
            <a:srgbClr val="FFFFFF"/>
          </a:solidFill>
          <a:ln w="9525">
            <a:solidFill>
              <a:srgbClr val="D5DCEA"/>
            </a:solidFill>
            <a:prstDash val="solid"/>
          </a:ln>
        </p:spPr>
      </p:sp>
      <p:sp>
        <p:nvSpPr>
          <p:cNvPr id="21" name="Text 18"/>
          <p:cNvSpPr txBox="1"/>
          <p:nvPr/>
        </p:nvSpPr>
        <p:spPr>
          <a:xfrm>
            <a:off x="1344168" y="3547872"/>
            <a:ext cx="4297680" cy="475488"/>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“some who trouble you” — confusion replacing settled confidence</a:t>
            </a:r>
            <a:endParaRPr lang="en-US" sz="1200" dirty="0"/>
          </a:p>
        </p:txBody>
      </p:sp>
      <p:sp>
        <p:nvSpPr>
          <p:cNvPr id="22" name="Text 19"/>
          <p:cNvSpPr txBox="1"/>
          <p:nvPr/>
        </p:nvSpPr>
        <p:spPr>
          <a:xfrm>
            <a:off x="5715000" y="3547872"/>
            <a:ext cx="2880360" cy="47548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ταράσσοντες</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Pres. Act. Ptc. — ongoing</a:t>
            </a:r>
            <a:endParaRPr lang="en-US" sz="1200" dirty="0"/>
          </a:p>
        </p:txBody>
      </p:sp>
      <p:sp>
        <p:nvSpPr>
          <p:cNvPr id="23" name="Shape 20"/>
          <p:cNvSpPr/>
          <p:nvPr/>
        </p:nvSpPr>
        <p:spPr>
          <a:xfrm>
            <a:off x="457200" y="4078224"/>
            <a:ext cx="777240" cy="475488"/>
          </a:xfrm>
          <a:prstGeom prst="rect">
            <a:avLst/>
          </a:prstGeom>
          <a:solidFill>
            <a:srgbClr val="2E5496"/>
          </a:solidFill>
          <a:ln w="12700">
            <a:solidFill>
              <a:srgbClr val="2E5496"/>
            </a:solidFill>
            <a:prstDash val="solid"/>
          </a:ln>
        </p:spPr>
      </p:sp>
      <p:sp>
        <p:nvSpPr>
          <p:cNvPr id="24" name="Text 21"/>
          <p:cNvSpPr txBox="1"/>
          <p:nvPr/>
        </p:nvSpPr>
        <p:spPr>
          <a:xfrm>
            <a:off x="457200" y="4078224"/>
            <a:ext cx="777240"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v.7</a:t>
            </a:r>
            <a:endParaRPr lang="en-US" sz="1100" dirty="0"/>
          </a:p>
        </p:txBody>
      </p:sp>
      <p:sp>
        <p:nvSpPr>
          <p:cNvPr id="25" name="Shape 22"/>
          <p:cNvSpPr/>
          <p:nvPr/>
        </p:nvSpPr>
        <p:spPr>
          <a:xfrm>
            <a:off x="1234440" y="4078224"/>
            <a:ext cx="7452360" cy="475488"/>
          </a:xfrm>
          <a:prstGeom prst="rect">
            <a:avLst/>
          </a:prstGeom>
          <a:solidFill>
            <a:srgbClr val="F2F6FC"/>
          </a:solidFill>
          <a:ln w="9525">
            <a:solidFill>
              <a:srgbClr val="D5DCEA"/>
            </a:solidFill>
            <a:prstDash val="solid"/>
          </a:ln>
        </p:spPr>
      </p:sp>
      <p:sp>
        <p:nvSpPr>
          <p:cNvPr id="26" name="Text 23"/>
          <p:cNvSpPr txBox="1"/>
          <p:nvPr/>
        </p:nvSpPr>
        <p:spPr>
          <a:xfrm>
            <a:off x="1344168" y="4078224"/>
            <a:ext cx="4297680" cy="475488"/>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“want to pervert the gospel of Christ”</a:t>
            </a:r>
            <a:endParaRPr lang="en-US" sz="1200" dirty="0"/>
          </a:p>
        </p:txBody>
      </p:sp>
      <p:sp>
        <p:nvSpPr>
          <p:cNvPr id="27" name="Text 24"/>
          <p:cNvSpPr txBox="1"/>
          <p:nvPr/>
        </p:nvSpPr>
        <p:spPr>
          <a:xfrm>
            <a:off x="5715000" y="4078224"/>
            <a:ext cx="2880360" cy="47548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μεταστρέψαι</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to turn to the opposite — invert it</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Two scenarios, one verdict</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1:8–9 · Outline II.A–B</a:t>
            </a:r>
            <a:endParaRPr lang="en-US" sz="1200" dirty="0"/>
          </a:p>
        </p:txBody>
      </p:sp>
      <p:sp>
        <p:nvSpPr>
          <p:cNvPr id="5" name="Shape 2"/>
          <p:cNvSpPr/>
          <p:nvPr/>
        </p:nvSpPr>
        <p:spPr>
          <a:xfrm>
            <a:off x="457200" y="1188720"/>
            <a:ext cx="3200400" cy="365760"/>
          </a:xfrm>
          <a:prstGeom prst="rect">
            <a:avLst/>
          </a:prstGeom>
          <a:solidFill>
            <a:srgbClr val="6B7280"/>
          </a:solidFill>
          <a:ln w="12700">
            <a:solidFill>
              <a:srgbClr val="6B7280"/>
            </a:solidFill>
            <a:prstDash val="solid"/>
          </a:ln>
        </p:spPr>
      </p:sp>
      <p:sp>
        <p:nvSpPr>
          <p:cNvPr id="6" name="Text 3"/>
          <p:cNvSpPr txBox="1"/>
          <p:nvPr/>
        </p:nvSpPr>
        <p:spPr>
          <a:xfrm>
            <a:off x="548640" y="1234440"/>
            <a:ext cx="301752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Unlikely — v.8</a:t>
            </a:r>
            <a:endParaRPr lang="en-US" sz="1200" dirty="0"/>
          </a:p>
        </p:txBody>
      </p:sp>
      <p:sp>
        <p:nvSpPr>
          <p:cNvPr id="7" name="Shape 4"/>
          <p:cNvSpPr/>
          <p:nvPr/>
        </p:nvSpPr>
        <p:spPr>
          <a:xfrm>
            <a:off x="457200" y="1554480"/>
            <a:ext cx="3200400" cy="1371600"/>
          </a:xfrm>
          <a:prstGeom prst="rect">
            <a:avLst/>
          </a:prstGeom>
          <a:solidFill>
            <a:srgbClr val="F2F6FC"/>
          </a:solidFill>
          <a:ln w="9525">
            <a:solidFill>
              <a:srgbClr val="D5DCEA"/>
            </a:solidFill>
            <a:prstDash val="solid"/>
          </a:ln>
        </p:spPr>
      </p:sp>
      <p:sp>
        <p:nvSpPr>
          <p:cNvPr id="8" name="Text 5"/>
          <p:cNvSpPr txBox="1"/>
          <p:nvPr/>
        </p:nvSpPr>
        <p:spPr>
          <a:xfrm>
            <a:off x="548640" y="1627632"/>
            <a:ext cx="3017520" cy="1243584"/>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“Even if we, or an angel from heaven”</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Even Paul himself is not exempt</a:t>
            </a:r>
            <a:endParaRPr lang="en-US" sz="1300" dirty="0"/>
          </a:p>
        </p:txBody>
      </p:sp>
      <p:sp>
        <p:nvSpPr>
          <p:cNvPr id="9" name="Shape 6"/>
          <p:cNvSpPr/>
          <p:nvPr/>
        </p:nvSpPr>
        <p:spPr>
          <a:xfrm>
            <a:off x="457200" y="3063240"/>
            <a:ext cx="3200400" cy="365760"/>
          </a:xfrm>
          <a:prstGeom prst="rect">
            <a:avLst/>
          </a:prstGeom>
          <a:solidFill>
            <a:srgbClr val="2E5496"/>
          </a:solidFill>
          <a:ln w="12700">
            <a:solidFill>
              <a:srgbClr val="2E5496"/>
            </a:solidFill>
            <a:prstDash val="solid"/>
          </a:ln>
        </p:spPr>
      </p:sp>
      <p:sp>
        <p:nvSpPr>
          <p:cNvPr id="10" name="Text 7"/>
          <p:cNvSpPr txBox="1"/>
          <p:nvPr/>
        </p:nvSpPr>
        <p:spPr>
          <a:xfrm>
            <a:off x="548640" y="3108960"/>
            <a:ext cx="301752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Likely — v.9</a:t>
            </a:r>
            <a:endParaRPr lang="en-US" sz="1200" dirty="0"/>
          </a:p>
        </p:txBody>
      </p:sp>
      <p:sp>
        <p:nvSpPr>
          <p:cNvPr id="11" name="Shape 8"/>
          <p:cNvSpPr/>
          <p:nvPr/>
        </p:nvSpPr>
        <p:spPr>
          <a:xfrm>
            <a:off x="457200" y="3429000"/>
            <a:ext cx="3200400" cy="1143000"/>
          </a:xfrm>
          <a:prstGeom prst="rect">
            <a:avLst/>
          </a:prstGeom>
          <a:solidFill>
            <a:srgbClr val="F2F6FC"/>
          </a:solidFill>
          <a:ln w="9525">
            <a:solidFill>
              <a:srgbClr val="D5DCEA"/>
            </a:solidFill>
            <a:prstDash val="solid"/>
          </a:ln>
        </p:spPr>
      </p:sp>
      <p:sp>
        <p:nvSpPr>
          <p:cNvPr id="12" name="Text 9"/>
          <p:cNvSpPr txBox="1"/>
          <p:nvPr/>
        </p:nvSpPr>
        <p:spPr>
          <a:xfrm>
            <a:off x="548640" y="3502152"/>
            <a:ext cx="3017520" cy="1014984"/>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“If anyone preaches any other gospel”</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The Judaizers in Galatia, now</a:t>
            </a:r>
            <a:endParaRPr lang="en-US" sz="1300" dirty="0"/>
          </a:p>
        </p:txBody>
      </p:sp>
      <p:sp>
        <p:nvSpPr>
          <p:cNvPr id="13" name="Shape 10"/>
          <p:cNvSpPr/>
          <p:nvPr/>
        </p:nvSpPr>
        <p:spPr>
          <a:xfrm>
            <a:off x="3794760" y="1965960"/>
            <a:ext cx="365760" cy="237744"/>
          </a:xfrm>
          <a:prstGeom prst="rightArrow">
            <a:avLst/>
          </a:prstGeom>
          <a:solidFill>
            <a:srgbClr val="7030A0"/>
          </a:solidFill>
          <a:ln w="12700">
            <a:solidFill>
              <a:srgbClr val="7030A0"/>
            </a:solidFill>
            <a:prstDash val="solid"/>
          </a:ln>
        </p:spPr>
      </p:sp>
      <p:sp>
        <p:nvSpPr>
          <p:cNvPr id="14" name="Shape 11"/>
          <p:cNvSpPr/>
          <p:nvPr/>
        </p:nvSpPr>
        <p:spPr>
          <a:xfrm>
            <a:off x="3794760" y="3703320"/>
            <a:ext cx="365760" cy="237744"/>
          </a:xfrm>
          <a:prstGeom prst="rightArrow">
            <a:avLst/>
          </a:prstGeom>
          <a:solidFill>
            <a:srgbClr val="7030A0"/>
          </a:solidFill>
          <a:ln w="12700">
            <a:solidFill>
              <a:srgbClr val="7030A0"/>
            </a:solidFill>
            <a:prstDash val="solid"/>
          </a:ln>
        </p:spPr>
      </p:sp>
      <p:sp>
        <p:nvSpPr>
          <p:cNvPr id="15" name="Shape 12"/>
          <p:cNvSpPr/>
          <p:nvPr/>
        </p:nvSpPr>
        <p:spPr>
          <a:xfrm>
            <a:off x="4343400" y="1188720"/>
            <a:ext cx="4343400" cy="3383280"/>
          </a:xfrm>
          <a:prstGeom prst="roundRect">
            <a:avLst>
              <a:gd name="adj" fmla="val 1622"/>
            </a:avLst>
          </a:prstGeom>
          <a:solidFill>
            <a:srgbClr val="F4EEFB"/>
          </a:solidFill>
          <a:ln w="12700">
            <a:solidFill>
              <a:srgbClr val="7030A0"/>
            </a:solidFill>
            <a:prstDash val="solid"/>
          </a:ln>
        </p:spPr>
      </p:sp>
      <p:sp>
        <p:nvSpPr>
          <p:cNvPr id="16" name="Text 13"/>
          <p:cNvSpPr txBox="1"/>
          <p:nvPr/>
        </p:nvSpPr>
        <p:spPr>
          <a:xfrm>
            <a:off x="4526280" y="1325880"/>
            <a:ext cx="3977640" cy="365760"/>
          </a:xfrm>
          <a:prstGeom prst="rect">
            <a:avLst/>
          </a:prstGeom>
          <a:noFill/>
          <a:ln/>
        </p:spPr>
        <p:txBody>
          <a:bodyPr wrap="square" lIns="0" tIns="0" rIns="0" bIns="0" rtlCol="0" anchor="t"/>
          <a:lstStyle/>
          <a:p>
            <a:pPr indent="0" marL="0">
              <a:buNone/>
            </a:pPr>
            <a:r>
              <a:rPr lang="en-US" sz="1400" b="1" dirty="0">
                <a:solidFill>
                  <a:srgbClr val="1F3864"/>
                </a:solidFill>
                <a:latin typeface="Arial" pitchFamily="34" charset="0"/>
                <a:ea typeface="Arial" pitchFamily="34" charset="-122"/>
                <a:cs typeface="Arial" pitchFamily="34" charset="-120"/>
              </a:rPr>
              <a:t>“Let him be accursed”</a:t>
            </a:r>
            <a:endParaRPr lang="en-US" sz="1400" dirty="0"/>
          </a:p>
        </p:txBody>
      </p:sp>
      <p:sp>
        <p:nvSpPr>
          <p:cNvPr id="17" name="Text 14"/>
          <p:cNvSpPr txBox="1"/>
          <p:nvPr/>
        </p:nvSpPr>
        <p:spPr>
          <a:xfrm>
            <a:off x="4526280" y="1737360"/>
            <a:ext cx="3977640" cy="502920"/>
          </a:xfrm>
          <a:prstGeom prst="rect">
            <a:avLst/>
          </a:prstGeom>
          <a:noFill/>
          <a:ln/>
        </p:spPr>
        <p:txBody>
          <a:bodyPr wrap="square" lIns="0" tIns="0" rIns="0" bIns="0" rtlCol="0" anchor="ctr"/>
          <a:lstStyle/>
          <a:p>
            <a:pPr indent="0" marL="0">
              <a:buNone/>
            </a:pPr>
            <a:r>
              <a:rPr lang="en-US" sz="2200" b="1" dirty="0">
                <a:solidFill>
                  <a:srgbClr val="7030A0"/>
                </a:solidFill>
                <a:latin typeface="Arial" pitchFamily="34" charset="0"/>
                <a:ea typeface="Arial" pitchFamily="34" charset="-122"/>
                <a:cs typeface="Arial" pitchFamily="34" charset="-120"/>
              </a:rPr>
              <a:t>ἀνάθεμα</a:t>
            </a:r>
            <a:pPr indent="0" marL="0">
              <a:buNone/>
            </a:pPr>
            <a:r>
              <a:rPr lang="en-US" sz="1100" dirty="0">
                <a:solidFill>
                  <a:srgbClr val="595959"/>
                </a:solidFill>
                <a:latin typeface="Arial" pitchFamily="34" charset="0"/>
                <a:ea typeface="Arial" pitchFamily="34" charset="-122"/>
                <a:cs typeface="Arial" pitchFamily="34" charset="-120"/>
              </a:rPr>
              <a:t>   anathema · G331</a:t>
            </a:r>
            <a:endParaRPr lang="en-US" sz="1200" dirty="0"/>
          </a:p>
        </p:txBody>
      </p:sp>
      <p:sp>
        <p:nvSpPr>
          <p:cNvPr id="18" name="Text 15"/>
          <p:cNvSpPr txBox="1"/>
          <p:nvPr/>
        </p:nvSpPr>
        <p:spPr>
          <a:xfrm>
            <a:off x="4526280" y="2377440"/>
            <a:ext cx="3977640" cy="2103120"/>
          </a:xfrm>
          <a:prstGeom prst="rect">
            <a:avLst/>
          </a:prstGeom>
          <a:noFill/>
          <a:ln/>
        </p:spPr>
        <p:txBody>
          <a:bodyPr wrap="square" lIns="0" tIns="0" rIns="0" bIns="0" rtlCol="0" anchor="t"/>
          <a:lstStyle/>
          <a:p>
            <a:pPr marL="127000" indent="-127000">
              <a:spcAft>
                <a:spcPts val="300"/>
              </a:spcAft>
              <a:buSzPct val="100000"/>
              <a:buChar char="•"/>
            </a:pPr>
            <a:r>
              <a:rPr lang="en-US" sz="1050" dirty="0">
                <a:solidFill>
                  <a:srgbClr val="262626"/>
                </a:solidFill>
                <a:latin typeface="Arial" pitchFamily="34" charset="0"/>
                <a:ea typeface="Arial" pitchFamily="34" charset="-122"/>
                <a:cs typeface="Arial" pitchFamily="34" charset="-120"/>
              </a:rPr>
              <a:t>Something devoted to destruction</a:t>
            </a:r>
            <a:endParaRPr lang="en-US" sz="1200" dirty="0"/>
          </a:p>
          <a:p>
            <a:pPr marL="127000" indent="-127000">
              <a:spcAft>
                <a:spcPts val="300"/>
              </a:spcAft>
              <a:buSzPct val="100000"/>
              <a:buChar char="•"/>
            </a:pPr>
            <a:r>
              <a:rPr lang="en-US" sz="1050" dirty="0">
                <a:solidFill>
                  <a:srgbClr val="262626"/>
                </a:solidFill>
                <a:latin typeface="Arial" pitchFamily="34" charset="0"/>
                <a:ea typeface="Arial" pitchFamily="34" charset="-122"/>
                <a:cs typeface="Arial" pitchFamily="34" charset="-120"/>
              </a:rPr>
              <a:t>LXX: renders Hebrew חֵרֶם (cherem), the ban (Josh 6:17)</a:t>
            </a:r>
            <a:endParaRPr lang="en-US" sz="1200" dirty="0"/>
          </a:p>
          <a:p>
            <a:pPr marL="127000" indent="-127000">
              <a:spcAft>
                <a:spcPts val="300"/>
              </a:spcAft>
              <a:buSzPct val="100000"/>
              <a:buChar char="•"/>
            </a:pPr>
            <a:r>
              <a:rPr lang="en-US" sz="1050" dirty="0">
                <a:solidFill>
                  <a:srgbClr val="262626"/>
                </a:solidFill>
                <a:latin typeface="Arial" pitchFamily="34" charset="0"/>
                <a:ea typeface="Arial" pitchFamily="34" charset="-122"/>
                <a:cs typeface="Arial" pitchFamily="34" charset="-120"/>
              </a:rPr>
              <a:t>Said twice — “as we have said before, so now I say again”</a:t>
            </a:r>
            <a:endParaRPr lang="en-US" sz="1200" dirty="0"/>
          </a:p>
          <a:p>
            <a:pPr marL="127000" indent="-127000">
              <a:spcAft>
                <a:spcPts val="300"/>
              </a:spcAft>
              <a:buSzPct val="100000"/>
              <a:buChar char="•"/>
            </a:pPr>
            <a:r>
              <a:rPr lang="en-US" sz="1050" dirty="0">
                <a:solidFill>
                  <a:srgbClr val="262626"/>
                </a:solidFill>
                <a:latin typeface="Arial" pitchFamily="34" charset="0"/>
                <a:ea typeface="Arial" pitchFamily="34" charset="-122"/>
                <a:cs typeface="Arial" pitchFamily="34" charset="-120"/>
              </a:rPr>
              <a:t>The test is the message, measured by the Word — not the messenger</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Pleasing men, or serving Christ?</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1:10 · Outline III — Paul's wisdom</a:t>
            </a:r>
            <a:endParaRPr lang="en-US" sz="1200" dirty="0"/>
          </a:p>
        </p:txBody>
      </p:sp>
      <p:sp>
        <p:nvSpPr>
          <p:cNvPr id="5" name="Shape 2"/>
          <p:cNvSpPr/>
          <p:nvPr/>
        </p:nvSpPr>
        <p:spPr>
          <a:xfrm>
            <a:off x="457200" y="1143000"/>
            <a:ext cx="777240" cy="502920"/>
          </a:xfrm>
          <a:prstGeom prst="rect">
            <a:avLst/>
          </a:prstGeom>
          <a:solidFill>
            <a:srgbClr val="2E5496"/>
          </a:solidFill>
          <a:ln w="12700">
            <a:solidFill>
              <a:srgbClr val="2E5496"/>
            </a:solidFill>
            <a:prstDash val="solid"/>
          </a:ln>
        </p:spPr>
      </p:sp>
      <p:sp>
        <p:nvSpPr>
          <p:cNvPr id="6" name="Text 3"/>
          <p:cNvSpPr txBox="1"/>
          <p:nvPr/>
        </p:nvSpPr>
        <p:spPr>
          <a:xfrm>
            <a:off x="457200" y="1143000"/>
            <a:ext cx="77724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v.10a</a:t>
            </a:r>
            <a:endParaRPr lang="en-US" sz="1100" dirty="0"/>
          </a:p>
        </p:txBody>
      </p:sp>
      <p:sp>
        <p:nvSpPr>
          <p:cNvPr id="7" name="Shape 4"/>
          <p:cNvSpPr/>
          <p:nvPr/>
        </p:nvSpPr>
        <p:spPr>
          <a:xfrm>
            <a:off x="1234440" y="1143000"/>
            <a:ext cx="7452360" cy="502920"/>
          </a:xfrm>
          <a:prstGeom prst="rect">
            <a:avLst/>
          </a:prstGeom>
          <a:solidFill>
            <a:srgbClr val="F2F6FC"/>
          </a:solidFill>
          <a:ln w="9525">
            <a:solidFill>
              <a:srgbClr val="D5DCEA"/>
            </a:solidFill>
            <a:prstDash val="solid"/>
          </a:ln>
        </p:spPr>
      </p:sp>
      <p:sp>
        <p:nvSpPr>
          <p:cNvPr id="8" name="Text 5"/>
          <p:cNvSpPr txBox="1"/>
          <p:nvPr/>
        </p:nvSpPr>
        <p:spPr>
          <a:xfrm>
            <a:off x="1344168" y="1143000"/>
            <a:ext cx="4389120" cy="50292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“Do I now persuade men, or God?” — the charge: a gospel shaped to win favor</a:t>
            </a:r>
            <a:endParaRPr lang="en-US" sz="1200" dirty="0"/>
          </a:p>
        </p:txBody>
      </p:sp>
      <p:sp>
        <p:nvSpPr>
          <p:cNvPr id="9" name="Text 6"/>
          <p:cNvSpPr txBox="1"/>
          <p:nvPr/>
        </p:nvSpPr>
        <p:spPr>
          <a:xfrm>
            <a:off x="5806440" y="1143000"/>
            <a:ext cx="2788920" cy="50292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πείθω</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persuade; seek to win favor</a:t>
            </a:r>
            <a:endParaRPr lang="en-US" sz="1200" dirty="0"/>
          </a:p>
        </p:txBody>
      </p:sp>
      <p:sp>
        <p:nvSpPr>
          <p:cNvPr id="10" name="Shape 7"/>
          <p:cNvSpPr/>
          <p:nvPr/>
        </p:nvSpPr>
        <p:spPr>
          <a:xfrm>
            <a:off x="457200" y="1709928"/>
            <a:ext cx="777240" cy="502920"/>
          </a:xfrm>
          <a:prstGeom prst="rect">
            <a:avLst/>
          </a:prstGeom>
          <a:solidFill>
            <a:srgbClr val="2E5496"/>
          </a:solidFill>
          <a:ln w="12700">
            <a:solidFill>
              <a:srgbClr val="2E5496"/>
            </a:solidFill>
            <a:prstDash val="solid"/>
          </a:ln>
        </p:spPr>
      </p:sp>
      <p:sp>
        <p:nvSpPr>
          <p:cNvPr id="11" name="Text 8"/>
          <p:cNvSpPr txBox="1"/>
          <p:nvPr/>
        </p:nvSpPr>
        <p:spPr>
          <a:xfrm>
            <a:off x="457200" y="1709928"/>
            <a:ext cx="77724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v.10b</a:t>
            </a:r>
            <a:endParaRPr lang="en-US" sz="1100" dirty="0"/>
          </a:p>
        </p:txBody>
      </p:sp>
      <p:sp>
        <p:nvSpPr>
          <p:cNvPr id="12" name="Shape 9"/>
          <p:cNvSpPr/>
          <p:nvPr/>
        </p:nvSpPr>
        <p:spPr>
          <a:xfrm>
            <a:off x="1234440" y="1709928"/>
            <a:ext cx="7452360" cy="502920"/>
          </a:xfrm>
          <a:prstGeom prst="rect">
            <a:avLst/>
          </a:prstGeom>
          <a:solidFill>
            <a:srgbClr val="FFFFFF"/>
          </a:solidFill>
          <a:ln w="9525">
            <a:solidFill>
              <a:srgbClr val="D5DCEA"/>
            </a:solidFill>
            <a:prstDash val="solid"/>
          </a:ln>
        </p:spPr>
      </p:sp>
      <p:sp>
        <p:nvSpPr>
          <p:cNvPr id="13" name="Text 10"/>
          <p:cNvSpPr txBox="1"/>
          <p:nvPr/>
        </p:nvSpPr>
        <p:spPr>
          <a:xfrm>
            <a:off x="1344168" y="1709928"/>
            <a:ext cx="4389120" cy="50292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“Or do I seek to please men?”</a:t>
            </a:r>
            <a:endParaRPr lang="en-US" sz="1200" dirty="0"/>
          </a:p>
        </p:txBody>
      </p:sp>
      <p:sp>
        <p:nvSpPr>
          <p:cNvPr id="14" name="Text 11"/>
          <p:cNvSpPr txBox="1"/>
          <p:nvPr/>
        </p:nvSpPr>
        <p:spPr>
          <a:xfrm>
            <a:off x="5806440" y="1709928"/>
            <a:ext cx="2788920" cy="50292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ἀρέσκω</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to please, accommodate</a:t>
            </a:r>
            <a:endParaRPr lang="en-US" sz="1200" dirty="0"/>
          </a:p>
        </p:txBody>
      </p:sp>
      <p:sp>
        <p:nvSpPr>
          <p:cNvPr id="15" name="Shape 12"/>
          <p:cNvSpPr/>
          <p:nvPr/>
        </p:nvSpPr>
        <p:spPr>
          <a:xfrm>
            <a:off x="457200" y="2276856"/>
            <a:ext cx="777240" cy="502920"/>
          </a:xfrm>
          <a:prstGeom prst="rect">
            <a:avLst/>
          </a:prstGeom>
          <a:solidFill>
            <a:srgbClr val="375623"/>
          </a:solidFill>
          <a:ln w="12700">
            <a:solidFill>
              <a:srgbClr val="375623"/>
            </a:solidFill>
            <a:prstDash val="solid"/>
          </a:ln>
        </p:spPr>
      </p:sp>
      <p:sp>
        <p:nvSpPr>
          <p:cNvPr id="16" name="Text 13"/>
          <p:cNvSpPr txBox="1"/>
          <p:nvPr/>
        </p:nvSpPr>
        <p:spPr>
          <a:xfrm>
            <a:off x="457200" y="2276856"/>
            <a:ext cx="77724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v.10c</a:t>
            </a:r>
            <a:endParaRPr lang="en-US" sz="1100" dirty="0"/>
          </a:p>
        </p:txBody>
      </p:sp>
      <p:sp>
        <p:nvSpPr>
          <p:cNvPr id="17" name="Shape 14"/>
          <p:cNvSpPr/>
          <p:nvPr/>
        </p:nvSpPr>
        <p:spPr>
          <a:xfrm>
            <a:off x="1234440" y="2276856"/>
            <a:ext cx="7452360" cy="502920"/>
          </a:xfrm>
          <a:prstGeom prst="rect">
            <a:avLst/>
          </a:prstGeom>
          <a:solidFill>
            <a:srgbClr val="F2F6FC"/>
          </a:solidFill>
          <a:ln w="9525">
            <a:solidFill>
              <a:srgbClr val="D5DCEA"/>
            </a:solidFill>
            <a:prstDash val="solid"/>
          </a:ln>
        </p:spPr>
      </p:sp>
      <p:sp>
        <p:nvSpPr>
          <p:cNvPr id="18" name="Text 15"/>
          <p:cNvSpPr txBox="1"/>
          <p:nvPr/>
        </p:nvSpPr>
        <p:spPr>
          <a:xfrm>
            <a:off x="1344168" y="2276856"/>
            <a:ext cx="4389120" cy="50292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“I would not be a bondservant of Christ”</a:t>
            </a:r>
            <a:endParaRPr lang="en-US" sz="1200" dirty="0"/>
          </a:p>
        </p:txBody>
      </p:sp>
      <p:sp>
        <p:nvSpPr>
          <p:cNvPr id="19" name="Text 16"/>
          <p:cNvSpPr txBox="1"/>
          <p:nvPr/>
        </p:nvSpPr>
        <p:spPr>
          <a:xfrm>
            <a:off x="5806440" y="2276856"/>
            <a:ext cx="2788920" cy="50292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δοῦλος</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one Master — not Christ and the crowd</a:t>
            </a:r>
            <a:endParaRPr lang="en-US" sz="1200" dirty="0"/>
          </a:p>
        </p:txBody>
      </p:sp>
      <p:sp>
        <p:nvSpPr>
          <p:cNvPr id="20" name="Shape 17"/>
          <p:cNvSpPr/>
          <p:nvPr/>
        </p:nvSpPr>
        <p:spPr>
          <a:xfrm>
            <a:off x="457200" y="3017520"/>
            <a:ext cx="4023360" cy="365760"/>
          </a:xfrm>
          <a:prstGeom prst="rect">
            <a:avLst/>
          </a:prstGeom>
          <a:solidFill>
            <a:srgbClr val="6B7280"/>
          </a:solidFill>
          <a:ln w="12700">
            <a:solidFill>
              <a:srgbClr val="6B7280"/>
            </a:solidFill>
            <a:prstDash val="solid"/>
          </a:ln>
        </p:spPr>
      </p:sp>
      <p:sp>
        <p:nvSpPr>
          <p:cNvPr id="21" name="Text 18"/>
          <p:cNvSpPr txBox="1"/>
          <p:nvPr/>
        </p:nvSpPr>
        <p:spPr>
          <a:xfrm>
            <a:off x="548640" y="3063240"/>
            <a:ext cx="3840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Serving from fear</a:t>
            </a:r>
            <a:endParaRPr lang="en-US" sz="1200" dirty="0"/>
          </a:p>
        </p:txBody>
      </p:sp>
      <p:sp>
        <p:nvSpPr>
          <p:cNvPr id="22" name="Shape 19"/>
          <p:cNvSpPr/>
          <p:nvPr/>
        </p:nvSpPr>
        <p:spPr>
          <a:xfrm>
            <a:off x="457200" y="3383280"/>
            <a:ext cx="4023360" cy="1234440"/>
          </a:xfrm>
          <a:prstGeom prst="rect">
            <a:avLst/>
          </a:prstGeom>
          <a:solidFill>
            <a:srgbClr val="F2F6FC"/>
          </a:solidFill>
          <a:ln w="9525">
            <a:solidFill>
              <a:srgbClr val="D5DCEA"/>
            </a:solidFill>
            <a:prstDash val="solid"/>
          </a:ln>
        </p:spPr>
      </p:sp>
      <p:sp>
        <p:nvSpPr>
          <p:cNvPr id="23" name="Text 20"/>
          <p:cNvSpPr txBox="1"/>
          <p:nvPr/>
        </p:nvSpPr>
        <p:spPr>
          <a:xfrm>
            <a:off x="548640" y="3456432"/>
            <a:ext cx="3840480" cy="1106424"/>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Unsure enough has been done to be saved — or to stay saved</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Works become a way to keep the account settled</a:t>
            </a:r>
            <a:endParaRPr lang="en-US" sz="1300" dirty="0"/>
          </a:p>
        </p:txBody>
      </p:sp>
      <p:sp>
        <p:nvSpPr>
          <p:cNvPr id="24" name="Shape 21"/>
          <p:cNvSpPr/>
          <p:nvPr/>
        </p:nvSpPr>
        <p:spPr>
          <a:xfrm>
            <a:off x="4663440" y="3017520"/>
            <a:ext cx="4023360" cy="365760"/>
          </a:xfrm>
          <a:prstGeom prst="rect">
            <a:avLst/>
          </a:prstGeom>
          <a:solidFill>
            <a:srgbClr val="375623"/>
          </a:solidFill>
          <a:ln w="12700">
            <a:solidFill>
              <a:srgbClr val="375623"/>
            </a:solidFill>
            <a:prstDash val="solid"/>
          </a:ln>
        </p:spPr>
      </p:sp>
      <p:sp>
        <p:nvSpPr>
          <p:cNvPr id="25" name="Text 22"/>
          <p:cNvSpPr txBox="1"/>
          <p:nvPr/>
        </p:nvSpPr>
        <p:spPr>
          <a:xfrm>
            <a:off x="4754880" y="3063240"/>
            <a:ext cx="3840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Serving from love</a:t>
            </a:r>
            <a:endParaRPr lang="en-US" sz="1200" dirty="0"/>
          </a:p>
        </p:txBody>
      </p:sp>
      <p:sp>
        <p:nvSpPr>
          <p:cNvPr id="26" name="Shape 23"/>
          <p:cNvSpPr/>
          <p:nvPr/>
        </p:nvSpPr>
        <p:spPr>
          <a:xfrm>
            <a:off x="4663440" y="3383280"/>
            <a:ext cx="4023360" cy="1234440"/>
          </a:xfrm>
          <a:prstGeom prst="rect">
            <a:avLst/>
          </a:prstGeom>
          <a:solidFill>
            <a:srgbClr val="F2F6FC"/>
          </a:solidFill>
          <a:ln w="9525">
            <a:solidFill>
              <a:srgbClr val="D5DCEA"/>
            </a:solidFill>
            <a:prstDash val="solid"/>
          </a:ln>
        </p:spPr>
      </p:sp>
      <p:sp>
        <p:nvSpPr>
          <p:cNvPr id="27" name="Text 24"/>
          <p:cNvSpPr txBox="1"/>
          <p:nvPr/>
        </p:nvSpPr>
        <p:spPr>
          <a:xfrm>
            <a:off x="4754880" y="3456432"/>
            <a:ext cx="3840480" cy="1106424"/>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Jesus has already paid the debt in full</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“The love of Christ compels us” (2 Cor 5:14)</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Discuss and apply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1:6–10 · from the study's posted questions and applications</a:t>
            </a:r>
            <a:endParaRPr lang="en-US" sz="1200" dirty="0"/>
          </a:p>
        </p:txBody>
      </p:sp>
      <p:sp>
        <p:nvSpPr>
          <p:cNvPr id="5" name="Shape 2"/>
          <p:cNvSpPr/>
          <p:nvPr/>
        </p:nvSpPr>
        <p:spPr>
          <a:xfrm>
            <a:off x="457200" y="1115568"/>
            <a:ext cx="4023360" cy="384048"/>
          </a:xfrm>
          <a:prstGeom prst="rect">
            <a:avLst/>
          </a:prstGeom>
          <a:solidFill>
            <a:srgbClr val="2E5496"/>
          </a:solidFill>
          <a:ln w="12700">
            <a:solidFill>
              <a:srgbClr val="2E5496"/>
            </a:solidFill>
            <a:prstDash val="solid"/>
          </a:ln>
        </p:spPr>
      </p:sp>
      <p:sp>
        <p:nvSpPr>
          <p:cNvPr id="6" name="Text 3"/>
          <p:cNvSpPr txBox="1"/>
          <p:nvPr/>
        </p:nvSpPr>
        <p:spPr>
          <a:xfrm>
            <a:off x="56692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Discuss</a:t>
            </a:r>
            <a:endParaRPr lang="en-US" sz="1300" dirty="0"/>
          </a:p>
        </p:txBody>
      </p:sp>
      <p:sp>
        <p:nvSpPr>
          <p:cNvPr id="7" name="Shape 4"/>
          <p:cNvSpPr/>
          <p:nvPr/>
        </p:nvSpPr>
        <p:spPr>
          <a:xfrm>
            <a:off x="457200" y="1499616"/>
            <a:ext cx="4023360" cy="2359152"/>
          </a:xfrm>
          <a:prstGeom prst="rect">
            <a:avLst/>
          </a:prstGeom>
          <a:solidFill>
            <a:srgbClr val="F2F6FC"/>
          </a:solidFill>
          <a:ln w="9525">
            <a:solidFill>
              <a:srgbClr val="D5DCEA"/>
            </a:solidFill>
            <a:prstDash val="solid"/>
          </a:ln>
        </p:spPr>
      </p:sp>
      <p:sp>
        <p:nvSpPr>
          <p:cNvPr id="8" name="Shape 5"/>
          <p:cNvSpPr/>
          <p:nvPr/>
        </p:nvSpPr>
        <p:spPr>
          <a:xfrm>
            <a:off x="4663440" y="1115568"/>
            <a:ext cx="4023360" cy="384048"/>
          </a:xfrm>
          <a:prstGeom prst="rect">
            <a:avLst/>
          </a:prstGeom>
          <a:solidFill>
            <a:srgbClr val="375623"/>
          </a:solidFill>
          <a:ln w="12700">
            <a:solidFill>
              <a:srgbClr val="375623"/>
            </a:solidFill>
            <a:prstDash val="solid"/>
          </a:ln>
        </p:spPr>
      </p:sp>
      <p:sp>
        <p:nvSpPr>
          <p:cNvPr id="9" name="Text 6"/>
          <p:cNvSpPr txBox="1"/>
          <p:nvPr/>
        </p:nvSpPr>
        <p:spPr>
          <a:xfrm>
            <a:off x="477316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Apply</a:t>
            </a:r>
            <a:endParaRPr lang="en-US" sz="1300" dirty="0"/>
          </a:p>
        </p:txBody>
      </p:sp>
      <p:sp>
        <p:nvSpPr>
          <p:cNvPr id="10" name="Shape 7"/>
          <p:cNvSpPr/>
          <p:nvPr/>
        </p:nvSpPr>
        <p:spPr>
          <a:xfrm>
            <a:off x="4663440" y="1499616"/>
            <a:ext cx="4023360" cy="2359152"/>
          </a:xfrm>
          <a:prstGeom prst="rect">
            <a:avLst/>
          </a:prstGeom>
          <a:solidFill>
            <a:srgbClr val="F2F6FC"/>
          </a:solidFill>
          <a:ln w="9525">
            <a:solidFill>
              <a:srgbClr val="D5DCEA"/>
            </a:solidFill>
            <a:prstDash val="solid"/>
          </a:ln>
        </p:spPr>
      </p:sp>
      <p:sp>
        <p:nvSpPr>
          <p:cNvPr id="11" name="Shape 8"/>
          <p:cNvSpPr/>
          <p:nvPr/>
        </p:nvSpPr>
        <p:spPr>
          <a:xfrm>
            <a:off x="566928" y="1636776"/>
            <a:ext cx="347472" cy="347472"/>
          </a:xfrm>
          <a:prstGeom prst="ellipse">
            <a:avLst/>
          </a:prstGeom>
          <a:solidFill>
            <a:srgbClr val="2E5496"/>
          </a:solidFill>
          <a:ln w="12700">
            <a:solidFill>
              <a:srgbClr val="2E5496"/>
            </a:solidFill>
            <a:prstDash val="solid"/>
          </a:ln>
        </p:spPr>
      </p:sp>
      <p:sp>
        <p:nvSpPr>
          <p:cNvPr id="12" name="Text 9"/>
          <p:cNvSpPr txBox="1"/>
          <p:nvPr/>
        </p:nvSpPr>
        <p:spPr>
          <a:xfrm>
            <a:off x="566928" y="163677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3" name="Text 10"/>
          <p:cNvSpPr txBox="1"/>
          <p:nvPr/>
        </p:nvSpPr>
        <p:spPr>
          <a:xfrm>
            <a:off x="1005840" y="1591056"/>
            <a:ext cx="3364992" cy="1042416"/>
          </a:xfrm>
          <a:prstGeom prst="rect">
            <a:avLst/>
          </a:prstGeom>
          <a:noFill/>
          <a:ln/>
        </p:spPr>
        <p:txBody>
          <a:bodyPr wrap="square" lIns="0" tIns="0" rIns="0" bIns="0" rtlCol="0" anchor="t"/>
          <a:lstStyle/>
          <a:p>
            <a:pPr indent="0" marL="0">
              <a:buNone/>
            </a:pPr>
            <a:r>
              <a:rPr lang="en-US" sz="1350" dirty="0">
                <a:solidFill>
                  <a:srgbClr val="262626"/>
                </a:solidFill>
                <a:latin typeface="Arial" pitchFamily="34" charset="0"/>
                <a:ea typeface="Arial" pitchFamily="34" charset="-122"/>
                <a:cs typeface="Arial" pitchFamily="34" charset="-120"/>
              </a:rPr>
              <a:t>According to 1:6b, whose call were the Galatians actually rejecting when they abandoned Paul's gospel — and why does that matter?</a:t>
            </a:r>
            <a:endParaRPr lang="en-US" sz="1350" dirty="0"/>
          </a:p>
        </p:txBody>
      </p:sp>
      <p:sp>
        <p:nvSpPr>
          <p:cNvPr id="14" name="Shape 11"/>
          <p:cNvSpPr/>
          <p:nvPr/>
        </p:nvSpPr>
        <p:spPr>
          <a:xfrm>
            <a:off x="566928" y="2724912"/>
            <a:ext cx="347472" cy="347472"/>
          </a:xfrm>
          <a:prstGeom prst="ellipse">
            <a:avLst/>
          </a:prstGeom>
          <a:solidFill>
            <a:srgbClr val="2E5496"/>
          </a:solidFill>
          <a:ln w="12700">
            <a:solidFill>
              <a:srgbClr val="2E5496"/>
            </a:solidFill>
            <a:prstDash val="solid"/>
          </a:ln>
        </p:spPr>
      </p:sp>
      <p:sp>
        <p:nvSpPr>
          <p:cNvPr id="15" name="Text 12"/>
          <p:cNvSpPr txBox="1"/>
          <p:nvPr/>
        </p:nvSpPr>
        <p:spPr>
          <a:xfrm>
            <a:off x="566928" y="272491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6" name="Text 13"/>
          <p:cNvSpPr txBox="1"/>
          <p:nvPr/>
        </p:nvSpPr>
        <p:spPr>
          <a:xfrm>
            <a:off x="1005840" y="2679192"/>
            <a:ext cx="3364992" cy="1042416"/>
          </a:xfrm>
          <a:prstGeom prst="rect">
            <a:avLst/>
          </a:prstGeom>
          <a:noFill/>
          <a:ln/>
        </p:spPr>
        <p:txBody>
          <a:bodyPr wrap="square" lIns="0" tIns="0" rIns="0" bIns="0" rtlCol="0" anchor="t"/>
          <a:lstStyle/>
          <a:p>
            <a:pPr indent="0" marL="0">
              <a:buNone/>
            </a:pPr>
            <a:r>
              <a:rPr lang="en-US" sz="1350" dirty="0">
                <a:solidFill>
                  <a:srgbClr val="262626"/>
                </a:solidFill>
                <a:latin typeface="Arial" pitchFamily="34" charset="0"/>
                <a:ea typeface="Arial" pitchFamily="34" charset="-122"/>
                <a:cs typeface="Arial" pitchFamily="34" charset="-120"/>
              </a:rPr>
              <a:t>Why does Paul pronounce the same curse (ἀνάθεμα) on an unlikely messenger and a likely one?</a:t>
            </a:r>
            <a:endParaRPr lang="en-US" sz="1350" dirty="0"/>
          </a:p>
        </p:txBody>
      </p:sp>
      <p:sp>
        <p:nvSpPr>
          <p:cNvPr id="17" name="Text 14"/>
          <p:cNvSpPr txBox="1"/>
          <p:nvPr/>
        </p:nvSpPr>
        <p:spPr>
          <a:xfrm>
            <a:off x="4791456" y="1591056"/>
            <a:ext cx="3767328" cy="1042416"/>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Grace Cannot Be Improved Upon</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Write out in one sentence how a person receives eternal life. Check it against Ephesians 2:8–9 and John 3:16.</a:t>
            </a:r>
            <a:endParaRPr lang="en-US" sz="1200" dirty="0"/>
          </a:p>
        </p:txBody>
      </p:sp>
      <p:sp>
        <p:nvSpPr>
          <p:cNvPr id="18" name="Text 15"/>
          <p:cNvSpPr txBox="1"/>
          <p:nvPr/>
        </p:nvSpPr>
        <p:spPr>
          <a:xfrm>
            <a:off x="4791456" y="2679192"/>
            <a:ext cx="3767328" cy="1042416"/>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Test Every Message Against the Word</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Pick one teaching you've accepted secondhand and trace it back to see whether it holds up against the Word.</a:t>
            </a:r>
            <a:endParaRPr lang="en-US" sz="1200" dirty="0"/>
          </a:p>
        </p:txBody>
      </p:sp>
      <p:sp>
        <p:nvSpPr>
          <p:cNvPr id="19" name="Shape 16"/>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0" name="Text 17"/>
          <p:cNvSpPr txBox="1"/>
          <p:nvPr/>
        </p:nvSpPr>
        <p:spPr>
          <a:xfrm>
            <a:off x="621792" y="4023360"/>
            <a:ext cx="7900416" cy="566928"/>
          </a:xfrm>
          <a:prstGeom prst="rect">
            <a:avLst/>
          </a:prstGeom>
          <a:noFill/>
          <a:ln/>
        </p:spPr>
        <p:txBody>
          <a:bodyPr wrap="square" lIns="0" tIns="0" rIns="0" bIns="0" rtlCol="0" anchor="ctr"/>
          <a:lstStyle/>
          <a:p>
            <a:pPr indent="0" marL="0">
              <a:buNone/>
            </a:pPr>
            <a:r>
              <a:rPr lang="en-US" sz="1250" b="1" dirty="0">
                <a:solidFill>
                  <a:srgbClr val="C9D5EE"/>
                </a:solidFill>
                <a:latin typeface="Arial" pitchFamily="34" charset="0"/>
                <a:ea typeface="Arial" pitchFamily="34" charset="-122"/>
                <a:cs typeface="Arial" pitchFamily="34" charset="-120"/>
              </a:rPr>
              <a:t>In one line:  </a:t>
            </a:r>
            <a:pPr indent="0" marL="0">
              <a:buNone/>
            </a:pPr>
            <a:r>
              <a:rPr lang="en-US" sz="1250" dirty="0">
                <a:solidFill>
                  <a:srgbClr val="FFFFFF"/>
                </a:solidFill>
                <a:latin typeface="Arial" pitchFamily="34" charset="0"/>
                <a:ea typeface="Arial" pitchFamily="34" charset="-122"/>
                <a:cs typeface="Arial" pitchFamily="34" charset="-120"/>
              </a:rPr>
              <a:t>There is one gospel — grace — and anything added to it is no gospel at all.</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lstStyle/>
          <a:p>
            <a:pPr indent="0" marL="0">
              <a:buNone/>
            </a:pPr>
            <a:r>
              <a:rPr lang="en-US" sz="1400" dirty="0">
                <a:solidFill>
                  <a:srgbClr val="C9D5EE"/>
                </a:solidFill>
                <a:latin typeface="Arial" pitchFamily="34" charset="0"/>
                <a:ea typeface="Arial" pitchFamily="34" charset="-122"/>
                <a:cs typeface="Arial" pitchFamily="34" charset="-120"/>
              </a:rPr>
              <a:t>Study 3 of 16 · Galatians 1:11–17</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Paul's Independent Revelation</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t"/>
          <a:lstStyle/>
          <a:p>
            <a:pPr indent="0" marL="0">
              <a:buNone/>
            </a:pPr>
            <a:r>
              <a:rPr lang="en-US" sz="1500" i="1" dirty="0">
                <a:solidFill>
                  <a:srgbClr val="E6ECF7"/>
                </a:solidFill>
                <a:latin typeface="Arial" pitchFamily="34" charset="0"/>
                <a:ea typeface="Arial" pitchFamily="34" charset="-122"/>
                <a:cs typeface="Arial" pitchFamily="34" charset="-120"/>
              </a:rPr>
              <a:t>The gospel Paul preached did not originate with man, was not handed to him by man, and was not taught in any human school. It came by direct revelation of Jesus Christ — and a transformed life only God could explain confirmed it.</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Four proofs from Paul's own story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1:11–17 · The commentary's outline</a:t>
            </a:r>
            <a:endParaRPr lang="en-US" sz="1200" dirty="0"/>
          </a:p>
        </p:txBody>
      </p:sp>
      <p:sp>
        <p:nvSpPr>
          <p:cNvPr id="5" name="Shape 2"/>
          <p:cNvSpPr/>
          <p:nvPr/>
        </p:nvSpPr>
        <p:spPr>
          <a:xfrm>
            <a:off x="457200" y="1234440"/>
            <a:ext cx="1920240" cy="2286000"/>
          </a:xfrm>
          <a:prstGeom prst="roundRect">
            <a:avLst>
              <a:gd name="adj" fmla="val 2857"/>
            </a:avLst>
          </a:prstGeom>
          <a:solidFill>
            <a:srgbClr val="1F3864"/>
          </a:solidFill>
          <a:ln w="12700">
            <a:solidFill>
              <a:srgbClr val="1F3864"/>
            </a:solidFill>
            <a:prstDash val="solid"/>
          </a:ln>
        </p:spPr>
      </p:sp>
      <p:sp>
        <p:nvSpPr>
          <p:cNvPr id="6" name="Text 3"/>
          <p:cNvSpPr txBox="1"/>
          <p:nvPr/>
        </p:nvSpPr>
        <p:spPr>
          <a:xfrm>
            <a:off x="457200" y="1371600"/>
            <a:ext cx="1920240" cy="548640"/>
          </a:xfrm>
          <a:prstGeom prst="rect">
            <a:avLst/>
          </a:prstGeom>
          <a:noFill/>
          <a:ln/>
        </p:spPr>
        <p:txBody>
          <a:bodyPr wrap="square" lIns="0" tIns="0" rIns="0" bIns="0" rtlCol="0" anchor="t"/>
          <a:lstStyle/>
          <a:p>
            <a:pPr algn="ctr" indent="0" marL="0">
              <a:buNone/>
            </a:pPr>
            <a:r>
              <a:rPr lang="en-US" sz="2800" b="1" dirty="0">
                <a:solidFill>
                  <a:srgbClr val="FFFFFF"/>
                </a:solidFill>
                <a:latin typeface="Arial" pitchFamily="34" charset="0"/>
                <a:ea typeface="Arial" pitchFamily="34" charset="-122"/>
                <a:cs typeface="Arial" pitchFamily="34" charset="-120"/>
              </a:rPr>
              <a:t>I</a:t>
            </a:r>
            <a:endParaRPr lang="en-US" sz="2800" dirty="0"/>
          </a:p>
        </p:txBody>
      </p:sp>
      <p:sp>
        <p:nvSpPr>
          <p:cNvPr id="7" name="Text 4"/>
          <p:cNvSpPr txBox="1"/>
          <p:nvPr/>
        </p:nvSpPr>
        <p:spPr>
          <a:xfrm>
            <a:off x="548640" y="2011680"/>
            <a:ext cx="1737360" cy="365760"/>
          </a:xfrm>
          <a:prstGeom prst="rect">
            <a:avLst/>
          </a:prstGeom>
          <a:noFill/>
          <a:ln/>
        </p:spPr>
        <p:txBody>
          <a:bodyPr wrap="square" lIns="0" tIns="0" rIns="0" bIns="0" rtlCol="0" anchor="t"/>
          <a:lstStyle/>
          <a:p>
            <a:pPr algn="ctr" indent="0" marL="0">
              <a:buNone/>
            </a:pPr>
            <a:r>
              <a:rPr lang="en-US" sz="1400" b="1" dirty="0">
                <a:solidFill>
                  <a:srgbClr val="FFFFFF"/>
                </a:solidFill>
                <a:latin typeface="Arial" pitchFamily="34" charset="0"/>
                <a:ea typeface="Arial" pitchFamily="34" charset="-122"/>
                <a:cs typeface="Arial" pitchFamily="34" charset="-120"/>
              </a:rPr>
              <a:t>Paul's Claim</a:t>
            </a:r>
            <a:endParaRPr lang="en-US" sz="1400" dirty="0"/>
          </a:p>
        </p:txBody>
      </p:sp>
      <p:sp>
        <p:nvSpPr>
          <p:cNvPr id="8" name="Text 5"/>
          <p:cNvSpPr txBox="1"/>
          <p:nvPr/>
        </p:nvSpPr>
        <p:spPr>
          <a:xfrm>
            <a:off x="548640" y="2423160"/>
            <a:ext cx="1737360" cy="457200"/>
          </a:xfrm>
          <a:prstGeom prst="rect">
            <a:avLst/>
          </a:prstGeom>
          <a:noFill/>
          <a:ln/>
        </p:spPr>
        <p:txBody>
          <a:bodyPr wrap="square" lIns="0" tIns="0" rIns="0" bIns="0" rtlCol="0" anchor="t"/>
          <a:lstStyle/>
          <a:p>
            <a:pPr algn="ctr" indent="0" marL="0">
              <a:buNone/>
            </a:pPr>
            <a:r>
              <a:rPr lang="en-US" sz="1100" dirty="0">
                <a:solidFill>
                  <a:srgbClr val="DCE4F2"/>
                </a:solidFill>
                <a:latin typeface="Arial" pitchFamily="34" charset="0"/>
                <a:ea typeface="Arial" pitchFamily="34" charset="-122"/>
                <a:cs typeface="Arial" pitchFamily="34" charset="-120"/>
              </a:rPr>
              <a:t>A divine revelation</a:t>
            </a:r>
            <a:endParaRPr lang="en-US" sz="1100" dirty="0"/>
          </a:p>
        </p:txBody>
      </p:sp>
      <p:sp>
        <p:nvSpPr>
          <p:cNvPr id="9" name="Text 6"/>
          <p:cNvSpPr txBox="1"/>
          <p:nvPr/>
        </p:nvSpPr>
        <p:spPr>
          <a:xfrm>
            <a:off x="548640" y="2971800"/>
            <a:ext cx="1737360" cy="320040"/>
          </a:xfrm>
          <a:prstGeom prst="rect">
            <a:avLst/>
          </a:prstGeom>
          <a:noFill/>
          <a:ln/>
        </p:spPr>
        <p:txBody>
          <a:bodyPr wrap="square" lIns="0" tIns="0" rIns="0" bIns="0" rtlCol="0" anchor="t"/>
          <a:lstStyle/>
          <a:p>
            <a:pPr algn="ctr" indent="0" marL="0">
              <a:buNone/>
            </a:pPr>
            <a:r>
              <a:rPr lang="en-US" sz="1100" i="1" dirty="0">
                <a:solidFill>
                  <a:srgbClr val="C9D5EE"/>
                </a:solidFill>
                <a:latin typeface="Arial" pitchFamily="34" charset="0"/>
                <a:ea typeface="Arial" pitchFamily="34" charset="-122"/>
                <a:cs typeface="Arial" pitchFamily="34" charset="-120"/>
              </a:rPr>
              <a:t>1:11–12</a:t>
            </a:r>
            <a:endParaRPr lang="en-US" sz="1100" dirty="0"/>
          </a:p>
        </p:txBody>
      </p:sp>
      <p:sp>
        <p:nvSpPr>
          <p:cNvPr id="10" name="Shape 7"/>
          <p:cNvSpPr/>
          <p:nvPr/>
        </p:nvSpPr>
        <p:spPr>
          <a:xfrm>
            <a:off x="2578608" y="1234440"/>
            <a:ext cx="1920240" cy="2286000"/>
          </a:xfrm>
          <a:prstGeom prst="roundRect">
            <a:avLst>
              <a:gd name="adj" fmla="val 2857"/>
            </a:avLst>
          </a:prstGeom>
          <a:solidFill>
            <a:srgbClr val="F2F6FC"/>
          </a:solidFill>
          <a:ln w="12700">
            <a:solidFill>
              <a:srgbClr val="D5DCEA"/>
            </a:solidFill>
            <a:prstDash val="solid"/>
          </a:ln>
        </p:spPr>
      </p:sp>
      <p:sp>
        <p:nvSpPr>
          <p:cNvPr id="11" name="Text 8"/>
          <p:cNvSpPr txBox="1"/>
          <p:nvPr/>
        </p:nvSpPr>
        <p:spPr>
          <a:xfrm>
            <a:off x="2578608" y="1371600"/>
            <a:ext cx="1920240" cy="548640"/>
          </a:xfrm>
          <a:prstGeom prst="rect">
            <a:avLst/>
          </a:prstGeom>
          <a:noFill/>
          <a:ln/>
        </p:spPr>
        <p:txBody>
          <a:bodyPr wrap="square" lIns="0" tIns="0" rIns="0" bIns="0" rtlCol="0" anchor="t"/>
          <a:lstStyle/>
          <a:p>
            <a:pPr algn="ctr" indent="0" marL="0">
              <a:buNone/>
            </a:pPr>
            <a:r>
              <a:rPr lang="en-US" sz="2800" b="1" dirty="0">
                <a:solidFill>
                  <a:srgbClr val="2E5496"/>
                </a:solidFill>
                <a:latin typeface="Arial" pitchFamily="34" charset="0"/>
                <a:ea typeface="Arial" pitchFamily="34" charset="-122"/>
                <a:cs typeface="Arial" pitchFamily="34" charset="-120"/>
              </a:rPr>
              <a:t>II</a:t>
            </a:r>
            <a:endParaRPr lang="en-US" sz="2800" dirty="0"/>
          </a:p>
        </p:txBody>
      </p:sp>
      <p:sp>
        <p:nvSpPr>
          <p:cNvPr id="12" name="Text 9"/>
          <p:cNvSpPr txBox="1"/>
          <p:nvPr/>
        </p:nvSpPr>
        <p:spPr>
          <a:xfrm>
            <a:off x="2670048" y="2011680"/>
            <a:ext cx="1737360" cy="365760"/>
          </a:xfrm>
          <a:prstGeom prst="rect">
            <a:avLst/>
          </a:prstGeom>
          <a:noFill/>
          <a:ln/>
        </p:spPr>
        <p:txBody>
          <a:bodyPr wrap="square" lIns="0" tIns="0" rIns="0" bIns="0" rtlCol="0" anchor="t"/>
          <a:lstStyle/>
          <a:p>
            <a:pPr algn="ctr" indent="0" marL="0">
              <a:buNone/>
            </a:pPr>
            <a:r>
              <a:rPr lang="en-US" sz="1400" b="1" dirty="0">
                <a:solidFill>
                  <a:srgbClr val="1F3864"/>
                </a:solidFill>
                <a:latin typeface="Arial" pitchFamily="34" charset="0"/>
                <a:ea typeface="Arial" pitchFamily="34" charset="-122"/>
                <a:cs typeface="Arial" pitchFamily="34" charset="-120"/>
              </a:rPr>
              <a:t>Paul's Conduct</a:t>
            </a:r>
            <a:endParaRPr lang="en-US" sz="1400" dirty="0"/>
          </a:p>
        </p:txBody>
      </p:sp>
      <p:sp>
        <p:nvSpPr>
          <p:cNvPr id="13" name="Text 10"/>
          <p:cNvSpPr txBox="1"/>
          <p:nvPr/>
        </p:nvSpPr>
        <p:spPr>
          <a:xfrm>
            <a:off x="2670048" y="2423160"/>
            <a:ext cx="1737360" cy="457200"/>
          </a:xfrm>
          <a:prstGeom prst="rect">
            <a:avLst/>
          </a:prstGeom>
          <a:noFill/>
          <a:ln/>
        </p:spPr>
        <p:txBody>
          <a:bodyPr wrap="square" lIns="0" tIns="0" rIns="0" bIns="0" rtlCol="0" anchor="t"/>
          <a:lstStyle/>
          <a:p>
            <a:pPr algn="ctr" indent="0" marL="0">
              <a:buNone/>
            </a:pPr>
            <a:r>
              <a:rPr lang="en-US" sz="1100" dirty="0">
                <a:solidFill>
                  <a:srgbClr val="262626"/>
                </a:solidFill>
                <a:latin typeface="Arial" pitchFamily="34" charset="0"/>
                <a:ea typeface="Arial" pitchFamily="34" charset="-122"/>
                <a:cs typeface="Arial" pitchFamily="34" charset="-120"/>
              </a:rPr>
              <a:t>Before conversion</a:t>
            </a:r>
            <a:endParaRPr lang="en-US" sz="1100" dirty="0"/>
          </a:p>
        </p:txBody>
      </p:sp>
      <p:sp>
        <p:nvSpPr>
          <p:cNvPr id="14" name="Text 11"/>
          <p:cNvSpPr txBox="1"/>
          <p:nvPr/>
        </p:nvSpPr>
        <p:spPr>
          <a:xfrm>
            <a:off x="2670048" y="2971800"/>
            <a:ext cx="1737360" cy="320040"/>
          </a:xfrm>
          <a:prstGeom prst="rect">
            <a:avLst/>
          </a:prstGeom>
          <a:noFill/>
          <a:ln/>
        </p:spPr>
        <p:txBody>
          <a:bodyPr wrap="square" lIns="0" tIns="0" rIns="0" bIns="0" rtlCol="0" anchor="t"/>
          <a:lstStyle/>
          <a:p>
            <a:pPr algn="ctr" indent="0" marL="0">
              <a:buNone/>
            </a:pPr>
            <a:r>
              <a:rPr lang="en-US" sz="1100" i="1" dirty="0">
                <a:solidFill>
                  <a:srgbClr val="595959"/>
                </a:solidFill>
                <a:latin typeface="Arial" pitchFamily="34" charset="0"/>
                <a:ea typeface="Arial" pitchFamily="34" charset="-122"/>
                <a:cs typeface="Arial" pitchFamily="34" charset="-120"/>
              </a:rPr>
              <a:t>1:13–14</a:t>
            </a:r>
            <a:endParaRPr lang="en-US" sz="1100" dirty="0"/>
          </a:p>
        </p:txBody>
      </p:sp>
      <p:sp>
        <p:nvSpPr>
          <p:cNvPr id="15" name="Shape 12"/>
          <p:cNvSpPr/>
          <p:nvPr/>
        </p:nvSpPr>
        <p:spPr>
          <a:xfrm>
            <a:off x="4700016" y="1234440"/>
            <a:ext cx="1920240" cy="2286000"/>
          </a:xfrm>
          <a:prstGeom prst="roundRect">
            <a:avLst>
              <a:gd name="adj" fmla="val 2857"/>
            </a:avLst>
          </a:prstGeom>
          <a:solidFill>
            <a:srgbClr val="1F3864"/>
          </a:solidFill>
          <a:ln w="12700">
            <a:solidFill>
              <a:srgbClr val="1F3864"/>
            </a:solidFill>
            <a:prstDash val="solid"/>
          </a:ln>
        </p:spPr>
      </p:sp>
      <p:sp>
        <p:nvSpPr>
          <p:cNvPr id="16" name="Text 13"/>
          <p:cNvSpPr txBox="1"/>
          <p:nvPr/>
        </p:nvSpPr>
        <p:spPr>
          <a:xfrm>
            <a:off x="4700016" y="1371600"/>
            <a:ext cx="1920240" cy="548640"/>
          </a:xfrm>
          <a:prstGeom prst="rect">
            <a:avLst/>
          </a:prstGeom>
          <a:noFill/>
          <a:ln/>
        </p:spPr>
        <p:txBody>
          <a:bodyPr wrap="square" lIns="0" tIns="0" rIns="0" bIns="0" rtlCol="0" anchor="t"/>
          <a:lstStyle/>
          <a:p>
            <a:pPr algn="ctr" indent="0" marL="0">
              <a:buNone/>
            </a:pPr>
            <a:r>
              <a:rPr lang="en-US" sz="2800" b="1" dirty="0">
                <a:solidFill>
                  <a:srgbClr val="FFFFFF"/>
                </a:solidFill>
                <a:latin typeface="Arial" pitchFamily="34" charset="0"/>
                <a:ea typeface="Arial" pitchFamily="34" charset="-122"/>
                <a:cs typeface="Arial" pitchFamily="34" charset="-120"/>
              </a:rPr>
              <a:t>III</a:t>
            </a:r>
            <a:endParaRPr lang="en-US" sz="2800" dirty="0"/>
          </a:p>
        </p:txBody>
      </p:sp>
      <p:sp>
        <p:nvSpPr>
          <p:cNvPr id="17" name="Text 14"/>
          <p:cNvSpPr txBox="1"/>
          <p:nvPr/>
        </p:nvSpPr>
        <p:spPr>
          <a:xfrm>
            <a:off x="4791456" y="2011680"/>
            <a:ext cx="1737360" cy="365760"/>
          </a:xfrm>
          <a:prstGeom prst="rect">
            <a:avLst/>
          </a:prstGeom>
          <a:noFill/>
          <a:ln/>
        </p:spPr>
        <p:txBody>
          <a:bodyPr wrap="square" lIns="0" tIns="0" rIns="0" bIns="0" rtlCol="0" anchor="t"/>
          <a:lstStyle/>
          <a:p>
            <a:pPr algn="ctr" indent="0" marL="0">
              <a:buNone/>
            </a:pPr>
            <a:r>
              <a:rPr lang="en-US" sz="1400" b="1" dirty="0">
                <a:solidFill>
                  <a:srgbClr val="FFFFFF"/>
                </a:solidFill>
                <a:latin typeface="Arial" pitchFamily="34" charset="0"/>
                <a:ea typeface="Arial" pitchFamily="34" charset="-122"/>
                <a:cs typeface="Arial" pitchFamily="34" charset="-120"/>
              </a:rPr>
              <a:t>Paul's Call</a:t>
            </a:r>
            <a:endParaRPr lang="en-US" sz="1400" dirty="0"/>
          </a:p>
        </p:txBody>
      </p:sp>
      <p:sp>
        <p:nvSpPr>
          <p:cNvPr id="18" name="Text 15"/>
          <p:cNvSpPr txBox="1"/>
          <p:nvPr/>
        </p:nvSpPr>
        <p:spPr>
          <a:xfrm>
            <a:off x="4791456" y="2423160"/>
            <a:ext cx="1737360" cy="457200"/>
          </a:xfrm>
          <a:prstGeom prst="rect">
            <a:avLst/>
          </a:prstGeom>
          <a:noFill/>
          <a:ln/>
        </p:spPr>
        <p:txBody>
          <a:bodyPr wrap="square" lIns="0" tIns="0" rIns="0" bIns="0" rtlCol="0" anchor="t"/>
          <a:lstStyle/>
          <a:p>
            <a:pPr algn="ctr" indent="0" marL="0">
              <a:buNone/>
            </a:pPr>
            <a:r>
              <a:rPr lang="en-US" sz="1100" dirty="0">
                <a:solidFill>
                  <a:srgbClr val="DCE4F2"/>
                </a:solidFill>
                <a:latin typeface="Arial" pitchFamily="34" charset="0"/>
                <a:ea typeface="Arial" pitchFamily="34" charset="-122"/>
                <a:cs typeface="Arial" pitchFamily="34" charset="-120"/>
              </a:rPr>
              <a:t>To preach</a:t>
            </a:r>
            <a:endParaRPr lang="en-US" sz="1100" dirty="0"/>
          </a:p>
        </p:txBody>
      </p:sp>
      <p:sp>
        <p:nvSpPr>
          <p:cNvPr id="19" name="Text 16"/>
          <p:cNvSpPr txBox="1"/>
          <p:nvPr/>
        </p:nvSpPr>
        <p:spPr>
          <a:xfrm>
            <a:off x="4791456" y="2971800"/>
            <a:ext cx="1737360" cy="320040"/>
          </a:xfrm>
          <a:prstGeom prst="rect">
            <a:avLst/>
          </a:prstGeom>
          <a:noFill/>
          <a:ln/>
        </p:spPr>
        <p:txBody>
          <a:bodyPr wrap="square" lIns="0" tIns="0" rIns="0" bIns="0" rtlCol="0" anchor="t"/>
          <a:lstStyle/>
          <a:p>
            <a:pPr algn="ctr" indent="0" marL="0">
              <a:buNone/>
            </a:pPr>
            <a:r>
              <a:rPr lang="en-US" sz="1100" i="1" dirty="0">
                <a:solidFill>
                  <a:srgbClr val="C9D5EE"/>
                </a:solidFill>
                <a:latin typeface="Arial" pitchFamily="34" charset="0"/>
                <a:ea typeface="Arial" pitchFamily="34" charset="-122"/>
                <a:cs typeface="Arial" pitchFamily="34" charset="-120"/>
              </a:rPr>
              <a:t>1:15–16a</a:t>
            </a:r>
            <a:endParaRPr lang="en-US" sz="1100" dirty="0"/>
          </a:p>
        </p:txBody>
      </p:sp>
      <p:sp>
        <p:nvSpPr>
          <p:cNvPr id="20" name="Shape 17"/>
          <p:cNvSpPr/>
          <p:nvPr/>
        </p:nvSpPr>
        <p:spPr>
          <a:xfrm>
            <a:off x="6821424" y="1234440"/>
            <a:ext cx="1920240" cy="2286000"/>
          </a:xfrm>
          <a:prstGeom prst="roundRect">
            <a:avLst>
              <a:gd name="adj" fmla="val 2857"/>
            </a:avLst>
          </a:prstGeom>
          <a:solidFill>
            <a:srgbClr val="F2F6FC"/>
          </a:solidFill>
          <a:ln w="12700">
            <a:solidFill>
              <a:srgbClr val="D5DCEA"/>
            </a:solidFill>
            <a:prstDash val="solid"/>
          </a:ln>
        </p:spPr>
      </p:sp>
      <p:sp>
        <p:nvSpPr>
          <p:cNvPr id="21" name="Text 18"/>
          <p:cNvSpPr txBox="1"/>
          <p:nvPr/>
        </p:nvSpPr>
        <p:spPr>
          <a:xfrm>
            <a:off x="6821424" y="1371600"/>
            <a:ext cx="1920240" cy="548640"/>
          </a:xfrm>
          <a:prstGeom prst="rect">
            <a:avLst/>
          </a:prstGeom>
          <a:noFill/>
          <a:ln/>
        </p:spPr>
        <p:txBody>
          <a:bodyPr wrap="square" lIns="0" tIns="0" rIns="0" bIns="0" rtlCol="0" anchor="t"/>
          <a:lstStyle/>
          <a:p>
            <a:pPr algn="ctr" indent="0" marL="0">
              <a:buNone/>
            </a:pPr>
            <a:r>
              <a:rPr lang="en-US" sz="2800" b="1" dirty="0">
                <a:solidFill>
                  <a:srgbClr val="2E5496"/>
                </a:solidFill>
                <a:latin typeface="Arial" pitchFamily="34" charset="0"/>
                <a:ea typeface="Arial" pitchFamily="34" charset="-122"/>
                <a:cs typeface="Arial" pitchFamily="34" charset="-120"/>
              </a:rPr>
              <a:t>IV</a:t>
            </a:r>
            <a:endParaRPr lang="en-US" sz="2800" dirty="0"/>
          </a:p>
        </p:txBody>
      </p:sp>
      <p:sp>
        <p:nvSpPr>
          <p:cNvPr id="22" name="Text 19"/>
          <p:cNvSpPr txBox="1"/>
          <p:nvPr/>
        </p:nvSpPr>
        <p:spPr>
          <a:xfrm>
            <a:off x="6912864" y="2011680"/>
            <a:ext cx="1737360" cy="365760"/>
          </a:xfrm>
          <a:prstGeom prst="rect">
            <a:avLst/>
          </a:prstGeom>
          <a:noFill/>
          <a:ln/>
        </p:spPr>
        <p:txBody>
          <a:bodyPr wrap="square" lIns="0" tIns="0" rIns="0" bIns="0" rtlCol="0" anchor="t"/>
          <a:lstStyle/>
          <a:p>
            <a:pPr algn="ctr" indent="0" marL="0">
              <a:buNone/>
            </a:pPr>
            <a:r>
              <a:rPr lang="en-US" sz="1400" b="1" dirty="0">
                <a:solidFill>
                  <a:srgbClr val="1F3864"/>
                </a:solidFill>
                <a:latin typeface="Arial" pitchFamily="34" charset="0"/>
                <a:ea typeface="Arial" pitchFamily="34" charset="-122"/>
                <a:cs typeface="Arial" pitchFamily="34" charset="-120"/>
              </a:rPr>
              <a:t>Paul's Course</a:t>
            </a:r>
            <a:endParaRPr lang="en-US" sz="1400" dirty="0"/>
          </a:p>
        </p:txBody>
      </p:sp>
      <p:sp>
        <p:nvSpPr>
          <p:cNvPr id="23" name="Text 20"/>
          <p:cNvSpPr txBox="1"/>
          <p:nvPr/>
        </p:nvSpPr>
        <p:spPr>
          <a:xfrm>
            <a:off x="6912864" y="2423160"/>
            <a:ext cx="1737360" cy="457200"/>
          </a:xfrm>
          <a:prstGeom prst="rect">
            <a:avLst/>
          </a:prstGeom>
          <a:noFill/>
          <a:ln/>
        </p:spPr>
        <p:txBody>
          <a:bodyPr wrap="square" lIns="0" tIns="0" rIns="0" bIns="0" rtlCol="0" anchor="t"/>
          <a:lstStyle/>
          <a:p>
            <a:pPr algn="ctr" indent="0" marL="0">
              <a:buNone/>
            </a:pPr>
            <a:r>
              <a:rPr lang="en-US" sz="1100" dirty="0">
                <a:solidFill>
                  <a:srgbClr val="262626"/>
                </a:solidFill>
                <a:latin typeface="Arial" pitchFamily="34" charset="0"/>
                <a:ea typeface="Arial" pitchFamily="34" charset="-122"/>
                <a:cs typeface="Arial" pitchFamily="34" charset="-120"/>
              </a:rPr>
              <a:t>After conversion</a:t>
            </a:r>
            <a:endParaRPr lang="en-US" sz="1100" dirty="0"/>
          </a:p>
        </p:txBody>
      </p:sp>
      <p:sp>
        <p:nvSpPr>
          <p:cNvPr id="24" name="Text 21"/>
          <p:cNvSpPr txBox="1"/>
          <p:nvPr/>
        </p:nvSpPr>
        <p:spPr>
          <a:xfrm>
            <a:off x="6912864" y="2971800"/>
            <a:ext cx="1737360" cy="320040"/>
          </a:xfrm>
          <a:prstGeom prst="rect">
            <a:avLst/>
          </a:prstGeom>
          <a:noFill/>
          <a:ln/>
        </p:spPr>
        <p:txBody>
          <a:bodyPr wrap="square" lIns="0" tIns="0" rIns="0" bIns="0" rtlCol="0" anchor="t"/>
          <a:lstStyle/>
          <a:p>
            <a:pPr algn="ctr" indent="0" marL="0">
              <a:buNone/>
            </a:pPr>
            <a:r>
              <a:rPr lang="en-US" sz="1100" i="1" dirty="0">
                <a:solidFill>
                  <a:srgbClr val="595959"/>
                </a:solidFill>
                <a:latin typeface="Arial" pitchFamily="34" charset="0"/>
                <a:ea typeface="Arial" pitchFamily="34" charset="-122"/>
                <a:cs typeface="Arial" pitchFamily="34" charset="-120"/>
              </a:rPr>
              <a:t>1:16b–17</a:t>
            </a:r>
            <a:endParaRPr lang="en-US" sz="1100" dirty="0"/>
          </a:p>
        </p:txBody>
      </p:sp>
      <p:sp>
        <p:nvSpPr>
          <p:cNvPr id="25" name="Shape 22"/>
          <p:cNvSpPr/>
          <p:nvPr/>
        </p:nvSpPr>
        <p:spPr>
          <a:xfrm>
            <a:off x="457200" y="3703320"/>
            <a:ext cx="4023360" cy="329184"/>
          </a:xfrm>
          <a:prstGeom prst="rect">
            <a:avLst/>
          </a:prstGeom>
          <a:solidFill>
            <a:srgbClr val="2E5496"/>
          </a:solidFill>
          <a:ln w="12700">
            <a:solidFill>
              <a:srgbClr val="2E5496"/>
            </a:solidFill>
            <a:prstDash val="solid"/>
          </a:ln>
        </p:spPr>
      </p:sp>
      <p:sp>
        <p:nvSpPr>
          <p:cNvPr id="26" name="Text 23"/>
          <p:cNvSpPr txBox="1"/>
          <p:nvPr/>
        </p:nvSpPr>
        <p:spPr>
          <a:xfrm>
            <a:off x="548640" y="3749040"/>
            <a:ext cx="3840480" cy="23774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“Brethren” — 11 times in Galatians</a:t>
            </a:r>
            <a:endParaRPr lang="en-US" sz="1200" dirty="0"/>
          </a:p>
        </p:txBody>
      </p:sp>
      <p:sp>
        <p:nvSpPr>
          <p:cNvPr id="27" name="Shape 24"/>
          <p:cNvSpPr/>
          <p:nvPr/>
        </p:nvSpPr>
        <p:spPr>
          <a:xfrm>
            <a:off x="457200" y="4032504"/>
            <a:ext cx="4023360" cy="585216"/>
          </a:xfrm>
          <a:prstGeom prst="rect">
            <a:avLst/>
          </a:prstGeom>
          <a:solidFill>
            <a:srgbClr val="F2F6FC"/>
          </a:solidFill>
          <a:ln w="9525">
            <a:solidFill>
              <a:srgbClr val="D5DCEA"/>
            </a:solidFill>
            <a:prstDash val="solid"/>
          </a:ln>
        </p:spPr>
      </p:sp>
      <p:sp>
        <p:nvSpPr>
          <p:cNvPr id="28" name="Text 25"/>
          <p:cNvSpPr txBox="1"/>
          <p:nvPr/>
        </p:nvSpPr>
        <p:spPr>
          <a:xfrm>
            <a:off x="548640" y="4105656"/>
            <a:ext cx="3840480" cy="457200"/>
          </a:xfrm>
          <a:prstGeom prst="rect">
            <a:avLst/>
          </a:prstGeom>
          <a:noFill/>
          <a:ln/>
        </p:spPr>
        <p:txBody>
          <a:bodyPr wrap="square" lIns="0" tIns="0" rIns="0" bIns="0" rtlCol="0" anchor="t"/>
          <a:lstStyle/>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The believers, the people in the pew</a:t>
            </a:r>
            <a:endParaRPr lang="en-US" sz="1100" dirty="0"/>
          </a:p>
        </p:txBody>
      </p:sp>
      <p:sp>
        <p:nvSpPr>
          <p:cNvPr id="29" name="Shape 26"/>
          <p:cNvSpPr/>
          <p:nvPr/>
        </p:nvSpPr>
        <p:spPr>
          <a:xfrm>
            <a:off x="4663440" y="3703320"/>
            <a:ext cx="4023360" cy="329184"/>
          </a:xfrm>
          <a:prstGeom prst="rect">
            <a:avLst/>
          </a:prstGeom>
          <a:solidFill>
            <a:srgbClr val="6B7280"/>
          </a:solidFill>
          <a:ln w="12700">
            <a:solidFill>
              <a:srgbClr val="6B7280"/>
            </a:solidFill>
            <a:prstDash val="solid"/>
          </a:ln>
        </p:spPr>
      </p:sp>
      <p:sp>
        <p:nvSpPr>
          <p:cNvPr id="30" name="Text 27"/>
          <p:cNvSpPr txBox="1"/>
          <p:nvPr/>
        </p:nvSpPr>
        <p:spPr>
          <a:xfrm>
            <a:off x="4754880" y="3749040"/>
            <a:ext cx="3840480" cy="23774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“Accursed” — twice (vv.8–9)</a:t>
            </a:r>
            <a:endParaRPr lang="en-US" sz="1200" dirty="0"/>
          </a:p>
        </p:txBody>
      </p:sp>
      <p:sp>
        <p:nvSpPr>
          <p:cNvPr id="31" name="Shape 28"/>
          <p:cNvSpPr/>
          <p:nvPr/>
        </p:nvSpPr>
        <p:spPr>
          <a:xfrm>
            <a:off x="4663440" y="4032504"/>
            <a:ext cx="4023360" cy="585216"/>
          </a:xfrm>
          <a:prstGeom prst="rect">
            <a:avLst/>
          </a:prstGeom>
          <a:solidFill>
            <a:srgbClr val="F2F6FC"/>
          </a:solidFill>
          <a:ln w="9525">
            <a:solidFill>
              <a:srgbClr val="D5DCEA"/>
            </a:solidFill>
            <a:prstDash val="solid"/>
          </a:ln>
        </p:spPr>
      </p:sp>
      <p:sp>
        <p:nvSpPr>
          <p:cNvPr id="32" name="Text 29"/>
          <p:cNvSpPr txBox="1"/>
          <p:nvPr/>
        </p:nvSpPr>
        <p:spPr>
          <a:xfrm>
            <a:off x="4754880" y="4105656"/>
            <a:ext cx="3840480" cy="457200"/>
          </a:xfrm>
          <a:prstGeom prst="rect">
            <a:avLst/>
          </a:prstGeom>
          <a:noFill/>
          <a:ln/>
        </p:spPr>
        <p:txBody>
          <a:bodyPr wrap="square" lIns="0" tIns="0" rIns="0" bIns="0" rtlCol="0" anchor="t"/>
          <a:lstStyle/>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The Judaizers — never called brethren here</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Where did Paul's gospel come from?</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1:11–12 · Outline I — Paul's claim</a:t>
            </a:r>
            <a:endParaRPr lang="en-US" sz="1200" dirty="0"/>
          </a:p>
        </p:txBody>
      </p:sp>
      <p:sp>
        <p:nvSpPr>
          <p:cNvPr id="5" name="Shape 2"/>
          <p:cNvSpPr/>
          <p:nvPr/>
        </p:nvSpPr>
        <p:spPr>
          <a:xfrm>
            <a:off x="457200" y="1188720"/>
            <a:ext cx="4114800" cy="804672"/>
          </a:xfrm>
          <a:prstGeom prst="rect">
            <a:avLst/>
          </a:prstGeom>
          <a:solidFill>
            <a:srgbClr val="F2F6FC"/>
          </a:solidFill>
          <a:ln w="9525">
            <a:solidFill>
              <a:srgbClr val="D5DCEA"/>
            </a:solidFill>
            <a:prstDash val="solid"/>
          </a:ln>
        </p:spPr>
      </p:sp>
      <p:sp>
        <p:nvSpPr>
          <p:cNvPr id="6" name="Shape 3"/>
          <p:cNvSpPr/>
          <p:nvPr/>
        </p:nvSpPr>
        <p:spPr>
          <a:xfrm>
            <a:off x="566928" y="1371600"/>
            <a:ext cx="438912" cy="438912"/>
          </a:xfrm>
          <a:prstGeom prst="ellipse">
            <a:avLst/>
          </a:prstGeom>
          <a:solidFill>
            <a:srgbClr val="6B7280"/>
          </a:solidFill>
          <a:ln w="12700">
            <a:solidFill>
              <a:srgbClr val="6B7280"/>
            </a:solidFill>
            <a:prstDash val="solid"/>
          </a:ln>
        </p:spPr>
      </p:sp>
      <p:sp>
        <p:nvSpPr>
          <p:cNvPr id="7" name="Text 4"/>
          <p:cNvSpPr txBox="1"/>
          <p:nvPr/>
        </p:nvSpPr>
        <p:spPr>
          <a:xfrm>
            <a:off x="566928" y="13716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8" name="Text 5"/>
          <p:cNvSpPr txBox="1"/>
          <p:nvPr/>
        </p:nvSpPr>
        <p:spPr>
          <a:xfrm>
            <a:off x="1143000" y="1188720"/>
            <a:ext cx="3337560" cy="804672"/>
          </a:xfrm>
          <a:prstGeom prst="rect">
            <a:avLst/>
          </a:prstGeom>
          <a:noFill/>
          <a:ln/>
        </p:spPr>
        <p:txBody>
          <a:bodyPr wrap="square" lIns="0" tIns="0" rIns="0" bIns="0" rtlCol="0" anchor="ctr"/>
          <a:lstStyle/>
          <a:p>
            <a:pPr indent="0" marL="0">
              <a:buNone/>
            </a:pPr>
            <a:r>
              <a:rPr lang="en-US" sz="1250" b="1" dirty="0">
                <a:solidFill>
                  <a:srgbClr val="1F3864"/>
                </a:solidFill>
                <a:latin typeface="Arial" pitchFamily="34" charset="0"/>
                <a:ea typeface="Arial" pitchFamily="34" charset="-122"/>
                <a:cs typeface="Arial" pitchFamily="34" charset="-120"/>
              </a:rPr>
              <a:t>Not fabrication</a:t>
            </a:r>
            <a:endParaRPr lang="en-US" sz="1200" dirty="0"/>
          </a:p>
          <a:p>
            <a:pPr indent="0" marL="0">
              <a:buNone/>
            </a:pPr>
            <a:r>
              <a:rPr lang="en-US" sz="1150" i="1" dirty="0">
                <a:solidFill>
                  <a:srgbClr val="595959"/>
                </a:solidFill>
                <a:latin typeface="Arial" pitchFamily="34" charset="0"/>
                <a:ea typeface="Arial" pitchFamily="34" charset="-122"/>
                <a:cs typeface="Arial" pitchFamily="34" charset="-120"/>
              </a:rPr>
              <a:t>“not according to man”  ·  v.11</a:t>
            </a:r>
            <a:endParaRPr lang="en-US" sz="1200" dirty="0"/>
          </a:p>
        </p:txBody>
      </p:sp>
      <p:sp>
        <p:nvSpPr>
          <p:cNvPr id="9" name="Shape 6"/>
          <p:cNvSpPr/>
          <p:nvPr/>
        </p:nvSpPr>
        <p:spPr>
          <a:xfrm>
            <a:off x="457200" y="2121408"/>
            <a:ext cx="4114800" cy="804672"/>
          </a:xfrm>
          <a:prstGeom prst="rect">
            <a:avLst/>
          </a:prstGeom>
          <a:solidFill>
            <a:srgbClr val="F2F6FC"/>
          </a:solidFill>
          <a:ln w="9525">
            <a:solidFill>
              <a:srgbClr val="D5DCEA"/>
            </a:solidFill>
            <a:prstDash val="solid"/>
          </a:ln>
        </p:spPr>
      </p:sp>
      <p:sp>
        <p:nvSpPr>
          <p:cNvPr id="10" name="Shape 7"/>
          <p:cNvSpPr/>
          <p:nvPr/>
        </p:nvSpPr>
        <p:spPr>
          <a:xfrm>
            <a:off x="566928" y="2304288"/>
            <a:ext cx="438912" cy="438912"/>
          </a:xfrm>
          <a:prstGeom prst="ellipse">
            <a:avLst/>
          </a:prstGeom>
          <a:solidFill>
            <a:srgbClr val="6B7280"/>
          </a:solidFill>
          <a:ln w="12700">
            <a:solidFill>
              <a:srgbClr val="6B7280"/>
            </a:solidFill>
            <a:prstDash val="solid"/>
          </a:ln>
        </p:spPr>
      </p:sp>
      <p:sp>
        <p:nvSpPr>
          <p:cNvPr id="11" name="Text 8"/>
          <p:cNvSpPr txBox="1"/>
          <p:nvPr/>
        </p:nvSpPr>
        <p:spPr>
          <a:xfrm>
            <a:off x="566928" y="2304288"/>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2" name="Text 9"/>
          <p:cNvSpPr txBox="1"/>
          <p:nvPr/>
        </p:nvSpPr>
        <p:spPr>
          <a:xfrm>
            <a:off x="1143000" y="2121408"/>
            <a:ext cx="3337560" cy="804672"/>
          </a:xfrm>
          <a:prstGeom prst="rect">
            <a:avLst/>
          </a:prstGeom>
          <a:noFill/>
          <a:ln/>
        </p:spPr>
        <p:txBody>
          <a:bodyPr wrap="square" lIns="0" tIns="0" rIns="0" bIns="0" rtlCol="0" anchor="ctr"/>
          <a:lstStyle/>
          <a:p>
            <a:pPr indent="0" marL="0">
              <a:buNone/>
            </a:pPr>
            <a:r>
              <a:rPr lang="en-US" sz="1250" b="1" dirty="0">
                <a:solidFill>
                  <a:srgbClr val="1F3864"/>
                </a:solidFill>
                <a:latin typeface="Arial" pitchFamily="34" charset="0"/>
                <a:ea typeface="Arial" pitchFamily="34" charset="-122"/>
                <a:cs typeface="Arial" pitchFamily="34" charset="-120"/>
              </a:rPr>
              <a:t>Not imitation</a:t>
            </a:r>
            <a:endParaRPr lang="en-US" sz="1200" dirty="0"/>
          </a:p>
          <a:p>
            <a:pPr indent="0" marL="0">
              <a:buNone/>
            </a:pPr>
            <a:r>
              <a:rPr lang="en-US" sz="1150" i="1" dirty="0">
                <a:solidFill>
                  <a:srgbClr val="595959"/>
                </a:solidFill>
                <a:latin typeface="Arial" pitchFamily="34" charset="0"/>
                <a:ea typeface="Arial" pitchFamily="34" charset="-122"/>
                <a:cs typeface="Arial" pitchFamily="34" charset="-120"/>
              </a:rPr>
              <a:t>“I neither received it from man”  ·  v.12a</a:t>
            </a:r>
            <a:endParaRPr lang="en-US" sz="1200" dirty="0"/>
          </a:p>
        </p:txBody>
      </p:sp>
      <p:sp>
        <p:nvSpPr>
          <p:cNvPr id="13" name="Shape 10"/>
          <p:cNvSpPr/>
          <p:nvPr/>
        </p:nvSpPr>
        <p:spPr>
          <a:xfrm>
            <a:off x="457200" y="3054096"/>
            <a:ext cx="4114800" cy="804672"/>
          </a:xfrm>
          <a:prstGeom prst="rect">
            <a:avLst/>
          </a:prstGeom>
          <a:solidFill>
            <a:srgbClr val="F2F6FC"/>
          </a:solidFill>
          <a:ln w="9525">
            <a:solidFill>
              <a:srgbClr val="D5DCEA"/>
            </a:solidFill>
            <a:prstDash val="solid"/>
          </a:ln>
        </p:spPr>
      </p:sp>
      <p:sp>
        <p:nvSpPr>
          <p:cNvPr id="14" name="Shape 11"/>
          <p:cNvSpPr/>
          <p:nvPr/>
        </p:nvSpPr>
        <p:spPr>
          <a:xfrm>
            <a:off x="566928" y="3236976"/>
            <a:ext cx="438912" cy="438912"/>
          </a:xfrm>
          <a:prstGeom prst="ellipse">
            <a:avLst/>
          </a:prstGeom>
          <a:solidFill>
            <a:srgbClr val="6B7280"/>
          </a:solidFill>
          <a:ln w="12700">
            <a:solidFill>
              <a:srgbClr val="6B7280"/>
            </a:solidFill>
            <a:prstDash val="solid"/>
          </a:ln>
        </p:spPr>
      </p:sp>
      <p:sp>
        <p:nvSpPr>
          <p:cNvPr id="15" name="Text 12"/>
          <p:cNvSpPr txBox="1"/>
          <p:nvPr/>
        </p:nvSpPr>
        <p:spPr>
          <a:xfrm>
            <a:off x="566928" y="323697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6" name="Text 13"/>
          <p:cNvSpPr txBox="1"/>
          <p:nvPr/>
        </p:nvSpPr>
        <p:spPr>
          <a:xfrm>
            <a:off x="1143000" y="3054096"/>
            <a:ext cx="3337560" cy="804672"/>
          </a:xfrm>
          <a:prstGeom prst="rect">
            <a:avLst/>
          </a:prstGeom>
          <a:noFill/>
          <a:ln/>
        </p:spPr>
        <p:txBody>
          <a:bodyPr wrap="square" lIns="0" tIns="0" rIns="0" bIns="0" rtlCol="0" anchor="ctr"/>
          <a:lstStyle/>
          <a:p>
            <a:pPr indent="0" marL="0">
              <a:buNone/>
            </a:pPr>
            <a:r>
              <a:rPr lang="en-US" sz="1250" b="1" dirty="0">
                <a:solidFill>
                  <a:srgbClr val="1F3864"/>
                </a:solidFill>
                <a:latin typeface="Arial" pitchFamily="34" charset="0"/>
                <a:ea typeface="Arial" pitchFamily="34" charset="-122"/>
                <a:cs typeface="Arial" pitchFamily="34" charset="-120"/>
              </a:rPr>
              <a:t>Not assimilation</a:t>
            </a:r>
            <a:endParaRPr lang="en-US" sz="1200" dirty="0"/>
          </a:p>
          <a:p>
            <a:pPr indent="0" marL="0">
              <a:buNone/>
            </a:pPr>
            <a:r>
              <a:rPr lang="en-US" sz="1150" i="1" dirty="0">
                <a:solidFill>
                  <a:srgbClr val="595959"/>
                </a:solidFill>
                <a:latin typeface="Arial" pitchFamily="34" charset="0"/>
                <a:ea typeface="Arial" pitchFamily="34" charset="-122"/>
                <a:cs typeface="Arial" pitchFamily="34" charset="-120"/>
              </a:rPr>
              <a:t>“nor was I taught it”  ·  v.12b</a:t>
            </a:r>
            <a:endParaRPr lang="en-US" sz="1200" dirty="0"/>
          </a:p>
        </p:txBody>
      </p:sp>
      <p:sp>
        <p:nvSpPr>
          <p:cNvPr id="17" name="Shape 14"/>
          <p:cNvSpPr/>
          <p:nvPr/>
        </p:nvSpPr>
        <p:spPr>
          <a:xfrm>
            <a:off x="4709160" y="2286000"/>
            <a:ext cx="365760" cy="237744"/>
          </a:xfrm>
          <a:prstGeom prst="rightArrow">
            <a:avLst/>
          </a:prstGeom>
          <a:solidFill>
            <a:srgbClr val="375623"/>
          </a:solidFill>
          <a:ln w="12700">
            <a:solidFill>
              <a:srgbClr val="375623"/>
            </a:solidFill>
            <a:prstDash val="solid"/>
          </a:ln>
        </p:spPr>
      </p:sp>
      <p:sp>
        <p:nvSpPr>
          <p:cNvPr id="18" name="Shape 15"/>
          <p:cNvSpPr/>
          <p:nvPr/>
        </p:nvSpPr>
        <p:spPr>
          <a:xfrm>
            <a:off x="5212080" y="1188720"/>
            <a:ext cx="3474720" cy="566928"/>
          </a:xfrm>
          <a:prstGeom prst="rect">
            <a:avLst/>
          </a:prstGeom>
          <a:solidFill>
            <a:srgbClr val="375623"/>
          </a:solidFill>
          <a:ln w="12700">
            <a:solidFill>
              <a:srgbClr val="375623"/>
            </a:solidFill>
            <a:prstDash val="solid"/>
          </a:ln>
        </p:spPr>
      </p:sp>
      <p:sp>
        <p:nvSpPr>
          <p:cNvPr id="19" name="Text 16"/>
          <p:cNvSpPr txBox="1"/>
          <p:nvPr/>
        </p:nvSpPr>
        <p:spPr>
          <a:xfrm>
            <a:off x="5303520" y="1234440"/>
            <a:ext cx="32918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But a revelation — v.12c</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ἀποκάλυψις</a:t>
            </a:r>
            <a:pPr indent="0" marL="0">
              <a:buNone/>
            </a:pPr>
            <a:r>
              <a:rPr lang="en-US" sz="850" dirty="0">
                <a:solidFill>
                  <a:srgbClr val="DCE4F2"/>
                </a:solidFill>
                <a:latin typeface="Arial" pitchFamily="34" charset="0"/>
                <a:ea typeface="Arial" pitchFamily="34" charset="-122"/>
                <a:cs typeface="Arial" pitchFamily="34" charset="-120"/>
              </a:rPr>
              <a:t>  apokalypsis · Gen. Fem. Sg.</a:t>
            </a:r>
            <a:endParaRPr lang="en-US" sz="1200" dirty="0"/>
          </a:p>
        </p:txBody>
      </p:sp>
      <p:sp>
        <p:nvSpPr>
          <p:cNvPr id="20" name="Shape 17"/>
          <p:cNvSpPr/>
          <p:nvPr/>
        </p:nvSpPr>
        <p:spPr>
          <a:xfrm>
            <a:off x="5212080" y="1755648"/>
            <a:ext cx="3474720" cy="2103120"/>
          </a:xfrm>
          <a:prstGeom prst="rect">
            <a:avLst/>
          </a:prstGeom>
          <a:solidFill>
            <a:srgbClr val="F2F6FC"/>
          </a:solidFill>
          <a:ln w="9525">
            <a:solidFill>
              <a:srgbClr val="D5DCEA"/>
            </a:solidFill>
            <a:prstDash val="solid"/>
          </a:ln>
        </p:spPr>
      </p:sp>
      <p:sp>
        <p:nvSpPr>
          <p:cNvPr id="21" name="Text 18"/>
          <p:cNvSpPr txBox="1"/>
          <p:nvPr/>
        </p:nvSpPr>
        <p:spPr>
          <a:xfrm>
            <a:off x="5303520" y="1828800"/>
            <a:ext cx="3291840" cy="1975104"/>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A laying bare, an uncovering of what was hidden</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“through the revelation of Jesus Christ”</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Received, not achieved — straight from Jesus Himself</a:t>
            </a:r>
            <a:endParaRPr lang="en-US" sz="1300" dirty="0"/>
          </a:p>
        </p:txBody>
      </p:sp>
      <p:sp>
        <p:nvSpPr>
          <p:cNvPr id="22" name="Shape 19"/>
          <p:cNvSpPr/>
          <p:nvPr/>
        </p:nvSpPr>
        <p:spPr>
          <a:xfrm>
            <a:off x="457200" y="4041648"/>
            <a:ext cx="8229600" cy="548640"/>
          </a:xfrm>
          <a:prstGeom prst="roundRect">
            <a:avLst>
              <a:gd name="adj" fmla="val 10000"/>
            </a:avLst>
          </a:prstGeom>
          <a:solidFill>
            <a:srgbClr val="1F3864"/>
          </a:solidFill>
          <a:ln w="12700">
            <a:solidFill>
              <a:srgbClr val="1F3864"/>
            </a:solidFill>
            <a:prstDash val="solid"/>
          </a:ln>
        </p:spPr>
      </p:sp>
      <p:sp>
        <p:nvSpPr>
          <p:cNvPr id="23" name="Text 20"/>
          <p:cNvSpPr txBox="1"/>
          <p:nvPr/>
        </p:nvSpPr>
        <p:spPr>
          <a:xfrm>
            <a:off x="621792" y="4041648"/>
            <a:ext cx="7900416" cy="54864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Any gospel from men has things attached to believing. Paul's gospel: believe, and you have eternal life — nothing added.</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Paul before grace</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1:13–14 · Outline II — Paul's conduct before conversion</a:t>
            </a:r>
            <a:endParaRPr lang="en-US" sz="1200" dirty="0"/>
          </a:p>
        </p:txBody>
      </p:sp>
      <p:sp>
        <p:nvSpPr>
          <p:cNvPr id="5" name="Shape 2"/>
          <p:cNvSpPr/>
          <p:nvPr/>
        </p:nvSpPr>
        <p:spPr>
          <a:xfrm>
            <a:off x="457200" y="1115568"/>
            <a:ext cx="777240" cy="429768"/>
          </a:xfrm>
          <a:prstGeom prst="rect">
            <a:avLst/>
          </a:prstGeom>
          <a:solidFill>
            <a:srgbClr val="2E5496"/>
          </a:solidFill>
          <a:ln w="12700">
            <a:solidFill>
              <a:srgbClr val="2E5496"/>
            </a:solidFill>
            <a:prstDash val="solid"/>
          </a:ln>
        </p:spPr>
      </p:sp>
      <p:sp>
        <p:nvSpPr>
          <p:cNvPr id="6" name="Text 3"/>
          <p:cNvSpPr txBox="1"/>
          <p:nvPr/>
        </p:nvSpPr>
        <p:spPr>
          <a:xfrm>
            <a:off x="457200" y="1115568"/>
            <a:ext cx="777240" cy="42976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v.13</a:t>
            </a:r>
            <a:endParaRPr lang="en-US" sz="1100" dirty="0"/>
          </a:p>
        </p:txBody>
      </p:sp>
      <p:sp>
        <p:nvSpPr>
          <p:cNvPr id="7" name="Shape 4"/>
          <p:cNvSpPr/>
          <p:nvPr/>
        </p:nvSpPr>
        <p:spPr>
          <a:xfrm>
            <a:off x="1234440" y="1115568"/>
            <a:ext cx="7452360" cy="429768"/>
          </a:xfrm>
          <a:prstGeom prst="rect">
            <a:avLst/>
          </a:prstGeom>
          <a:solidFill>
            <a:srgbClr val="F2F6FC"/>
          </a:solidFill>
          <a:ln w="9525">
            <a:solidFill>
              <a:srgbClr val="D5DCEA"/>
            </a:solidFill>
            <a:prstDash val="solid"/>
          </a:ln>
        </p:spPr>
      </p:sp>
      <p:sp>
        <p:nvSpPr>
          <p:cNvPr id="8" name="Text 5"/>
          <p:cNvSpPr txBox="1"/>
          <p:nvPr/>
        </p:nvSpPr>
        <p:spPr>
          <a:xfrm>
            <a:off x="1344168" y="1115568"/>
            <a:ext cx="4389120" cy="429768"/>
          </a:xfrm>
          <a:prstGeom prst="rect">
            <a:avLst/>
          </a:prstGeom>
          <a:noFill/>
          <a:ln/>
        </p:spPr>
        <p:txBody>
          <a:bodyPr wrap="square" lIns="0" tIns="0" rIns="0" bIns="0" rtlCol="0" anchor="ctr"/>
          <a:lstStyle/>
          <a:p>
            <a:pPr indent="0" marL="0">
              <a:buNone/>
            </a:pPr>
            <a:r>
              <a:rPr lang="en-US" sz="1100" dirty="0">
                <a:solidFill>
                  <a:srgbClr val="262626"/>
                </a:solidFill>
                <a:latin typeface="Arial" pitchFamily="34" charset="0"/>
                <a:ea typeface="Arial" pitchFamily="34" charset="-122"/>
                <a:cs typeface="Arial" pitchFamily="34" charset="-120"/>
              </a:rPr>
              <a:t>“my former conduct in Judaism” — a whole way of life set against grace</a:t>
            </a:r>
            <a:endParaRPr lang="en-US" sz="1100" dirty="0"/>
          </a:p>
        </p:txBody>
      </p:sp>
      <p:sp>
        <p:nvSpPr>
          <p:cNvPr id="9" name="Text 6"/>
          <p:cNvSpPr txBox="1"/>
          <p:nvPr/>
        </p:nvSpPr>
        <p:spPr>
          <a:xfrm>
            <a:off x="5806440" y="1115568"/>
            <a:ext cx="2788920" cy="42976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ἀναστροφή</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manner of life, not one act</a:t>
            </a:r>
            <a:endParaRPr lang="en-US" sz="1200" dirty="0"/>
          </a:p>
        </p:txBody>
      </p:sp>
      <p:sp>
        <p:nvSpPr>
          <p:cNvPr id="10" name="Shape 7"/>
          <p:cNvSpPr/>
          <p:nvPr/>
        </p:nvSpPr>
        <p:spPr>
          <a:xfrm>
            <a:off x="457200" y="1591056"/>
            <a:ext cx="777240" cy="429768"/>
          </a:xfrm>
          <a:prstGeom prst="rect">
            <a:avLst/>
          </a:prstGeom>
          <a:solidFill>
            <a:srgbClr val="2E5496"/>
          </a:solidFill>
          <a:ln w="12700">
            <a:solidFill>
              <a:srgbClr val="2E5496"/>
            </a:solidFill>
            <a:prstDash val="solid"/>
          </a:ln>
        </p:spPr>
      </p:sp>
      <p:sp>
        <p:nvSpPr>
          <p:cNvPr id="11" name="Text 8"/>
          <p:cNvSpPr txBox="1"/>
          <p:nvPr/>
        </p:nvSpPr>
        <p:spPr>
          <a:xfrm>
            <a:off x="457200" y="1591056"/>
            <a:ext cx="777240" cy="42976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v.13</a:t>
            </a:r>
            <a:endParaRPr lang="en-US" sz="1100" dirty="0"/>
          </a:p>
        </p:txBody>
      </p:sp>
      <p:sp>
        <p:nvSpPr>
          <p:cNvPr id="12" name="Shape 9"/>
          <p:cNvSpPr/>
          <p:nvPr/>
        </p:nvSpPr>
        <p:spPr>
          <a:xfrm>
            <a:off x="1234440" y="1591056"/>
            <a:ext cx="7452360" cy="429768"/>
          </a:xfrm>
          <a:prstGeom prst="rect">
            <a:avLst/>
          </a:prstGeom>
          <a:solidFill>
            <a:srgbClr val="FFFFFF"/>
          </a:solidFill>
          <a:ln w="9525">
            <a:solidFill>
              <a:srgbClr val="D5DCEA"/>
            </a:solidFill>
            <a:prstDash val="solid"/>
          </a:ln>
        </p:spPr>
      </p:sp>
      <p:sp>
        <p:nvSpPr>
          <p:cNvPr id="13" name="Text 10"/>
          <p:cNvSpPr txBox="1"/>
          <p:nvPr/>
        </p:nvSpPr>
        <p:spPr>
          <a:xfrm>
            <a:off x="1344168" y="1591056"/>
            <a:ext cx="4389120" cy="429768"/>
          </a:xfrm>
          <a:prstGeom prst="rect">
            <a:avLst/>
          </a:prstGeom>
          <a:noFill/>
          <a:ln/>
        </p:spPr>
        <p:txBody>
          <a:bodyPr wrap="square" lIns="0" tIns="0" rIns="0" bIns="0" rtlCol="0" anchor="ctr"/>
          <a:lstStyle/>
          <a:p>
            <a:pPr indent="0" marL="0">
              <a:buNone/>
            </a:pPr>
            <a:r>
              <a:rPr lang="en-US" sz="1100" dirty="0">
                <a:solidFill>
                  <a:srgbClr val="262626"/>
                </a:solidFill>
                <a:latin typeface="Arial" pitchFamily="34" charset="0"/>
                <a:ea typeface="Arial" pitchFamily="34" charset="-122"/>
                <a:cs typeface="Arial" pitchFamily="34" charset="-120"/>
              </a:rPr>
              <a:t>“I persecuted the church of God beyond measure” (Acts 8:1–3)</a:t>
            </a:r>
            <a:endParaRPr lang="en-US" sz="1100" dirty="0"/>
          </a:p>
        </p:txBody>
      </p:sp>
      <p:sp>
        <p:nvSpPr>
          <p:cNvPr id="14" name="Text 11"/>
          <p:cNvSpPr txBox="1"/>
          <p:nvPr/>
        </p:nvSpPr>
        <p:spPr>
          <a:xfrm>
            <a:off x="5806440" y="1591056"/>
            <a:ext cx="2788920" cy="42976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ἐδίωκον</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Imperf. — kept pursuing</a:t>
            </a:r>
            <a:endParaRPr lang="en-US" sz="1200" dirty="0"/>
          </a:p>
        </p:txBody>
      </p:sp>
      <p:sp>
        <p:nvSpPr>
          <p:cNvPr id="15" name="Shape 12"/>
          <p:cNvSpPr/>
          <p:nvPr/>
        </p:nvSpPr>
        <p:spPr>
          <a:xfrm>
            <a:off x="457200" y="2066544"/>
            <a:ext cx="777240" cy="429768"/>
          </a:xfrm>
          <a:prstGeom prst="rect">
            <a:avLst/>
          </a:prstGeom>
          <a:solidFill>
            <a:srgbClr val="2E5496"/>
          </a:solidFill>
          <a:ln w="12700">
            <a:solidFill>
              <a:srgbClr val="2E5496"/>
            </a:solidFill>
            <a:prstDash val="solid"/>
          </a:ln>
        </p:spPr>
      </p:sp>
      <p:sp>
        <p:nvSpPr>
          <p:cNvPr id="16" name="Text 13"/>
          <p:cNvSpPr txBox="1"/>
          <p:nvPr/>
        </p:nvSpPr>
        <p:spPr>
          <a:xfrm>
            <a:off x="457200" y="2066544"/>
            <a:ext cx="777240" cy="42976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v.13</a:t>
            </a:r>
            <a:endParaRPr lang="en-US" sz="1100" dirty="0"/>
          </a:p>
        </p:txBody>
      </p:sp>
      <p:sp>
        <p:nvSpPr>
          <p:cNvPr id="17" name="Shape 14"/>
          <p:cNvSpPr/>
          <p:nvPr/>
        </p:nvSpPr>
        <p:spPr>
          <a:xfrm>
            <a:off x="1234440" y="2066544"/>
            <a:ext cx="7452360" cy="429768"/>
          </a:xfrm>
          <a:prstGeom prst="rect">
            <a:avLst/>
          </a:prstGeom>
          <a:solidFill>
            <a:srgbClr val="F2F6FC"/>
          </a:solidFill>
          <a:ln w="9525">
            <a:solidFill>
              <a:srgbClr val="D5DCEA"/>
            </a:solidFill>
            <a:prstDash val="solid"/>
          </a:ln>
        </p:spPr>
      </p:sp>
      <p:sp>
        <p:nvSpPr>
          <p:cNvPr id="18" name="Text 15"/>
          <p:cNvSpPr txBox="1"/>
          <p:nvPr/>
        </p:nvSpPr>
        <p:spPr>
          <a:xfrm>
            <a:off x="1344168" y="2066544"/>
            <a:ext cx="4389120" cy="429768"/>
          </a:xfrm>
          <a:prstGeom prst="rect">
            <a:avLst/>
          </a:prstGeom>
          <a:noFill/>
          <a:ln/>
        </p:spPr>
        <p:txBody>
          <a:bodyPr wrap="square" lIns="0" tIns="0" rIns="0" bIns="0" rtlCol="0" anchor="ctr"/>
          <a:lstStyle/>
          <a:p>
            <a:pPr indent="0" marL="0">
              <a:buNone/>
            </a:pPr>
            <a:r>
              <a:rPr lang="en-US" sz="1100" dirty="0">
                <a:solidFill>
                  <a:srgbClr val="262626"/>
                </a:solidFill>
                <a:latin typeface="Arial" pitchFamily="34" charset="0"/>
                <a:ea typeface="Arial" pitchFamily="34" charset="-122"/>
                <a:cs typeface="Arial" pitchFamily="34" charset="-120"/>
              </a:rPr>
              <a:t>“and tried to destroy it” — to eradicate, not just hurt (Acts 26:9–11)</a:t>
            </a:r>
            <a:endParaRPr lang="en-US" sz="1100" dirty="0"/>
          </a:p>
        </p:txBody>
      </p:sp>
      <p:sp>
        <p:nvSpPr>
          <p:cNvPr id="19" name="Text 16"/>
          <p:cNvSpPr txBox="1"/>
          <p:nvPr/>
        </p:nvSpPr>
        <p:spPr>
          <a:xfrm>
            <a:off x="5806440" y="2066544"/>
            <a:ext cx="2788920" cy="42976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ἐπόρθουν</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Imperf. — a sustained campaign</a:t>
            </a:r>
            <a:endParaRPr lang="en-US" sz="1200" dirty="0"/>
          </a:p>
        </p:txBody>
      </p:sp>
      <p:sp>
        <p:nvSpPr>
          <p:cNvPr id="20" name="Shape 17"/>
          <p:cNvSpPr/>
          <p:nvPr/>
        </p:nvSpPr>
        <p:spPr>
          <a:xfrm>
            <a:off x="457200" y="2542032"/>
            <a:ext cx="777240" cy="429768"/>
          </a:xfrm>
          <a:prstGeom prst="rect">
            <a:avLst/>
          </a:prstGeom>
          <a:solidFill>
            <a:srgbClr val="2E5496"/>
          </a:solidFill>
          <a:ln w="12700">
            <a:solidFill>
              <a:srgbClr val="2E5496"/>
            </a:solidFill>
            <a:prstDash val="solid"/>
          </a:ln>
        </p:spPr>
      </p:sp>
      <p:sp>
        <p:nvSpPr>
          <p:cNvPr id="21" name="Text 18"/>
          <p:cNvSpPr txBox="1"/>
          <p:nvPr/>
        </p:nvSpPr>
        <p:spPr>
          <a:xfrm>
            <a:off x="457200" y="2542032"/>
            <a:ext cx="777240" cy="42976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v.14</a:t>
            </a:r>
            <a:endParaRPr lang="en-US" sz="1100" dirty="0"/>
          </a:p>
        </p:txBody>
      </p:sp>
      <p:sp>
        <p:nvSpPr>
          <p:cNvPr id="22" name="Shape 19"/>
          <p:cNvSpPr/>
          <p:nvPr/>
        </p:nvSpPr>
        <p:spPr>
          <a:xfrm>
            <a:off x="1234440" y="2542032"/>
            <a:ext cx="7452360" cy="429768"/>
          </a:xfrm>
          <a:prstGeom prst="rect">
            <a:avLst/>
          </a:prstGeom>
          <a:solidFill>
            <a:srgbClr val="FFFFFF"/>
          </a:solidFill>
          <a:ln w="9525">
            <a:solidFill>
              <a:srgbClr val="D5DCEA"/>
            </a:solidFill>
            <a:prstDash val="solid"/>
          </a:ln>
        </p:spPr>
      </p:sp>
      <p:sp>
        <p:nvSpPr>
          <p:cNvPr id="23" name="Text 20"/>
          <p:cNvSpPr txBox="1"/>
          <p:nvPr/>
        </p:nvSpPr>
        <p:spPr>
          <a:xfrm>
            <a:off x="1344168" y="2542032"/>
            <a:ext cx="4389120" cy="429768"/>
          </a:xfrm>
          <a:prstGeom prst="rect">
            <a:avLst/>
          </a:prstGeom>
          <a:noFill/>
          <a:ln/>
        </p:spPr>
        <p:txBody>
          <a:bodyPr wrap="square" lIns="0" tIns="0" rIns="0" bIns="0" rtlCol="0" anchor="ctr"/>
          <a:lstStyle/>
          <a:p>
            <a:pPr indent="0" marL="0">
              <a:buNone/>
            </a:pPr>
            <a:r>
              <a:rPr lang="en-US" sz="1100" dirty="0">
                <a:solidFill>
                  <a:srgbClr val="262626"/>
                </a:solidFill>
                <a:latin typeface="Arial" pitchFamily="34" charset="0"/>
                <a:ea typeface="Arial" pitchFamily="34" charset="-122"/>
                <a:cs typeface="Arial" pitchFamily="34" charset="-120"/>
              </a:rPr>
              <a:t>“I advanced in Judaism beyond many of my contemporaries”</a:t>
            </a:r>
            <a:endParaRPr lang="en-US" sz="1100" dirty="0"/>
          </a:p>
        </p:txBody>
      </p:sp>
      <p:sp>
        <p:nvSpPr>
          <p:cNvPr id="24" name="Text 21"/>
          <p:cNvSpPr txBox="1"/>
          <p:nvPr/>
        </p:nvSpPr>
        <p:spPr>
          <a:xfrm>
            <a:off x="5806440" y="2542032"/>
            <a:ext cx="2788920" cy="42976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προέκοπτον</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a pioneer cutting a path ahead</a:t>
            </a:r>
            <a:endParaRPr lang="en-US" sz="1200" dirty="0"/>
          </a:p>
        </p:txBody>
      </p:sp>
      <p:sp>
        <p:nvSpPr>
          <p:cNvPr id="25" name="Shape 22"/>
          <p:cNvSpPr/>
          <p:nvPr/>
        </p:nvSpPr>
        <p:spPr>
          <a:xfrm>
            <a:off x="457200" y="3017520"/>
            <a:ext cx="777240" cy="429768"/>
          </a:xfrm>
          <a:prstGeom prst="rect">
            <a:avLst/>
          </a:prstGeom>
          <a:solidFill>
            <a:srgbClr val="2E5496"/>
          </a:solidFill>
          <a:ln w="12700">
            <a:solidFill>
              <a:srgbClr val="2E5496"/>
            </a:solidFill>
            <a:prstDash val="solid"/>
          </a:ln>
        </p:spPr>
      </p:sp>
      <p:sp>
        <p:nvSpPr>
          <p:cNvPr id="26" name="Text 23"/>
          <p:cNvSpPr txBox="1"/>
          <p:nvPr/>
        </p:nvSpPr>
        <p:spPr>
          <a:xfrm>
            <a:off x="457200" y="3017520"/>
            <a:ext cx="777240" cy="42976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v.14</a:t>
            </a:r>
            <a:endParaRPr lang="en-US" sz="1100" dirty="0"/>
          </a:p>
        </p:txBody>
      </p:sp>
      <p:sp>
        <p:nvSpPr>
          <p:cNvPr id="27" name="Shape 24"/>
          <p:cNvSpPr/>
          <p:nvPr/>
        </p:nvSpPr>
        <p:spPr>
          <a:xfrm>
            <a:off x="1234440" y="3017520"/>
            <a:ext cx="7452360" cy="429768"/>
          </a:xfrm>
          <a:prstGeom prst="rect">
            <a:avLst/>
          </a:prstGeom>
          <a:solidFill>
            <a:srgbClr val="F2F6FC"/>
          </a:solidFill>
          <a:ln w="9525">
            <a:solidFill>
              <a:srgbClr val="D5DCEA"/>
            </a:solidFill>
            <a:prstDash val="solid"/>
          </a:ln>
        </p:spPr>
      </p:sp>
      <p:sp>
        <p:nvSpPr>
          <p:cNvPr id="28" name="Text 25"/>
          <p:cNvSpPr txBox="1"/>
          <p:nvPr/>
        </p:nvSpPr>
        <p:spPr>
          <a:xfrm>
            <a:off x="1344168" y="3017520"/>
            <a:ext cx="4389120" cy="429768"/>
          </a:xfrm>
          <a:prstGeom prst="rect">
            <a:avLst/>
          </a:prstGeom>
          <a:noFill/>
          <a:ln/>
        </p:spPr>
        <p:txBody>
          <a:bodyPr wrap="square" lIns="0" tIns="0" rIns="0" bIns="0" rtlCol="0" anchor="ctr"/>
          <a:lstStyle/>
          <a:p>
            <a:pPr indent="0" marL="0">
              <a:buNone/>
            </a:pPr>
            <a:r>
              <a:rPr lang="en-US" sz="1100" dirty="0">
                <a:solidFill>
                  <a:srgbClr val="262626"/>
                </a:solidFill>
                <a:latin typeface="Arial" pitchFamily="34" charset="0"/>
                <a:ea typeface="Arial" pitchFamily="34" charset="-122"/>
                <a:cs typeface="Arial" pitchFamily="34" charset="-120"/>
              </a:rPr>
              <a:t>“exceedingly zealous” — sincere, yet misdirected (Phil 3:6)</a:t>
            </a:r>
            <a:endParaRPr lang="en-US" sz="1100" dirty="0"/>
          </a:p>
        </p:txBody>
      </p:sp>
      <p:sp>
        <p:nvSpPr>
          <p:cNvPr id="29" name="Text 26"/>
          <p:cNvSpPr txBox="1"/>
          <p:nvPr/>
        </p:nvSpPr>
        <p:spPr>
          <a:xfrm>
            <a:off x="5806440" y="3017520"/>
            <a:ext cx="2788920" cy="42976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ζηλωτής</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an ardent devotee</a:t>
            </a:r>
            <a:endParaRPr lang="en-US" sz="1200" dirty="0"/>
          </a:p>
        </p:txBody>
      </p:sp>
      <p:sp>
        <p:nvSpPr>
          <p:cNvPr id="30" name="Shape 27"/>
          <p:cNvSpPr/>
          <p:nvPr/>
        </p:nvSpPr>
        <p:spPr>
          <a:xfrm>
            <a:off x="457200" y="3493008"/>
            <a:ext cx="777240" cy="429768"/>
          </a:xfrm>
          <a:prstGeom prst="rect">
            <a:avLst/>
          </a:prstGeom>
          <a:solidFill>
            <a:srgbClr val="2E5496"/>
          </a:solidFill>
          <a:ln w="12700">
            <a:solidFill>
              <a:srgbClr val="2E5496"/>
            </a:solidFill>
            <a:prstDash val="solid"/>
          </a:ln>
        </p:spPr>
      </p:sp>
      <p:sp>
        <p:nvSpPr>
          <p:cNvPr id="31" name="Text 28"/>
          <p:cNvSpPr txBox="1"/>
          <p:nvPr/>
        </p:nvSpPr>
        <p:spPr>
          <a:xfrm>
            <a:off x="457200" y="3493008"/>
            <a:ext cx="777240" cy="42976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v.14</a:t>
            </a:r>
            <a:endParaRPr lang="en-US" sz="1100" dirty="0"/>
          </a:p>
        </p:txBody>
      </p:sp>
      <p:sp>
        <p:nvSpPr>
          <p:cNvPr id="32" name="Shape 29"/>
          <p:cNvSpPr/>
          <p:nvPr/>
        </p:nvSpPr>
        <p:spPr>
          <a:xfrm>
            <a:off x="1234440" y="3493008"/>
            <a:ext cx="7452360" cy="429768"/>
          </a:xfrm>
          <a:prstGeom prst="rect">
            <a:avLst/>
          </a:prstGeom>
          <a:solidFill>
            <a:srgbClr val="FFFFFF"/>
          </a:solidFill>
          <a:ln w="9525">
            <a:solidFill>
              <a:srgbClr val="D5DCEA"/>
            </a:solidFill>
            <a:prstDash val="solid"/>
          </a:ln>
        </p:spPr>
      </p:sp>
      <p:sp>
        <p:nvSpPr>
          <p:cNvPr id="33" name="Text 30"/>
          <p:cNvSpPr txBox="1"/>
          <p:nvPr/>
        </p:nvSpPr>
        <p:spPr>
          <a:xfrm>
            <a:off x="1344168" y="3493008"/>
            <a:ext cx="4389120" cy="429768"/>
          </a:xfrm>
          <a:prstGeom prst="rect">
            <a:avLst/>
          </a:prstGeom>
          <a:noFill/>
          <a:ln/>
        </p:spPr>
        <p:txBody>
          <a:bodyPr wrap="square" lIns="0" tIns="0" rIns="0" bIns="0" rtlCol="0" anchor="ctr"/>
          <a:lstStyle/>
          <a:p>
            <a:pPr indent="0" marL="0">
              <a:buNone/>
            </a:pPr>
            <a:r>
              <a:rPr lang="en-US" sz="1100" dirty="0">
                <a:solidFill>
                  <a:srgbClr val="262626"/>
                </a:solidFill>
                <a:latin typeface="Arial" pitchFamily="34" charset="0"/>
                <a:ea typeface="Arial" pitchFamily="34" charset="-122"/>
                <a:cs typeface="Arial" pitchFamily="34" charset="-120"/>
              </a:rPr>
              <a:t>“the traditions of my fathers” — 613 human commandments around the law</a:t>
            </a:r>
            <a:endParaRPr lang="en-US" sz="1100" dirty="0"/>
          </a:p>
        </p:txBody>
      </p:sp>
      <p:sp>
        <p:nvSpPr>
          <p:cNvPr id="34" name="Text 31"/>
          <p:cNvSpPr txBox="1"/>
          <p:nvPr/>
        </p:nvSpPr>
        <p:spPr>
          <a:xfrm>
            <a:off x="5806440" y="3493008"/>
            <a:ext cx="2788920" cy="42976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παραδόσεων</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handed down; cf. Matt 23:13</a:t>
            </a:r>
            <a:endParaRPr lang="en-US" sz="1200" dirty="0"/>
          </a:p>
        </p:txBody>
      </p:sp>
      <p:sp>
        <p:nvSpPr>
          <p:cNvPr id="35" name="Shape 32"/>
          <p:cNvSpPr/>
          <p:nvPr/>
        </p:nvSpPr>
        <p:spPr>
          <a:xfrm>
            <a:off x="457200" y="4069080"/>
            <a:ext cx="8229600" cy="502920"/>
          </a:xfrm>
          <a:prstGeom prst="roundRect">
            <a:avLst>
              <a:gd name="adj" fmla="val 10909"/>
            </a:avLst>
          </a:prstGeom>
          <a:solidFill>
            <a:srgbClr val="1F3864"/>
          </a:solidFill>
          <a:ln w="12700">
            <a:solidFill>
              <a:srgbClr val="1F3864"/>
            </a:solidFill>
            <a:prstDash val="solid"/>
          </a:ln>
        </p:spPr>
      </p:sp>
      <p:sp>
        <p:nvSpPr>
          <p:cNvPr id="36" name="Text 33"/>
          <p:cNvSpPr txBox="1"/>
          <p:nvPr/>
        </p:nvSpPr>
        <p:spPr>
          <a:xfrm>
            <a:off x="621792" y="4069080"/>
            <a:ext cx="7900416" cy="50292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The anvil has ruined hundreds of hammers. Even Paul could not prevail against the church (Matt 16:18).</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Brought forth, sent forth — for a purpose</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1:15–16a · Outline III — Paul's call to preach</a:t>
            </a:r>
            <a:endParaRPr lang="en-US" sz="1200" dirty="0"/>
          </a:p>
        </p:txBody>
      </p:sp>
      <p:sp>
        <p:nvSpPr>
          <p:cNvPr id="5" name="Text 2"/>
          <p:cNvSpPr txBox="1"/>
          <p:nvPr/>
        </p:nvSpPr>
        <p:spPr>
          <a:xfrm>
            <a:off x="457200" y="1143000"/>
            <a:ext cx="4023360" cy="292608"/>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God's preparation — v.15</a:t>
            </a:r>
            <a:endParaRPr lang="en-US" sz="1300" dirty="0"/>
          </a:p>
        </p:txBody>
      </p:sp>
      <p:sp>
        <p:nvSpPr>
          <p:cNvPr id="6" name="Shape 3"/>
          <p:cNvSpPr/>
          <p:nvPr/>
        </p:nvSpPr>
        <p:spPr>
          <a:xfrm>
            <a:off x="457200" y="1481328"/>
            <a:ext cx="1938528" cy="566928"/>
          </a:xfrm>
          <a:prstGeom prst="rect">
            <a:avLst/>
          </a:prstGeom>
          <a:solidFill>
            <a:srgbClr val="2E5496"/>
          </a:solidFill>
          <a:ln w="12700">
            <a:solidFill>
              <a:srgbClr val="2E5496"/>
            </a:solidFill>
            <a:prstDash val="solid"/>
          </a:ln>
        </p:spPr>
      </p:sp>
      <p:sp>
        <p:nvSpPr>
          <p:cNvPr id="7" name="Text 4"/>
          <p:cNvSpPr txBox="1"/>
          <p:nvPr/>
        </p:nvSpPr>
        <p:spPr>
          <a:xfrm>
            <a:off x="548640" y="1527048"/>
            <a:ext cx="1755648"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Brought forth</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ἀφορίσας</a:t>
            </a:r>
            <a:pPr indent="0" marL="0">
              <a:buNone/>
            </a:pPr>
            <a:r>
              <a:rPr lang="en-US" sz="850" dirty="0">
                <a:solidFill>
                  <a:srgbClr val="DCE4F2"/>
                </a:solidFill>
                <a:latin typeface="Arial" pitchFamily="34" charset="0"/>
                <a:ea typeface="Arial" pitchFamily="34" charset="-122"/>
                <a:cs typeface="Arial" pitchFamily="34" charset="-120"/>
              </a:rPr>
              <a:t>  Aor. Ptc.</a:t>
            </a:r>
            <a:endParaRPr lang="en-US" sz="1200" dirty="0"/>
          </a:p>
        </p:txBody>
      </p:sp>
      <p:sp>
        <p:nvSpPr>
          <p:cNvPr id="8" name="Shape 5"/>
          <p:cNvSpPr/>
          <p:nvPr/>
        </p:nvSpPr>
        <p:spPr>
          <a:xfrm>
            <a:off x="457200" y="2048256"/>
            <a:ext cx="1938528" cy="1673352"/>
          </a:xfrm>
          <a:prstGeom prst="rect">
            <a:avLst/>
          </a:prstGeom>
          <a:solidFill>
            <a:srgbClr val="F2F6FC"/>
          </a:solidFill>
          <a:ln w="9525">
            <a:solidFill>
              <a:srgbClr val="D5DCEA"/>
            </a:solidFill>
            <a:prstDash val="solid"/>
          </a:ln>
        </p:spPr>
      </p:sp>
      <p:sp>
        <p:nvSpPr>
          <p:cNvPr id="9" name="Text 6"/>
          <p:cNvSpPr txBox="1"/>
          <p:nvPr/>
        </p:nvSpPr>
        <p:spPr>
          <a:xfrm>
            <a:off x="548640" y="2121408"/>
            <a:ext cx="1755648" cy="1545336"/>
          </a:xfrm>
          <a:prstGeom prst="rect">
            <a:avLst/>
          </a:prstGeom>
          <a:noFill/>
          <a:ln/>
        </p:spPr>
        <p:txBody>
          <a:bodyPr wrap="square" lIns="0" tIns="0" rIns="0" bIns="0" rtlCol="0" anchor="t"/>
          <a:lstStyle/>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Set apart from his mother's womb for service</a:t>
            </a:r>
            <a:endParaRPr lang="en-US" sz="1100" dirty="0"/>
          </a:p>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Cf. Jer 1:5</a:t>
            </a:r>
            <a:endParaRPr lang="en-US" sz="1100" dirty="0"/>
          </a:p>
        </p:txBody>
      </p:sp>
      <p:sp>
        <p:nvSpPr>
          <p:cNvPr id="10" name="Shape 7"/>
          <p:cNvSpPr/>
          <p:nvPr/>
        </p:nvSpPr>
        <p:spPr>
          <a:xfrm>
            <a:off x="2542032" y="1481328"/>
            <a:ext cx="1938528" cy="566928"/>
          </a:xfrm>
          <a:prstGeom prst="rect">
            <a:avLst/>
          </a:prstGeom>
          <a:solidFill>
            <a:srgbClr val="2E5496"/>
          </a:solidFill>
          <a:ln w="12700">
            <a:solidFill>
              <a:srgbClr val="2E5496"/>
            </a:solidFill>
            <a:prstDash val="solid"/>
          </a:ln>
        </p:spPr>
      </p:sp>
      <p:sp>
        <p:nvSpPr>
          <p:cNvPr id="11" name="Text 8"/>
          <p:cNvSpPr txBox="1"/>
          <p:nvPr/>
        </p:nvSpPr>
        <p:spPr>
          <a:xfrm>
            <a:off x="2633472" y="1527048"/>
            <a:ext cx="1755648"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Sent forth</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χάριτος</a:t>
            </a:r>
            <a:pPr indent="0" marL="0">
              <a:buNone/>
            </a:pPr>
            <a:r>
              <a:rPr lang="en-US" sz="850" dirty="0">
                <a:solidFill>
                  <a:srgbClr val="DCE4F2"/>
                </a:solidFill>
                <a:latin typeface="Arial" pitchFamily="34" charset="0"/>
                <a:ea typeface="Arial" pitchFamily="34" charset="-122"/>
                <a:cs typeface="Arial" pitchFamily="34" charset="-120"/>
              </a:rPr>
              <a:t>  Gen. Fem. Sg.</a:t>
            </a:r>
            <a:endParaRPr lang="en-US" sz="1200" dirty="0"/>
          </a:p>
        </p:txBody>
      </p:sp>
      <p:sp>
        <p:nvSpPr>
          <p:cNvPr id="12" name="Shape 9"/>
          <p:cNvSpPr/>
          <p:nvPr/>
        </p:nvSpPr>
        <p:spPr>
          <a:xfrm>
            <a:off x="2542032" y="2048256"/>
            <a:ext cx="1938528" cy="1673352"/>
          </a:xfrm>
          <a:prstGeom prst="rect">
            <a:avLst/>
          </a:prstGeom>
          <a:solidFill>
            <a:srgbClr val="F2F6FC"/>
          </a:solidFill>
          <a:ln w="9525">
            <a:solidFill>
              <a:srgbClr val="D5DCEA"/>
            </a:solidFill>
            <a:prstDash val="solid"/>
          </a:ln>
        </p:spPr>
      </p:sp>
      <p:sp>
        <p:nvSpPr>
          <p:cNvPr id="13" name="Text 10"/>
          <p:cNvSpPr txBox="1"/>
          <p:nvPr/>
        </p:nvSpPr>
        <p:spPr>
          <a:xfrm>
            <a:off x="2633472" y="2121408"/>
            <a:ext cx="1755648" cy="1545336"/>
          </a:xfrm>
          <a:prstGeom prst="rect">
            <a:avLst/>
          </a:prstGeom>
          <a:noFill/>
          <a:ln/>
        </p:spPr>
        <p:txBody>
          <a:bodyPr wrap="square" lIns="0" tIns="0" rIns="0" bIns="0" rtlCol="0" anchor="t"/>
          <a:lstStyle/>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“called me through His grace”</a:t>
            </a:r>
            <a:endParaRPr lang="en-US" sz="1100" dirty="0"/>
          </a:p>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Not deserved — and neither is ours</a:t>
            </a:r>
            <a:endParaRPr lang="en-US" sz="1100" dirty="0"/>
          </a:p>
        </p:txBody>
      </p:sp>
      <p:sp>
        <p:nvSpPr>
          <p:cNvPr id="14" name="Text 11"/>
          <p:cNvSpPr txBox="1"/>
          <p:nvPr/>
        </p:nvSpPr>
        <p:spPr>
          <a:xfrm>
            <a:off x="4663440" y="1143000"/>
            <a:ext cx="4023360" cy="292608"/>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God's purpose — v.16a</a:t>
            </a:r>
            <a:endParaRPr lang="en-US" sz="1300" dirty="0"/>
          </a:p>
        </p:txBody>
      </p:sp>
      <p:sp>
        <p:nvSpPr>
          <p:cNvPr id="15" name="Shape 12"/>
          <p:cNvSpPr/>
          <p:nvPr/>
        </p:nvSpPr>
        <p:spPr>
          <a:xfrm>
            <a:off x="4663440" y="1481328"/>
            <a:ext cx="1938528" cy="566928"/>
          </a:xfrm>
          <a:prstGeom prst="rect">
            <a:avLst/>
          </a:prstGeom>
          <a:solidFill>
            <a:srgbClr val="375623"/>
          </a:solidFill>
          <a:ln w="12700">
            <a:solidFill>
              <a:srgbClr val="375623"/>
            </a:solidFill>
            <a:prstDash val="solid"/>
          </a:ln>
        </p:spPr>
      </p:sp>
      <p:sp>
        <p:nvSpPr>
          <p:cNvPr id="16" name="Text 13"/>
          <p:cNvSpPr txBox="1"/>
          <p:nvPr/>
        </p:nvSpPr>
        <p:spPr>
          <a:xfrm>
            <a:off x="4754880" y="1527048"/>
            <a:ext cx="1755648"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Reveal His Son</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ἀποκαλύψαι</a:t>
            </a:r>
            <a:pPr indent="0" marL="0">
              <a:buNone/>
            </a:pPr>
            <a:r>
              <a:rPr lang="en-US" sz="850" dirty="0">
                <a:solidFill>
                  <a:srgbClr val="DCE4F2"/>
                </a:solidFill>
                <a:latin typeface="Arial" pitchFamily="34" charset="0"/>
                <a:ea typeface="Arial" pitchFamily="34" charset="-122"/>
                <a:cs typeface="Arial" pitchFamily="34" charset="-120"/>
              </a:rPr>
              <a:t>  Aor. Inf.</a:t>
            </a:r>
            <a:endParaRPr lang="en-US" sz="1200" dirty="0"/>
          </a:p>
        </p:txBody>
      </p:sp>
      <p:sp>
        <p:nvSpPr>
          <p:cNvPr id="17" name="Shape 14"/>
          <p:cNvSpPr/>
          <p:nvPr/>
        </p:nvSpPr>
        <p:spPr>
          <a:xfrm>
            <a:off x="4663440" y="2048256"/>
            <a:ext cx="1938528" cy="1673352"/>
          </a:xfrm>
          <a:prstGeom prst="rect">
            <a:avLst/>
          </a:prstGeom>
          <a:solidFill>
            <a:srgbClr val="F2F6FC"/>
          </a:solidFill>
          <a:ln w="9525">
            <a:solidFill>
              <a:srgbClr val="D5DCEA"/>
            </a:solidFill>
            <a:prstDash val="solid"/>
          </a:ln>
        </p:spPr>
      </p:sp>
      <p:sp>
        <p:nvSpPr>
          <p:cNvPr id="18" name="Text 15"/>
          <p:cNvSpPr txBox="1"/>
          <p:nvPr/>
        </p:nvSpPr>
        <p:spPr>
          <a:xfrm>
            <a:off x="4754880" y="2121408"/>
            <a:ext cx="1755648" cy="1545336"/>
          </a:xfrm>
          <a:prstGeom prst="rect">
            <a:avLst/>
          </a:prstGeom>
          <a:noFill/>
          <a:ln/>
        </p:spPr>
        <p:txBody>
          <a:bodyPr wrap="square" lIns="0" tIns="0" rIns="0" bIns="0" rtlCol="0" anchor="t"/>
          <a:lstStyle/>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“in me” — not only by my mouth</a:t>
            </a:r>
            <a:endParaRPr lang="en-US" sz="1100" dirty="0"/>
          </a:p>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“Son” stresses His deity (John 20:31)</a:t>
            </a:r>
            <a:endParaRPr lang="en-US" sz="1100" dirty="0"/>
          </a:p>
        </p:txBody>
      </p:sp>
      <p:sp>
        <p:nvSpPr>
          <p:cNvPr id="19" name="Shape 16"/>
          <p:cNvSpPr/>
          <p:nvPr/>
        </p:nvSpPr>
        <p:spPr>
          <a:xfrm>
            <a:off x="6748272" y="1481328"/>
            <a:ext cx="1938528" cy="566928"/>
          </a:xfrm>
          <a:prstGeom prst="rect">
            <a:avLst/>
          </a:prstGeom>
          <a:solidFill>
            <a:srgbClr val="375623"/>
          </a:solidFill>
          <a:ln w="12700">
            <a:solidFill>
              <a:srgbClr val="375623"/>
            </a:solidFill>
            <a:prstDash val="solid"/>
          </a:ln>
        </p:spPr>
      </p:sp>
      <p:sp>
        <p:nvSpPr>
          <p:cNvPr id="20" name="Text 17"/>
          <p:cNvSpPr txBox="1"/>
          <p:nvPr/>
        </p:nvSpPr>
        <p:spPr>
          <a:xfrm>
            <a:off x="6839712" y="1527048"/>
            <a:ext cx="1755648"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Reach the Gentiles</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ἔθνεσιν</a:t>
            </a:r>
            <a:pPr indent="0" marL="0">
              <a:buNone/>
            </a:pPr>
            <a:r>
              <a:rPr lang="en-US" sz="850" dirty="0">
                <a:solidFill>
                  <a:srgbClr val="DCE4F2"/>
                </a:solidFill>
                <a:latin typeface="Arial" pitchFamily="34" charset="0"/>
                <a:ea typeface="Arial" pitchFamily="34" charset="-122"/>
                <a:cs typeface="Arial" pitchFamily="34" charset="-120"/>
              </a:rPr>
              <a:t>  Dat. Pl. Neut.</a:t>
            </a:r>
            <a:endParaRPr lang="en-US" sz="1200" dirty="0"/>
          </a:p>
        </p:txBody>
      </p:sp>
      <p:sp>
        <p:nvSpPr>
          <p:cNvPr id="21" name="Shape 18"/>
          <p:cNvSpPr/>
          <p:nvPr/>
        </p:nvSpPr>
        <p:spPr>
          <a:xfrm>
            <a:off x="6748272" y="2048256"/>
            <a:ext cx="1938528" cy="1673352"/>
          </a:xfrm>
          <a:prstGeom prst="rect">
            <a:avLst/>
          </a:prstGeom>
          <a:solidFill>
            <a:srgbClr val="F2F6FC"/>
          </a:solidFill>
          <a:ln w="9525">
            <a:solidFill>
              <a:srgbClr val="D5DCEA"/>
            </a:solidFill>
            <a:prstDash val="solid"/>
          </a:ln>
        </p:spPr>
      </p:sp>
      <p:sp>
        <p:nvSpPr>
          <p:cNvPr id="22" name="Text 19"/>
          <p:cNvSpPr txBox="1"/>
          <p:nvPr/>
        </p:nvSpPr>
        <p:spPr>
          <a:xfrm>
            <a:off x="6839712" y="2121408"/>
            <a:ext cx="1755648" cy="1545336"/>
          </a:xfrm>
          <a:prstGeom prst="rect">
            <a:avLst/>
          </a:prstGeom>
          <a:noFill/>
          <a:ln/>
        </p:spPr>
        <p:txBody>
          <a:bodyPr wrap="square" lIns="0" tIns="0" rIns="0" bIns="0" rtlCol="0" anchor="t"/>
          <a:lstStyle/>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“that I might preach Him among the Gentiles”</a:t>
            </a:r>
            <a:endParaRPr lang="en-US" sz="1100" dirty="0"/>
          </a:p>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Israel's zealot sent to the nations</a:t>
            </a:r>
            <a:endParaRPr lang="en-US" sz="1100" dirty="0"/>
          </a:p>
        </p:txBody>
      </p:sp>
      <p:sp>
        <p:nvSpPr>
          <p:cNvPr id="23" name="Shape 20"/>
          <p:cNvSpPr/>
          <p:nvPr/>
        </p:nvSpPr>
        <p:spPr>
          <a:xfrm>
            <a:off x="457200" y="3931920"/>
            <a:ext cx="8229600" cy="594360"/>
          </a:xfrm>
          <a:prstGeom prst="roundRect">
            <a:avLst>
              <a:gd name="adj" fmla="val 9231"/>
            </a:avLst>
          </a:prstGeom>
          <a:solidFill>
            <a:srgbClr val="1F3864"/>
          </a:solidFill>
          <a:ln w="12700">
            <a:solidFill>
              <a:srgbClr val="1F3864"/>
            </a:solidFill>
            <a:prstDash val="solid"/>
          </a:ln>
        </p:spPr>
      </p:sp>
      <p:sp>
        <p:nvSpPr>
          <p:cNvPr id="24" name="Text 21"/>
          <p:cNvSpPr txBox="1"/>
          <p:nvPr/>
        </p:nvSpPr>
        <p:spPr>
          <a:xfrm>
            <a:off x="621792" y="3931920"/>
            <a:ext cx="7900416" cy="59436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You don't have to like the people God sends you to. God loves them — give them the gospel, and they become your brother or sister.</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Three years with the Lord</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1:16b–17 · Outline IV — Paul's course after conversion</a:t>
            </a:r>
            <a:endParaRPr lang="en-US" sz="1200" dirty="0"/>
          </a:p>
        </p:txBody>
      </p:sp>
      <p:sp>
        <p:nvSpPr>
          <p:cNvPr id="5" name="Shape 2"/>
          <p:cNvSpPr/>
          <p:nvPr/>
        </p:nvSpPr>
        <p:spPr>
          <a:xfrm>
            <a:off x="457200" y="1188720"/>
            <a:ext cx="2743200" cy="365760"/>
          </a:xfrm>
          <a:prstGeom prst="rect">
            <a:avLst/>
          </a:prstGeom>
          <a:solidFill>
            <a:srgbClr val="6B7280"/>
          </a:solidFill>
          <a:ln w="12700">
            <a:solidFill>
              <a:srgbClr val="6B7280"/>
            </a:solidFill>
            <a:prstDash val="solid"/>
          </a:ln>
        </p:spPr>
      </p:sp>
      <p:sp>
        <p:nvSpPr>
          <p:cNvPr id="6" name="Text 3"/>
          <p:cNvSpPr txBox="1"/>
          <p:nvPr/>
        </p:nvSpPr>
        <p:spPr>
          <a:xfrm>
            <a:off x="548640" y="1234440"/>
            <a:ext cx="256032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What he did not do</a:t>
            </a:r>
            <a:endParaRPr lang="en-US" sz="1200" dirty="0"/>
          </a:p>
        </p:txBody>
      </p:sp>
      <p:sp>
        <p:nvSpPr>
          <p:cNvPr id="7" name="Shape 4"/>
          <p:cNvSpPr/>
          <p:nvPr/>
        </p:nvSpPr>
        <p:spPr>
          <a:xfrm>
            <a:off x="457200" y="1554480"/>
            <a:ext cx="2743200" cy="1645920"/>
          </a:xfrm>
          <a:prstGeom prst="rect">
            <a:avLst/>
          </a:prstGeom>
          <a:solidFill>
            <a:srgbClr val="F2F6FC"/>
          </a:solidFill>
          <a:ln w="9525">
            <a:solidFill>
              <a:srgbClr val="D5DCEA"/>
            </a:solidFill>
            <a:prstDash val="solid"/>
          </a:ln>
        </p:spPr>
      </p:sp>
      <p:sp>
        <p:nvSpPr>
          <p:cNvPr id="8" name="Text 5"/>
          <p:cNvSpPr txBox="1"/>
          <p:nvPr/>
        </p:nvSpPr>
        <p:spPr>
          <a:xfrm>
            <a:off x="548640" y="1627632"/>
            <a:ext cx="2560320" cy="1517904"/>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Did not confer with flesh and blood — no human being</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Did not go up to Jerusalem to the apostles</a:t>
            </a:r>
            <a:endParaRPr lang="en-US" sz="1300" dirty="0"/>
          </a:p>
        </p:txBody>
      </p:sp>
      <p:sp>
        <p:nvSpPr>
          <p:cNvPr id="9" name="Text 6"/>
          <p:cNvSpPr txBox="1"/>
          <p:nvPr/>
        </p:nvSpPr>
        <p:spPr>
          <a:xfrm>
            <a:off x="457200" y="3273552"/>
            <a:ext cx="2743200" cy="548640"/>
          </a:xfrm>
          <a:prstGeom prst="rect">
            <a:avLst/>
          </a:prstGeom>
          <a:noFill/>
          <a:ln/>
        </p:spPr>
        <p:txBody>
          <a:bodyPr wrap="square" lIns="0" tIns="0" rIns="0" bIns="0" rtlCol="0" anchor="t"/>
          <a:lstStyle/>
          <a:p>
            <a:pPr indent="0" marL="0">
              <a:buNone/>
            </a:pPr>
            <a:r>
              <a:rPr lang="en-US" sz="1200" b="1" dirty="0">
                <a:solidFill>
                  <a:srgbClr val="7030A0"/>
                </a:solidFill>
                <a:latin typeface="Arial" pitchFamily="34" charset="0"/>
                <a:ea typeface="Arial" pitchFamily="34" charset="-122"/>
                <a:cs typeface="Arial" pitchFamily="34" charset="-120"/>
              </a:rPr>
              <a:t>προσανεθέμην</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Aor. Mid. — lay a matter before another; a deliberate choice</a:t>
            </a:r>
            <a:endParaRPr lang="en-US" sz="1200" dirty="0"/>
          </a:p>
        </p:txBody>
      </p:sp>
      <p:sp>
        <p:nvSpPr>
          <p:cNvPr id="10" name="Shape 7"/>
          <p:cNvSpPr/>
          <p:nvPr/>
        </p:nvSpPr>
        <p:spPr>
          <a:xfrm>
            <a:off x="3520440" y="1188720"/>
            <a:ext cx="1508760" cy="1417320"/>
          </a:xfrm>
          <a:prstGeom prst="roundRect">
            <a:avLst>
              <a:gd name="adj" fmla="val 3871"/>
            </a:avLst>
          </a:prstGeom>
          <a:solidFill>
            <a:srgbClr val="1F3864"/>
          </a:solidFill>
          <a:ln w="12700">
            <a:solidFill>
              <a:srgbClr val="1F3864"/>
            </a:solidFill>
            <a:prstDash val="solid"/>
          </a:ln>
        </p:spPr>
      </p:sp>
      <p:sp>
        <p:nvSpPr>
          <p:cNvPr id="11" name="Text 8"/>
          <p:cNvSpPr txBox="1"/>
          <p:nvPr/>
        </p:nvSpPr>
        <p:spPr>
          <a:xfrm>
            <a:off x="3593592" y="1261872"/>
            <a:ext cx="1362456" cy="347472"/>
          </a:xfrm>
          <a:prstGeom prst="rect">
            <a:avLst/>
          </a:prstGeom>
          <a:noFill/>
          <a:ln/>
        </p:spPr>
        <p:txBody>
          <a:bodyPr wrap="square" lIns="0" tIns="0" rIns="0" bIns="0" rtlCol="0" anchor="t"/>
          <a:lstStyle/>
          <a:p>
            <a:pPr algn="ctr" indent="0" marL="0">
              <a:buNone/>
            </a:pPr>
            <a:r>
              <a:rPr lang="en-US" sz="1300" b="1" dirty="0">
                <a:solidFill>
                  <a:srgbClr val="FFFFFF"/>
                </a:solidFill>
                <a:latin typeface="Arial" pitchFamily="34" charset="0"/>
                <a:ea typeface="Arial" pitchFamily="34" charset="-122"/>
                <a:cs typeface="Arial" pitchFamily="34" charset="-120"/>
              </a:rPr>
              <a:t>Damascus</a:t>
            </a:r>
            <a:endParaRPr lang="en-US" sz="1300" dirty="0"/>
          </a:p>
        </p:txBody>
      </p:sp>
      <p:sp>
        <p:nvSpPr>
          <p:cNvPr id="12" name="Text 9"/>
          <p:cNvSpPr txBox="1"/>
          <p:nvPr/>
        </p:nvSpPr>
        <p:spPr>
          <a:xfrm>
            <a:off x="3593592" y="1627632"/>
            <a:ext cx="1362456" cy="914400"/>
          </a:xfrm>
          <a:prstGeom prst="rect">
            <a:avLst/>
          </a:prstGeom>
          <a:noFill/>
          <a:ln/>
        </p:spPr>
        <p:txBody>
          <a:bodyPr wrap="square" lIns="0" tIns="0" rIns="0" bIns="0" rtlCol="0" anchor="t"/>
          <a:lstStyle/>
          <a:p>
            <a:pPr algn="ctr" indent="0" marL="0">
              <a:buNone/>
            </a:pPr>
            <a:r>
              <a:rPr lang="en-US" sz="1000" dirty="0">
                <a:solidFill>
                  <a:srgbClr val="E6ECF7"/>
                </a:solidFill>
                <a:latin typeface="Arial" pitchFamily="34" charset="0"/>
                <a:ea typeface="Arial" pitchFamily="34" charset="-122"/>
                <a:cs typeface="Arial" pitchFamily="34" charset="-120"/>
              </a:rPr>
              <a:t>Converted on the road (Acts 9)</a:t>
            </a:r>
            <a:endParaRPr lang="en-US" sz="1000" dirty="0"/>
          </a:p>
        </p:txBody>
      </p:sp>
      <p:sp>
        <p:nvSpPr>
          <p:cNvPr id="13" name="Shape 10"/>
          <p:cNvSpPr/>
          <p:nvPr/>
        </p:nvSpPr>
        <p:spPr>
          <a:xfrm>
            <a:off x="5047488" y="1783080"/>
            <a:ext cx="237744" cy="237744"/>
          </a:xfrm>
          <a:prstGeom prst="rightArrow">
            <a:avLst/>
          </a:prstGeom>
          <a:solidFill>
            <a:srgbClr val="6B7280"/>
          </a:solidFill>
          <a:ln w="12700">
            <a:solidFill>
              <a:srgbClr val="6B7280"/>
            </a:solidFill>
            <a:prstDash val="solid"/>
          </a:ln>
        </p:spPr>
      </p:sp>
      <p:sp>
        <p:nvSpPr>
          <p:cNvPr id="14" name="Shape 11"/>
          <p:cNvSpPr/>
          <p:nvPr/>
        </p:nvSpPr>
        <p:spPr>
          <a:xfrm>
            <a:off x="5303520" y="1188720"/>
            <a:ext cx="1508760" cy="1417320"/>
          </a:xfrm>
          <a:prstGeom prst="roundRect">
            <a:avLst>
              <a:gd name="adj" fmla="val 3871"/>
            </a:avLst>
          </a:prstGeom>
          <a:solidFill>
            <a:srgbClr val="375623"/>
          </a:solidFill>
          <a:ln w="12700">
            <a:solidFill>
              <a:srgbClr val="375623"/>
            </a:solidFill>
            <a:prstDash val="solid"/>
          </a:ln>
        </p:spPr>
      </p:sp>
      <p:sp>
        <p:nvSpPr>
          <p:cNvPr id="15" name="Text 12"/>
          <p:cNvSpPr txBox="1"/>
          <p:nvPr/>
        </p:nvSpPr>
        <p:spPr>
          <a:xfrm>
            <a:off x="5376672" y="1261872"/>
            <a:ext cx="1362456" cy="347472"/>
          </a:xfrm>
          <a:prstGeom prst="rect">
            <a:avLst/>
          </a:prstGeom>
          <a:noFill/>
          <a:ln/>
        </p:spPr>
        <p:txBody>
          <a:bodyPr wrap="square" lIns="0" tIns="0" rIns="0" bIns="0" rtlCol="0" anchor="t"/>
          <a:lstStyle/>
          <a:p>
            <a:pPr algn="ctr" indent="0" marL="0">
              <a:buNone/>
            </a:pPr>
            <a:r>
              <a:rPr lang="en-US" sz="1300" b="1" dirty="0">
                <a:solidFill>
                  <a:srgbClr val="FFFFFF"/>
                </a:solidFill>
                <a:latin typeface="Arial" pitchFamily="34" charset="0"/>
                <a:ea typeface="Arial" pitchFamily="34" charset="-122"/>
                <a:cs typeface="Arial" pitchFamily="34" charset="-120"/>
              </a:rPr>
              <a:t>Arabia</a:t>
            </a:r>
            <a:endParaRPr lang="en-US" sz="1300" dirty="0"/>
          </a:p>
        </p:txBody>
      </p:sp>
      <p:sp>
        <p:nvSpPr>
          <p:cNvPr id="16" name="Text 13"/>
          <p:cNvSpPr txBox="1"/>
          <p:nvPr/>
        </p:nvSpPr>
        <p:spPr>
          <a:xfrm>
            <a:off x="5376672" y="1627632"/>
            <a:ext cx="1362456" cy="914400"/>
          </a:xfrm>
          <a:prstGeom prst="rect">
            <a:avLst/>
          </a:prstGeom>
          <a:noFill/>
          <a:ln/>
        </p:spPr>
        <p:txBody>
          <a:bodyPr wrap="square" lIns="0" tIns="0" rIns="0" bIns="0" rtlCol="0" anchor="t"/>
          <a:lstStyle/>
          <a:p>
            <a:pPr algn="ctr" indent="0" marL="0">
              <a:buNone/>
            </a:pPr>
            <a:r>
              <a:rPr lang="en-US" sz="1000" dirty="0">
                <a:solidFill>
                  <a:srgbClr val="E6ECF7"/>
                </a:solidFill>
                <a:latin typeface="Arial" pitchFamily="34" charset="0"/>
                <a:ea typeface="Arial" pitchFamily="34" charset="-122"/>
                <a:cs typeface="Arial" pitchFamily="34" charset="-120"/>
              </a:rPr>
              <a:t>About three years — revelation from the risen Lord</a:t>
            </a:r>
            <a:endParaRPr lang="en-US" sz="1000" dirty="0"/>
          </a:p>
        </p:txBody>
      </p:sp>
      <p:sp>
        <p:nvSpPr>
          <p:cNvPr id="17" name="Shape 14"/>
          <p:cNvSpPr/>
          <p:nvPr/>
        </p:nvSpPr>
        <p:spPr>
          <a:xfrm>
            <a:off x="6830568" y="1783080"/>
            <a:ext cx="237744" cy="237744"/>
          </a:xfrm>
          <a:prstGeom prst="rightArrow">
            <a:avLst/>
          </a:prstGeom>
          <a:solidFill>
            <a:srgbClr val="6B7280"/>
          </a:solidFill>
          <a:ln w="12700">
            <a:solidFill>
              <a:srgbClr val="6B7280"/>
            </a:solidFill>
            <a:prstDash val="solid"/>
          </a:ln>
        </p:spPr>
      </p:sp>
      <p:sp>
        <p:nvSpPr>
          <p:cNvPr id="18" name="Shape 15"/>
          <p:cNvSpPr/>
          <p:nvPr/>
        </p:nvSpPr>
        <p:spPr>
          <a:xfrm>
            <a:off x="7086600" y="1188720"/>
            <a:ext cx="1508760" cy="1417320"/>
          </a:xfrm>
          <a:prstGeom prst="roundRect">
            <a:avLst>
              <a:gd name="adj" fmla="val 3871"/>
            </a:avLst>
          </a:prstGeom>
          <a:solidFill>
            <a:srgbClr val="1F3864"/>
          </a:solidFill>
          <a:ln w="12700">
            <a:solidFill>
              <a:srgbClr val="1F3864"/>
            </a:solidFill>
            <a:prstDash val="solid"/>
          </a:ln>
        </p:spPr>
      </p:sp>
      <p:sp>
        <p:nvSpPr>
          <p:cNvPr id="19" name="Text 16"/>
          <p:cNvSpPr txBox="1"/>
          <p:nvPr/>
        </p:nvSpPr>
        <p:spPr>
          <a:xfrm>
            <a:off x="7159752" y="1261872"/>
            <a:ext cx="1362456" cy="347472"/>
          </a:xfrm>
          <a:prstGeom prst="rect">
            <a:avLst/>
          </a:prstGeom>
          <a:noFill/>
          <a:ln/>
        </p:spPr>
        <p:txBody>
          <a:bodyPr wrap="square" lIns="0" tIns="0" rIns="0" bIns="0" rtlCol="0" anchor="t"/>
          <a:lstStyle/>
          <a:p>
            <a:pPr algn="ctr" indent="0" marL="0">
              <a:buNone/>
            </a:pPr>
            <a:r>
              <a:rPr lang="en-US" sz="1300" b="1" dirty="0">
                <a:solidFill>
                  <a:srgbClr val="FFFFFF"/>
                </a:solidFill>
                <a:latin typeface="Arial" pitchFamily="34" charset="0"/>
                <a:ea typeface="Arial" pitchFamily="34" charset="-122"/>
                <a:cs typeface="Arial" pitchFamily="34" charset="-120"/>
              </a:rPr>
              <a:t>Damascus</a:t>
            </a:r>
            <a:endParaRPr lang="en-US" sz="1300" dirty="0"/>
          </a:p>
        </p:txBody>
      </p:sp>
      <p:sp>
        <p:nvSpPr>
          <p:cNvPr id="20" name="Text 17"/>
          <p:cNvSpPr txBox="1"/>
          <p:nvPr/>
        </p:nvSpPr>
        <p:spPr>
          <a:xfrm>
            <a:off x="7159752" y="1627632"/>
            <a:ext cx="1362456" cy="914400"/>
          </a:xfrm>
          <a:prstGeom prst="rect">
            <a:avLst/>
          </a:prstGeom>
          <a:noFill/>
          <a:ln/>
        </p:spPr>
        <p:txBody>
          <a:bodyPr wrap="square" lIns="0" tIns="0" rIns="0" bIns="0" rtlCol="0" anchor="t"/>
          <a:lstStyle/>
          <a:p>
            <a:pPr algn="ctr" indent="0" marL="0">
              <a:buNone/>
            </a:pPr>
            <a:r>
              <a:rPr lang="en-US" sz="1000" dirty="0">
                <a:solidFill>
                  <a:srgbClr val="E6ECF7"/>
                </a:solidFill>
                <a:latin typeface="Arial" pitchFamily="34" charset="0"/>
                <a:ea typeface="Arial" pitchFamily="34" charset="-122"/>
                <a:cs typeface="Arial" pitchFamily="34" charset="-120"/>
              </a:rPr>
              <a:t>Ministered — then over the wall in a basket</a:t>
            </a:r>
            <a:endParaRPr lang="en-US" sz="1000" dirty="0"/>
          </a:p>
        </p:txBody>
      </p:sp>
      <p:sp>
        <p:nvSpPr>
          <p:cNvPr id="21" name="Shape 18"/>
          <p:cNvSpPr/>
          <p:nvPr/>
        </p:nvSpPr>
        <p:spPr>
          <a:xfrm>
            <a:off x="3520440" y="2788920"/>
            <a:ext cx="2514600" cy="329184"/>
          </a:xfrm>
          <a:prstGeom prst="rect">
            <a:avLst/>
          </a:prstGeom>
          <a:solidFill>
            <a:srgbClr val="6B7280"/>
          </a:solidFill>
          <a:ln w="12700">
            <a:solidFill>
              <a:srgbClr val="6B7280"/>
            </a:solidFill>
            <a:prstDash val="solid"/>
          </a:ln>
        </p:spPr>
      </p:sp>
      <p:sp>
        <p:nvSpPr>
          <p:cNvPr id="22" name="Text 19"/>
          <p:cNvSpPr txBox="1"/>
          <p:nvPr/>
        </p:nvSpPr>
        <p:spPr>
          <a:xfrm>
            <a:off x="3611880" y="2834640"/>
            <a:ext cx="2331720" cy="23774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 Twelve</a:t>
            </a:r>
            <a:endParaRPr lang="en-US" sz="1200" dirty="0"/>
          </a:p>
        </p:txBody>
      </p:sp>
      <p:sp>
        <p:nvSpPr>
          <p:cNvPr id="23" name="Shape 20"/>
          <p:cNvSpPr/>
          <p:nvPr/>
        </p:nvSpPr>
        <p:spPr>
          <a:xfrm>
            <a:off x="3520440" y="3118104"/>
            <a:ext cx="2514600" cy="905256"/>
          </a:xfrm>
          <a:prstGeom prst="rect">
            <a:avLst/>
          </a:prstGeom>
          <a:solidFill>
            <a:srgbClr val="F2F6FC"/>
          </a:solidFill>
          <a:ln w="9525">
            <a:solidFill>
              <a:srgbClr val="D5DCEA"/>
            </a:solidFill>
            <a:prstDash val="solid"/>
          </a:ln>
        </p:spPr>
      </p:sp>
      <p:sp>
        <p:nvSpPr>
          <p:cNvPr id="24" name="Text 21"/>
          <p:cNvSpPr txBox="1"/>
          <p:nvPr/>
        </p:nvSpPr>
        <p:spPr>
          <a:xfrm>
            <a:off x="3611880" y="3191256"/>
            <a:ext cx="2331720" cy="777240"/>
          </a:xfrm>
          <a:prstGeom prst="rect">
            <a:avLst/>
          </a:prstGeom>
          <a:noFill/>
          <a:ln/>
        </p:spPr>
        <p:txBody>
          <a:bodyPr wrap="square" lIns="0" tIns="0" rIns="0" bIns="0" rtlCol="0" anchor="t"/>
          <a:lstStyle/>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About three years with Jesus</a:t>
            </a:r>
            <a:endParaRPr lang="en-US" sz="1100" dirty="0"/>
          </a:p>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One speaking to twelve</a:t>
            </a:r>
            <a:endParaRPr lang="en-US" sz="1100" dirty="0"/>
          </a:p>
        </p:txBody>
      </p:sp>
      <p:sp>
        <p:nvSpPr>
          <p:cNvPr id="25" name="Shape 22"/>
          <p:cNvSpPr/>
          <p:nvPr/>
        </p:nvSpPr>
        <p:spPr>
          <a:xfrm>
            <a:off x="6172200" y="2788920"/>
            <a:ext cx="2514600" cy="329184"/>
          </a:xfrm>
          <a:prstGeom prst="rect">
            <a:avLst/>
          </a:prstGeom>
          <a:solidFill>
            <a:srgbClr val="375623"/>
          </a:solidFill>
          <a:ln w="12700">
            <a:solidFill>
              <a:srgbClr val="375623"/>
            </a:solidFill>
            <a:prstDash val="solid"/>
          </a:ln>
        </p:spPr>
      </p:sp>
      <p:sp>
        <p:nvSpPr>
          <p:cNvPr id="26" name="Text 23"/>
          <p:cNvSpPr txBox="1"/>
          <p:nvPr/>
        </p:nvSpPr>
        <p:spPr>
          <a:xfrm>
            <a:off x="6263640" y="2834640"/>
            <a:ext cx="2331720" cy="23774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Paul</a:t>
            </a:r>
            <a:endParaRPr lang="en-US" sz="1200" dirty="0"/>
          </a:p>
        </p:txBody>
      </p:sp>
      <p:sp>
        <p:nvSpPr>
          <p:cNvPr id="27" name="Shape 24"/>
          <p:cNvSpPr/>
          <p:nvPr/>
        </p:nvSpPr>
        <p:spPr>
          <a:xfrm>
            <a:off x="6172200" y="3118104"/>
            <a:ext cx="2514600" cy="905256"/>
          </a:xfrm>
          <a:prstGeom prst="rect">
            <a:avLst/>
          </a:prstGeom>
          <a:solidFill>
            <a:srgbClr val="F2F6FC"/>
          </a:solidFill>
          <a:ln w="9525">
            <a:solidFill>
              <a:srgbClr val="D5DCEA"/>
            </a:solidFill>
            <a:prstDash val="solid"/>
          </a:ln>
        </p:spPr>
      </p:sp>
      <p:sp>
        <p:nvSpPr>
          <p:cNvPr id="28" name="Text 25"/>
          <p:cNvSpPr txBox="1"/>
          <p:nvPr/>
        </p:nvSpPr>
        <p:spPr>
          <a:xfrm>
            <a:off x="6263640" y="3191256"/>
            <a:ext cx="2331720" cy="777240"/>
          </a:xfrm>
          <a:prstGeom prst="rect">
            <a:avLst/>
          </a:prstGeom>
          <a:noFill/>
          <a:ln/>
        </p:spPr>
        <p:txBody>
          <a:bodyPr wrap="square" lIns="0" tIns="0" rIns="0" bIns="0" rtlCol="0" anchor="t"/>
          <a:lstStyle/>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About three years in Arabia</a:t>
            </a:r>
            <a:endParaRPr lang="en-US" sz="1100" dirty="0"/>
          </a:p>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One-on-one with the risen Lord</a:t>
            </a:r>
            <a:endParaRPr lang="en-US" sz="1100" dirty="0"/>
          </a:p>
        </p:txBody>
      </p:sp>
      <p:sp>
        <p:nvSpPr>
          <p:cNvPr id="29" name="Shape 26"/>
          <p:cNvSpPr/>
          <p:nvPr/>
        </p:nvSpPr>
        <p:spPr>
          <a:xfrm>
            <a:off x="457200" y="4160520"/>
            <a:ext cx="8229600" cy="438912"/>
          </a:xfrm>
          <a:prstGeom prst="roundRect">
            <a:avLst>
              <a:gd name="adj" fmla="val 12500"/>
            </a:avLst>
          </a:prstGeom>
          <a:solidFill>
            <a:srgbClr val="1F3864"/>
          </a:solidFill>
          <a:ln w="12700">
            <a:solidFill>
              <a:srgbClr val="1F3864"/>
            </a:solidFill>
            <a:prstDash val="solid"/>
          </a:ln>
        </p:spPr>
      </p:sp>
      <p:sp>
        <p:nvSpPr>
          <p:cNvPr id="30" name="Text 27"/>
          <p:cNvSpPr txBox="1"/>
          <p:nvPr/>
        </p:nvSpPr>
        <p:spPr>
          <a:xfrm>
            <a:off x="621792" y="4160520"/>
            <a:ext cx="7900416" cy="438912"/>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Want to hear what God told Paul, in succinct form? Read Romans.</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Discuss and apply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1:11–17 · from the study's posted questions and applications</a:t>
            </a:r>
            <a:endParaRPr lang="en-US" sz="1200" dirty="0"/>
          </a:p>
        </p:txBody>
      </p:sp>
      <p:sp>
        <p:nvSpPr>
          <p:cNvPr id="5" name="Shape 2"/>
          <p:cNvSpPr/>
          <p:nvPr/>
        </p:nvSpPr>
        <p:spPr>
          <a:xfrm>
            <a:off x="457200" y="1115568"/>
            <a:ext cx="4023360" cy="384048"/>
          </a:xfrm>
          <a:prstGeom prst="rect">
            <a:avLst/>
          </a:prstGeom>
          <a:solidFill>
            <a:srgbClr val="2E5496"/>
          </a:solidFill>
          <a:ln w="12700">
            <a:solidFill>
              <a:srgbClr val="2E5496"/>
            </a:solidFill>
            <a:prstDash val="solid"/>
          </a:ln>
        </p:spPr>
      </p:sp>
      <p:sp>
        <p:nvSpPr>
          <p:cNvPr id="6" name="Text 3"/>
          <p:cNvSpPr txBox="1"/>
          <p:nvPr/>
        </p:nvSpPr>
        <p:spPr>
          <a:xfrm>
            <a:off x="56692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Discuss</a:t>
            </a:r>
            <a:endParaRPr lang="en-US" sz="1300" dirty="0"/>
          </a:p>
        </p:txBody>
      </p:sp>
      <p:sp>
        <p:nvSpPr>
          <p:cNvPr id="7" name="Shape 4"/>
          <p:cNvSpPr/>
          <p:nvPr/>
        </p:nvSpPr>
        <p:spPr>
          <a:xfrm>
            <a:off x="457200" y="1499616"/>
            <a:ext cx="4023360" cy="2359152"/>
          </a:xfrm>
          <a:prstGeom prst="rect">
            <a:avLst/>
          </a:prstGeom>
          <a:solidFill>
            <a:srgbClr val="F2F6FC"/>
          </a:solidFill>
          <a:ln w="9525">
            <a:solidFill>
              <a:srgbClr val="D5DCEA"/>
            </a:solidFill>
            <a:prstDash val="solid"/>
          </a:ln>
        </p:spPr>
      </p:sp>
      <p:sp>
        <p:nvSpPr>
          <p:cNvPr id="8" name="Shape 5"/>
          <p:cNvSpPr/>
          <p:nvPr/>
        </p:nvSpPr>
        <p:spPr>
          <a:xfrm>
            <a:off x="4663440" y="1115568"/>
            <a:ext cx="4023360" cy="384048"/>
          </a:xfrm>
          <a:prstGeom prst="rect">
            <a:avLst/>
          </a:prstGeom>
          <a:solidFill>
            <a:srgbClr val="375623"/>
          </a:solidFill>
          <a:ln w="12700">
            <a:solidFill>
              <a:srgbClr val="375623"/>
            </a:solidFill>
            <a:prstDash val="solid"/>
          </a:ln>
        </p:spPr>
      </p:sp>
      <p:sp>
        <p:nvSpPr>
          <p:cNvPr id="9" name="Text 6"/>
          <p:cNvSpPr txBox="1"/>
          <p:nvPr/>
        </p:nvSpPr>
        <p:spPr>
          <a:xfrm>
            <a:off x="477316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Apply</a:t>
            </a:r>
            <a:endParaRPr lang="en-US" sz="1300" dirty="0"/>
          </a:p>
        </p:txBody>
      </p:sp>
      <p:sp>
        <p:nvSpPr>
          <p:cNvPr id="10" name="Shape 7"/>
          <p:cNvSpPr/>
          <p:nvPr/>
        </p:nvSpPr>
        <p:spPr>
          <a:xfrm>
            <a:off x="4663440" y="1499616"/>
            <a:ext cx="4023360" cy="2359152"/>
          </a:xfrm>
          <a:prstGeom prst="rect">
            <a:avLst/>
          </a:prstGeom>
          <a:solidFill>
            <a:srgbClr val="F2F6FC"/>
          </a:solidFill>
          <a:ln w="9525">
            <a:solidFill>
              <a:srgbClr val="D5DCEA"/>
            </a:solidFill>
            <a:prstDash val="solid"/>
          </a:ln>
        </p:spPr>
      </p:sp>
      <p:sp>
        <p:nvSpPr>
          <p:cNvPr id="11" name="Shape 8"/>
          <p:cNvSpPr/>
          <p:nvPr/>
        </p:nvSpPr>
        <p:spPr>
          <a:xfrm>
            <a:off x="566928" y="1636776"/>
            <a:ext cx="347472" cy="347472"/>
          </a:xfrm>
          <a:prstGeom prst="ellipse">
            <a:avLst/>
          </a:prstGeom>
          <a:solidFill>
            <a:srgbClr val="2E5496"/>
          </a:solidFill>
          <a:ln w="12700">
            <a:solidFill>
              <a:srgbClr val="2E5496"/>
            </a:solidFill>
            <a:prstDash val="solid"/>
          </a:ln>
        </p:spPr>
      </p:sp>
      <p:sp>
        <p:nvSpPr>
          <p:cNvPr id="12" name="Text 9"/>
          <p:cNvSpPr txBox="1"/>
          <p:nvPr/>
        </p:nvSpPr>
        <p:spPr>
          <a:xfrm>
            <a:off x="566928" y="163677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3" name="Text 10"/>
          <p:cNvSpPr txBox="1"/>
          <p:nvPr/>
        </p:nvSpPr>
        <p:spPr>
          <a:xfrm>
            <a:off x="1005840" y="1591056"/>
            <a:ext cx="3364992" cy="1042416"/>
          </a:xfrm>
          <a:prstGeom prst="rect">
            <a:avLst/>
          </a:prstGeom>
          <a:noFill/>
          <a:ln/>
        </p:spPr>
        <p:txBody>
          <a:bodyPr wrap="square" lIns="0" tIns="0" rIns="0" bIns="0" rtlCol="0" anchor="t"/>
          <a:lstStyle/>
          <a:p>
            <a:pPr indent="0" marL="0">
              <a:buNone/>
            </a:pPr>
            <a:r>
              <a:rPr lang="en-US" sz="1350" dirty="0">
                <a:solidFill>
                  <a:srgbClr val="262626"/>
                </a:solidFill>
                <a:latin typeface="Arial" pitchFamily="34" charset="0"/>
                <a:ea typeface="Arial" pitchFamily="34" charset="-122"/>
                <a:cs typeface="Arial" pitchFamily="34" charset="-120"/>
              </a:rPr>
              <a:t>How does Paul's former conduct — persecuting and trying to destroy the church — strengthen his testimony rather than weaken it?</a:t>
            </a:r>
            <a:endParaRPr lang="en-US" sz="1350" dirty="0"/>
          </a:p>
        </p:txBody>
      </p:sp>
      <p:sp>
        <p:nvSpPr>
          <p:cNvPr id="14" name="Shape 11"/>
          <p:cNvSpPr/>
          <p:nvPr/>
        </p:nvSpPr>
        <p:spPr>
          <a:xfrm>
            <a:off x="566928" y="2724912"/>
            <a:ext cx="347472" cy="347472"/>
          </a:xfrm>
          <a:prstGeom prst="ellipse">
            <a:avLst/>
          </a:prstGeom>
          <a:solidFill>
            <a:srgbClr val="2E5496"/>
          </a:solidFill>
          <a:ln w="12700">
            <a:solidFill>
              <a:srgbClr val="2E5496"/>
            </a:solidFill>
            <a:prstDash val="solid"/>
          </a:ln>
        </p:spPr>
      </p:sp>
      <p:sp>
        <p:nvSpPr>
          <p:cNvPr id="15" name="Text 12"/>
          <p:cNvSpPr txBox="1"/>
          <p:nvPr/>
        </p:nvSpPr>
        <p:spPr>
          <a:xfrm>
            <a:off x="566928" y="272491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6" name="Text 13"/>
          <p:cNvSpPr txBox="1"/>
          <p:nvPr/>
        </p:nvSpPr>
        <p:spPr>
          <a:xfrm>
            <a:off x="1005840" y="2679192"/>
            <a:ext cx="3364992" cy="1042416"/>
          </a:xfrm>
          <a:prstGeom prst="rect">
            <a:avLst/>
          </a:prstGeom>
          <a:noFill/>
          <a:ln/>
        </p:spPr>
        <p:txBody>
          <a:bodyPr wrap="square" lIns="0" tIns="0" rIns="0" bIns="0" rtlCol="0" anchor="t"/>
          <a:lstStyle/>
          <a:p>
            <a:pPr indent="0" marL="0">
              <a:buNone/>
            </a:pPr>
            <a:r>
              <a:rPr lang="en-US" sz="1350" dirty="0">
                <a:solidFill>
                  <a:srgbClr val="262626"/>
                </a:solidFill>
                <a:latin typeface="Arial" pitchFamily="34" charset="0"/>
                <a:ea typeface="Arial" pitchFamily="34" charset="-122"/>
                <a:cs typeface="Arial" pitchFamily="34" charset="-120"/>
              </a:rPr>
              <a:t>Why did Paul deliberately avoid Jerusalem and the apostles after his conversion, going instead to Arabia?</a:t>
            </a:r>
            <a:endParaRPr lang="en-US" sz="1350" dirty="0"/>
          </a:p>
        </p:txBody>
      </p:sp>
      <p:sp>
        <p:nvSpPr>
          <p:cNvPr id="17" name="Text 14"/>
          <p:cNvSpPr txBox="1"/>
          <p:nvPr/>
        </p:nvSpPr>
        <p:spPr>
          <a:xfrm>
            <a:off x="4791456" y="1591056"/>
            <a:ext cx="3767328" cy="1042416"/>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Grace Reaches the Least Likely</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Name someone you've decided is beyond reach and pray for them specifically, asking God to do for them what He did for Paul.</a:t>
            </a:r>
            <a:endParaRPr lang="en-US" sz="1200" dirty="0"/>
          </a:p>
        </p:txBody>
      </p:sp>
      <p:sp>
        <p:nvSpPr>
          <p:cNvPr id="18" name="Text 15"/>
          <p:cNvSpPr txBox="1"/>
          <p:nvPr/>
        </p:nvSpPr>
        <p:spPr>
          <a:xfrm>
            <a:off x="4791456" y="2679192"/>
            <a:ext cx="3767328" cy="1042416"/>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Called Before You Could Earn It</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Thank God today for a purpose in your life that began before you could have earned it.</a:t>
            </a:r>
            <a:endParaRPr lang="en-US" sz="1200" dirty="0"/>
          </a:p>
        </p:txBody>
      </p:sp>
      <p:sp>
        <p:nvSpPr>
          <p:cNvPr id="19" name="Shape 16"/>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0" name="Text 17"/>
          <p:cNvSpPr txBox="1"/>
          <p:nvPr/>
        </p:nvSpPr>
        <p:spPr>
          <a:xfrm>
            <a:off x="621792" y="4023360"/>
            <a:ext cx="7900416" cy="566928"/>
          </a:xfrm>
          <a:prstGeom prst="rect">
            <a:avLst/>
          </a:prstGeom>
          <a:noFill/>
          <a:ln/>
        </p:spPr>
        <p:txBody>
          <a:bodyPr wrap="square" lIns="0" tIns="0" rIns="0" bIns="0" rtlCol="0" anchor="ctr"/>
          <a:lstStyle/>
          <a:p>
            <a:pPr indent="0" marL="0">
              <a:buNone/>
            </a:pPr>
            <a:r>
              <a:rPr lang="en-US" sz="1250" b="1" dirty="0">
                <a:solidFill>
                  <a:srgbClr val="C9D5EE"/>
                </a:solidFill>
                <a:latin typeface="Arial" pitchFamily="34" charset="0"/>
                <a:ea typeface="Arial" pitchFamily="34" charset="-122"/>
                <a:cs typeface="Arial" pitchFamily="34" charset="-120"/>
              </a:rPr>
              <a:t>In one line:  </a:t>
            </a:r>
            <a:pPr indent="0" marL="0">
              <a:buNone/>
            </a:pPr>
            <a:r>
              <a:rPr lang="en-US" sz="1250" dirty="0">
                <a:solidFill>
                  <a:srgbClr val="FFFFFF"/>
                </a:solidFill>
                <a:latin typeface="Arial" pitchFamily="34" charset="0"/>
                <a:ea typeface="Arial" pitchFamily="34" charset="-122"/>
                <a:cs typeface="Arial" pitchFamily="34" charset="-120"/>
              </a:rPr>
              <a:t>Paul's gospel came by revelation, not invention — and a changed life proved it.</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lstStyle/>
          <a:p>
            <a:pPr indent="0" marL="0">
              <a:buNone/>
            </a:pPr>
            <a:r>
              <a:rPr lang="en-US" sz="1400" dirty="0">
                <a:solidFill>
                  <a:srgbClr val="C9D5EE"/>
                </a:solidFill>
                <a:latin typeface="Arial" pitchFamily="34" charset="0"/>
                <a:ea typeface="Arial" pitchFamily="34" charset="-122"/>
                <a:cs typeface="Arial" pitchFamily="34" charset="-120"/>
              </a:rPr>
              <a:t>Study 4 of 16 · Galatians 1:18 – 2:10</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Paul's Gospel Is Independent of the Judean Churches</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t"/>
          <a:lstStyle/>
          <a:p>
            <a:pPr indent="0" marL="0">
              <a:buNone/>
            </a:pPr>
            <a:r>
              <a:rPr lang="en-US" sz="1500" i="1" dirty="0">
                <a:solidFill>
                  <a:srgbClr val="E6ECF7"/>
                </a:solidFill>
                <a:latin typeface="Arial" pitchFamily="34" charset="0"/>
                <a:ea typeface="Arial" pitchFamily="34" charset="-122"/>
                <a:cs typeface="Arial" pitchFamily="34" charset="-120"/>
              </a:rPr>
              <a:t>Paul's gospel and apostleship were never subordinate to Jerusalem — confirmed by the Judean churches' own testimony and the Jerusalem apostles' own recognition.</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Paul's five visits to Jerusalem</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Introduction · Acts and Galatians together</a:t>
            </a:r>
            <a:endParaRPr lang="en-US" sz="12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411480"/>
                <a:gridCol w="2011680"/>
                <a:gridCol w="868680"/>
                <a:gridCol w="960120"/>
                <a:gridCol w="3977640"/>
              </a:tblGrid>
              <a:tr h="310896">
                <a:tc>
                  <a:txBody>
                    <a:bodyPr/>
                    <a:lstStyle/>
                    <a:p>
                      <a:pP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2E5496"/>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Visit</a:t>
                      </a:r>
                      <a:endParaRPr lang="en-US" sz="11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2E5496"/>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Acts</a:t>
                      </a:r>
                      <a:endParaRPr lang="en-US" sz="11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2E5496"/>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Galatians</a:t>
                      </a:r>
                      <a:endParaRPr lang="en-US" sz="11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2E5496"/>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What happened</a:t>
                      </a:r>
                      <a:endParaRPr lang="en-US" sz="11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2E5496"/>
                    </a:solidFill>
                  </a:tcPr>
                </a:tc>
              </a:tr>
              <a:tr h="502920">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2E5496"/>
                    </a:solidFill>
                  </a:tcPr>
                </a:tc>
                <a:tc>
                  <a:txBody>
                    <a:bodyPr/>
                    <a:lstStyle/>
                    <a:p>
                      <a:pPr indent="0" marL="0">
                        <a:buNone/>
                      </a:pPr>
                      <a:r>
                        <a:rPr lang="en-US" sz="1200" b="1" dirty="0">
                          <a:solidFill>
                            <a:srgbClr val="262626"/>
                          </a:solidFill>
                          <a:latin typeface="Arial" pitchFamily="34" charset="0"/>
                          <a:ea typeface="Arial" pitchFamily="34" charset="-122"/>
                          <a:cs typeface="Arial" pitchFamily="34" charset="-120"/>
                        </a:rPr>
                        <a:t>After leaving Damascus</a:t>
                      </a:r>
                      <a:endParaRPr lang="en-US" sz="12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200" dirty="0">
                          <a:solidFill>
                            <a:srgbClr val="262626"/>
                          </a:solidFill>
                          <a:latin typeface="Arial" pitchFamily="34" charset="0"/>
                          <a:ea typeface="Arial" pitchFamily="34" charset="-122"/>
                          <a:cs typeface="Arial" pitchFamily="34" charset="-120"/>
                        </a:rPr>
                        <a:t>9:26–30</a:t>
                      </a:r>
                      <a:endParaRPr lang="en-US" sz="12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200" b="1" dirty="0">
                          <a:solidFill>
                            <a:srgbClr val="7030A0"/>
                          </a:solidFill>
                          <a:latin typeface="Arial" pitchFamily="34" charset="0"/>
                          <a:ea typeface="Arial" pitchFamily="34" charset="-122"/>
                          <a:cs typeface="Arial" pitchFamily="34" charset="-120"/>
                        </a:rPr>
                        <a:t>1:18–20</a:t>
                      </a:r>
                      <a:endParaRPr lang="en-US" sz="12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200" dirty="0">
                          <a:solidFill>
                            <a:srgbClr val="262626"/>
                          </a:solidFill>
                          <a:latin typeface="Arial" pitchFamily="34" charset="0"/>
                          <a:ea typeface="Arial" pitchFamily="34" charset="-122"/>
                          <a:cs typeface="Arial" pitchFamily="34" charset="-120"/>
                        </a:rPr>
                        <a:t>Barnabas brings him to the apostles; he preaches boldly</a:t>
                      </a:r>
                      <a:endParaRPr lang="en-US" sz="12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r>
              <a:tr h="502920">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2E5496"/>
                    </a:solidFill>
                  </a:tcPr>
                </a:tc>
                <a:tc>
                  <a:txBody>
                    <a:bodyPr/>
                    <a:lstStyle/>
                    <a:p>
                      <a:pPr indent="0" marL="0">
                        <a:buNone/>
                      </a:pPr>
                      <a:r>
                        <a:rPr lang="en-US" sz="1200" b="1" dirty="0">
                          <a:solidFill>
                            <a:srgbClr val="262626"/>
                          </a:solidFill>
                          <a:latin typeface="Arial" pitchFamily="34" charset="0"/>
                          <a:ea typeface="Arial" pitchFamily="34" charset="-122"/>
                          <a:cs typeface="Arial" pitchFamily="34" charset="-120"/>
                        </a:rPr>
                        <a:t>The famine visit</a:t>
                      </a:r>
                      <a:endParaRPr lang="en-US" sz="12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indent="0" marL="0">
                        <a:buNone/>
                      </a:pPr>
                      <a:r>
                        <a:rPr lang="en-US" sz="1200" dirty="0">
                          <a:solidFill>
                            <a:srgbClr val="262626"/>
                          </a:solidFill>
                          <a:latin typeface="Arial" pitchFamily="34" charset="0"/>
                          <a:ea typeface="Arial" pitchFamily="34" charset="-122"/>
                          <a:cs typeface="Arial" pitchFamily="34" charset="-120"/>
                        </a:rPr>
                        <a:t>11:27–30</a:t>
                      </a:r>
                      <a:endParaRPr lang="en-US" sz="12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indent="0" marL="0">
                        <a:buNone/>
                      </a:pPr>
                      <a:r>
                        <a:rPr lang="en-US" sz="1200" b="1" dirty="0">
                          <a:solidFill>
                            <a:srgbClr val="7030A0"/>
                          </a:solidFill>
                          <a:latin typeface="Arial" pitchFamily="34" charset="0"/>
                          <a:ea typeface="Arial" pitchFamily="34" charset="-122"/>
                          <a:cs typeface="Arial" pitchFamily="34" charset="-120"/>
                        </a:rPr>
                        <a:t>2:1–10</a:t>
                      </a:r>
                      <a:endParaRPr lang="en-US" sz="12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indent="0" marL="0">
                        <a:buNone/>
                      </a:pPr>
                      <a:r>
                        <a:rPr lang="en-US" sz="1200" dirty="0">
                          <a:solidFill>
                            <a:srgbClr val="262626"/>
                          </a:solidFill>
                          <a:latin typeface="Arial" pitchFamily="34" charset="0"/>
                          <a:ea typeface="Arial" pitchFamily="34" charset="-122"/>
                          <a:cs typeface="Arial" pitchFamily="34" charset="-120"/>
                        </a:rPr>
                        <a:t>Relief from Antioch; Paul discusses his gospel privately</a:t>
                      </a:r>
                      <a:endParaRPr lang="en-US" sz="12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r>
              <a:tr h="502920">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6B7280"/>
                    </a:solidFill>
                  </a:tcPr>
                </a:tc>
                <a:tc>
                  <a:txBody>
                    <a:bodyPr/>
                    <a:lstStyle/>
                    <a:p>
                      <a:pPr indent="0" marL="0">
                        <a:buNone/>
                      </a:pPr>
                      <a:r>
                        <a:rPr lang="en-US" sz="1200" dirty="0">
                          <a:solidFill>
                            <a:srgbClr val="262626"/>
                          </a:solidFill>
                          <a:latin typeface="Arial" pitchFamily="34" charset="0"/>
                          <a:ea typeface="Arial" pitchFamily="34" charset="-122"/>
                          <a:cs typeface="Arial" pitchFamily="34" charset="-120"/>
                        </a:rPr>
                        <a:t>The Jerusalem Council</a:t>
                      </a:r>
                      <a:endParaRPr lang="en-US" sz="12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200" dirty="0">
                          <a:solidFill>
                            <a:srgbClr val="262626"/>
                          </a:solidFill>
                          <a:latin typeface="Arial" pitchFamily="34" charset="0"/>
                          <a:ea typeface="Arial" pitchFamily="34" charset="-122"/>
                          <a:cs typeface="Arial" pitchFamily="34" charset="-120"/>
                        </a:rPr>
                        <a:t>15</a:t>
                      </a:r>
                      <a:endParaRPr lang="en-US" sz="12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200" dirty="0">
                          <a:solidFill>
                            <a:srgbClr val="262626"/>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200" dirty="0">
                          <a:solidFill>
                            <a:srgbClr val="262626"/>
                          </a:solidFill>
                          <a:latin typeface="Arial" pitchFamily="34" charset="0"/>
                          <a:ea typeface="Arial" pitchFamily="34" charset="-122"/>
                          <a:cs typeface="Arial" pitchFamily="34" charset="-120"/>
                        </a:rPr>
                        <a:t>The law-and-grace question settled (A.D. 49/50)</a:t>
                      </a:r>
                      <a:endParaRPr lang="en-US" sz="12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r>
              <a:tr h="502920">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6B7280"/>
                    </a:solidFill>
                  </a:tcPr>
                </a:tc>
                <a:tc>
                  <a:txBody>
                    <a:bodyPr/>
                    <a:lstStyle/>
                    <a:p>
                      <a:pPr indent="0" marL="0">
                        <a:buNone/>
                      </a:pPr>
                      <a:r>
                        <a:rPr lang="en-US" sz="1200" dirty="0">
                          <a:solidFill>
                            <a:srgbClr val="262626"/>
                          </a:solidFill>
                          <a:latin typeface="Arial" pitchFamily="34" charset="0"/>
                          <a:ea typeface="Arial" pitchFamily="34" charset="-122"/>
                          <a:cs typeface="Arial" pitchFamily="34" charset="-120"/>
                        </a:rPr>
                        <a:t>End of the second journey</a:t>
                      </a:r>
                      <a:endParaRPr lang="en-US" sz="12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indent="0" marL="0">
                        <a:buNone/>
                      </a:pPr>
                      <a:r>
                        <a:rPr lang="en-US" sz="1200" dirty="0">
                          <a:solidFill>
                            <a:srgbClr val="262626"/>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indent="0" marL="0">
                        <a:buNone/>
                      </a:pPr>
                      <a:r>
                        <a:rPr lang="en-US" sz="1200" dirty="0">
                          <a:solidFill>
                            <a:srgbClr val="262626"/>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indent="0" marL="0">
                        <a:buNone/>
                      </a:pPr>
                      <a:r>
                        <a:rPr lang="en-US" sz="1200" dirty="0">
                          <a:solidFill>
                            <a:srgbClr val="262626"/>
                          </a:solidFill>
                          <a:latin typeface="Arial" pitchFamily="34" charset="0"/>
                          <a:ea typeface="Arial" pitchFamily="34" charset="-122"/>
                          <a:cs typeface="Arial" pitchFamily="34" charset="-120"/>
                        </a:rPr>
                        <a:t>Greets the church, returns to Antioch</a:t>
                      </a:r>
                      <a:endParaRPr lang="en-US" sz="12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r>
              <a:tr h="502920">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6B7280"/>
                    </a:solidFill>
                  </a:tcPr>
                </a:tc>
                <a:tc>
                  <a:txBody>
                    <a:bodyPr/>
                    <a:lstStyle/>
                    <a:p>
                      <a:pPr indent="0" marL="0">
                        <a:buNone/>
                      </a:pPr>
                      <a:r>
                        <a:rPr lang="en-US" sz="1200" dirty="0">
                          <a:solidFill>
                            <a:srgbClr val="262626"/>
                          </a:solidFill>
                          <a:latin typeface="Arial" pitchFamily="34" charset="0"/>
                          <a:ea typeface="Arial" pitchFamily="34" charset="-122"/>
                          <a:cs typeface="Arial" pitchFamily="34" charset="-120"/>
                        </a:rPr>
                        <a:t>The final visit</a:t>
                      </a:r>
                      <a:endParaRPr lang="en-US" sz="12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200" dirty="0">
                          <a:solidFill>
                            <a:srgbClr val="262626"/>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200" dirty="0">
                          <a:solidFill>
                            <a:srgbClr val="262626"/>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200" dirty="0">
                          <a:solidFill>
                            <a:srgbClr val="262626"/>
                          </a:solidFill>
                          <a:latin typeface="Arial" pitchFamily="34" charset="0"/>
                          <a:ea typeface="Arial" pitchFamily="34" charset="-122"/>
                          <a:cs typeface="Arial" pitchFamily="34" charset="-120"/>
                        </a:rPr>
                        <a:t>Taken in the temple; two years in Caesarea, two in Rome</a:t>
                      </a:r>
                      <a:endParaRPr lang="en-US" sz="12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r>
            </a:tbl>
          </a:graphicData>
        </a:graphic>
      </p:graphicFrame>
      <p:sp>
        <p:nvSpPr>
          <p:cNvPr id="6" name="Shape 2"/>
          <p:cNvSpPr/>
          <p:nvPr/>
        </p:nvSpPr>
        <p:spPr>
          <a:xfrm>
            <a:off x="457200" y="4160520"/>
            <a:ext cx="8229600" cy="438912"/>
          </a:xfrm>
          <a:prstGeom prst="roundRect">
            <a:avLst>
              <a:gd name="adj" fmla="val 12500"/>
            </a:avLst>
          </a:prstGeom>
          <a:solidFill>
            <a:srgbClr val="1F3864"/>
          </a:solidFill>
          <a:ln w="12700">
            <a:solidFill>
              <a:srgbClr val="1F3864"/>
            </a:solidFill>
            <a:prstDash val="solid"/>
          </a:ln>
        </p:spPr>
      </p:sp>
      <p:sp>
        <p:nvSpPr>
          <p:cNvPr id="7" name="Text 3"/>
          <p:cNvSpPr txBox="1"/>
          <p:nvPr/>
        </p:nvSpPr>
        <p:spPr>
          <a:xfrm>
            <a:off x="621792" y="4160520"/>
            <a:ext cx="7900416" cy="438912"/>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Galatians covers visits 1 and 2 only — it was written before visit 3, the council.</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Why 2:1–10 is the famine visit, not the council</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1:20; 2:10 · The commentary's three reasons</a:t>
            </a:r>
            <a:endParaRPr lang="en-US" sz="1200" dirty="0"/>
          </a:p>
        </p:txBody>
      </p:sp>
      <p:sp>
        <p:nvSpPr>
          <p:cNvPr id="5" name="Shape 2"/>
          <p:cNvSpPr/>
          <p:nvPr/>
        </p:nvSpPr>
        <p:spPr>
          <a:xfrm>
            <a:off x="457200" y="1170432"/>
            <a:ext cx="8229600" cy="804672"/>
          </a:xfrm>
          <a:prstGeom prst="rect">
            <a:avLst/>
          </a:prstGeom>
          <a:solidFill>
            <a:srgbClr val="F2F6FC"/>
          </a:solidFill>
          <a:ln w="9525">
            <a:solidFill>
              <a:srgbClr val="D5DCEA"/>
            </a:solidFill>
            <a:prstDash val="solid"/>
          </a:ln>
        </p:spPr>
      </p:sp>
      <p:sp>
        <p:nvSpPr>
          <p:cNvPr id="6" name="Shape 3"/>
          <p:cNvSpPr/>
          <p:nvPr/>
        </p:nvSpPr>
        <p:spPr>
          <a:xfrm>
            <a:off x="594360" y="1344168"/>
            <a:ext cx="457200" cy="457200"/>
          </a:xfrm>
          <a:prstGeom prst="ellipse">
            <a:avLst/>
          </a:prstGeom>
          <a:solidFill>
            <a:srgbClr val="2E5496"/>
          </a:solidFill>
          <a:ln w="12700">
            <a:solidFill>
              <a:srgbClr val="2E5496"/>
            </a:solidFill>
            <a:prstDash val="solid"/>
          </a:ln>
        </p:spPr>
      </p:sp>
      <p:sp>
        <p:nvSpPr>
          <p:cNvPr id="7" name="Text 4"/>
          <p:cNvSpPr txBox="1"/>
          <p:nvPr/>
        </p:nvSpPr>
        <p:spPr>
          <a:xfrm>
            <a:off x="594360" y="13441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5"/>
          <p:cNvSpPr txBox="1"/>
          <p:nvPr/>
        </p:nvSpPr>
        <p:spPr>
          <a:xfrm>
            <a:off x="1234440" y="1170432"/>
            <a:ext cx="5212080" cy="80467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A solemn oath</a:t>
            </a:r>
            <a:endParaRPr lang="en-US" sz="1200" dirty="0"/>
          </a:p>
          <a:p>
            <a:pPr indent="0" marL="0">
              <a:buNone/>
            </a:pPr>
            <a:r>
              <a:rPr lang="en-US" sz="1150" dirty="0">
                <a:solidFill>
                  <a:srgbClr val="262626"/>
                </a:solidFill>
                <a:latin typeface="Arial" pitchFamily="34" charset="0"/>
                <a:ea typeface="Arial" pitchFamily="34" charset="-122"/>
                <a:cs typeface="Arial" pitchFamily="34" charset="-120"/>
              </a:rPr>
              <a:t>“Before God, I do not lie” (1:20). Paul is listing every visit; skipping one would be a lie.</a:t>
            </a:r>
            <a:endParaRPr lang="en-US" sz="1200" dirty="0"/>
          </a:p>
        </p:txBody>
      </p:sp>
      <p:sp>
        <p:nvSpPr>
          <p:cNvPr id="9" name="Text 6"/>
          <p:cNvSpPr txBox="1"/>
          <p:nvPr/>
        </p:nvSpPr>
        <p:spPr>
          <a:xfrm>
            <a:off x="6583680" y="1170432"/>
            <a:ext cx="2011680" cy="804672"/>
          </a:xfrm>
          <a:prstGeom prst="rect">
            <a:avLst/>
          </a:prstGeom>
          <a:noFill/>
          <a:ln/>
        </p:spPr>
        <p:txBody>
          <a:bodyPr wrap="square" lIns="0" tIns="0" rIns="0" bIns="0" rtlCol="0" anchor="ctr"/>
          <a:lstStyle/>
          <a:p>
            <a:pPr indent="0" marL="0">
              <a:buNone/>
            </a:pPr>
            <a:r>
              <a:rPr lang="en-US" sz="1200" b="1" dirty="0">
                <a:solidFill>
                  <a:srgbClr val="7030A0"/>
                </a:solidFill>
                <a:latin typeface="Arial" pitchFamily="34" charset="0"/>
                <a:ea typeface="Arial" pitchFamily="34" charset="-122"/>
                <a:cs typeface="Arial" pitchFamily="34" charset="-120"/>
              </a:rPr>
              <a:t>ψεύδομαι</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to speak falsely · Pres. Ind. 1st Sg.</a:t>
            </a:r>
            <a:endParaRPr lang="en-US" sz="1200" dirty="0"/>
          </a:p>
        </p:txBody>
      </p:sp>
      <p:sp>
        <p:nvSpPr>
          <p:cNvPr id="10" name="Shape 7"/>
          <p:cNvSpPr/>
          <p:nvPr/>
        </p:nvSpPr>
        <p:spPr>
          <a:xfrm>
            <a:off x="457200" y="2084832"/>
            <a:ext cx="8229600" cy="804672"/>
          </a:xfrm>
          <a:prstGeom prst="rect">
            <a:avLst/>
          </a:prstGeom>
          <a:solidFill>
            <a:srgbClr val="FFFFFF"/>
          </a:solidFill>
          <a:ln w="9525">
            <a:solidFill>
              <a:srgbClr val="D5DCEA"/>
            </a:solidFill>
            <a:prstDash val="solid"/>
          </a:ln>
        </p:spPr>
      </p:sp>
      <p:sp>
        <p:nvSpPr>
          <p:cNvPr id="11" name="Shape 8"/>
          <p:cNvSpPr/>
          <p:nvPr/>
        </p:nvSpPr>
        <p:spPr>
          <a:xfrm>
            <a:off x="594360" y="2258568"/>
            <a:ext cx="457200" cy="457200"/>
          </a:xfrm>
          <a:prstGeom prst="ellipse">
            <a:avLst/>
          </a:prstGeom>
          <a:solidFill>
            <a:srgbClr val="2E5496"/>
          </a:solidFill>
          <a:ln w="12700">
            <a:solidFill>
              <a:srgbClr val="2E5496"/>
            </a:solidFill>
            <a:prstDash val="solid"/>
          </a:ln>
        </p:spPr>
      </p:sp>
      <p:sp>
        <p:nvSpPr>
          <p:cNvPr id="12" name="Text 9"/>
          <p:cNvSpPr txBox="1"/>
          <p:nvPr/>
        </p:nvSpPr>
        <p:spPr>
          <a:xfrm>
            <a:off x="594360" y="22585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3" name="Text 10"/>
          <p:cNvSpPr txBox="1"/>
          <p:nvPr/>
        </p:nvSpPr>
        <p:spPr>
          <a:xfrm>
            <a:off x="1234440" y="2084832"/>
            <a:ext cx="5212080" cy="80467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No council letter cited</a:t>
            </a:r>
            <a:endParaRPr lang="en-US" sz="1200" dirty="0"/>
          </a:p>
          <a:p>
            <a:pPr indent="0" marL="0">
              <a:buNone/>
            </a:pPr>
            <a:r>
              <a:rPr lang="en-US" sz="1150" dirty="0">
                <a:solidFill>
                  <a:srgbClr val="262626"/>
                </a:solidFill>
                <a:latin typeface="Arial" pitchFamily="34" charset="0"/>
                <a:ea typeface="Arial" pitchFamily="34" charset="-122"/>
                <a:cs typeface="Arial" pitchFamily="34" charset="-120"/>
              </a:rPr>
              <a:t>Acts 15 ended with a letter to the Gentile churches. Paul would surely have quoted it to settle the matter.</a:t>
            </a:r>
            <a:endParaRPr lang="en-US" sz="1200" dirty="0"/>
          </a:p>
        </p:txBody>
      </p:sp>
      <p:sp>
        <p:nvSpPr>
          <p:cNvPr id="14" name="Shape 11"/>
          <p:cNvSpPr/>
          <p:nvPr/>
        </p:nvSpPr>
        <p:spPr>
          <a:xfrm>
            <a:off x="457200" y="2999232"/>
            <a:ext cx="8229600" cy="804672"/>
          </a:xfrm>
          <a:prstGeom prst="rect">
            <a:avLst/>
          </a:prstGeom>
          <a:solidFill>
            <a:srgbClr val="F2F6FC"/>
          </a:solidFill>
          <a:ln w="9525">
            <a:solidFill>
              <a:srgbClr val="D5DCEA"/>
            </a:solidFill>
            <a:prstDash val="solid"/>
          </a:ln>
        </p:spPr>
      </p:sp>
      <p:sp>
        <p:nvSpPr>
          <p:cNvPr id="15" name="Shape 12"/>
          <p:cNvSpPr/>
          <p:nvPr/>
        </p:nvSpPr>
        <p:spPr>
          <a:xfrm>
            <a:off x="594360" y="3172968"/>
            <a:ext cx="457200" cy="457200"/>
          </a:xfrm>
          <a:prstGeom prst="ellipse">
            <a:avLst/>
          </a:prstGeom>
          <a:solidFill>
            <a:srgbClr val="2E5496"/>
          </a:solidFill>
          <a:ln w="12700">
            <a:solidFill>
              <a:srgbClr val="2E5496"/>
            </a:solidFill>
            <a:prstDash val="solid"/>
          </a:ln>
        </p:spPr>
      </p:sp>
      <p:sp>
        <p:nvSpPr>
          <p:cNvPr id="16" name="Text 13"/>
          <p:cNvSpPr txBox="1"/>
          <p:nvPr/>
        </p:nvSpPr>
        <p:spPr>
          <a:xfrm>
            <a:off x="594360" y="31729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7" name="Text 14"/>
          <p:cNvSpPr txBox="1"/>
          <p:nvPr/>
        </p:nvSpPr>
        <p:spPr>
          <a:xfrm>
            <a:off x="1234440" y="2999232"/>
            <a:ext cx="5212080" cy="80467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Only “remember the poor”</a:t>
            </a:r>
            <a:endParaRPr lang="en-US" sz="1200" dirty="0"/>
          </a:p>
          <a:p>
            <a:pPr indent="0" marL="0">
              <a:buNone/>
            </a:pPr>
            <a:r>
              <a:rPr lang="en-US" sz="1150" dirty="0">
                <a:solidFill>
                  <a:srgbClr val="262626"/>
                </a:solidFill>
                <a:latin typeface="Arial" pitchFamily="34" charset="0"/>
                <a:ea typeface="Arial" pitchFamily="34" charset="-122"/>
                <a:cs typeface="Arial" pitchFamily="34" charset="-120"/>
              </a:rPr>
              <a:t>2:10 says nothing about things strangled or blood — requests in the council's letter.</a:t>
            </a:r>
            <a:endParaRPr lang="en-US" sz="1200" dirty="0"/>
          </a:p>
        </p:txBody>
      </p:sp>
      <p:sp>
        <p:nvSpPr>
          <p:cNvPr id="18" name="Text 15"/>
          <p:cNvSpPr txBox="1"/>
          <p:nvPr/>
        </p:nvSpPr>
        <p:spPr>
          <a:xfrm>
            <a:off x="6583680" y="2999232"/>
            <a:ext cx="2011680" cy="804672"/>
          </a:xfrm>
          <a:prstGeom prst="rect">
            <a:avLst/>
          </a:prstGeom>
          <a:noFill/>
          <a:ln/>
        </p:spPr>
        <p:txBody>
          <a:bodyPr wrap="square" lIns="0" tIns="0" rIns="0" bIns="0" rtlCol="0" anchor="ctr"/>
          <a:lstStyle/>
          <a:p>
            <a:pPr indent="0" marL="0">
              <a:buNone/>
            </a:pPr>
            <a:r>
              <a:rPr lang="en-US" sz="1200" b="1" dirty="0">
                <a:solidFill>
                  <a:srgbClr val="7030A0"/>
                </a:solidFill>
                <a:latin typeface="Arial" pitchFamily="34" charset="0"/>
                <a:ea typeface="Arial" pitchFamily="34" charset="-122"/>
                <a:cs typeface="Arial" pitchFamily="34" charset="-120"/>
              </a:rPr>
              <a:t>πτωχῶν</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the destitute · Gen. Pl.</a:t>
            </a:r>
            <a:endParaRPr lang="en-US" sz="1200" dirty="0"/>
          </a:p>
        </p:txBody>
      </p:sp>
      <p:sp>
        <p:nvSpPr>
          <p:cNvPr id="19" name="Shape 16"/>
          <p:cNvSpPr/>
          <p:nvPr/>
        </p:nvSpPr>
        <p:spPr>
          <a:xfrm>
            <a:off x="457200" y="4023360"/>
            <a:ext cx="8229600" cy="548640"/>
          </a:xfrm>
          <a:prstGeom prst="roundRect">
            <a:avLst>
              <a:gd name="adj" fmla="val 10000"/>
            </a:avLst>
          </a:prstGeom>
          <a:solidFill>
            <a:srgbClr val="1F3864"/>
          </a:solidFill>
          <a:ln w="12700">
            <a:solidFill>
              <a:srgbClr val="1F3864"/>
            </a:solidFill>
            <a:prstDash val="solid"/>
          </a:ln>
        </p:spPr>
      </p:sp>
      <p:sp>
        <p:nvSpPr>
          <p:cNvPr id="20" name="Text 17"/>
          <p:cNvSpPr txBox="1"/>
          <p:nvPr/>
        </p:nvSpPr>
        <p:spPr>
          <a:xfrm>
            <a:off x="621792" y="4023360"/>
            <a:ext cx="7900416" cy="54864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Conclusion: Galatians 2:1–10 is the famine visit of Acts 11:27–30 — A.D. 48, before the council of A.D. 49/50.</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Paul's early travels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1:18–21 · Outline I.A–B</a:t>
            </a:r>
            <a:endParaRPr lang="en-US" sz="1200" dirty="0"/>
          </a:p>
        </p:txBody>
      </p:sp>
      <p:sp>
        <p:nvSpPr>
          <p:cNvPr id="5" name="Shape 2"/>
          <p:cNvSpPr/>
          <p:nvPr/>
        </p:nvSpPr>
        <p:spPr>
          <a:xfrm>
            <a:off x="457200" y="1188720"/>
            <a:ext cx="1481328" cy="1828800"/>
          </a:xfrm>
          <a:prstGeom prst="roundRect">
            <a:avLst>
              <a:gd name="adj" fmla="val 3704"/>
            </a:avLst>
          </a:prstGeom>
          <a:solidFill>
            <a:srgbClr val="F2F6FC"/>
          </a:solidFill>
          <a:ln w="12700">
            <a:solidFill>
              <a:srgbClr val="D5DCEA"/>
            </a:solidFill>
            <a:prstDash val="solid"/>
          </a:ln>
        </p:spPr>
      </p:sp>
      <p:sp>
        <p:nvSpPr>
          <p:cNvPr id="6" name="Shape 3"/>
          <p:cNvSpPr/>
          <p:nvPr/>
        </p:nvSpPr>
        <p:spPr>
          <a:xfrm>
            <a:off x="457200" y="1188720"/>
            <a:ext cx="1481328" cy="566928"/>
          </a:xfrm>
          <a:prstGeom prst="rect">
            <a:avLst/>
          </a:prstGeom>
          <a:solidFill>
            <a:srgbClr val="2E5496"/>
          </a:solidFill>
          <a:ln w="12700">
            <a:solidFill>
              <a:srgbClr val="2E5496"/>
            </a:solidFill>
            <a:prstDash val="solid"/>
          </a:ln>
        </p:spPr>
      </p:sp>
      <p:sp>
        <p:nvSpPr>
          <p:cNvPr id="7" name="Text 4"/>
          <p:cNvSpPr txBox="1"/>
          <p:nvPr/>
        </p:nvSpPr>
        <p:spPr>
          <a:xfrm>
            <a:off x="512064" y="1188720"/>
            <a:ext cx="137160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After three years</a:t>
            </a:r>
            <a:endParaRPr lang="en-US" sz="1100" dirty="0"/>
          </a:p>
        </p:txBody>
      </p:sp>
      <p:sp>
        <p:nvSpPr>
          <p:cNvPr id="8" name="Text 5"/>
          <p:cNvSpPr txBox="1"/>
          <p:nvPr/>
        </p:nvSpPr>
        <p:spPr>
          <a:xfrm>
            <a:off x="548640" y="1828800"/>
            <a:ext cx="1298448" cy="822960"/>
          </a:xfrm>
          <a:prstGeom prst="rect">
            <a:avLst/>
          </a:prstGeom>
          <a:noFill/>
          <a:ln/>
        </p:spPr>
        <p:txBody>
          <a:bodyPr wrap="square" lIns="0" tIns="0" rIns="0" bIns="0" rtlCol="0" anchor="t"/>
          <a:lstStyle/>
          <a:p>
            <a:pPr algn="ctr" indent="0" marL="0">
              <a:buNone/>
            </a:pPr>
            <a:r>
              <a:rPr lang="en-US" sz="1100" dirty="0">
                <a:solidFill>
                  <a:srgbClr val="262626"/>
                </a:solidFill>
                <a:latin typeface="Arial" pitchFamily="34" charset="0"/>
                <a:ea typeface="Arial" pitchFamily="34" charset="-122"/>
                <a:cs typeface="Arial" pitchFamily="34" charset="-120"/>
              </a:rPr>
              <a:t>Up to Jerusalem to see Peter; only James besides</a:t>
            </a:r>
            <a:endParaRPr lang="en-US" sz="1100" dirty="0"/>
          </a:p>
        </p:txBody>
      </p:sp>
      <p:sp>
        <p:nvSpPr>
          <p:cNvPr id="9" name="Text 6"/>
          <p:cNvSpPr txBox="1"/>
          <p:nvPr/>
        </p:nvSpPr>
        <p:spPr>
          <a:xfrm>
            <a:off x="548640" y="2670048"/>
            <a:ext cx="1298448"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1:18–19</a:t>
            </a:r>
            <a:endParaRPr lang="en-US" sz="950" dirty="0"/>
          </a:p>
        </p:txBody>
      </p:sp>
      <p:sp>
        <p:nvSpPr>
          <p:cNvPr id="10" name="Shape 7"/>
          <p:cNvSpPr/>
          <p:nvPr/>
        </p:nvSpPr>
        <p:spPr>
          <a:xfrm>
            <a:off x="1947672" y="1984248"/>
            <a:ext cx="192024" cy="237744"/>
          </a:xfrm>
          <a:prstGeom prst="rightArrow">
            <a:avLst/>
          </a:prstGeom>
          <a:solidFill>
            <a:srgbClr val="6B7280"/>
          </a:solidFill>
          <a:ln w="12700">
            <a:solidFill>
              <a:srgbClr val="6B7280"/>
            </a:solidFill>
            <a:prstDash val="solid"/>
          </a:ln>
        </p:spPr>
      </p:sp>
      <p:sp>
        <p:nvSpPr>
          <p:cNvPr id="11" name="Shape 8"/>
          <p:cNvSpPr/>
          <p:nvPr/>
        </p:nvSpPr>
        <p:spPr>
          <a:xfrm>
            <a:off x="2148840" y="1188720"/>
            <a:ext cx="1481328" cy="1828800"/>
          </a:xfrm>
          <a:prstGeom prst="roundRect">
            <a:avLst>
              <a:gd name="adj" fmla="val 3704"/>
            </a:avLst>
          </a:prstGeom>
          <a:solidFill>
            <a:srgbClr val="F2F6FC"/>
          </a:solidFill>
          <a:ln w="12700">
            <a:solidFill>
              <a:srgbClr val="D5DCEA"/>
            </a:solidFill>
            <a:prstDash val="solid"/>
          </a:ln>
        </p:spPr>
      </p:sp>
      <p:sp>
        <p:nvSpPr>
          <p:cNvPr id="12" name="Shape 9"/>
          <p:cNvSpPr/>
          <p:nvPr/>
        </p:nvSpPr>
        <p:spPr>
          <a:xfrm>
            <a:off x="2148840" y="1188720"/>
            <a:ext cx="1481328" cy="566928"/>
          </a:xfrm>
          <a:prstGeom prst="rect">
            <a:avLst/>
          </a:prstGeom>
          <a:solidFill>
            <a:srgbClr val="2E5496"/>
          </a:solidFill>
          <a:ln w="12700">
            <a:solidFill>
              <a:srgbClr val="2E5496"/>
            </a:solidFill>
            <a:prstDash val="solid"/>
          </a:ln>
        </p:spPr>
      </p:sp>
      <p:sp>
        <p:nvSpPr>
          <p:cNvPr id="13" name="Text 10"/>
          <p:cNvSpPr txBox="1"/>
          <p:nvPr/>
        </p:nvSpPr>
        <p:spPr>
          <a:xfrm>
            <a:off x="2203704" y="1188720"/>
            <a:ext cx="137160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Barnabas vouches</a:t>
            </a:r>
            <a:endParaRPr lang="en-US" sz="1100" dirty="0"/>
          </a:p>
        </p:txBody>
      </p:sp>
      <p:sp>
        <p:nvSpPr>
          <p:cNvPr id="14" name="Text 11"/>
          <p:cNvSpPr txBox="1"/>
          <p:nvPr/>
        </p:nvSpPr>
        <p:spPr>
          <a:xfrm>
            <a:off x="2240280" y="1828800"/>
            <a:ext cx="1298448" cy="822960"/>
          </a:xfrm>
          <a:prstGeom prst="rect">
            <a:avLst/>
          </a:prstGeom>
          <a:noFill/>
          <a:ln/>
        </p:spPr>
        <p:txBody>
          <a:bodyPr wrap="square" lIns="0" tIns="0" rIns="0" bIns="0" rtlCol="0" anchor="t"/>
          <a:lstStyle/>
          <a:p>
            <a:pPr algn="ctr" indent="0" marL="0">
              <a:buNone/>
            </a:pPr>
            <a:r>
              <a:rPr lang="en-US" sz="1100" dirty="0">
                <a:solidFill>
                  <a:srgbClr val="262626"/>
                </a:solidFill>
                <a:latin typeface="Arial" pitchFamily="34" charset="0"/>
                <a:ea typeface="Arial" pitchFamily="34" charset="-122"/>
                <a:cs typeface="Arial" pitchFamily="34" charset="-120"/>
              </a:rPr>
              <a:t>The disciples were afraid; Barnabas brings him to the apostles</a:t>
            </a:r>
            <a:endParaRPr lang="en-US" sz="1100" dirty="0"/>
          </a:p>
        </p:txBody>
      </p:sp>
      <p:sp>
        <p:nvSpPr>
          <p:cNvPr id="15" name="Text 12"/>
          <p:cNvSpPr txBox="1"/>
          <p:nvPr/>
        </p:nvSpPr>
        <p:spPr>
          <a:xfrm>
            <a:off x="2240280" y="2670048"/>
            <a:ext cx="1298448"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Acts 9:26–28</a:t>
            </a:r>
            <a:endParaRPr lang="en-US" sz="950" dirty="0"/>
          </a:p>
        </p:txBody>
      </p:sp>
      <p:sp>
        <p:nvSpPr>
          <p:cNvPr id="16" name="Shape 13"/>
          <p:cNvSpPr/>
          <p:nvPr/>
        </p:nvSpPr>
        <p:spPr>
          <a:xfrm>
            <a:off x="3639312" y="1984248"/>
            <a:ext cx="192024" cy="237744"/>
          </a:xfrm>
          <a:prstGeom prst="rightArrow">
            <a:avLst/>
          </a:prstGeom>
          <a:solidFill>
            <a:srgbClr val="6B7280"/>
          </a:solidFill>
          <a:ln w="12700">
            <a:solidFill>
              <a:srgbClr val="6B7280"/>
            </a:solidFill>
            <a:prstDash val="solid"/>
          </a:ln>
        </p:spPr>
      </p:sp>
      <p:sp>
        <p:nvSpPr>
          <p:cNvPr id="17" name="Shape 14"/>
          <p:cNvSpPr/>
          <p:nvPr/>
        </p:nvSpPr>
        <p:spPr>
          <a:xfrm>
            <a:off x="3840480" y="1188720"/>
            <a:ext cx="1481328" cy="1828800"/>
          </a:xfrm>
          <a:prstGeom prst="roundRect">
            <a:avLst>
              <a:gd name="adj" fmla="val 3704"/>
            </a:avLst>
          </a:prstGeom>
          <a:solidFill>
            <a:srgbClr val="F2F6FC"/>
          </a:solidFill>
          <a:ln w="12700">
            <a:solidFill>
              <a:srgbClr val="D5DCEA"/>
            </a:solidFill>
            <a:prstDash val="solid"/>
          </a:ln>
        </p:spPr>
      </p:sp>
      <p:sp>
        <p:nvSpPr>
          <p:cNvPr id="18" name="Shape 15"/>
          <p:cNvSpPr/>
          <p:nvPr/>
        </p:nvSpPr>
        <p:spPr>
          <a:xfrm>
            <a:off x="3840480" y="1188720"/>
            <a:ext cx="1481328" cy="566928"/>
          </a:xfrm>
          <a:prstGeom prst="rect">
            <a:avLst/>
          </a:prstGeom>
          <a:solidFill>
            <a:srgbClr val="6B7280"/>
          </a:solidFill>
          <a:ln w="12700">
            <a:solidFill>
              <a:srgbClr val="6B7280"/>
            </a:solidFill>
            <a:prstDash val="solid"/>
          </a:ln>
        </p:spPr>
      </p:sp>
      <p:sp>
        <p:nvSpPr>
          <p:cNvPr id="19" name="Text 16"/>
          <p:cNvSpPr txBox="1"/>
          <p:nvPr/>
        </p:nvSpPr>
        <p:spPr>
          <a:xfrm>
            <a:off x="3895344" y="1188720"/>
            <a:ext cx="137160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Disputes with Hellenists</a:t>
            </a:r>
            <a:endParaRPr lang="en-US" sz="1100" dirty="0"/>
          </a:p>
        </p:txBody>
      </p:sp>
      <p:sp>
        <p:nvSpPr>
          <p:cNvPr id="20" name="Text 17"/>
          <p:cNvSpPr txBox="1"/>
          <p:nvPr/>
        </p:nvSpPr>
        <p:spPr>
          <a:xfrm>
            <a:off x="3931920" y="1828800"/>
            <a:ext cx="1298448" cy="822960"/>
          </a:xfrm>
          <a:prstGeom prst="rect">
            <a:avLst/>
          </a:prstGeom>
          <a:noFill/>
          <a:ln/>
        </p:spPr>
        <p:txBody>
          <a:bodyPr wrap="square" lIns="0" tIns="0" rIns="0" bIns="0" rtlCol="0" anchor="t"/>
          <a:lstStyle/>
          <a:p>
            <a:pPr algn="ctr" indent="0" marL="0">
              <a:buNone/>
            </a:pPr>
            <a:r>
              <a:rPr lang="en-US" sz="1100" dirty="0">
                <a:solidFill>
                  <a:srgbClr val="262626"/>
                </a:solidFill>
                <a:latin typeface="Arial" pitchFamily="34" charset="0"/>
                <a:ea typeface="Arial" pitchFamily="34" charset="-122"/>
                <a:cs typeface="Arial" pitchFamily="34" charset="-120"/>
              </a:rPr>
              <a:t>As Stephen had — and they seek to kill him</a:t>
            </a:r>
            <a:endParaRPr lang="en-US" sz="1100" dirty="0"/>
          </a:p>
        </p:txBody>
      </p:sp>
      <p:sp>
        <p:nvSpPr>
          <p:cNvPr id="21" name="Text 18"/>
          <p:cNvSpPr txBox="1"/>
          <p:nvPr/>
        </p:nvSpPr>
        <p:spPr>
          <a:xfrm>
            <a:off x="3931920" y="2670048"/>
            <a:ext cx="1298448"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Acts 9:29</a:t>
            </a:r>
            <a:endParaRPr lang="en-US" sz="950" dirty="0"/>
          </a:p>
        </p:txBody>
      </p:sp>
      <p:sp>
        <p:nvSpPr>
          <p:cNvPr id="22" name="Shape 19"/>
          <p:cNvSpPr/>
          <p:nvPr/>
        </p:nvSpPr>
        <p:spPr>
          <a:xfrm>
            <a:off x="5330952" y="1984248"/>
            <a:ext cx="192024" cy="237744"/>
          </a:xfrm>
          <a:prstGeom prst="rightArrow">
            <a:avLst/>
          </a:prstGeom>
          <a:solidFill>
            <a:srgbClr val="6B7280"/>
          </a:solidFill>
          <a:ln w="12700">
            <a:solidFill>
              <a:srgbClr val="6B7280"/>
            </a:solidFill>
            <a:prstDash val="solid"/>
          </a:ln>
        </p:spPr>
      </p:sp>
      <p:sp>
        <p:nvSpPr>
          <p:cNvPr id="23" name="Shape 20"/>
          <p:cNvSpPr/>
          <p:nvPr/>
        </p:nvSpPr>
        <p:spPr>
          <a:xfrm>
            <a:off x="5532120" y="1188720"/>
            <a:ext cx="1481328" cy="1828800"/>
          </a:xfrm>
          <a:prstGeom prst="roundRect">
            <a:avLst>
              <a:gd name="adj" fmla="val 3704"/>
            </a:avLst>
          </a:prstGeom>
          <a:solidFill>
            <a:srgbClr val="F2F6FC"/>
          </a:solidFill>
          <a:ln w="12700">
            <a:solidFill>
              <a:srgbClr val="D5DCEA"/>
            </a:solidFill>
            <a:prstDash val="solid"/>
          </a:ln>
        </p:spPr>
      </p:sp>
      <p:sp>
        <p:nvSpPr>
          <p:cNvPr id="24" name="Shape 21"/>
          <p:cNvSpPr/>
          <p:nvPr/>
        </p:nvSpPr>
        <p:spPr>
          <a:xfrm>
            <a:off x="5532120" y="1188720"/>
            <a:ext cx="1481328" cy="566928"/>
          </a:xfrm>
          <a:prstGeom prst="rect">
            <a:avLst/>
          </a:prstGeom>
          <a:solidFill>
            <a:srgbClr val="6B7280"/>
          </a:solidFill>
          <a:ln w="12700">
            <a:solidFill>
              <a:srgbClr val="6B7280"/>
            </a:solidFill>
            <a:prstDash val="solid"/>
          </a:ln>
        </p:spPr>
      </p:sp>
      <p:sp>
        <p:nvSpPr>
          <p:cNvPr id="25" name="Text 22"/>
          <p:cNvSpPr txBox="1"/>
          <p:nvPr/>
        </p:nvSpPr>
        <p:spPr>
          <a:xfrm>
            <a:off x="5586984" y="1188720"/>
            <a:ext cx="137160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Sent away</a:t>
            </a:r>
            <a:endParaRPr lang="en-US" sz="1100" dirty="0"/>
          </a:p>
        </p:txBody>
      </p:sp>
      <p:sp>
        <p:nvSpPr>
          <p:cNvPr id="26" name="Text 23"/>
          <p:cNvSpPr txBox="1"/>
          <p:nvPr/>
        </p:nvSpPr>
        <p:spPr>
          <a:xfrm>
            <a:off x="5623560" y="1828800"/>
            <a:ext cx="1298448" cy="822960"/>
          </a:xfrm>
          <a:prstGeom prst="rect">
            <a:avLst/>
          </a:prstGeom>
          <a:noFill/>
          <a:ln/>
        </p:spPr>
        <p:txBody>
          <a:bodyPr wrap="square" lIns="0" tIns="0" rIns="0" bIns="0" rtlCol="0" anchor="t"/>
          <a:lstStyle/>
          <a:p>
            <a:pPr algn="ctr" indent="0" marL="0">
              <a:buNone/>
            </a:pPr>
            <a:r>
              <a:rPr lang="en-US" sz="1100" dirty="0">
                <a:solidFill>
                  <a:srgbClr val="262626"/>
                </a:solidFill>
                <a:latin typeface="Arial" pitchFamily="34" charset="0"/>
                <a:ea typeface="Arial" pitchFamily="34" charset="-122"/>
                <a:cs typeface="Arial" pitchFamily="34" charset="-120"/>
              </a:rPr>
              <a:t>Down to Caesarea and off to Tarsus</a:t>
            </a:r>
            <a:endParaRPr lang="en-US" sz="1100" dirty="0"/>
          </a:p>
        </p:txBody>
      </p:sp>
      <p:sp>
        <p:nvSpPr>
          <p:cNvPr id="27" name="Text 24"/>
          <p:cNvSpPr txBox="1"/>
          <p:nvPr/>
        </p:nvSpPr>
        <p:spPr>
          <a:xfrm>
            <a:off x="5623560" y="2670048"/>
            <a:ext cx="1298448"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Acts 9:30</a:t>
            </a:r>
            <a:endParaRPr lang="en-US" sz="950" dirty="0"/>
          </a:p>
        </p:txBody>
      </p:sp>
      <p:sp>
        <p:nvSpPr>
          <p:cNvPr id="28" name="Shape 25"/>
          <p:cNvSpPr/>
          <p:nvPr/>
        </p:nvSpPr>
        <p:spPr>
          <a:xfrm>
            <a:off x="7022592" y="1984248"/>
            <a:ext cx="192024" cy="237744"/>
          </a:xfrm>
          <a:prstGeom prst="rightArrow">
            <a:avLst/>
          </a:prstGeom>
          <a:solidFill>
            <a:srgbClr val="6B7280"/>
          </a:solidFill>
          <a:ln w="12700">
            <a:solidFill>
              <a:srgbClr val="6B7280"/>
            </a:solidFill>
            <a:prstDash val="solid"/>
          </a:ln>
        </p:spPr>
      </p:sp>
      <p:sp>
        <p:nvSpPr>
          <p:cNvPr id="29" name="Shape 26"/>
          <p:cNvSpPr/>
          <p:nvPr/>
        </p:nvSpPr>
        <p:spPr>
          <a:xfrm>
            <a:off x="7223760" y="1188720"/>
            <a:ext cx="1481328" cy="1828800"/>
          </a:xfrm>
          <a:prstGeom prst="roundRect">
            <a:avLst>
              <a:gd name="adj" fmla="val 3704"/>
            </a:avLst>
          </a:prstGeom>
          <a:solidFill>
            <a:srgbClr val="F2F6FC"/>
          </a:solidFill>
          <a:ln w="12700">
            <a:solidFill>
              <a:srgbClr val="D5DCEA"/>
            </a:solidFill>
            <a:prstDash val="solid"/>
          </a:ln>
        </p:spPr>
      </p:sp>
      <p:sp>
        <p:nvSpPr>
          <p:cNvPr id="30" name="Shape 27"/>
          <p:cNvSpPr/>
          <p:nvPr/>
        </p:nvSpPr>
        <p:spPr>
          <a:xfrm>
            <a:off x="7223760" y="1188720"/>
            <a:ext cx="1481328" cy="566928"/>
          </a:xfrm>
          <a:prstGeom prst="rect">
            <a:avLst/>
          </a:prstGeom>
          <a:solidFill>
            <a:srgbClr val="375623"/>
          </a:solidFill>
          <a:ln w="12700">
            <a:solidFill>
              <a:srgbClr val="375623"/>
            </a:solidFill>
            <a:prstDash val="solid"/>
          </a:ln>
        </p:spPr>
      </p:sp>
      <p:sp>
        <p:nvSpPr>
          <p:cNvPr id="31" name="Text 28"/>
          <p:cNvSpPr txBox="1"/>
          <p:nvPr/>
        </p:nvSpPr>
        <p:spPr>
          <a:xfrm>
            <a:off x="7278624" y="1188720"/>
            <a:ext cx="137160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Syria and Cilicia</a:t>
            </a:r>
            <a:endParaRPr lang="en-US" sz="1100" dirty="0"/>
          </a:p>
        </p:txBody>
      </p:sp>
      <p:sp>
        <p:nvSpPr>
          <p:cNvPr id="32" name="Text 29"/>
          <p:cNvSpPr txBox="1"/>
          <p:nvPr/>
        </p:nvSpPr>
        <p:spPr>
          <a:xfrm>
            <a:off x="7315200" y="1828800"/>
            <a:ext cx="1298448" cy="822960"/>
          </a:xfrm>
          <a:prstGeom prst="rect">
            <a:avLst/>
          </a:prstGeom>
          <a:noFill/>
          <a:ln/>
        </p:spPr>
        <p:txBody>
          <a:bodyPr wrap="square" lIns="0" tIns="0" rIns="0" bIns="0" rtlCol="0" anchor="t"/>
          <a:lstStyle/>
          <a:p>
            <a:pPr algn="ctr" indent="0" marL="0">
              <a:buNone/>
            </a:pPr>
            <a:r>
              <a:rPr lang="en-US" sz="1100" dirty="0">
                <a:solidFill>
                  <a:srgbClr val="262626"/>
                </a:solidFill>
                <a:latin typeface="Arial" pitchFamily="34" charset="0"/>
                <a:ea typeface="Arial" pitchFamily="34" charset="-122"/>
                <a:cs typeface="Arial" pitchFamily="34" charset="-120"/>
              </a:rPr>
              <a:t>Ministry in his home region</a:t>
            </a:r>
            <a:endParaRPr lang="en-US" sz="1100" dirty="0"/>
          </a:p>
        </p:txBody>
      </p:sp>
      <p:sp>
        <p:nvSpPr>
          <p:cNvPr id="33" name="Text 30"/>
          <p:cNvSpPr txBox="1"/>
          <p:nvPr/>
        </p:nvSpPr>
        <p:spPr>
          <a:xfrm>
            <a:off x="7315200" y="2670048"/>
            <a:ext cx="1298448"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1:21</a:t>
            </a:r>
            <a:endParaRPr lang="en-US" sz="950" dirty="0"/>
          </a:p>
        </p:txBody>
      </p:sp>
      <p:sp>
        <p:nvSpPr>
          <p:cNvPr id="34" name="Shape 31"/>
          <p:cNvSpPr/>
          <p:nvPr/>
        </p:nvSpPr>
        <p:spPr>
          <a:xfrm>
            <a:off x="457200" y="3200400"/>
            <a:ext cx="4023360" cy="566928"/>
          </a:xfrm>
          <a:prstGeom prst="rect">
            <a:avLst/>
          </a:prstGeom>
          <a:solidFill>
            <a:srgbClr val="2E5496"/>
          </a:solidFill>
          <a:ln w="12700">
            <a:solidFill>
              <a:srgbClr val="2E5496"/>
            </a:solidFill>
            <a:prstDash val="solid"/>
          </a:ln>
        </p:spPr>
      </p:sp>
      <p:sp>
        <p:nvSpPr>
          <p:cNvPr id="35" name="Text 32"/>
          <p:cNvSpPr txBox="1"/>
          <p:nvPr/>
        </p:nvSpPr>
        <p:spPr>
          <a:xfrm>
            <a:off x="548640" y="3246120"/>
            <a:ext cx="3840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“to see Peter” — v.18</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ἱστορῆσαι</a:t>
            </a:r>
            <a:pPr indent="0" marL="0">
              <a:buNone/>
            </a:pPr>
            <a:r>
              <a:rPr lang="en-US" sz="850" dirty="0">
                <a:solidFill>
                  <a:srgbClr val="DCE4F2"/>
                </a:solidFill>
                <a:latin typeface="Arial" pitchFamily="34" charset="0"/>
                <a:ea typeface="Arial" pitchFamily="34" charset="-122"/>
                <a:cs typeface="Arial" pitchFamily="34" charset="-120"/>
              </a:rPr>
              <a:t>  Aor. Act. Inf.</a:t>
            </a:r>
            <a:endParaRPr lang="en-US" sz="1200" dirty="0"/>
          </a:p>
        </p:txBody>
      </p:sp>
      <p:sp>
        <p:nvSpPr>
          <p:cNvPr id="36" name="Shape 33"/>
          <p:cNvSpPr/>
          <p:nvPr/>
        </p:nvSpPr>
        <p:spPr>
          <a:xfrm>
            <a:off x="457200" y="3767328"/>
            <a:ext cx="4023360" cy="850392"/>
          </a:xfrm>
          <a:prstGeom prst="rect">
            <a:avLst/>
          </a:prstGeom>
          <a:solidFill>
            <a:srgbClr val="F2F6FC"/>
          </a:solidFill>
          <a:ln w="9525">
            <a:solidFill>
              <a:srgbClr val="D5DCEA"/>
            </a:solidFill>
            <a:prstDash val="solid"/>
          </a:ln>
        </p:spPr>
      </p:sp>
      <p:sp>
        <p:nvSpPr>
          <p:cNvPr id="37" name="Text 34"/>
          <p:cNvSpPr txBox="1"/>
          <p:nvPr/>
        </p:nvSpPr>
        <p:spPr>
          <a:xfrm>
            <a:off x="548640" y="3840480"/>
            <a:ext cx="3840480" cy="722376"/>
          </a:xfrm>
          <a:prstGeom prst="rect">
            <a:avLst/>
          </a:prstGeom>
          <a:noFill/>
          <a:ln/>
        </p:spPr>
        <p:txBody>
          <a:bodyPr wrap="square" lIns="0" tIns="0" rIns="0" bIns="0" rtlCol="0" anchor="t"/>
          <a:lstStyle/>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To visit and become acquainted — not to be taught</a:t>
            </a:r>
            <a:endParaRPr lang="en-US" sz="1100" dirty="0"/>
          </a:p>
        </p:txBody>
      </p:sp>
      <p:sp>
        <p:nvSpPr>
          <p:cNvPr id="38" name="Shape 35"/>
          <p:cNvSpPr/>
          <p:nvPr/>
        </p:nvSpPr>
        <p:spPr>
          <a:xfrm>
            <a:off x="4663440" y="3200400"/>
            <a:ext cx="4023360" cy="566928"/>
          </a:xfrm>
          <a:prstGeom prst="rect">
            <a:avLst/>
          </a:prstGeom>
          <a:solidFill>
            <a:srgbClr val="2E5496"/>
          </a:solidFill>
          <a:ln w="12700">
            <a:solidFill>
              <a:srgbClr val="2E5496"/>
            </a:solidFill>
            <a:prstDash val="solid"/>
          </a:ln>
        </p:spPr>
      </p:sp>
      <p:sp>
        <p:nvSpPr>
          <p:cNvPr id="39" name="Text 36"/>
          <p:cNvSpPr txBox="1"/>
          <p:nvPr/>
        </p:nvSpPr>
        <p:spPr>
          <a:xfrm>
            <a:off x="4754880" y="3246120"/>
            <a:ext cx="3840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“before God, I do not lie” — v.20</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ψεύδομαι</a:t>
            </a:r>
            <a:pPr indent="0" marL="0">
              <a:buNone/>
            </a:pPr>
            <a:r>
              <a:rPr lang="en-US" sz="850" dirty="0">
                <a:solidFill>
                  <a:srgbClr val="DCE4F2"/>
                </a:solidFill>
                <a:latin typeface="Arial" pitchFamily="34" charset="0"/>
                <a:ea typeface="Arial" pitchFamily="34" charset="-122"/>
                <a:cs typeface="Arial" pitchFamily="34" charset="-120"/>
              </a:rPr>
              <a:t>  Pres. Ind. 1st Sg.</a:t>
            </a:r>
            <a:endParaRPr lang="en-US" sz="1200" dirty="0"/>
          </a:p>
        </p:txBody>
      </p:sp>
      <p:sp>
        <p:nvSpPr>
          <p:cNvPr id="40" name="Shape 37"/>
          <p:cNvSpPr/>
          <p:nvPr/>
        </p:nvSpPr>
        <p:spPr>
          <a:xfrm>
            <a:off x="4663440" y="3767328"/>
            <a:ext cx="4023360" cy="850392"/>
          </a:xfrm>
          <a:prstGeom prst="rect">
            <a:avLst/>
          </a:prstGeom>
          <a:solidFill>
            <a:srgbClr val="F2F6FC"/>
          </a:solidFill>
          <a:ln w="9525">
            <a:solidFill>
              <a:srgbClr val="D5DCEA"/>
            </a:solidFill>
            <a:prstDash val="solid"/>
          </a:ln>
        </p:spPr>
      </p:sp>
      <p:sp>
        <p:nvSpPr>
          <p:cNvPr id="41" name="Text 38"/>
          <p:cNvSpPr txBox="1"/>
          <p:nvPr/>
        </p:nvSpPr>
        <p:spPr>
          <a:xfrm>
            <a:off x="4754880" y="3840480"/>
            <a:ext cx="3840480" cy="722376"/>
          </a:xfrm>
          <a:prstGeom prst="rect">
            <a:avLst/>
          </a:prstGeom>
          <a:noFill/>
          <a:ln/>
        </p:spPr>
        <p:txBody>
          <a:bodyPr wrap="square" lIns="0" tIns="0" rIns="0" bIns="0" rtlCol="0" anchor="t"/>
          <a:lstStyle/>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A solemn oath: this account of his visits is complete</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How the Judean churches responded</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1:22–24 · Outline I.C</a:t>
            </a:r>
            <a:endParaRPr lang="en-US" sz="1200" dirty="0"/>
          </a:p>
        </p:txBody>
      </p:sp>
      <p:sp>
        <p:nvSpPr>
          <p:cNvPr id="5" name="Shape 2"/>
          <p:cNvSpPr/>
          <p:nvPr/>
        </p:nvSpPr>
        <p:spPr>
          <a:xfrm>
            <a:off x="457200" y="1188720"/>
            <a:ext cx="2615184" cy="566928"/>
          </a:xfrm>
          <a:prstGeom prst="rect">
            <a:avLst/>
          </a:prstGeom>
          <a:solidFill>
            <a:srgbClr val="6B7280"/>
          </a:solidFill>
          <a:ln w="12700">
            <a:solidFill>
              <a:srgbClr val="6B7280"/>
            </a:solidFill>
            <a:prstDash val="solid"/>
          </a:ln>
        </p:spPr>
      </p:sp>
      <p:sp>
        <p:nvSpPr>
          <p:cNvPr id="6" name="Text 3"/>
          <p:cNvSpPr txBox="1"/>
          <p:nvPr/>
        </p:nvSpPr>
        <p:spPr>
          <a:xfrm>
            <a:off x="548640" y="1234440"/>
            <a:ext cx="2432304"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They did not know him  ·  v.22</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ἀγνοούμενος</a:t>
            </a:r>
            <a:pPr indent="0" marL="0">
              <a:buNone/>
            </a:pPr>
            <a:r>
              <a:rPr lang="en-US" sz="850" dirty="0">
                <a:solidFill>
                  <a:srgbClr val="DCE4F2"/>
                </a:solidFill>
                <a:latin typeface="Arial" pitchFamily="34" charset="0"/>
                <a:ea typeface="Arial" pitchFamily="34" charset="-122"/>
                <a:cs typeface="Arial" pitchFamily="34" charset="-120"/>
              </a:rPr>
              <a:t>  Pres. Pass. Ptc.</a:t>
            </a:r>
            <a:endParaRPr lang="en-US" sz="1200" dirty="0"/>
          </a:p>
        </p:txBody>
      </p:sp>
      <p:sp>
        <p:nvSpPr>
          <p:cNvPr id="7" name="Shape 4"/>
          <p:cNvSpPr/>
          <p:nvPr/>
        </p:nvSpPr>
        <p:spPr>
          <a:xfrm>
            <a:off x="457200" y="1755648"/>
            <a:ext cx="2615184" cy="2039112"/>
          </a:xfrm>
          <a:prstGeom prst="rect">
            <a:avLst/>
          </a:prstGeom>
          <a:solidFill>
            <a:srgbClr val="F2F6FC"/>
          </a:solidFill>
          <a:ln w="9525">
            <a:solidFill>
              <a:srgbClr val="D5DCEA"/>
            </a:solidFill>
            <a:prstDash val="solid"/>
          </a:ln>
        </p:spPr>
      </p:sp>
      <p:sp>
        <p:nvSpPr>
          <p:cNvPr id="8" name="Text 5"/>
          <p:cNvSpPr txBox="1"/>
          <p:nvPr/>
        </p:nvSpPr>
        <p:spPr>
          <a:xfrm>
            <a:off x="548640" y="1828800"/>
            <a:ext cx="2432304" cy="191109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“unknown by face to the churches of Judea” — a stranger by sight</a:t>
            </a:r>
            <a:endParaRPr lang="en-US" sz="1200" dirty="0"/>
          </a:p>
        </p:txBody>
      </p:sp>
      <p:sp>
        <p:nvSpPr>
          <p:cNvPr id="9" name="Shape 6"/>
          <p:cNvSpPr/>
          <p:nvPr/>
        </p:nvSpPr>
        <p:spPr>
          <a:xfrm>
            <a:off x="3264408" y="1188720"/>
            <a:ext cx="2615184" cy="365760"/>
          </a:xfrm>
          <a:prstGeom prst="rect">
            <a:avLst/>
          </a:prstGeom>
          <a:solidFill>
            <a:srgbClr val="2E5496"/>
          </a:solidFill>
          <a:ln w="12700">
            <a:solidFill>
              <a:srgbClr val="2E5496"/>
            </a:solidFill>
            <a:prstDash val="solid"/>
          </a:ln>
        </p:spPr>
      </p:sp>
      <p:sp>
        <p:nvSpPr>
          <p:cNvPr id="10" name="Text 7"/>
          <p:cNvSpPr txBox="1"/>
          <p:nvPr/>
        </p:nvSpPr>
        <p:spPr>
          <a:xfrm>
            <a:off x="3355848" y="1234440"/>
            <a:ext cx="2432304"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They heard  ·  v.23</a:t>
            </a:r>
            <a:endParaRPr lang="en-US" sz="1200" dirty="0"/>
          </a:p>
        </p:txBody>
      </p:sp>
      <p:sp>
        <p:nvSpPr>
          <p:cNvPr id="11" name="Shape 8"/>
          <p:cNvSpPr/>
          <p:nvPr/>
        </p:nvSpPr>
        <p:spPr>
          <a:xfrm>
            <a:off x="3264408" y="1554480"/>
            <a:ext cx="2615184" cy="2240280"/>
          </a:xfrm>
          <a:prstGeom prst="rect">
            <a:avLst/>
          </a:prstGeom>
          <a:solidFill>
            <a:srgbClr val="F2F6FC"/>
          </a:solidFill>
          <a:ln w="9525">
            <a:solidFill>
              <a:srgbClr val="D5DCEA"/>
            </a:solidFill>
            <a:prstDash val="solid"/>
          </a:ln>
        </p:spPr>
      </p:sp>
      <p:sp>
        <p:nvSpPr>
          <p:cNvPr id="12" name="Text 9"/>
          <p:cNvSpPr txBox="1"/>
          <p:nvPr/>
        </p:nvSpPr>
        <p:spPr>
          <a:xfrm>
            <a:off x="3355848" y="1627632"/>
            <a:ext cx="2432304" cy="2112264"/>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“He who formerly persecuted us now preaches the faith which he once tried to destroy”</a:t>
            </a:r>
            <a:endParaRPr lang="en-US" sz="1200" dirty="0"/>
          </a:p>
        </p:txBody>
      </p:sp>
      <p:sp>
        <p:nvSpPr>
          <p:cNvPr id="13" name="Shape 10"/>
          <p:cNvSpPr/>
          <p:nvPr/>
        </p:nvSpPr>
        <p:spPr>
          <a:xfrm>
            <a:off x="6071616" y="1188720"/>
            <a:ext cx="2615184" cy="566928"/>
          </a:xfrm>
          <a:prstGeom prst="rect">
            <a:avLst/>
          </a:prstGeom>
          <a:solidFill>
            <a:srgbClr val="375623"/>
          </a:solidFill>
          <a:ln w="12700">
            <a:solidFill>
              <a:srgbClr val="375623"/>
            </a:solidFill>
            <a:prstDash val="solid"/>
          </a:ln>
        </p:spPr>
      </p:sp>
      <p:sp>
        <p:nvSpPr>
          <p:cNvPr id="14" name="Text 11"/>
          <p:cNvSpPr txBox="1"/>
          <p:nvPr/>
        </p:nvSpPr>
        <p:spPr>
          <a:xfrm>
            <a:off x="6163056" y="1234440"/>
            <a:ext cx="2432304"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They glorified God  ·  v.24</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ἐδόξαζον</a:t>
            </a:r>
            <a:pPr indent="0" marL="0">
              <a:buNone/>
            </a:pPr>
            <a:r>
              <a:rPr lang="en-US" sz="850" dirty="0">
                <a:solidFill>
                  <a:srgbClr val="DCE4F2"/>
                </a:solidFill>
                <a:latin typeface="Arial" pitchFamily="34" charset="0"/>
                <a:ea typeface="Arial" pitchFamily="34" charset="-122"/>
                <a:cs typeface="Arial" pitchFamily="34" charset="-120"/>
              </a:rPr>
              <a:t>  Imperf. Act.</a:t>
            </a:r>
            <a:endParaRPr lang="en-US" sz="1200" dirty="0"/>
          </a:p>
        </p:txBody>
      </p:sp>
      <p:sp>
        <p:nvSpPr>
          <p:cNvPr id="15" name="Shape 12"/>
          <p:cNvSpPr/>
          <p:nvPr/>
        </p:nvSpPr>
        <p:spPr>
          <a:xfrm>
            <a:off x="6071616" y="1755648"/>
            <a:ext cx="2615184" cy="2039112"/>
          </a:xfrm>
          <a:prstGeom prst="rect">
            <a:avLst/>
          </a:prstGeom>
          <a:solidFill>
            <a:srgbClr val="F2F6FC"/>
          </a:solidFill>
          <a:ln w="9525">
            <a:solidFill>
              <a:srgbClr val="D5DCEA"/>
            </a:solidFill>
            <a:prstDash val="solid"/>
          </a:ln>
        </p:spPr>
      </p:sp>
      <p:sp>
        <p:nvSpPr>
          <p:cNvPr id="16" name="Text 13"/>
          <p:cNvSpPr txBox="1"/>
          <p:nvPr/>
        </p:nvSpPr>
        <p:spPr>
          <a:xfrm>
            <a:off x="6163056" y="1828800"/>
            <a:ext cx="2432304" cy="191109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“they glorified God in me” — grace, not Paul's achievement</a:t>
            </a:r>
            <a:endParaRPr lang="en-US" sz="1200" dirty="0"/>
          </a:p>
        </p:txBody>
      </p:sp>
      <p:sp>
        <p:nvSpPr>
          <p:cNvPr id="17" name="Shape 14"/>
          <p:cNvSpPr/>
          <p:nvPr/>
        </p:nvSpPr>
        <p:spPr>
          <a:xfrm>
            <a:off x="457200" y="3977640"/>
            <a:ext cx="8229600" cy="566928"/>
          </a:xfrm>
          <a:prstGeom prst="roundRect">
            <a:avLst>
              <a:gd name="adj" fmla="val 9677"/>
            </a:avLst>
          </a:prstGeom>
          <a:solidFill>
            <a:srgbClr val="1F3864"/>
          </a:solidFill>
          <a:ln w="12700">
            <a:solidFill>
              <a:srgbClr val="1F3864"/>
            </a:solidFill>
            <a:prstDash val="solid"/>
          </a:ln>
        </p:spPr>
      </p:sp>
      <p:sp>
        <p:nvSpPr>
          <p:cNvPr id="18" name="Text 15"/>
          <p:cNvSpPr txBox="1"/>
          <p:nvPr/>
        </p:nvSpPr>
        <p:spPr>
          <a:xfrm>
            <a:off x="621792" y="3977640"/>
            <a:ext cx="7900416" cy="566928"/>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Acts 9:31 — walking in the fear of the Lord and the comfort of the Holy Spirit, the church multiplied.</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The famine visit: who went, and why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2:1–2 · Outline II.A–B</a:t>
            </a:r>
            <a:endParaRPr lang="en-US" sz="1200" dirty="0"/>
          </a:p>
        </p:txBody>
      </p:sp>
      <p:sp>
        <p:nvSpPr>
          <p:cNvPr id="5" name="Shape 2"/>
          <p:cNvSpPr/>
          <p:nvPr/>
        </p:nvSpPr>
        <p:spPr>
          <a:xfrm>
            <a:off x="457200" y="1188720"/>
            <a:ext cx="4023360" cy="365760"/>
          </a:xfrm>
          <a:prstGeom prst="rect">
            <a:avLst/>
          </a:prstGeom>
          <a:solidFill>
            <a:srgbClr val="2E5496"/>
          </a:solidFill>
          <a:ln w="12700">
            <a:solidFill>
              <a:srgbClr val="2E5496"/>
            </a:solidFill>
            <a:prstDash val="solid"/>
          </a:ln>
        </p:spPr>
      </p:sp>
      <p:sp>
        <p:nvSpPr>
          <p:cNvPr id="6" name="Text 3"/>
          <p:cNvSpPr txBox="1"/>
          <p:nvPr/>
        </p:nvSpPr>
        <p:spPr>
          <a:xfrm>
            <a:off x="548640" y="1234440"/>
            <a:ext cx="3840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 representatives — vv.1–2a</a:t>
            </a:r>
            <a:endParaRPr lang="en-US" sz="1200" dirty="0"/>
          </a:p>
        </p:txBody>
      </p:sp>
      <p:sp>
        <p:nvSpPr>
          <p:cNvPr id="7" name="Shape 4"/>
          <p:cNvSpPr/>
          <p:nvPr/>
        </p:nvSpPr>
        <p:spPr>
          <a:xfrm>
            <a:off x="457200" y="1554480"/>
            <a:ext cx="4023360" cy="2377440"/>
          </a:xfrm>
          <a:prstGeom prst="rect">
            <a:avLst/>
          </a:prstGeom>
          <a:solidFill>
            <a:srgbClr val="F2F6FC"/>
          </a:solidFill>
          <a:ln w="9525">
            <a:solidFill>
              <a:srgbClr val="D5DCEA"/>
            </a:solidFill>
            <a:prstDash val="solid"/>
          </a:ln>
        </p:spPr>
      </p:sp>
      <p:sp>
        <p:nvSpPr>
          <p:cNvPr id="8" name="Text 5"/>
          <p:cNvSpPr txBox="1"/>
          <p:nvPr/>
        </p:nvSpPr>
        <p:spPr>
          <a:xfrm>
            <a:off x="548640" y="1627632"/>
            <a:ext cx="3840480" cy="2249424"/>
          </a:xfrm>
          <a:prstGeom prst="rect">
            <a:avLst/>
          </a:prstGeom>
          <a:noFill/>
          <a:ln/>
        </p:spPr>
        <p:txBody>
          <a:bodyPr wrap="square" lIns="0" tIns="0" rIns="0" bIns="0" rtlCol="0" anchor="t"/>
          <a:lstStyle/>
          <a:p>
            <a:pPr indent="0" marL="0">
              <a:buNone/>
            </a:pPr>
            <a:endParaRPr lang="en-US" sz="1300" dirty="0"/>
          </a:p>
        </p:txBody>
      </p:sp>
      <p:sp>
        <p:nvSpPr>
          <p:cNvPr id="9" name="Text 6"/>
          <p:cNvSpPr txBox="1"/>
          <p:nvPr/>
        </p:nvSpPr>
        <p:spPr>
          <a:xfrm>
            <a:off x="566928" y="1691640"/>
            <a:ext cx="3803904" cy="2148840"/>
          </a:xfrm>
          <a:prstGeom prst="rect">
            <a:avLst/>
          </a:prstGeom>
          <a:noFill/>
          <a:ln/>
        </p:spPr>
        <p:txBody>
          <a:bodyPr wrap="square" lIns="0" tIns="0" rIns="0" bIns="0" rtlCol="0" anchor="t"/>
          <a:lstStyle/>
          <a:p>
            <a:pPr indent="0" marL="0">
              <a:buNone/>
            </a:pPr>
            <a:r>
              <a:rPr lang="en-US" sz="1150" b="1" dirty="0">
                <a:solidFill>
                  <a:srgbClr val="1F3864"/>
                </a:solidFill>
                <a:latin typeface="Arial" pitchFamily="34" charset="0"/>
                <a:ea typeface="Arial" pitchFamily="34" charset="-122"/>
                <a:cs typeface="Arial" pitchFamily="34" charset="-120"/>
              </a:rPr>
              <a:t>Time  </a:t>
            </a:r>
            <a:pPr indent="0" marL="0">
              <a:buNone/>
            </a:pPr>
            <a:r>
              <a:rPr lang="en-US" sz="1150" dirty="0">
                <a:solidFill>
                  <a:srgbClr val="262626"/>
                </a:solidFill>
                <a:latin typeface="Arial" pitchFamily="34" charset="0"/>
                <a:ea typeface="Arial" pitchFamily="34" charset="-122"/>
                <a:cs typeface="Arial" pitchFamily="34" charset="-120"/>
              </a:rPr>
              <a:t>14 years after Paul's conversion</a:t>
            </a:r>
            <a:endParaRPr lang="en-US" sz="1150" dirty="0"/>
          </a:p>
          <a:p>
            <a:pPr indent="0" marL="0">
              <a:buNone/>
            </a:pPr>
            <a:r>
              <a:rPr lang="en-US" sz="500" dirty="0">
                <a:solidFill>
                  <a:srgbClr val="262626"/>
                </a:solidFill>
                <a:latin typeface="Arial" pitchFamily="34" charset="0"/>
                <a:ea typeface="Arial" pitchFamily="34" charset="-122"/>
                <a:cs typeface="Arial" pitchFamily="34" charset="-120"/>
              </a:rPr>
              <a:t> </a:t>
            </a:r>
            <a:endParaRPr lang="en-US" sz="1150" dirty="0"/>
          </a:p>
          <a:p>
            <a:pPr indent="0" marL="0">
              <a:buNone/>
            </a:pPr>
            <a:r>
              <a:rPr lang="en-US" sz="1150" b="1" dirty="0">
                <a:solidFill>
                  <a:srgbClr val="1F3864"/>
                </a:solidFill>
                <a:latin typeface="Arial" pitchFamily="34" charset="0"/>
                <a:ea typeface="Arial" pitchFamily="34" charset="-122"/>
                <a:cs typeface="Arial" pitchFamily="34" charset="-120"/>
              </a:rPr>
              <a:t>Team  </a:t>
            </a:r>
            <a:pPr indent="0" marL="0">
              <a:buNone/>
            </a:pPr>
            <a:r>
              <a:rPr lang="en-US" sz="1150" dirty="0">
                <a:solidFill>
                  <a:srgbClr val="262626"/>
                </a:solidFill>
                <a:latin typeface="Arial" pitchFamily="34" charset="0"/>
                <a:ea typeface="Arial" pitchFamily="34" charset="-122"/>
                <a:cs typeface="Arial" pitchFamily="34" charset="-120"/>
              </a:rPr>
              <a:t>Paul (leader), Barnabas, and Titus — a Gentile, uncircumcised; his first mention</a:t>
            </a:r>
            <a:endParaRPr lang="en-US" sz="1150" dirty="0"/>
          </a:p>
          <a:p>
            <a:pPr indent="0" marL="0">
              <a:buNone/>
            </a:pPr>
            <a:r>
              <a:rPr lang="en-US" sz="500" dirty="0">
                <a:solidFill>
                  <a:srgbClr val="262626"/>
                </a:solidFill>
                <a:latin typeface="Arial" pitchFamily="34" charset="0"/>
                <a:ea typeface="Arial" pitchFamily="34" charset="-122"/>
                <a:cs typeface="Arial" pitchFamily="34" charset="-120"/>
              </a:rPr>
              <a:t> </a:t>
            </a:r>
            <a:endParaRPr lang="en-US" sz="1150" dirty="0"/>
          </a:p>
          <a:p>
            <a:pPr indent="0" marL="0">
              <a:buNone/>
            </a:pPr>
            <a:r>
              <a:rPr lang="en-US" sz="1150" b="1" dirty="0">
                <a:solidFill>
                  <a:srgbClr val="1F3864"/>
                </a:solidFill>
                <a:latin typeface="Arial" pitchFamily="34" charset="0"/>
                <a:ea typeface="Arial" pitchFamily="34" charset="-122"/>
                <a:cs typeface="Arial" pitchFamily="34" charset="-120"/>
              </a:rPr>
              <a:t>Text  </a:t>
            </a:r>
            <a:pPr indent="0" marL="0">
              <a:buNone/>
            </a:pPr>
            <a:r>
              <a:rPr lang="en-US" sz="1150" dirty="0">
                <a:solidFill>
                  <a:srgbClr val="262626"/>
                </a:solidFill>
                <a:latin typeface="Arial" pitchFamily="34" charset="0"/>
                <a:ea typeface="Arial" pitchFamily="34" charset="-122"/>
                <a:cs typeface="Arial" pitchFamily="34" charset="-120"/>
              </a:rPr>
              <a:t>The gospel Paul preached — the gospel of grace</a:t>
            </a:r>
            <a:endParaRPr lang="en-US" sz="1150" dirty="0"/>
          </a:p>
        </p:txBody>
      </p:sp>
      <p:sp>
        <p:nvSpPr>
          <p:cNvPr id="10" name="Shape 7"/>
          <p:cNvSpPr/>
          <p:nvPr/>
        </p:nvSpPr>
        <p:spPr>
          <a:xfrm>
            <a:off x="4663440" y="1188720"/>
            <a:ext cx="4023360" cy="365760"/>
          </a:xfrm>
          <a:prstGeom prst="rect">
            <a:avLst/>
          </a:prstGeom>
          <a:solidFill>
            <a:srgbClr val="2E5496"/>
          </a:solidFill>
          <a:ln w="12700">
            <a:solidFill>
              <a:srgbClr val="2E5496"/>
            </a:solidFill>
            <a:prstDash val="solid"/>
          </a:ln>
        </p:spPr>
      </p:sp>
      <p:sp>
        <p:nvSpPr>
          <p:cNvPr id="11" name="Text 8"/>
          <p:cNvSpPr txBox="1"/>
          <p:nvPr/>
        </p:nvSpPr>
        <p:spPr>
          <a:xfrm>
            <a:off x="4754880" y="1234440"/>
            <a:ext cx="3840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 reason — v.2</a:t>
            </a:r>
            <a:endParaRPr lang="en-US" sz="1200" dirty="0"/>
          </a:p>
        </p:txBody>
      </p:sp>
      <p:sp>
        <p:nvSpPr>
          <p:cNvPr id="12" name="Shape 9"/>
          <p:cNvSpPr/>
          <p:nvPr/>
        </p:nvSpPr>
        <p:spPr>
          <a:xfrm>
            <a:off x="4663440" y="1554480"/>
            <a:ext cx="4023360" cy="2377440"/>
          </a:xfrm>
          <a:prstGeom prst="rect">
            <a:avLst/>
          </a:prstGeom>
          <a:solidFill>
            <a:srgbClr val="F2F6FC"/>
          </a:solidFill>
          <a:ln w="9525">
            <a:solidFill>
              <a:srgbClr val="D5DCEA"/>
            </a:solidFill>
            <a:prstDash val="solid"/>
          </a:ln>
        </p:spPr>
      </p:sp>
      <p:sp>
        <p:nvSpPr>
          <p:cNvPr id="13" name="Text 10"/>
          <p:cNvSpPr txBox="1"/>
          <p:nvPr/>
        </p:nvSpPr>
        <p:spPr>
          <a:xfrm>
            <a:off x="4754880" y="1627632"/>
            <a:ext cx="3840480" cy="2249424"/>
          </a:xfrm>
          <a:prstGeom prst="rect">
            <a:avLst/>
          </a:prstGeom>
          <a:noFill/>
          <a:ln/>
        </p:spPr>
        <p:txBody>
          <a:bodyPr wrap="square" lIns="0" tIns="0" rIns="0" bIns="0" rtlCol="0" anchor="t"/>
          <a:lstStyle/>
          <a:p>
            <a:pPr indent="0" marL="0">
              <a:buNone/>
            </a:pPr>
            <a:endParaRPr lang="en-US" sz="1300" dirty="0"/>
          </a:p>
        </p:txBody>
      </p:sp>
      <p:sp>
        <p:nvSpPr>
          <p:cNvPr id="14" name="Text 11"/>
          <p:cNvSpPr txBox="1"/>
          <p:nvPr/>
        </p:nvSpPr>
        <p:spPr>
          <a:xfrm>
            <a:off x="4773168" y="1691640"/>
            <a:ext cx="3803904" cy="2148840"/>
          </a:xfrm>
          <a:prstGeom prst="rect">
            <a:avLst/>
          </a:prstGeom>
          <a:noFill/>
          <a:ln/>
        </p:spPr>
        <p:txBody>
          <a:bodyPr wrap="square" lIns="0" tIns="0" rIns="0" bIns="0" rtlCol="0" anchor="t"/>
          <a:lstStyle/>
          <a:p>
            <a:pPr indent="0" marL="0">
              <a:buNone/>
            </a:pPr>
            <a:r>
              <a:rPr lang="en-US" sz="1150" b="1" dirty="0">
                <a:solidFill>
                  <a:srgbClr val="1F3864"/>
                </a:solidFill>
                <a:latin typeface="Arial" pitchFamily="34" charset="0"/>
                <a:ea typeface="Arial" pitchFamily="34" charset="-122"/>
                <a:cs typeface="Arial" pitchFamily="34" charset="-120"/>
              </a:rPr>
              <a:t>By revelation  </a:t>
            </a:r>
            <a:pPr indent="0" marL="0">
              <a:buNone/>
            </a:pPr>
            <a:r>
              <a:rPr lang="en-US" sz="1150" dirty="0">
                <a:solidFill>
                  <a:srgbClr val="262626"/>
                </a:solidFill>
                <a:latin typeface="Arial" pitchFamily="34" charset="0"/>
                <a:ea typeface="Arial" pitchFamily="34" charset="-122"/>
                <a:cs typeface="Arial" pitchFamily="34" charset="-120"/>
              </a:rPr>
              <a:t>Agabus foretold the famine (Acts 11:27–30); not summoned</a:t>
            </a:r>
            <a:endParaRPr lang="en-US" sz="1150" dirty="0"/>
          </a:p>
          <a:p>
            <a:pPr indent="0" marL="0">
              <a:buNone/>
            </a:pPr>
            <a:r>
              <a:rPr lang="en-US" sz="500" dirty="0">
                <a:solidFill>
                  <a:srgbClr val="262626"/>
                </a:solidFill>
                <a:latin typeface="Arial" pitchFamily="34" charset="0"/>
                <a:ea typeface="Arial" pitchFamily="34" charset="-122"/>
                <a:cs typeface="Arial" pitchFamily="34" charset="-120"/>
              </a:rPr>
              <a:t> </a:t>
            </a:r>
            <a:endParaRPr lang="en-US" sz="1150" dirty="0"/>
          </a:p>
          <a:p>
            <a:pPr indent="0" marL="0">
              <a:buNone/>
            </a:pPr>
            <a:r>
              <a:rPr lang="en-US" sz="1150" b="1" dirty="0">
                <a:solidFill>
                  <a:srgbClr val="1F3864"/>
                </a:solidFill>
                <a:latin typeface="Arial" pitchFamily="34" charset="0"/>
                <a:ea typeface="Arial" pitchFamily="34" charset="-122"/>
                <a:cs typeface="Arial" pitchFamily="34" charset="-120"/>
              </a:rPr>
              <a:t>Privately  </a:t>
            </a:r>
            <a:pPr indent="0" marL="0">
              <a:buNone/>
            </a:pPr>
            <a:r>
              <a:rPr lang="en-US" sz="1150" dirty="0">
                <a:solidFill>
                  <a:srgbClr val="262626"/>
                </a:solidFill>
                <a:latin typeface="Arial" pitchFamily="34" charset="0"/>
                <a:ea typeface="Arial" pitchFamily="34" charset="-122"/>
                <a:cs typeface="Arial" pitchFamily="34" charset="-120"/>
              </a:rPr>
              <a:t>not a council or public meeting</a:t>
            </a:r>
            <a:endParaRPr lang="en-US" sz="1150" dirty="0"/>
          </a:p>
          <a:p>
            <a:pPr indent="0" marL="0">
              <a:buNone/>
            </a:pPr>
            <a:r>
              <a:rPr lang="en-US" sz="500" dirty="0">
                <a:solidFill>
                  <a:srgbClr val="262626"/>
                </a:solidFill>
                <a:latin typeface="Arial" pitchFamily="34" charset="0"/>
                <a:ea typeface="Arial" pitchFamily="34" charset="-122"/>
                <a:cs typeface="Arial" pitchFamily="34" charset="-120"/>
              </a:rPr>
              <a:t> </a:t>
            </a:r>
            <a:endParaRPr lang="en-US" sz="1150" dirty="0"/>
          </a:p>
          <a:p>
            <a:pPr indent="0" marL="0">
              <a:buNone/>
            </a:pPr>
            <a:r>
              <a:rPr lang="en-US" sz="1150" b="1" dirty="0">
                <a:solidFill>
                  <a:srgbClr val="1F3864"/>
                </a:solidFill>
                <a:latin typeface="Arial" pitchFamily="34" charset="0"/>
                <a:ea typeface="Arial" pitchFamily="34" charset="-122"/>
                <a:cs typeface="Arial" pitchFamily="34" charset="-120"/>
              </a:rPr>
              <a:t>And communicated  </a:t>
            </a:r>
            <a:pPr indent="0" marL="0">
              <a:buNone/>
            </a:pPr>
            <a:r>
              <a:rPr lang="en-US" sz="1150" b="1" dirty="0">
                <a:solidFill>
                  <a:srgbClr val="7030A0"/>
                </a:solidFill>
                <a:latin typeface="Arial" pitchFamily="34" charset="0"/>
                <a:ea typeface="Arial" pitchFamily="34" charset="-122"/>
                <a:cs typeface="Arial" pitchFamily="34" charset="-120"/>
              </a:rPr>
              <a:t>ἀνεθέμην</a:t>
            </a:r>
            <a:pPr indent="0" marL="0">
              <a:buNone/>
            </a:pPr>
            <a:r>
              <a:rPr lang="en-US" sz="1150" dirty="0">
                <a:solidFill>
                  <a:srgbClr val="262626"/>
                </a:solidFill>
                <a:latin typeface="Arial" pitchFamily="34" charset="0"/>
                <a:ea typeface="Arial" pitchFamily="34" charset="-122"/>
                <a:cs typeface="Arial" pitchFamily="34" charset="-120"/>
              </a:rPr>
              <a:t> — laid it before them to be on the same page, not to ask if it was true</a:t>
            </a:r>
            <a:endParaRPr lang="en-US" sz="1150" dirty="0"/>
          </a:p>
        </p:txBody>
      </p:sp>
      <p:sp>
        <p:nvSpPr>
          <p:cNvPr id="15" name="Shape 12"/>
          <p:cNvSpPr/>
          <p:nvPr/>
        </p:nvSpPr>
        <p:spPr>
          <a:xfrm>
            <a:off x="457200" y="4069080"/>
            <a:ext cx="8229600" cy="548640"/>
          </a:xfrm>
          <a:prstGeom prst="roundRect">
            <a:avLst>
              <a:gd name="adj" fmla="val 10000"/>
            </a:avLst>
          </a:prstGeom>
          <a:solidFill>
            <a:srgbClr val="1F3864"/>
          </a:solidFill>
          <a:ln w="12700">
            <a:solidFill>
              <a:srgbClr val="1F3864"/>
            </a:solidFill>
            <a:prstDash val="solid"/>
          </a:ln>
        </p:spPr>
      </p:sp>
      <p:sp>
        <p:nvSpPr>
          <p:cNvPr id="16" name="Text 13"/>
          <p:cNvSpPr txBox="1"/>
          <p:nvPr/>
        </p:nvSpPr>
        <p:spPr>
          <a:xfrm>
            <a:off x="621792" y="4069080"/>
            <a:ext cx="7900416" cy="54864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“Lest I might run, or had run, in vain” — if Jerusalem demanded law-keeping of Gentiles, Paul would be running uphill.</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The disruption: liberty under attack</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2:3–5 · Outline II.C.1–2</a:t>
            </a:r>
            <a:endParaRPr lang="en-US" sz="1200" dirty="0"/>
          </a:p>
        </p:txBody>
      </p:sp>
      <p:sp>
        <p:nvSpPr>
          <p:cNvPr id="5" name="Shape 2"/>
          <p:cNvSpPr/>
          <p:nvPr/>
        </p:nvSpPr>
        <p:spPr>
          <a:xfrm>
            <a:off x="457200" y="1143000"/>
            <a:ext cx="1417320" cy="566928"/>
          </a:xfrm>
          <a:prstGeom prst="rect">
            <a:avLst/>
          </a:prstGeom>
          <a:solidFill>
            <a:srgbClr val="6B7280"/>
          </a:solidFill>
          <a:ln w="12700">
            <a:solidFill>
              <a:srgbClr val="6B7280"/>
            </a:solidFill>
            <a:prstDash val="solid"/>
          </a:ln>
        </p:spPr>
      </p:sp>
      <p:sp>
        <p:nvSpPr>
          <p:cNvPr id="6" name="Text 3"/>
          <p:cNvSpPr txBox="1"/>
          <p:nvPr/>
        </p:nvSpPr>
        <p:spPr>
          <a:xfrm>
            <a:off x="457200" y="1143000"/>
            <a:ext cx="141732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Slipped in</a:t>
            </a:r>
            <a:endParaRPr lang="en-US" sz="1100" dirty="0"/>
          </a:p>
        </p:txBody>
      </p:sp>
      <p:sp>
        <p:nvSpPr>
          <p:cNvPr id="7" name="Shape 4"/>
          <p:cNvSpPr/>
          <p:nvPr/>
        </p:nvSpPr>
        <p:spPr>
          <a:xfrm>
            <a:off x="1874520" y="1143000"/>
            <a:ext cx="3703320" cy="566928"/>
          </a:xfrm>
          <a:prstGeom prst="rect">
            <a:avLst/>
          </a:prstGeom>
          <a:solidFill>
            <a:srgbClr val="F2F6FC"/>
          </a:solidFill>
          <a:ln w="9525">
            <a:solidFill>
              <a:srgbClr val="D5DCEA"/>
            </a:solidFill>
            <a:prstDash val="solid"/>
          </a:ln>
        </p:spPr>
      </p:sp>
      <p:sp>
        <p:nvSpPr>
          <p:cNvPr id="8" name="Text 5"/>
          <p:cNvSpPr txBox="1"/>
          <p:nvPr/>
        </p:nvSpPr>
        <p:spPr>
          <a:xfrm>
            <a:off x="1984248" y="1143000"/>
            <a:ext cx="3520440" cy="566928"/>
          </a:xfrm>
          <a:prstGeom prst="rect">
            <a:avLst/>
          </a:prstGeom>
          <a:noFill/>
          <a:ln/>
        </p:spPr>
        <p:txBody>
          <a:bodyPr wrap="square" lIns="0" tIns="0" rIns="0" bIns="0" rtlCol="0" anchor="ctr"/>
          <a:lstStyle/>
          <a:p>
            <a:pPr indent="0" marL="0">
              <a:buNone/>
            </a:pPr>
            <a:r>
              <a:rPr lang="en-US" sz="1150" b="1" dirty="0">
                <a:solidFill>
                  <a:srgbClr val="7030A0"/>
                </a:solidFill>
                <a:latin typeface="Arial" pitchFamily="34" charset="0"/>
                <a:ea typeface="Arial" pitchFamily="34" charset="-122"/>
                <a:cs typeface="Arial" pitchFamily="34" charset="-120"/>
              </a:rPr>
              <a:t>ψευδαδέλφους</a:t>
            </a:r>
            <a:endParaRPr lang="en-US" sz="1200" dirty="0"/>
          </a:p>
          <a:p>
            <a:pPr indent="0" marL="0">
              <a:buNone/>
            </a:pPr>
            <a:r>
              <a:rPr lang="en-US" sz="1100" dirty="0">
                <a:solidFill>
                  <a:srgbClr val="262626"/>
                </a:solidFill>
                <a:latin typeface="Arial" pitchFamily="34" charset="0"/>
                <a:ea typeface="Arial" pitchFamily="34" charset="-122"/>
                <a:cs typeface="Arial" pitchFamily="34" charset="-120"/>
              </a:rPr>
              <a:t>false brothers — by stealth, under false pretenses (v.4a)</a:t>
            </a:r>
            <a:endParaRPr lang="en-US" sz="1200" dirty="0"/>
          </a:p>
        </p:txBody>
      </p:sp>
      <p:sp>
        <p:nvSpPr>
          <p:cNvPr id="9" name="Shape 6"/>
          <p:cNvSpPr/>
          <p:nvPr/>
        </p:nvSpPr>
        <p:spPr>
          <a:xfrm>
            <a:off x="457200" y="1801368"/>
            <a:ext cx="1417320" cy="566928"/>
          </a:xfrm>
          <a:prstGeom prst="rect">
            <a:avLst/>
          </a:prstGeom>
          <a:solidFill>
            <a:srgbClr val="6B7280"/>
          </a:solidFill>
          <a:ln w="12700">
            <a:solidFill>
              <a:srgbClr val="6B7280"/>
            </a:solidFill>
            <a:prstDash val="solid"/>
          </a:ln>
        </p:spPr>
      </p:sp>
      <p:sp>
        <p:nvSpPr>
          <p:cNvPr id="10" name="Text 7"/>
          <p:cNvSpPr txBox="1"/>
          <p:nvPr/>
        </p:nvSpPr>
        <p:spPr>
          <a:xfrm>
            <a:off x="457200" y="1801368"/>
            <a:ext cx="141732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Spied out</a:t>
            </a:r>
            <a:endParaRPr lang="en-US" sz="1100" dirty="0"/>
          </a:p>
        </p:txBody>
      </p:sp>
      <p:sp>
        <p:nvSpPr>
          <p:cNvPr id="11" name="Shape 8"/>
          <p:cNvSpPr/>
          <p:nvPr/>
        </p:nvSpPr>
        <p:spPr>
          <a:xfrm>
            <a:off x="1874520" y="1801368"/>
            <a:ext cx="3703320" cy="566928"/>
          </a:xfrm>
          <a:prstGeom prst="rect">
            <a:avLst/>
          </a:prstGeom>
          <a:solidFill>
            <a:srgbClr val="FFFFFF"/>
          </a:solidFill>
          <a:ln w="9525">
            <a:solidFill>
              <a:srgbClr val="D5DCEA"/>
            </a:solidFill>
            <a:prstDash val="solid"/>
          </a:ln>
        </p:spPr>
      </p:sp>
      <p:sp>
        <p:nvSpPr>
          <p:cNvPr id="12" name="Text 9"/>
          <p:cNvSpPr txBox="1"/>
          <p:nvPr/>
        </p:nvSpPr>
        <p:spPr>
          <a:xfrm>
            <a:off x="1984248" y="1801368"/>
            <a:ext cx="3520440" cy="566928"/>
          </a:xfrm>
          <a:prstGeom prst="rect">
            <a:avLst/>
          </a:prstGeom>
          <a:noFill/>
          <a:ln/>
        </p:spPr>
        <p:txBody>
          <a:bodyPr wrap="square" lIns="0" tIns="0" rIns="0" bIns="0" rtlCol="0" anchor="ctr"/>
          <a:lstStyle/>
          <a:p>
            <a:pPr indent="0" marL="0">
              <a:buNone/>
            </a:pPr>
            <a:r>
              <a:rPr lang="en-US" sz="1150" b="1" dirty="0">
                <a:solidFill>
                  <a:srgbClr val="7030A0"/>
                </a:solidFill>
                <a:latin typeface="Arial" pitchFamily="34" charset="0"/>
                <a:ea typeface="Arial" pitchFamily="34" charset="-122"/>
                <a:cs typeface="Arial" pitchFamily="34" charset="-120"/>
              </a:rPr>
              <a:t>κατασκοπῆσαι</a:t>
            </a:r>
            <a:endParaRPr lang="en-US" sz="1200" dirty="0"/>
          </a:p>
          <a:p>
            <a:pPr indent="0" marL="0">
              <a:buNone/>
            </a:pPr>
            <a:r>
              <a:rPr lang="en-US" sz="1100" dirty="0">
                <a:solidFill>
                  <a:srgbClr val="262626"/>
                </a:solidFill>
                <a:latin typeface="Arial" pitchFamily="34" charset="0"/>
                <a:ea typeface="Arial" pitchFamily="34" charset="-122"/>
                <a:cs typeface="Arial" pitchFamily="34" charset="-120"/>
              </a:rPr>
              <a:t>“our liberty which we have in Christ Jesus” (v.4b)</a:t>
            </a:r>
            <a:endParaRPr lang="en-US" sz="1200" dirty="0"/>
          </a:p>
        </p:txBody>
      </p:sp>
      <p:sp>
        <p:nvSpPr>
          <p:cNvPr id="13" name="Shape 10"/>
          <p:cNvSpPr/>
          <p:nvPr/>
        </p:nvSpPr>
        <p:spPr>
          <a:xfrm>
            <a:off x="457200" y="2459736"/>
            <a:ext cx="1417320" cy="566928"/>
          </a:xfrm>
          <a:prstGeom prst="rect">
            <a:avLst/>
          </a:prstGeom>
          <a:solidFill>
            <a:srgbClr val="6B7280"/>
          </a:solidFill>
          <a:ln w="12700">
            <a:solidFill>
              <a:srgbClr val="6B7280"/>
            </a:solidFill>
            <a:prstDash val="solid"/>
          </a:ln>
        </p:spPr>
      </p:sp>
      <p:sp>
        <p:nvSpPr>
          <p:cNvPr id="14" name="Text 11"/>
          <p:cNvSpPr txBox="1"/>
          <p:nvPr/>
        </p:nvSpPr>
        <p:spPr>
          <a:xfrm>
            <a:off x="457200" y="2459736"/>
            <a:ext cx="141732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To enslave</a:t>
            </a:r>
            <a:endParaRPr lang="en-US" sz="1100" dirty="0"/>
          </a:p>
        </p:txBody>
      </p:sp>
      <p:sp>
        <p:nvSpPr>
          <p:cNvPr id="15" name="Shape 12"/>
          <p:cNvSpPr/>
          <p:nvPr/>
        </p:nvSpPr>
        <p:spPr>
          <a:xfrm>
            <a:off x="1874520" y="2459736"/>
            <a:ext cx="3703320" cy="566928"/>
          </a:xfrm>
          <a:prstGeom prst="rect">
            <a:avLst/>
          </a:prstGeom>
          <a:solidFill>
            <a:srgbClr val="F2F6FC"/>
          </a:solidFill>
          <a:ln w="9525">
            <a:solidFill>
              <a:srgbClr val="D5DCEA"/>
            </a:solidFill>
            <a:prstDash val="solid"/>
          </a:ln>
        </p:spPr>
      </p:sp>
      <p:sp>
        <p:nvSpPr>
          <p:cNvPr id="16" name="Text 13"/>
          <p:cNvSpPr txBox="1"/>
          <p:nvPr/>
        </p:nvSpPr>
        <p:spPr>
          <a:xfrm>
            <a:off x="1984248" y="2459736"/>
            <a:ext cx="3520440" cy="566928"/>
          </a:xfrm>
          <a:prstGeom prst="rect">
            <a:avLst/>
          </a:prstGeom>
          <a:noFill/>
          <a:ln/>
        </p:spPr>
        <p:txBody>
          <a:bodyPr wrap="square" lIns="0" tIns="0" rIns="0" bIns="0" rtlCol="0" anchor="ctr"/>
          <a:lstStyle/>
          <a:p>
            <a:pPr indent="0" marL="0">
              <a:buNone/>
            </a:pPr>
            <a:r>
              <a:rPr lang="en-US" sz="1150" b="1" dirty="0">
                <a:solidFill>
                  <a:srgbClr val="7030A0"/>
                </a:solidFill>
                <a:latin typeface="Arial" pitchFamily="34" charset="0"/>
                <a:ea typeface="Arial" pitchFamily="34" charset="-122"/>
                <a:cs typeface="Arial" pitchFamily="34" charset="-120"/>
              </a:rPr>
              <a:t>καταδουλώσουσιν</a:t>
            </a:r>
            <a:endParaRPr lang="en-US" sz="1200" dirty="0"/>
          </a:p>
          <a:p>
            <a:pPr indent="0" marL="0">
              <a:buNone/>
            </a:pPr>
            <a:r>
              <a:rPr lang="en-US" sz="1100" dirty="0">
                <a:solidFill>
                  <a:srgbClr val="262626"/>
                </a:solidFill>
                <a:latin typeface="Arial" pitchFamily="34" charset="0"/>
                <a:ea typeface="Arial" pitchFamily="34" charset="-122"/>
                <a:cs typeface="Arial" pitchFamily="34" charset="-120"/>
              </a:rPr>
              <a:t>bring us back into the bondage of the law (v.4c)</a:t>
            </a:r>
            <a:endParaRPr lang="en-US" sz="1200" dirty="0"/>
          </a:p>
        </p:txBody>
      </p:sp>
      <p:sp>
        <p:nvSpPr>
          <p:cNvPr id="17" name="Shape 14"/>
          <p:cNvSpPr/>
          <p:nvPr/>
        </p:nvSpPr>
        <p:spPr>
          <a:xfrm>
            <a:off x="457200" y="3118104"/>
            <a:ext cx="1417320" cy="566928"/>
          </a:xfrm>
          <a:prstGeom prst="rect">
            <a:avLst/>
          </a:prstGeom>
          <a:solidFill>
            <a:srgbClr val="2E5496"/>
          </a:solidFill>
          <a:ln w="12700">
            <a:solidFill>
              <a:srgbClr val="2E5496"/>
            </a:solidFill>
            <a:prstDash val="solid"/>
          </a:ln>
        </p:spPr>
      </p:sp>
      <p:sp>
        <p:nvSpPr>
          <p:cNvPr id="18" name="Text 15"/>
          <p:cNvSpPr txBox="1"/>
          <p:nvPr/>
        </p:nvSpPr>
        <p:spPr>
          <a:xfrm>
            <a:off x="457200" y="3118104"/>
            <a:ext cx="141732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Targeted Titus</a:t>
            </a:r>
            <a:endParaRPr lang="en-US" sz="1100" dirty="0"/>
          </a:p>
        </p:txBody>
      </p:sp>
      <p:sp>
        <p:nvSpPr>
          <p:cNvPr id="19" name="Shape 16"/>
          <p:cNvSpPr/>
          <p:nvPr/>
        </p:nvSpPr>
        <p:spPr>
          <a:xfrm>
            <a:off x="1874520" y="3118104"/>
            <a:ext cx="3703320" cy="566928"/>
          </a:xfrm>
          <a:prstGeom prst="rect">
            <a:avLst/>
          </a:prstGeom>
          <a:solidFill>
            <a:srgbClr val="FFFFFF"/>
          </a:solidFill>
          <a:ln w="9525">
            <a:solidFill>
              <a:srgbClr val="D5DCEA"/>
            </a:solidFill>
            <a:prstDash val="solid"/>
          </a:ln>
        </p:spPr>
      </p:sp>
      <p:sp>
        <p:nvSpPr>
          <p:cNvPr id="20" name="Text 17"/>
          <p:cNvSpPr txBox="1"/>
          <p:nvPr/>
        </p:nvSpPr>
        <p:spPr>
          <a:xfrm>
            <a:off x="1984248" y="3118104"/>
            <a:ext cx="3520440" cy="566928"/>
          </a:xfrm>
          <a:prstGeom prst="rect">
            <a:avLst/>
          </a:prstGeom>
          <a:noFill/>
          <a:ln/>
        </p:spPr>
        <p:txBody>
          <a:bodyPr wrap="square" lIns="0" tIns="0" rIns="0" bIns="0" rtlCol="0" anchor="ctr"/>
          <a:lstStyle/>
          <a:p>
            <a:pPr indent="0" marL="0">
              <a:buNone/>
            </a:pPr>
            <a:r>
              <a:rPr lang="en-US" sz="1100" dirty="0">
                <a:solidFill>
                  <a:srgbClr val="262626"/>
                </a:solidFill>
                <a:latin typeface="Arial" pitchFamily="34" charset="0"/>
                <a:ea typeface="Arial" pitchFamily="34" charset="-122"/>
                <a:cs typeface="Arial" pitchFamily="34" charset="-120"/>
              </a:rPr>
              <a:t>a Greek, uncircumcised — compel him and set a precedent (v.3)</a:t>
            </a:r>
            <a:endParaRPr lang="en-US" sz="1200" dirty="0"/>
          </a:p>
        </p:txBody>
      </p:sp>
      <p:sp>
        <p:nvSpPr>
          <p:cNvPr id="21" name="Shape 18"/>
          <p:cNvSpPr/>
          <p:nvPr/>
        </p:nvSpPr>
        <p:spPr>
          <a:xfrm>
            <a:off x="5669280" y="2240280"/>
            <a:ext cx="320040" cy="237744"/>
          </a:xfrm>
          <a:prstGeom prst="rightArrow">
            <a:avLst/>
          </a:prstGeom>
          <a:solidFill>
            <a:srgbClr val="375623"/>
          </a:solidFill>
          <a:ln w="12700">
            <a:solidFill>
              <a:srgbClr val="375623"/>
            </a:solidFill>
            <a:prstDash val="solid"/>
          </a:ln>
        </p:spPr>
      </p:sp>
      <p:sp>
        <p:nvSpPr>
          <p:cNvPr id="22" name="Shape 19"/>
          <p:cNvSpPr/>
          <p:nvPr/>
        </p:nvSpPr>
        <p:spPr>
          <a:xfrm>
            <a:off x="6126480" y="1143000"/>
            <a:ext cx="2560320" cy="365760"/>
          </a:xfrm>
          <a:prstGeom prst="rect">
            <a:avLst/>
          </a:prstGeom>
          <a:solidFill>
            <a:srgbClr val="375623"/>
          </a:solidFill>
          <a:ln w="12700">
            <a:solidFill>
              <a:srgbClr val="375623"/>
            </a:solidFill>
            <a:prstDash val="solid"/>
          </a:ln>
        </p:spPr>
      </p:sp>
      <p:sp>
        <p:nvSpPr>
          <p:cNvPr id="23" name="Text 20"/>
          <p:cNvSpPr txBox="1"/>
          <p:nvPr/>
        </p:nvSpPr>
        <p:spPr>
          <a:xfrm>
            <a:off x="6217920" y="1188720"/>
            <a:ext cx="237744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Paul's response — v.5</a:t>
            </a:r>
            <a:endParaRPr lang="en-US" sz="1200" dirty="0"/>
          </a:p>
        </p:txBody>
      </p:sp>
      <p:sp>
        <p:nvSpPr>
          <p:cNvPr id="24" name="Shape 21"/>
          <p:cNvSpPr/>
          <p:nvPr/>
        </p:nvSpPr>
        <p:spPr>
          <a:xfrm>
            <a:off x="6126480" y="1508760"/>
            <a:ext cx="2560320" cy="2194560"/>
          </a:xfrm>
          <a:prstGeom prst="rect">
            <a:avLst/>
          </a:prstGeom>
          <a:solidFill>
            <a:srgbClr val="F2F6FC"/>
          </a:solidFill>
          <a:ln w="9525">
            <a:solidFill>
              <a:srgbClr val="D5DCEA"/>
            </a:solidFill>
            <a:prstDash val="solid"/>
          </a:ln>
        </p:spPr>
      </p:sp>
      <p:sp>
        <p:nvSpPr>
          <p:cNvPr id="25" name="Text 22"/>
          <p:cNvSpPr txBox="1"/>
          <p:nvPr/>
        </p:nvSpPr>
        <p:spPr>
          <a:xfrm>
            <a:off x="6217920" y="1581912"/>
            <a:ext cx="2377440" cy="2066544"/>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“We did not yield submission even for an hour”</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“that the truth of the gospel might continue with you”</a:t>
            </a:r>
            <a:endParaRPr lang="en-US" sz="1300" dirty="0"/>
          </a:p>
        </p:txBody>
      </p:sp>
      <p:sp>
        <p:nvSpPr>
          <p:cNvPr id="26" name="Text 23"/>
          <p:cNvSpPr txBox="1"/>
          <p:nvPr/>
        </p:nvSpPr>
        <p:spPr>
          <a:xfrm>
            <a:off x="6126480" y="3749040"/>
            <a:ext cx="2560320" cy="365760"/>
          </a:xfrm>
          <a:prstGeom prst="rect">
            <a:avLst/>
          </a:prstGeom>
          <a:noFill/>
          <a:ln/>
        </p:spPr>
        <p:txBody>
          <a:bodyPr wrap="square" lIns="0" tIns="0" rIns="0" bIns="0" rtlCol="0" anchor="t"/>
          <a:lstStyle/>
          <a:p>
            <a:pPr indent="0" marL="0">
              <a:buNone/>
            </a:pPr>
            <a:r>
              <a:rPr lang="en-US" sz="1150" b="1" dirty="0">
                <a:solidFill>
                  <a:srgbClr val="7030A0"/>
                </a:solidFill>
                <a:latin typeface="Arial" pitchFamily="34" charset="0"/>
                <a:ea typeface="Arial" pitchFamily="34" charset="-122"/>
                <a:cs typeface="Arial" pitchFamily="34" charset="-120"/>
              </a:rPr>
              <a:t>ἐλευθερίαν</a:t>
            </a:r>
            <a:pPr indent="0" marL="0">
              <a:buNone/>
            </a:pPr>
            <a:r>
              <a:rPr lang="en-US" sz="1000" dirty="0">
                <a:solidFill>
                  <a:srgbClr val="595959"/>
                </a:solidFill>
                <a:latin typeface="Arial" pitchFamily="34" charset="0"/>
                <a:ea typeface="Arial" pitchFamily="34" charset="-122"/>
                <a:cs typeface="Arial" pitchFamily="34" charset="-120"/>
              </a:rPr>
              <a:t>  liberty — every believer's from the moment of faith</a:t>
            </a:r>
            <a:endParaRPr lang="en-US" sz="1200" dirty="0"/>
          </a:p>
        </p:txBody>
      </p:sp>
      <p:sp>
        <p:nvSpPr>
          <p:cNvPr id="27" name="Shape 24"/>
          <p:cNvSpPr/>
          <p:nvPr/>
        </p:nvSpPr>
        <p:spPr>
          <a:xfrm>
            <a:off x="457200" y="4160520"/>
            <a:ext cx="8229600" cy="502920"/>
          </a:xfrm>
          <a:prstGeom prst="roundRect">
            <a:avLst>
              <a:gd name="adj" fmla="val 10909"/>
            </a:avLst>
          </a:prstGeom>
          <a:solidFill>
            <a:srgbClr val="1F3864"/>
          </a:solidFill>
          <a:ln w="12700">
            <a:solidFill>
              <a:srgbClr val="1F3864"/>
            </a:solidFill>
            <a:prstDash val="solid"/>
          </a:ln>
        </p:spPr>
      </p:sp>
      <p:sp>
        <p:nvSpPr>
          <p:cNvPr id="28" name="Text 25"/>
          <p:cNvSpPr txBox="1"/>
          <p:nvPr/>
        </p:nvSpPr>
        <p:spPr>
          <a:xfrm>
            <a:off x="621792" y="4160520"/>
            <a:ext cx="7900416" cy="50292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Add one thing to the gospel and you have made it a false gospel. Separate what you should do from what you have to do: believe.</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What the apostles did — and did not do</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2:6–10 · Outline II.C.3 — Reaction of the apostles</a:t>
            </a:r>
            <a:endParaRPr lang="en-US" sz="1200" dirty="0"/>
          </a:p>
        </p:txBody>
      </p:sp>
      <p:sp>
        <p:nvSpPr>
          <p:cNvPr id="5" name="Shape 2"/>
          <p:cNvSpPr/>
          <p:nvPr/>
        </p:nvSpPr>
        <p:spPr>
          <a:xfrm>
            <a:off x="457200" y="1115568"/>
            <a:ext cx="914400" cy="548640"/>
          </a:xfrm>
          <a:prstGeom prst="rect">
            <a:avLst/>
          </a:prstGeom>
          <a:solidFill>
            <a:srgbClr val="2E5496"/>
          </a:solidFill>
          <a:ln w="12700">
            <a:solidFill>
              <a:srgbClr val="2E5496"/>
            </a:solidFill>
            <a:prstDash val="solid"/>
          </a:ln>
        </p:spPr>
      </p:sp>
      <p:sp>
        <p:nvSpPr>
          <p:cNvPr id="6" name="Text 3"/>
          <p:cNvSpPr txBox="1"/>
          <p:nvPr/>
        </p:nvSpPr>
        <p:spPr>
          <a:xfrm>
            <a:off x="457200" y="1115568"/>
            <a:ext cx="91440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 · v.6</a:t>
            </a:r>
            <a:endParaRPr lang="en-US" sz="1100" dirty="0"/>
          </a:p>
        </p:txBody>
      </p:sp>
      <p:sp>
        <p:nvSpPr>
          <p:cNvPr id="7" name="Shape 4"/>
          <p:cNvSpPr/>
          <p:nvPr/>
        </p:nvSpPr>
        <p:spPr>
          <a:xfrm>
            <a:off x="1371600" y="1115568"/>
            <a:ext cx="7315200" cy="548640"/>
          </a:xfrm>
          <a:prstGeom prst="rect">
            <a:avLst/>
          </a:prstGeom>
          <a:solidFill>
            <a:srgbClr val="F2F6FC"/>
          </a:solidFill>
          <a:ln w="9525">
            <a:solidFill>
              <a:srgbClr val="D5DCEA"/>
            </a:solidFill>
            <a:prstDash val="solid"/>
          </a:ln>
        </p:spPr>
      </p:sp>
      <p:sp>
        <p:nvSpPr>
          <p:cNvPr id="8" name="Text 5"/>
          <p:cNvSpPr txBox="1"/>
          <p:nvPr/>
        </p:nvSpPr>
        <p:spPr>
          <a:xfrm>
            <a:off x="1481328" y="1115568"/>
            <a:ext cx="416052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Added nothing to Paul's gospel — God shows personal favoritism to no man</a:t>
            </a:r>
            <a:endParaRPr lang="en-US" sz="1200" dirty="0"/>
          </a:p>
        </p:txBody>
      </p:sp>
      <p:sp>
        <p:nvSpPr>
          <p:cNvPr id="9" name="Text 6"/>
          <p:cNvSpPr txBox="1"/>
          <p:nvPr/>
        </p:nvSpPr>
        <p:spPr>
          <a:xfrm>
            <a:off x="5715000" y="1115568"/>
            <a:ext cx="2880360" cy="54864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πρόσωπον λαμβάνει</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“receives the face” — judges by status</a:t>
            </a:r>
            <a:endParaRPr lang="en-US" sz="1200" dirty="0"/>
          </a:p>
        </p:txBody>
      </p:sp>
      <p:sp>
        <p:nvSpPr>
          <p:cNvPr id="10" name="Shape 7"/>
          <p:cNvSpPr/>
          <p:nvPr/>
        </p:nvSpPr>
        <p:spPr>
          <a:xfrm>
            <a:off x="457200" y="1728216"/>
            <a:ext cx="914400" cy="548640"/>
          </a:xfrm>
          <a:prstGeom prst="rect">
            <a:avLst/>
          </a:prstGeom>
          <a:solidFill>
            <a:srgbClr val="2E5496"/>
          </a:solidFill>
          <a:ln w="12700">
            <a:solidFill>
              <a:srgbClr val="2E5496"/>
            </a:solidFill>
            <a:prstDash val="solid"/>
          </a:ln>
        </p:spPr>
      </p:sp>
      <p:sp>
        <p:nvSpPr>
          <p:cNvPr id="11" name="Text 8"/>
          <p:cNvSpPr txBox="1"/>
          <p:nvPr/>
        </p:nvSpPr>
        <p:spPr>
          <a:xfrm>
            <a:off x="457200" y="1728216"/>
            <a:ext cx="91440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b · v.7</a:t>
            </a:r>
            <a:endParaRPr lang="en-US" sz="1100" dirty="0"/>
          </a:p>
        </p:txBody>
      </p:sp>
      <p:sp>
        <p:nvSpPr>
          <p:cNvPr id="12" name="Shape 9"/>
          <p:cNvSpPr/>
          <p:nvPr/>
        </p:nvSpPr>
        <p:spPr>
          <a:xfrm>
            <a:off x="1371600" y="1728216"/>
            <a:ext cx="7315200" cy="548640"/>
          </a:xfrm>
          <a:prstGeom prst="rect">
            <a:avLst/>
          </a:prstGeom>
          <a:solidFill>
            <a:srgbClr val="FFFFFF"/>
          </a:solidFill>
          <a:ln w="9525">
            <a:solidFill>
              <a:srgbClr val="D5DCEA"/>
            </a:solidFill>
            <a:prstDash val="solid"/>
          </a:ln>
        </p:spPr>
      </p:sp>
      <p:sp>
        <p:nvSpPr>
          <p:cNvPr id="13" name="Text 10"/>
          <p:cNvSpPr txBox="1"/>
          <p:nvPr/>
        </p:nvSpPr>
        <p:spPr>
          <a:xfrm>
            <a:off x="1481328" y="1728216"/>
            <a:ext cx="416052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Saw his gospel was the same as Peter's — to Gentile and Jew alike</a:t>
            </a:r>
            <a:endParaRPr lang="en-US" sz="1200" dirty="0"/>
          </a:p>
        </p:txBody>
      </p:sp>
      <p:sp>
        <p:nvSpPr>
          <p:cNvPr id="14" name="Text 11"/>
          <p:cNvSpPr txBox="1"/>
          <p:nvPr/>
        </p:nvSpPr>
        <p:spPr>
          <a:xfrm>
            <a:off x="5715000" y="1728216"/>
            <a:ext cx="2880360" cy="54864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πεπίστευμαι</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Perf. Pass. — entrusted, and still so</a:t>
            </a:r>
            <a:endParaRPr lang="en-US" sz="1200" dirty="0"/>
          </a:p>
        </p:txBody>
      </p:sp>
      <p:sp>
        <p:nvSpPr>
          <p:cNvPr id="15" name="Shape 12"/>
          <p:cNvSpPr/>
          <p:nvPr/>
        </p:nvSpPr>
        <p:spPr>
          <a:xfrm>
            <a:off x="457200" y="2340864"/>
            <a:ext cx="914400" cy="548640"/>
          </a:xfrm>
          <a:prstGeom prst="rect">
            <a:avLst/>
          </a:prstGeom>
          <a:solidFill>
            <a:srgbClr val="2E5496"/>
          </a:solidFill>
          <a:ln w="12700">
            <a:solidFill>
              <a:srgbClr val="2E5496"/>
            </a:solidFill>
            <a:prstDash val="solid"/>
          </a:ln>
        </p:spPr>
      </p:sp>
      <p:sp>
        <p:nvSpPr>
          <p:cNvPr id="16" name="Text 13"/>
          <p:cNvSpPr txBox="1"/>
          <p:nvPr/>
        </p:nvSpPr>
        <p:spPr>
          <a:xfrm>
            <a:off x="457200" y="2340864"/>
            <a:ext cx="91440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 · v.8</a:t>
            </a:r>
            <a:endParaRPr lang="en-US" sz="1100" dirty="0"/>
          </a:p>
        </p:txBody>
      </p:sp>
      <p:sp>
        <p:nvSpPr>
          <p:cNvPr id="17" name="Shape 14"/>
          <p:cNvSpPr/>
          <p:nvPr/>
        </p:nvSpPr>
        <p:spPr>
          <a:xfrm>
            <a:off x="1371600" y="2340864"/>
            <a:ext cx="7315200" cy="548640"/>
          </a:xfrm>
          <a:prstGeom prst="rect">
            <a:avLst/>
          </a:prstGeom>
          <a:solidFill>
            <a:srgbClr val="F2F6FC"/>
          </a:solidFill>
          <a:ln w="9525">
            <a:solidFill>
              <a:srgbClr val="D5DCEA"/>
            </a:solidFill>
            <a:prstDash val="solid"/>
          </a:ln>
        </p:spPr>
      </p:sp>
      <p:sp>
        <p:nvSpPr>
          <p:cNvPr id="18" name="Text 15"/>
          <p:cNvSpPr txBox="1"/>
          <p:nvPr/>
        </p:nvSpPr>
        <p:spPr>
          <a:xfrm>
            <a:off x="1481328" y="2340864"/>
            <a:ext cx="416052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Recognized the same power at work in Peter and in Paul</a:t>
            </a:r>
            <a:endParaRPr lang="en-US" sz="1200" dirty="0"/>
          </a:p>
        </p:txBody>
      </p:sp>
      <p:sp>
        <p:nvSpPr>
          <p:cNvPr id="19" name="Text 16"/>
          <p:cNvSpPr txBox="1"/>
          <p:nvPr/>
        </p:nvSpPr>
        <p:spPr>
          <a:xfrm>
            <a:off x="5715000" y="2340864"/>
            <a:ext cx="2880360" cy="548640"/>
          </a:xfrm>
          <a:prstGeom prst="rect">
            <a:avLst/>
          </a:prstGeom>
          <a:noFill/>
          <a:ln/>
        </p:spPr>
        <p:txBody>
          <a:bodyPr wrap="square" lIns="0" tIns="0" rIns="0" bIns="0" rtlCol="0" anchor="ctr"/>
          <a:lstStyle/>
          <a:p>
            <a:pPr indent="0" marL="0">
              <a:buNone/>
            </a:pPr>
            <a:r>
              <a:rPr lang="en-US" sz="950" dirty="0">
                <a:solidFill>
                  <a:srgbClr val="595959"/>
                </a:solidFill>
                <a:latin typeface="Arial" pitchFamily="34" charset="0"/>
                <a:ea typeface="Arial" pitchFamily="34" charset="-122"/>
                <a:cs typeface="Arial" pitchFamily="34" charset="-120"/>
              </a:rPr>
              <a:t>God gives the increase (1 Cor 3:6)</a:t>
            </a:r>
            <a:endParaRPr lang="en-US" sz="1200" dirty="0"/>
          </a:p>
        </p:txBody>
      </p:sp>
      <p:sp>
        <p:nvSpPr>
          <p:cNvPr id="20" name="Shape 17"/>
          <p:cNvSpPr/>
          <p:nvPr/>
        </p:nvSpPr>
        <p:spPr>
          <a:xfrm>
            <a:off x="457200" y="2953512"/>
            <a:ext cx="914400" cy="548640"/>
          </a:xfrm>
          <a:prstGeom prst="rect">
            <a:avLst/>
          </a:prstGeom>
          <a:solidFill>
            <a:srgbClr val="2E5496"/>
          </a:solidFill>
          <a:ln w="12700">
            <a:solidFill>
              <a:srgbClr val="2E5496"/>
            </a:solidFill>
            <a:prstDash val="solid"/>
          </a:ln>
        </p:spPr>
      </p:sp>
      <p:sp>
        <p:nvSpPr>
          <p:cNvPr id="21" name="Text 18"/>
          <p:cNvSpPr txBox="1"/>
          <p:nvPr/>
        </p:nvSpPr>
        <p:spPr>
          <a:xfrm>
            <a:off x="457200" y="2953512"/>
            <a:ext cx="91440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d · v.9</a:t>
            </a:r>
            <a:endParaRPr lang="en-US" sz="1100" dirty="0"/>
          </a:p>
        </p:txBody>
      </p:sp>
      <p:sp>
        <p:nvSpPr>
          <p:cNvPr id="22" name="Shape 19"/>
          <p:cNvSpPr/>
          <p:nvPr/>
        </p:nvSpPr>
        <p:spPr>
          <a:xfrm>
            <a:off x="1371600" y="2953512"/>
            <a:ext cx="7315200" cy="548640"/>
          </a:xfrm>
          <a:prstGeom prst="rect">
            <a:avLst/>
          </a:prstGeom>
          <a:solidFill>
            <a:srgbClr val="FFFFFF"/>
          </a:solidFill>
          <a:ln w="9525">
            <a:solidFill>
              <a:srgbClr val="D5DCEA"/>
            </a:solidFill>
            <a:prstDash val="solid"/>
          </a:ln>
        </p:spPr>
      </p:sp>
      <p:sp>
        <p:nvSpPr>
          <p:cNvPr id="23" name="Text 20"/>
          <p:cNvSpPr txBox="1"/>
          <p:nvPr/>
        </p:nvSpPr>
        <p:spPr>
          <a:xfrm>
            <a:off x="1481328" y="2953512"/>
            <a:ext cx="416052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James, Peter and John gave the right hand of fellowship</a:t>
            </a:r>
            <a:endParaRPr lang="en-US" sz="1200" dirty="0"/>
          </a:p>
        </p:txBody>
      </p:sp>
      <p:sp>
        <p:nvSpPr>
          <p:cNvPr id="24" name="Text 21"/>
          <p:cNvSpPr txBox="1"/>
          <p:nvPr/>
        </p:nvSpPr>
        <p:spPr>
          <a:xfrm>
            <a:off x="5715000" y="2953512"/>
            <a:ext cx="2880360" cy="54864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κοινωνίας</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full partnership, one gospel</a:t>
            </a:r>
            <a:endParaRPr lang="en-US" sz="1200" dirty="0"/>
          </a:p>
        </p:txBody>
      </p:sp>
      <p:sp>
        <p:nvSpPr>
          <p:cNvPr id="25" name="Shape 22"/>
          <p:cNvSpPr/>
          <p:nvPr/>
        </p:nvSpPr>
        <p:spPr>
          <a:xfrm>
            <a:off x="457200" y="3566160"/>
            <a:ext cx="914400" cy="548640"/>
          </a:xfrm>
          <a:prstGeom prst="rect">
            <a:avLst/>
          </a:prstGeom>
          <a:solidFill>
            <a:srgbClr val="375623"/>
          </a:solidFill>
          <a:ln w="12700">
            <a:solidFill>
              <a:srgbClr val="375623"/>
            </a:solidFill>
            <a:prstDash val="solid"/>
          </a:ln>
        </p:spPr>
      </p:sp>
      <p:sp>
        <p:nvSpPr>
          <p:cNvPr id="26" name="Text 23"/>
          <p:cNvSpPr txBox="1"/>
          <p:nvPr/>
        </p:nvSpPr>
        <p:spPr>
          <a:xfrm>
            <a:off x="457200" y="3566160"/>
            <a:ext cx="91440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e · v.10</a:t>
            </a:r>
            <a:endParaRPr lang="en-US" sz="1100" dirty="0"/>
          </a:p>
        </p:txBody>
      </p:sp>
      <p:sp>
        <p:nvSpPr>
          <p:cNvPr id="27" name="Shape 24"/>
          <p:cNvSpPr/>
          <p:nvPr/>
        </p:nvSpPr>
        <p:spPr>
          <a:xfrm>
            <a:off x="1371600" y="3566160"/>
            <a:ext cx="7315200" cy="548640"/>
          </a:xfrm>
          <a:prstGeom prst="rect">
            <a:avLst/>
          </a:prstGeom>
          <a:solidFill>
            <a:srgbClr val="F2F6FC"/>
          </a:solidFill>
          <a:ln w="9525">
            <a:solidFill>
              <a:srgbClr val="D5DCEA"/>
            </a:solidFill>
            <a:prstDash val="solid"/>
          </a:ln>
        </p:spPr>
      </p:sp>
      <p:sp>
        <p:nvSpPr>
          <p:cNvPr id="28" name="Text 25"/>
          <p:cNvSpPr txBox="1"/>
          <p:nvPr/>
        </p:nvSpPr>
        <p:spPr>
          <a:xfrm>
            <a:off x="1481328" y="3566160"/>
            <a:ext cx="416052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Asked only that they remember the poor — what Paul came to do</a:t>
            </a:r>
            <a:endParaRPr lang="en-US" sz="1200" dirty="0"/>
          </a:p>
        </p:txBody>
      </p:sp>
      <p:sp>
        <p:nvSpPr>
          <p:cNvPr id="29" name="Text 26"/>
          <p:cNvSpPr txBox="1"/>
          <p:nvPr/>
        </p:nvSpPr>
        <p:spPr>
          <a:xfrm>
            <a:off x="5715000" y="3566160"/>
            <a:ext cx="2880360" cy="54864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πτωχῶν</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a fruit of grace, not an addition</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Discuss and apply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1:18 – 2:10 · from the study's posted questions and applications</a:t>
            </a:r>
            <a:endParaRPr lang="en-US" sz="1200" dirty="0"/>
          </a:p>
        </p:txBody>
      </p:sp>
      <p:sp>
        <p:nvSpPr>
          <p:cNvPr id="5" name="Shape 2"/>
          <p:cNvSpPr/>
          <p:nvPr/>
        </p:nvSpPr>
        <p:spPr>
          <a:xfrm>
            <a:off x="457200" y="1115568"/>
            <a:ext cx="4023360" cy="384048"/>
          </a:xfrm>
          <a:prstGeom prst="rect">
            <a:avLst/>
          </a:prstGeom>
          <a:solidFill>
            <a:srgbClr val="2E5496"/>
          </a:solidFill>
          <a:ln w="12700">
            <a:solidFill>
              <a:srgbClr val="2E5496"/>
            </a:solidFill>
            <a:prstDash val="solid"/>
          </a:ln>
        </p:spPr>
      </p:sp>
      <p:sp>
        <p:nvSpPr>
          <p:cNvPr id="6" name="Text 3"/>
          <p:cNvSpPr txBox="1"/>
          <p:nvPr/>
        </p:nvSpPr>
        <p:spPr>
          <a:xfrm>
            <a:off x="56692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Discuss</a:t>
            </a:r>
            <a:endParaRPr lang="en-US" sz="1300" dirty="0"/>
          </a:p>
        </p:txBody>
      </p:sp>
      <p:sp>
        <p:nvSpPr>
          <p:cNvPr id="7" name="Shape 4"/>
          <p:cNvSpPr/>
          <p:nvPr/>
        </p:nvSpPr>
        <p:spPr>
          <a:xfrm>
            <a:off x="457200" y="1499616"/>
            <a:ext cx="4023360" cy="2359152"/>
          </a:xfrm>
          <a:prstGeom prst="rect">
            <a:avLst/>
          </a:prstGeom>
          <a:solidFill>
            <a:srgbClr val="F2F6FC"/>
          </a:solidFill>
          <a:ln w="9525">
            <a:solidFill>
              <a:srgbClr val="D5DCEA"/>
            </a:solidFill>
            <a:prstDash val="solid"/>
          </a:ln>
        </p:spPr>
      </p:sp>
      <p:sp>
        <p:nvSpPr>
          <p:cNvPr id="8" name="Shape 5"/>
          <p:cNvSpPr/>
          <p:nvPr/>
        </p:nvSpPr>
        <p:spPr>
          <a:xfrm>
            <a:off x="4663440" y="1115568"/>
            <a:ext cx="4023360" cy="384048"/>
          </a:xfrm>
          <a:prstGeom prst="rect">
            <a:avLst/>
          </a:prstGeom>
          <a:solidFill>
            <a:srgbClr val="375623"/>
          </a:solidFill>
          <a:ln w="12700">
            <a:solidFill>
              <a:srgbClr val="375623"/>
            </a:solidFill>
            <a:prstDash val="solid"/>
          </a:ln>
        </p:spPr>
      </p:sp>
      <p:sp>
        <p:nvSpPr>
          <p:cNvPr id="9" name="Text 6"/>
          <p:cNvSpPr txBox="1"/>
          <p:nvPr/>
        </p:nvSpPr>
        <p:spPr>
          <a:xfrm>
            <a:off x="477316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Apply</a:t>
            </a:r>
            <a:endParaRPr lang="en-US" sz="1300" dirty="0"/>
          </a:p>
        </p:txBody>
      </p:sp>
      <p:sp>
        <p:nvSpPr>
          <p:cNvPr id="10" name="Shape 7"/>
          <p:cNvSpPr/>
          <p:nvPr/>
        </p:nvSpPr>
        <p:spPr>
          <a:xfrm>
            <a:off x="4663440" y="1499616"/>
            <a:ext cx="4023360" cy="2359152"/>
          </a:xfrm>
          <a:prstGeom prst="rect">
            <a:avLst/>
          </a:prstGeom>
          <a:solidFill>
            <a:srgbClr val="F2F6FC"/>
          </a:solidFill>
          <a:ln w="9525">
            <a:solidFill>
              <a:srgbClr val="D5DCEA"/>
            </a:solidFill>
            <a:prstDash val="solid"/>
          </a:ln>
        </p:spPr>
      </p:sp>
      <p:sp>
        <p:nvSpPr>
          <p:cNvPr id="11" name="Shape 8"/>
          <p:cNvSpPr/>
          <p:nvPr/>
        </p:nvSpPr>
        <p:spPr>
          <a:xfrm>
            <a:off x="566928" y="1636776"/>
            <a:ext cx="347472" cy="347472"/>
          </a:xfrm>
          <a:prstGeom prst="ellipse">
            <a:avLst/>
          </a:prstGeom>
          <a:solidFill>
            <a:srgbClr val="2E5496"/>
          </a:solidFill>
          <a:ln w="12700">
            <a:solidFill>
              <a:srgbClr val="2E5496"/>
            </a:solidFill>
            <a:prstDash val="solid"/>
          </a:ln>
        </p:spPr>
      </p:sp>
      <p:sp>
        <p:nvSpPr>
          <p:cNvPr id="12" name="Text 9"/>
          <p:cNvSpPr txBox="1"/>
          <p:nvPr/>
        </p:nvSpPr>
        <p:spPr>
          <a:xfrm>
            <a:off x="566928" y="163677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3" name="Text 10"/>
          <p:cNvSpPr txBox="1"/>
          <p:nvPr/>
        </p:nvSpPr>
        <p:spPr>
          <a:xfrm>
            <a:off x="1005840" y="1591056"/>
            <a:ext cx="3364992" cy="1042416"/>
          </a:xfrm>
          <a:prstGeom prst="rect">
            <a:avLst/>
          </a:prstGeom>
          <a:noFill/>
          <a:ln/>
        </p:spPr>
        <p:txBody>
          <a:bodyPr wrap="square" lIns="0" tIns="0" rIns="0" bIns="0" rtlCol="0" anchor="t"/>
          <a:lstStyle/>
          <a:p>
            <a:pPr indent="0" marL="0">
              <a:buNone/>
            </a:pPr>
            <a:r>
              <a:rPr lang="en-US" sz="1350" dirty="0">
                <a:solidFill>
                  <a:srgbClr val="262626"/>
                </a:solidFill>
                <a:latin typeface="Arial" pitchFamily="34" charset="0"/>
                <a:ea typeface="Arial" pitchFamily="34" charset="-122"/>
                <a:cs typeface="Arial" pitchFamily="34" charset="-120"/>
              </a:rPr>
              <a:t>Paul went to Jerusalem “by revelation” and discussed his gospel almost as an aside. What does that order of events protect?</a:t>
            </a:r>
            <a:endParaRPr lang="en-US" sz="1350" dirty="0"/>
          </a:p>
        </p:txBody>
      </p:sp>
      <p:sp>
        <p:nvSpPr>
          <p:cNvPr id="14" name="Shape 11"/>
          <p:cNvSpPr/>
          <p:nvPr/>
        </p:nvSpPr>
        <p:spPr>
          <a:xfrm>
            <a:off x="566928" y="2724912"/>
            <a:ext cx="347472" cy="347472"/>
          </a:xfrm>
          <a:prstGeom prst="ellipse">
            <a:avLst/>
          </a:prstGeom>
          <a:solidFill>
            <a:srgbClr val="2E5496"/>
          </a:solidFill>
          <a:ln w="12700">
            <a:solidFill>
              <a:srgbClr val="2E5496"/>
            </a:solidFill>
            <a:prstDash val="solid"/>
          </a:ln>
        </p:spPr>
      </p:sp>
      <p:sp>
        <p:nvSpPr>
          <p:cNvPr id="15" name="Text 12"/>
          <p:cNvSpPr txBox="1"/>
          <p:nvPr/>
        </p:nvSpPr>
        <p:spPr>
          <a:xfrm>
            <a:off x="566928" y="272491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6" name="Text 13"/>
          <p:cNvSpPr txBox="1"/>
          <p:nvPr/>
        </p:nvSpPr>
        <p:spPr>
          <a:xfrm>
            <a:off x="1005840" y="2679192"/>
            <a:ext cx="3364992" cy="1042416"/>
          </a:xfrm>
          <a:prstGeom prst="rect">
            <a:avLst/>
          </a:prstGeom>
          <a:noFill/>
          <a:ln/>
        </p:spPr>
        <p:txBody>
          <a:bodyPr wrap="square" lIns="0" tIns="0" rIns="0" bIns="0" rtlCol="0" anchor="t"/>
          <a:lstStyle/>
          <a:p>
            <a:pPr indent="0" marL="0">
              <a:buNone/>
            </a:pPr>
            <a:r>
              <a:rPr lang="en-US" sz="1350" dirty="0">
                <a:solidFill>
                  <a:srgbClr val="262626"/>
                </a:solidFill>
                <a:latin typeface="Arial" pitchFamily="34" charset="0"/>
                <a:ea typeface="Arial" pitchFamily="34" charset="-122"/>
                <a:cs typeface="Arial" pitchFamily="34" charset="-120"/>
              </a:rPr>
              <a:t>What two-fold purpose did the false brothers have in 2:4, and how does καταδουλόω (“to enslave”) describe the stakes?</a:t>
            </a:r>
            <a:endParaRPr lang="en-US" sz="1350" dirty="0"/>
          </a:p>
        </p:txBody>
      </p:sp>
      <p:sp>
        <p:nvSpPr>
          <p:cNvPr id="17" name="Text 14"/>
          <p:cNvSpPr txBox="1"/>
          <p:nvPr/>
        </p:nvSpPr>
        <p:spPr>
          <a:xfrm>
            <a:off x="4791456" y="1591056"/>
            <a:ext cx="3767328" cy="1042416"/>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Not Yielding, Not Even for an Hour</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Practice stating the gospel this week in one sentence, with nothing added to “believe.”</a:t>
            </a:r>
            <a:endParaRPr lang="en-US" sz="1200" dirty="0"/>
          </a:p>
        </p:txBody>
      </p:sp>
      <p:sp>
        <p:nvSpPr>
          <p:cNvPr id="18" name="Text 15"/>
          <p:cNvSpPr txBox="1"/>
          <p:nvPr/>
        </p:nvSpPr>
        <p:spPr>
          <a:xfrm>
            <a:off x="4791456" y="2679192"/>
            <a:ext cx="3767328" cy="1042416"/>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Bring the Relief, Discuss the Gospel Along the Way</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Meet one practical need for someone in your church family this week, without waiting for a “spiritual” reason.</a:t>
            </a:r>
            <a:endParaRPr lang="en-US" sz="1200" dirty="0"/>
          </a:p>
        </p:txBody>
      </p:sp>
      <p:sp>
        <p:nvSpPr>
          <p:cNvPr id="19" name="Shape 16"/>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0" name="Text 17"/>
          <p:cNvSpPr txBox="1"/>
          <p:nvPr/>
        </p:nvSpPr>
        <p:spPr>
          <a:xfrm>
            <a:off x="621792" y="4023360"/>
            <a:ext cx="7900416" cy="566928"/>
          </a:xfrm>
          <a:prstGeom prst="rect">
            <a:avLst/>
          </a:prstGeom>
          <a:noFill/>
          <a:ln/>
        </p:spPr>
        <p:txBody>
          <a:bodyPr wrap="square" lIns="0" tIns="0" rIns="0" bIns="0" rtlCol="0" anchor="ctr"/>
          <a:lstStyle/>
          <a:p>
            <a:pPr indent="0" marL="0">
              <a:buNone/>
            </a:pPr>
            <a:r>
              <a:rPr lang="en-US" sz="1250" b="1" dirty="0">
                <a:solidFill>
                  <a:srgbClr val="C9D5EE"/>
                </a:solidFill>
                <a:latin typeface="Arial" pitchFamily="34" charset="0"/>
                <a:ea typeface="Arial" pitchFamily="34" charset="-122"/>
                <a:cs typeface="Arial" pitchFamily="34" charset="-120"/>
              </a:rPr>
              <a:t>In one line:  </a:t>
            </a:r>
            <a:pPr indent="0" marL="0">
              <a:buNone/>
            </a:pPr>
            <a:r>
              <a:rPr lang="en-US" sz="1250" dirty="0">
                <a:solidFill>
                  <a:srgbClr val="FFFFFF"/>
                </a:solidFill>
                <a:latin typeface="Arial" pitchFamily="34" charset="0"/>
                <a:ea typeface="Arial" pitchFamily="34" charset="-122"/>
                <a:cs typeface="Arial" pitchFamily="34" charset="-120"/>
              </a:rPr>
              <a:t>Jerusalem added nothing to Paul's gospel. There is one gospel — and the ground is level at the cross.</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lstStyle/>
          <a:p>
            <a:pPr indent="0" marL="0">
              <a:buNone/>
            </a:pPr>
            <a:r>
              <a:rPr lang="en-US" sz="1400" dirty="0">
                <a:solidFill>
                  <a:srgbClr val="C9D5EE"/>
                </a:solidFill>
                <a:latin typeface="Arial" pitchFamily="34" charset="0"/>
                <a:ea typeface="Arial" pitchFamily="34" charset="-122"/>
                <a:cs typeface="Arial" pitchFamily="34" charset="-120"/>
              </a:rPr>
              <a:t>Study 5 of 16 · Galatians 2:11–21</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Peter Goes Back to School</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t"/>
          <a:lstStyle/>
          <a:p>
            <a:pPr indent="0" marL="0">
              <a:buNone/>
            </a:pPr>
            <a:r>
              <a:rPr lang="en-US" sz="1500" i="1" dirty="0">
                <a:solidFill>
                  <a:srgbClr val="E6ECF7"/>
                </a:solidFill>
                <a:latin typeface="Arial" pitchFamily="34" charset="0"/>
                <a:ea typeface="Arial" pitchFamily="34" charset="-122"/>
                <a:cs typeface="Arial" pitchFamily="34" charset="-120"/>
              </a:rPr>
              <a:t>The gospel of grace governs not only how a person is saved but how believers live together — and even a Spirit-taught apostle can drift under social pressure, needing loving but public correction anchored in justification by faith alone.</a:t>
            </a:r>
            <a:endParaRPr lang="en-US" sz="15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Four marks of the confrontation</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2:11–14 · Outline I — Paul confronts Peter about the gospel</a:t>
            </a:r>
            <a:endParaRPr lang="en-US" sz="1200" dirty="0"/>
          </a:p>
        </p:txBody>
      </p:sp>
      <p:sp>
        <p:nvSpPr>
          <p:cNvPr id="5" name="Shape 2"/>
          <p:cNvSpPr/>
          <p:nvPr/>
        </p:nvSpPr>
        <p:spPr>
          <a:xfrm>
            <a:off x="457200" y="1143000"/>
            <a:ext cx="4018788" cy="1325880"/>
          </a:xfrm>
          <a:prstGeom prst="rect">
            <a:avLst/>
          </a:prstGeom>
          <a:solidFill>
            <a:srgbClr val="F2F6FC"/>
          </a:solidFill>
          <a:ln w="9525">
            <a:solidFill>
              <a:srgbClr val="D5DCEA"/>
            </a:solidFill>
            <a:prstDash val="solid"/>
          </a:ln>
        </p:spPr>
      </p:sp>
      <p:sp>
        <p:nvSpPr>
          <p:cNvPr id="6" name="Shape 3"/>
          <p:cNvSpPr/>
          <p:nvPr/>
        </p:nvSpPr>
        <p:spPr>
          <a:xfrm>
            <a:off x="585216" y="1271016"/>
            <a:ext cx="402336" cy="402336"/>
          </a:xfrm>
          <a:prstGeom prst="ellipse">
            <a:avLst/>
          </a:prstGeom>
          <a:solidFill>
            <a:srgbClr val="2E5496"/>
          </a:solidFill>
          <a:ln w="12700">
            <a:solidFill>
              <a:srgbClr val="2E5496"/>
            </a:solidFill>
            <a:prstDash val="solid"/>
          </a:ln>
        </p:spPr>
      </p:sp>
      <p:sp>
        <p:nvSpPr>
          <p:cNvPr id="7" name="Text 4"/>
          <p:cNvSpPr txBox="1"/>
          <p:nvPr/>
        </p:nvSpPr>
        <p:spPr>
          <a:xfrm>
            <a:off x="585216" y="127101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a:t>
            </a:r>
            <a:endParaRPr lang="en-US" sz="1200" dirty="0"/>
          </a:p>
        </p:txBody>
      </p:sp>
      <p:sp>
        <p:nvSpPr>
          <p:cNvPr id="8" name="Text 5"/>
          <p:cNvSpPr txBox="1"/>
          <p:nvPr/>
        </p:nvSpPr>
        <p:spPr>
          <a:xfrm>
            <a:off x="1078992" y="1252728"/>
            <a:ext cx="3305556"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Public  ·  v.11</a:t>
            </a:r>
            <a:endParaRPr lang="en-US" sz="1200" dirty="0"/>
          </a:p>
        </p:txBody>
      </p:sp>
      <p:sp>
        <p:nvSpPr>
          <p:cNvPr id="9" name="Text 6"/>
          <p:cNvSpPr txBox="1"/>
          <p:nvPr/>
        </p:nvSpPr>
        <p:spPr>
          <a:xfrm>
            <a:off x="585216" y="1764792"/>
            <a:ext cx="3762756" cy="612648"/>
          </a:xfrm>
          <a:prstGeom prst="rect">
            <a:avLst/>
          </a:prstGeom>
          <a:noFill/>
          <a:ln/>
        </p:spPr>
        <p:txBody>
          <a:bodyPr wrap="square" lIns="0" tIns="0" rIns="0" bIns="0" rtlCol="0" anchor="t"/>
          <a:lstStyle/>
          <a:p>
            <a:pPr indent="0" marL="0">
              <a:buNone/>
            </a:pPr>
            <a:r>
              <a:rPr lang="en-US" sz="1250" b="1" dirty="0">
                <a:solidFill>
                  <a:srgbClr val="7030A0"/>
                </a:solidFill>
                <a:latin typeface="Arial" pitchFamily="34" charset="0"/>
                <a:ea typeface="Arial" pitchFamily="34" charset="-122"/>
                <a:cs typeface="Arial" pitchFamily="34" charset="-120"/>
              </a:rPr>
              <a:t>ἀντέστην</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“I withstood him to his face” — and “before them all” (v.14)</a:t>
            </a:r>
            <a:endParaRPr lang="en-US" sz="1200" dirty="0"/>
          </a:p>
        </p:txBody>
      </p:sp>
      <p:sp>
        <p:nvSpPr>
          <p:cNvPr id="10" name="Shape 7"/>
          <p:cNvSpPr/>
          <p:nvPr/>
        </p:nvSpPr>
        <p:spPr>
          <a:xfrm>
            <a:off x="4668012" y="1143000"/>
            <a:ext cx="4018788" cy="1325880"/>
          </a:xfrm>
          <a:prstGeom prst="rect">
            <a:avLst/>
          </a:prstGeom>
          <a:solidFill>
            <a:srgbClr val="F2F6FC"/>
          </a:solidFill>
          <a:ln w="9525">
            <a:solidFill>
              <a:srgbClr val="D5DCEA"/>
            </a:solidFill>
            <a:prstDash val="solid"/>
          </a:ln>
        </p:spPr>
      </p:sp>
      <p:sp>
        <p:nvSpPr>
          <p:cNvPr id="11" name="Shape 8"/>
          <p:cNvSpPr/>
          <p:nvPr/>
        </p:nvSpPr>
        <p:spPr>
          <a:xfrm>
            <a:off x="4796028" y="1271016"/>
            <a:ext cx="402336" cy="402336"/>
          </a:xfrm>
          <a:prstGeom prst="ellipse">
            <a:avLst/>
          </a:prstGeom>
          <a:solidFill>
            <a:srgbClr val="2E5496"/>
          </a:solidFill>
          <a:ln w="12700">
            <a:solidFill>
              <a:srgbClr val="2E5496"/>
            </a:solidFill>
            <a:prstDash val="solid"/>
          </a:ln>
        </p:spPr>
      </p:sp>
      <p:sp>
        <p:nvSpPr>
          <p:cNvPr id="12" name="Text 9"/>
          <p:cNvSpPr txBox="1"/>
          <p:nvPr/>
        </p:nvSpPr>
        <p:spPr>
          <a:xfrm>
            <a:off x="4796028" y="127101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B</a:t>
            </a:r>
            <a:endParaRPr lang="en-US" sz="1200" dirty="0"/>
          </a:p>
        </p:txBody>
      </p:sp>
      <p:sp>
        <p:nvSpPr>
          <p:cNvPr id="13" name="Text 10"/>
          <p:cNvSpPr txBox="1"/>
          <p:nvPr/>
        </p:nvSpPr>
        <p:spPr>
          <a:xfrm>
            <a:off x="5289804" y="1252728"/>
            <a:ext cx="3305556"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Pointed  ·  v.12</a:t>
            </a:r>
            <a:endParaRPr lang="en-US" sz="1200" dirty="0"/>
          </a:p>
        </p:txBody>
      </p:sp>
      <p:sp>
        <p:nvSpPr>
          <p:cNvPr id="14" name="Text 11"/>
          <p:cNvSpPr txBox="1"/>
          <p:nvPr/>
        </p:nvSpPr>
        <p:spPr>
          <a:xfrm>
            <a:off x="4796028" y="1764792"/>
            <a:ext cx="3762756" cy="612648"/>
          </a:xfrm>
          <a:prstGeom prst="rect">
            <a:avLst/>
          </a:prstGeom>
          <a:noFill/>
          <a:ln/>
        </p:spPr>
        <p:txBody>
          <a:bodyPr wrap="square" lIns="0" tIns="0" rIns="0" bIns="0" rtlCol="0" anchor="t"/>
          <a:lstStyle/>
          <a:p>
            <a:pPr indent="0" marL="0">
              <a:buNone/>
            </a:pPr>
            <a:r>
              <a:rPr lang="en-US" sz="1250" b="1" dirty="0">
                <a:solidFill>
                  <a:srgbClr val="7030A0"/>
                </a:solidFill>
                <a:latin typeface="Arial" pitchFamily="34" charset="0"/>
                <a:ea typeface="Arial" pitchFamily="34" charset="-122"/>
                <a:cs typeface="Arial" pitchFamily="34" charset="-120"/>
              </a:rPr>
              <a:t>ὑπέστελλεν</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Ate with Gentiles — then withdrew when men came from James</a:t>
            </a:r>
            <a:endParaRPr lang="en-US" sz="1200" dirty="0"/>
          </a:p>
        </p:txBody>
      </p:sp>
      <p:sp>
        <p:nvSpPr>
          <p:cNvPr id="15" name="Shape 12"/>
          <p:cNvSpPr/>
          <p:nvPr/>
        </p:nvSpPr>
        <p:spPr>
          <a:xfrm>
            <a:off x="457200" y="2633472"/>
            <a:ext cx="4018788" cy="1325880"/>
          </a:xfrm>
          <a:prstGeom prst="rect">
            <a:avLst/>
          </a:prstGeom>
          <a:solidFill>
            <a:srgbClr val="F2F6FC"/>
          </a:solidFill>
          <a:ln w="9525">
            <a:solidFill>
              <a:srgbClr val="D5DCEA"/>
            </a:solidFill>
            <a:prstDash val="solid"/>
          </a:ln>
        </p:spPr>
      </p:sp>
      <p:sp>
        <p:nvSpPr>
          <p:cNvPr id="16" name="Shape 13"/>
          <p:cNvSpPr/>
          <p:nvPr/>
        </p:nvSpPr>
        <p:spPr>
          <a:xfrm>
            <a:off x="585216" y="2761488"/>
            <a:ext cx="402336" cy="402336"/>
          </a:xfrm>
          <a:prstGeom prst="ellipse">
            <a:avLst/>
          </a:prstGeom>
          <a:solidFill>
            <a:srgbClr val="2E5496"/>
          </a:solidFill>
          <a:ln w="12700">
            <a:solidFill>
              <a:srgbClr val="2E5496"/>
            </a:solidFill>
            <a:prstDash val="solid"/>
          </a:ln>
        </p:spPr>
      </p:sp>
      <p:sp>
        <p:nvSpPr>
          <p:cNvPr id="17" name="Text 14"/>
          <p:cNvSpPr txBox="1"/>
          <p:nvPr/>
        </p:nvSpPr>
        <p:spPr>
          <a:xfrm>
            <a:off x="585216" y="2761488"/>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a:t>
            </a:r>
            <a:endParaRPr lang="en-US" sz="1200" dirty="0"/>
          </a:p>
        </p:txBody>
      </p:sp>
      <p:sp>
        <p:nvSpPr>
          <p:cNvPr id="18" name="Text 15"/>
          <p:cNvSpPr txBox="1"/>
          <p:nvPr/>
        </p:nvSpPr>
        <p:spPr>
          <a:xfrm>
            <a:off x="1078992" y="2743200"/>
            <a:ext cx="3305556"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Poisonous  ·  v.13</a:t>
            </a:r>
            <a:endParaRPr lang="en-US" sz="1200" dirty="0"/>
          </a:p>
        </p:txBody>
      </p:sp>
      <p:sp>
        <p:nvSpPr>
          <p:cNvPr id="19" name="Text 16"/>
          <p:cNvSpPr txBox="1"/>
          <p:nvPr/>
        </p:nvSpPr>
        <p:spPr>
          <a:xfrm>
            <a:off x="585216" y="3255264"/>
            <a:ext cx="3762756" cy="612648"/>
          </a:xfrm>
          <a:prstGeom prst="rect">
            <a:avLst/>
          </a:prstGeom>
          <a:noFill/>
          <a:ln/>
        </p:spPr>
        <p:txBody>
          <a:bodyPr wrap="square" lIns="0" tIns="0" rIns="0" bIns="0" rtlCol="0" anchor="t"/>
          <a:lstStyle/>
          <a:p>
            <a:pPr indent="0" marL="0">
              <a:buNone/>
            </a:pPr>
            <a:r>
              <a:rPr lang="en-US" sz="1250" b="1" dirty="0">
                <a:solidFill>
                  <a:srgbClr val="7030A0"/>
                </a:solidFill>
                <a:latin typeface="Arial" pitchFamily="34" charset="0"/>
                <a:ea typeface="Arial" pitchFamily="34" charset="-122"/>
                <a:cs typeface="Arial" pitchFamily="34" charset="-120"/>
              </a:rPr>
              <a:t>συνυπεκρίθησαν</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The rest of the Jews joined in — “even Barnabas was carried away”</a:t>
            </a:r>
            <a:endParaRPr lang="en-US" sz="1200" dirty="0"/>
          </a:p>
        </p:txBody>
      </p:sp>
      <p:sp>
        <p:nvSpPr>
          <p:cNvPr id="20" name="Shape 17"/>
          <p:cNvSpPr/>
          <p:nvPr/>
        </p:nvSpPr>
        <p:spPr>
          <a:xfrm>
            <a:off x="4668012" y="2633472"/>
            <a:ext cx="4018788" cy="1325880"/>
          </a:xfrm>
          <a:prstGeom prst="rect">
            <a:avLst/>
          </a:prstGeom>
          <a:solidFill>
            <a:srgbClr val="F2F6FC"/>
          </a:solidFill>
          <a:ln w="9525">
            <a:solidFill>
              <a:srgbClr val="D5DCEA"/>
            </a:solidFill>
            <a:prstDash val="solid"/>
          </a:ln>
        </p:spPr>
      </p:sp>
      <p:sp>
        <p:nvSpPr>
          <p:cNvPr id="21" name="Shape 18"/>
          <p:cNvSpPr/>
          <p:nvPr/>
        </p:nvSpPr>
        <p:spPr>
          <a:xfrm>
            <a:off x="4796028" y="2761488"/>
            <a:ext cx="402336" cy="402336"/>
          </a:xfrm>
          <a:prstGeom prst="ellipse">
            <a:avLst/>
          </a:prstGeom>
          <a:solidFill>
            <a:srgbClr val="375623"/>
          </a:solidFill>
          <a:ln w="12700">
            <a:solidFill>
              <a:srgbClr val="375623"/>
            </a:solidFill>
            <a:prstDash val="solid"/>
          </a:ln>
        </p:spPr>
      </p:sp>
      <p:sp>
        <p:nvSpPr>
          <p:cNvPr id="22" name="Text 19"/>
          <p:cNvSpPr txBox="1"/>
          <p:nvPr/>
        </p:nvSpPr>
        <p:spPr>
          <a:xfrm>
            <a:off x="4796028" y="2761488"/>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D</a:t>
            </a:r>
            <a:endParaRPr lang="en-US" sz="1200" dirty="0"/>
          </a:p>
        </p:txBody>
      </p:sp>
      <p:sp>
        <p:nvSpPr>
          <p:cNvPr id="23" name="Text 20"/>
          <p:cNvSpPr txBox="1"/>
          <p:nvPr/>
        </p:nvSpPr>
        <p:spPr>
          <a:xfrm>
            <a:off x="5289804" y="2743200"/>
            <a:ext cx="3305556"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Practical  ·  v.14</a:t>
            </a:r>
            <a:endParaRPr lang="en-US" sz="1200" dirty="0"/>
          </a:p>
        </p:txBody>
      </p:sp>
      <p:sp>
        <p:nvSpPr>
          <p:cNvPr id="24" name="Text 21"/>
          <p:cNvSpPr txBox="1"/>
          <p:nvPr/>
        </p:nvSpPr>
        <p:spPr>
          <a:xfrm>
            <a:off x="4796028" y="3255264"/>
            <a:ext cx="3762756" cy="612648"/>
          </a:xfrm>
          <a:prstGeom prst="rect">
            <a:avLst/>
          </a:prstGeom>
          <a:noFill/>
          <a:ln/>
        </p:spPr>
        <p:txBody>
          <a:bodyPr wrap="square" lIns="0" tIns="0" rIns="0" bIns="0" rtlCol="0" anchor="t"/>
          <a:lstStyle/>
          <a:p>
            <a:pPr indent="0" marL="0">
              <a:buNone/>
            </a:pPr>
            <a:r>
              <a:rPr lang="en-US" sz="1250" b="1" dirty="0">
                <a:solidFill>
                  <a:srgbClr val="7030A0"/>
                </a:solidFill>
                <a:latin typeface="Arial" pitchFamily="34" charset="0"/>
                <a:ea typeface="Arial" pitchFamily="34" charset="-122"/>
                <a:cs typeface="Arial" pitchFamily="34" charset="-120"/>
              </a:rPr>
              <a:t>ὀρθοποδοῦσιν</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Not “straight-footed” about the truth of the gospel</a:t>
            </a:r>
            <a:endParaRPr lang="en-US" sz="1200" dirty="0"/>
          </a:p>
        </p:txBody>
      </p:sp>
      <p:sp>
        <p:nvSpPr>
          <p:cNvPr id="25" name="Shape 22"/>
          <p:cNvSpPr/>
          <p:nvPr/>
        </p:nvSpPr>
        <p:spPr>
          <a:xfrm>
            <a:off x="457200" y="4206240"/>
            <a:ext cx="8229600" cy="457200"/>
          </a:xfrm>
          <a:prstGeom prst="roundRect">
            <a:avLst>
              <a:gd name="adj" fmla="val 12000"/>
            </a:avLst>
          </a:prstGeom>
          <a:solidFill>
            <a:srgbClr val="1F3864"/>
          </a:solidFill>
          <a:ln w="12700">
            <a:solidFill>
              <a:srgbClr val="1F3864"/>
            </a:solidFill>
            <a:prstDash val="solid"/>
          </a:ln>
        </p:spPr>
      </p:sp>
      <p:sp>
        <p:nvSpPr>
          <p:cNvPr id="26" name="Text 23"/>
          <p:cNvSpPr txBox="1"/>
          <p:nvPr/>
        </p:nvSpPr>
        <p:spPr>
          <a:xfrm>
            <a:off x="621792" y="4206240"/>
            <a:ext cx="7900416" cy="45720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“If you, being a Jew, live in the manner of Gentiles and not as the Jews, why do you compel Gentiles to live as Jews?” (v.14)</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Peter knew better</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2:11 · Outline I.A.1–3</a:t>
            </a:r>
            <a:endParaRPr lang="en-US" sz="1200" dirty="0"/>
          </a:p>
        </p:txBody>
      </p:sp>
      <p:sp>
        <p:nvSpPr>
          <p:cNvPr id="5" name="Shape 2"/>
          <p:cNvSpPr/>
          <p:nvPr/>
        </p:nvSpPr>
        <p:spPr>
          <a:xfrm>
            <a:off x="457200" y="1170432"/>
            <a:ext cx="8229600" cy="822960"/>
          </a:xfrm>
          <a:prstGeom prst="rect">
            <a:avLst/>
          </a:prstGeom>
          <a:solidFill>
            <a:srgbClr val="F2F6FC"/>
          </a:solidFill>
          <a:ln w="9525">
            <a:solidFill>
              <a:srgbClr val="D5DCEA"/>
            </a:solidFill>
            <a:prstDash val="solid"/>
          </a:ln>
        </p:spPr>
      </p:sp>
      <p:sp>
        <p:nvSpPr>
          <p:cNvPr id="6" name="Shape 3"/>
          <p:cNvSpPr/>
          <p:nvPr/>
        </p:nvSpPr>
        <p:spPr>
          <a:xfrm>
            <a:off x="585216" y="1353312"/>
            <a:ext cx="457200" cy="457200"/>
          </a:xfrm>
          <a:prstGeom prst="ellipse">
            <a:avLst/>
          </a:prstGeom>
          <a:solidFill>
            <a:srgbClr val="2E5496"/>
          </a:solidFill>
          <a:ln w="12700">
            <a:solidFill>
              <a:srgbClr val="2E5496"/>
            </a:solidFill>
            <a:prstDash val="solid"/>
          </a:ln>
        </p:spPr>
      </p:sp>
      <p:sp>
        <p:nvSpPr>
          <p:cNvPr id="7" name="Text 4"/>
          <p:cNvSpPr txBox="1"/>
          <p:nvPr/>
        </p:nvSpPr>
        <p:spPr>
          <a:xfrm>
            <a:off x="585216" y="13533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5"/>
          <p:cNvSpPr txBox="1"/>
          <p:nvPr/>
        </p:nvSpPr>
        <p:spPr>
          <a:xfrm>
            <a:off x="1207008" y="1170432"/>
            <a:ext cx="5468112" cy="822960"/>
          </a:xfrm>
          <a:prstGeom prst="rect">
            <a:avLst/>
          </a:prstGeom>
          <a:noFill/>
          <a:ln/>
        </p:spPr>
        <p:txBody>
          <a:bodyPr wrap="square" lIns="0" tIns="0" rIns="0" bIns="0" rtlCol="0" anchor="ctr"/>
          <a:lstStyle/>
          <a:p>
            <a:pPr indent="0" marL="0">
              <a:buNone/>
            </a:pPr>
            <a:r>
              <a:rPr lang="en-US" sz="1250" b="1" dirty="0">
                <a:solidFill>
                  <a:srgbClr val="1F3864"/>
                </a:solidFill>
                <a:latin typeface="Arial" pitchFamily="34" charset="0"/>
                <a:ea typeface="Arial" pitchFamily="34" charset="-122"/>
                <a:cs typeface="Arial" pitchFamily="34" charset="-120"/>
              </a:rPr>
              <a:t>Prepared better — Acts 10</a:t>
            </a:r>
            <a:endParaRPr lang="en-US" sz="1200" dirty="0"/>
          </a:p>
          <a:p>
            <a:pPr indent="0" marL="0">
              <a:buNone/>
            </a:pPr>
            <a:r>
              <a:rPr lang="en-US" sz="1200" dirty="0">
                <a:solidFill>
                  <a:srgbClr val="262626"/>
                </a:solidFill>
                <a:latin typeface="Arial" pitchFamily="34" charset="0"/>
                <a:ea typeface="Arial" pitchFamily="34" charset="-122"/>
                <a:cs typeface="Arial" pitchFamily="34" charset="-120"/>
              </a:rPr>
              <a:t>The sheet from heaven: “What God has cleansed you must not call common.” He then went to Cornelius.</a:t>
            </a:r>
            <a:endParaRPr lang="en-US" sz="1200" dirty="0"/>
          </a:p>
        </p:txBody>
      </p:sp>
      <p:sp>
        <p:nvSpPr>
          <p:cNvPr id="9" name="Text 6"/>
          <p:cNvSpPr txBox="1"/>
          <p:nvPr/>
        </p:nvSpPr>
        <p:spPr>
          <a:xfrm>
            <a:off x="6675120" y="1170432"/>
            <a:ext cx="1901952" cy="82296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about A.D. 40</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taught by revelation</a:t>
            </a:r>
            <a:endParaRPr lang="en-US" sz="1200" dirty="0"/>
          </a:p>
        </p:txBody>
      </p:sp>
      <p:sp>
        <p:nvSpPr>
          <p:cNvPr id="10" name="Shape 7"/>
          <p:cNvSpPr/>
          <p:nvPr/>
        </p:nvSpPr>
        <p:spPr>
          <a:xfrm>
            <a:off x="457200" y="2103120"/>
            <a:ext cx="8229600" cy="822960"/>
          </a:xfrm>
          <a:prstGeom prst="rect">
            <a:avLst/>
          </a:prstGeom>
          <a:solidFill>
            <a:srgbClr val="FFFFFF"/>
          </a:solidFill>
          <a:ln w="9525">
            <a:solidFill>
              <a:srgbClr val="D5DCEA"/>
            </a:solidFill>
            <a:prstDash val="solid"/>
          </a:ln>
        </p:spPr>
      </p:sp>
      <p:sp>
        <p:nvSpPr>
          <p:cNvPr id="11" name="Shape 8"/>
          <p:cNvSpPr/>
          <p:nvPr/>
        </p:nvSpPr>
        <p:spPr>
          <a:xfrm>
            <a:off x="585216" y="2286000"/>
            <a:ext cx="457200" cy="457200"/>
          </a:xfrm>
          <a:prstGeom prst="ellipse">
            <a:avLst/>
          </a:prstGeom>
          <a:solidFill>
            <a:srgbClr val="2E5496"/>
          </a:solidFill>
          <a:ln w="12700">
            <a:solidFill>
              <a:srgbClr val="2E5496"/>
            </a:solidFill>
            <a:prstDash val="solid"/>
          </a:ln>
        </p:spPr>
      </p:sp>
      <p:sp>
        <p:nvSpPr>
          <p:cNvPr id="12" name="Text 9"/>
          <p:cNvSpPr txBox="1"/>
          <p:nvPr/>
        </p:nvSpPr>
        <p:spPr>
          <a:xfrm>
            <a:off x="585216" y="22860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3" name="Text 10"/>
          <p:cNvSpPr txBox="1"/>
          <p:nvPr/>
        </p:nvSpPr>
        <p:spPr>
          <a:xfrm>
            <a:off x="1207008" y="2103120"/>
            <a:ext cx="7296912" cy="822960"/>
          </a:xfrm>
          <a:prstGeom prst="rect">
            <a:avLst/>
          </a:prstGeom>
          <a:noFill/>
          <a:ln/>
        </p:spPr>
        <p:txBody>
          <a:bodyPr wrap="square" lIns="0" tIns="0" rIns="0" bIns="0" rtlCol="0" anchor="ctr"/>
          <a:lstStyle/>
          <a:p>
            <a:pPr indent="0" marL="0">
              <a:buNone/>
            </a:pPr>
            <a:r>
              <a:rPr lang="en-US" sz="1250" b="1" dirty="0">
                <a:solidFill>
                  <a:srgbClr val="1F3864"/>
                </a:solidFill>
                <a:latin typeface="Arial" pitchFamily="34" charset="0"/>
                <a:ea typeface="Arial" pitchFamily="34" charset="-122"/>
                <a:cs typeface="Arial" pitchFamily="34" charset="-120"/>
              </a:rPr>
              <a:t>Preached better — Acts 11:17</a:t>
            </a:r>
            <a:endParaRPr lang="en-US" sz="1200" dirty="0"/>
          </a:p>
          <a:p>
            <a:pPr indent="0" marL="0">
              <a:buNone/>
            </a:pPr>
            <a:r>
              <a:rPr lang="en-US" sz="1200" dirty="0">
                <a:solidFill>
                  <a:srgbClr val="262626"/>
                </a:solidFill>
                <a:latin typeface="Arial" pitchFamily="34" charset="0"/>
                <a:ea typeface="Arial" pitchFamily="34" charset="-122"/>
                <a:cs typeface="Arial" pitchFamily="34" charset="-120"/>
              </a:rPr>
              <a:t>“Who was I that I could withstand God?” — he defended eating with Gentiles before the Jerusalem leaders.</a:t>
            </a:r>
            <a:endParaRPr lang="en-US" sz="1200" dirty="0"/>
          </a:p>
        </p:txBody>
      </p:sp>
      <p:sp>
        <p:nvSpPr>
          <p:cNvPr id="14" name="Shape 11"/>
          <p:cNvSpPr/>
          <p:nvPr/>
        </p:nvSpPr>
        <p:spPr>
          <a:xfrm>
            <a:off x="457200" y="3035808"/>
            <a:ext cx="8229600" cy="822960"/>
          </a:xfrm>
          <a:prstGeom prst="rect">
            <a:avLst/>
          </a:prstGeom>
          <a:solidFill>
            <a:srgbClr val="F2F6FC"/>
          </a:solidFill>
          <a:ln w="9525">
            <a:solidFill>
              <a:srgbClr val="D5DCEA"/>
            </a:solidFill>
            <a:prstDash val="solid"/>
          </a:ln>
        </p:spPr>
      </p:sp>
      <p:sp>
        <p:nvSpPr>
          <p:cNvPr id="15" name="Shape 12"/>
          <p:cNvSpPr/>
          <p:nvPr/>
        </p:nvSpPr>
        <p:spPr>
          <a:xfrm>
            <a:off x="585216" y="3218688"/>
            <a:ext cx="457200" cy="457200"/>
          </a:xfrm>
          <a:prstGeom prst="ellipse">
            <a:avLst/>
          </a:prstGeom>
          <a:solidFill>
            <a:srgbClr val="375623"/>
          </a:solidFill>
          <a:ln w="12700">
            <a:solidFill>
              <a:srgbClr val="375623"/>
            </a:solidFill>
            <a:prstDash val="solid"/>
          </a:ln>
        </p:spPr>
      </p:sp>
      <p:sp>
        <p:nvSpPr>
          <p:cNvPr id="16" name="Text 13"/>
          <p:cNvSpPr txBox="1"/>
          <p:nvPr/>
        </p:nvSpPr>
        <p:spPr>
          <a:xfrm>
            <a:off x="585216" y="321868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7" name="Text 14"/>
          <p:cNvSpPr txBox="1"/>
          <p:nvPr/>
        </p:nvSpPr>
        <p:spPr>
          <a:xfrm>
            <a:off x="1207008" y="3035808"/>
            <a:ext cx="7296912" cy="822960"/>
          </a:xfrm>
          <a:prstGeom prst="rect">
            <a:avLst/>
          </a:prstGeom>
          <a:noFill/>
          <a:ln/>
        </p:spPr>
        <p:txBody>
          <a:bodyPr wrap="square" lIns="0" tIns="0" rIns="0" bIns="0" rtlCol="0" anchor="ctr"/>
          <a:lstStyle/>
          <a:p>
            <a:pPr indent="0" marL="0">
              <a:buNone/>
            </a:pPr>
            <a:r>
              <a:rPr lang="en-US" sz="1250" b="1" dirty="0">
                <a:solidFill>
                  <a:srgbClr val="1F3864"/>
                </a:solidFill>
                <a:latin typeface="Arial" pitchFamily="34" charset="0"/>
                <a:ea typeface="Arial" pitchFamily="34" charset="-122"/>
                <a:cs typeface="Arial" pitchFamily="34" charset="-120"/>
              </a:rPr>
              <a:t>Promised better — Galatians 2:9</a:t>
            </a:r>
            <a:endParaRPr lang="en-US" sz="1200" dirty="0"/>
          </a:p>
          <a:p>
            <a:pPr indent="0" marL="0">
              <a:buNone/>
            </a:pPr>
            <a:r>
              <a:rPr lang="en-US" sz="1200" dirty="0">
                <a:solidFill>
                  <a:srgbClr val="262626"/>
                </a:solidFill>
                <a:latin typeface="Arial" pitchFamily="34" charset="0"/>
                <a:ea typeface="Arial" pitchFamily="34" charset="-122"/>
                <a:cs typeface="Arial" pitchFamily="34" charset="-120"/>
              </a:rPr>
              <a:t>James, Peter and John gave Paul the right hand of fellowship: you go to the Gentiles.</a:t>
            </a:r>
            <a:endParaRPr lang="en-US" sz="1200" dirty="0"/>
          </a:p>
        </p:txBody>
      </p:sp>
      <p:sp>
        <p:nvSpPr>
          <p:cNvPr id="18" name="Shape 15"/>
          <p:cNvSpPr/>
          <p:nvPr/>
        </p:nvSpPr>
        <p:spPr>
          <a:xfrm>
            <a:off x="457200" y="4041648"/>
            <a:ext cx="8229600" cy="548640"/>
          </a:xfrm>
          <a:prstGeom prst="roundRect">
            <a:avLst>
              <a:gd name="adj" fmla="val 10000"/>
            </a:avLst>
          </a:prstGeom>
          <a:solidFill>
            <a:srgbClr val="1F3864"/>
          </a:solidFill>
          <a:ln w="12700">
            <a:solidFill>
              <a:srgbClr val="1F3864"/>
            </a:solidFill>
            <a:prstDash val="solid"/>
          </a:ln>
        </p:spPr>
      </p:sp>
      <p:sp>
        <p:nvSpPr>
          <p:cNvPr id="19" name="Text 16"/>
          <p:cNvSpPr txBox="1"/>
          <p:nvPr/>
        </p:nvSpPr>
        <p:spPr>
          <a:xfrm>
            <a:off x="621792" y="4041648"/>
            <a:ext cx="7900416" cy="54864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“He was to be blamed” — κατεγνωσμένος, Perf. Pass. Ptc.: his conduct stood condemned, not his standing before God.</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How the drift happened</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2:12–13 · Outline I.B–C</a:t>
            </a:r>
            <a:endParaRPr lang="en-US" sz="1200" dirty="0"/>
          </a:p>
        </p:txBody>
      </p:sp>
      <p:sp>
        <p:nvSpPr>
          <p:cNvPr id="5" name="Shape 2"/>
          <p:cNvSpPr/>
          <p:nvPr/>
        </p:nvSpPr>
        <p:spPr>
          <a:xfrm>
            <a:off x="457200" y="1188720"/>
            <a:ext cx="1470355" cy="2148840"/>
          </a:xfrm>
          <a:prstGeom prst="rect">
            <a:avLst/>
          </a:prstGeom>
          <a:solidFill>
            <a:srgbClr val="F2F6FC"/>
          </a:solidFill>
          <a:ln w="9525">
            <a:solidFill>
              <a:srgbClr val="D5DCEA"/>
            </a:solidFill>
            <a:prstDash val="solid"/>
          </a:ln>
        </p:spPr>
      </p:sp>
      <p:sp>
        <p:nvSpPr>
          <p:cNvPr id="6" name="Shape 3"/>
          <p:cNvSpPr/>
          <p:nvPr/>
        </p:nvSpPr>
        <p:spPr>
          <a:xfrm>
            <a:off x="457200" y="1188720"/>
            <a:ext cx="1470355" cy="566928"/>
          </a:xfrm>
          <a:prstGeom prst="rect">
            <a:avLst/>
          </a:prstGeom>
          <a:solidFill>
            <a:srgbClr val="2E5496"/>
          </a:solidFill>
          <a:ln w="12700">
            <a:solidFill>
              <a:srgbClr val="2E5496"/>
            </a:solidFill>
            <a:prstDash val="solid"/>
          </a:ln>
        </p:spPr>
      </p:sp>
      <p:sp>
        <p:nvSpPr>
          <p:cNvPr id="7" name="Text 4"/>
          <p:cNvSpPr txBox="1"/>
          <p:nvPr/>
        </p:nvSpPr>
        <p:spPr>
          <a:xfrm>
            <a:off x="512064" y="1188720"/>
            <a:ext cx="1360627"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At Antioch</a:t>
            </a:r>
            <a:endParaRPr lang="en-US" sz="1150" dirty="0"/>
          </a:p>
        </p:txBody>
      </p:sp>
      <p:sp>
        <p:nvSpPr>
          <p:cNvPr id="8" name="Text 5"/>
          <p:cNvSpPr txBox="1"/>
          <p:nvPr/>
        </p:nvSpPr>
        <p:spPr>
          <a:xfrm>
            <a:off x="548640" y="1828800"/>
            <a:ext cx="1287475" cy="1197864"/>
          </a:xfrm>
          <a:prstGeom prst="rect">
            <a:avLst/>
          </a:prstGeom>
          <a:noFill/>
          <a:ln/>
        </p:spPr>
        <p:txBody>
          <a:bodyPr wrap="square" lIns="0" tIns="0" rIns="0" bIns="0" rtlCol="0" anchor="t"/>
          <a:lstStyle/>
          <a:p>
            <a:pPr algn="ctr" indent="0" marL="0">
              <a:buNone/>
            </a:pPr>
            <a:r>
              <a:rPr lang="en-US" sz="1200" dirty="0">
                <a:solidFill>
                  <a:srgbClr val="262626"/>
                </a:solidFill>
                <a:latin typeface="Arial" pitchFamily="34" charset="0"/>
                <a:ea typeface="Arial" pitchFamily="34" charset="-122"/>
                <a:cs typeface="Arial" pitchFamily="34" charset="-120"/>
              </a:rPr>
              <a:t>Peter eats with the Gentile believers</a:t>
            </a:r>
            <a:endParaRPr lang="en-US" sz="1200" dirty="0"/>
          </a:p>
        </p:txBody>
      </p:sp>
      <p:sp>
        <p:nvSpPr>
          <p:cNvPr id="9" name="Text 6"/>
          <p:cNvSpPr txBox="1"/>
          <p:nvPr/>
        </p:nvSpPr>
        <p:spPr>
          <a:xfrm>
            <a:off x="530352" y="3008376"/>
            <a:ext cx="1324051"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v.12a</a:t>
            </a:r>
            <a:endParaRPr lang="en-US" sz="950" dirty="0"/>
          </a:p>
        </p:txBody>
      </p:sp>
      <p:sp>
        <p:nvSpPr>
          <p:cNvPr id="10" name="Shape 7"/>
          <p:cNvSpPr/>
          <p:nvPr/>
        </p:nvSpPr>
        <p:spPr>
          <a:xfrm>
            <a:off x="1936699" y="2144268"/>
            <a:ext cx="201168" cy="237744"/>
          </a:xfrm>
          <a:prstGeom prst="rightArrow">
            <a:avLst/>
          </a:prstGeom>
          <a:solidFill>
            <a:srgbClr val="6B7280"/>
          </a:solidFill>
          <a:ln w="12700">
            <a:solidFill>
              <a:srgbClr val="6B7280"/>
            </a:solidFill>
            <a:prstDash val="solid"/>
          </a:ln>
        </p:spPr>
      </p:sp>
      <p:sp>
        <p:nvSpPr>
          <p:cNvPr id="11" name="Shape 8"/>
          <p:cNvSpPr/>
          <p:nvPr/>
        </p:nvSpPr>
        <p:spPr>
          <a:xfrm>
            <a:off x="2147011" y="1188720"/>
            <a:ext cx="1470355" cy="2148840"/>
          </a:xfrm>
          <a:prstGeom prst="rect">
            <a:avLst/>
          </a:prstGeom>
          <a:solidFill>
            <a:srgbClr val="F2F6FC"/>
          </a:solidFill>
          <a:ln w="9525">
            <a:solidFill>
              <a:srgbClr val="D5DCEA"/>
            </a:solidFill>
            <a:prstDash val="solid"/>
          </a:ln>
        </p:spPr>
      </p:sp>
      <p:sp>
        <p:nvSpPr>
          <p:cNvPr id="12" name="Shape 9"/>
          <p:cNvSpPr/>
          <p:nvPr/>
        </p:nvSpPr>
        <p:spPr>
          <a:xfrm>
            <a:off x="2147011" y="1188720"/>
            <a:ext cx="1470355" cy="566928"/>
          </a:xfrm>
          <a:prstGeom prst="rect">
            <a:avLst/>
          </a:prstGeom>
          <a:solidFill>
            <a:srgbClr val="6B7280"/>
          </a:solidFill>
          <a:ln w="12700">
            <a:solidFill>
              <a:srgbClr val="6B7280"/>
            </a:solidFill>
            <a:prstDash val="solid"/>
          </a:ln>
        </p:spPr>
      </p:sp>
      <p:sp>
        <p:nvSpPr>
          <p:cNvPr id="13" name="Text 10"/>
          <p:cNvSpPr txBox="1"/>
          <p:nvPr/>
        </p:nvSpPr>
        <p:spPr>
          <a:xfrm>
            <a:off x="2201875" y="1188720"/>
            <a:ext cx="1360627"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Men from James</a:t>
            </a:r>
            <a:endParaRPr lang="en-US" sz="1150" dirty="0"/>
          </a:p>
        </p:txBody>
      </p:sp>
      <p:sp>
        <p:nvSpPr>
          <p:cNvPr id="14" name="Text 11"/>
          <p:cNvSpPr txBox="1"/>
          <p:nvPr/>
        </p:nvSpPr>
        <p:spPr>
          <a:xfrm>
            <a:off x="2238451" y="1828800"/>
            <a:ext cx="1287475" cy="1197864"/>
          </a:xfrm>
          <a:prstGeom prst="rect">
            <a:avLst/>
          </a:prstGeom>
          <a:noFill/>
          <a:ln/>
        </p:spPr>
        <p:txBody>
          <a:bodyPr wrap="square" lIns="0" tIns="0" rIns="0" bIns="0" rtlCol="0" anchor="t"/>
          <a:lstStyle/>
          <a:p>
            <a:pPr algn="ctr" indent="0" marL="0">
              <a:buNone/>
            </a:pPr>
            <a:r>
              <a:rPr lang="en-US" sz="1200" dirty="0">
                <a:solidFill>
                  <a:srgbClr val="262626"/>
                </a:solidFill>
                <a:latin typeface="Arial" pitchFamily="34" charset="0"/>
                <a:ea typeface="Arial" pitchFamily="34" charset="-122"/>
                <a:cs typeface="Arial" pitchFamily="34" charset="-120"/>
              </a:rPr>
              <a:t>Visitors arrive from the Jerusalem church</a:t>
            </a:r>
            <a:endParaRPr lang="en-US" sz="1200" dirty="0"/>
          </a:p>
        </p:txBody>
      </p:sp>
      <p:sp>
        <p:nvSpPr>
          <p:cNvPr id="15" name="Text 12"/>
          <p:cNvSpPr txBox="1"/>
          <p:nvPr/>
        </p:nvSpPr>
        <p:spPr>
          <a:xfrm>
            <a:off x="2220163" y="3008376"/>
            <a:ext cx="1324051"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v.12b</a:t>
            </a:r>
            <a:endParaRPr lang="en-US" sz="950" dirty="0"/>
          </a:p>
        </p:txBody>
      </p:sp>
      <p:sp>
        <p:nvSpPr>
          <p:cNvPr id="16" name="Shape 13"/>
          <p:cNvSpPr/>
          <p:nvPr/>
        </p:nvSpPr>
        <p:spPr>
          <a:xfrm>
            <a:off x="3626510" y="2144268"/>
            <a:ext cx="201168" cy="237744"/>
          </a:xfrm>
          <a:prstGeom prst="rightArrow">
            <a:avLst/>
          </a:prstGeom>
          <a:solidFill>
            <a:srgbClr val="6B7280"/>
          </a:solidFill>
          <a:ln w="12700">
            <a:solidFill>
              <a:srgbClr val="6B7280"/>
            </a:solidFill>
            <a:prstDash val="solid"/>
          </a:ln>
        </p:spPr>
      </p:sp>
      <p:sp>
        <p:nvSpPr>
          <p:cNvPr id="17" name="Shape 14"/>
          <p:cNvSpPr/>
          <p:nvPr/>
        </p:nvSpPr>
        <p:spPr>
          <a:xfrm>
            <a:off x="3836822" y="1188720"/>
            <a:ext cx="1470355" cy="2148840"/>
          </a:xfrm>
          <a:prstGeom prst="rect">
            <a:avLst/>
          </a:prstGeom>
          <a:solidFill>
            <a:srgbClr val="F2F6FC"/>
          </a:solidFill>
          <a:ln w="9525">
            <a:solidFill>
              <a:srgbClr val="D5DCEA"/>
            </a:solidFill>
            <a:prstDash val="solid"/>
          </a:ln>
        </p:spPr>
      </p:sp>
      <p:sp>
        <p:nvSpPr>
          <p:cNvPr id="18" name="Shape 15"/>
          <p:cNvSpPr/>
          <p:nvPr/>
        </p:nvSpPr>
        <p:spPr>
          <a:xfrm>
            <a:off x="3836822" y="1188720"/>
            <a:ext cx="1470355" cy="566928"/>
          </a:xfrm>
          <a:prstGeom prst="rect">
            <a:avLst/>
          </a:prstGeom>
          <a:solidFill>
            <a:srgbClr val="6B7280"/>
          </a:solidFill>
          <a:ln w="12700">
            <a:solidFill>
              <a:srgbClr val="6B7280"/>
            </a:solidFill>
            <a:prstDash val="solid"/>
          </a:ln>
        </p:spPr>
      </p:sp>
      <p:sp>
        <p:nvSpPr>
          <p:cNvPr id="19" name="Text 16"/>
          <p:cNvSpPr txBox="1"/>
          <p:nvPr/>
        </p:nvSpPr>
        <p:spPr>
          <a:xfrm>
            <a:off x="3891686" y="1188720"/>
            <a:ext cx="1360627"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He withdraws</a:t>
            </a:r>
            <a:endParaRPr lang="en-US" sz="1150" dirty="0"/>
          </a:p>
        </p:txBody>
      </p:sp>
      <p:sp>
        <p:nvSpPr>
          <p:cNvPr id="20" name="Text 17"/>
          <p:cNvSpPr txBox="1"/>
          <p:nvPr/>
        </p:nvSpPr>
        <p:spPr>
          <a:xfrm>
            <a:off x="3928262" y="1828800"/>
            <a:ext cx="1287475" cy="1197864"/>
          </a:xfrm>
          <a:prstGeom prst="rect">
            <a:avLst/>
          </a:prstGeom>
          <a:noFill/>
          <a:ln/>
        </p:spPr>
        <p:txBody>
          <a:bodyPr wrap="square" lIns="0" tIns="0" rIns="0" bIns="0" rtlCol="0" anchor="t"/>
          <a:lstStyle/>
          <a:p>
            <a:pPr algn="ctr" indent="0" marL="0">
              <a:buNone/>
            </a:pPr>
            <a:r>
              <a:rPr lang="en-US" sz="1250" b="1" dirty="0">
                <a:solidFill>
                  <a:srgbClr val="7030A0"/>
                </a:solidFill>
                <a:latin typeface="Arial" pitchFamily="34" charset="0"/>
                <a:ea typeface="Arial" pitchFamily="34" charset="-122"/>
                <a:cs typeface="Arial" pitchFamily="34" charset="-120"/>
              </a:rPr>
              <a:t>ὑπέστελλεν</a:t>
            </a:r>
            <a:endParaRPr lang="en-US" sz="1200" dirty="0"/>
          </a:p>
          <a:p>
            <a:pPr algn="ctr" indent="0" marL="0">
              <a:buNone/>
            </a:pPr>
            <a:r>
              <a:rPr lang="en-US" sz="1200" dirty="0">
                <a:solidFill>
                  <a:srgbClr val="262626"/>
                </a:solidFill>
                <a:latin typeface="Arial" pitchFamily="34" charset="0"/>
                <a:ea typeface="Arial" pitchFamily="34" charset="-122"/>
                <a:cs typeface="Arial" pitchFamily="34" charset="-120"/>
              </a:rPr>
              <a:t>Imperfect — a gradual, repeated retreat</a:t>
            </a:r>
            <a:endParaRPr lang="en-US" sz="1200" dirty="0"/>
          </a:p>
        </p:txBody>
      </p:sp>
      <p:sp>
        <p:nvSpPr>
          <p:cNvPr id="21" name="Text 18"/>
          <p:cNvSpPr txBox="1"/>
          <p:nvPr/>
        </p:nvSpPr>
        <p:spPr>
          <a:xfrm>
            <a:off x="3909974" y="3008376"/>
            <a:ext cx="1324051"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v.12c</a:t>
            </a:r>
            <a:endParaRPr lang="en-US" sz="950" dirty="0"/>
          </a:p>
        </p:txBody>
      </p:sp>
      <p:sp>
        <p:nvSpPr>
          <p:cNvPr id="22" name="Shape 19"/>
          <p:cNvSpPr/>
          <p:nvPr/>
        </p:nvSpPr>
        <p:spPr>
          <a:xfrm>
            <a:off x="5316322" y="2144268"/>
            <a:ext cx="201168" cy="237744"/>
          </a:xfrm>
          <a:prstGeom prst="rightArrow">
            <a:avLst/>
          </a:prstGeom>
          <a:solidFill>
            <a:srgbClr val="6B7280"/>
          </a:solidFill>
          <a:ln w="12700">
            <a:solidFill>
              <a:srgbClr val="6B7280"/>
            </a:solidFill>
            <a:prstDash val="solid"/>
          </a:ln>
        </p:spPr>
      </p:sp>
      <p:sp>
        <p:nvSpPr>
          <p:cNvPr id="23" name="Shape 20"/>
          <p:cNvSpPr/>
          <p:nvPr/>
        </p:nvSpPr>
        <p:spPr>
          <a:xfrm>
            <a:off x="5526634" y="1188720"/>
            <a:ext cx="1470355" cy="2148840"/>
          </a:xfrm>
          <a:prstGeom prst="rect">
            <a:avLst/>
          </a:prstGeom>
          <a:solidFill>
            <a:srgbClr val="F2F6FC"/>
          </a:solidFill>
          <a:ln w="9525">
            <a:solidFill>
              <a:srgbClr val="D5DCEA"/>
            </a:solidFill>
            <a:prstDash val="solid"/>
          </a:ln>
        </p:spPr>
      </p:sp>
      <p:sp>
        <p:nvSpPr>
          <p:cNvPr id="24" name="Shape 21"/>
          <p:cNvSpPr/>
          <p:nvPr/>
        </p:nvSpPr>
        <p:spPr>
          <a:xfrm>
            <a:off x="5526634" y="1188720"/>
            <a:ext cx="1470355" cy="566928"/>
          </a:xfrm>
          <a:prstGeom prst="rect">
            <a:avLst/>
          </a:prstGeom>
          <a:solidFill>
            <a:srgbClr val="6B7280"/>
          </a:solidFill>
          <a:ln w="12700">
            <a:solidFill>
              <a:srgbClr val="6B7280"/>
            </a:solidFill>
            <a:prstDash val="solid"/>
          </a:ln>
        </p:spPr>
      </p:sp>
      <p:sp>
        <p:nvSpPr>
          <p:cNvPr id="25" name="Text 22"/>
          <p:cNvSpPr txBox="1"/>
          <p:nvPr/>
        </p:nvSpPr>
        <p:spPr>
          <a:xfrm>
            <a:off x="5581498" y="1188720"/>
            <a:ext cx="1360627"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The rest follow</a:t>
            </a:r>
            <a:endParaRPr lang="en-US" sz="1150" dirty="0"/>
          </a:p>
        </p:txBody>
      </p:sp>
      <p:sp>
        <p:nvSpPr>
          <p:cNvPr id="26" name="Text 23"/>
          <p:cNvSpPr txBox="1"/>
          <p:nvPr/>
        </p:nvSpPr>
        <p:spPr>
          <a:xfrm>
            <a:off x="5618074" y="1828800"/>
            <a:ext cx="1287475" cy="1197864"/>
          </a:xfrm>
          <a:prstGeom prst="rect">
            <a:avLst/>
          </a:prstGeom>
          <a:noFill/>
          <a:ln/>
        </p:spPr>
        <p:txBody>
          <a:bodyPr wrap="square" lIns="0" tIns="0" rIns="0" bIns="0" rtlCol="0" anchor="t"/>
          <a:lstStyle/>
          <a:p>
            <a:pPr algn="ctr" indent="0" marL="0">
              <a:buNone/>
            </a:pPr>
            <a:r>
              <a:rPr lang="en-US" sz="1200" dirty="0">
                <a:solidFill>
                  <a:srgbClr val="262626"/>
                </a:solidFill>
                <a:latin typeface="Arial" pitchFamily="34" charset="0"/>
                <a:ea typeface="Arial" pitchFamily="34" charset="-122"/>
                <a:cs typeface="Arial" pitchFamily="34" charset="-120"/>
              </a:rPr>
              <a:t>The other Jewish believers join him</a:t>
            </a:r>
            <a:endParaRPr lang="en-US" sz="1200" dirty="0"/>
          </a:p>
        </p:txBody>
      </p:sp>
      <p:sp>
        <p:nvSpPr>
          <p:cNvPr id="27" name="Text 24"/>
          <p:cNvSpPr txBox="1"/>
          <p:nvPr/>
        </p:nvSpPr>
        <p:spPr>
          <a:xfrm>
            <a:off x="5599786" y="3008376"/>
            <a:ext cx="1324051"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v.13a</a:t>
            </a:r>
            <a:endParaRPr lang="en-US" sz="950" dirty="0"/>
          </a:p>
        </p:txBody>
      </p:sp>
      <p:sp>
        <p:nvSpPr>
          <p:cNvPr id="28" name="Shape 25"/>
          <p:cNvSpPr/>
          <p:nvPr/>
        </p:nvSpPr>
        <p:spPr>
          <a:xfrm>
            <a:off x="7006133" y="2144268"/>
            <a:ext cx="201168" cy="237744"/>
          </a:xfrm>
          <a:prstGeom prst="rightArrow">
            <a:avLst/>
          </a:prstGeom>
          <a:solidFill>
            <a:srgbClr val="6B7280"/>
          </a:solidFill>
          <a:ln w="12700">
            <a:solidFill>
              <a:srgbClr val="6B7280"/>
            </a:solidFill>
            <a:prstDash val="solid"/>
          </a:ln>
        </p:spPr>
      </p:sp>
      <p:sp>
        <p:nvSpPr>
          <p:cNvPr id="29" name="Shape 26"/>
          <p:cNvSpPr/>
          <p:nvPr/>
        </p:nvSpPr>
        <p:spPr>
          <a:xfrm>
            <a:off x="7216445" y="1188720"/>
            <a:ext cx="1470355" cy="2148840"/>
          </a:xfrm>
          <a:prstGeom prst="rect">
            <a:avLst/>
          </a:prstGeom>
          <a:solidFill>
            <a:srgbClr val="F2F6FC"/>
          </a:solidFill>
          <a:ln w="9525">
            <a:solidFill>
              <a:srgbClr val="D5DCEA"/>
            </a:solidFill>
            <a:prstDash val="solid"/>
          </a:ln>
        </p:spPr>
      </p:sp>
      <p:sp>
        <p:nvSpPr>
          <p:cNvPr id="30" name="Shape 27"/>
          <p:cNvSpPr/>
          <p:nvPr/>
        </p:nvSpPr>
        <p:spPr>
          <a:xfrm>
            <a:off x="7216445" y="1188720"/>
            <a:ext cx="1470355" cy="566928"/>
          </a:xfrm>
          <a:prstGeom prst="rect">
            <a:avLst/>
          </a:prstGeom>
          <a:solidFill>
            <a:srgbClr val="7030A0"/>
          </a:solidFill>
          <a:ln w="12700">
            <a:solidFill>
              <a:srgbClr val="7030A0"/>
            </a:solidFill>
            <a:prstDash val="solid"/>
          </a:ln>
        </p:spPr>
      </p:sp>
      <p:sp>
        <p:nvSpPr>
          <p:cNvPr id="31" name="Text 28"/>
          <p:cNvSpPr txBox="1"/>
          <p:nvPr/>
        </p:nvSpPr>
        <p:spPr>
          <a:xfrm>
            <a:off x="7271309" y="1188720"/>
            <a:ext cx="1360627"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Even Barnabas</a:t>
            </a:r>
            <a:endParaRPr lang="en-US" sz="1150" dirty="0"/>
          </a:p>
        </p:txBody>
      </p:sp>
      <p:sp>
        <p:nvSpPr>
          <p:cNvPr id="32" name="Text 29"/>
          <p:cNvSpPr txBox="1"/>
          <p:nvPr/>
        </p:nvSpPr>
        <p:spPr>
          <a:xfrm>
            <a:off x="7307885" y="1828800"/>
            <a:ext cx="1287475" cy="1197864"/>
          </a:xfrm>
          <a:prstGeom prst="rect">
            <a:avLst/>
          </a:prstGeom>
          <a:noFill/>
          <a:ln/>
        </p:spPr>
        <p:txBody>
          <a:bodyPr wrap="square" lIns="0" tIns="0" rIns="0" bIns="0" rtlCol="0" anchor="t"/>
          <a:lstStyle/>
          <a:p>
            <a:pPr algn="ctr" indent="0" marL="0">
              <a:buNone/>
            </a:pPr>
            <a:r>
              <a:rPr lang="en-US" sz="1200" dirty="0">
                <a:solidFill>
                  <a:srgbClr val="262626"/>
                </a:solidFill>
                <a:latin typeface="Arial" pitchFamily="34" charset="0"/>
                <a:ea typeface="Arial" pitchFamily="34" charset="-122"/>
                <a:cs typeface="Arial" pitchFamily="34" charset="-120"/>
              </a:rPr>
              <a:t>“carried away with their hypocrisy”</a:t>
            </a:r>
            <a:endParaRPr lang="en-US" sz="1200" dirty="0"/>
          </a:p>
        </p:txBody>
      </p:sp>
      <p:sp>
        <p:nvSpPr>
          <p:cNvPr id="33" name="Text 30"/>
          <p:cNvSpPr txBox="1"/>
          <p:nvPr/>
        </p:nvSpPr>
        <p:spPr>
          <a:xfrm>
            <a:off x="7289597" y="3008376"/>
            <a:ext cx="1324051"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v.13b</a:t>
            </a:r>
            <a:endParaRPr lang="en-US" sz="950" dirty="0"/>
          </a:p>
        </p:txBody>
      </p:sp>
      <p:sp>
        <p:nvSpPr>
          <p:cNvPr id="34" name="Shape 31"/>
          <p:cNvSpPr/>
          <p:nvPr/>
        </p:nvSpPr>
        <p:spPr>
          <a:xfrm>
            <a:off x="457200" y="3611880"/>
            <a:ext cx="8229600" cy="548640"/>
          </a:xfrm>
          <a:prstGeom prst="roundRect">
            <a:avLst>
              <a:gd name="adj" fmla="val 10000"/>
            </a:avLst>
          </a:prstGeom>
          <a:solidFill>
            <a:srgbClr val="1F3864"/>
          </a:solidFill>
          <a:ln w="12700">
            <a:solidFill>
              <a:srgbClr val="1F3864"/>
            </a:solidFill>
            <a:prstDash val="solid"/>
          </a:ln>
        </p:spPr>
      </p:sp>
      <p:sp>
        <p:nvSpPr>
          <p:cNvPr id="35" name="Text 32"/>
          <p:cNvSpPr txBox="1"/>
          <p:nvPr/>
        </p:nvSpPr>
        <p:spPr>
          <a:xfrm>
            <a:off x="621792" y="3611880"/>
            <a:ext cx="7900416" cy="54864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The example said there were two bodies of Christ — one Jewish, one Gentile. Hypocrisy spreads in community.</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Separate by birth — the same by faith</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2:15–16 · Outline II — Paul corrects Peter</a:t>
            </a:r>
            <a:endParaRPr lang="en-US" sz="1200" dirty="0"/>
          </a:p>
        </p:txBody>
      </p:sp>
      <p:sp>
        <p:nvSpPr>
          <p:cNvPr id="5" name="Shape 2"/>
          <p:cNvSpPr/>
          <p:nvPr/>
        </p:nvSpPr>
        <p:spPr>
          <a:xfrm>
            <a:off x="457200" y="1143000"/>
            <a:ext cx="3291840" cy="566928"/>
          </a:xfrm>
          <a:prstGeom prst="rect">
            <a:avLst/>
          </a:prstGeom>
          <a:solidFill>
            <a:srgbClr val="6B7280"/>
          </a:solidFill>
          <a:ln w="12700">
            <a:solidFill>
              <a:srgbClr val="6B7280"/>
            </a:solidFill>
            <a:prstDash val="solid"/>
          </a:ln>
        </p:spPr>
      </p:sp>
      <p:sp>
        <p:nvSpPr>
          <p:cNvPr id="6" name="Text 3"/>
          <p:cNvSpPr txBox="1"/>
          <p:nvPr/>
        </p:nvSpPr>
        <p:spPr>
          <a:xfrm>
            <a:off x="548640" y="1188720"/>
            <a:ext cx="310896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Separate — v.15</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φύσει</a:t>
            </a:r>
            <a:pPr indent="0" marL="0">
              <a:buNone/>
            </a:pPr>
            <a:r>
              <a:rPr lang="en-US" sz="850" dirty="0">
                <a:solidFill>
                  <a:srgbClr val="DCE4F2"/>
                </a:solidFill>
                <a:latin typeface="Arial" pitchFamily="34" charset="0"/>
                <a:ea typeface="Arial" pitchFamily="34" charset="-122"/>
                <a:cs typeface="Arial" pitchFamily="34" charset="-120"/>
              </a:rPr>
              <a:t>  by nature, by birth</a:t>
            </a:r>
            <a:endParaRPr lang="en-US" sz="1200" dirty="0"/>
          </a:p>
        </p:txBody>
      </p:sp>
      <p:sp>
        <p:nvSpPr>
          <p:cNvPr id="7" name="Shape 4"/>
          <p:cNvSpPr/>
          <p:nvPr/>
        </p:nvSpPr>
        <p:spPr>
          <a:xfrm>
            <a:off x="457200" y="1709928"/>
            <a:ext cx="3291840" cy="2084832"/>
          </a:xfrm>
          <a:prstGeom prst="rect">
            <a:avLst/>
          </a:prstGeom>
          <a:solidFill>
            <a:srgbClr val="F2F6FC"/>
          </a:solidFill>
          <a:ln w="9525">
            <a:solidFill>
              <a:srgbClr val="D5DCEA"/>
            </a:solidFill>
            <a:prstDash val="solid"/>
          </a:ln>
        </p:spPr>
      </p:sp>
      <p:sp>
        <p:nvSpPr>
          <p:cNvPr id="8" name="Text 5"/>
          <p:cNvSpPr txBox="1"/>
          <p:nvPr/>
        </p:nvSpPr>
        <p:spPr>
          <a:xfrm>
            <a:off x="548640" y="1783080"/>
            <a:ext cx="3108960" cy="1956816"/>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“We who are Jews by nature, and not sinners of the Gentiles”</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Born Jews, not proselytes (Phil 3:4–5)</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A distinction Paul grants only to dissolve it</a:t>
            </a:r>
            <a:endParaRPr lang="en-US" sz="1300" dirty="0"/>
          </a:p>
        </p:txBody>
      </p:sp>
      <p:sp>
        <p:nvSpPr>
          <p:cNvPr id="9" name="Shape 6"/>
          <p:cNvSpPr/>
          <p:nvPr/>
        </p:nvSpPr>
        <p:spPr>
          <a:xfrm>
            <a:off x="3840480" y="2377440"/>
            <a:ext cx="320040" cy="237744"/>
          </a:xfrm>
          <a:prstGeom prst="rightArrow">
            <a:avLst/>
          </a:prstGeom>
          <a:solidFill>
            <a:srgbClr val="375623"/>
          </a:solidFill>
          <a:ln w="12700">
            <a:solidFill>
              <a:srgbClr val="375623"/>
            </a:solidFill>
            <a:prstDash val="solid"/>
          </a:ln>
        </p:spPr>
      </p:sp>
      <p:sp>
        <p:nvSpPr>
          <p:cNvPr id="10" name="Shape 7"/>
          <p:cNvSpPr/>
          <p:nvPr/>
        </p:nvSpPr>
        <p:spPr>
          <a:xfrm>
            <a:off x="4251960" y="1143000"/>
            <a:ext cx="4434840" cy="566928"/>
          </a:xfrm>
          <a:prstGeom prst="rect">
            <a:avLst/>
          </a:prstGeom>
          <a:solidFill>
            <a:srgbClr val="375623"/>
          </a:solidFill>
          <a:ln w="12700">
            <a:solidFill>
              <a:srgbClr val="375623"/>
            </a:solidFill>
            <a:prstDash val="solid"/>
          </a:ln>
        </p:spPr>
      </p:sp>
      <p:sp>
        <p:nvSpPr>
          <p:cNvPr id="11" name="Text 8"/>
          <p:cNvSpPr txBox="1"/>
          <p:nvPr/>
        </p:nvSpPr>
        <p:spPr>
          <a:xfrm>
            <a:off x="4343400" y="1188720"/>
            <a:ext cx="425196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 same — v.16</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δικαιόω</a:t>
            </a:r>
            <a:pPr indent="0" marL="0">
              <a:buNone/>
            </a:pPr>
            <a:r>
              <a:rPr lang="en-US" sz="850" dirty="0">
                <a:solidFill>
                  <a:srgbClr val="DCE4F2"/>
                </a:solidFill>
                <a:latin typeface="Arial" pitchFamily="34" charset="0"/>
                <a:ea typeface="Arial" pitchFamily="34" charset="-122"/>
                <a:cs typeface="Arial" pitchFamily="34" charset="-120"/>
              </a:rPr>
              <a:t>  to declare righteous · forensic</a:t>
            </a:r>
            <a:endParaRPr lang="en-US" sz="1200" dirty="0"/>
          </a:p>
        </p:txBody>
      </p:sp>
      <p:sp>
        <p:nvSpPr>
          <p:cNvPr id="12" name="Shape 9"/>
          <p:cNvSpPr/>
          <p:nvPr/>
        </p:nvSpPr>
        <p:spPr>
          <a:xfrm>
            <a:off x="4251960" y="1709928"/>
            <a:ext cx="4434840" cy="2084832"/>
          </a:xfrm>
          <a:prstGeom prst="rect">
            <a:avLst/>
          </a:prstGeom>
          <a:solidFill>
            <a:srgbClr val="F2F6FC"/>
          </a:solidFill>
          <a:ln w="9525">
            <a:solidFill>
              <a:srgbClr val="D5DCEA"/>
            </a:solidFill>
            <a:prstDash val="solid"/>
          </a:ln>
        </p:spPr>
      </p:sp>
      <p:sp>
        <p:nvSpPr>
          <p:cNvPr id="13" name="Text 10"/>
          <p:cNvSpPr txBox="1"/>
          <p:nvPr/>
        </p:nvSpPr>
        <p:spPr>
          <a:xfrm>
            <a:off x="4343400" y="1783080"/>
            <a:ext cx="4251960" cy="1956816"/>
          </a:xfrm>
          <a:prstGeom prst="rect">
            <a:avLst/>
          </a:prstGeom>
          <a:noFill/>
          <a:ln/>
        </p:spPr>
        <p:txBody>
          <a:bodyPr wrap="square" lIns="0" tIns="0" rIns="0" bIns="0" rtlCol="0" anchor="t"/>
          <a:lstStyle/>
          <a:p>
            <a:pPr indent="0" marL="0">
              <a:buNone/>
            </a:pPr>
            <a:endParaRPr lang="en-US" sz="1300" dirty="0"/>
          </a:p>
        </p:txBody>
      </p:sp>
      <p:sp>
        <p:nvSpPr>
          <p:cNvPr id="14" name="Text 11"/>
          <p:cNvSpPr txBox="1"/>
          <p:nvPr/>
        </p:nvSpPr>
        <p:spPr>
          <a:xfrm>
            <a:off x="4389120" y="1810512"/>
            <a:ext cx="4206240" cy="1920240"/>
          </a:xfrm>
          <a:prstGeom prst="rect">
            <a:avLst/>
          </a:prstGeom>
          <a:noFill/>
          <a:ln/>
        </p:spPr>
        <p:txBody>
          <a:bodyPr wrap="square" lIns="0" tIns="0" rIns="0" bIns="0" rtlCol="0" anchor="t"/>
          <a:lstStyle/>
          <a:p>
            <a:pPr indent="0" marL="0">
              <a:buNone/>
            </a:pPr>
            <a:r>
              <a:rPr lang="en-US" sz="1400" b="1" dirty="0">
                <a:solidFill>
                  <a:srgbClr val="6B7280"/>
                </a:solidFill>
                <a:latin typeface="Arial" pitchFamily="34" charset="0"/>
                <a:ea typeface="Arial" pitchFamily="34" charset="-122"/>
                <a:cs typeface="Arial" pitchFamily="34" charset="-120"/>
              </a:rPr>
              <a:t>✕  not by the works of the law</a:t>
            </a:r>
            <a:endParaRPr lang="en-US" sz="1200" dirty="0"/>
          </a:p>
          <a:p>
            <a:pPr indent="0" marL="0">
              <a:buNone/>
            </a:pPr>
            <a:r>
              <a:rPr lang="en-US" sz="1150" dirty="0">
                <a:solidFill>
                  <a:srgbClr val="6B7280"/>
                </a:solidFill>
                <a:latin typeface="Arial" pitchFamily="34" charset="0"/>
                <a:ea typeface="Arial" pitchFamily="34" charset="-122"/>
                <a:cs typeface="Arial" pitchFamily="34" charset="-120"/>
              </a:rPr>
              <a:t>     three times in one verse</a:t>
            </a:r>
            <a:endParaRPr lang="en-US" sz="1200" dirty="0"/>
          </a:p>
          <a:p>
            <a:pPr indent="0" marL="0">
              <a:buNone/>
            </a:pPr>
            <a:r>
              <a:rPr lang="en-US" sz="1400" b="1" dirty="0">
                <a:solidFill>
                  <a:srgbClr val="375623"/>
                </a:solidFill>
                <a:latin typeface="Arial" pitchFamily="34" charset="0"/>
                <a:ea typeface="Arial" pitchFamily="34" charset="-122"/>
                <a:cs typeface="Arial" pitchFamily="34" charset="-120"/>
              </a:rPr>
              <a:t>✓  by faith in Jesus Christ</a:t>
            </a:r>
            <a:endParaRPr lang="en-US" sz="1200" dirty="0"/>
          </a:p>
          <a:p>
            <a:pPr indent="0" marL="0">
              <a:buNone/>
            </a:pPr>
            <a:r>
              <a:rPr lang="en-US" sz="1150" dirty="0">
                <a:solidFill>
                  <a:srgbClr val="375623"/>
                </a:solidFill>
                <a:latin typeface="Arial" pitchFamily="34" charset="0"/>
                <a:ea typeface="Arial" pitchFamily="34" charset="-122"/>
                <a:cs typeface="Arial" pitchFamily="34" charset="-120"/>
              </a:rPr>
              <a:t>     three times in one verse</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Any man, Jew or Gentile — a legal declaration received by faith</a:t>
            </a:r>
            <a:endParaRPr lang="en-US" sz="1200" dirty="0"/>
          </a:p>
        </p:txBody>
      </p:sp>
      <p:sp>
        <p:nvSpPr>
          <p:cNvPr id="15" name="Shape 12"/>
          <p:cNvSpPr/>
          <p:nvPr/>
        </p:nvSpPr>
        <p:spPr>
          <a:xfrm>
            <a:off x="457200" y="3977640"/>
            <a:ext cx="8229600" cy="548640"/>
          </a:xfrm>
          <a:prstGeom prst="roundRect">
            <a:avLst>
              <a:gd name="adj" fmla="val 10000"/>
            </a:avLst>
          </a:prstGeom>
          <a:solidFill>
            <a:srgbClr val="1F3864"/>
          </a:solidFill>
          <a:ln w="12700">
            <a:solidFill>
              <a:srgbClr val="1F3864"/>
            </a:solidFill>
            <a:prstDash val="solid"/>
          </a:ln>
        </p:spPr>
      </p:sp>
      <p:sp>
        <p:nvSpPr>
          <p:cNvPr id="16" name="Text 13"/>
          <p:cNvSpPr txBox="1"/>
          <p:nvPr/>
        </p:nvSpPr>
        <p:spPr>
          <a:xfrm>
            <a:off x="621792" y="3977640"/>
            <a:ext cx="7900416" cy="54864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Six times in one verse: not by the law — but by faith. Justification is declared, not earned.</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Paul's argument with Peter</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2:17–21 · Outline III</a:t>
            </a:r>
            <a:endParaRPr lang="en-US" sz="1200" dirty="0"/>
          </a:p>
        </p:txBody>
      </p:sp>
      <p:sp>
        <p:nvSpPr>
          <p:cNvPr id="5" name="Shape 2"/>
          <p:cNvSpPr/>
          <p:nvPr/>
        </p:nvSpPr>
        <p:spPr>
          <a:xfrm>
            <a:off x="457200" y="1115568"/>
            <a:ext cx="914400" cy="548640"/>
          </a:xfrm>
          <a:prstGeom prst="rect">
            <a:avLst/>
          </a:prstGeom>
          <a:solidFill>
            <a:srgbClr val="2E5496"/>
          </a:solidFill>
          <a:ln w="12700">
            <a:solidFill>
              <a:srgbClr val="2E5496"/>
            </a:solidFill>
            <a:prstDash val="solid"/>
          </a:ln>
        </p:spPr>
      </p:sp>
      <p:sp>
        <p:nvSpPr>
          <p:cNvPr id="6" name="Text 3"/>
          <p:cNvSpPr txBox="1"/>
          <p:nvPr/>
        </p:nvSpPr>
        <p:spPr>
          <a:xfrm>
            <a:off x="457200" y="1115568"/>
            <a:ext cx="91440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vv.17–18</a:t>
            </a:r>
            <a:endParaRPr lang="en-US" sz="1100" dirty="0"/>
          </a:p>
        </p:txBody>
      </p:sp>
      <p:sp>
        <p:nvSpPr>
          <p:cNvPr id="7" name="Shape 4"/>
          <p:cNvSpPr/>
          <p:nvPr/>
        </p:nvSpPr>
        <p:spPr>
          <a:xfrm>
            <a:off x="1371600" y="1115568"/>
            <a:ext cx="7315200" cy="548640"/>
          </a:xfrm>
          <a:prstGeom prst="rect">
            <a:avLst/>
          </a:prstGeom>
          <a:solidFill>
            <a:srgbClr val="F2F6FC"/>
          </a:solidFill>
          <a:ln w="9525">
            <a:solidFill>
              <a:srgbClr val="D5DCEA"/>
            </a:solidFill>
            <a:prstDash val="solid"/>
          </a:ln>
        </p:spPr>
      </p:sp>
      <p:sp>
        <p:nvSpPr>
          <p:cNvPr id="8" name="Text 5"/>
          <p:cNvSpPr txBox="1"/>
          <p:nvPr/>
        </p:nvSpPr>
        <p:spPr>
          <a:xfrm>
            <a:off x="1481328" y="1115568"/>
            <a:ext cx="416052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Peter's error — rebuilding what he destroyed makes him the transgressor</a:t>
            </a:r>
            <a:endParaRPr lang="en-US" sz="1200" dirty="0"/>
          </a:p>
        </p:txBody>
      </p:sp>
      <p:sp>
        <p:nvSpPr>
          <p:cNvPr id="9" name="Text 6"/>
          <p:cNvSpPr txBox="1"/>
          <p:nvPr/>
        </p:nvSpPr>
        <p:spPr>
          <a:xfrm>
            <a:off x="5715000" y="1115568"/>
            <a:ext cx="2880360" cy="54864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παραβάτης</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one who oversteps a line</a:t>
            </a:r>
            <a:endParaRPr lang="en-US" sz="1200" dirty="0"/>
          </a:p>
        </p:txBody>
      </p:sp>
      <p:sp>
        <p:nvSpPr>
          <p:cNvPr id="10" name="Shape 7"/>
          <p:cNvSpPr/>
          <p:nvPr/>
        </p:nvSpPr>
        <p:spPr>
          <a:xfrm>
            <a:off x="457200" y="1728216"/>
            <a:ext cx="914400" cy="548640"/>
          </a:xfrm>
          <a:prstGeom prst="rect">
            <a:avLst/>
          </a:prstGeom>
          <a:solidFill>
            <a:srgbClr val="2E5496"/>
          </a:solidFill>
          <a:ln w="12700">
            <a:solidFill>
              <a:srgbClr val="2E5496"/>
            </a:solidFill>
            <a:prstDash val="solid"/>
          </a:ln>
        </p:spPr>
      </p:sp>
      <p:sp>
        <p:nvSpPr>
          <p:cNvPr id="11" name="Text 8"/>
          <p:cNvSpPr txBox="1"/>
          <p:nvPr/>
        </p:nvSpPr>
        <p:spPr>
          <a:xfrm>
            <a:off x="457200" y="1728216"/>
            <a:ext cx="91440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v.19</a:t>
            </a:r>
            <a:endParaRPr lang="en-US" sz="1100" dirty="0"/>
          </a:p>
        </p:txBody>
      </p:sp>
      <p:sp>
        <p:nvSpPr>
          <p:cNvPr id="12" name="Shape 9"/>
          <p:cNvSpPr/>
          <p:nvPr/>
        </p:nvSpPr>
        <p:spPr>
          <a:xfrm>
            <a:off x="1371600" y="1728216"/>
            <a:ext cx="7315200" cy="548640"/>
          </a:xfrm>
          <a:prstGeom prst="rect">
            <a:avLst/>
          </a:prstGeom>
          <a:solidFill>
            <a:srgbClr val="FFFFFF"/>
          </a:solidFill>
          <a:ln w="9525">
            <a:solidFill>
              <a:srgbClr val="D5DCEA"/>
            </a:solidFill>
            <a:prstDash val="solid"/>
          </a:ln>
        </p:spPr>
      </p:sp>
      <p:sp>
        <p:nvSpPr>
          <p:cNvPr id="13" name="Text 10"/>
          <p:cNvSpPr txBox="1"/>
          <p:nvPr/>
        </p:nvSpPr>
        <p:spPr>
          <a:xfrm>
            <a:off x="1481328" y="1728216"/>
            <a:ext cx="416052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“Through the law I died to the law that I might live to God”</a:t>
            </a:r>
            <a:endParaRPr lang="en-US" sz="1200" dirty="0"/>
          </a:p>
        </p:txBody>
      </p:sp>
      <p:sp>
        <p:nvSpPr>
          <p:cNvPr id="14" name="Text 11"/>
          <p:cNvSpPr txBox="1"/>
          <p:nvPr/>
        </p:nvSpPr>
        <p:spPr>
          <a:xfrm>
            <a:off x="5715000" y="1728216"/>
            <a:ext cx="2880360" cy="54864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ζήσω</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dying to the law opens a new life</a:t>
            </a:r>
            <a:endParaRPr lang="en-US" sz="1200" dirty="0"/>
          </a:p>
        </p:txBody>
      </p:sp>
      <p:sp>
        <p:nvSpPr>
          <p:cNvPr id="15" name="Shape 12"/>
          <p:cNvSpPr/>
          <p:nvPr/>
        </p:nvSpPr>
        <p:spPr>
          <a:xfrm>
            <a:off x="457200" y="2340864"/>
            <a:ext cx="914400" cy="548640"/>
          </a:xfrm>
          <a:prstGeom prst="rect">
            <a:avLst/>
          </a:prstGeom>
          <a:solidFill>
            <a:srgbClr val="2E5496"/>
          </a:solidFill>
          <a:ln w="12700">
            <a:solidFill>
              <a:srgbClr val="2E5496"/>
            </a:solidFill>
            <a:prstDash val="solid"/>
          </a:ln>
        </p:spPr>
      </p:sp>
      <p:sp>
        <p:nvSpPr>
          <p:cNvPr id="16" name="Text 13"/>
          <p:cNvSpPr txBox="1"/>
          <p:nvPr/>
        </p:nvSpPr>
        <p:spPr>
          <a:xfrm>
            <a:off x="457200" y="2340864"/>
            <a:ext cx="91440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v.20a</a:t>
            </a:r>
            <a:endParaRPr lang="en-US" sz="1100" dirty="0"/>
          </a:p>
        </p:txBody>
      </p:sp>
      <p:sp>
        <p:nvSpPr>
          <p:cNvPr id="17" name="Shape 14"/>
          <p:cNvSpPr/>
          <p:nvPr/>
        </p:nvSpPr>
        <p:spPr>
          <a:xfrm>
            <a:off x="1371600" y="2340864"/>
            <a:ext cx="7315200" cy="548640"/>
          </a:xfrm>
          <a:prstGeom prst="rect">
            <a:avLst/>
          </a:prstGeom>
          <a:solidFill>
            <a:srgbClr val="F2F6FC"/>
          </a:solidFill>
          <a:ln w="9525">
            <a:solidFill>
              <a:srgbClr val="D5DCEA"/>
            </a:solidFill>
            <a:prstDash val="solid"/>
          </a:ln>
        </p:spPr>
      </p:sp>
      <p:sp>
        <p:nvSpPr>
          <p:cNvPr id="18" name="Text 15"/>
          <p:cNvSpPr txBox="1"/>
          <p:nvPr/>
        </p:nvSpPr>
        <p:spPr>
          <a:xfrm>
            <a:off x="1481328" y="2340864"/>
            <a:ext cx="416052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Dead — “I have been crucified with Christ”</a:t>
            </a:r>
            <a:endParaRPr lang="en-US" sz="1200" dirty="0"/>
          </a:p>
        </p:txBody>
      </p:sp>
      <p:sp>
        <p:nvSpPr>
          <p:cNvPr id="19" name="Text 16"/>
          <p:cNvSpPr txBox="1"/>
          <p:nvPr/>
        </p:nvSpPr>
        <p:spPr>
          <a:xfrm>
            <a:off x="5715000" y="2340864"/>
            <a:ext cx="2880360" cy="54864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συνεσταύρωμαι</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Perf. — done, with lasting effect</a:t>
            </a:r>
            <a:endParaRPr lang="en-US" sz="1200" dirty="0"/>
          </a:p>
        </p:txBody>
      </p:sp>
      <p:sp>
        <p:nvSpPr>
          <p:cNvPr id="20" name="Shape 17"/>
          <p:cNvSpPr/>
          <p:nvPr/>
        </p:nvSpPr>
        <p:spPr>
          <a:xfrm>
            <a:off x="457200" y="2953512"/>
            <a:ext cx="914400" cy="548640"/>
          </a:xfrm>
          <a:prstGeom prst="rect">
            <a:avLst/>
          </a:prstGeom>
          <a:solidFill>
            <a:srgbClr val="375623"/>
          </a:solidFill>
          <a:ln w="12700">
            <a:solidFill>
              <a:srgbClr val="375623"/>
            </a:solidFill>
            <a:prstDash val="solid"/>
          </a:ln>
        </p:spPr>
      </p:sp>
      <p:sp>
        <p:nvSpPr>
          <p:cNvPr id="21" name="Text 18"/>
          <p:cNvSpPr txBox="1"/>
          <p:nvPr/>
        </p:nvSpPr>
        <p:spPr>
          <a:xfrm>
            <a:off x="457200" y="2953512"/>
            <a:ext cx="91440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v.20b</a:t>
            </a:r>
            <a:endParaRPr lang="en-US" sz="1100" dirty="0"/>
          </a:p>
        </p:txBody>
      </p:sp>
      <p:sp>
        <p:nvSpPr>
          <p:cNvPr id="22" name="Shape 19"/>
          <p:cNvSpPr/>
          <p:nvPr/>
        </p:nvSpPr>
        <p:spPr>
          <a:xfrm>
            <a:off x="1371600" y="2953512"/>
            <a:ext cx="7315200" cy="548640"/>
          </a:xfrm>
          <a:prstGeom prst="rect">
            <a:avLst/>
          </a:prstGeom>
          <a:solidFill>
            <a:srgbClr val="FFFFFF"/>
          </a:solidFill>
          <a:ln w="9525">
            <a:solidFill>
              <a:srgbClr val="D5DCEA"/>
            </a:solidFill>
            <a:prstDash val="solid"/>
          </a:ln>
        </p:spPr>
      </p:sp>
      <p:sp>
        <p:nvSpPr>
          <p:cNvPr id="23" name="Text 20"/>
          <p:cNvSpPr txBox="1"/>
          <p:nvPr/>
        </p:nvSpPr>
        <p:spPr>
          <a:xfrm>
            <a:off x="1481328" y="2953512"/>
            <a:ext cx="416052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Alive — “Christ lives in me … I live by faith in the Son of God”</a:t>
            </a:r>
            <a:endParaRPr lang="en-US" sz="1200" dirty="0"/>
          </a:p>
        </p:txBody>
      </p:sp>
      <p:sp>
        <p:nvSpPr>
          <p:cNvPr id="24" name="Text 21"/>
          <p:cNvSpPr txBox="1"/>
          <p:nvPr/>
        </p:nvSpPr>
        <p:spPr>
          <a:xfrm>
            <a:off x="5715000" y="2953512"/>
            <a:ext cx="2880360" cy="548640"/>
          </a:xfrm>
          <a:prstGeom prst="rect">
            <a:avLst/>
          </a:prstGeom>
          <a:noFill/>
          <a:ln/>
        </p:spPr>
        <p:txBody>
          <a:bodyPr wrap="square" lIns="0" tIns="0" rIns="0" bIns="0" rtlCol="0" anchor="ctr"/>
          <a:lstStyle/>
          <a:p>
            <a:pPr indent="0" marL="0">
              <a:buNone/>
            </a:pPr>
            <a:r>
              <a:rPr lang="en-US" sz="950" dirty="0">
                <a:solidFill>
                  <a:srgbClr val="595959"/>
                </a:solidFill>
                <a:latin typeface="Arial" pitchFamily="34" charset="0"/>
                <a:ea typeface="Arial" pitchFamily="34" charset="-122"/>
                <a:cs typeface="Arial" pitchFamily="34" charset="-120"/>
              </a:rPr>
              <a:t>sanctification is by faith, too</a:t>
            </a:r>
            <a:endParaRPr lang="en-US" sz="1200" dirty="0"/>
          </a:p>
        </p:txBody>
      </p:sp>
      <p:sp>
        <p:nvSpPr>
          <p:cNvPr id="25" name="Shape 22"/>
          <p:cNvSpPr/>
          <p:nvPr/>
        </p:nvSpPr>
        <p:spPr>
          <a:xfrm>
            <a:off x="457200" y="3566160"/>
            <a:ext cx="914400" cy="548640"/>
          </a:xfrm>
          <a:prstGeom prst="rect">
            <a:avLst/>
          </a:prstGeom>
          <a:solidFill>
            <a:srgbClr val="1F3864"/>
          </a:solidFill>
          <a:ln w="12700">
            <a:solidFill>
              <a:srgbClr val="1F3864"/>
            </a:solidFill>
            <a:prstDash val="solid"/>
          </a:ln>
        </p:spPr>
      </p:sp>
      <p:sp>
        <p:nvSpPr>
          <p:cNvPr id="26" name="Text 23"/>
          <p:cNvSpPr txBox="1"/>
          <p:nvPr/>
        </p:nvSpPr>
        <p:spPr>
          <a:xfrm>
            <a:off x="457200" y="3566160"/>
            <a:ext cx="91440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v.21</a:t>
            </a:r>
            <a:endParaRPr lang="en-US" sz="1100" dirty="0"/>
          </a:p>
        </p:txBody>
      </p:sp>
      <p:sp>
        <p:nvSpPr>
          <p:cNvPr id="27" name="Shape 24"/>
          <p:cNvSpPr/>
          <p:nvPr/>
        </p:nvSpPr>
        <p:spPr>
          <a:xfrm>
            <a:off x="1371600" y="3566160"/>
            <a:ext cx="7315200" cy="548640"/>
          </a:xfrm>
          <a:prstGeom prst="rect">
            <a:avLst/>
          </a:prstGeom>
          <a:solidFill>
            <a:srgbClr val="F2F6FC"/>
          </a:solidFill>
          <a:ln w="9525">
            <a:solidFill>
              <a:srgbClr val="D5DCEA"/>
            </a:solidFill>
            <a:prstDash val="solid"/>
          </a:ln>
        </p:spPr>
      </p:sp>
      <p:sp>
        <p:nvSpPr>
          <p:cNvPr id="28" name="Text 25"/>
          <p:cNvSpPr txBox="1"/>
          <p:nvPr/>
        </p:nvSpPr>
        <p:spPr>
          <a:xfrm>
            <a:off x="1481328" y="3566160"/>
            <a:ext cx="416052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“If righteousness comes through the law, then Christ died in vain”</a:t>
            </a:r>
            <a:endParaRPr lang="en-US" sz="1200" dirty="0"/>
          </a:p>
        </p:txBody>
      </p:sp>
      <p:sp>
        <p:nvSpPr>
          <p:cNvPr id="29" name="Text 26"/>
          <p:cNvSpPr txBox="1"/>
          <p:nvPr/>
        </p:nvSpPr>
        <p:spPr>
          <a:xfrm>
            <a:off x="5715000" y="3566160"/>
            <a:ext cx="2880360" cy="54864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ἀθετῶ</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“I do not set aside” — nullify</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Discuss and apply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2:11–21 · from the study's posted questions and applications</a:t>
            </a:r>
            <a:endParaRPr lang="en-US" sz="1200" dirty="0"/>
          </a:p>
        </p:txBody>
      </p:sp>
      <p:sp>
        <p:nvSpPr>
          <p:cNvPr id="5" name="Shape 2"/>
          <p:cNvSpPr/>
          <p:nvPr/>
        </p:nvSpPr>
        <p:spPr>
          <a:xfrm>
            <a:off x="457200" y="1115568"/>
            <a:ext cx="4023360" cy="384048"/>
          </a:xfrm>
          <a:prstGeom prst="rect">
            <a:avLst/>
          </a:prstGeom>
          <a:solidFill>
            <a:srgbClr val="2E5496"/>
          </a:solidFill>
          <a:ln w="12700">
            <a:solidFill>
              <a:srgbClr val="2E5496"/>
            </a:solidFill>
            <a:prstDash val="solid"/>
          </a:ln>
        </p:spPr>
      </p:sp>
      <p:sp>
        <p:nvSpPr>
          <p:cNvPr id="6" name="Text 3"/>
          <p:cNvSpPr txBox="1"/>
          <p:nvPr/>
        </p:nvSpPr>
        <p:spPr>
          <a:xfrm>
            <a:off x="56692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Discuss</a:t>
            </a:r>
            <a:endParaRPr lang="en-US" sz="1300" dirty="0"/>
          </a:p>
        </p:txBody>
      </p:sp>
      <p:sp>
        <p:nvSpPr>
          <p:cNvPr id="7" name="Shape 4"/>
          <p:cNvSpPr/>
          <p:nvPr/>
        </p:nvSpPr>
        <p:spPr>
          <a:xfrm>
            <a:off x="457200" y="1499616"/>
            <a:ext cx="4023360" cy="2359152"/>
          </a:xfrm>
          <a:prstGeom prst="rect">
            <a:avLst/>
          </a:prstGeom>
          <a:solidFill>
            <a:srgbClr val="F2F6FC"/>
          </a:solidFill>
          <a:ln w="9525">
            <a:solidFill>
              <a:srgbClr val="D5DCEA"/>
            </a:solidFill>
            <a:prstDash val="solid"/>
          </a:ln>
        </p:spPr>
      </p:sp>
      <p:sp>
        <p:nvSpPr>
          <p:cNvPr id="8" name="Shape 5"/>
          <p:cNvSpPr/>
          <p:nvPr/>
        </p:nvSpPr>
        <p:spPr>
          <a:xfrm>
            <a:off x="4663440" y="1115568"/>
            <a:ext cx="4023360" cy="384048"/>
          </a:xfrm>
          <a:prstGeom prst="rect">
            <a:avLst/>
          </a:prstGeom>
          <a:solidFill>
            <a:srgbClr val="375623"/>
          </a:solidFill>
          <a:ln w="12700">
            <a:solidFill>
              <a:srgbClr val="375623"/>
            </a:solidFill>
            <a:prstDash val="solid"/>
          </a:ln>
        </p:spPr>
      </p:sp>
      <p:sp>
        <p:nvSpPr>
          <p:cNvPr id="9" name="Text 6"/>
          <p:cNvSpPr txBox="1"/>
          <p:nvPr/>
        </p:nvSpPr>
        <p:spPr>
          <a:xfrm>
            <a:off x="477316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Apply</a:t>
            </a:r>
            <a:endParaRPr lang="en-US" sz="1300" dirty="0"/>
          </a:p>
        </p:txBody>
      </p:sp>
      <p:sp>
        <p:nvSpPr>
          <p:cNvPr id="10" name="Shape 7"/>
          <p:cNvSpPr/>
          <p:nvPr/>
        </p:nvSpPr>
        <p:spPr>
          <a:xfrm>
            <a:off x="4663440" y="1499616"/>
            <a:ext cx="4023360" cy="2359152"/>
          </a:xfrm>
          <a:prstGeom prst="rect">
            <a:avLst/>
          </a:prstGeom>
          <a:solidFill>
            <a:srgbClr val="F2F6FC"/>
          </a:solidFill>
          <a:ln w="9525">
            <a:solidFill>
              <a:srgbClr val="D5DCEA"/>
            </a:solidFill>
            <a:prstDash val="solid"/>
          </a:ln>
        </p:spPr>
      </p:sp>
      <p:sp>
        <p:nvSpPr>
          <p:cNvPr id="11" name="Shape 8"/>
          <p:cNvSpPr/>
          <p:nvPr/>
        </p:nvSpPr>
        <p:spPr>
          <a:xfrm>
            <a:off x="566928" y="1636776"/>
            <a:ext cx="347472" cy="347472"/>
          </a:xfrm>
          <a:prstGeom prst="ellipse">
            <a:avLst/>
          </a:prstGeom>
          <a:solidFill>
            <a:srgbClr val="2E5496"/>
          </a:solidFill>
          <a:ln w="12700">
            <a:solidFill>
              <a:srgbClr val="2E5496"/>
            </a:solidFill>
            <a:prstDash val="solid"/>
          </a:ln>
        </p:spPr>
      </p:sp>
      <p:sp>
        <p:nvSpPr>
          <p:cNvPr id="12" name="Text 9"/>
          <p:cNvSpPr txBox="1"/>
          <p:nvPr/>
        </p:nvSpPr>
        <p:spPr>
          <a:xfrm>
            <a:off x="566928" y="163677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3" name="Text 10"/>
          <p:cNvSpPr txBox="1"/>
          <p:nvPr/>
        </p:nvSpPr>
        <p:spPr>
          <a:xfrm>
            <a:off x="1005840" y="1591056"/>
            <a:ext cx="3364992" cy="1042416"/>
          </a:xfrm>
          <a:prstGeom prst="rect">
            <a:avLst/>
          </a:prstGeom>
          <a:noFill/>
          <a:ln/>
        </p:spPr>
        <p:txBody>
          <a:bodyPr wrap="square" lIns="0" tIns="0" rIns="0" bIns="0" rtlCol="0" anchor="t"/>
          <a:lstStyle/>
          <a:p>
            <a:pPr indent="0" marL="0">
              <a:buNone/>
            </a:pPr>
            <a:r>
              <a:rPr lang="en-US" sz="1350" dirty="0">
                <a:solidFill>
                  <a:srgbClr val="262626"/>
                </a:solidFill>
                <a:latin typeface="Arial" pitchFamily="34" charset="0"/>
                <a:ea typeface="Arial" pitchFamily="34" charset="-122"/>
                <a:cs typeface="Arial" pitchFamily="34" charset="-120"/>
              </a:rPr>
              <a:t>Peter already knew the truth. What made him withdraw from the Gentiles anyway?</a:t>
            </a:r>
            <a:endParaRPr lang="en-US" sz="1350" dirty="0"/>
          </a:p>
        </p:txBody>
      </p:sp>
      <p:sp>
        <p:nvSpPr>
          <p:cNvPr id="14" name="Shape 11"/>
          <p:cNvSpPr/>
          <p:nvPr/>
        </p:nvSpPr>
        <p:spPr>
          <a:xfrm>
            <a:off x="566928" y="2724912"/>
            <a:ext cx="347472" cy="347472"/>
          </a:xfrm>
          <a:prstGeom prst="ellipse">
            <a:avLst/>
          </a:prstGeom>
          <a:solidFill>
            <a:srgbClr val="2E5496"/>
          </a:solidFill>
          <a:ln w="12700">
            <a:solidFill>
              <a:srgbClr val="2E5496"/>
            </a:solidFill>
            <a:prstDash val="solid"/>
          </a:ln>
        </p:spPr>
      </p:sp>
      <p:sp>
        <p:nvSpPr>
          <p:cNvPr id="15" name="Text 12"/>
          <p:cNvSpPr txBox="1"/>
          <p:nvPr/>
        </p:nvSpPr>
        <p:spPr>
          <a:xfrm>
            <a:off x="566928" y="272491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6" name="Text 13"/>
          <p:cNvSpPr txBox="1"/>
          <p:nvPr/>
        </p:nvSpPr>
        <p:spPr>
          <a:xfrm>
            <a:off x="1005840" y="2679192"/>
            <a:ext cx="3364992" cy="1042416"/>
          </a:xfrm>
          <a:prstGeom prst="rect">
            <a:avLst/>
          </a:prstGeom>
          <a:noFill/>
          <a:ln/>
        </p:spPr>
        <p:txBody>
          <a:bodyPr wrap="square" lIns="0" tIns="0" rIns="0" bIns="0" rtlCol="0" anchor="t"/>
          <a:lstStyle/>
          <a:p>
            <a:pPr indent="0" marL="0">
              <a:buNone/>
            </a:pPr>
            <a:r>
              <a:rPr lang="en-US" sz="1350" dirty="0">
                <a:solidFill>
                  <a:srgbClr val="262626"/>
                </a:solidFill>
                <a:latin typeface="Arial" pitchFamily="34" charset="0"/>
                <a:ea typeface="Arial" pitchFamily="34" charset="-122"/>
                <a:cs typeface="Arial" pitchFamily="34" charset="-120"/>
              </a:rPr>
              <a:t>Why did Paul confront Peter publicly, “before them all,” rather than privately?</a:t>
            </a:r>
            <a:endParaRPr lang="en-US" sz="1350" dirty="0"/>
          </a:p>
        </p:txBody>
      </p:sp>
      <p:sp>
        <p:nvSpPr>
          <p:cNvPr id="17" name="Text 14"/>
          <p:cNvSpPr txBox="1"/>
          <p:nvPr/>
        </p:nvSpPr>
        <p:spPr>
          <a:xfrm>
            <a:off x="4791456" y="1591056"/>
            <a:ext cx="3767328" cy="1042416"/>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When Doing Right Costs You Socially</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Name one place you've been managing others' opinions instead of living what you know is true — and take one visible step back toward it.</a:t>
            </a:r>
            <a:endParaRPr lang="en-US" sz="1200" dirty="0"/>
          </a:p>
        </p:txBody>
      </p:sp>
      <p:sp>
        <p:nvSpPr>
          <p:cNvPr id="18" name="Text 15"/>
          <p:cNvSpPr txBox="1"/>
          <p:nvPr/>
        </p:nvSpPr>
        <p:spPr>
          <a:xfrm>
            <a:off x="4791456" y="2679192"/>
            <a:ext cx="3767328" cy="1042416"/>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Resting in a Righteousness That Isn't Yours</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Write down one way you've treated God's acceptance as conditional, then thank Him for the standing already yours in Christ.</a:t>
            </a:r>
            <a:endParaRPr lang="en-US" sz="1200" dirty="0"/>
          </a:p>
        </p:txBody>
      </p:sp>
      <p:sp>
        <p:nvSpPr>
          <p:cNvPr id="19" name="Shape 16"/>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0" name="Text 17"/>
          <p:cNvSpPr txBox="1"/>
          <p:nvPr/>
        </p:nvSpPr>
        <p:spPr>
          <a:xfrm>
            <a:off x="621792" y="4023360"/>
            <a:ext cx="7900416" cy="566928"/>
          </a:xfrm>
          <a:prstGeom prst="rect">
            <a:avLst/>
          </a:prstGeom>
          <a:noFill/>
          <a:ln/>
        </p:spPr>
        <p:txBody>
          <a:bodyPr wrap="square" lIns="0" tIns="0" rIns="0" bIns="0" rtlCol="0" anchor="ctr"/>
          <a:lstStyle/>
          <a:p>
            <a:pPr indent="0" marL="0">
              <a:buNone/>
            </a:pPr>
            <a:r>
              <a:rPr lang="en-US" sz="1250" b="1" dirty="0">
                <a:solidFill>
                  <a:srgbClr val="C9D5EE"/>
                </a:solidFill>
                <a:latin typeface="Arial" pitchFamily="34" charset="0"/>
                <a:ea typeface="Arial" pitchFamily="34" charset="-122"/>
                <a:cs typeface="Arial" pitchFamily="34" charset="-120"/>
              </a:rPr>
              <a:t>In one line:  </a:t>
            </a:r>
            <a:pPr indent="0" marL="0">
              <a:buNone/>
            </a:pPr>
            <a:r>
              <a:rPr lang="en-US" sz="1250" dirty="0">
                <a:solidFill>
                  <a:srgbClr val="FFFFFF"/>
                </a:solidFill>
                <a:latin typeface="Arial" pitchFamily="34" charset="0"/>
                <a:ea typeface="Arial" pitchFamily="34" charset="-122"/>
                <a:cs typeface="Arial" pitchFamily="34" charset="-120"/>
              </a:rPr>
              <a:t>Grace governs how we live together, not only how we are saved — knowing the truth must be matched by walking it.</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lstStyle/>
          <a:p>
            <a:pPr indent="0" marL="0">
              <a:buNone/>
            </a:pPr>
            <a:r>
              <a:rPr lang="en-US" sz="1400" dirty="0">
                <a:solidFill>
                  <a:srgbClr val="C9D5EE"/>
                </a:solidFill>
                <a:latin typeface="Arial" pitchFamily="34" charset="0"/>
                <a:ea typeface="Arial" pitchFamily="34" charset="-122"/>
                <a:cs typeface="Arial" pitchFamily="34" charset="-120"/>
              </a:rPr>
              <a:t>Study 6 of 16 · Galatians 3:1–5</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Under a Spell</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t"/>
          <a:lstStyle/>
          <a:p>
            <a:pPr indent="0" marL="0">
              <a:buNone/>
            </a:pPr>
            <a:r>
              <a:rPr lang="en-US" sz="1500" i="1" dirty="0">
                <a:solidFill>
                  <a:srgbClr val="E6ECF7"/>
                </a:solidFill>
                <a:latin typeface="Arial" pitchFamily="34" charset="0"/>
                <a:ea typeface="Arial" pitchFamily="34" charset="-122"/>
                <a:cs typeface="Arial" pitchFamily="34" charset="-120"/>
              </a:rPr>
              <a:t>Grace, not law, both received the Galatians into Christ and sustains them in Christ — so Paul's five questions expose the folly of turning from grace to law at every stage of the Christian life.</a:t>
            </a:r>
            <a:endParaRPr lang="en-US" sz="15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Five questions for foolish Galatians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3:1–5 · The commentary's outline</a:t>
            </a:r>
            <a:endParaRPr lang="en-US" sz="1200" dirty="0"/>
          </a:p>
        </p:txBody>
      </p:sp>
      <p:sp>
        <p:nvSpPr>
          <p:cNvPr id="5" name="Shape 2"/>
          <p:cNvSpPr/>
          <p:nvPr/>
        </p:nvSpPr>
        <p:spPr>
          <a:xfrm>
            <a:off x="457200" y="1115568"/>
            <a:ext cx="777240" cy="548640"/>
          </a:xfrm>
          <a:prstGeom prst="rect">
            <a:avLst/>
          </a:prstGeom>
          <a:solidFill>
            <a:srgbClr val="2E5496"/>
          </a:solidFill>
          <a:ln w="12700">
            <a:solidFill>
              <a:srgbClr val="2E5496"/>
            </a:solidFill>
            <a:prstDash val="solid"/>
          </a:ln>
        </p:spPr>
      </p:sp>
      <p:sp>
        <p:nvSpPr>
          <p:cNvPr id="6" name="Text 3"/>
          <p:cNvSpPr txBox="1"/>
          <p:nvPr/>
        </p:nvSpPr>
        <p:spPr>
          <a:xfrm>
            <a:off x="457200" y="1115568"/>
            <a:ext cx="77724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a:t>
            </a:r>
            <a:endParaRPr lang="en-US" sz="1100" dirty="0"/>
          </a:p>
        </p:txBody>
      </p:sp>
      <p:sp>
        <p:nvSpPr>
          <p:cNvPr id="7" name="Shape 4"/>
          <p:cNvSpPr/>
          <p:nvPr/>
        </p:nvSpPr>
        <p:spPr>
          <a:xfrm>
            <a:off x="1234440" y="1115568"/>
            <a:ext cx="7452360" cy="548640"/>
          </a:xfrm>
          <a:prstGeom prst="rect">
            <a:avLst/>
          </a:prstGeom>
          <a:solidFill>
            <a:srgbClr val="F2F6FC"/>
          </a:solidFill>
          <a:ln w="9525">
            <a:solidFill>
              <a:srgbClr val="D5DCEA"/>
            </a:solidFill>
            <a:prstDash val="solid"/>
          </a:ln>
        </p:spPr>
      </p:sp>
      <p:sp>
        <p:nvSpPr>
          <p:cNvPr id="8" name="Text 5"/>
          <p:cNvSpPr txBox="1"/>
          <p:nvPr/>
        </p:nvSpPr>
        <p:spPr>
          <a:xfrm>
            <a:off x="1344168" y="1115568"/>
            <a:ext cx="429768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Precedence — Christ crucified was placarded before them by grace first</a:t>
            </a:r>
            <a:endParaRPr lang="en-US" sz="1200" dirty="0"/>
          </a:p>
        </p:txBody>
      </p:sp>
      <p:sp>
        <p:nvSpPr>
          <p:cNvPr id="9" name="Text 6"/>
          <p:cNvSpPr txBox="1"/>
          <p:nvPr/>
        </p:nvSpPr>
        <p:spPr>
          <a:xfrm>
            <a:off x="5715000" y="1115568"/>
            <a:ext cx="2880360" cy="54864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προεγράφη</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posted up publicly</a:t>
            </a:r>
            <a:endParaRPr lang="en-US" sz="1200" dirty="0"/>
          </a:p>
        </p:txBody>
      </p:sp>
      <p:sp>
        <p:nvSpPr>
          <p:cNvPr id="10" name="Shape 7"/>
          <p:cNvSpPr/>
          <p:nvPr/>
        </p:nvSpPr>
        <p:spPr>
          <a:xfrm>
            <a:off x="457200" y="1728216"/>
            <a:ext cx="777240" cy="548640"/>
          </a:xfrm>
          <a:prstGeom prst="rect">
            <a:avLst/>
          </a:prstGeom>
          <a:solidFill>
            <a:srgbClr val="2E5496"/>
          </a:solidFill>
          <a:ln w="12700">
            <a:solidFill>
              <a:srgbClr val="2E5496"/>
            </a:solidFill>
            <a:prstDash val="solid"/>
          </a:ln>
        </p:spPr>
      </p:sp>
      <p:sp>
        <p:nvSpPr>
          <p:cNvPr id="11" name="Text 8"/>
          <p:cNvSpPr txBox="1"/>
          <p:nvPr/>
        </p:nvSpPr>
        <p:spPr>
          <a:xfrm>
            <a:off x="457200" y="1728216"/>
            <a:ext cx="77724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v.2</a:t>
            </a:r>
            <a:endParaRPr lang="en-US" sz="1100" dirty="0"/>
          </a:p>
        </p:txBody>
      </p:sp>
      <p:sp>
        <p:nvSpPr>
          <p:cNvPr id="12" name="Shape 9"/>
          <p:cNvSpPr/>
          <p:nvPr/>
        </p:nvSpPr>
        <p:spPr>
          <a:xfrm>
            <a:off x="1234440" y="1728216"/>
            <a:ext cx="7452360" cy="548640"/>
          </a:xfrm>
          <a:prstGeom prst="rect">
            <a:avLst/>
          </a:prstGeom>
          <a:solidFill>
            <a:srgbClr val="FFFFFF"/>
          </a:solidFill>
          <a:ln w="9525">
            <a:solidFill>
              <a:srgbClr val="D5DCEA"/>
            </a:solidFill>
            <a:prstDash val="solid"/>
          </a:ln>
        </p:spPr>
      </p:sp>
      <p:sp>
        <p:nvSpPr>
          <p:cNvPr id="13" name="Text 10"/>
          <p:cNvSpPr txBox="1"/>
          <p:nvPr/>
        </p:nvSpPr>
        <p:spPr>
          <a:xfrm>
            <a:off x="1344168" y="1728216"/>
            <a:ext cx="429768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Procedure — they received the Spirit by the hearing of faith</a:t>
            </a:r>
            <a:endParaRPr lang="en-US" sz="1200" dirty="0"/>
          </a:p>
        </p:txBody>
      </p:sp>
      <p:sp>
        <p:nvSpPr>
          <p:cNvPr id="14" name="Text 11"/>
          <p:cNvSpPr txBox="1"/>
          <p:nvPr/>
        </p:nvSpPr>
        <p:spPr>
          <a:xfrm>
            <a:off x="5715000" y="1728216"/>
            <a:ext cx="2880360" cy="54864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ἀκοῆς πίστεως</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faith from what is heard</a:t>
            </a:r>
            <a:endParaRPr lang="en-US" sz="1200" dirty="0"/>
          </a:p>
        </p:txBody>
      </p:sp>
      <p:sp>
        <p:nvSpPr>
          <p:cNvPr id="15" name="Shape 12"/>
          <p:cNvSpPr/>
          <p:nvPr/>
        </p:nvSpPr>
        <p:spPr>
          <a:xfrm>
            <a:off x="457200" y="2340864"/>
            <a:ext cx="777240" cy="548640"/>
          </a:xfrm>
          <a:prstGeom prst="rect">
            <a:avLst/>
          </a:prstGeom>
          <a:solidFill>
            <a:srgbClr val="2E5496"/>
          </a:solidFill>
          <a:ln w="12700">
            <a:solidFill>
              <a:srgbClr val="2E5496"/>
            </a:solidFill>
            <a:prstDash val="solid"/>
          </a:ln>
        </p:spPr>
      </p:sp>
      <p:sp>
        <p:nvSpPr>
          <p:cNvPr id="16" name="Text 13"/>
          <p:cNvSpPr txBox="1"/>
          <p:nvPr/>
        </p:nvSpPr>
        <p:spPr>
          <a:xfrm>
            <a:off x="457200" y="2340864"/>
            <a:ext cx="77724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v.3</a:t>
            </a:r>
            <a:endParaRPr lang="en-US" sz="1100" dirty="0"/>
          </a:p>
        </p:txBody>
      </p:sp>
      <p:sp>
        <p:nvSpPr>
          <p:cNvPr id="17" name="Shape 14"/>
          <p:cNvSpPr/>
          <p:nvPr/>
        </p:nvSpPr>
        <p:spPr>
          <a:xfrm>
            <a:off x="1234440" y="2340864"/>
            <a:ext cx="7452360" cy="548640"/>
          </a:xfrm>
          <a:prstGeom prst="rect">
            <a:avLst/>
          </a:prstGeom>
          <a:solidFill>
            <a:srgbClr val="F2F6FC"/>
          </a:solidFill>
          <a:ln w="9525">
            <a:solidFill>
              <a:srgbClr val="D5DCEA"/>
            </a:solidFill>
            <a:prstDash val="solid"/>
          </a:ln>
        </p:spPr>
      </p:sp>
      <p:sp>
        <p:nvSpPr>
          <p:cNvPr id="18" name="Text 15"/>
          <p:cNvSpPr txBox="1"/>
          <p:nvPr/>
        </p:nvSpPr>
        <p:spPr>
          <a:xfrm>
            <a:off x="1344168" y="2340864"/>
            <a:ext cx="429768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Perfection — begun by the Spirit, not finished by the flesh</a:t>
            </a:r>
            <a:endParaRPr lang="en-US" sz="1200" dirty="0"/>
          </a:p>
        </p:txBody>
      </p:sp>
      <p:sp>
        <p:nvSpPr>
          <p:cNvPr id="19" name="Text 16"/>
          <p:cNvSpPr txBox="1"/>
          <p:nvPr/>
        </p:nvSpPr>
        <p:spPr>
          <a:xfrm>
            <a:off x="5715000" y="2340864"/>
            <a:ext cx="2880360" cy="54864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ἐπιτελεῖσθε</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being made complete</a:t>
            </a:r>
            <a:endParaRPr lang="en-US" sz="1200" dirty="0"/>
          </a:p>
        </p:txBody>
      </p:sp>
      <p:sp>
        <p:nvSpPr>
          <p:cNvPr id="20" name="Shape 17"/>
          <p:cNvSpPr/>
          <p:nvPr/>
        </p:nvSpPr>
        <p:spPr>
          <a:xfrm>
            <a:off x="457200" y="2953512"/>
            <a:ext cx="777240" cy="548640"/>
          </a:xfrm>
          <a:prstGeom prst="rect">
            <a:avLst/>
          </a:prstGeom>
          <a:solidFill>
            <a:srgbClr val="2E5496"/>
          </a:solidFill>
          <a:ln w="12700">
            <a:solidFill>
              <a:srgbClr val="2E5496"/>
            </a:solidFill>
            <a:prstDash val="solid"/>
          </a:ln>
        </p:spPr>
      </p:sp>
      <p:sp>
        <p:nvSpPr>
          <p:cNvPr id="21" name="Text 18"/>
          <p:cNvSpPr txBox="1"/>
          <p:nvPr/>
        </p:nvSpPr>
        <p:spPr>
          <a:xfrm>
            <a:off x="457200" y="2953512"/>
            <a:ext cx="77724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v.4</a:t>
            </a:r>
            <a:endParaRPr lang="en-US" sz="1100" dirty="0"/>
          </a:p>
        </p:txBody>
      </p:sp>
      <p:sp>
        <p:nvSpPr>
          <p:cNvPr id="22" name="Shape 19"/>
          <p:cNvSpPr/>
          <p:nvPr/>
        </p:nvSpPr>
        <p:spPr>
          <a:xfrm>
            <a:off x="1234440" y="2953512"/>
            <a:ext cx="7452360" cy="548640"/>
          </a:xfrm>
          <a:prstGeom prst="rect">
            <a:avLst/>
          </a:prstGeom>
          <a:solidFill>
            <a:srgbClr val="FFFFFF"/>
          </a:solidFill>
          <a:ln w="9525">
            <a:solidFill>
              <a:srgbClr val="D5DCEA"/>
            </a:solidFill>
            <a:prstDash val="solid"/>
          </a:ln>
        </p:spPr>
      </p:sp>
      <p:sp>
        <p:nvSpPr>
          <p:cNvPr id="23" name="Text 20"/>
          <p:cNvSpPr txBox="1"/>
          <p:nvPr/>
        </p:nvSpPr>
        <p:spPr>
          <a:xfrm>
            <a:off x="1344168" y="2953512"/>
            <a:ext cx="429768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Persecution — returning to law would empty their suffering of meaning</a:t>
            </a:r>
            <a:endParaRPr lang="en-US" sz="1200" dirty="0"/>
          </a:p>
        </p:txBody>
      </p:sp>
      <p:sp>
        <p:nvSpPr>
          <p:cNvPr id="24" name="Text 21"/>
          <p:cNvSpPr txBox="1"/>
          <p:nvPr/>
        </p:nvSpPr>
        <p:spPr>
          <a:xfrm>
            <a:off x="5715000" y="2953512"/>
            <a:ext cx="2880360" cy="54864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εἰκῇ</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in vain, to no purpose</a:t>
            </a:r>
            <a:endParaRPr lang="en-US" sz="1200" dirty="0"/>
          </a:p>
        </p:txBody>
      </p:sp>
      <p:sp>
        <p:nvSpPr>
          <p:cNvPr id="25" name="Shape 22"/>
          <p:cNvSpPr/>
          <p:nvPr/>
        </p:nvSpPr>
        <p:spPr>
          <a:xfrm>
            <a:off x="457200" y="3566160"/>
            <a:ext cx="777240" cy="548640"/>
          </a:xfrm>
          <a:prstGeom prst="rect">
            <a:avLst/>
          </a:prstGeom>
          <a:solidFill>
            <a:srgbClr val="375623"/>
          </a:solidFill>
          <a:ln w="12700">
            <a:solidFill>
              <a:srgbClr val="375623"/>
            </a:solidFill>
            <a:prstDash val="solid"/>
          </a:ln>
        </p:spPr>
      </p:sp>
      <p:sp>
        <p:nvSpPr>
          <p:cNvPr id="26" name="Text 23"/>
          <p:cNvSpPr txBox="1"/>
          <p:nvPr/>
        </p:nvSpPr>
        <p:spPr>
          <a:xfrm>
            <a:off x="457200" y="3566160"/>
            <a:ext cx="77724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v.5</a:t>
            </a:r>
            <a:endParaRPr lang="en-US" sz="1100" dirty="0"/>
          </a:p>
        </p:txBody>
      </p:sp>
      <p:sp>
        <p:nvSpPr>
          <p:cNvPr id="27" name="Shape 24"/>
          <p:cNvSpPr/>
          <p:nvPr/>
        </p:nvSpPr>
        <p:spPr>
          <a:xfrm>
            <a:off x="1234440" y="3566160"/>
            <a:ext cx="7452360" cy="548640"/>
          </a:xfrm>
          <a:prstGeom prst="rect">
            <a:avLst/>
          </a:prstGeom>
          <a:solidFill>
            <a:srgbClr val="F2F6FC"/>
          </a:solidFill>
          <a:ln w="9525">
            <a:solidFill>
              <a:srgbClr val="D5DCEA"/>
            </a:solidFill>
            <a:prstDash val="solid"/>
          </a:ln>
        </p:spPr>
      </p:sp>
      <p:sp>
        <p:nvSpPr>
          <p:cNvPr id="28" name="Text 25"/>
          <p:cNvSpPr txBox="1"/>
          <p:nvPr/>
        </p:nvSpPr>
        <p:spPr>
          <a:xfrm>
            <a:off x="1344168" y="3566160"/>
            <a:ext cx="429768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Promotion — the Spirit's supply and miracles came by faith</a:t>
            </a:r>
            <a:endParaRPr lang="en-US" sz="1200" dirty="0"/>
          </a:p>
        </p:txBody>
      </p:sp>
      <p:sp>
        <p:nvSpPr>
          <p:cNvPr id="29" name="Text 26"/>
          <p:cNvSpPr txBox="1"/>
          <p:nvPr/>
        </p:nvSpPr>
        <p:spPr>
          <a:xfrm>
            <a:off x="5715000" y="3566160"/>
            <a:ext cx="2880360" cy="54864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ἐπιχορηγῶν</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lavish, ongoing supply</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Foolish, bewitched — and Christ placarded</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3:1 · Outline I — The precedence of Christianity</a:t>
            </a:r>
            <a:endParaRPr lang="en-US" sz="1200" dirty="0"/>
          </a:p>
        </p:txBody>
      </p:sp>
      <p:sp>
        <p:nvSpPr>
          <p:cNvPr id="5" name="Shape 2"/>
          <p:cNvSpPr/>
          <p:nvPr/>
        </p:nvSpPr>
        <p:spPr>
          <a:xfrm>
            <a:off x="457200" y="1143000"/>
            <a:ext cx="4018788" cy="1600200"/>
          </a:xfrm>
          <a:prstGeom prst="rect">
            <a:avLst/>
          </a:prstGeom>
          <a:solidFill>
            <a:srgbClr val="F2F6FC"/>
          </a:solidFill>
          <a:ln w="9525">
            <a:solidFill>
              <a:srgbClr val="D5DCEA"/>
            </a:solidFill>
            <a:prstDash val="solid"/>
          </a:ln>
        </p:spPr>
      </p:sp>
      <p:sp>
        <p:nvSpPr>
          <p:cNvPr id="6" name="Shape 3"/>
          <p:cNvSpPr/>
          <p:nvPr/>
        </p:nvSpPr>
        <p:spPr>
          <a:xfrm>
            <a:off x="585216" y="1271016"/>
            <a:ext cx="402336" cy="402336"/>
          </a:xfrm>
          <a:prstGeom prst="ellipse">
            <a:avLst/>
          </a:prstGeom>
          <a:solidFill>
            <a:srgbClr val="2E5496"/>
          </a:solidFill>
          <a:ln w="12700">
            <a:solidFill>
              <a:srgbClr val="2E5496"/>
            </a:solidFill>
            <a:prstDash val="solid"/>
          </a:ln>
        </p:spPr>
      </p:sp>
      <p:sp>
        <p:nvSpPr>
          <p:cNvPr id="7" name="Text 4"/>
          <p:cNvSpPr txBox="1"/>
          <p:nvPr/>
        </p:nvSpPr>
        <p:spPr>
          <a:xfrm>
            <a:off x="585216" y="127101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8" name="Text 5"/>
          <p:cNvSpPr txBox="1"/>
          <p:nvPr/>
        </p:nvSpPr>
        <p:spPr>
          <a:xfrm>
            <a:off x="1078992" y="1252728"/>
            <a:ext cx="3305556"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“O foolish Galatians”</a:t>
            </a:r>
            <a:endParaRPr lang="en-US" sz="1200" dirty="0"/>
          </a:p>
        </p:txBody>
      </p:sp>
      <p:sp>
        <p:nvSpPr>
          <p:cNvPr id="9" name="Text 6"/>
          <p:cNvSpPr txBox="1"/>
          <p:nvPr/>
        </p:nvSpPr>
        <p:spPr>
          <a:xfrm>
            <a:off x="585216" y="1764792"/>
            <a:ext cx="3762756" cy="886968"/>
          </a:xfrm>
          <a:prstGeom prst="rect">
            <a:avLst/>
          </a:prstGeom>
          <a:noFill/>
          <a:ln/>
        </p:spPr>
        <p:txBody>
          <a:bodyPr wrap="square" lIns="0" tIns="0" rIns="0" bIns="0" rtlCol="0" anchor="t"/>
          <a:lstStyle/>
          <a:p>
            <a:pPr indent="0" marL="0">
              <a:buNone/>
            </a:pPr>
            <a:r>
              <a:rPr lang="en-US" sz="1250" b="1" dirty="0">
                <a:solidFill>
                  <a:srgbClr val="7030A0"/>
                </a:solidFill>
                <a:latin typeface="Arial" pitchFamily="34" charset="0"/>
                <a:ea typeface="Arial" pitchFamily="34" charset="-122"/>
                <a:cs typeface="Arial" pitchFamily="34" charset="-120"/>
              </a:rPr>
              <a:t>ἀνόητοι</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Not demented — simply not using the sense God gave them</a:t>
            </a:r>
            <a:endParaRPr lang="en-US" sz="1200" dirty="0"/>
          </a:p>
        </p:txBody>
      </p:sp>
      <p:sp>
        <p:nvSpPr>
          <p:cNvPr id="10" name="Shape 7"/>
          <p:cNvSpPr/>
          <p:nvPr/>
        </p:nvSpPr>
        <p:spPr>
          <a:xfrm>
            <a:off x="4668012" y="1143000"/>
            <a:ext cx="4018788" cy="1600200"/>
          </a:xfrm>
          <a:prstGeom prst="rect">
            <a:avLst/>
          </a:prstGeom>
          <a:solidFill>
            <a:srgbClr val="F2F6FC"/>
          </a:solidFill>
          <a:ln w="9525">
            <a:solidFill>
              <a:srgbClr val="D5DCEA"/>
            </a:solidFill>
            <a:prstDash val="solid"/>
          </a:ln>
        </p:spPr>
      </p:sp>
      <p:sp>
        <p:nvSpPr>
          <p:cNvPr id="11" name="Shape 8"/>
          <p:cNvSpPr/>
          <p:nvPr/>
        </p:nvSpPr>
        <p:spPr>
          <a:xfrm>
            <a:off x="4796028" y="1271016"/>
            <a:ext cx="402336" cy="402336"/>
          </a:xfrm>
          <a:prstGeom prst="ellipse">
            <a:avLst/>
          </a:prstGeom>
          <a:solidFill>
            <a:srgbClr val="2E5496"/>
          </a:solidFill>
          <a:ln w="12700">
            <a:solidFill>
              <a:srgbClr val="2E5496"/>
            </a:solidFill>
            <a:prstDash val="solid"/>
          </a:ln>
        </p:spPr>
      </p:sp>
      <p:sp>
        <p:nvSpPr>
          <p:cNvPr id="12" name="Text 9"/>
          <p:cNvSpPr txBox="1"/>
          <p:nvPr/>
        </p:nvSpPr>
        <p:spPr>
          <a:xfrm>
            <a:off x="4796028" y="127101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3" name="Text 10"/>
          <p:cNvSpPr txBox="1"/>
          <p:nvPr/>
        </p:nvSpPr>
        <p:spPr>
          <a:xfrm>
            <a:off x="5289804" y="1252728"/>
            <a:ext cx="3305556"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“Who has bewitched you?”</a:t>
            </a:r>
            <a:endParaRPr lang="en-US" sz="1200" dirty="0"/>
          </a:p>
        </p:txBody>
      </p:sp>
      <p:sp>
        <p:nvSpPr>
          <p:cNvPr id="14" name="Text 11"/>
          <p:cNvSpPr txBox="1"/>
          <p:nvPr/>
        </p:nvSpPr>
        <p:spPr>
          <a:xfrm>
            <a:off x="4796028" y="1764792"/>
            <a:ext cx="3762756" cy="886968"/>
          </a:xfrm>
          <a:prstGeom prst="rect">
            <a:avLst/>
          </a:prstGeom>
          <a:noFill/>
          <a:ln/>
        </p:spPr>
        <p:txBody>
          <a:bodyPr wrap="square" lIns="0" tIns="0" rIns="0" bIns="0" rtlCol="0" anchor="t"/>
          <a:lstStyle/>
          <a:p>
            <a:pPr indent="0" marL="0">
              <a:buNone/>
            </a:pPr>
            <a:r>
              <a:rPr lang="en-US" sz="1250" b="1" dirty="0">
                <a:solidFill>
                  <a:srgbClr val="7030A0"/>
                </a:solidFill>
                <a:latin typeface="Arial" pitchFamily="34" charset="0"/>
                <a:ea typeface="Arial" pitchFamily="34" charset="-122"/>
                <a:cs typeface="Arial" pitchFamily="34" charset="-120"/>
              </a:rPr>
              <a:t>ἐβάσκανεν</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Hyperbole: who put a hex on you? Their turn made no sense</a:t>
            </a:r>
            <a:endParaRPr lang="en-US" sz="1200" dirty="0"/>
          </a:p>
        </p:txBody>
      </p:sp>
      <p:sp>
        <p:nvSpPr>
          <p:cNvPr id="15" name="Shape 12"/>
          <p:cNvSpPr/>
          <p:nvPr/>
        </p:nvSpPr>
        <p:spPr>
          <a:xfrm>
            <a:off x="457200" y="2907792"/>
            <a:ext cx="4018788" cy="1600200"/>
          </a:xfrm>
          <a:prstGeom prst="rect">
            <a:avLst/>
          </a:prstGeom>
          <a:solidFill>
            <a:srgbClr val="F2F6FC"/>
          </a:solidFill>
          <a:ln w="9525">
            <a:solidFill>
              <a:srgbClr val="D5DCEA"/>
            </a:solidFill>
            <a:prstDash val="solid"/>
          </a:ln>
        </p:spPr>
      </p:sp>
      <p:sp>
        <p:nvSpPr>
          <p:cNvPr id="16" name="Shape 13"/>
          <p:cNvSpPr/>
          <p:nvPr/>
        </p:nvSpPr>
        <p:spPr>
          <a:xfrm>
            <a:off x="585216" y="3035808"/>
            <a:ext cx="402336" cy="402336"/>
          </a:xfrm>
          <a:prstGeom prst="ellipse">
            <a:avLst/>
          </a:prstGeom>
          <a:solidFill>
            <a:srgbClr val="375623"/>
          </a:solidFill>
          <a:ln w="12700">
            <a:solidFill>
              <a:srgbClr val="375623"/>
            </a:solidFill>
            <a:prstDash val="solid"/>
          </a:ln>
        </p:spPr>
      </p:sp>
      <p:sp>
        <p:nvSpPr>
          <p:cNvPr id="17" name="Text 14"/>
          <p:cNvSpPr txBox="1"/>
          <p:nvPr/>
        </p:nvSpPr>
        <p:spPr>
          <a:xfrm>
            <a:off x="585216" y="3035808"/>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8" name="Text 15"/>
          <p:cNvSpPr txBox="1"/>
          <p:nvPr/>
        </p:nvSpPr>
        <p:spPr>
          <a:xfrm>
            <a:off x="1078992" y="3017520"/>
            <a:ext cx="3305556"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“Clearly portrayed”</a:t>
            </a:r>
            <a:endParaRPr lang="en-US" sz="1200" dirty="0"/>
          </a:p>
        </p:txBody>
      </p:sp>
      <p:sp>
        <p:nvSpPr>
          <p:cNvPr id="19" name="Text 16"/>
          <p:cNvSpPr txBox="1"/>
          <p:nvPr/>
        </p:nvSpPr>
        <p:spPr>
          <a:xfrm>
            <a:off x="585216" y="3529584"/>
            <a:ext cx="3762756" cy="886968"/>
          </a:xfrm>
          <a:prstGeom prst="rect">
            <a:avLst/>
          </a:prstGeom>
          <a:noFill/>
          <a:ln/>
        </p:spPr>
        <p:txBody>
          <a:bodyPr wrap="square" lIns="0" tIns="0" rIns="0" bIns="0" rtlCol="0" anchor="t"/>
          <a:lstStyle/>
          <a:p>
            <a:pPr indent="0" marL="0">
              <a:buNone/>
            </a:pPr>
            <a:r>
              <a:rPr lang="en-US" sz="1250" b="1" dirty="0">
                <a:solidFill>
                  <a:srgbClr val="7030A0"/>
                </a:solidFill>
                <a:latin typeface="Arial" pitchFamily="34" charset="0"/>
                <a:ea typeface="Arial" pitchFamily="34" charset="-122"/>
                <a:cs typeface="Arial" pitchFamily="34" charset="-120"/>
              </a:rPr>
              <a:t>προεγράφη</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Posted publicly, like a placard — in preaching, baptism and the Table</a:t>
            </a:r>
            <a:endParaRPr lang="en-US" sz="1200" dirty="0"/>
          </a:p>
        </p:txBody>
      </p:sp>
      <p:sp>
        <p:nvSpPr>
          <p:cNvPr id="20" name="Shape 17"/>
          <p:cNvSpPr/>
          <p:nvPr/>
        </p:nvSpPr>
        <p:spPr>
          <a:xfrm>
            <a:off x="4668012" y="2907792"/>
            <a:ext cx="4018788" cy="1600200"/>
          </a:xfrm>
          <a:prstGeom prst="rect">
            <a:avLst/>
          </a:prstGeom>
          <a:solidFill>
            <a:srgbClr val="F2F6FC"/>
          </a:solidFill>
          <a:ln w="9525">
            <a:solidFill>
              <a:srgbClr val="D5DCEA"/>
            </a:solidFill>
            <a:prstDash val="solid"/>
          </a:ln>
        </p:spPr>
      </p:sp>
      <p:sp>
        <p:nvSpPr>
          <p:cNvPr id="21" name="Shape 18"/>
          <p:cNvSpPr/>
          <p:nvPr/>
        </p:nvSpPr>
        <p:spPr>
          <a:xfrm>
            <a:off x="4796028" y="3035808"/>
            <a:ext cx="402336" cy="402336"/>
          </a:xfrm>
          <a:prstGeom prst="ellipse">
            <a:avLst/>
          </a:prstGeom>
          <a:solidFill>
            <a:srgbClr val="375623"/>
          </a:solidFill>
          <a:ln w="12700">
            <a:solidFill>
              <a:srgbClr val="375623"/>
            </a:solidFill>
            <a:prstDash val="solid"/>
          </a:ln>
        </p:spPr>
      </p:sp>
      <p:sp>
        <p:nvSpPr>
          <p:cNvPr id="22" name="Text 19"/>
          <p:cNvSpPr txBox="1"/>
          <p:nvPr/>
        </p:nvSpPr>
        <p:spPr>
          <a:xfrm>
            <a:off x="4796028" y="3035808"/>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3" name="Text 20"/>
          <p:cNvSpPr txBox="1"/>
          <p:nvPr/>
        </p:nvSpPr>
        <p:spPr>
          <a:xfrm>
            <a:off x="5289804" y="3017520"/>
            <a:ext cx="3305556"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“As crucified”</a:t>
            </a:r>
            <a:endParaRPr lang="en-US" sz="1200" dirty="0"/>
          </a:p>
        </p:txBody>
      </p:sp>
      <p:sp>
        <p:nvSpPr>
          <p:cNvPr id="24" name="Text 21"/>
          <p:cNvSpPr txBox="1"/>
          <p:nvPr/>
        </p:nvSpPr>
        <p:spPr>
          <a:xfrm>
            <a:off x="4796028" y="3529584"/>
            <a:ext cx="3762756" cy="886968"/>
          </a:xfrm>
          <a:prstGeom prst="rect">
            <a:avLst/>
          </a:prstGeom>
          <a:noFill/>
          <a:ln/>
        </p:spPr>
        <p:txBody>
          <a:bodyPr wrap="square" lIns="0" tIns="0" rIns="0" bIns="0" rtlCol="0" anchor="t"/>
          <a:lstStyle/>
          <a:p>
            <a:pPr indent="0" marL="0">
              <a:buNone/>
            </a:pPr>
            <a:r>
              <a:rPr lang="en-US" sz="1250" b="1" dirty="0">
                <a:solidFill>
                  <a:srgbClr val="7030A0"/>
                </a:solidFill>
                <a:latin typeface="Arial" pitchFamily="34" charset="0"/>
                <a:ea typeface="Arial" pitchFamily="34" charset="-122"/>
                <a:cs typeface="Arial" pitchFamily="34" charset="-120"/>
              </a:rPr>
              <a:t>ἐσταυρωμένος</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Perfect participle — Christ stands permanently as the crucified One</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How did you receive the Spirit?</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3:2 · Outline II — The procedure of Christianity</a:t>
            </a:r>
            <a:endParaRPr lang="en-US" sz="1200" dirty="0"/>
          </a:p>
        </p:txBody>
      </p:sp>
      <p:sp>
        <p:nvSpPr>
          <p:cNvPr id="5" name="Shape 2"/>
          <p:cNvSpPr/>
          <p:nvPr/>
        </p:nvSpPr>
        <p:spPr>
          <a:xfrm>
            <a:off x="1828800" y="1143000"/>
            <a:ext cx="3383280" cy="384048"/>
          </a:xfrm>
          <a:prstGeom prst="rect">
            <a:avLst/>
          </a:prstGeom>
          <a:solidFill>
            <a:srgbClr val="6B7280"/>
          </a:solidFill>
          <a:ln w="12700">
            <a:solidFill>
              <a:srgbClr val="6B7280"/>
            </a:solidFill>
            <a:prstDash val="solid"/>
          </a:ln>
        </p:spPr>
      </p:sp>
      <p:sp>
        <p:nvSpPr>
          <p:cNvPr id="6" name="Text 3"/>
          <p:cNvSpPr txBox="1"/>
          <p:nvPr/>
        </p:nvSpPr>
        <p:spPr>
          <a:xfrm>
            <a:off x="1920240" y="1143000"/>
            <a:ext cx="3246120" cy="38404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By the works of the law?</a:t>
            </a:r>
            <a:endParaRPr lang="en-US" sz="1250" dirty="0"/>
          </a:p>
        </p:txBody>
      </p:sp>
      <p:sp>
        <p:nvSpPr>
          <p:cNvPr id="7" name="Shape 4"/>
          <p:cNvSpPr/>
          <p:nvPr/>
        </p:nvSpPr>
        <p:spPr>
          <a:xfrm>
            <a:off x="5303520" y="1143000"/>
            <a:ext cx="3383280" cy="384048"/>
          </a:xfrm>
          <a:prstGeom prst="rect">
            <a:avLst/>
          </a:prstGeom>
          <a:solidFill>
            <a:srgbClr val="375623"/>
          </a:solidFill>
          <a:ln w="12700">
            <a:solidFill>
              <a:srgbClr val="375623"/>
            </a:solidFill>
            <a:prstDash val="solid"/>
          </a:ln>
        </p:spPr>
      </p:sp>
      <p:sp>
        <p:nvSpPr>
          <p:cNvPr id="8" name="Text 5"/>
          <p:cNvSpPr txBox="1"/>
          <p:nvPr/>
        </p:nvSpPr>
        <p:spPr>
          <a:xfrm>
            <a:off x="5349240" y="1143000"/>
            <a:ext cx="3246120" cy="38404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By the hearing of faith ✓</a:t>
            </a:r>
            <a:endParaRPr lang="en-US" sz="1250" dirty="0"/>
          </a:p>
        </p:txBody>
      </p:sp>
      <p:sp>
        <p:nvSpPr>
          <p:cNvPr id="9" name="Text 6"/>
          <p:cNvSpPr txBox="1"/>
          <p:nvPr/>
        </p:nvSpPr>
        <p:spPr>
          <a:xfrm>
            <a:off x="457200" y="1581912"/>
            <a:ext cx="1280160" cy="621792"/>
          </a:xfrm>
          <a:prstGeom prst="rect">
            <a:avLst/>
          </a:prstGeom>
          <a:noFill/>
          <a:ln/>
        </p:spPr>
        <p:txBody>
          <a:bodyPr wrap="square" lIns="0" tIns="0" rIns="0" bIns="0" rtlCol="0" anchor="ctr"/>
          <a:lstStyle/>
          <a:p>
            <a:pPr indent="0" marL="0">
              <a:buNone/>
            </a:pPr>
            <a:r>
              <a:rPr lang="en-US" sz="1150" b="1" dirty="0">
                <a:solidFill>
                  <a:srgbClr val="1F3864"/>
                </a:solidFill>
                <a:latin typeface="Arial" pitchFamily="34" charset="0"/>
                <a:ea typeface="Arial" pitchFamily="34" charset="-122"/>
                <a:cs typeface="Arial" pitchFamily="34" charset="-120"/>
              </a:rPr>
              <a:t>What it is</a:t>
            </a:r>
            <a:endParaRPr lang="en-US" sz="1150" dirty="0"/>
          </a:p>
        </p:txBody>
      </p:sp>
      <p:sp>
        <p:nvSpPr>
          <p:cNvPr id="10" name="Shape 7"/>
          <p:cNvSpPr/>
          <p:nvPr/>
        </p:nvSpPr>
        <p:spPr>
          <a:xfrm>
            <a:off x="1828800" y="1581912"/>
            <a:ext cx="3383280" cy="621792"/>
          </a:xfrm>
          <a:prstGeom prst="rect">
            <a:avLst/>
          </a:prstGeom>
          <a:solidFill>
            <a:srgbClr val="F2F6FC"/>
          </a:solidFill>
          <a:ln w="9525">
            <a:solidFill>
              <a:srgbClr val="D5DCEA"/>
            </a:solidFill>
            <a:prstDash val="solid"/>
          </a:ln>
        </p:spPr>
      </p:sp>
      <p:sp>
        <p:nvSpPr>
          <p:cNvPr id="11" name="Text 8"/>
          <p:cNvSpPr txBox="1"/>
          <p:nvPr/>
        </p:nvSpPr>
        <p:spPr>
          <a:xfrm>
            <a:off x="1920240" y="1581912"/>
            <a:ext cx="3200400" cy="621792"/>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Deeds done in obedience to the Mosaic code</a:t>
            </a:r>
            <a:endParaRPr lang="en-US" sz="1200" dirty="0"/>
          </a:p>
        </p:txBody>
      </p:sp>
      <p:sp>
        <p:nvSpPr>
          <p:cNvPr id="12" name="Shape 9"/>
          <p:cNvSpPr/>
          <p:nvPr/>
        </p:nvSpPr>
        <p:spPr>
          <a:xfrm>
            <a:off x="5303520" y="1581912"/>
            <a:ext cx="3383280" cy="621792"/>
          </a:xfrm>
          <a:prstGeom prst="rect">
            <a:avLst/>
          </a:prstGeom>
          <a:solidFill>
            <a:srgbClr val="F2F6FC"/>
          </a:solidFill>
          <a:ln w="9525">
            <a:solidFill>
              <a:srgbClr val="D5DCEA"/>
            </a:solidFill>
            <a:prstDash val="solid"/>
          </a:ln>
        </p:spPr>
      </p:sp>
      <p:sp>
        <p:nvSpPr>
          <p:cNvPr id="13" name="Text 10"/>
          <p:cNvSpPr txBox="1"/>
          <p:nvPr/>
        </p:nvSpPr>
        <p:spPr>
          <a:xfrm>
            <a:off x="5394960" y="1581912"/>
            <a:ext cx="3200400" cy="621792"/>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Believing the message that was heard</a:t>
            </a:r>
            <a:endParaRPr lang="en-US" sz="1200" dirty="0"/>
          </a:p>
        </p:txBody>
      </p:sp>
      <p:sp>
        <p:nvSpPr>
          <p:cNvPr id="14" name="Text 11"/>
          <p:cNvSpPr txBox="1"/>
          <p:nvPr/>
        </p:nvSpPr>
        <p:spPr>
          <a:xfrm>
            <a:off x="457200" y="2258568"/>
            <a:ext cx="1280160" cy="621792"/>
          </a:xfrm>
          <a:prstGeom prst="rect">
            <a:avLst/>
          </a:prstGeom>
          <a:noFill/>
          <a:ln/>
        </p:spPr>
        <p:txBody>
          <a:bodyPr wrap="square" lIns="0" tIns="0" rIns="0" bIns="0" rtlCol="0" anchor="ctr"/>
          <a:lstStyle/>
          <a:p>
            <a:pPr indent="0" marL="0">
              <a:buNone/>
            </a:pPr>
            <a:r>
              <a:rPr lang="en-US" sz="1150" b="1" dirty="0">
                <a:solidFill>
                  <a:srgbClr val="1F3864"/>
                </a:solidFill>
                <a:latin typeface="Arial" pitchFamily="34" charset="0"/>
                <a:ea typeface="Arial" pitchFamily="34" charset="-122"/>
                <a:cs typeface="Arial" pitchFamily="34" charset="-120"/>
              </a:rPr>
              <a:t>Greek</a:t>
            </a:r>
            <a:endParaRPr lang="en-US" sz="1150" dirty="0"/>
          </a:p>
        </p:txBody>
      </p:sp>
      <p:sp>
        <p:nvSpPr>
          <p:cNvPr id="15" name="Shape 12"/>
          <p:cNvSpPr/>
          <p:nvPr/>
        </p:nvSpPr>
        <p:spPr>
          <a:xfrm>
            <a:off x="1828800" y="2258568"/>
            <a:ext cx="3383280" cy="621792"/>
          </a:xfrm>
          <a:prstGeom prst="rect">
            <a:avLst/>
          </a:prstGeom>
          <a:solidFill>
            <a:srgbClr val="F2F6FC"/>
          </a:solidFill>
          <a:ln w="9525">
            <a:solidFill>
              <a:srgbClr val="D5DCEA"/>
            </a:solidFill>
            <a:prstDash val="solid"/>
          </a:ln>
        </p:spPr>
      </p:sp>
      <p:sp>
        <p:nvSpPr>
          <p:cNvPr id="16" name="Text 13"/>
          <p:cNvSpPr txBox="1"/>
          <p:nvPr/>
        </p:nvSpPr>
        <p:spPr>
          <a:xfrm>
            <a:off x="1920240" y="2258568"/>
            <a:ext cx="3200400" cy="621792"/>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ἔργων νόμου</a:t>
            </a:r>
            <a:endParaRPr lang="en-US" sz="1200" dirty="0"/>
          </a:p>
        </p:txBody>
      </p:sp>
      <p:sp>
        <p:nvSpPr>
          <p:cNvPr id="17" name="Shape 14"/>
          <p:cNvSpPr/>
          <p:nvPr/>
        </p:nvSpPr>
        <p:spPr>
          <a:xfrm>
            <a:off x="5303520" y="2258568"/>
            <a:ext cx="3383280" cy="621792"/>
          </a:xfrm>
          <a:prstGeom prst="rect">
            <a:avLst/>
          </a:prstGeom>
          <a:solidFill>
            <a:srgbClr val="F2F6FC"/>
          </a:solidFill>
          <a:ln w="9525">
            <a:solidFill>
              <a:srgbClr val="D5DCEA"/>
            </a:solidFill>
            <a:prstDash val="solid"/>
          </a:ln>
        </p:spPr>
      </p:sp>
      <p:sp>
        <p:nvSpPr>
          <p:cNvPr id="18" name="Text 15"/>
          <p:cNvSpPr txBox="1"/>
          <p:nvPr/>
        </p:nvSpPr>
        <p:spPr>
          <a:xfrm>
            <a:off x="5394960" y="2258568"/>
            <a:ext cx="3200400" cy="621792"/>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ἀκοῆς πίστεως — faith arising from what is heard</a:t>
            </a:r>
            <a:endParaRPr lang="en-US" sz="1200" dirty="0"/>
          </a:p>
        </p:txBody>
      </p:sp>
      <p:sp>
        <p:nvSpPr>
          <p:cNvPr id="19" name="Text 16"/>
          <p:cNvSpPr txBox="1"/>
          <p:nvPr/>
        </p:nvSpPr>
        <p:spPr>
          <a:xfrm>
            <a:off x="457200" y="2935224"/>
            <a:ext cx="1280160" cy="621792"/>
          </a:xfrm>
          <a:prstGeom prst="rect">
            <a:avLst/>
          </a:prstGeom>
          <a:noFill/>
          <a:ln/>
        </p:spPr>
        <p:txBody>
          <a:bodyPr wrap="square" lIns="0" tIns="0" rIns="0" bIns="0" rtlCol="0" anchor="ctr"/>
          <a:lstStyle/>
          <a:p>
            <a:pPr indent="0" marL="0">
              <a:buNone/>
            </a:pPr>
            <a:r>
              <a:rPr lang="en-US" sz="1150" b="1" dirty="0">
                <a:solidFill>
                  <a:srgbClr val="1F3864"/>
                </a:solidFill>
                <a:latin typeface="Arial" pitchFamily="34" charset="0"/>
                <a:ea typeface="Arial" pitchFamily="34" charset="-122"/>
                <a:cs typeface="Arial" pitchFamily="34" charset="-120"/>
              </a:rPr>
              <a:t>The result</a:t>
            </a:r>
            <a:endParaRPr lang="en-US" sz="1150" dirty="0"/>
          </a:p>
        </p:txBody>
      </p:sp>
      <p:sp>
        <p:nvSpPr>
          <p:cNvPr id="20" name="Shape 17"/>
          <p:cNvSpPr/>
          <p:nvPr/>
        </p:nvSpPr>
        <p:spPr>
          <a:xfrm>
            <a:off x="1828800" y="2935224"/>
            <a:ext cx="3383280" cy="621792"/>
          </a:xfrm>
          <a:prstGeom prst="rect">
            <a:avLst/>
          </a:prstGeom>
          <a:solidFill>
            <a:srgbClr val="F2F6FC"/>
          </a:solidFill>
          <a:ln w="9525">
            <a:solidFill>
              <a:srgbClr val="D5DCEA"/>
            </a:solidFill>
            <a:prstDash val="solid"/>
          </a:ln>
        </p:spPr>
      </p:sp>
      <p:sp>
        <p:nvSpPr>
          <p:cNvPr id="21" name="Text 18"/>
          <p:cNvSpPr txBox="1"/>
          <p:nvPr/>
        </p:nvSpPr>
        <p:spPr>
          <a:xfrm>
            <a:off x="1920240" y="2935224"/>
            <a:ext cx="3200400" cy="621792"/>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No — the Spirit never came this way</a:t>
            </a:r>
            <a:endParaRPr lang="en-US" sz="1200" dirty="0"/>
          </a:p>
        </p:txBody>
      </p:sp>
      <p:sp>
        <p:nvSpPr>
          <p:cNvPr id="22" name="Shape 19"/>
          <p:cNvSpPr/>
          <p:nvPr/>
        </p:nvSpPr>
        <p:spPr>
          <a:xfrm>
            <a:off x="5303520" y="2935224"/>
            <a:ext cx="3383280" cy="621792"/>
          </a:xfrm>
          <a:prstGeom prst="rect">
            <a:avLst/>
          </a:prstGeom>
          <a:solidFill>
            <a:srgbClr val="F2F6FC"/>
          </a:solidFill>
          <a:ln w="9525">
            <a:solidFill>
              <a:srgbClr val="D5DCEA"/>
            </a:solidFill>
            <a:prstDash val="solid"/>
          </a:ln>
        </p:spPr>
      </p:sp>
      <p:sp>
        <p:nvSpPr>
          <p:cNvPr id="23" name="Text 20"/>
          <p:cNvSpPr txBox="1"/>
          <p:nvPr/>
        </p:nvSpPr>
        <p:spPr>
          <a:xfrm>
            <a:off x="5394960" y="2935224"/>
            <a:ext cx="3200400" cy="621792"/>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Yes — salvation and the Spirit at the same moment</a:t>
            </a:r>
            <a:endParaRPr lang="en-US" sz="1200" dirty="0"/>
          </a:p>
        </p:txBody>
      </p:sp>
      <p:sp>
        <p:nvSpPr>
          <p:cNvPr id="24" name="Shape 21"/>
          <p:cNvSpPr/>
          <p:nvPr/>
        </p:nvSpPr>
        <p:spPr>
          <a:xfrm>
            <a:off x="457200" y="3657600"/>
            <a:ext cx="8229600" cy="640080"/>
          </a:xfrm>
          <a:prstGeom prst="roundRect">
            <a:avLst>
              <a:gd name="adj" fmla="val 8571"/>
            </a:avLst>
          </a:prstGeom>
          <a:solidFill>
            <a:srgbClr val="1F3864"/>
          </a:solidFill>
          <a:ln w="12700">
            <a:solidFill>
              <a:srgbClr val="1F3864"/>
            </a:solidFill>
            <a:prstDash val="solid"/>
          </a:ln>
        </p:spPr>
      </p:sp>
      <p:sp>
        <p:nvSpPr>
          <p:cNvPr id="25" name="Text 22"/>
          <p:cNvSpPr txBox="1"/>
          <p:nvPr/>
        </p:nvSpPr>
        <p:spPr>
          <a:xfrm>
            <a:off x="621792" y="3657600"/>
            <a:ext cx="7900416" cy="64008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Salvation and the reception of the Spirit are simultaneous, though not synonymous. Some 33 things happen the moment a person believes (Chafer).</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Begun in the Spirit — finished in the flesh?</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3:3 · Outline III — The perfection of Christianity</a:t>
            </a:r>
            <a:endParaRPr lang="en-US" sz="1200" dirty="0"/>
          </a:p>
        </p:txBody>
      </p:sp>
      <p:sp>
        <p:nvSpPr>
          <p:cNvPr id="5" name="Shape 2"/>
          <p:cNvSpPr/>
          <p:nvPr/>
        </p:nvSpPr>
        <p:spPr>
          <a:xfrm>
            <a:off x="457200" y="1143000"/>
            <a:ext cx="2560320" cy="566928"/>
          </a:xfrm>
          <a:prstGeom prst="rect">
            <a:avLst/>
          </a:prstGeom>
          <a:solidFill>
            <a:srgbClr val="375623"/>
          </a:solidFill>
          <a:ln w="12700">
            <a:solidFill>
              <a:srgbClr val="375623"/>
            </a:solidFill>
            <a:prstDash val="solid"/>
          </a:ln>
        </p:spPr>
      </p:sp>
      <p:sp>
        <p:nvSpPr>
          <p:cNvPr id="6" name="Text 3"/>
          <p:cNvSpPr txBox="1"/>
          <p:nvPr/>
        </p:nvSpPr>
        <p:spPr>
          <a:xfrm>
            <a:off x="548640" y="1188720"/>
            <a:ext cx="23774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Having begun</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πνεύματι</a:t>
            </a:r>
            <a:pPr indent="0" marL="0">
              <a:buNone/>
            </a:pPr>
            <a:r>
              <a:rPr lang="en-US" sz="850" dirty="0">
                <a:solidFill>
                  <a:srgbClr val="DCE4F2"/>
                </a:solidFill>
                <a:latin typeface="Arial" pitchFamily="34" charset="0"/>
                <a:ea typeface="Arial" pitchFamily="34" charset="-122"/>
                <a:cs typeface="Arial" pitchFamily="34" charset="-120"/>
              </a:rPr>
              <a:t>  by the Spirit</a:t>
            </a:r>
            <a:endParaRPr lang="en-US" sz="1200" dirty="0"/>
          </a:p>
        </p:txBody>
      </p:sp>
      <p:sp>
        <p:nvSpPr>
          <p:cNvPr id="7" name="Shape 4"/>
          <p:cNvSpPr/>
          <p:nvPr/>
        </p:nvSpPr>
        <p:spPr>
          <a:xfrm>
            <a:off x="457200" y="1709928"/>
            <a:ext cx="2560320" cy="1810512"/>
          </a:xfrm>
          <a:prstGeom prst="rect">
            <a:avLst/>
          </a:prstGeom>
          <a:solidFill>
            <a:srgbClr val="F2F6FC"/>
          </a:solidFill>
          <a:ln w="9525">
            <a:solidFill>
              <a:srgbClr val="D5DCEA"/>
            </a:solidFill>
            <a:prstDash val="solid"/>
          </a:ln>
        </p:spPr>
      </p:sp>
      <p:sp>
        <p:nvSpPr>
          <p:cNvPr id="8" name="Text 5"/>
          <p:cNvSpPr txBox="1"/>
          <p:nvPr/>
        </p:nvSpPr>
        <p:spPr>
          <a:xfrm>
            <a:off x="548640" y="1783080"/>
            <a:ext cx="2377440" cy="1682496"/>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The Christian life starts with the Spirit, received by faith</a:t>
            </a:r>
            <a:endParaRPr lang="en-US" sz="1300" dirty="0"/>
          </a:p>
        </p:txBody>
      </p:sp>
      <p:sp>
        <p:nvSpPr>
          <p:cNvPr id="9" name="Shape 6"/>
          <p:cNvSpPr/>
          <p:nvPr/>
        </p:nvSpPr>
        <p:spPr>
          <a:xfrm>
            <a:off x="3108960" y="2194560"/>
            <a:ext cx="274320" cy="237744"/>
          </a:xfrm>
          <a:prstGeom prst="rightArrow">
            <a:avLst/>
          </a:prstGeom>
          <a:solidFill>
            <a:srgbClr val="6B7280"/>
          </a:solidFill>
          <a:ln w="12700">
            <a:solidFill>
              <a:srgbClr val="6B7280"/>
            </a:solidFill>
            <a:prstDash val="solid"/>
          </a:ln>
        </p:spPr>
      </p:sp>
      <p:sp>
        <p:nvSpPr>
          <p:cNvPr id="10" name="Shape 7"/>
          <p:cNvSpPr/>
          <p:nvPr/>
        </p:nvSpPr>
        <p:spPr>
          <a:xfrm>
            <a:off x="3474720" y="1143000"/>
            <a:ext cx="2560320" cy="566928"/>
          </a:xfrm>
          <a:prstGeom prst="rect">
            <a:avLst/>
          </a:prstGeom>
          <a:solidFill>
            <a:srgbClr val="6B7280"/>
          </a:solidFill>
          <a:ln w="12700">
            <a:solidFill>
              <a:srgbClr val="6B7280"/>
            </a:solidFill>
            <a:prstDash val="solid"/>
          </a:ln>
        </p:spPr>
      </p:sp>
      <p:sp>
        <p:nvSpPr>
          <p:cNvPr id="11" name="Text 8"/>
          <p:cNvSpPr txBox="1"/>
          <p:nvPr/>
        </p:nvSpPr>
        <p:spPr>
          <a:xfrm>
            <a:off x="3566160" y="1188720"/>
            <a:ext cx="23774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Now made perfect?</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ἐπιτελεῖσθε</a:t>
            </a:r>
            <a:pPr indent="0" marL="0">
              <a:buNone/>
            </a:pPr>
            <a:r>
              <a:rPr lang="en-US" sz="850" dirty="0">
                <a:solidFill>
                  <a:srgbClr val="DCE4F2"/>
                </a:solidFill>
                <a:latin typeface="Arial" pitchFamily="34" charset="0"/>
                <a:ea typeface="Arial" pitchFamily="34" charset="-122"/>
                <a:cs typeface="Arial" pitchFamily="34" charset="-120"/>
              </a:rPr>
              <a:t>  Pres. Mid./Pass.</a:t>
            </a:r>
            <a:endParaRPr lang="en-US" sz="1200" dirty="0"/>
          </a:p>
        </p:txBody>
      </p:sp>
      <p:sp>
        <p:nvSpPr>
          <p:cNvPr id="12" name="Shape 9"/>
          <p:cNvSpPr/>
          <p:nvPr/>
        </p:nvSpPr>
        <p:spPr>
          <a:xfrm>
            <a:off x="3474720" y="1709928"/>
            <a:ext cx="2560320" cy="1810512"/>
          </a:xfrm>
          <a:prstGeom prst="rect">
            <a:avLst/>
          </a:prstGeom>
          <a:solidFill>
            <a:srgbClr val="F2F6FC"/>
          </a:solidFill>
          <a:ln w="9525">
            <a:solidFill>
              <a:srgbClr val="D5DCEA"/>
            </a:solidFill>
            <a:prstDash val="solid"/>
          </a:ln>
        </p:spPr>
      </p:sp>
      <p:sp>
        <p:nvSpPr>
          <p:cNvPr id="13" name="Text 10"/>
          <p:cNvSpPr txBox="1"/>
          <p:nvPr/>
        </p:nvSpPr>
        <p:spPr>
          <a:xfrm>
            <a:off x="3566160" y="1783080"/>
            <a:ext cx="2377440" cy="1682496"/>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An attempted, ongoing “finishing” project</a:t>
            </a:r>
            <a:endParaRPr lang="en-US" sz="1300" dirty="0"/>
          </a:p>
        </p:txBody>
      </p:sp>
      <p:sp>
        <p:nvSpPr>
          <p:cNvPr id="14" name="Shape 11"/>
          <p:cNvSpPr/>
          <p:nvPr/>
        </p:nvSpPr>
        <p:spPr>
          <a:xfrm>
            <a:off x="6126480" y="2194560"/>
            <a:ext cx="274320" cy="237744"/>
          </a:xfrm>
          <a:prstGeom prst="rightArrow">
            <a:avLst/>
          </a:prstGeom>
          <a:solidFill>
            <a:srgbClr val="6B7280"/>
          </a:solidFill>
          <a:ln w="12700">
            <a:solidFill>
              <a:srgbClr val="6B7280"/>
            </a:solidFill>
            <a:prstDash val="solid"/>
          </a:ln>
        </p:spPr>
      </p:sp>
      <p:sp>
        <p:nvSpPr>
          <p:cNvPr id="15" name="Shape 12"/>
          <p:cNvSpPr/>
          <p:nvPr/>
        </p:nvSpPr>
        <p:spPr>
          <a:xfrm>
            <a:off x="6492240" y="1143000"/>
            <a:ext cx="2194560" cy="566928"/>
          </a:xfrm>
          <a:prstGeom prst="rect">
            <a:avLst/>
          </a:prstGeom>
          <a:solidFill>
            <a:srgbClr val="6B7280"/>
          </a:solidFill>
          <a:ln w="12700">
            <a:solidFill>
              <a:srgbClr val="6B7280"/>
            </a:solidFill>
            <a:prstDash val="solid"/>
          </a:ln>
        </p:spPr>
      </p:sp>
      <p:sp>
        <p:nvSpPr>
          <p:cNvPr id="16" name="Text 13"/>
          <p:cNvSpPr txBox="1"/>
          <p:nvPr/>
        </p:nvSpPr>
        <p:spPr>
          <a:xfrm>
            <a:off x="6583680" y="1188720"/>
            <a:ext cx="20116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By the flesh?</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σαρκί</a:t>
            </a:r>
            <a:pPr indent="0" marL="0">
              <a:buNone/>
            </a:pPr>
            <a:r>
              <a:rPr lang="en-US" sz="850" dirty="0">
                <a:solidFill>
                  <a:srgbClr val="DCE4F2"/>
                </a:solidFill>
                <a:latin typeface="Arial" pitchFamily="34" charset="0"/>
                <a:ea typeface="Arial" pitchFamily="34" charset="-122"/>
                <a:cs typeface="Arial" pitchFamily="34" charset="-120"/>
              </a:rPr>
              <a:t>  self-effort</a:t>
            </a:r>
            <a:endParaRPr lang="en-US" sz="1200" dirty="0"/>
          </a:p>
        </p:txBody>
      </p:sp>
      <p:sp>
        <p:nvSpPr>
          <p:cNvPr id="17" name="Shape 14"/>
          <p:cNvSpPr/>
          <p:nvPr/>
        </p:nvSpPr>
        <p:spPr>
          <a:xfrm>
            <a:off x="6492240" y="1709928"/>
            <a:ext cx="2194560" cy="1810512"/>
          </a:xfrm>
          <a:prstGeom prst="rect">
            <a:avLst/>
          </a:prstGeom>
          <a:solidFill>
            <a:srgbClr val="F2F6FC"/>
          </a:solidFill>
          <a:ln w="9525">
            <a:solidFill>
              <a:srgbClr val="D5DCEA"/>
            </a:solidFill>
            <a:prstDash val="solid"/>
          </a:ln>
        </p:spPr>
      </p:sp>
      <p:sp>
        <p:nvSpPr>
          <p:cNvPr id="18" name="Text 15"/>
          <p:cNvSpPr txBox="1"/>
          <p:nvPr/>
        </p:nvSpPr>
        <p:spPr>
          <a:xfrm>
            <a:off x="6583680" y="1783080"/>
            <a:ext cx="2011680" cy="1682496"/>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Human effort in place of grace</a:t>
            </a:r>
            <a:endParaRPr lang="en-US" sz="1300" dirty="0"/>
          </a:p>
        </p:txBody>
      </p:sp>
      <p:sp>
        <p:nvSpPr>
          <p:cNvPr id="19" name="Shape 16"/>
          <p:cNvSpPr/>
          <p:nvPr/>
        </p:nvSpPr>
        <p:spPr>
          <a:xfrm>
            <a:off x="457200" y="3749040"/>
            <a:ext cx="8229600" cy="548640"/>
          </a:xfrm>
          <a:prstGeom prst="roundRect">
            <a:avLst>
              <a:gd name="adj" fmla="val 10000"/>
            </a:avLst>
          </a:prstGeom>
          <a:solidFill>
            <a:srgbClr val="1F3864"/>
          </a:solidFill>
          <a:ln w="12700">
            <a:solidFill>
              <a:srgbClr val="1F3864"/>
            </a:solidFill>
            <a:prstDash val="solid"/>
          </a:ln>
        </p:spPr>
      </p:sp>
      <p:sp>
        <p:nvSpPr>
          <p:cNvPr id="20" name="Text 17"/>
          <p:cNvSpPr txBox="1"/>
          <p:nvPr/>
        </p:nvSpPr>
        <p:spPr>
          <a:xfrm>
            <a:off x="621792" y="3749040"/>
            <a:ext cx="7900416" cy="54864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“By one offering He has perfected forever those who are being sanctified” (Hebrews 10:14).</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Suffering and supply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3:4–5 · Outline IV–V — Persecution and promotion</a:t>
            </a:r>
            <a:endParaRPr lang="en-US" sz="1200" dirty="0"/>
          </a:p>
        </p:txBody>
      </p:sp>
      <p:sp>
        <p:nvSpPr>
          <p:cNvPr id="5" name="Shape 2"/>
          <p:cNvSpPr/>
          <p:nvPr/>
        </p:nvSpPr>
        <p:spPr>
          <a:xfrm>
            <a:off x="457200" y="1143000"/>
            <a:ext cx="4023360" cy="566928"/>
          </a:xfrm>
          <a:prstGeom prst="rect">
            <a:avLst/>
          </a:prstGeom>
          <a:solidFill>
            <a:srgbClr val="6B7280"/>
          </a:solidFill>
          <a:ln w="12700">
            <a:solidFill>
              <a:srgbClr val="6B7280"/>
            </a:solidFill>
            <a:prstDash val="solid"/>
          </a:ln>
        </p:spPr>
      </p:sp>
      <p:sp>
        <p:nvSpPr>
          <p:cNvPr id="6" name="Text 3"/>
          <p:cNvSpPr txBox="1"/>
          <p:nvPr/>
        </p:nvSpPr>
        <p:spPr>
          <a:xfrm>
            <a:off x="548640" y="1188720"/>
            <a:ext cx="3840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Persecution — v.4</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ἐπάθετε · εἰκῇ</a:t>
            </a:r>
            <a:pPr indent="0" marL="0">
              <a:buNone/>
            </a:pPr>
            <a:r>
              <a:rPr lang="en-US" sz="850" dirty="0">
                <a:solidFill>
                  <a:srgbClr val="DCE4F2"/>
                </a:solidFill>
                <a:latin typeface="Arial" pitchFamily="34" charset="0"/>
                <a:ea typeface="Arial" pitchFamily="34" charset="-122"/>
                <a:cs typeface="Arial" pitchFamily="34" charset="-120"/>
              </a:rPr>
              <a:t>  suffered · in vain</a:t>
            </a:r>
            <a:endParaRPr lang="en-US" sz="1200" dirty="0"/>
          </a:p>
        </p:txBody>
      </p:sp>
      <p:sp>
        <p:nvSpPr>
          <p:cNvPr id="7" name="Shape 4"/>
          <p:cNvSpPr/>
          <p:nvPr/>
        </p:nvSpPr>
        <p:spPr>
          <a:xfrm>
            <a:off x="457200" y="1709928"/>
            <a:ext cx="4023360" cy="2039112"/>
          </a:xfrm>
          <a:prstGeom prst="rect">
            <a:avLst/>
          </a:prstGeom>
          <a:solidFill>
            <a:srgbClr val="F2F6FC"/>
          </a:solidFill>
          <a:ln w="9525">
            <a:solidFill>
              <a:srgbClr val="D5DCEA"/>
            </a:solidFill>
            <a:prstDash val="solid"/>
          </a:ln>
        </p:spPr>
      </p:sp>
      <p:sp>
        <p:nvSpPr>
          <p:cNvPr id="8" name="Text 5"/>
          <p:cNvSpPr txBox="1"/>
          <p:nvPr/>
        </p:nvSpPr>
        <p:spPr>
          <a:xfrm>
            <a:off x="548640" y="1783080"/>
            <a:ext cx="3840480" cy="1911096"/>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They suffered for the gospel from the start</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“We must through many tribulations enter the kingdom” (Acts 14:22)</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Going back to law would make it all for nothing</a:t>
            </a:r>
            <a:endParaRPr lang="en-US" sz="1300" dirty="0"/>
          </a:p>
        </p:txBody>
      </p:sp>
      <p:sp>
        <p:nvSpPr>
          <p:cNvPr id="9" name="Shape 6"/>
          <p:cNvSpPr/>
          <p:nvPr/>
        </p:nvSpPr>
        <p:spPr>
          <a:xfrm>
            <a:off x="4663440" y="1143000"/>
            <a:ext cx="4023360" cy="566928"/>
          </a:xfrm>
          <a:prstGeom prst="rect">
            <a:avLst/>
          </a:prstGeom>
          <a:solidFill>
            <a:srgbClr val="375623"/>
          </a:solidFill>
          <a:ln w="12700">
            <a:solidFill>
              <a:srgbClr val="375623"/>
            </a:solidFill>
            <a:prstDash val="solid"/>
          </a:ln>
        </p:spPr>
      </p:sp>
      <p:sp>
        <p:nvSpPr>
          <p:cNvPr id="10" name="Text 7"/>
          <p:cNvSpPr txBox="1"/>
          <p:nvPr/>
        </p:nvSpPr>
        <p:spPr>
          <a:xfrm>
            <a:off x="4754880" y="1188720"/>
            <a:ext cx="3840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Promotion — v.5</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ἐπιχορηγῶν</a:t>
            </a:r>
            <a:pPr indent="0" marL="0">
              <a:buNone/>
            </a:pPr>
            <a:r>
              <a:rPr lang="en-US" sz="850" dirty="0">
                <a:solidFill>
                  <a:srgbClr val="DCE4F2"/>
                </a:solidFill>
                <a:latin typeface="Arial" pitchFamily="34" charset="0"/>
                <a:ea typeface="Arial" pitchFamily="34" charset="-122"/>
                <a:cs typeface="Arial" pitchFamily="34" charset="-120"/>
              </a:rPr>
              <a:t>  Pres. Act. Ptc.</a:t>
            </a:r>
            <a:endParaRPr lang="en-US" sz="1200" dirty="0"/>
          </a:p>
        </p:txBody>
      </p:sp>
      <p:sp>
        <p:nvSpPr>
          <p:cNvPr id="11" name="Shape 8"/>
          <p:cNvSpPr/>
          <p:nvPr/>
        </p:nvSpPr>
        <p:spPr>
          <a:xfrm>
            <a:off x="4663440" y="1709928"/>
            <a:ext cx="4023360" cy="2039112"/>
          </a:xfrm>
          <a:prstGeom prst="rect">
            <a:avLst/>
          </a:prstGeom>
          <a:solidFill>
            <a:srgbClr val="F2F6FC"/>
          </a:solidFill>
          <a:ln w="9525">
            <a:solidFill>
              <a:srgbClr val="D5DCEA"/>
            </a:solidFill>
            <a:prstDash val="solid"/>
          </a:ln>
        </p:spPr>
      </p:sp>
      <p:sp>
        <p:nvSpPr>
          <p:cNvPr id="12" name="Text 9"/>
          <p:cNvSpPr txBox="1"/>
          <p:nvPr/>
        </p:nvSpPr>
        <p:spPr>
          <a:xfrm>
            <a:off x="4754880" y="1783080"/>
            <a:ext cx="3840480" cy="1911096"/>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God keeps supplying the Spirit — lavishly</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Miracles among them, e.g. the lame man at Lystra (Acts 14:8–10)</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By the hearing of faith, not works of the law</a:t>
            </a:r>
            <a:endParaRPr lang="en-US" sz="1300" dirty="0"/>
          </a:p>
        </p:txBody>
      </p:sp>
      <p:sp>
        <p:nvSpPr>
          <p:cNvPr id="13" name="Shape 10"/>
          <p:cNvSpPr/>
          <p:nvPr/>
        </p:nvSpPr>
        <p:spPr>
          <a:xfrm>
            <a:off x="457200" y="3977640"/>
            <a:ext cx="8229600" cy="502920"/>
          </a:xfrm>
          <a:prstGeom prst="roundRect">
            <a:avLst>
              <a:gd name="adj" fmla="val 10909"/>
            </a:avLst>
          </a:prstGeom>
          <a:solidFill>
            <a:srgbClr val="1F3864"/>
          </a:solidFill>
          <a:ln w="12700">
            <a:solidFill>
              <a:srgbClr val="1F3864"/>
            </a:solidFill>
            <a:prstDash val="solid"/>
          </a:ln>
        </p:spPr>
      </p:sp>
      <p:sp>
        <p:nvSpPr>
          <p:cNvPr id="14" name="Text 11"/>
          <p:cNvSpPr txBox="1"/>
          <p:nvPr/>
        </p:nvSpPr>
        <p:spPr>
          <a:xfrm>
            <a:off x="621792" y="3977640"/>
            <a:ext cx="7900416" cy="50292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Ongoing power comes the same way salvation did — by faith.</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Discuss and apply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3:1–5 · from the study's posted questions and applications</a:t>
            </a:r>
            <a:endParaRPr lang="en-US" sz="1200" dirty="0"/>
          </a:p>
        </p:txBody>
      </p:sp>
      <p:sp>
        <p:nvSpPr>
          <p:cNvPr id="5" name="Shape 2"/>
          <p:cNvSpPr/>
          <p:nvPr/>
        </p:nvSpPr>
        <p:spPr>
          <a:xfrm>
            <a:off x="457200" y="1115568"/>
            <a:ext cx="4023360" cy="384048"/>
          </a:xfrm>
          <a:prstGeom prst="rect">
            <a:avLst/>
          </a:prstGeom>
          <a:solidFill>
            <a:srgbClr val="2E5496"/>
          </a:solidFill>
          <a:ln w="12700">
            <a:solidFill>
              <a:srgbClr val="2E5496"/>
            </a:solidFill>
            <a:prstDash val="solid"/>
          </a:ln>
        </p:spPr>
      </p:sp>
      <p:sp>
        <p:nvSpPr>
          <p:cNvPr id="6" name="Text 3"/>
          <p:cNvSpPr txBox="1"/>
          <p:nvPr/>
        </p:nvSpPr>
        <p:spPr>
          <a:xfrm>
            <a:off x="56692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Discuss</a:t>
            </a:r>
            <a:endParaRPr lang="en-US" sz="1300" dirty="0"/>
          </a:p>
        </p:txBody>
      </p:sp>
      <p:sp>
        <p:nvSpPr>
          <p:cNvPr id="7" name="Shape 4"/>
          <p:cNvSpPr/>
          <p:nvPr/>
        </p:nvSpPr>
        <p:spPr>
          <a:xfrm>
            <a:off x="457200" y="1499616"/>
            <a:ext cx="4023360" cy="2359152"/>
          </a:xfrm>
          <a:prstGeom prst="rect">
            <a:avLst/>
          </a:prstGeom>
          <a:solidFill>
            <a:srgbClr val="F2F6FC"/>
          </a:solidFill>
          <a:ln w="9525">
            <a:solidFill>
              <a:srgbClr val="D5DCEA"/>
            </a:solidFill>
            <a:prstDash val="solid"/>
          </a:ln>
        </p:spPr>
      </p:sp>
      <p:sp>
        <p:nvSpPr>
          <p:cNvPr id="8" name="Shape 5"/>
          <p:cNvSpPr/>
          <p:nvPr/>
        </p:nvSpPr>
        <p:spPr>
          <a:xfrm>
            <a:off x="4663440" y="1115568"/>
            <a:ext cx="4023360" cy="384048"/>
          </a:xfrm>
          <a:prstGeom prst="rect">
            <a:avLst/>
          </a:prstGeom>
          <a:solidFill>
            <a:srgbClr val="375623"/>
          </a:solidFill>
          <a:ln w="12700">
            <a:solidFill>
              <a:srgbClr val="375623"/>
            </a:solidFill>
            <a:prstDash val="solid"/>
          </a:ln>
        </p:spPr>
      </p:sp>
      <p:sp>
        <p:nvSpPr>
          <p:cNvPr id="9" name="Text 6"/>
          <p:cNvSpPr txBox="1"/>
          <p:nvPr/>
        </p:nvSpPr>
        <p:spPr>
          <a:xfrm>
            <a:off x="477316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Apply</a:t>
            </a:r>
            <a:endParaRPr lang="en-US" sz="1300" dirty="0"/>
          </a:p>
        </p:txBody>
      </p:sp>
      <p:sp>
        <p:nvSpPr>
          <p:cNvPr id="10" name="Shape 7"/>
          <p:cNvSpPr/>
          <p:nvPr/>
        </p:nvSpPr>
        <p:spPr>
          <a:xfrm>
            <a:off x="4663440" y="1499616"/>
            <a:ext cx="4023360" cy="2359152"/>
          </a:xfrm>
          <a:prstGeom prst="rect">
            <a:avLst/>
          </a:prstGeom>
          <a:solidFill>
            <a:srgbClr val="F2F6FC"/>
          </a:solidFill>
          <a:ln w="9525">
            <a:solidFill>
              <a:srgbClr val="D5DCEA"/>
            </a:solidFill>
            <a:prstDash val="solid"/>
          </a:ln>
        </p:spPr>
      </p:sp>
      <p:sp>
        <p:nvSpPr>
          <p:cNvPr id="11" name="Shape 8"/>
          <p:cNvSpPr/>
          <p:nvPr/>
        </p:nvSpPr>
        <p:spPr>
          <a:xfrm>
            <a:off x="566928" y="1636776"/>
            <a:ext cx="347472" cy="347472"/>
          </a:xfrm>
          <a:prstGeom prst="ellipse">
            <a:avLst/>
          </a:prstGeom>
          <a:solidFill>
            <a:srgbClr val="2E5496"/>
          </a:solidFill>
          <a:ln w="12700">
            <a:solidFill>
              <a:srgbClr val="2E5496"/>
            </a:solidFill>
            <a:prstDash val="solid"/>
          </a:ln>
        </p:spPr>
      </p:sp>
      <p:sp>
        <p:nvSpPr>
          <p:cNvPr id="12" name="Text 9"/>
          <p:cNvSpPr txBox="1"/>
          <p:nvPr/>
        </p:nvSpPr>
        <p:spPr>
          <a:xfrm>
            <a:off x="566928" y="163677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3" name="Text 10"/>
          <p:cNvSpPr txBox="1"/>
          <p:nvPr/>
        </p:nvSpPr>
        <p:spPr>
          <a:xfrm>
            <a:off x="1005840" y="1591056"/>
            <a:ext cx="3364992" cy="1042416"/>
          </a:xfrm>
          <a:prstGeom prst="rect">
            <a:avLst/>
          </a:prstGeom>
          <a:noFill/>
          <a:ln/>
        </p:spPr>
        <p:txBody>
          <a:bodyPr wrap="square" lIns="0" tIns="0" rIns="0" bIns="0" rtlCol="0" anchor="t"/>
          <a:lstStyle/>
          <a:p>
            <a:pPr indent="0" marL="0">
              <a:buNone/>
            </a:pPr>
            <a:r>
              <a:rPr lang="en-US" sz="1350" dirty="0">
                <a:solidFill>
                  <a:srgbClr val="262626"/>
                </a:solidFill>
                <a:latin typeface="Arial" pitchFamily="34" charset="0"/>
                <a:ea typeface="Arial" pitchFamily="34" charset="-122"/>
                <a:cs typeface="Arial" pitchFamily="34" charset="-120"/>
              </a:rPr>
              <a:t>What does it mean that receiving the Spirit and being saved are simultaneous but not synonymous?</a:t>
            </a:r>
            <a:endParaRPr lang="en-US" sz="1350" dirty="0"/>
          </a:p>
        </p:txBody>
      </p:sp>
      <p:sp>
        <p:nvSpPr>
          <p:cNvPr id="14" name="Shape 11"/>
          <p:cNvSpPr/>
          <p:nvPr/>
        </p:nvSpPr>
        <p:spPr>
          <a:xfrm>
            <a:off x="566928" y="2724912"/>
            <a:ext cx="347472" cy="347472"/>
          </a:xfrm>
          <a:prstGeom prst="ellipse">
            <a:avLst/>
          </a:prstGeom>
          <a:solidFill>
            <a:srgbClr val="2E5496"/>
          </a:solidFill>
          <a:ln w="12700">
            <a:solidFill>
              <a:srgbClr val="2E5496"/>
            </a:solidFill>
            <a:prstDash val="solid"/>
          </a:ln>
        </p:spPr>
      </p:sp>
      <p:sp>
        <p:nvSpPr>
          <p:cNvPr id="15" name="Text 12"/>
          <p:cNvSpPr txBox="1"/>
          <p:nvPr/>
        </p:nvSpPr>
        <p:spPr>
          <a:xfrm>
            <a:off x="566928" y="272491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6" name="Text 13"/>
          <p:cNvSpPr txBox="1"/>
          <p:nvPr/>
        </p:nvSpPr>
        <p:spPr>
          <a:xfrm>
            <a:off x="1005840" y="2679192"/>
            <a:ext cx="3364992" cy="1042416"/>
          </a:xfrm>
          <a:prstGeom prst="rect">
            <a:avLst/>
          </a:prstGeom>
          <a:noFill/>
          <a:ln/>
        </p:spPr>
        <p:txBody>
          <a:bodyPr wrap="square" lIns="0" tIns="0" rIns="0" bIns="0" rtlCol="0" anchor="t"/>
          <a:lstStyle/>
          <a:p>
            <a:pPr indent="0" marL="0">
              <a:buNone/>
            </a:pPr>
            <a:r>
              <a:rPr lang="en-US" sz="1350" dirty="0">
                <a:solidFill>
                  <a:srgbClr val="262626"/>
                </a:solidFill>
                <a:latin typeface="Arial" pitchFamily="34" charset="0"/>
                <a:ea typeface="Arial" pitchFamily="34" charset="-122"/>
                <a:cs typeface="Arial" pitchFamily="34" charset="-120"/>
              </a:rPr>
              <a:t>Explain in your own words the difference between your perfection and your practice (3:3).</a:t>
            </a:r>
            <a:endParaRPr lang="en-US" sz="1350" dirty="0"/>
          </a:p>
        </p:txBody>
      </p:sp>
      <p:sp>
        <p:nvSpPr>
          <p:cNvPr id="17" name="Text 14"/>
          <p:cNvSpPr txBox="1"/>
          <p:nvPr/>
        </p:nvSpPr>
        <p:spPr>
          <a:xfrm>
            <a:off x="4791456" y="1591056"/>
            <a:ext cx="3767328" cy="1042416"/>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Trade Trying for Trusting</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Tell God out loud today that you are trusting Him rather than trying to earn the outcome yourself.</a:t>
            </a:r>
            <a:endParaRPr lang="en-US" sz="1200" dirty="0"/>
          </a:p>
        </p:txBody>
      </p:sp>
      <p:sp>
        <p:nvSpPr>
          <p:cNvPr id="18" name="Text 15"/>
          <p:cNvSpPr txBox="1"/>
          <p:nvPr/>
        </p:nvSpPr>
        <p:spPr>
          <a:xfrm>
            <a:off x="4791456" y="2679192"/>
            <a:ext cx="3767328" cy="1042416"/>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Let Your Practice Catch Up to Your Perfection</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Practice one habit this week as a response to being accepted — not as an attempt to become accepted.</a:t>
            </a:r>
            <a:endParaRPr lang="en-US" sz="1200" dirty="0"/>
          </a:p>
        </p:txBody>
      </p:sp>
      <p:sp>
        <p:nvSpPr>
          <p:cNvPr id="19" name="Shape 16"/>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0" name="Text 17"/>
          <p:cNvSpPr txBox="1"/>
          <p:nvPr/>
        </p:nvSpPr>
        <p:spPr>
          <a:xfrm>
            <a:off x="621792" y="4023360"/>
            <a:ext cx="7900416" cy="566928"/>
          </a:xfrm>
          <a:prstGeom prst="rect">
            <a:avLst/>
          </a:prstGeom>
          <a:noFill/>
          <a:ln/>
        </p:spPr>
        <p:txBody>
          <a:bodyPr wrap="square" lIns="0" tIns="0" rIns="0" bIns="0" rtlCol="0" anchor="ctr"/>
          <a:lstStyle/>
          <a:p>
            <a:pPr indent="0" marL="0">
              <a:buNone/>
            </a:pPr>
            <a:r>
              <a:rPr lang="en-US" sz="1250" b="1" dirty="0">
                <a:solidFill>
                  <a:srgbClr val="C9D5EE"/>
                </a:solidFill>
                <a:latin typeface="Arial" pitchFamily="34" charset="0"/>
                <a:ea typeface="Arial" pitchFamily="34" charset="-122"/>
                <a:cs typeface="Arial" pitchFamily="34" charset="-120"/>
              </a:rPr>
              <a:t>In one line:  </a:t>
            </a:r>
            <a:pPr indent="0" marL="0">
              <a:buNone/>
            </a:pPr>
            <a:r>
              <a:rPr lang="en-US" sz="1250" dirty="0">
                <a:solidFill>
                  <a:srgbClr val="FFFFFF"/>
                </a:solidFill>
                <a:latin typeface="Arial" pitchFamily="34" charset="0"/>
                <a:ea typeface="Arial" pitchFamily="34" charset="-122"/>
                <a:cs typeface="Arial" pitchFamily="34" charset="-120"/>
              </a:rPr>
              <a:t>What began by grace through faith continues by grace through faith.</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lstStyle/>
          <a:p>
            <a:pPr indent="0" marL="0">
              <a:buNone/>
            </a:pPr>
            <a:r>
              <a:rPr lang="en-US" sz="1400" dirty="0">
                <a:solidFill>
                  <a:srgbClr val="C9D5EE"/>
                </a:solidFill>
                <a:latin typeface="Arial" pitchFamily="34" charset="0"/>
                <a:ea typeface="Arial" pitchFamily="34" charset="-122"/>
                <a:cs typeface="Arial" pitchFamily="34" charset="-120"/>
              </a:rPr>
              <a:t>Study 7 of 16 · Galatians 3:6–14</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Blessing or a Curse</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t"/>
          <a:lstStyle/>
          <a:p>
            <a:pPr indent="0" marL="0">
              <a:buNone/>
            </a:pPr>
            <a:r>
              <a:rPr lang="en-US" sz="1500" i="1" dirty="0">
                <a:solidFill>
                  <a:srgbClr val="E6ECF7"/>
                </a:solidFill>
                <a:latin typeface="Arial" pitchFamily="34" charset="0"/>
                <a:ea typeface="Arial" pitchFamily="34" charset="-122"/>
                <a:cs typeface="Arial" pitchFamily="34" charset="-120"/>
              </a:rPr>
              <a:t>The law can save no one — it can only curse those who fail to keep it perfectly. God has always justified sinners as He justified Abraham: by faith alone. Christ became a curse in our place so the blessing of Abraham and the promised Spirit come by faith.</a:t>
            </a:r>
            <a:endParaRPr lang="en-US" sz="15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Faith, its substitute, and its solution</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3:6–14 · The commentary's outline</a:t>
            </a:r>
            <a:endParaRPr lang="en-US" sz="1200" dirty="0"/>
          </a:p>
        </p:txBody>
      </p:sp>
      <p:sp>
        <p:nvSpPr>
          <p:cNvPr id="5" name="Shape 2"/>
          <p:cNvSpPr/>
          <p:nvPr/>
        </p:nvSpPr>
        <p:spPr>
          <a:xfrm>
            <a:off x="457200" y="1143000"/>
            <a:ext cx="2615184" cy="457200"/>
          </a:xfrm>
          <a:prstGeom prst="rect">
            <a:avLst/>
          </a:prstGeom>
          <a:solidFill>
            <a:srgbClr val="2E5496"/>
          </a:solidFill>
          <a:ln w="12700">
            <a:solidFill>
              <a:srgbClr val="2E5496"/>
            </a:solidFill>
            <a:prstDash val="solid"/>
          </a:ln>
        </p:spPr>
      </p:sp>
      <p:sp>
        <p:nvSpPr>
          <p:cNvPr id="6" name="Text 3"/>
          <p:cNvSpPr txBox="1"/>
          <p:nvPr/>
        </p:nvSpPr>
        <p:spPr>
          <a:xfrm>
            <a:off x="548640" y="1188720"/>
            <a:ext cx="2432304"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 The Study of Faith  ·  vv.6–9</a:t>
            </a:r>
            <a:endParaRPr lang="en-US" sz="1200" dirty="0"/>
          </a:p>
        </p:txBody>
      </p:sp>
      <p:sp>
        <p:nvSpPr>
          <p:cNvPr id="7" name="Shape 4"/>
          <p:cNvSpPr/>
          <p:nvPr/>
        </p:nvSpPr>
        <p:spPr>
          <a:xfrm>
            <a:off x="457200" y="1600200"/>
            <a:ext cx="2615184" cy="3017520"/>
          </a:xfrm>
          <a:prstGeom prst="rect">
            <a:avLst/>
          </a:prstGeom>
          <a:solidFill>
            <a:srgbClr val="F2F6FC"/>
          </a:solidFill>
          <a:ln w="9525">
            <a:solidFill>
              <a:srgbClr val="D5DCEA"/>
            </a:solidFill>
            <a:prstDash val="solid"/>
          </a:ln>
        </p:spPr>
      </p:sp>
      <p:sp>
        <p:nvSpPr>
          <p:cNvPr id="8" name="Text 5"/>
          <p:cNvSpPr txBox="1"/>
          <p:nvPr/>
        </p:nvSpPr>
        <p:spPr>
          <a:xfrm>
            <a:off x="548640" y="1673352"/>
            <a:ext cx="2432304" cy="2889504"/>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Foundation — Abraham believed God (v.6)</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Fellowship — only those of faith are Abraham's sons (v.7)</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Fruit — the nations blessed by faith (vv.8–9)</a:t>
            </a:r>
            <a:endParaRPr lang="en-US" sz="1300" dirty="0"/>
          </a:p>
        </p:txBody>
      </p:sp>
      <p:sp>
        <p:nvSpPr>
          <p:cNvPr id="9" name="Shape 6"/>
          <p:cNvSpPr/>
          <p:nvPr/>
        </p:nvSpPr>
        <p:spPr>
          <a:xfrm>
            <a:off x="3264408" y="1143000"/>
            <a:ext cx="2615184" cy="457200"/>
          </a:xfrm>
          <a:prstGeom prst="rect">
            <a:avLst/>
          </a:prstGeom>
          <a:solidFill>
            <a:srgbClr val="6B7280"/>
          </a:solidFill>
          <a:ln w="12700">
            <a:solidFill>
              <a:srgbClr val="6B7280"/>
            </a:solidFill>
            <a:prstDash val="solid"/>
          </a:ln>
        </p:spPr>
      </p:sp>
      <p:sp>
        <p:nvSpPr>
          <p:cNvPr id="10" name="Text 7"/>
          <p:cNvSpPr txBox="1"/>
          <p:nvPr/>
        </p:nvSpPr>
        <p:spPr>
          <a:xfrm>
            <a:off x="3355848" y="1188720"/>
            <a:ext cx="2432304"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II. The Substitute for Faith  ·  vv.10–12</a:t>
            </a:r>
            <a:endParaRPr lang="en-US" sz="1200" dirty="0"/>
          </a:p>
        </p:txBody>
      </p:sp>
      <p:sp>
        <p:nvSpPr>
          <p:cNvPr id="11" name="Shape 8"/>
          <p:cNvSpPr/>
          <p:nvPr/>
        </p:nvSpPr>
        <p:spPr>
          <a:xfrm>
            <a:off x="3264408" y="1600200"/>
            <a:ext cx="2615184" cy="3017520"/>
          </a:xfrm>
          <a:prstGeom prst="rect">
            <a:avLst/>
          </a:prstGeom>
          <a:solidFill>
            <a:srgbClr val="F2F6FC"/>
          </a:solidFill>
          <a:ln w="9525">
            <a:solidFill>
              <a:srgbClr val="D5DCEA"/>
            </a:solidFill>
            <a:prstDash val="solid"/>
          </a:ln>
        </p:spPr>
      </p:sp>
      <p:sp>
        <p:nvSpPr>
          <p:cNvPr id="12" name="Text 9"/>
          <p:cNvSpPr txBox="1"/>
          <p:nvPr/>
        </p:nvSpPr>
        <p:spPr>
          <a:xfrm>
            <a:off x="3355848" y="1673352"/>
            <a:ext cx="2432304" cy="2889504"/>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Fabrication — a curse is tied to the law (v.10a)</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Obstruction — the law itself says the just live by faith (vv.11–12)</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Compensation — everyone is under the curse (v.10b)</a:t>
            </a:r>
            <a:endParaRPr lang="en-US" sz="1300" dirty="0"/>
          </a:p>
        </p:txBody>
      </p:sp>
      <p:sp>
        <p:nvSpPr>
          <p:cNvPr id="13" name="Shape 10"/>
          <p:cNvSpPr/>
          <p:nvPr/>
        </p:nvSpPr>
        <p:spPr>
          <a:xfrm>
            <a:off x="6071616" y="1143000"/>
            <a:ext cx="2615184" cy="457200"/>
          </a:xfrm>
          <a:prstGeom prst="rect">
            <a:avLst/>
          </a:prstGeom>
          <a:solidFill>
            <a:srgbClr val="375623"/>
          </a:solidFill>
          <a:ln w="12700">
            <a:solidFill>
              <a:srgbClr val="375623"/>
            </a:solidFill>
            <a:prstDash val="solid"/>
          </a:ln>
        </p:spPr>
      </p:sp>
      <p:sp>
        <p:nvSpPr>
          <p:cNvPr id="14" name="Text 11"/>
          <p:cNvSpPr txBox="1"/>
          <p:nvPr/>
        </p:nvSpPr>
        <p:spPr>
          <a:xfrm>
            <a:off x="6163056" y="1188720"/>
            <a:ext cx="2432304"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III. The Solution of Faith  ·  vv.13–14</a:t>
            </a:r>
            <a:endParaRPr lang="en-US" sz="1200" dirty="0"/>
          </a:p>
        </p:txBody>
      </p:sp>
      <p:sp>
        <p:nvSpPr>
          <p:cNvPr id="15" name="Shape 12"/>
          <p:cNvSpPr/>
          <p:nvPr/>
        </p:nvSpPr>
        <p:spPr>
          <a:xfrm>
            <a:off x="6071616" y="1600200"/>
            <a:ext cx="2615184" cy="3017520"/>
          </a:xfrm>
          <a:prstGeom prst="rect">
            <a:avLst/>
          </a:prstGeom>
          <a:solidFill>
            <a:srgbClr val="F2F6FC"/>
          </a:solidFill>
          <a:ln w="9525">
            <a:solidFill>
              <a:srgbClr val="D5DCEA"/>
            </a:solidFill>
            <a:prstDash val="solid"/>
          </a:ln>
        </p:spPr>
      </p:sp>
      <p:sp>
        <p:nvSpPr>
          <p:cNvPr id="16" name="Text 13"/>
          <p:cNvSpPr txBox="1"/>
          <p:nvPr/>
        </p:nvSpPr>
        <p:spPr>
          <a:xfrm>
            <a:off x="6163056" y="1673352"/>
            <a:ext cx="2432304" cy="2889504"/>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Christ became a curse for us (v.13)</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Christ bestowed the blessing — and the promised Spirit (v.14)</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Abraham: the pattern for justification</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3:6–9 · Outline I — The study of faith</a:t>
            </a:r>
            <a:endParaRPr lang="en-US" sz="1200" dirty="0"/>
          </a:p>
        </p:txBody>
      </p:sp>
      <p:sp>
        <p:nvSpPr>
          <p:cNvPr id="5" name="Shape 2"/>
          <p:cNvSpPr/>
          <p:nvPr/>
        </p:nvSpPr>
        <p:spPr>
          <a:xfrm>
            <a:off x="457200" y="1143000"/>
            <a:ext cx="2615184" cy="2651760"/>
          </a:xfrm>
          <a:prstGeom prst="rect">
            <a:avLst/>
          </a:prstGeom>
          <a:solidFill>
            <a:srgbClr val="F2F6FC"/>
          </a:solidFill>
          <a:ln w="9525">
            <a:solidFill>
              <a:srgbClr val="D5DCEA"/>
            </a:solidFill>
            <a:prstDash val="solid"/>
          </a:ln>
        </p:spPr>
      </p:sp>
      <p:sp>
        <p:nvSpPr>
          <p:cNvPr id="6" name="Shape 3"/>
          <p:cNvSpPr/>
          <p:nvPr/>
        </p:nvSpPr>
        <p:spPr>
          <a:xfrm>
            <a:off x="585216" y="1271016"/>
            <a:ext cx="402336" cy="402336"/>
          </a:xfrm>
          <a:prstGeom prst="ellipse">
            <a:avLst/>
          </a:prstGeom>
          <a:solidFill>
            <a:srgbClr val="2E5496"/>
          </a:solidFill>
          <a:ln w="12700">
            <a:solidFill>
              <a:srgbClr val="2E5496"/>
            </a:solidFill>
            <a:prstDash val="solid"/>
          </a:ln>
        </p:spPr>
      </p:sp>
      <p:sp>
        <p:nvSpPr>
          <p:cNvPr id="7" name="Text 4"/>
          <p:cNvSpPr txBox="1"/>
          <p:nvPr/>
        </p:nvSpPr>
        <p:spPr>
          <a:xfrm>
            <a:off x="585216" y="127101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a:t>
            </a:r>
            <a:endParaRPr lang="en-US" sz="1200" dirty="0"/>
          </a:p>
        </p:txBody>
      </p:sp>
      <p:sp>
        <p:nvSpPr>
          <p:cNvPr id="8" name="Text 5"/>
          <p:cNvSpPr txBox="1"/>
          <p:nvPr/>
        </p:nvSpPr>
        <p:spPr>
          <a:xfrm>
            <a:off x="1078992" y="1252728"/>
            <a:ext cx="1901952"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Foundation  ·  v.6</a:t>
            </a:r>
            <a:endParaRPr lang="en-US" sz="1200" dirty="0"/>
          </a:p>
        </p:txBody>
      </p:sp>
      <p:sp>
        <p:nvSpPr>
          <p:cNvPr id="9" name="Text 6"/>
          <p:cNvSpPr txBox="1"/>
          <p:nvPr/>
        </p:nvSpPr>
        <p:spPr>
          <a:xfrm>
            <a:off x="585216" y="1764792"/>
            <a:ext cx="2359152" cy="1938528"/>
          </a:xfrm>
          <a:prstGeom prst="rect">
            <a:avLst/>
          </a:prstGeom>
          <a:noFill/>
          <a:ln/>
        </p:spPr>
        <p:txBody>
          <a:bodyPr wrap="square" lIns="0" tIns="0" rIns="0" bIns="0" rtlCol="0" anchor="t"/>
          <a:lstStyle/>
          <a:p>
            <a:pPr indent="0" marL="0">
              <a:buNone/>
            </a:pPr>
            <a:r>
              <a:rPr lang="en-US" sz="1250" b="1" dirty="0">
                <a:solidFill>
                  <a:srgbClr val="7030A0"/>
                </a:solidFill>
                <a:latin typeface="Arial" pitchFamily="34" charset="0"/>
                <a:ea typeface="Arial" pitchFamily="34" charset="-122"/>
                <a:cs typeface="Arial" pitchFamily="34" charset="-120"/>
              </a:rPr>
              <a:t>ἐπίστευσεν · ἐλογίσθη</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Abraham believed; righteousness was credited to his account — not earned</a:t>
            </a:r>
            <a:endParaRPr lang="en-US" sz="1200" dirty="0"/>
          </a:p>
        </p:txBody>
      </p:sp>
      <p:sp>
        <p:nvSpPr>
          <p:cNvPr id="10" name="Shape 7"/>
          <p:cNvSpPr/>
          <p:nvPr/>
        </p:nvSpPr>
        <p:spPr>
          <a:xfrm>
            <a:off x="3264408" y="1143000"/>
            <a:ext cx="2615184" cy="2651760"/>
          </a:xfrm>
          <a:prstGeom prst="rect">
            <a:avLst/>
          </a:prstGeom>
          <a:solidFill>
            <a:srgbClr val="F2F6FC"/>
          </a:solidFill>
          <a:ln w="9525">
            <a:solidFill>
              <a:srgbClr val="D5DCEA"/>
            </a:solidFill>
            <a:prstDash val="solid"/>
          </a:ln>
        </p:spPr>
      </p:sp>
      <p:sp>
        <p:nvSpPr>
          <p:cNvPr id="11" name="Shape 8"/>
          <p:cNvSpPr/>
          <p:nvPr/>
        </p:nvSpPr>
        <p:spPr>
          <a:xfrm>
            <a:off x="3392424" y="1271016"/>
            <a:ext cx="402336" cy="402336"/>
          </a:xfrm>
          <a:prstGeom prst="ellipse">
            <a:avLst/>
          </a:prstGeom>
          <a:solidFill>
            <a:srgbClr val="2E5496"/>
          </a:solidFill>
          <a:ln w="12700">
            <a:solidFill>
              <a:srgbClr val="2E5496"/>
            </a:solidFill>
            <a:prstDash val="solid"/>
          </a:ln>
        </p:spPr>
      </p:sp>
      <p:sp>
        <p:nvSpPr>
          <p:cNvPr id="12" name="Text 9"/>
          <p:cNvSpPr txBox="1"/>
          <p:nvPr/>
        </p:nvSpPr>
        <p:spPr>
          <a:xfrm>
            <a:off x="3392424" y="127101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B</a:t>
            </a:r>
            <a:endParaRPr lang="en-US" sz="1200" dirty="0"/>
          </a:p>
        </p:txBody>
      </p:sp>
      <p:sp>
        <p:nvSpPr>
          <p:cNvPr id="13" name="Text 10"/>
          <p:cNvSpPr txBox="1"/>
          <p:nvPr/>
        </p:nvSpPr>
        <p:spPr>
          <a:xfrm>
            <a:off x="3886200" y="1252728"/>
            <a:ext cx="1901952"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Fellowship  ·  v.7</a:t>
            </a:r>
            <a:endParaRPr lang="en-US" sz="1200" dirty="0"/>
          </a:p>
        </p:txBody>
      </p:sp>
      <p:sp>
        <p:nvSpPr>
          <p:cNvPr id="14" name="Text 11"/>
          <p:cNvSpPr txBox="1"/>
          <p:nvPr/>
        </p:nvSpPr>
        <p:spPr>
          <a:xfrm>
            <a:off x="3392424" y="1764792"/>
            <a:ext cx="2359152" cy="1938528"/>
          </a:xfrm>
          <a:prstGeom prst="rect">
            <a:avLst/>
          </a:prstGeom>
          <a:noFill/>
          <a:ln/>
        </p:spPr>
        <p:txBody>
          <a:bodyPr wrap="square" lIns="0" tIns="0" rIns="0" bIns="0" rtlCol="0" anchor="t"/>
          <a:lstStyle/>
          <a:p>
            <a:pPr indent="0" marL="0">
              <a:buNone/>
            </a:pPr>
            <a:r>
              <a:rPr lang="en-US" sz="1250" b="1" dirty="0">
                <a:solidFill>
                  <a:srgbClr val="7030A0"/>
                </a:solidFill>
                <a:latin typeface="Arial" pitchFamily="34" charset="0"/>
                <a:ea typeface="Arial" pitchFamily="34" charset="-122"/>
                <a:cs typeface="Arial" pitchFamily="34" charset="-120"/>
              </a:rPr>
              <a:t>υἱοί</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Only those of faith are sons of Abraham — whatever the family tree says</a:t>
            </a:r>
            <a:endParaRPr lang="en-US" sz="1200" dirty="0"/>
          </a:p>
        </p:txBody>
      </p:sp>
      <p:sp>
        <p:nvSpPr>
          <p:cNvPr id="15" name="Shape 12"/>
          <p:cNvSpPr/>
          <p:nvPr/>
        </p:nvSpPr>
        <p:spPr>
          <a:xfrm>
            <a:off x="6071616" y="1143000"/>
            <a:ext cx="2615184" cy="2651760"/>
          </a:xfrm>
          <a:prstGeom prst="rect">
            <a:avLst/>
          </a:prstGeom>
          <a:solidFill>
            <a:srgbClr val="F2F6FC"/>
          </a:solidFill>
          <a:ln w="9525">
            <a:solidFill>
              <a:srgbClr val="D5DCEA"/>
            </a:solidFill>
            <a:prstDash val="solid"/>
          </a:ln>
        </p:spPr>
      </p:sp>
      <p:sp>
        <p:nvSpPr>
          <p:cNvPr id="16" name="Shape 13"/>
          <p:cNvSpPr/>
          <p:nvPr/>
        </p:nvSpPr>
        <p:spPr>
          <a:xfrm>
            <a:off x="6199632" y="1271016"/>
            <a:ext cx="402336" cy="402336"/>
          </a:xfrm>
          <a:prstGeom prst="ellipse">
            <a:avLst/>
          </a:prstGeom>
          <a:solidFill>
            <a:srgbClr val="375623"/>
          </a:solidFill>
          <a:ln w="12700">
            <a:solidFill>
              <a:srgbClr val="375623"/>
            </a:solidFill>
            <a:prstDash val="solid"/>
          </a:ln>
        </p:spPr>
      </p:sp>
      <p:sp>
        <p:nvSpPr>
          <p:cNvPr id="17" name="Text 14"/>
          <p:cNvSpPr txBox="1"/>
          <p:nvPr/>
        </p:nvSpPr>
        <p:spPr>
          <a:xfrm>
            <a:off x="6199632" y="127101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a:t>
            </a:r>
            <a:endParaRPr lang="en-US" sz="1200" dirty="0"/>
          </a:p>
        </p:txBody>
      </p:sp>
      <p:sp>
        <p:nvSpPr>
          <p:cNvPr id="18" name="Text 15"/>
          <p:cNvSpPr txBox="1"/>
          <p:nvPr/>
        </p:nvSpPr>
        <p:spPr>
          <a:xfrm>
            <a:off x="6693408" y="1252728"/>
            <a:ext cx="1901952"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Fruit  ·  vv.8–9</a:t>
            </a:r>
            <a:endParaRPr lang="en-US" sz="1200" dirty="0"/>
          </a:p>
        </p:txBody>
      </p:sp>
      <p:sp>
        <p:nvSpPr>
          <p:cNvPr id="19" name="Text 16"/>
          <p:cNvSpPr txBox="1"/>
          <p:nvPr/>
        </p:nvSpPr>
        <p:spPr>
          <a:xfrm>
            <a:off x="6199632" y="1764792"/>
            <a:ext cx="2359152" cy="1938528"/>
          </a:xfrm>
          <a:prstGeom prst="rect">
            <a:avLst/>
          </a:prstGeom>
          <a:noFill/>
          <a:ln/>
        </p:spPr>
        <p:txBody>
          <a:bodyPr wrap="square" lIns="0" tIns="0" rIns="0" bIns="0" rtlCol="0" anchor="t"/>
          <a:lstStyle/>
          <a:p>
            <a:pPr indent="0" marL="0">
              <a:buNone/>
            </a:pPr>
            <a:r>
              <a:rPr lang="en-US" sz="1250" b="1" dirty="0">
                <a:solidFill>
                  <a:srgbClr val="7030A0"/>
                </a:solidFill>
                <a:latin typeface="Arial" pitchFamily="34" charset="0"/>
                <a:ea typeface="Arial" pitchFamily="34" charset="-122"/>
                <a:cs typeface="Arial" pitchFamily="34" charset="-120"/>
              </a:rPr>
              <a:t>προευηγγελίσατο</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The gospel preached to Abraham beforehand: “In you all the nations shall be blessed” (Gen 12:3)</a:t>
            </a:r>
            <a:endParaRPr lang="en-US" sz="1200" dirty="0"/>
          </a:p>
        </p:txBody>
      </p:sp>
      <p:sp>
        <p:nvSpPr>
          <p:cNvPr id="20" name="Shape 17"/>
          <p:cNvSpPr/>
          <p:nvPr/>
        </p:nvSpPr>
        <p:spPr>
          <a:xfrm>
            <a:off x="457200" y="4023360"/>
            <a:ext cx="8229600" cy="502920"/>
          </a:xfrm>
          <a:prstGeom prst="roundRect">
            <a:avLst>
              <a:gd name="adj" fmla="val 10909"/>
            </a:avLst>
          </a:prstGeom>
          <a:solidFill>
            <a:srgbClr val="1F3864"/>
          </a:solidFill>
          <a:ln w="12700">
            <a:solidFill>
              <a:srgbClr val="1F3864"/>
            </a:solidFill>
            <a:prstDash val="solid"/>
          </a:ln>
        </p:spPr>
      </p:sp>
      <p:sp>
        <p:nvSpPr>
          <p:cNvPr id="21" name="Text 18"/>
          <p:cNvSpPr txBox="1"/>
          <p:nvPr/>
        </p:nvSpPr>
        <p:spPr>
          <a:xfrm>
            <a:off x="621792" y="4023360"/>
            <a:ext cx="7900416" cy="50292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Then and now, God justifies the same way: by faith alone, apart from works.</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Why the law can only curse</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3:10–12 · Outline II — The substitute for faith</a:t>
            </a:r>
            <a:endParaRPr lang="en-US" sz="1200" dirty="0"/>
          </a:p>
        </p:txBody>
      </p:sp>
      <p:sp>
        <p:nvSpPr>
          <p:cNvPr id="5" name="Shape 2"/>
          <p:cNvSpPr/>
          <p:nvPr/>
        </p:nvSpPr>
        <p:spPr>
          <a:xfrm>
            <a:off x="457200" y="1188720"/>
            <a:ext cx="1892808" cy="2286000"/>
          </a:xfrm>
          <a:prstGeom prst="rect">
            <a:avLst/>
          </a:prstGeom>
          <a:solidFill>
            <a:srgbClr val="F2F6FC"/>
          </a:solidFill>
          <a:ln w="9525">
            <a:solidFill>
              <a:srgbClr val="D5DCEA"/>
            </a:solidFill>
            <a:prstDash val="solid"/>
          </a:ln>
        </p:spPr>
      </p:sp>
      <p:sp>
        <p:nvSpPr>
          <p:cNvPr id="6" name="Shape 3"/>
          <p:cNvSpPr/>
          <p:nvPr/>
        </p:nvSpPr>
        <p:spPr>
          <a:xfrm>
            <a:off x="457200" y="1188720"/>
            <a:ext cx="1892808" cy="566928"/>
          </a:xfrm>
          <a:prstGeom prst="rect">
            <a:avLst/>
          </a:prstGeom>
          <a:solidFill>
            <a:srgbClr val="2E5496"/>
          </a:solidFill>
          <a:ln w="12700">
            <a:solidFill>
              <a:srgbClr val="2E5496"/>
            </a:solidFill>
            <a:prstDash val="solid"/>
          </a:ln>
        </p:spPr>
      </p:sp>
      <p:sp>
        <p:nvSpPr>
          <p:cNvPr id="7" name="Text 4"/>
          <p:cNvSpPr txBox="1"/>
          <p:nvPr/>
        </p:nvSpPr>
        <p:spPr>
          <a:xfrm>
            <a:off x="512064" y="1188720"/>
            <a:ext cx="1783080"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A curse is attached</a:t>
            </a:r>
            <a:endParaRPr lang="en-US" sz="1150" dirty="0"/>
          </a:p>
        </p:txBody>
      </p:sp>
      <p:sp>
        <p:nvSpPr>
          <p:cNvPr id="8" name="Text 5"/>
          <p:cNvSpPr txBox="1"/>
          <p:nvPr/>
        </p:nvSpPr>
        <p:spPr>
          <a:xfrm>
            <a:off x="548640" y="1828800"/>
            <a:ext cx="1709928" cy="1335024"/>
          </a:xfrm>
          <a:prstGeom prst="rect">
            <a:avLst/>
          </a:prstGeom>
          <a:noFill/>
          <a:ln/>
        </p:spPr>
        <p:txBody>
          <a:bodyPr wrap="square" lIns="0" tIns="0" rIns="0" bIns="0" rtlCol="0" anchor="t"/>
          <a:lstStyle/>
          <a:p>
            <a:pPr algn="ctr" indent="0" marL="0">
              <a:buNone/>
            </a:pPr>
            <a:r>
              <a:rPr lang="en-US" sz="1250" b="1" dirty="0">
                <a:solidFill>
                  <a:srgbClr val="7030A0"/>
                </a:solidFill>
                <a:latin typeface="Arial" pitchFamily="34" charset="0"/>
                <a:ea typeface="Arial" pitchFamily="34" charset="-122"/>
                <a:cs typeface="Arial" pitchFamily="34" charset="-120"/>
              </a:rPr>
              <a:t>κατάραν</a:t>
            </a:r>
            <a:endParaRPr lang="en-US" sz="1200" dirty="0"/>
          </a:p>
          <a:p>
            <a:pPr algn="ctr" indent="0" marL="0">
              <a:buNone/>
            </a:pPr>
            <a:r>
              <a:rPr lang="en-US" sz="1200" dirty="0">
                <a:solidFill>
                  <a:srgbClr val="262626"/>
                </a:solidFill>
                <a:latin typeface="Arial" pitchFamily="34" charset="0"/>
                <a:ea typeface="Arial" pitchFamily="34" charset="-122"/>
                <a:cs typeface="Arial" pitchFamily="34" charset="-120"/>
              </a:rPr>
              <a:t>“Cursed is everyone who does not continue in all things” (Deut 27:26)</a:t>
            </a:r>
            <a:endParaRPr lang="en-US" sz="1200" dirty="0"/>
          </a:p>
        </p:txBody>
      </p:sp>
      <p:sp>
        <p:nvSpPr>
          <p:cNvPr id="9" name="Text 6"/>
          <p:cNvSpPr txBox="1"/>
          <p:nvPr/>
        </p:nvSpPr>
        <p:spPr>
          <a:xfrm>
            <a:off x="530352" y="3145536"/>
            <a:ext cx="1746504"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v.10</a:t>
            </a:r>
            <a:endParaRPr lang="en-US" sz="950" dirty="0"/>
          </a:p>
        </p:txBody>
      </p:sp>
      <p:sp>
        <p:nvSpPr>
          <p:cNvPr id="10" name="Shape 7"/>
          <p:cNvSpPr/>
          <p:nvPr/>
        </p:nvSpPr>
        <p:spPr>
          <a:xfrm>
            <a:off x="2359152" y="2212848"/>
            <a:ext cx="201168" cy="237744"/>
          </a:xfrm>
          <a:prstGeom prst="rightArrow">
            <a:avLst/>
          </a:prstGeom>
          <a:solidFill>
            <a:srgbClr val="6B7280"/>
          </a:solidFill>
          <a:ln w="12700">
            <a:solidFill>
              <a:srgbClr val="6B7280"/>
            </a:solidFill>
            <a:prstDash val="solid"/>
          </a:ln>
        </p:spPr>
      </p:sp>
      <p:sp>
        <p:nvSpPr>
          <p:cNvPr id="11" name="Shape 8"/>
          <p:cNvSpPr/>
          <p:nvPr/>
        </p:nvSpPr>
        <p:spPr>
          <a:xfrm>
            <a:off x="2569464" y="1188720"/>
            <a:ext cx="1892808" cy="2286000"/>
          </a:xfrm>
          <a:prstGeom prst="rect">
            <a:avLst/>
          </a:prstGeom>
          <a:solidFill>
            <a:srgbClr val="F2F6FC"/>
          </a:solidFill>
          <a:ln w="9525">
            <a:solidFill>
              <a:srgbClr val="D5DCEA"/>
            </a:solidFill>
            <a:prstDash val="solid"/>
          </a:ln>
        </p:spPr>
      </p:sp>
      <p:sp>
        <p:nvSpPr>
          <p:cNvPr id="12" name="Shape 9"/>
          <p:cNvSpPr/>
          <p:nvPr/>
        </p:nvSpPr>
        <p:spPr>
          <a:xfrm>
            <a:off x="2569464" y="1188720"/>
            <a:ext cx="1892808" cy="566928"/>
          </a:xfrm>
          <a:prstGeom prst="rect">
            <a:avLst/>
          </a:prstGeom>
          <a:solidFill>
            <a:srgbClr val="6B7280"/>
          </a:solidFill>
          <a:ln w="12700">
            <a:solidFill>
              <a:srgbClr val="6B7280"/>
            </a:solidFill>
            <a:prstDash val="solid"/>
          </a:ln>
        </p:spPr>
      </p:sp>
      <p:sp>
        <p:nvSpPr>
          <p:cNvPr id="13" name="Text 10"/>
          <p:cNvSpPr txBox="1"/>
          <p:nvPr/>
        </p:nvSpPr>
        <p:spPr>
          <a:xfrm>
            <a:off x="2624328" y="1188720"/>
            <a:ext cx="1783080"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Keep all of it?</a:t>
            </a:r>
            <a:endParaRPr lang="en-US" sz="1150" dirty="0"/>
          </a:p>
        </p:txBody>
      </p:sp>
      <p:sp>
        <p:nvSpPr>
          <p:cNvPr id="14" name="Text 11"/>
          <p:cNvSpPr txBox="1"/>
          <p:nvPr/>
        </p:nvSpPr>
        <p:spPr>
          <a:xfrm>
            <a:off x="2660904" y="1828800"/>
            <a:ext cx="1709928" cy="1335024"/>
          </a:xfrm>
          <a:prstGeom prst="rect">
            <a:avLst/>
          </a:prstGeom>
          <a:noFill/>
          <a:ln/>
        </p:spPr>
        <p:txBody>
          <a:bodyPr wrap="square" lIns="0" tIns="0" rIns="0" bIns="0" rtlCol="0" anchor="t"/>
          <a:lstStyle/>
          <a:p>
            <a:pPr algn="ctr" indent="0" marL="0">
              <a:buNone/>
            </a:pPr>
            <a:r>
              <a:rPr lang="en-US" sz="1200" dirty="0">
                <a:solidFill>
                  <a:srgbClr val="262626"/>
                </a:solidFill>
                <a:latin typeface="Arial" pitchFamily="34" charset="0"/>
                <a:ea typeface="Arial" pitchFamily="34" charset="-122"/>
                <a:cs typeface="Arial" pitchFamily="34" charset="-120"/>
              </a:rPr>
              <a:t>“The man who does them shall live by them” (Lev 18:5)</a:t>
            </a:r>
            <a:endParaRPr lang="en-US" sz="1200" dirty="0"/>
          </a:p>
        </p:txBody>
      </p:sp>
      <p:sp>
        <p:nvSpPr>
          <p:cNvPr id="15" name="Text 12"/>
          <p:cNvSpPr txBox="1"/>
          <p:nvPr/>
        </p:nvSpPr>
        <p:spPr>
          <a:xfrm>
            <a:off x="2642616" y="3145536"/>
            <a:ext cx="1746504"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v.12</a:t>
            </a:r>
            <a:endParaRPr lang="en-US" sz="950" dirty="0"/>
          </a:p>
        </p:txBody>
      </p:sp>
      <p:sp>
        <p:nvSpPr>
          <p:cNvPr id="16" name="Shape 13"/>
          <p:cNvSpPr/>
          <p:nvPr/>
        </p:nvSpPr>
        <p:spPr>
          <a:xfrm>
            <a:off x="4471416" y="2212848"/>
            <a:ext cx="201168" cy="237744"/>
          </a:xfrm>
          <a:prstGeom prst="rightArrow">
            <a:avLst/>
          </a:prstGeom>
          <a:solidFill>
            <a:srgbClr val="6B7280"/>
          </a:solidFill>
          <a:ln w="12700">
            <a:solidFill>
              <a:srgbClr val="6B7280"/>
            </a:solidFill>
            <a:prstDash val="solid"/>
          </a:ln>
        </p:spPr>
      </p:sp>
      <p:sp>
        <p:nvSpPr>
          <p:cNvPr id="17" name="Shape 14"/>
          <p:cNvSpPr/>
          <p:nvPr/>
        </p:nvSpPr>
        <p:spPr>
          <a:xfrm>
            <a:off x="4681728" y="1188720"/>
            <a:ext cx="1892808" cy="2286000"/>
          </a:xfrm>
          <a:prstGeom prst="rect">
            <a:avLst/>
          </a:prstGeom>
          <a:solidFill>
            <a:srgbClr val="F2F6FC"/>
          </a:solidFill>
          <a:ln w="9525">
            <a:solidFill>
              <a:srgbClr val="D5DCEA"/>
            </a:solidFill>
            <a:prstDash val="solid"/>
          </a:ln>
        </p:spPr>
      </p:sp>
      <p:sp>
        <p:nvSpPr>
          <p:cNvPr id="18" name="Shape 15"/>
          <p:cNvSpPr/>
          <p:nvPr/>
        </p:nvSpPr>
        <p:spPr>
          <a:xfrm>
            <a:off x="4681728" y="1188720"/>
            <a:ext cx="1892808" cy="566928"/>
          </a:xfrm>
          <a:prstGeom prst="rect">
            <a:avLst/>
          </a:prstGeom>
          <a:solidFill>
            <a:srgbClr val="6B7280"/>
          </a:solidFill>
          <a:ln w="12700">
            <a:solidFill>
              <a:srgbClr val="6B7280"/>
            </a:solidFill>
            <a:prstDash val="solid"/>
          </a:ln>
        </p:spPr>
      </p:sp>
      <p:sp>
        <p:nvSpPr>
          <p:cNvPr id="19" name="Text 16"/>
          <p:cNvSpPr txBox="1"/>
          <p:nvPr/>
        </p:nvSpPr>
        <p:spPr>
          <a:xfrm>
            <a:off x="4736592" y="1188720"/>
            <a:ext cx="1783080"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No one does</a:t>
            </a:r>
            <a:endParaRPr lang="en-US" sz="1150" dirty="0"/>
          </a:p>
        </p:txBody>
      </p:sp>
      <p:sp>
        <p:nvSpPr>
          <p:cNvPr id="20" name="Text 17"/>
          <p:cNvSpPr txBox="1"/>
          <p:nvPr/>
        </p:nvSpPr>
        <p:spPr>
          <a:xfrm>
            <a:off x="4773168" y="1828800"/>
            <a:ext cx="1709928" cy="1335024"/>
          </a:xfrm>
          <a:prstGeom prst="rect">
            <a:avLst/>
          </a:prstGeom>
          <a:noFill/>
          <a:ln/>
        </p:spPr>
        <p:txBody>
          <a:bodyPr wrap="square" lIns="0" tIns="0" rIns="0" bIns="0" rtlCol="0" anchor="t"/>
          <a:lstStyle/>
          <a:p>
            <a:pPr algn="ctr" indent="0" marL="0">
              <a:buNone/>
            </a:pPr>
            <a:r>
              <a:rPr lang="en-US" sz="1200" dirty="0">
                <a:solidFill>
                  <a:srgbClr val="262626"/>
                </a:solidFill>
                <a:latin typeface="Arial" pitchFamily="34" charset="0"/>
                <a:ea typeface="Arial" pitchFamily="34" charset="-122"/>
                <a:cs typeface="Arial" pitchFamily="34" charset="-120"/>
              </a:rPr>
              <a:t>The weakness was in the people, not the law (Heb 8:7–8)</a:t>
            </a:r>
            <a:endParaRPr lang="en-US" sz="1200" dirty="0"/>
          </a:p>
        </p:txBody>
      </p:sp>
      <p:sp>
        <p:nvSpPr>
          <p:cNvPr id="21" name="Text 18"/>
          <p:cNvSpPr txBox="1"/>
          <p:nvPr/>
        </p:nvSpPr>
        <p:spPr>
          <a:xfrm>
            <a:off x="4754880" y="3145536"/>
            <a:ext cx="1746504"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v.10</a:t>
            </a:r>
            <a:endParaRPr lang="en-US" sz="950" dirty="0"/>
          </a:p>
        </p:txBody>
      </p:sp>
      <p:sp>
        <p:nvSpPr>
          <p:cNvPr id="22" name="Shape 19"/>
          <p:cNvSpPr/>
          <p:nvPr/>
        </p:nvSpPr>
        <p:spPr>
          <a:xfrm>
            <a:off x="6583680" y="2212848"/>
            <a:ext cx="201168" cy="237744"/>
          </a:xfrm>
          <a:prstGeom prst="rightArrow">
            <a:avLst/>
          </a:prstGeom>
          <a:solidFill>
            <a:srgbClr val="6B7280"/>
          </a:solidFill>
          <a:ln w="12700">
            <a:solidFill>
              <a:srgbClr val="6B7280"/>
            </a:solidFill>
            <a:prstDash val="solid"/>
          </a:ln>
        </p:spPr>
      </p:sp>
      <p:sp>
        <p:nvSpPr>
          <p:cNvPr id="23" name="Shape 20"/>
          <p:cNvSpPr/>
          <p:nvPr/>
        </p:nvSpPr>
        <p:spPr>
          <a:xfrm>
            <a:off x="6793992" y="1188720"/>
            <a:ext cx="1892808" cy="2286000"/>
          </a:xfrm>
          <a:prstGeom prst="rect">
            <a:avLst/>
          </a:prstGeom>
          <a:solidFill>
            <a:srgbClr val="F2F6FC"/>
          </a:solidFill>
          <a:ln w="9525">
            <a:solidFill>
              <a:srgbClr val="D5DCEA"/>
            </a:solidFill>
            <a:prstDash val="solid"/>
          </a:ln>
        </p:spPr>
      </p:sp>
      <p:sp>
        <p:nvSpPr>
          <p:cNvPr id="24" name="Shape 21"/>
          <p:cNvSpPr/>
          <p:nvPr/>
        </p:nvSpPr>
        <p:spPr>
          <a:xfrm>
            <a:off x="6793992" y="1188720"/>
            <a:ext cx="1892808" cy="566928"/>
          </a:xfrm>
          <a:prstGeom prst="rect">
            <a:avLst/>
          </a:prstGeom>
          <a:solidFill>
            <a:srgbClr val="375623"/>
          </a:solidFill>
          <a:ln w="12700">
            <a:solidFill>
              <a:srgbClr val="375623"/>
            </a:solidFill>
            <a:prstDash val="solid"/>
          </a:ln>
        </p:spPr>
      </p:sp>
      <p:sp>
        <p:nvSpPr>
          <p:cNvPr id="25" name="Text 22"/>
          <p:cNvSpPr txBox="1"/>
          <p:nvPr/>
        </p:nvSpPr>
        <p:spPr>
          <a:xfrm>
            <a:off x="6848856" y="1188720"/>
            <a:ext cx="1783080"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The law's own witness</a:t>
            </a:r>
            <a:endParaRPr lang="en-US" sz="1150" dirty="0"/>
          </a:p>
        </p:txBody>
      </p:sp>
      <p:sp>
        <p:nvSpPr>
          <p:cNvPr id="26" name="Text 23"/>
          <p:cNvSpPr txBox="1"/>
          <p:nvPr/>
        </p:nvSpPr>
        <p:spPr>
          <a:xfrm>
            <a:off x="6885432" y="1828800"/>
            <a:ext cx="1709928" cy="1335024"/>
          </a:xfrm>
          <a:prstGeom prst="rect">
            <a:avLst/>
          </a:prstGeom>
          <a:noFill/>
          <a:ln/>
        </p:spPr>
        <p:txBody>
          <a:bodyPr wrap="square" lIns="0" tIns="0" rIns="0" bIns="0" rtlCol="0" anchor="t"/>
          <a:lstStyle/>
          <a:p>
            <a:pPr algn="ctr" indent="0" marL="0">
              <a:buNone/>
            </a:pPr>
            <a:r>
              <a:rPr lang="en-US" sz="1200" dirty="0">
                <a:solidFill>
                  <a:srgbClr val="262626"/>
                </a:solidFill>
                <a:latin typeface="Arial" pitchFamily="34" charset="0"/>
                <a:ea typeface="Arial" pitchFamily="34" charset="-122"/>
                <a:cs typeface="Arial" pitchFamily="34" charset="-120"/>
              </a:rPr>
              <a:t>“The just shall live by faith” (Hab 2:4)</a:t>
            </a:r>
            <a:endParaRPr lang="en-US" sz="1200" dirty="0"/>
          </a:p>
        </p:txBody>
      </p:sp>
      <p:sp>
        <p:nvSpPr>
          <p:cNvPr id="27" name="Text 24"/>
          <p:cNvSpPr txBox="1"/>
          <p:nvPr/>
        </p:nvSpPr>
        <p:spPr>
          <a:xfrm>
            <a:off x="6867144" y="3145536"/>
            <a:ext cx="1746504"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v.11</a:t>
            </a:r>
            <a:endParaRPr lang="en-US" sz="950" dirty="0"/>
          </a:p>
        </p:txBody>
      </p:sp>
      <p:sp>
        <p:nvSpPr>
          <p:cNvPr id="28" name="Shape 25"/>
          <p:cNvSpPr/>
          <p:nvPr/>
        </p:nvSpPr>
        <p:spPr>
          <a:xfrm>
            <a:off x="457200" y="3703320"/>
            <a:ext cx="8229600" cy="548640"/>
          </a:xfrm>
          <a:prstGeom prst="roundRect">
            <a:avLst>
              <a:gd name="adj" fmla="val 10000"/>
            </a:avLst>
          </a:prstGeom>
          <a:solidFill>
            <a:srgbClr val="1F3864"/>
          </a:solidFill>
          <a:ln w="12700">
            <a:solidFill>
              <a:srgbClr val="1F3864"/>
            </a:solidFill>
            <a:prstDash val="solid"/>
          </a:ln>
        </p:spPr>
      </p:sp>
      <p:sp>
        <p:nvSpPr>
          <p:cNvPr id="29" name="Text 26"/>
          <p:cNvSpPr txBox="1"/>
          <p:nvPr/>
        </p:nvSpPr>
        <p:spPr>
          <a:xfrm>
            <a:off x="621792" y="3703320"/>
            <a:ext cx="7900416" cy="54864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Everyone who does not keep the whole law is cursed — and no one has kept it. We are all under the curse.</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“The just shall live by faith” — three times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Habakkuk 2:4 in the New Testament · Outline II.B</a:t>
            </a:r>
            <a:endParaRPr lang="en-US" sz="1200" dirty="0"/>
          </a:p>
        </p:txBody>
      </p:sp>
      <p:sp>
        <p:nvSpPr>
          <p:cNvPr id="5" name="Shape 2"/>
          <p:cNvSpPr/>
          <p:nvPr/>
        </p:nvSpPr>
        <p:spPr>
          <a:xfrm>
            <a:off x="457200" y="1143000"/>
            <a:ext cx="2615184" cy="365760"/>
          </a:xfrm>
          <a:prstGeom prst="rect">
            <a:avLst/>
          </a:prstGeom>
          <a:solidFill>
            <a:srgbClr val="2E5496"/>
          </a:solidFill>
          <a:ln w="12700">
            <a:solidFill>
              <a:srgbClr val="2E5496"/>
            </a:solidFill>
            <a:prstDash val="solid"/>
          </a:ln>
        </p:spPr>
      </p:sp>
      <p:sp>
        <p:nvSpPr>
          <p:cNvPr id="6" name="Text 3"/>
          <p:cNvSpPr txBox="1"/>
          <p:nvPr/>
        </p:nvSpPr>
        <p:spPr>
          <a:xfrm>
            <a:off x="548640" y="1188720"/>
            <a:ext cx="2432304"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Romans 1:17</a:t>
            </a:r>
            <a:endParaRPr lang="en-US" sz="1200" dirty="0"/>
          </a:p>
        </p:txBody>
      </p:sp>
      <p:sp>
        <p:nvSpPr>
          <p:cNvPr id="7" name="Shape 4"/>
          <p:cNvSpPr/>
          <p:nvPr/>
        </p:nvSpPr>
        <p:spPr>
          <a:xfrm>
            <a:off x="457200" y="1508760"/>
            <a:ext cx="2615184" cy="2148840"/>
          </a:xfrm>
          <a:prstGeom prst="rect">
            <a:avLst/>
          </a:prstGeom>
          <a:solidFill>
            <a:srgbClr val="F2F6FC"/>
          </a:solidFill>
          <a:ln w="9525">
            <a:solidFill>
              <a:srgbClr val="D5DCEA"/>
            </a:solidFill>
            <a:prstDash val="solid"/>
          </a:ln>
        </p:spPr>
      </p:sp>
      <p:sp>
        <p:nvSpPr>
          <p:cNvPr id="8" name="Text 5"/>
          <p:cNvSpPr txBox="1"/>
          <p:nvPr/>
        </p:nvSpPr>
        <p:spPr>
          <a:xfrm>
            <a:off x="548640" y="1581912"/>
            <a:ext cx="2432304" cy="2020824"/>
          </a:xfrm>
          <a:prstGeom prst="rect">
            <a:avLst/>
          </a:prstGeom>
          <a:noFill/>
          <a:ln/>
        </p:spPr>
        <p:txBody>
          <a:bodyPr wrap="square" lIns="0" tIns="0" rIns="0" bIns="0" rtlCol="0" anchor="t"/>
          <a:lstStyle/>
          <a:p>
            <a:pPr marL="127000" indent="-127000">
              <a:spcAft>
                <a:spcPts val="300"/>
              </a:spcAft>
              <a:buSzPct val="100000"/>
              <a:buChar char="•"/>
            </a:pPr>
            <a:r>
              <a:rPr lang="en-US" sz="1500" dirty="0">
                <a:solidFill>
                  <a:srgbClr val="262626"/>
                </a:solidFill>
                <a:latin typeface="Arial" pitchFamily="34" charset="0"/>
                <a:ea typeface="Arial" pitchFamily="34" charset="-122"/>
                <a:cs typeface="Arial" pitchFamily="34" charset="-120"/>
              </a:rPr>
              <a:t>Tells who the just are</a:t>
            </a:r>
            <a:endParaRPr lang="en-US" sz="1500" dirty="0"/>
          </a:p>
        </p:txBody>
      </p:sp>
      <p:sp>
        <p:nvSpPr>
          <p:cNvPr id="9" name="Shape 6"/>
          <p:cNvSpPr/>
          <p:nvPr/>
        </p:nvSpPr>
        <p:spPr>
          <a:xfrm>
            <a:off x="3264408" y="1143000"/>
            <a:ext cx="2615184" cy="365760"/>
          </a:xfrm>
          <a:prstGeom prst="rect">
            <a:avLst/>
          </a:prstGeom>
          <a:solidFill>
            <a:srgbClr val="375623"/>
          </a:solidFill>
          <a:ln w="12700">
            <a:solidFill>
              <a:srgbClr val="375623"/>
            </a:solidFill>
            <a:prstDash val="solid"/>
          </a:ln>
        </p:spPr>
      </p:sp>
      <p:sp>
        <p:nvSpPr>
          <p:cNvPr id="10" name="Text 7"/>
          <p:cNvSpPr txBox="1"/>
          <p:nvPr/>
        </p:nvSpPr>
        <p:spPr>
          <a:xfrm>
            <a:off x="3355848" y="1188720"/>
            <a:ext cx="2432304"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Galatians 3:11</a:t>
            </a:r>
            <a:endParaRPr lang="en-US" sz="1200" dirty="0"/>
          </a:p>
        </p:txBody>
      </p:sp>
      <p:sp>
        <p:nvSpPr>
          <p:cNvPr id="11" name="Shape 8"/>
          <p:cNvSpPr/>
          <p:nvPr/>
        </p:nvSpPr>
        <p:spPr>
          <a:xfrm>
            <a:off x="3264408" y="1508760"/>
            <a:ext cx="2615184" cy="2148840"/>
          </a:xfrm>
          <a:prstGeom prst="rect">
            <a:avLst/>
          </a:prstGeom>
          <a:solidFill>
            <a:srgbClr val="F2F6FC"/>
          </a:solidFill>
          <a:ln w="9525">
            <a:solidFill>
              <a:srgbClr val="D5DCEA"/>
            </a:solidFill>
            <a:prstDash val="solid"/>
          </a:ln>
        </p:spPr>
      </p:sp>
      <p:sp>
        <p:nvSpPr>
          <p:cNvPr id="12" name="Text 9"/>
          <p:cNvSpPr txBox="1"/>
          <p:nvPr/>
        </p:nvSpPr>
        <p:spPr>
          <a:xfrm>
            <a:off x="3355848" y="1581912"/>
            <a:ext cx="2432304" cy="2020824"/>
          </a:xfrm>
          <a:prstGeom prst="rect">
            <a:avLst/>
          </a:prstGeom>
          <a:noFill/>
          <a:ln/>
        </p:spPr>
        <p:txBody>
          <a:bodyPr wrap="square" lIns="0" tIns="0" rIns="0" bIns="0" rtlCol="0" anchor="t"/>
          <a:lstStyle/>
          <a:p>
            <a:pPr marL="127000" indent="-127000">
              <a:spcAft>
                <a:spcPts val="300"/>
              </a:spcAft>
              <a:buSzPct val="100000"/>
              <a:buChar char="•"/>
            </a:pPr>
            <a:r>
              <a:rPr lang="en-US" sz="1500" dirty="0">
                <a:solidFill>
                  <a:srgbClr val="262626"/>
                </a:solidFill>
                <a:latin typeface="Arial" pitchFamily="34" charset="0"/>
                <a:ea typeface="Arial" pitchFamily="34" charset="-122"/>
                <a:cs typeface="Arial" pitchFamily="34" charset="-120"/>
              </a:rPr>
              <a:t>Tells how the just shall live</a:t>
            </a:r>
            <a:endParaRPr lang="en-US" sz="1500" dirty="0"/>
          </a:p>
          <a:p>
            <a:pPr marL="127000" indent="-127000">
              <a:spcAft>
                <a:spcPts val="300"/>
              </a:spcAft>
              <a:buSzPct val="100000"/>
              <a:buChar char="•"/>
            </a:pPr>
            <a:r>
              <a:rPr lang="en-US" sz="1500" dirty="0">
                <a:solidFill>
                  <a:srgbClr val="262626"/>
                </a:solidFill>
                <a:latin typeface="Arial" pitchFamily="34" charset="0"/>
                <a:ea typeface="Arial" pitchFamily="34" charset="-122"/>
                <a:cs typeface="Arial" pitchFamily="34" charset="-120"/>
              </a:rPr>
              <a:t>δίκαιος · ζήσεται — the believer's ongoing life of faith</a:t>
            </a:r>
            <a:endParaRPr lang="en-US" sz="1500" dirty="0"/>
          </a:p>
        </p:txBody>
      </p:sp>
      <p:sp>
        <p:nvSpPr>
          <p:cNvPr id="13" name="Shape 10"/>
          <p:cNvSpPr/>
          <p:nvPr/>
        </p:nvSpPr>
        <p:spPr>
          <a:xfrm>
            <a:off x="6071616" y="1143000"/>
            <a:ext cx="2615184" cy="365760"/>
          </a:xfrm>
          <a:prstGeom prst="rect">
            <a:avLst/>
          </a:prstGeom>
          <a:solidFill>
            <a:srgbClr val="7030A0"/>
          </a:solidFill>
          <a:ln w="12700">
            <a:solidFill>
              <a:srgbClr val="7030A0"/>
            </a:solidFill>
            <a:prstDash val="solid"/>
          </a:ln>
        </p:spPr>
      </p:sp>
      <p:sp>
        <p:nvSpPr>
          <p:cNvPr id="14" name="Text 11"/>
          <p:cNvSpPr txBox="1"/>
          <p:nvPr/>
        </p:nvSpPr>
        <p:spPr>
          <a:xfrm>
            <a:off x="6163056" y="1188720"/>
            <a:ext cx="2432304"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Hebrews 10:38</a:t>
            </a:r>
            <a:endParaRPr lang="en-US" sz="1200" dirty="0"/>
          </a:p>
        </p:txBody>
      </p:sp>
      <p:sp>
        <p:nvSpPr>
          <p:cNvPr id="15" name="Shape 12"/>
          <p:cNvSpPr/>
          <p:nvPr/>
        </p:nvSpPr>
        <p:spPr>
          <a:xfrm>
            <a:off x="6071616" y="1508760"/>
            <a:ext cx="2615184" cy="2148840"/>
          </a:xfrm>
          <a:prstGeom prst="rect">
            <a:avLst/>
          </a:prstGeom>
          <a:solidFill>
            <a:srgbClr val="F2F6FC"/>
          </a:solidFill>
          <a:ln w="9525">
            <a:solidFill>
              <a:srgbClr val="D5DCEA"/>
            </a:solidFill>
            <a:prstDash val="solid"/>
          </a:ln>
        </p:spPr>
      </p:sp>
      <p:sp>
        <p:nvSpPr>
          <p:cNvPr id="16" name="Text 13"/>
          <p:cNvSpPr txBox="1"/>
          <p:nvPr/>
        </p:nvSpPr>
        <p:spPr>
          <a:xfrm>
            <a:off x="6163056" y="1581912"/>
            <a:ext cx="2432304" cy="2020824"/>
          </a:xfrm>
          <a:prstGeom prst="rect">
            <a:avLst/>
          </a:prstGeom>
          <a:noFill/>
          <a:ln/>
        </p:spPr>
        <p:txBody>
          <a:bodyPr wrap="square" lIns="0" tIns="0" rIns="0" bIns="0" rtlCol="0" anchor="t"/>
          <a:lstStyle/>
          <a:p>
            <a:pPr marL="127000" indent="-127000">
              <a:spcAft>
                <a:spcPts val="300"/>
              </a:spcAft>
              <a:buSzPct val="100000"/>
              <a:buChar char="•"/>
            </a:pPr>
            <a:r>
              <a:rPr lang="en-US" sz="1500" dirty="0">
                <a:solidFill>
                  <a:srgbClr val="262626"/>
                </a:solidFill>
                <a:latin typeface="Arial" pitchFamily="34" charset="0"/>
                <a:ea typeface="Arial" pitchFamily="34" charset="-122"/>
                <a:cs typeface="Arial" pitchFamily="34" charset="-120"/>
              </a:rPr>
              <a:t>Explains what “by faith” means — introducing Hebrews 11</a:t>
            </a:r>
            <a:endParaRPr lang="en-US" sz="1500" dirty="0"/>
          </a:p>
        </p:txBody>
      </p:sp>
      <p:sp>
        <p:nvSpPr>
          <p:cNvPr id="17" name="Shape 14"/>
          <p:cNvSpPr/>
          <p:nvPr/>
        </p:nvSpPr>
        <p:spPr>
          <a:xfrm>
            <a:off x="457200" y="3886200"/>
            <a:ext cx="8229600" cy="502920"/>
          </a:xfrm>
          <a:prstGeom prst="roundRect">
            <a:avLst>
              <a:gd name="adj" fmla="val 10909"/>
            </a:avLst>
          </a:prstGeom>
          <a:solidFill>
            <a:srgbClr val="1F3864"/>
          </a:solidFill>
          <a:ln w="12700">
            <a:solidFill>
              <a:srgbClr val="1F3864"/>
            </a:solidFill>
            <a:prstDash val="solid"/>
          </a:ln>
        </p:spPr>
      </p:sp>
      <p:sp>
        <p:nvSpPr>
          <p:cNvPr id="18" name="Text 15"/>
          <p:cNvSpPr txBox="1"/>
          <p:nvPr/>
        </p:nvSpPr>
        <p:spPr>
          <a:xfrm>
            <a:off x="621792" y="3886200"/>
            <a:ext cx="7900416" cy="50292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Even under the law, the law itself testified that righteousness comes by faith.</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Christ became a curse for us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3:13–14 · Outline III — The solution of faith</a:t>
            </a:r>
            <a:endParaRPr lang="en-US" sz="1200" dirty="0"/>
          </a:p>
        </p:txBody>
      </p:sp>
      <p:sp>
        <p:nvSpPr>
          <p:cNvPr id="5" name="Shape 2"/>
          <p:cNvSpPr/>
          <p:nvPr/>
        </p:nvSpPr>
        <p:spPr>
          <a:xfrm>
            <a:off x="457200" y="1115568"/>
            <a:ext cx="914400" cy="548640"/>
          </a:xfrm>
          <a:prstGeom prst="rect">
            <a:avLst/>
          </a:prstGeom>
          <a:solidFill>
            <a:srgbClr val="2E5496"/>
          </a:solidFill>
          <a:ln w="12700">
            <a:solidFill>
              <a:srgbClr val="2E5496"/>
            </a:solidFill>
            <a:prstDash val="solid"/>
          </a:ln>
        </p:spPr>
      </p:sp>
      <p:sp>
        <p:nvSpPr>
          <p:cNvPr id="6" name="Text 3"/>
          <p:cNvSpPr txBox="1"/>
          <p:nvPr/>
        </p:nvSpPr>
        <p:spPr>
          <a:xfrm>
            <a:off x="457200" y="1115568"/>
            <a:ext cx="91440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v.13a</a:t>
            </a:r>
            <a:endParaRPr lang="en-US" sz="1100" dirty="0"/>
          </a:p>
        </p:txBody>
      </p:sp>
      <p:sp>
        <p:nvSpPr>
          <p:cNvPr id="7" name="Shape 4"/>
          <p:cNvSpPr/>
          <p:nvPr/>
        </p:nvSpPr>
        <p:spPr>
          <a:xfrm>
            <a:off x="1371600" y="1115568"/>
            <a:ext cx="7315200" cy="548640"/>
          </a:xfrm>
          <a:prstGeom prst="rect">
            <a:avLst/>
          </a:prstGeom>
          <a:solidFill>
            <a:srgbClr val="F2F6FC"/>
          </a:solidFill>
          <a:ln w="9525">
            <a:solidFill>
              <a:srgbClr val="D5DCEA"/>
            </a:solidFill>
            <a:prstDash val="solid"/>
          </a:ln>
        </p:spPr>
      </p:sp>
      <p:sp>
        <p:nvSpPr>
          <p:cNvPr id="8" name="Text 5"/>
          <p:cNvSpPr txBox="1"/>
          <p:nvPr/>
        </p:nvSpPr>
        <p:spPr>
          <a:xfrm>
            <a:off x="1481328" y="1115568"/>
            <a:ext cx="402336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“Christ has redeemed us from the curse of the law”</a:t>
            </a:r>
            <a:endParaRPr lang="en-US" sz="1200" dirty="0"/>
          </a:p>
        </p:txBody>
      </p:sp>
      <p:sp>
        <p:nvSpPr>
          <p:cNvPr id="9" name="Text 6"/>
          <p:cNvSpPr txBox="1"/>
          <p:nvPr/>
        </p:nvSpPr>
        <p:spPr>
          <a:xfrm>
            <a:off x="5577840" y="1115568"/>
            <a:ext cx="3017520" cy="54864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ἐξηγόρασεν</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bought out of the slave market</a:t>
            </a:r>
            <a:endParaRPr lang="en-US" sz="1200" dirty="0"/>
          </a:p>
        </p:txBody>
      </p:sp>
      <p:sp>
        <p:nvSpPr>
          <p:cNvPr id="10" name="Shape 7"/>
          <p:cNvSpPr/>
          <p:nvPr/>
        </p:nvSpPr>
        <p:spPr>
          <a:xfrm>
            <a:off x="457200" y="1728216"/>
            <a:ext cx="914400" cy="548640"/>
          </a:xfrm>
          <a:prstGeom prst="rect">
            <a:avLst/>
          </a:prstGeom>
          <a:solidFill>
            <a:srgbClr val="2E5496"/>
          </a:solidFill>
          <a:ln w="12700">
            <a:solidFill>
              <a:srgbClr val="2E5496"/>
            </a:solidFill>
            <a:prstDash val="solid"/>
          </a:ln>
        </p:spPr>
      </p:sp>
      <p:sp>
        <p:nvSpPr>
          <p:cNvPr id="11" name="Text 8"/>
          <p:cNvSpPr txBox="1"/>
          <p:nvPr/>
        </p:nvSpPr>
        <p:spPr>
          <a:xfrm>
            <a:off x="457200" y="1728216"/>
            <a:ext cx="91440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v.13b</a:t>
            </a:r>
            <a:endParaRPr lang="en-US" sz="1100" dirty="0"/>
          </a:p>
        </p:txBody>
      </p:sp>
      <p:sp>
        <p:nvSpPr>
          <p:cNvPr id="12" name="Shape 9"/>
          <p:cNvSpPr/>
          <p:nvPr/>
        </p:nvSpPr>
        <p:spPr>
          <a:xfrm>
            <a:off x="1371600" y="1728216"/>
            <a:ext cx="7315200" cy="548640"/>
          </a:xfrm>
          <a:prstGeom prst="rect">
            <a:avLst/>
          </a:prstGeom>
          <a:solidFill>
            <a:srgbClr val="FFFFFF"/>
          </a:solidFill>
          <a:ln w="9525">
            <a:solidFill>
              <a:srgbClr val="D5DCEA"/>
            </a:solidFill>
            <a:prstDash val="solid"/>
          </a:ln>
        </p:spPr>
      </p:sp>
      <p:sp>
        <p:nvSpPr>
          <p:cNvPr id="13" name="Text 10"/>
          <p:cNvSpPr txBox="1"/>
          <p:nvPr/>
        </p:nvSpPr>
        <p:spPr>
          <a:xfrm>
            <a:off x="1481328" y="1728216"/>
            <a:ext cx="402336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“having become a curse for us”</a:t>
            </a:r>
            <a:endParaRPr lang="en-US" sz="1200" dirty="0"/>
          </a:p>
        </p:txBody>
      </p:sp>
      <p:sp>
        <p:nvSpPr>
          <p:cNvPr id="14" name="Text 11"/>
          <p:cNvSpPr txBox="1"/>
          <p:nvPr/>
        </p:nvSpPr>
        <p:spPr>
          <a:xfrm>
            <a:off x="5577840" y="1728216"/>
            <a:ext cx="3017520" cy="54864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γενόμενος</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He became the curse in our place</a:t>
            </a:r>
            <a:endParaRPr lang="en-US" sz="1200" dirty="0"/>
          </a:p>
        </p:txBody>
      </p:sp>
      <p:sp>
        <p:nvSpPr>
          <p:cNvPr id="15" name="Shape 12"/>
          <p:cNvSpPr/>
          <p:nvPr/>
        </p:nvSpPr>
        <p:spPr>
          <a:xfrm>
            <a:off x="457200" y="2340864"/>
            <a:ext cx="914400" cy="548640"/>
          </a:xfrm>
          <a:prstGeom prst="rect">
            <a:avLst/>
          </a:prstGeom>
          <a:solidFill>
            <a:srgbClr val="2E5496"/>
          </a:solidFill>
          <a:ln w="12700">
            <a:solidFill>
              <a:srgbClr val="2E5496"/>
            </a:solidFill>
            <a:prstDash val="solid"/>
          </a:ln>
        </p:spPr>
      </p:sp>
      <p:sp>
        <p:nvSpPr>
          <p:cNvPr id="16" name="Text 13"/>
          <p:cNvSpPr txBox="1"/>
          <p:nvPr/>
        </p:nvSpPr>
        <p:spPr>
          <a:xfrm>
            <a:off x="457200" y="2340864"/>
            <a:ext cx="91440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vv.10, 13</a:t>
            </a:r>
            <a:endParaRPr lang="en-US" sz="1100" dirty="0"/>
          </a:p>
        </p:txBody>
      </p:sp>
      <p:sp>
        <p:nvSpPr>
          <p:cNvPr id="17" name="Shape 14"/>
          <p:cNvSpPr/>
          <p:nvPr/>
        </p:nvSpPr>
        <p:spPr>
          <a:xfrm>
            <a:off x="1371600" y="2340864"/>
            <a:ext cx="7315200" cy="548640"/>
          </a:xfrm>
          <a:prstGeom prst="rect">
            <a:avLst/>
          </a:prstGeom>
          <a:solidFill>
            <a:srgbClr val="F2F6FC"/>
          </a:solidFill>
          <a:ln w="9525">
            <a:solidFill>
              <a:srgbClr val="D5DCEA"/>
            </a:solidFill>
            <a:prstDash val="solid"/>
          </a:ln>
        </p:spPr>
      </p:sp>
      <p:sp>
        <p:nvSpPr>
          <p:cNvPr id="18" name="Text 15"/>
          <p:cNvSpPr txBox="1"/>
          <p:nvPr/>
        </p:nvSpPr>
        <p:spPr>
          <a:xfrm>
            <a:off x="1481328" y="2340864"/>
            <a:ext cx="402336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Deut 27:26 and Deut 21:23 — the same word binds them</a:t>
            </a:r>
            <a:endParaRPr lang="en-US" sz="1200" dirty="0"/>
          </a:p>
        </p:txBody>
      </p:sp>
      <p:sp>
        <p:nvSpPr>
          <p:cNvPr id="19" name="Text 16"/>
          <p:cNvSpPr txBox="1"/>
          <p:nvPr/>
        </p:nvSpPr>
        <p:spPr>
          <a:xfrm>
            <a:off x="5577840" y="2340864"/>
            <a:ext cx="3017520" cy="54864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ἐπικατάρατος</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“cursed” — law's curse, Christ's curse</a:t>
            </a:r>
            <a:endParaRPr lang="en-US" sz="1200" dirty="0"/>
          </a:p>
        </p:txBody>
      </p:sp>
      <p:sp>
        <p:nvSpPr>
          <p:cNvPr id="20" name="Shape 17"/>
          <p:cNvSpPr/>
          <p:nvPr/>
        </p:nvSpPr>
        <p:spPr>
          <a:xfrm>
            <a:off x="457200" y="2953512"/>
            <a:ext cx="914400" cy="548640"/>
          </a:xfrm>
          <a:prstGeom prst="rect">
            <a:avLst/>
          </a:prstGeom>
          <a:solidFill>
            <a:srgbClr val="375623"/>
          </a:solidFill>
          <a:ln w="12700">
            <a:solidFill>
              <a:srgbClr val="375623"/>
            </a:solidFill>
            <a:prstDash val="solid"/>
          </a:ln>
        </p:spPr>
      </p:sp>
      <p:sp>
        <p:nvSpPr>
          <p:cNvPr id="21" name="Text 18"/>
          <p:cNvSpPr txBox="1"/>
          <p:nvPr/>
        </p:nvSpPr>
        <p:spPr>
          <a:xfrm>
            <a:off x="457200" y="2953512"/>
            <a:ext cx="91440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v.14a</a:t>
            </a:r>
            <a:endParaRPr lang="en-US" sz="1100" dirty="0"/>
          </a:p>
        </p:txBody>
      </p:sp>
      <p:sp>
        <p:nvSpPr>
          <p:cNvPr id="22" name="Shape 19"/>
          <p:cNvSpPr/>
          <p:nvPr/>
        </p:nvSpPr>
        <p:spPr>
          <a:xfrm>
            <a:off x="1371600" y="2953512"/>
            <a:ext cx="7315200" cy="548640"/>
          </a:xfrm>
          <a:prstGeom prst="rect">
            <a:avLst/>
          </a:prstGeom>
          <a:solidFill>
            <a:srgbClr val="FFFFFF"/>
          </a:solidFill>
          <a:ln w="9525">
            <a:solidFill>
              <a:srgbClr val="D5DCEA"/>
            </a:solidFill>
            <a:prstDash val="solid"/>
          </a:ln>
        </p:spPr>
      </p:sp>
      <p:sp>
        <p:nvSpPr>
          <p:cNvPr id="23" name="Text 20"/>
          <p:cNvSpPr txBox="1"/>
          <p:nvPr/>
        </p:nvSpPr>
        <p:spPr>
          <a:xfrm>
            <a:off x="1481328" y="2953512"/>
            <a:ext cx="402336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“that the blessing of Abraham might come upon the Gentiles”</a:t>
            </a:r>
            <a:endParaRPr lang="en-US" sz="1200" dirty="0"/>
          </a:p>
        </p:txBody>
      </p:sp>
      <p:sp>
        <p:nvSpPr>
          <p:cNvPr id="24" name="Text 21"/>
          <p:cNvSpPr txBox="1"/>
          <p:nvPr/>
        </p:nvSpPr>
        <p:spPr>
          <a:xfrm>
            <a:off x="5577840" y="2953512"/>
            <a:ext cx="3017520" cy="548640"/>
          </a:xfrm>
          <a:prstGeom prst="rect">
            <a:avLst/>
          </a:prstGeom>
          <a:noFill/>
          <a:ln/>
        </p:spPr>
        <p:txBody>
          <a:bodyPr wrap="square" lIns="0" tIns="0" rIns="0" bIns="0" rtlCol="0" anchor="ctr"/>
          <a:lstStyle/>
          <a:p>
            <a:pPr indent="0" marL="0">
              <a:buNone/>
            </a:pPr>
            <a:r>
              <a:rPr lang="en-US" sz="950" dirty="0">
                <a:solidFill>
                  <a:srgbClr val="595959"/>
                </a:solidFill>
                <a:latin typeface="Arial" pitchFamily="34" charset="0"/>
                <a:ea typeface="Arial" pitchFamily="34" charset="-122"/>
                <a:cs typeface="Arial" pitchFamily="34" charset="-120"/>
              </a:rPr>
              <a:t>justification by faith, apart from law</a:t>
            </a:r>
            <a:endParaRPr lang="en-US" sz="1200" dirty="0"/>
          </a:p>
        </p:txBody>
      </p:sp>
      <p:sp>
        <p:nvSpPr>
          <p:cNvPr id="25" name="Shape 22"/>
          <p:cNvSpPr/>
          <p:nvPr/>
        </p:nvSpPr>
        <p:spPr>
          <a:xfrm>
            <a:off x="457200" y="3566160"/>
            <a:ext cx="914400" cy="548640"/>
          </a:xfrm>
          <a:prstGeom prst="rect">
            <a:avLst/>
          </a:prstGeom>
          <a:solidFill>
            <a:srgbClr val="375623"/>
          </a:solidFill>
          <a:ln w="12700">
            <a:solidFill>
              <a:srgbClr val="375623"/>
            </a:solidFill>
            <a:prstDash val="solid"/>
          </a:ln>
        </p:spPr>
      </p:sp>
      <p:sp>
        <p:nvSpPr>
          <p:cNvPr id="26" name="Text 23"/>
          <p:cNvSpPr txBox="1"/>
          <p:nvPr/>
        </p:nvSpPr>
        <p:spPr>
          <a:xfrm>
            <a:off x="457200" y="3566160"/>
            <a:ext cx="91440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v.14b</a:t>
            </a:r>
            <a:endParaRPr lang="en-US" sz="1100" dirty="0"/>
          </a:p>
        </p:txBody>
      </p:sp>
      <p:sp>
        <p:nvSpPr>
          <p:cNvPr id="27" name="Shape 24"/>
          <p:cNvSpPr/>
          <p:nvPr/>
        </p:nvSpPr>
        <p:spPr>
          <a:xfrm>
            <a:off x="1371600" y="3566160"/>
            <a:ext cx="7315200" cy="548640"/>
          </a:xfrm>
          <a:prstGeom prst="rect">
            <a:avLst/>
          </a:prstGeom>
          <a:solidFill>
            <a:srgbClr val="F2F6FC"/>
          </a:solidFill>
          <a:ln w="9525">
            <a:solidFill>
              <a:srgbClr val="D5DCEA"/>
            </a:solidFill>
            <a:prstDash val="solid"/>
          </a:ln>
        </p:spPr>
      </p:sp>
      <p:sp>
        <p:nvSpPr>
          <p:cNvPr id="28" name="Text 25"/>
          <p:cNvSpPr txBox="1"/>
          <p:nvPr/>
        </p:nvSpPr>
        <p:spPr>
          <a:xfrm>
            <a:off x="1481328" y="3566160"/>
            <a:ext cx="402336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“that we might receive the promise of the Spirit through faith”</a:t>
            </a:r>
            <a:endParaRPr lang="en-US" sz="1200" dirty="0"/>
          </a:p>
        </p:txBody>
      </p:sp>
      <p:sp>
        <p:nvSpPr>
          <p:cNvPr id="29" name="Text 26"/>
          <p:cNvSpPr txBox="1"/>
          <p:nvPr/>
        </p:nvSpPr>
        <p:spPr>
          <a:xfrm>
            <a:off x="5577840" y="3566160"/>
            <a:ext cx="3017520" cy="54864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ἐπαγγελίαν</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received by faith, not works</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Discuss and apply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3:6–14 · from the study's posted questions and applications</a:t>
            </a:r>
            <a:endParaRPr lang="en-US" sz="1200" dirty="0"/>
          </a:p>
        </p:txBody>
      </p:sp>
      <p:sp>
        <p:nvSpPr>
          <p:cNvPr id="5" name="Shape 2"/>
          <p:cNvSpPr/>
          <p:nvPr/>
        </p:nvSpPr>
        <p:spPr>
          <a:xfrm>
            <a:off x="457200" y="1115568"/>
            <a:ext cx="4023360" cy="384048"/>
          </a:xfrm>
          <a:prstGeom prst="rect">
            <a:avLst/>
          </a:prstGeom>
          <a:solidFill>
            <a:srgbClr val="2E5496"/>
          </a:solidFill>
          <a:ln w="12700">
            <a:solidFill>
              <a:srgbClr val="2E5496"/>
            </a:solidFill>
            <a:prstDash val="solid"/>
          </a:ln>
        </p:spPr>
      </p:sp>
      <p:sp>
        <p:nvSpPr>
          <p:cNvPr id="6" name="Text 3"/>
          <p:cNvSpPr txBox="1"/>
          <p:nvPr/>
        </p:nvSpPr>
        <p:spPr>
          <a:xfrm>
            <a:off x="56692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Discuss</a:t>
            </a:r>
            <a:endParaRPr lang="en-US" sz="1300" dirty="0"/>
          </a:p>
        </p:txBody>
      </p:sp>
      <p:sp>
        <p:nvSpPr>
          <p:cNvPr id="7" name="Shape 4"/>
          <p:cNvSpPr/>
          <p:nvPr/>
        </p:nvSpPr>
        <p:spPr>
          <a:xfrm>
            <a:off x="457200" y="1499616"/>
            <a:ext cx="4023360" cy="2359152"/>
          </a:xfrm>
          <a:prstGeom prst="rect">
            <a:avLst/>
          </a:prstGeom>
          <a:solidFill>
            <a:srgbClr val="F2F6FC"/>
          </a:solidFill>
          <a:ln w="9525">
            <a:solidFill>
              <a:srgbClr val="D5DCEA"/>
            </a:solidFill>
            <a:prstDash val="solid"/>
          </a:ln>
        </p:spPr>
      </p:sp>
      <p:sp>
        <p:nvSpPr>
          <p:cNvPr id="8" name="Shape 5"/>
          <p:cNvSpPr/>
          <p:nvPr/>
        </p:nvSpPr>
        <p:spPr>
          <a:xfrm>
            <a:off x="4663440" y="1115568"/>
            <a:ext cx="4023360" cy="384048"/>
          </a:xfrm>
          <a:prstGeom prst="rect">
            <a:avLst/>
          </a:prstGeom>
          <a:solidFill>
            <a:srgbClr val="375623"/>
          </a:solidFill>
          <a:ln w="12700">
            <a:solidFill>
              <a:srgbClr val="375623"/>
            </a:solidFill>
            <a:prstDash val="solid"/>
          </a:ln>
        </p:spPr>
      </p:sp>
      <p:sp>
        <p:nvSpPr>
          <p:cNvPr id="9" name="Text 6"/>
          <p:cNvSpPr txBox="1"/>
          <p:nvPr/>
        </p:nvSpPr>
        <p:spPr>
          <a:xfrm>
            <a:off x="477316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Apply</a:t>
            </a:r>
            <a:endParaRPr lang="en-US" sz="1300" dirty="0"/>
          </a:p>
        </p:txBody>
      </p:sp>
      <p:sp>
        <p:nvSpPr>
          <p:cNvPr id="10" name="Shape 7"/>
          <p:cNvSpPr/>
          <p:nvPr/>
        </p:nvSpPr>
        <p:spPr>
          <a:xfrm>
            <a:off x="4663440" y="1499616"/>
            <a:ext cx="4023360" cy="2359152"/>
          </a:xfrm>
          <a:prstGeom prst="rect">
            <a:avLst/>
          </a:prstGeom>
          <a:solidFill>
            <a:srgbClr val="F2F6FC"/>
          </a:solidFill>
          <a:ln w="9525">
            <a:solidFill>
              <a:srgbClr val="D5DCEA"/>
            </a:solidFill>
            <a:prstDash val="solid"/>
          </a:ln>
        </p:spPr>
      </p:sp>
      <p:sp>
        <p:nvSpPr>
          <p:cNvPr id="11" name="Shape 8"/>
          <p:cNvSpPr/>
          <p:nvPr/>
        </p:nvSpPr>
        <p:spPr>
          <a:xfrm>
            <a:off x="566928" y="1636776"/>
            <a:ext cx="347472" cy="347472"/>
          </a:xfrm>
          <a:prstGeom prst="ellipse">
            <a:avLst/>
          </a:prstGeom>
          <a:solidFill>
            <a:srgbClr val="2E5496"/>
          </a:solidFill>
          <a:ln w="12700">
            <a:solidFill>
              <a:srgbClr val="2E5496"/>
            </a:solidFill>
            <a:prstDash val="solid"/>
          </a:ln>
        </p:spPr>
      </p:sp>
      <p:sp>
        <p:nvSpPr>
          <p:cNvPr id="12" name="Text 9"/>
          <p:cNvSpPr txBox="1"/>
          <p:nvPr/>
        </p:nvSpPr>
        <p:spPr>
          <a:xfrm>
            <a:off x="566928" y="163677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3" name="Text 10"/>
          <p:cNvSpPr txBox="1"/>
          <p:nvPr/>
        </p:nvSpPr>
        <p:spPr>
          <a:xfrm>
            <a:off x="1005840" y="1591056"/>
            <a:ext cx="3364992" cy="1042416"/>
          </a:xfrm>
          <a:prstGeom prst="rect">
            <a:avLst/>
          </a:prstGeom>
          <a:noFill/>
          <a:ln/>
        </p:spPr>
        <p:txBody>
          <a:bodyPr wrap="square" lIns="0" tIns="0" rIns="0" bIns="0" rtlCol="0" anchor="t"/>
          <a:lstStyle/>
          <a:p>
            <a:pPr indent="0" marL="0">
              <a:buNone/>
            </a:pPr>
            <a:r>
              <a:rPr lang="en-US" sz="1350" dirty="0">
                <a:solidFill>
                  <a:srgbClr val="262626"/>
                </a:solidFill>
                <a:latin typeface="Arial" pitchFamily="34" charset="0"/>
                <a:ea typeface="Arial" pitchFamily="34" charset="-122"/>
                <a:cs typeface="Arial" pitchFamily="34" charset="-120"/>
              </a:rPr>
              <a:t>What does it mean that righteousness was “accounted” to Abraham (v.6)? How does that differ from earning it?</a:t>
            </a:r>
            <a:endParaRPr lang="en-US" sz="1350" dirty="0"/>
          </a:p>
        </p:txBody>
      </p:sp>
      <p:sp>
        <p:nvSpPr>
          <p:cNvPr id="14" name="Shape 11"/>
          <p:cNvSpPr/>
          <p:nvPr/>
        </p:nvSpPr>
        <p:spPr>
          <a:xfrm>
            <a:off x="566928" y="2724912"/>
            <a:ext cx="347472" cy="347472"/>
          </a:xfrm>
          <a:prstGeom prst="ellipse">
            <a:avLst/>
          </a:prstGeom>
          <a:solidFill>
            <a:srgbClr val="2E5496"/>
          </a:solidFill>
          <a:ln w="12700">
            <a:solidFill>
              <a:srgbClr val="2E5496"/>
            </a:solidFill>
            <a:prstDash val="solid"/>
          </a:ln>
        </p:spPr>
      </p:sp>
      <p:sp>
        <p:nvSpPr>
          <p:cNvPr id="15" name="Text 12"/>
          <p:cNvSpPr txBox="1"/>
          <p:nvPr/>
        </p:nvSpPr>
        <p:spPr>
          <a:xfrm>
            <a:off x="566928" y="272491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6" name="Text 13"/>
          <p:cNvSpPr txBox="1"/>
          <p:nvPr/>
        </p:nvSpPr>
        <p:spPr>
          <a:xfrm>
            <a:off x="1005840" y="2679192"/>
            <a:ext cx="3364992" cy="1042416"/>
          </a:xfrm>
          <a:prstGeom prst="rect">
            <a:avLst/>
          </a:prstGeom>
          <a:noFill/>
          <a:ln/>
        </p:spPr>
        <p:txBody>
          <a:bodyPr wrap="square" lIns="0" tIns="0" rIns="0" bIns="0" rtlCol="0" anchor="t"/>
          <a:lstStyle/>
          <a:p>
            <a:pPr indent="0" marL="0">
              <a:buNone/>
            </a:pPr>
            <a:r>
              <a:rPr lang="en-US" sz="1350" dirty="0">
                <a:solidFill>
                  <a:srgbClr val="262626"/>
                </a:solidFill>
                <a:latin typeface="Arial" pitchFamily="34" charset="0"/>
                <a:ea typeface="Arial" pitchFamily="34" charset="-122"/>
                <a:cs typeface="Arial" pitchFamily="34" charset="-120"/>
              </a:rPr>
              <a:t>In what sense did Christ “become a curse” for us (v.13), and what does “redeemed” (ἐξαγοράζω) add?</a:t>
            </a:r>
            <a:endParaRPr lang="en-US" sz="1350" dirty="0"/>
          </a:p>
        </p:txBody>
      </p:sp>
      <p:sp>
        <p:nvSpPr>
          <p:cNvPr id="17" name="Text 14"/>
          <p:cNvSpPr txBox="1"/>
          <p:nvPr/>
        </p:nvSpPr>
        <p:spPr>
          <a:xfrm>
            <a:off x="4791456" y="1591056"/>
            <a:ext cx="3767328" cy="1042416"/>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Resting in an Imputed Righteousness</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Write down one place you're tempted to “earn” what God has given freely, and replace the striving with a prayer of thanks.</a:t>
            </a:r>
            <a:endParaRPr lang="en-US" sz="1200" dirty="0"/>
          </a:p>
        </p:txBody>
      </p:sp>
      <p:sp>
        <p:nvSpPr>
          <p:cNvPr id="18" name="Text 15"/>
          <p:cNvSpPr txBox="1"/>
          <p:nvPr/>
        </p:nvSpPr>
        <p:spPr>
          <a:xfrm>
            <a:off x="4791456" y="2679192"/>
            <a:ext cx="3767328" cy="1042416"/>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Refusing to Trade Good News for Bad News</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When you share your faith this week, consciously keep the gospel free of add-on requirements.</a:t>
            </a:r>
            <a:endParaRPr lang="en-US" sz="1200" dirty="0"/>
          </a:p>
        </p:txBody>
      </p:sp>
      <p:sp>
        <p:nvSpPr>
          <p:cNvPr id="19" name="Shape 16"/>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0" name="Text 17"/>
          <p:cNvSpPr txBox="1"/>
          <p:nvPr/>
        </p:nvSpPr>
        <p:spPr>
          <a:xfrm>
            <a:off x="621792" y="4023360"/>
            <a:ext cx="7900416" cy="566928"/>
          </a:xfrm>
          <a:prstGeom prst="rect">
            <a:avLst/>
          </a:prstGeom>
          <a:noFill/>
          <a:ln/>
        </p:spPr>
        <p:txBody>
          <a:bodyPr wrap="square" lIns="0" tIns="0" rIns="0" bIns="0" rtlCol="0" anchor="ctr"/>
          <a:lstStyle/>
          <a:p>
            <a:pPr indent="0" marL="0">
              <a:buNone/>
            </a:pPr>
            <a:r>
              <a:rPr lang="en-US" sz="1250" b="1" dirty="0">
                <a:solidFill>
                  <a:srgbClr val="C9D5EE"/>
                </a:solidFill>
                <a:latin typeface="Arial" pitchFamily="34" charset="0"/>
                <a:ea typeface="Arial" pitchFamily="34" charset="-122"/>
                <a:cs typeface="Arial" pitchFamily="34" charset="-120"/>
              </a:rPr>
              <a:t>In one line:  </a:t>
            </a:r>
            <a:pPr indent="0" marL="0">
              <a:buNone/>
            </a:pPr>
            <a:r>
              <a:rPr lang="en-US" sz="1250" dirty="0">
                <a:solidFill>
                  <a:srgbClr val="FFFFFF"/>
                </a:solidFill>
                <a:latin typeface="Arial" pitchFamily="34" charset="0"/>
                <a:ea typeface="Arial" pitchFamily="34" charset="-122"/>
                <a:cs typeface="Arial" pitchFamily="34" charset="-120"/>
              </a:rPr>
              <a:t>The law can only curse; Christ took the curse so the blessing comes by faith.</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lstStyle/>
          <a:p>
            <a:pPr indent="0" marL="0">
              <a:buNone/>
            </a:pPr>
            <a:r>
              <a:rPr lang="en-US" sz="1400" dirty="0">
                <a:solidFill>
                  <a:srgbClr val="C9D5EE"/>
                </a:solidFill>
                <a:latin typeface="Arial" pitchFamily="34" charset="0"/>
                <a:ea typeface="Arial" pitchFamily="34" charset="-122"/>
                <a:cs typeface="Arial" pitchFamily="34" charset="-120"/>
              </a:rPr>
              <a:t>Study 8 of 16 · Galatians 3:15–29</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The Superiority of the Promise to the Law</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t"/>
          <a:lstStyle/>
          <a:p>
            <a:pPr indent="0" marL="0">
              <a:buNone/>
            </a:pPr>
            <a:r>
              <a:rPr lang="en-US" sz="1500" i="1" dirty="0">
                <a:solidFill>
                  <a:srgbClr val="E6ECF7"/>
                </a:solidFill>
                <a:latin typeface="Arial" pitchFamily="34" charset="0"/>
                <a:ea typeface="Arial" pitchFamily="34" charset="-122"/>
                <a:cs typeface="Arial" pitchFamily="34" charset="-120"/>
              </a:rPr>
              <a:t>The law, arriving 430 years later, cannot annul or add to God's unconditional promise to Abraham. It was temporary, needed a mediator, and served to drive sinners to Christ — while the promise makes believers sons and heirs forever.</a:t>
            </a:r>
            <a:endParaRPr lang="en-US" sz="15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The promise and the law: four comparisons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3:15–29 · The commentary's outline</a:t>
            </a:r>
            <a:endParaRPr lang="en-US" sz="1200" dirty="0"/>
          </a:p>
        </p:txBody>
      </p:sp>
      <p:sp>
        <p:nvSpPr>
          <p:cNvPr id="5" name="Shape 2"/>
          <p:cNvSpPr/>
          <p:nvPr/>
        </p:nvSpPr>
        <p:spPr>
          <a:xfrm>
            <a:off x="457200" y="1143000"/>
            <a:ext cx="4018788" cy="1261872"/>
          </a:xfrm>
          <a:prstGeom prst="rect">
            <a:avLst/>
          </a:prstGeom>
          <a:solidFill>
            <a:srgbClr val="F2F6FC"/>
          </a:solidFill>
          <a:ln w="9525">
            <a:solidFill>
              <a:srgbClr val="D5DCEA"/>
            </a:solidFill>
            <a:prstDash val="solid"/>
          </a:ln>
        </p:spPr>
      </p:sp>
      <p:sp>
        <p:nvSpPr>
          <p:cNvPr id="6" name="Shape 3"/>
          <p:cNvSpPr/>
          <p:nvPr/>
        </p:nvSpPr>
        <p:spPr>
          <a:xfrm>
            <a:off x="585216" y="1271016"/>
            <a:ext cx="402336" cy="402336"/>
          </a:xfrm>
          <a:prstGeom prst="ellipse">
            <a:avLst/>
          </a:prstGeom>
          <a:solidFill>
            <a:srgbClr val="2E5496"/>
          </a:solidFill>
          <a:ln w="12700">
            <a:solidFill>
              <a:srgbClr val="2E5496"/>
            </a:solidFill>
            <a:prstDash val="solid"/>
          </a:ln>
        </p:spPr>
      </p:sp>
      <p:sp>
        <p:nvSpPr>
          <p:cNvPr id="7" name="Text 4"/>
          <p:cNvSpPr txBox="1"/>
          <p:nvPr/>
        </p:nvSpPr>
        <p:spPr>
          <a:xfrm>
            <a:off x="585216" y="127101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I</a:t>
            </a:r>
            <a:endParaRPr lang="en-US" sz="1200" dirty="0"/>
          </a:p>
        </p:txBody>
      </p:sp>
      <p:sp>
        <p:nvSpPr>
          <p:cNvPr id="8" name="Text 5"/>
          <p:cNvSpPr txBox="1"/>
          <p:nvPr/>
        </p:nvSpPr>
        <p:spPr>
          <a:xfrm>
            <a:off x="1078992" y="1252728"/>
            <a:ext cx="3305556"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Not part of the promise</a:t>
            </a:r>
            <a:endParaRPr lang="en-US" sz="1200" dirty="0"/>
          </a:p>
        </p:txBody>
      </p:sp>
      <p:sp>
        <p:nvSpPr>
          <p:cNvPr id="9" name="Text 6"/>
          <p:cNvSpPr txBox="1"/>
          <p:nvPr/>
        </p:nvSpPr>
        <p:spPr>
          <a:xfrm>
            <a:off x="585216" y="1764792"/>
            <a:ext cx="3762756" cy="548640"/>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3:15–18 — a confirmed covenant can't be annulled or added to</a:t>
            </a:r>
            <a:endParaRPr lang="en-US" sz="1200" dirty="0"/>
          </a:p>
        </p:txBody>
      </p:sp>
      <p:sp>
        <p:nvSpPr>
          <p:cNvPr id="10" name="Shape 7"/>
          <p:cNvSpPr/>
          <p:nvPr/>
        </p:nvSpPr>
        <p:spPr>
          <a:xfrm>
            <a:off x="4668012" y="1143000"/>
            <a:ext cx="4018788" cy="1261872"/>
          </a:xfrm>
          <a:prstGeom prst="rect">
            <a:avLst/>
          </a:prstGeom>
          <a:solidFill>
            <a:srgbClr val="F2F6FC"/>
          </a:solidFill>
          <a:ln w="9525">
            <a:solidFill>
              <a:srgbClr val="D5DCEA"/>
            </a:solidFill>
            <a:prstDash val="solid"/>
          </a:ln>
        </p:spPr>
      </p:sp>
      <p:sp>
        <p:nvSpPr>
          <p:cNvPr id="11" name="Shape 8"/>
          <p:cNvSpPr/>
          <p:nvPr/>
        </p:nvSpPr>
        <p:spPr>
          <a:xfrm>
            <a:off x="4796028" y="1271016"/>
            <a:ext cx="402336" cy="402336"/>
          </a:xfrm>
          <a:prstGeom prst="ellipse">
            <a:avLst/>
          </a:prstGeom>
          <a:solidFill>
            <a:srgbClr val="6B7280"/>
          </a:solidFill>
          <a:ln w="12700">
            <a:solidFill>
              <a:srgbClr val="6B7280"/>
            </a:solidFill>
            <a:prstDash val="solid"/>
          </a:ln>
        </p:spPr>
      </p:sp>
      <p:sp>
        <p:nvSpPr>
          <p:cNvPr id="12" name="Text 9"/>
          <p:cNvSpPr txBox="1"/>
          <p:nvPr/>
        </p:nvSpPr>
        <p:spPr>
          <a:xfrm>
            <a:off x="4796028" y="127101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II</a:t>
            </a:r>
            <a:endParaRPr lang="en-US" sz="1200" dirty="0"/>
          </a:p>
        </p:txBody>
      </p:sp>
      <p:sp>
        <p:nvSpPr>
          <p:cNvPr id="13" name="Text 10"/>
          <p:cNvSpPr txBox="1"/>
          <p:nvPr/>
        </p:nvSpPr>
        <p:spPr>
          <a:xfrm>
            <a:off x="5289804" y="1252728"/>
            <a:ext cx="3305556"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Not on a par with it</a:t>
            </a:r>
            <a:endParaRPr lang="en-US" sz="1200" dirty="0"/>
          </a:p>
        </p:txBody>
      </p:sp>
      <p:sp>
        <p:nvSpPr>
          <p:cNvPr id="14" name="Text 11"/>
          <p:cNvSpPr txBox="1"/>
          <p:nvPr/>
        </p:nvSpPr>
        <p:spPr>
          <a:xfrm>
            <a:off x="4796028" y="1764792"/>
            <a:ext cx="3762756" cy="548640"/>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3:19–20 — added for transgressions, temporary, needed a mediator</a:t>
            </a:r>
            <a:endParaRPr lang="en-US" sz="1200" dirty="0"/>
          </a:p>
        </p:txBody>
      </p:sp>
      <p:sp>
        <p:nvSpPr>
          <p:cNvPr id="15" name="Shape 12"/>
          <p:cNvSpPr/>
          <p:nvPr/>
        </p:nvSpPr>
        <p:spPr>
          <a:xfrm>
            <a:off x="457200" y="2569464"/>
            <a:ext cx="4018788" cy="1261872"/>
          </a:xfrm>
          <a:prstGeom prst="rect">
            <a:avLst/>
          </a:prstGeom>
          <a:solidFill>
            <a:srgbClr val="F2F6FC"/>
          </a:solidFill>
          <a:ln w="9525">
            <a:solidFill>
              <a:srgbClr val="D5DCEA"/>
            </a:solidFill>
            <a:prstDash val="solid"/>
          </a:ln>
        </p:spPr>
      </p:sp>
      <p:sp>
        <p:nvSpPr>
          <p:cNvPr id="16" name="Shape 13"/>
          <p:cNvSpPr/>
          <p:nvPr/>
        </p:nvSpPr>
        <p:spPr>
          <a:xfrm>
            <a:off x="585216" y="2697480"/>
            <a:ext cx="402336" cy="402336"/>
          </a:xfrm>
          <a:prstGeom prst="ellipse">
            <a:avLst/>
          </a:prstGeom>
          <a:solidFill>
            <a:srgbClr val="7030A0"/>
          </a:solidFill>
          <a:ln w="12700">
            <a:solidFill>
              <a:srgbClr val="7030A0"/>
            </a:solidFill>
            <a:prstDash val="solid"/>
          </a:ln>
        </p:spPr>
      </p:sp>
      <p:sp>
        <p:nvSpPr>
          <p:cNvPr id="17" name="Text 14"/>
          <p:cNvSpPr txBox="1"/>
          <p:nvPr/>
        </p:nvSpPr>
        <p:spPr>
          <a:xfrm>
            <a:off x="585216" y="2697480"/>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III</a:t>
            </a:r>
            <a:endParaRPr lang="en-US" sz="1200" dirty="0"/>
          </a:p>
        </p:txBody>
      </p:sp>
      <p:sp>
        <p:nvSpPr>
          <p:cNvPr id="18" name="Text 15"/>
          <p:cNvSpPr txBox="1"/>
          <p:nvPr/>
        </p:nvSpPr>
        <p:spPr>
          <a:xfrm>
            <a:off x="1078992" y="2679192"/>
            <a:ext cx="3305556"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A purpose in the promise</a:t>
            </a:r>
            <a:endParaRPr lang="en-US" sz="1200" dirty="0"/>
          </a:p>
        </p:txBody>
      </p:sp>
      <p:sp>
        <p:nvSpPr>
          <p:cNvPr id="19" name="Text 16"/>
          <p:cNvSpPr txBox="1"/>
          <p:nvPr/>
        </p:nvSpPr>
        <p:spPr>
          <a:xfrm>
            <a:off x="585216" y="3191256"/>
            <a:ext cx="3762756" cy="548640"/>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3:21–25 — exposed weakness and sin, and drove us to Christ</a:t>
            </a:r>
            <a:endParaRPr lang="en-US" sz="1200" dirty="0"/>
          </a:p>
        </p:txBody>
      </p:sp>
      <p:sp>
        <p:nvSpPr>
          <p:cNvPr id="20" name="Shape 17"/>
          <p:cNvSpPr/>
          <p:nvPr/>
        </p:nvSpPr>
        <p:spPr>
          <a:xfrm>
            <a:off x="4668012" y="2569464"/>
            <a:ext cx="4018788" cy="1261872"/>
          </a:xfrm>
          <a:prstGeom prst="rect">
            <a:avLst/>
          </a:prstGeom>
          <a:solidFill>
            <a:srgbClr val="F2F6FC"/>
          </a:solidFill>
          <a:ln w="9525">
            <a:solidFill>
              <a:srgbClr val="D5DCEA"/>
            </a:solidFill>
            <a:prstDash val="solid"/>
          </a:ln>
        </p:spPr>
      </p:sp>
      <p:sp>
        <p:nvSpPr>
          <p:cNvPr id="21" name="Shape 18"/>
          <p:cNvSpPr/>
          <p:nvPr/>
        </p:nvSpPr>
        <p:spPr>
          <a:xfrm>
            <a:off x="4796028" y="2697480"/>
            <a:ext cx="402336" cy="402336"/>
          </a:xfrm>
          <a:prstGeom prst="ellipse">
            <a:avLst/>
          </a:prstGeom>
          <a:solidFill>
            <a:srgbClr val="375623"/>
          </a:solidFill>
          <a:ln w="12700">
            <a:solidFill>
              <a:srgbClr val="375623"/>
            </a:solidFill>
            <a:prstDash val="solid"/>
          </a:ln>
        </p:spPr>
      </p:sp>
      <p:sp>
        <p:nvSpPr>
          <p:cNvPr id="22" name="Text 19"/>
          <p:cNvSpPr txBox="1"/>
          <p:nvPr/>
        </p:nvSpPr>
        <p:spPr>
          <a:xfrm>
            <a:off x="4796028" y="2697480"/>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IV</a:t>
            </a:r>
            <a:endParaRPr lang="en-US" sz="1200" dirty="0"/>
          </a:p>
        </p:txBody>
      </p:sp>
      <p:sp>
        <p:nvSpPr>
          <p:cNvPr id="23" name="Text 20"/>
          <p:cNvSpPr txBox="1"/>
          <p:nvPr/>
        </p:nvSpPr>
        <p:spPr>
          <a:xfrm>
            <a:off x="5289804" y="2679192"/>
            <a:ext cx="3305556"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Inferior prospects</a:t>
            </a:r>
            <a:endParaRPr lang="en-US" sz="1200" dirty="0"/>
          </a:p>
        </p:txBody>
      </p:sp>
      <p:sp>
        <p:nvSpPr>
          <p:cNvPr id="24" name="Text 21"/>
          <p:cNvSpPr txBox="1"/>
          <p:nvPr/>
        </p:nvSpPr>
        <p:spPr>
          <a:xfrm>
            <a:off x="4796028" y="3191256"/>
            <a:ext cx="3762756" cy="548640"/>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3:26–29 — sons, clothed with Christ, one in Christ, heirs</a:t>
            </a:r>
            <a:endParaRPr lang="en-US" sz="1200" dirty="0"/>
          </a:p>
        </p:txBody>
      </p:sp>
      <p:sp>
        <p:nvSpPr>
          <p:cNvPr id="25" name="Shape 22"/>
          <p:cNvSpPr/>
          <p:nvPr/>
        </p:nvSpPr>
        <p:spPr>
          <a:xfrm>
            <a:off x="457200" y="4069080"/>
            <a:ext cx="8229600" cy="548640"/>
          </a:xfrm>
          <a:prstGeom prst="roundRect">
            <a:avLst>
              <a:gd name="adj" fmla="val 10000"/>
            </a:avLst>
          </a:prstGeom>
          <a:solidFill>
            <a:srgbClr val="1F3864"/>
          </a:solidFill>
          <a:ln w="12700">
            <a:solidFill>
              <a:srgbClr val="1F3864"/>
            </a:solidFill>
            <a:prstDash val="solid"/>
          </a:ln>
        </p:spPr>
      </p:sp>
      <p:sp>
        <p:nvSpPr>
          <p:cNvPr id="26" name="Text 23"/>
          <p:cNvSpPr txBox="1"/>
          <p:nvPr/>
        </p:nvSpPr>
        <p:spPr>
          <a:xfrm>
            <a:off x="621792" y="4069080"/>
            <a:ext cx="7900416" cy="54864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The law was holy and good — it did its job, and now it is gone. Salvation is by grace through faith, plus not one thing.</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A covenant only God could keep</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3:15–16 · Genesis 12 and 15 · Outline I.A–B</a:t>
            </a:r>
            <a:endParaRPr lang="en-US" sz="1200" dirty="0"/>
          </a:p>
        </p:txBody>
      </p:sp>
      <p:sp>
        <p:nvSpPr>
          <p:cNvPr id="5" name="Shape 2"/>
          <p:cNvSpPr/>
          <p:nvPr/>
        </p:nvSpPr>
        <p:spPr>
          <a:xfrm>
            <a:off x="457200" y="1188720"/>
            <a:ext cx="1892808" cy="1965960"/>
          </a:xfrm>
          <a:prstGeom prst="rect">
            <a:avLst/>
          </a:prstGeom>
          <a:solidFill>
            <a:srgbClr val="F2F6FC"/>
          </a:solidFill>
          <a:ln w="9525">
            <a:solidFill>
              <a:srgbClr val="D5DCEA"/>
            </a:solidFill>
            <a:prstDash val="solid"/>
          </a:ln>
        </p:spPr>
      </p:sp>
      <p:sp>
        <p:nvSpPr>
          <p:cNvPr id="6" name="Shape 3"/>
          <p:cNvSpPr/>
          <p:nvPr/>
        </p:nvSpPr>
        <p:spPr>
          <a:xfrm>
            <a:off x="457200" y="1188720"/>
            <a:ext cx="1892808" cy="566928"/>
          </a:xfrm>
          <a:prstGeom prst="rect">
            <a:avLst/>
          </a:prstGeom>
          <a:solidFill>
            <a:srgbClr val="2E5496"/>
          </a:solidFill>
          <a:ln w="12700">
            <a:solidFill>
              <a:srgbClr val="2E5496"/>
            </a:solidFill>
            <a:prstDash val="solid"/>
          </a:ln>
        </p:spPr>
      </p:sp>
      <p:sp>
        <p:nvSpPr>
          <p:cNvPr id="7" name="Text 4"/>
          <p:cNvSpPr txBox="1"/>
          <p:nvPr/>
        </p:nvSpPr>
        <p:spPr>
          <a:xfrm>
            <a:off x="512064" y="1188720"/>
            <a:ext cx="1783080"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God told him</a:t>
            </a:r>
            <a:endParaRPr lang="en-US" sz="1150" dirty="0"/>
          </a:p>
        </p:txBody>
      </p:sp>
      <p:sp>
        <p:nvSpPr>
          <p:cNvPr id="8" name="Text 5"/>
          <p:cNvSpPr txBox="1"/>
          <p:nvPr/>
        </p:nvSpPr>
        <p:spPr>
          <a:xfrm>
            <a:off x="548640" y="1828800"/>
            <a:ext cx="1709928" cy="1014984"/>
          </a:xfrm>
          <a:prstGeom prst="rect">
            <a:avLst/>
          </a:prstGeom>
          <a:noFill/>
          <a:ln/>
        </p:spPr>
        <p:txBody>
          <a:bodyPr wrap="square" lIns="0" tIns="0" rIns="0" bIns="0" rtlCol="0" anchor="t"/>
          <a:lstStyle/>
          <a:p>
            <a:pPr algn="ctr" indent="0" marL="0">
              <a:buNone/>
            </a:pPr>
            <a:r>
              <a:rPr lang="en-US" sz="1200" dirty="0">
                <a:solidFill>
                  <a:srgbClr val="262626"/>
                </a:solidFill>
                <a:latin typeface="Arial" pitchFamily="34" charset="0"/>
                <a:ea typeface="Arial" pitchFamily="34" charset="-122"/>
                <a:cs typeface="Arial" pitchFamily="34" charset="-120"/>
              </a:rPr>
              <a:t>“I will bless you…” — no requirements placed on Abraham</a:t>
            </a:r>
            <a:endParaRPr lang="en-US" sz="1200" dirty="0"/>
          </a:p>
        </p:txBody>
      </p:sp>
      <p:sp>
        <p:nvSpPr>
          <p:cNvPr id="9" name="Text 6"/>
          <p:cNvSpPr txBox="1"/>
          <p:nvPr/>
        </p:nvSpPr>
        <p:spPr>
          <a:xfrm>
            <a:off x="530352" y="2825496"/>
            <a:ext cx="1746504"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Gen 12:3</a:t>
            </a:r>
            <a:endParaRPr lang="en-US" sz="950" dirty="0"/>
          </a:p>
        </p:txBody>
      </p:sp>
      <p:sp>
        <p:nvSpPr>
          <p:cNvPr id="10" name="Shape 7"/>
          <p:cNvSpPr/>
          <p:nvPr/>
        </p:nvSpPr>
        <p:spPr>
          <a:xfrm>
            <a:off x="2359152" y="2052828"/>
            <a:ext cx="201168" cy="237744"/>
          </a:xfrm>
          <a:prstGeom prst="rightArrow">
            <a:avLst/>
          </a:prstGeom>
          <a:solidFill>
            <a:srgbClr val="6B7280"/>
          </a:solidFill>
          <a:ln w="12700">
            <a:solidFill>
              <a:srgbClr val="6B7280"/>
            </a:solidFill>
            <a:prstDash val="solid"/>
          </a:ln>
        </p:spPr>
      </p:sp>
      <p:sp>
        <p:nvSpPr>
          <p:cNvPr id="11" name="Shape 8"/>
          <p:cNvSpPr/>
          <p:nvPr/>
        </p:nvSpPr>
        <p:spPr>
          <a:xfrm>
            <a:off x="2569464" y="1188720"/>
            <a:ext cx="1892808" cy="1965960"/>
          </a:xfrm>
          <a:prstGeom prst="rect">
            <a:avLst/>
          </a:prstGeom>
          <a:solidFill>
            <a:srgbClr val="F2F6FC"/>
          </a:solidFill>
          <a:ln w="9525">
            <a:solidFill>
              <a:srgbClr val="D5DCEA"/>
            </a:solidFill>
            <a:prstDash val="solid"/>
          </a:ln>
        </p:spPr>
      </p:sp>
      <p:sp>
        <p:nvSpPr>
          <p:cNvPr id="12" name="Shape 9"/>
          <p:cNvSpPr/>
          <p:nvPr/>
        </p:nvSpPr>
        <p:spPr>
          <a:xfrm>
            <a:off x="2569464" y="1188720"/>
            <a:ext cx="1892808" cy="566928"/>
          </a:xfrm>
          <a:prstGeom prst="rect">
            <a:avLst/>
          </a:prstGeom>
          <a:solidFill>
            <a:srgbClr val="6B7280"/>
          </a:solidFill>
          <a:ln w="12700">
            <a:solidFill>
              <a:srgbClr val="6B7280"/>
            </a:solidFill>
            <a:prstDash val="solid"/>
          </a:ln>
        </p:spPr>
      </p:sp>
      <p:sp>
        <p:nvSpPr>
          <p:cNvPr id="13" name="Text 10"/>
          <p:cNvSpPr txBox="1"/>
          <p:nvPr/>
        </p:nvSpPr>
        <p:spPr>
          <a:xfrm>
            <a:off x="2624328" y="1188720"/>
            <a:ext cx="1783080"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Abraham asked</a:t>
            </a:r>
            <a:endParaRPr lang="en-US" sz="1150" dirty="0"/>
          </a:p>
        </p:txBody>
      </p:sp>
      <p:sp>
        <p:nvSpPr>
          <p:cNvPr id="14" name="Text 11"/>
          <p:cNvSpPr txBox="1"/>
          <p:nvPr/>
        </p:nvSpPr>
        <p:spPr>
          <a:xfrm>
            <a:off x="2660904" y="1828800"/>
            <a:ext cx="1709928" cy="1014984"/>
          </a:xfrm>
          <a:prstGeom prst="rect">
            <a:avLst/>
          </a:prstGeom>
          <a:noFill/>
          <a:ln/>
        </p:spPr>
        <p:txBody>
          <a:bodyPr wrap="square" lIns="0" tIns="0" rIns="0" bIns="0" rtlCol="0" anchor="t"/>
          <a:lstStyle/>
          <a:p>
            <a:pPr algn="ctr" indent="0" marL="0">
              <a:buNone/>
            </a:pPr>
            <a:r>
              <a:rPr lang="en-US" sz="1200" dirty="0">
                <a:solidFill>
                  <a:srgbClr val="262626"/>
                </a:solidFill>
                <a:latin typeface="Arial" pitchFamily="34" charset="0"/>
                <a:ea typeface="Arial" pitchFamily="34" charset="-122"/>
                <a:cs typeface="Arial" pitchFamily="34" charset="-120"/>
              </a:rPr>
              <a:t>“How shall I know?” — animals laid out as for a covenant</a:t>
            </a:r>
            <a:endParaRPr lang="en-US" sz="1200" dirty="0"/>
          </a:p>
        </p:txBody>
      </p:sp>
      <p:sp>
        <p:nvSpPr>
          <p:cNvPr id="15" name="Text 12"/>
          <p:cNvSpPr txBox="1"/>
          <p:nvPr/>
        </p:nvSpPr>
        <p:spPr>
          <a:xfrm>
            <a:off x="2642616" y="2825496"/>
            <a:ext cx="1746504"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Gen 15:8–10</a:t>
            </a:r>
            <a:endParaRPr lang="en-US" sz="950" dirty="0"/>
          </a:p>
        </p:txBody>
      </p:sp>
      <p:sp>
        <p:nvSpPr>
          <p:cNvPr id="16" name="Shape 13"/>
          <p:cNvSpPr/>
          <p:nvPr/>
        </p:nvSpPr>
        <p:spPr>
          <a:xfrm>
            <a:off x="4471416" y="2052828"/>
            <a:ext cx="201168" cy="237744"/>
          </a:xfrm>
          <a:prstGeom prst="rightArrow">
            <a:avLst/>
          </a:prstGeom>
          <a:solidFill>
            <a:srgbClr val="6B7280"/>
          </a:solidFill>
          <a:ln w="12700">
            <a:solidFill>
              <a:srgbClr val="6B7280"/>
            </a:solidFill>
            <a:prstDash val="solid"/>
          </a:ln>
        </p:spPr>
      </p:sp>
      <p:sp>
        <p:nvSpPr>
          <p:cNvPr id="17" name="Shape 14"/>
          <p:cNvSpPr/>
          <p:nvPr/>
        </p:nvSpPr>
        <p:spPr>
          <a:xfrm>
            <a:off x="4681728" y="1188720"/>
            <a:ext cx="1892808" cy="1965960"/>
          </a:xfrm>
          <a:prstGeom prst="rect">
            <a:avLst/>
          </a:prstGeom>
          <a:solidFill>
            <a:srgbClr val="F2F6FC"/>
          </a:solidFill>
          <a:ln w="9525">
            <a:solidFill>
              <a:srgbClr val="D5DCEA"/>
            </a:solidFill>
            <a:prstDash val="solid"/>
          </a:ln>
        </p:spPr>
      </p:sp>
      <p:sp>
        <p:nvSpPr>
          <p:cNvPr id="18" name="Shape 15"/>
          <p:cNvSpPr/>
          <p:nvPr/>
        </p:nvSpPr>
        <p:spPr>
          <a:xfrm>
            <a:off x="4681728" y="1188720"/>
            <a:ext cx="1892808" cy="566928"/>
          </a:xfrm>
          <a:prstGeom prst="rect">
            <a:avLst/>
          </a:prstGeom>
          <a:solidFill>
            <a:srgbClr val="6B7280"/>
          </a:solidFill>
          <a:ln w="12700">
            <a:solidFill>
              <a:srgbClr val="6B7280"/>
            </a:solidFill>
            <a:prstDash val="solid"/>
          </a:ln>
        </p:spPr>
      </p:sp>
      <p:sp>
        <p:nvSpPr>
          <p:cNvPr id="19" name="Text 16"/>
          <p:cNvSpPr txBox="1"/>
          <p:nvPr/>
        </p:nvSpPr>
        <p:spPr>
          <a:xfrm>
            <a:off x="4736592" y="1188720"/>
            <a:ext cx="1783080"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Abraham slept</a:t>
            </a:r>
            <a:endParaRPr lang="en-US" sz="1150" dirty="0"/>
          </a:p>
        </p:txBody>
      </p:sp>
      <p:sp>
        <p:nvSpPr>
          <p:cNvPr id="20" name="Text 17"/>
          <p:cNvSpPr txBox="1"/>
          <p:nvPr/>
        </p:nvSpPr>
        <p:spPr>
          <a:xfrm>
            <a:off x="4773168" y="1828800"/>
            <a:ext cx="1709928" cy="1014984"/>
          </a:xfrm>
          <a:prstGeom prst="rect">
            <a:avLst/>
          </a:prstGeom>
          <a:noFill/>
          <a:ln/>
        </p:spPr>
        <p:txBody>
          <a:bodyPr wrap="square" lIns="0" tIns="0" rIns="0" bIns="0" rtlCol="0" anchor="t"/>
          <a:lstStyle/>
          <a:p>
            <a:pPr algn="ctr" indent="0" marL="0">
              <a:buNone/>
            </a:pPr>
            <a:r>
              <a:rPr lang="en-US" sz="1200" dirty="0">
                <a:solidFill>
                  <a:srgbClr val="262626"/>
                </a:solidFill>
                <a:latin typeface="Arial" pitchFamily="34" charset="0"/>
                <a:ea typeface="Arial" pitchFamily="34" charset="-122"/>
                <a:cs typeface="Arial" pitchFamily="34" charset="-120"/>
              </a:rPr>
              <a:t>A deep sleep fell on him — he could not be a party</a:t>
            </a:r>
            <a:endParaRPr lang="en-US" sz="1200" dirty="0"/>
          </a:p>
        </p:txBody>
      </p:sp>
      <p:sp>
        <p:nvSpPr>
          <p:cNvPr id="21" name="Text 18"/>
          <p:cNvSpPr txBox="1"/>
          <p:nvPr/>
        </p:nvSpPr>
        <p:spPr>
          <a:xfrm>
            <a:off x="4754880" y="2825496"/>
            <a:ext cx="1746504"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Gen 15:12</a:t>
            </a:r>
            <a:endParaRPr lang="en-US" sz="950" dirty="0"/>
          </a:p>
        </p:txBody>
      </p:sp>
      <p:sp>
        <p:nvSpPr>
          <p:cNvPr id="22" name="Shape 19"/>
          <p:cNvSpPr/>
          <p:nvPr/>
        </p:nvSpPr>
        <p:spPr>
          <a:xfrm>
            <a:off x="6583680" y="2052828"/>
            <a:ext cx="201168" cy="237744"/>
          </a:xfrm>
          <a:prstGeom prst="rightArrow">
            <a:avLst/>
          </a:prstGeom>
          <a:solidFill>
            <a:srgbClr val="6B7280"/>
          </a:solidFill>
          <a:ln w="12700">
            <a:solidFill>
              <a:srgbClr val="6B7280"/>
            </a:solidFill>
            <a:prstDash val="solid"/>
          </a:ln>
        </p:spPr>
      </p:sp>
      <p:sp>
        <p:nvSpPr>
          <p:cNvPr id="23" name="Shape 20"/>
          <p:cNvSpPr/>
          <p:nvPr/>
        </p:nvSpPr>
        <p:spPr>
          <a:xfrm>
            <a:off x="6793992" y="1188720"/>
            <a:ext cx="1892808" cy="1965960"/>
          </a:xfrm>
          <a:prstGeom prst="rect">
            <a:avLst/>
          </a:prstGeom>
          <a:solidFill>
            <a:srgbClr val="F2F6FC"/>
          </a:solidFill>
          <a:ln w="9525">
            <a:solidFill>
              <a:srgbClr val="D5DCEA"/>
            </a:solidFill>
            <a:prstDash val="solid"/>
          </a:ln>
        </p:spPr>
      </p:sp>
      <p:sp>
        <p:nvSpPr>
          <p:cNvPr id="24" name="Shape 21"/>
          <p:cNvSpPr/>
          <p:nvPr/>
        </p:nvSpPr>
        <p:spPr>
          <a:xfrm>
            <a:off x="6793992" y="1188720"/>
            <a:ext cx="1892808" cy="566928"/>
          </a:xfrm>
          <a:prstGeom prst="rect">
            <a:avLst/>
          </a:prstGeom>
          <a:solidFill>
            <a:srgbClr val="375623"/>
          </a:solidFill>
          <a:ln w="12700">
            <a:solidFill>
              <a:srgbClr val="375623"/>
            </a:solidFill>
            <a:prstDash val="solid"/>
          </a:ln>
        </p:spPr>
      </p:sp>
      <p:sp>
        <p:nvSpPr>
          <p:cNvPr id="25" name="Text 22"/>
          <p:cNvSpPr txBox="1"/>
          <p:nvPr/>
        </p:nvSpPr>
        <p:spPr>
          <a:xfrm>
            <a:off x="6848856" y="1188720"/>
            <a:ext cx="1783080"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God alone passed</a:t>
            </a:r>
            <a:endParaRPr lang="en-US" sz="1150" dirty="0"/>
          </a:p>
        </p:txBody>
      </p:sp>
      <p:sp>
        <p:nvSpPr>
          <p:cNvPr id="26" name="Text 23"/>
          <p:cNvSpPr txBox="1"/>
          <p:nvPr/>
        </p:nvSpPr>
        <p:spPr>
          <a:xfrm>
            <a:off x="6885432" y="1828800"/>
            <a:ext cx="1709928" cy="1014984"/>
          </a:xfrm>
          <a:prstGeom prst="rect">
            <a:avLst/>
          </a:prstGeom>
          <a:noFill/>
          <a:ln/>
        </p:spPr>
        <p:txBody>
          <a:bodyPr wrap="square" lIns="0" tIns="0" rIns="0" bIns="0" rtlCol="0" anchor="t"/>
          <a:lstStyle/>
          <a:p>
            <a:pPr algn="ctr" indent="0" marL="0">
              <a:buNone/>
            </a:pPr>
            <a:r>
              <a:rPr lang="en-US" sz="1200" dirty="0">
                <a:solidFill>
                  <a:srgbClr val="262626"/>
                </a:solidFill>
                <a:latin typeface="Arial" pitchFamily="34" charset="0"/>
                <a:ea typeface="Arial" pitchFamily="34" charset="-122"/>
                <a:cs typeface="Arial" pitchFamily="34" charset="-120"/>
              </a:rPr>
              <a:t>A smoking furnace and a burning lamp passed between the pieces</a:t>
            </a:r>
            <a:endParaRPr lang="en-US" sz="1200" dirty="0"/>
          </a:p>
        </p:txBody>
      </p:sp>
      <p:sp>
        <p:nvSpPr>
          <p:cNvPr id="27" name="Text 24"/>
          <p:cNvSpPr txBox="1"/>
          <p:nvPr/>
        </p:nvSpPr>
        <p:spPr>
          <a:xfrm>
            <a:off x="6867144" y="2825496"/>
            <a:ext cx="1746504"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Gen 15:17</a:t>
            </a:r>
            <a:endParaRPr lang="en-US" sz="950" dirty="0"/>
          </a:p>
        </p:txBody>
      </p:sp>
      <p:sp>
        <p:nvSpPr>
          <p:cNvPr id="28" name="Shape 25"/>
          <p:cNvSpPr/>
          <p:nvPr/>
        </p:nvSpPr>
        <p:spPr>
          <a:xfrm>
            <a:off x="457200" y="3291840"/>
            <a:ext cx="4023360" cy="566928"/>
          </a:xfrm>
          <a:prstGeom prst="rect">
            <a:avLst/>
          </a:prstGeom>
          <a:solidFill>
            <a:srgbClr val="2E5496"/>
          </a:solidFill>
          <a:ln w="12700">
            <a:solidFill>
              <a:srgbClr val="2E5496"/>
            </a:solidFill>
            <a:prstDash val="solid"/>
          </a:ln>
        </p:spPr>
      </p:sp>
      <p:sp>
        <p:nvSpPr>
          <p:cNvPr id="29" name="Text 26"/>
          <p:cNvSpPr txBox="1"/>
          <p:nvPr/>
        </p:nvSpPr>
        <p:spPr>
          <a:xfrm>
            <a:off x="548640" y="3337560"/>
            <a:ext cx="3840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A covenant — v.15</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διαθήκη</a:t>
            </a:r>
            <a:pPr indent="0" marL="0">
              <a:buNone/>
            </a:pPr>
            <a:r>
              <a:rPr lang="en-US" sz="850" dirty="0">
                <a:solidFill>
                  <a:srgbClr val="DCE4F2"/>
                </a:solidFill>
                <a:latin typeface="Arial" pitchFamily="34" charset="0"/>
                <a:ea typeface="Arial" pitchFamily="34" charset="-122"/>
                <a:cs typeface="Arial" pitchFamily="34" charset="-120"/>
              </a:rPr>
              <a:t>  a will; once confirmed, unalterable</a:t>
            </a:r>
            <a:endParaRPr lang="en-US" sz="1200" dirty="0"/>
          </a:p>
        </p:txBody>
      </p:sp>
      <p:sp>
        <p:nvSpPr>
          <p:cNvPr id="30" name="Shape 27"/>
          <p:cNvSpPr/>
          <p:nvPr/>
        </p:nvSpPr>
        <p:spPr>
          <a:xfrm>
            <a:off x="457200" y="3858768"/>
            <a:ext cx="4023360" cy="758952"/>
          </a:xfrm>
          <a:prstGeom prst="rect">
            <a:avLst/>
          </a:prstGeom>
          <a:solidFill>
            <a:srgbClr val="F2F6FC"/>
          </a:solidFill>
          <a:ln w="9525">
            <a:solidFill>
              <a:srgbClr val="D5DCEA"/>
            </a:solidFill>
            <a:prstDash val="solid"/>
          </a:ln>
        </p:spPr>
      </p:sp>
      <p:sp>
        <p:nvSpPr>
          <p:cNvPr id="31" name="Text 28"/>
          <p:cNvSpPr txBox="1"/>
          <p:nvPr/>
        </p:nvSpPr>
        <p:spPr>
          <a:xfrm>
            <a:off x="548640" y="3931920"/>
            <a:ext cx="3840480" cy="630936"/>
          </a:xfrm>
          <a:prstGeom prst="rect">
            <a:avLst/>
          </a:prstGeom>
          <a:noFill/>
          <a:ln/>
        </p:spPr>
        <p:txBody>
          <a:bodyPr wrap="square" lIns="0" tIns="0" rIns="0" bIns="0" rtlCol="0" anchor="t"/>
          <a:lstStyle/>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No one annuls or adds to it but its makers</a:t>
            </a:r>
            <a:endParaRPr lang="en-US" sz="1100" dirty="0"/>
          </a:p>
        </p:txBody>
      </p:sp>
      <p:sp>
        <p:nvSpPr>
          <p:cNvPr id="32" name="Shape 29"/>
          <p:cNvSpPr/>
          <p:nvPr/>
        </p:nvSpPr>
        <p:spPr>
          <a:xfrm>
            <a:off x="4663440" y="3291840"/>
            <a:ext cx="4023360" cy="566928"/>
          </a:xfrm>
          <a:prstGeom prst="rect">
            <a:avLst/>
          </a:prstGeom>
          <a:solidFill>
            <a:srgbClr val="375623"/>
          </a:solidFill>
          <a:ln w="12700">
            <a:solidFill>
              <a:srgbClr val="375623"/>
            </a:solidFill>
            <a:prstDash val="solid"/>
          </a:ln>
        </p:spPr>
      </p:sp>
      <p:sp>
        <p:nvSpPr>
          <p:cNvPr id="33" name="Text 30"/>
          <p:cNvSpPr txBox="1"/>
          <p:nvPr/>
        </p:nvSpPr>
        <p:spPr>
          <a:xfrm>
            <a:off x="4754880" y="3337560"/>
            <a:ext cx="3840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 Seed — v.16</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σπέρμα</a:t>
            </a:r>
            <a:pPr indent="0" marL="0">
              <a:buNone/>
            </a:pPr>
            <a:r>
              <a:rPr lang="en-US" sz="850" dirty="0">
                <a:solidFill>
                  <a:srgbClr val="DCE4F2"/>
                </a:solidFill>
                <a:latin typeface="Arial" pitchFamily="34" charset="0"/>
                <a:ea typeface="Arial" pitchFamily="34" charset="-122"/>
                <a:cs typeface="Arial" pitchFamily="34" charset="-120"/>
              </a:rPr>
              <a:t>  singular</a:t>
            </a:r>
            <a:endParaRPr lang="en-US" sz="1200" dirty="0"/>
          </a:p>
        </p:txBody>
      </p:sp>
      <p:sp>
        <p:nvSpPr>
          <p:cNvPr id="34" name="Shape 31"/>
          <p:cNvSpPr/>
          <p:nvPr/>
        </p:nvSpPr>
        <p:spPr>
          <a:xfrm>
            <a:off x="4663440" y="3858768"/>
            <a:ext cx="4023360" cy="758952"/>
          </a:xfrm>
          <a:prstGeom prst="rect">
            <a:avLst/>
          </a:prstGeom>
          <a:solidFill>
            <a:srgbClr val="F2F6FC"/>
          </a:solidFill>
          <a:ln w="9525">
            <a:solidFill>
              <a:srgbClr val="D5DCEA"/>
            </a:solidFill>
            <a:prstDash val="solid"/>
          </a:ln>
        </p:spPr>
      </p:sp>
      <p:sp>
        <p:nvSpPr>
          <p:cNvPr id="35" name="Text 32"/>
          <p:cNvSpPr txBox="1"/>
          <p:nvPr/>
        </p:nvSpPr>
        <p:spPr>
          <a:xfrm>
            <a:off x="4754880" y="3931920"/>
            <a:ext cx="3840480" cy="630936"/>
          </a:xfrm>
          <a:prstGeom prst="rect">
            <a:avLst/>
          </a:prstGeom>
          <a:noFill/>
          <a:ln/>
        </p:spPr>
        <p:txBody>
          <a:bodyPr wrap="square" lIns="0" tIns="0" rIns="0" bIns="0" rtlCol="0" anchor="t"/>
          <a:lstStyle/>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“and to your Seed,” who is Christ</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Three unconditional promises to Abraham</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3:16–18 · Outline I.B–C</a:t>
            </a:r>
            <a:endParaRPr lang="en-US" sz="1200" dirty="0"/>
          </a:p>
        </p:txBody>
      </p:sp>
      <p:sp>
        <p:nvSpPr>
          <p:cNvPr id="5" name="Shape 2"/>
          <p:cNvSpPr/>
          <p:nvPr/>
        </p:nvSpPr>
        <p:spPr>
          <a:xfrm>
            <a:off x="457200" y="1170432"/>
            <a:ext cx="8229600" cy="566928"/>
          </a:xfrm>
          <a:prstGeom prst="rect">
            <a:avLst/>
          </a:prstGeom>
          <a:solidFill>
            <a:srgbClr val="F2F6FC"/>
          </a:solidFill>
          <a:ln w="9525">
            <a:solidFill>
              <a:srgbClr val="D5DCEA"/>
            </a:solidFill>
            <a:prstDash val="solid"/>
          </a:ln>
        </p:spPr>
      </p:sp>
      <p:sp>
        <p:nvSpPr>
          <p:cNvPr id="6" name="Shape 3"/>
          <p:cNvSpPr/>
          <p:nvPr/>
        </p:nvSpPr>
        <p:spPr>
          <a:xfrm>
            <a:off x="585216" y="1234440"/>
            <a:ext cx="438912" cy="438912"/>
          </a:xfrm>
          <a:prstGeom prst="ellipse">
            <a:avLst/>
          </a:prstGeom>
          <a:solidFill>
            <a:srgbClr val="2E5496"/>
          </a:solidFill>
          <a:ln w="12700">
            <a:solidFill>
              <a:srgbClr val="2E5496"/>
            </a:solidFill>
            <a:prstDash val="solid"/>
          </a:ln>
        </p:spPr>
      </p:sp>
      <p:sp>
        <p:nvSpPr>
          <p:cNvPr id="7" name="Text 4"/>
          <p:cNvSpPr txBox="1"/>
          <p:nvPr/>
        </p:nvSpPr>
        <p:spPr>
          <a:xfrm>
            <a:off x="585216" y="1234440"/>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5"/>
          <p:cNvSpPr txBox="1"/>
          <p:nvPr/>
        </p:nvSpPr>
        <p:spPr>
          <a:xfrm>
            <a:off x="1188720" y="1170432"/>
            <a:ext cx="5486400" cy="566928"/>
          </a:xfrm>
          <a:prstGeom prst="rect">
            <a:avLst/>
          </a:prstGeom>
          <a:noFill/>
          <a:ln/>
        </p:spPr>
        <p:txBody>
          <a:bodyPr wrap="square" lIns="0" tIns="0" rIns="0" bIns="0" rtlCol="0" anchor="ctr"/>
          <a:lstStyle/>
          <a:p>
            <a:pPr indent="0" marL="0">
              <a:buNone/>
            </a:pPr>
            <a:r>
              <a:rPr lang="en-US" sz="1250" b="1" dirty="0">
                <a:solidFill>
                  <a:srgbClr val="1F3864"/>
                </a:solidFill>
                <a:latin typeface="Arial" pitchFamily="34" charset="0"/>
                <a:ea typeface="Arial" pitchFamily="34" charset="-122"/>
                <a:cs typeface="Arial" pitchFamily="34" charset="-120"/>
              </a:rPr>
              <a:t>Land</a:t>
            </a:r>
            <a:endParaRPr lang="en-US" sz="1200" dirty="0"/>
          </a:p>
          <a:p>
            <a:pPr indent="0" marL="0">
              <a:buNone/>
            </a:pPr>
            <a:r>
              <a:rPr lang="en-US" sz="1200" dirty="0">
                <a:solidFill>
                  <a:srgbClr val="262626"/>
                </a:solidFill>
                <a:latin typeface="Arial" pitchFamily="34" charset="0"/>
                <a:ea typeface="Arial" pitchFamily="34" charset="-122"/>
                <a:cs typeface="Arial" pitchFamily="34" charset="-120"/>
              </a:rPr>
              <a:t>Expanded in the Palestinian Covenant</a:t>
            </a:r>
            <a:endParaRPr lang="en-US" sz="1200" dirty="0"/>
          </a:p>
        </p:txBody>
      </p:sp>
      <p:sp>
        <p:nvSpPr>
          <p:cNvPr id="9" name="Text 6"/>
          <p:cNvSpPr txBox="1"/>
          <p:nvPr/>
        </p:nvSpPr>
        <p:spPr>
          <a:xfrm>
            <a:off x="6675120" y="1170432"/>
            <a:ext cx="1901952"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Deut 29–30</a:t>
            </a:r>
            <a:endParaRPr lang="en-US" sz="1200" dirty="0"/>
          </a:p>
        </p:txBody>
      </p:sp>
      <p:sp>
        <p:nvSpPr>
          <p:cNvPr id="10" name="Shape 7"/>
          <p:cNvSpPr/>
          <p:nvPr/>
        </p:nvSpPr>
        <p:spPr>
          <a:xfrm>
            <a:off x="457200" y="1810512"/>
            <a:ext cx="8229600" cy="566928"/>
          </a:xfrm>
          <a:prstGeom prst="rect">
            <a:avLst/>
          </a:prstGeom>
          <a:solidFill>
            <a:srgbClr val="FFFFFF"/>
          </a:solidFill>
          <a:ln w="9525">
            <a:solidFill>
              <a:srgbClr val="D5DCEA"/>
            </a:solidFill>
            <a:prstDash val="solid"/>
          </a:ln>
        </p:spPr>
      </p:sp>
      <p:sp>
        <p:nvSpPr>
          <p:cNvPr id="11" name="Shape 8"/>
          <p:cNvSpPr/>
          <p:nvPr/>
        </p:nvSpPr>
        <p:spPr>
          <a:xfrm>
            <a:off x="585216" y="1874520"/>
            <a:ext cx="438912" cy="438912"/>
          </a:xfrm>
          <a:prstGeom prst="ellipse">
            <a:avLst/>
          </a:prstGeom>
          <a:solidFill>
            <a:srgbClr val="2E5496"/>
          </a:solidFill>
          <a:ln w="12700">
            <a:solidFill>
              <a:srgbClr val="2E5496"/>
            </a:solidFill>
            <a:prstDash val="solid"/>
          </a:ln>
        </p:spPr>
      </p:sp>
      <p:sp>
        <p:nvSpPr>
          <p:cNvPr id="12" name="Text 9"/>
          <p:cNvSpPr txBox="1"/>
          <p:nvPr/>
        </p:nvSpPr>
        <p:spPr>
          <a:xfrm>
            <a:off x="585216" y="1874520"/>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3" name="Text 10"/>
          <p:cNvSpPr txBox="1"/>
          <p:nvPr/>
        </p:nvSpPr>
        <p:spPr>
          <a:xfrm>
            <a:off x="1188720" y="1810512"/>
            <a:ext cx="5486400" cy="566928"/>
          </a:xfrm>
          <a:prstGeom prst="rect">
            <a:avLst/>
          </a:prstGeom>
          <a:noFill/>
          <a:ln/>
        </p:spPr>
        <p:txBody>
          <a:bodyPr wrap="square" lIns="0" tIns="0" rIns="0" bIns="0" rtlCol="0" anchor="ctr"/>
          <a:lstStyle/>
          <a:p>
            <a:pPr indent="0" marL="0">
              <a:buNone/>
            </a:pPr>
            <a:r>
              <a:rPr lang="en-US" sz="1250" b="1" dirty="0">
                <a:solidFill>
                  <a:srgbClr val="1F3864"/>
                </a:solidFill>
                <a:latin typeface="Arial" pitchFamily="34" charset="0"/>
                <a:ea typeface="Arial" pitchFamily="34" charset="-122"/>
                <a:cs typeface="Arial" pitchFamily="34" charset="-120"/>
              </a:rPr>
              <a:t>Nation</a:t>
            </a:r>
            <a:endParaRPr lang="en-US" sz="1200" dirty="0"/>
          </a:p>
          <a:p>
            <a:pPr indent="0" marL="0">
              <a:buNone/>
            </a:pPr>
            <a:r>
              <a:rPr lang="en-US" sz="1200" dirty="0">
                <a:solidFill>
                  <a:srgbClr val="262626"/>
                </a:solidFill>
                <a:latin typeface="Arial" pitchFamily="34" charset="0"/>
                <a:ea typeface="Arial" pitchFamily="34" charset="-122"/>
                <a:cs typeface="Arial" pitchFamily="34" charset="-120"/>
              </a:rPr>
              <a:t>Expanded in the Davidic Covenant</a:t>
            </a:r>
            <a:endParaRPr lang="en-US" sz="1200" dirty="0"/>
          </a:p>
        </p:txBody>
      </p:sp>
      <p:sp>
        <p:nvSpPr>
          <p:cNvPr id="14" name="Text 11"/>
          <p:cNvSpPr txBox="1"/>
          <p:nvPr/>
        </p:nvSpPr>
        <p:spPr>
          <a:xfrm>
            <a:off x="6675120" y="1810512"/>
            <a:ext cx="1901952"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2 Samuel 7</a:t>
            </a:r>
            <a:endParaRPr lang="en-US" sz="1200" dirty="0"/>
          </a:p>
        </p:txBody>
      </p:sp>
      <p:sp>
        <p:nvSpPr>
          <p:cNvPr id="15" name="Shape 12"/>
          <p:cNvSpPr/>
          <p:nvPr/>
        </p:nvSpPr>
        <p:spPr>
          <a:xfrm>
            <a:off x="457200" y="2450592"/>
            <a:ext cx="8229600" cy="566928"/>
          </a:xfrm>
          <a:prstGeom prst="rect">
            <a:avLst/>
          </a:prstGeom>
          <a:solidFill>
            <a:srgbClr val="F2F6FC"/>
          </a:solidFill>
          <a:ln w="9525">
            <a:solidFill>
              <a:srgbClr val="D5DCEA"/>
            </a:solidFill>
            <a:prstDash val="solid"/>
          </a:ln>
        </p:spPr>
      </p:sp>
      <p:sp>
        <p:nvSpPr>
          <p:cNvPr id="16" name="Shape 13"/>
          <p:cNvSpPr/>
          <p:nvPr/>
        </p:nvSpPr>
        <p:spPr>
          <a:xfrm>
            <a:off x="585216" y="2514600"/>
            <a:ext cx="438912" cy="438912"/>
          </a:xfrm>
          <a:prstGeom prst="ellipse">
            <a:avLst/>
          </a:prstGeom>
          <a:solidFill>
            <a:srgbClr val="375623"/>
          </a:solidFill>
          <a:ln w="12700">
            <a:solidFill>
              <a:srgbClr val="375623"/>
            </a:solidFill>
            <a:prstDash val="solid"/>
          </a:ln>
        </p:spPr>
      </p:sp>
      <p:sp>
        <p:nvSpPr>
          <p:cNvPr id="17" name="Text 14"/>
          <p:cNvSpPr txBox="1"/>
          <p:nvPr/>
        </p:nvSpPr>
        <p:spPr>
          <a:xfrm>
            <a:off x="585216" y="2514600"/>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8" name="Text 15"/>
          <p:cNvSpPr txBox="1"/>
          <p:nvPr/>
        </p:nvSpPr>
        <p:spPr>
          <a:xfrm>
            <a:off x="1188720" y="2450592"/>
            <a:ext cx="5486400" cy="566928"/>
          </a:xfrm>
          <a:prstGeom prst="rect">
            <a:avLst/>
          </a:prstGeom>
          <a:noFill/>
          <a:ln/>
        </p:spPr>
        <p:txBody>
          <a:bodyPr wrap="square" lIns="0" tIns="0" rIns="0" bIns="0" rtlCol="0" anchor="ctr"/>
          <a:lstStyle/>
          <a:p>
            <a:pPr indent="0" marL="0">
              <a:buNone/>
            </a:pPr>
            <a:r>
              <a:rPr lang="en-US" sz="1250" b="1" dirty="0">
                <a:solidFill>
                  <a:srgbClr val="1F3864"/>
                </a:solidFill>
                <a:latin typeface="Arial" pitchFamily="34" charset="0"/>
                <a:ea typeface="Arial" pitchFamily="34" charset="-122"/>
                <a:cs typeface="Arial" pitchFamily="34" charset="-120"/>
              </a:rPr>
              <a:t>Blessing</a:t>
            </a:r>
            <a:endParaRPr lang="en-US" sz="1200" dirty="0"/>
          </a:p>
          <a:p>
            <a:pPr indent="0" marL="0">
              <a:buNone/>
            </a:pPr>
            <a:r>
              <a:rPr lang="en-US" sz="1200" dirty="0">
                <a:solidFill>
                  <a:srgbClr val="262626"/>
                </a:solidFill>
                <a:latin typeface="Arial" pitchFamily="34" charset="0"/>
                <a:ea typeface="Arial" pitchFamily="34" charset="-122"/>
                <a:cs typeface="Arial" pitchFamily="34" charset="-120"/>
              </a:rPr>
              <a:t>Ultimately the New Covenant</a:t>
            </a:r>
            <a:endParaRPr lang="en-US" sz="1200" dirty="0"/>
          </a:p>
        </p:txBody>
      </p:sp>
      <p:sp>
        <p:nvSpPr>
          <p:cNvPr id="19" name="Text 16"/>
          <p:cNvSpPr txBox="1"/>
          <p:nvPr/>
        </p:nvSpPr>
        <p:spPr>
          <a:xfrm>
            <a:off x="6675120" y="2450592"/>
            <a:ext cx="1901952"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Jer 31 · Heb 8</a:t>
            </a:r>
            <a:endParaRPr lang="en-US" sz="1200" dirty="0"/>
          </a:p>
        </p:txBody>
      </p:sp>
      <p:sp>
        <p:nvSpPr>
          <p:cNvPr id="20" name="Shape 17"/>
          <p:cNvSpPr/>
          <p:nvPr/>
        </p:nvSpPr>
        <p:spPr>
          <a:xfrm>
            <a:off x="457200" y="3200400"/>
            <a:ext cx="4023360" cy="566928"/>
          </a:xfrm>
          <a:prstGeom prst="rect">
            <a:avLst/>
          </a:prstGeom>
          <a:solidFill>
            <a:srgbClr val="6B7280"/>
          </a:solidFill>
          <a:ln w="12700">
            <a:solidFill>
              <a:srgbClr val="6B7280"/>
            </a:solidFill>
            <a:prstDash val="solid"/>
          </a:ln>
        </p:spPr>
      </p:sp>
      <p:sp>
        <p:nvSpPr>
          <p:cNvPr id="21" name="Text 18"/>
          <p:cNvSpPr txBox="1"/>
          <p:nvPr/>
        </p:nvSpPr>
        <p:spPr>
          <a:xfrm>
            <a:off x="548640" y="3246120"/>
            <a:ext cx="3840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 law came too late — v.17</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430 years</a:t>
            </a:r>
            <a:endParaRPr lang="en-US" sz="1200" dirty="0"/>
          </a:p>
        </p:txBody>
      </p:sp>
      <p:sp>
        <p:nvSpPr>
          <p:cNvPr id="22" name="Shape 19"/>
          <p:cNvSpPr/>
          <p:nvPr/>
        </p:nvSpPr>
        <p:spPr>
          <a:xfrm>
            <a:off x="457200" y="3767328"/>
            <a:ext cx="4023360" cy="850392"/>
          </a:xfrm>
          <a:prstGeom prst="rect">
            <a:avLst/>
          </a:prstGeom>
          <a:solidFill>
            <a:srgbClr val="F2F6FC"/>
          </a:solidFill>
          <a:ln w="9525">
            <a:solidFill>
              <a:srgbClr val="D5DCEA"/>
            </a:solidFill>
            <a:prstDash val="solid"/>
          </a:ln>
        </p:spPr>
      </p:sp>
      <p:sp>
        <p:nvSpPr>
          <p:cNvPr id="23" name="Text 20"/>
          <p:cNvSpPr txBox="1"/>
          <p:nvPr/>
        </p:nvSpPr>
        <p:spPr>
          <a:xfrm>
            <a:off x="548640" y="3840480"/>
            <a:ext cx="3840480" cy="722376"/>
          </a:xfrm>
          <a:prstGeom prst="rect">
            <a:avLst/>
          </a:prstGeom>
          <a:noFill/>
          <a:ln/>
        </p:spPr>
        <p:txBody>
          <a:bodyPr wrap="square" lIns="0" tIns="0" rIns="0" bIns="0" rtlCol="0" anchor="t"/>
          <a:lstStyle/>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Cannot annul a covenant “confirmed before by God”</a:t>
            </a:r>
            <a:endParaRPr lang="en-US" sz="1100" dirty="0"/>
          </a:p>
        </p:txBody>
      </p:sp>
      <p:sp>
        <p:nvSpPr>
          <p:cNvPr id="24" name="Shape 21"/>
          <p:cNvSpPr/>
          <p:nvPr/>
        </p:nvSpPr>
        <p:spPr>
          <a:xfrm>
            <a:off x="4663440" y="3200400"/>
            <a:ext cx="4023360" cy="365760"/>
          </a:xfrm>
          <a:prstGeom prst="rect">
            <a:avLst/>
          </a:prstGeom>
          <a:solidFill>
            <a:srgbClr val="6B7280"/>
          </a:solidFill>
          <a:ln w="12700">
            <a:solidFill>
              <a:srgbClr val="6B7280"/>
            </a:solidFill>
            <a:prstDash val="solid"/>
          </a:ln>
        </p:spPr>
      </p:sp>
      <p:sp>
        <p:nvSpPr>
          <p:cNvPr id="25" name="Text 22"/>
          <p:cNvSpPr txBox="1"/>
          <p:nvPr/>
        </p:nvSpPr>
        <p:spPr>
          <a:xfrm>
            <a:off x="4754880" y="3246120"/>
            <a:ext cx="3840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 law contradicts the promise — v.18</a:t>
            </a:r>
            <a:endParaRPr lang="en-US" sz="1200" dirty="0"/>
          </a:p>
        </p:txBody>
      </p:sp>
      <p:sp>
        <p:nvSpPr>
          <p:cNvPr id="26" name="Shape 23"/>
          <p:cNvSpPr/>
          <p:nvPr/>
        </p:nvSpPr>
        <p:spPr>
          <a:xfrm>
            <a:off x="4663440" y="3566160"/>
            <a:ext cx="4023360" cy="1051560"/>
          </a:xfrm>
          <a:prstGeom prst="rect">
            <a:avLst/>
          </a:prstGeom>
          <a:solidFill>
            <a:srgbClr val="F2F6FC"/>
          </a:solidFill>
          <a:ln w="9525">
            <a:solidFill>
              <a:srgbClr val="D5DCEA"/>
            </a:solidFill>
            <a:prstDash val="solid"/>
          </a:ln>
        </p:spPr>
      </p:sp>
      <p:sp>
        <p:nvSpPr>
          <p:cNvPr id="27" name="Text 24"/>
          <p:cNvSpPr txBox="1"/>
          <p:nvPr/>
        </p:nvSpPr>
        <p:spPr>
          <a:xfrm>
            <a:off x="4754880" y="3639312"/>
            <a:ext cx="3840480" cy="923544"/>
          </a:xfrm>
          <a:prstGeom prst="rect">
            <a:avLst/>
          </a:prstGeom>
          <a:noFill/>
          <a:ln/>
        </p:spPr>
        <p:txBody>
          <a:bodyPr wrap="square" lIns="0" tIns="0" rIns="0" bIns="0" rtlCol="0" anchor="t"/>
          <a:lstStyle/>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If the inheritance is of the law, it is no longer of promise</a:t>
            </a:r>
            <a:endParaRPr lang="en-US" sz="1100" dirty="0"/>
          </a:p>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Promise and law cannot be mixed</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Law and promise side by side</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3:17–20 · Outline II — Not on a par with the promise</a:t>
            </a:r>
            <a:endParaRPr lang="en-US" sz="1200" dirty="0"/>
          </a:p>
        </p:txBody>
      </p:sp>
      <p:sp>
        <p:nvSpPr>
          <p:cNvPr id="5" name="Shape 2"/>
          <p:cNvSpPr/>
          <p:nvPr/>
        </p:nvSpPr>
        <p:spPr>
          <a:xfrm>
            <a:off x="1965960" y="1097280"/>
            <a:ext cx="3314700" cy="384048"/>
          </a:xfrm>
          <a:prstGeom prst="rect">
            <a:avLst/>
          </a:prstGeom>
          <a:solidFill>
            <a:srgbClr val="6B7280"/>
          </a:solidFill>
          <a:ln w="12700">
            <a:solidFill>
              <a:srgbClr val="6B7280"/>
            </a:solidFill>
            <a:prstDash val="solid"/>
          </a:ln>
        </p:spPr>
      </p:sp>
      <p:sp>
        <p:nvSpPr>
          <p:cNvPr id="6" name="Text 3"/>
          <p:cNvSpPr txBox="1"/>
          <p:nvPr/>
        </p:nvSpPr>
        <p:spPr>
          <a:xfrm>
            <a:off x="2057400" y="1097280"/>
            <a:ext cx="3177540" cy="38404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The Law</a:t>
            </a:r>
            <a:endParaRPr lang="en-US" sz="1250" dirty="0"/>
          </a:p>
        </p:txBody>
      </p:sp>
      <p:sp>
        <p:nvSpPr>
          <p:cNvPr id="7" name="Shape 4"/>
          <p:cNvSpPr/>
          <p:nvPr/>
        </p:nvSpPr>
        <p:spPr>
          <a:xfrm>
            <a:off x="5372100" y="1097280"/>
            <a:ext cx="3314700" cy="384048"/>
          </a:xfrm>
          <a:prstGeom prst="rect">
            <a:avLst/>
          </a:prstGeom>
          <a:solidFill>
            <a:srgbClr val="375623"/>
          </a:solidFill>
          <a:ln w="12700">
            <a:solidFill>
              <a:srgbClr val="375623"/>
            </a:solidFill>
            <a:prstDash val="solid"/>
          </a:ln>
        </p:spPr>
      </p:sp>
      <p:sp>
        <p:nvSpPr>
          <p:cNvPr id="8" name="Text 5"/>
          <p:cNvSpPr txBox="1"/>
          <p:nvPr/>
        </p:nvSpPr>
        <p:spPr>
          <a:xfrm>
            <a:off x="5417820" y="1097280"/>
            <a:ext cx="3177540" cy="38404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The Promise</a:t>
            </a:r>
            <a:endParaRPr lang="en-US" sz="1250" dirty="0"/>
          </a:p>
        </p:txBody>
      </p:sp>
      <p:sp>
        <p:nvSpPr>
          <p:cNvPr id="9" name="Text 6"/>
          <p:cNvSpPr txBox="1"/>
          <p:nvPr/>
        </p:nvSpPr>
        <p:spPr>
          <a:xfrm>
            <a:off x="457200" y="1536192"/>
            <a:ext cx="1417320" cy="530352"/>
          </a:xfrm>
          <a:prstGeom prst="rect">
            <a:avLst/>
          </a:prstGeom>
          <a:noFill/>
          <a:ln/>
        </p:spPr>
        <p:txBody>
          <a:bodyPr wrap="square" lIns="0" tIns="0" rIns="0" bIns="0" rtlCol="0" anchor="ctr"/>
          <a:lstStyle/>
          <a:p>
            <a:pPr indent="0" marL="0">
              <a:buNone/>
            </a:pPr>
            <a:r>
              <a:rPr lang="en-US" sz="1150" b="1" dirty="0">
                <a:solidFill>
                  <a:srgbClr val="1F3864"/>
                </a:solidFill>
                <a:latin typeface="Arial" pitchFamily="34" charset="0"/>
                <a:ea typeface="Arial" pitchFamily="34" charset="-122"/>
                <a:cs typeface="Arial" pitchFamily="34" charset="-120"/>
              </a:rPr>
              <a:t>Arrived</a:t>
            </a:r>
            <a:endParaRPr lang="en-US" sz="1150" dirty="0"/>
          </a:p>
        </p:txBody>
      </p:sp>
      <p:sp>
        <p:nvSpPr>
          <p:cNvPr id="10" name="Shape 7"/>
          <p:cNvSpPr/>
          <p:nvPr/>
        </p:nvSpPr>
        <p:spPr>
          <a:xfrm>
            <a:off x="1965960" y="1536192"/>
            <a:ext cx="3314700" cy="530352"/>
          </a:xfrm>
          <a:prstGeom prst="rect">
            <a:avLst/>
          </a:prstGeom>
          <a:solidFill>
            <a:srgbClr val="F2F6FC"/>
          </a:solidFill>
          <a:ln w="9525">
            <a:solidFill>
              <a:srgbClr val="D5DCEA"/>
            </a:solidFill>
            <a:prstDash val="solid"/>
          </a:ln>
        </p:spPr>
      </p:sp>
      <p:sp>
        <p:nvSpPr>
          <p:cNvPr id="11" name="Text 8"/>
          <p:cNvSpPr txBox="1"/>
          <p:nvPr/>
        </p:nvSpPr>
        <p:spPr>
          <a:xfrm>
            <a:off x="2057400" y="1536192"/>
            <a:ext cx="3131820" cy="530352"/>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430 years after the promise</a:t>
            </a:r>
            <a:endParaRPr lang="en-US" sz="1200" dirty="0"/>
          </a:p>
        </p:txBody>
      </p:sp>
      <p:sp>
        <p:nvSpPr>
          <p:cNvPr id="12" name="Shape 9"/>
          <p:cNvSpPr/>
          <p:nvPr/>
        </p:nvSpPr>
        <p:spPr>
          <a:xfrm>
            <a:off x="5372100" y="1536192"/>
            <a:ext cx="3314700" cy="530352"/>
          </a:xfrm>
          <a:prstGeom prst="rect">
            <a:avLst/>
          </a:prstGeom>
          <a:solidFill>
            <a:srgbClr val="F2F6FC"/>
          </a:solidFill>
          <a:ln w="9525">
            <a:solidFill>
              <a:srgbClr val="D5DCEA"/>
            </a:solidFill>
            <a:prstDash val="solid"/>
          </a:ln>
        </p:spPr>
      </p:sp>
      <p:sp>
        <p:nvSpPr>
          <p:cNvPr id="13" name="Text 10"/>
          <p:cNvSpPr txBox="1"/>
          <p:nvPr/>
        </p:nvSpPr>
        <p:spPr>
          <a:xfrm>
            <a:off x="5463540" y="1536192"/>
            <a:ext cx="3131820" cy="530352"/>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First — confirmed beforehand by God</a:t>
            </a:r>
            <a:endParaRPr lang="en-US" sz="1200" dirty="0"/>
          </a:p>
        </p:txBody>
      </p:sp>
      <p:sp>
        <p:nvSpPr>
          <p:cNvPr id="14" name="Text 11"/>
          <p:cNvSpPr txBox="1"/>
          <p:nvPr/>
        </p:nvSpPr>
        <p:spPr>
          <a:xfrm>
            <a:off x="457200" y="2121408"/>
            <a:ext cx="1417320" cy="530352"/>
          </a:xfrm>
          <a:prstGeom prst="rect">
            <a:avLst/>
          </a:prstGeom>
          <a:noFill/>
          <a:ln/>
        </p:spPr>
        <p:txBody>
          <a:bodyPr wrap="square" lIns="0" tIns="0" rIns="0" bIns="0" rtlCol="0" anchor="ctr"/>
          <a:lstStyle/>
          <a:p>
            <a:pPr indent="0" marL="0">
              <a:buNone/>
            </a:pPr>
            <a:r>
              <a:rPr lang="en-US" sz="1150" b="1" dirty="0">
                <a:solidFill>
                  <a:srgbClr val="1F3864"/>
                </a:solidFill>
                <a:latin typeface="Arial" pitchFamily="34" charset="0"/>
                <a:ea typeface="Arial" pitchFamily="34" charset="-122"/>
                <a:cs typeface="Arial" pitchFamily="34" charset="-120"/>
              </a:rPr>
              <a:t>Came because of</a:t>
            </a:r>
            <a:endParaRPr lang="en-US" sz="1150" dirty="0"/>
          </a:p>
        </p:txBody>
      </p:sp>
      <p:sp>
        <p:nvSpPr>
          <p:cNvPr id="15" name="Shape 12"/>
          <p:cNvSpPr/>
          <p:nvPr/>
        </p:nvSpPr>
        <p:spPr>
          <a:xfrm>
            <a:off x="1965960" y="2121408"/>
            <a:ext cx="3314700" cy="530352"/>
          </a:xfrm>
          <a:prstGeom prst="rect">
            <a:avLst/>
          </a:prstGeom>
          <a:solidFill>
            <a:srgbClr val="F2F6FC"/>
          </a:solidFill>
          <a:ln w="9525">
            <a:solidFill>
              <a:srgbClr val="D5DCEA"/>
            </a:solidFill>
            <a:prstDash val="solid"/>
          </a:ln>
        </p:spPr>
      </p:sp>
      <p:sp>
        <p:nvSpPr>
          <p:cNvPr id="16" name="Text 13"/>
          <p:cNvSpPr txBox="1"/>
          <p:nvPr/>
        </p:nvSpPr>
        <p:spPr>
          <a:xfrm>
            <a:off x="2057400" y="2121408"/>
            <a:ext cx="3131820" cy="530352"/>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Transgressions — disobedience (παράβασις)</a:t>
            </a:r>
            <a:endParaRPr lang="en-US" sz="1200" dirty="0"/>
          </a:p>
        </p:txBody>
      </p:sp>
      <p:sp>
        <p:nvSpPr>
          <p:cNvPr id="17" name="Shape 14"/>
          <p:cNvSpPr/>
          <p:nvPr/>
        </p:nvSpPr>
        <p:spPr>
          <a:xfrm>
            <a:off x="5372100" y="2121408"/>
            <a:ext cx="3314700" cy="530352"/>
          </a:xfrm>
          <a:prstGeom prst="rect">
            <a:avLst/>
          </a:prstGeom>
          <a:solidFill>
            <a:srgbClr val="F2F6FC"/>
          </a:solidFill>
          <a:ln w="9525">
            <a:solidFill>
              <a:srgbClr val="D5DCEA"/>
            </a:solidFill>
            <a:prstDash val="solid"/>
          </a:ln>
        </p:spPr>
      </p:sp>
      <p:sp>
        <p:nvSpPr>
          <p:cNvPr id="18" name="Text 15"/>
          <p:cNvSpPr txBox="1"/>
          <p:nvPr/>
        </p:nvSpPr>
        <p:spPr>
          <a:xfrm>
            <a:off x="5463540" y="2121408"/>
            <a:ext cx="3131820" cy="530352"/>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Obedience — Abraham believed God</a:t>
            </a:r>
            <a:endParaRPr lang="en-US" sz="1200" dirty="0"/>
          </a:p>
        </p:txBody>
      </p:sp>
      <p:sp>
        <p:nvSpPr>
          <p:cNvPr id="19" name="Text 16"/>
          <p:cNvSpPr txBox="1"/>
          <p:nvPr/>
        </p:nvSpPr>
        <p:spPr>
          <a:xfrm>
            <a:off x="457200" y="2706624"/>
            <a:ext cx="1417320" cy="530352"/>
          </a:xfrm>
          <a:prstGeom prst="rect">
            <a:avLst/>
          </a:prstGeom>
          <a:noFill/>
          <a:ln/>
        </p:spPr>
        <p:txBody>
          <a:bodyPr wrap="square" lIns="0" tIns="0" rIns="0" bIns="0" rtlCol="0" anchor="ctr"/>
          <a:lstStyle/>
          <a:p>
            <a:pPr indent="0" marL="0">
              <a:buNone/>
            </a:pPr>
            <a:r>
              <a:rPr lang="en-US" sz="1150" b="1" dirty="0">
                <a:solidFill>
                  <a:srgbClr val="1F3864"/>
                </a:solidFill>
                <a:latin typeface="Arial" pitchFamily="34" charset="0"/>
                <a:ea typeface="Arial" pitchFamily="34" charset="-122"/>
                <a:cs typeface="Arial" pitchFamily="34" charset="-120"/>
              </a:rPr>
              <a:t>Duration</a:t>
            </a:r>
            <a:endParaRPr lang="en-US" sz="1150" dirty="0"/>
          </a:p>
        </p:txBody>
      </p:sp>
      <p:sp>
        <p:nvSpPr>
          <p:cNvPr id="20" name="Shape 17"/>
          <p:cNvSpPr/>
          <p:nvPr/>
        </p:nvSpPr>
        <p:spPr>
          <a:xfrm>
            <a:off x="1965960" y="2706624"/>
            <a:ext cx="3314700" cy="530352"/>
          </a:xfrm>
          <a:prstGeom prst="rect">
            <a:avLst/>
          </a:prstGeom>
          <a:solidFill>
            <a:srgbClr val="F2F6FC"/>
          </a:solidFill>
          <a:ln w="9525">
            <a:solidFill>
              <a:srgbClr val="D5DCEA"/>
            </a:solidFill>
            <a:prstDash val="solid"/>
          </a:ln>
        </p:spPr>
      </p:sp>
      <p:sp>
        <p:nvSpPr>
          <p:cNvPr id="21" name="Text 18"/>
          <p:cNvSpPr txBox="1"/>
          <p:nvPr/>
        </p:nvSpPr>
        <p:spPr>
          <a:xfrm>
            <a:off x="2057400" y="2706624"/>
            <a:ext cx="3131820" cy="530352"/>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Temporary — “till the Seed should come”</a:t>
            </a:r>
            <a:endParaRPr lang="en-US" sz="1200" dirty="0"/>
          </a:p>
        </p:txBody>
      </p:sp>
      <p:sp>
        <p:nvSpPr>
          <p:cNvPr id="22" name="Shape 19"/>
          <p:cNvSpPr/>
          <p:nvPr/>
        </p:nvSpPr>
        <p:spPr>
          <a:xfrm>
            <a:off x="5372100" y="2706624"/>
            <a:ext cx="3314700" cy="530352"/>
          </a:xfrm>
          <a:prstGeom prst="rect">
            <a:avLst/>
          </a:prstGeom>
          <a:solidFill>
            <a:srgbClr val="F2F6FC"/>
          </a:solidFill>
          <a:ln w="9525">
            <a:solidFill>
              <a:srgbClr val="D5DCEA"/>
            </a:solidFill>
            <a:prstDash val="solid"/>
          </a:ln>
        </p:spPr>
      </p:sp>
      <p:sp>
        <p:nvSpPr>
          <p:cNvPr id="23" name="Text 20"/>
          <p:cNvSpPr txBox="1"/>
          <p:nvPr/>
        </p:nvSpPr>
        <p:spPr>
          <a:xfrm>
            <a:off x="5463540" y="2706624"/>
            <a:ext cx="3131820" cy="530352"/>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Permanent</a:t>
            </a:r>
            <a:endParaRPr lang="en-US" sz="1200" dirty="0"/>
          </a:p>
        </p:txBody>
      </p:sp>
      <p:sp>
        <p:nvSpPr>
          <p:cNvPr id="24" name="Text 21"/>
          <p:cNvSpPr txBox="1"/>
          <p:nvPr/>
        </p:nvSpPr>
        <p:spPr>
          <a:xfrm>
            <a:off x="457200" y="3291840"/>
            <a:ext cx="1417320" cy="530352"/>
          </a:xfrm>
          <a:prstGeom prst="rect">
            <a:avLst/>
          </a:prstGeom>
          <a:noFill/>
          <a:ln/>
        </p:spPr>
        <p:txBody>
          <a:bodyPr wrap="square" lIns="0" tIns="0" rIns="0" bIns="0" rtlCol="0" anchor="ctr"/>
          <a:lstStyle/>
          <a:p>
            <a:pPr indent="0" marL="0">
              <a:buNone/>
            </a:pPr>
            <a:r>
              <a:rPr lang="en-US" sz="1150" b="1" dirty="0">
                <a:solidFill>
                  <a:srgbClr val="1F3864"/>
                </a:solidFill>
                <a:latin typeface="Arial" pitchFamily="34" charset="0"/>
                <a:ea typeface="Arial" pitchFamily="34" charset="-122"/>
                <a:cs typeface="Arial" pitchFamily="34" charset="-120"/>
              </a:rPr>
              <a:t>Parties</a:t>
            </a:r>
            <a:endParaRPr lang="en-US" sz="1150" dirty="0"/>
          </a:p>
        </p:txBody>
      </p:sp>
      <p:sp>
        <p:nvSpPr>
          <p:cNvPr id="25" name="Shape 22"/>
          <p:cNvSpPr/>
          <p:nvPr/>
        </p:nvSpPr>
        <p:spPr>
          <a:xfrm>
            <a:off x="1965960" y="3291840"/>
            <a:ext cx="3314700" cy="530352"/>
          </a:xfrm>
          <a:prstGeom prst="rect">
            <a:avLst/>
          </a:prstGeom>
          <a:solidFill>
            <a:srgbClr val="F2F6FC"/>
          </a:solidFill>
          <a:ln w="9525">
            <a:solidFill>
              <a:srgbClr val="D5DCEA"/>
            </a:solidFill>
            <a:prstDash val="solid"/>
          </a:ln>
        </p:spPr>
      </p:sp>
      <p:sp>
        <p:nvSpPr>
          <p:cNvPr id="26" name="Text 23"/>
          <p:cNvSpPr txBox="1"/>
          <p:nvPr/>
        </p:nvSpPr>
        <p:spPr>
          <a:xfrm>
            <a:off x="2057400" y="3291840"/>
            <a:ext cx="3131820" cy="530352"/>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Two — needed a mediator, Moses (μεσίτης)</a:t>
            </a:r>
            <a:endParaRPr lang="en-US" sz="1200" dirty="0"/>
          </a:p>
        </p:txBody>
      </p:sp>
      <p:sp>
        <p:nvSpPr>
          <p:cNvPr id="27" name="Shape 24"/>
          <p:cNvSpPr/>
          <p:nvPr/>
        </p:nvSpPr>
        <p:spPr>
          <a:xfrm>
            <a:off x="5372100" y="3291840"/>
            <a:ext cx="3314700" cy="530352"/>
          </a:xfrm>
          <a:prstGeom prst="rect">
            <a:avLst/>
          </a:prstGeom>
          <a:solidFill>
            <a:srgbClr val="F2F6FC"/>
          </a:solidFill>
          <a:ln w="9525">
            <a:solidFill>
              <a:srgbClr val="D5DCEA"/>
            </a:solidFill>
            <a:prstDash val="solid"/>
          </a:ln>
        </p:spPr>
      </p:sp>
      <p:sp>
        <p:nvSpPr>
          <p:cNvPr id="28" name="Text 25"/>
          <p:cNvSpPr txBox="1"/>
          <p:nvPr/>
        </p:nvSpPr>
        <p:spPr>
          <a:xfrm>
            <a:off x="5463540" y="3291840"/>
            <a:ext cx="3131820" cy="530352"/>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One — “God is one”; no mediator</a:t>
            </a:r>
            <a:endParaRPr lang="en-US" sz="1200" dirty="0"/>
          </a:p>
        </p:txBody>
      </p:sp>
      <p:sp>
        <p:nvSpPr>
          <p:cNvPr id="29" name="Text 26"/>
          <p:cNvSpPr txBox="1"/>
          <p:nvPr/>
        </p:nvSpPr>
        <p:spPr>
          <a:xfrm>
            <a:off x="457200" y="3877056"/>
            <a:ext cx="1417320" cy="530352"/>
          </a:xfrm>
          <a:prstGeom prst="rect">
            <a:avLst/>
          </a:prstGeom>
          <a:noFill/>
          <a:ln/>
        </p:spPr>
        <p:txBody>
          <a:bodyPr wrap="square" lIns="0" tIns="0" rIns="0" bIns="0" rtlCol="0" anchor="ctr"/>
          <a:lstStyle/>
          <a:p>
            <a:pPr indent="0" marL="0">
              <a:buNone/>
            </a:pPr>
            <a:r>
              <a:rPr lang="en-US" sz="1150" b="1" dirty="0">
                <a:solidFill>
                  <a:srgbClr val="1F3864"/>
                </a:solidFill>
                <a:latin typeface="Arial" pitchFamily="34" charset="0"/>
                <a:ea typeface="Arial" pitchFamily="34" charset="-122"/>
                <a:cs typeface="Arial" pitchFamily="34" charset="-120"/>
              </a:rPr>
              <a:t>Terms</a:t>
            </a:r>
            <a:endParaRPr lang="en-US" sz="1150" dirty="0"/>
          </a:p>
        </p:txBody>
      </p:sp>
      <p:sp>
        <p:nvSpPr>
          <p:cNvPr id="30" name="Shape 27"/>
          <p:cNvSpPr/>
          <p:nvPr/>
        </p:nvSpPr>
        <p:spPr>
          <a:xfrm>
            <a:off x="1965960" y="3877056"/>
            <a:ext cx="3314700" cy="530352"/>
          </a:xfrm>
          <a:prstGeom prst="rect">
            <a:avLst/>
          </a:prstGeom>
          <a:solidFill>
            <a:srgbClr val="F2F6FC"/>
          </a:solidFill>
          <a:ln w="9525">
            <a:solidFill>
              <a:srgbClr val="D5DCEA"/>
            </a:solidFill>
            <a:prstDash val="solid"/>
          </a:ln>
        </p:spPr>
      </p:sp>
      <p:sp>
        <p:nvSpPr>
          <p:cNvPr id="31" name="Text 28"/>
          <p:cNvSpPr txBox="1"/>
          <p:nvPr/>
        </p:nvSpPr>
        <p:spPr>
          <a:xfrm>
            <a:off x="2057400" y="3877056"/>
            <a:ext cx="3131820" cy="530352"/>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Conditional: do this and live</a:t>
            </a:r>
            <a:endParaRPr lang="en-US" sz="1200" dirty="0"/>
          </a:p>
        </p:txBody>
      </p:sp>
      <p:sp>
        <p:nvSpPr>
          <p:cNvPr id="32" name="Shape 29"/>
          <p:cNvSpPr/>
          <p:nvPr/>
        </p:nvSpPr>
        <p:spPr>
          <a:xfrm>
            <a:off x="5372100" y="3877056"/>
            <a:ext cx="3314700" cy="530352"/>
          </a:xfrm>
          <a:prstGeom prst="rect">
            <a:avLst/>
          </a:prstGeom>
          <a:solidFill>
            <a:srgbClr val="F2F6FC"/>
          </a:solidFill>
          <a:ln w="9525">
            <a:solidFill>
              <a:srgbClr val="D5DCEA"/>
            </a:solidFill>
            <a:prstDash val="solid"/>
          </a:ln>
        </p:spPr>
      </p:sp>
      <p:sp>
        <p:nvSpPr>
          <p:cNvPr id="33" name="Text 30"/>
          <p:cNvSpPr txBox="1"/>
          <p:nvPr/>
        </p:nvSpPr>
        <p:spPr>
          <a:xfrm>
            <a:off x="5463540" y="3877056"/>
            <a:ext cx="3131820" cy="530352"/>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Unconditional: God alone bound Himself</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What the law was for</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3:21–25 · Outline III — The law had a purpose</a:t>
            </a:r>
            <a:endParaRPr lang="en-US" sz="1200" dirty="0"/>
          </a:p>
        </p:txBody>
      </p:sp>
      <p:sp>
        <p:nvSpPr>
          <p:cNvPr id="5" name="Shape 2"/>
          <p:cNvSpPr/>
          <p:nvPr/>
        </p:nvSpPr>
        <p:spPr>
          <a:xfrm>
            <a:off x="457200" y="1143000"/>
            <a:ext cx="2615184" cy="2560320"/>
          </a:xfrm>
          <a:prstGeom prst="rect">
            <a:avLst/>
          </a:prstGeom>
          <a:solidFill>
            <a:srgbClr val="F2F6FC"/>
          </a:solidFill>
          <a:ln w="9525">
            <a:solidFill>
              <a:srgbClr val="D5DCEA"/>
            </a:solidFill>
            <a:prstDash val="solid"/>
          </a:ln>
        </p:spPr>
      </p:sp>
      <p:sp>
        <p:nvSpPr>
          <p:cNvPr id="6" name="Shape 3"/>
          <p:cNvSpPr/>
          <p:nvPr/>
        </p:nvSpPr>
        <p:spPr>
          <a:xfrm>
            <a:off x="585216" y="1271016"/>
            <a:ext cx="402336" cy="402336"/>
          </a:xfrm>
          <a:prstGeom prst="ellipse">
            <a:avLst/>
          </a:prstGeom>
          <a:solidFill>
            <a:srgbClr val="2E5496"/>
          </a:solidFill>
          <a:ln w="12700">
            <a:solidFill>
              <a:srgbClr val="2E5496"/>
            </a:solidFill>
            <a:prstDash val="solid"/>
          </a:ln>
        </p:spPr>
      </p:sp>
      <p:sp>
        <p:nvSpPr>
          <p:cNvPr id="7" name="Text 4"/>
          <p:cNvSpPr txBox="1"/>
          <p:nvPr/>
        </p:nvSpPr>
        <p:spPr>
          <a:xfrm>
            <a:off x="585216" y="127101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a:t>
            </a:r>
            <a:endParaRPr lang="en-US" sz="1200" dirty="0"/>
          </a:p>
        </p:txBody>
      </p:sp>
      <p:sp>
        <p:nvSpPr>
          <p:cNvPr id="8" name="Text 5"/>
          <p:cNvSpPr txBox="1"/>
          <p:nvPr/>
        </p:nvSpPr>
        <p:spPr>
          <a:xfrm>
            <a:off x="1078992" y="1252728"/>
            <a:ext cx="1901952"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Demonstrate weakness</a:t>
            </a:r>
            <a:endParaRPr lang="en-US" sz="1200" dirty="0"/>
          </a:p>
        </p:txBody>
      </p:sp>
      <p:sp>
        <p:nvSpPr>
          <p:cNvPr id="9" name="Text 6"/>
          <p:cNvSpPr txBox="1"/>
          <p:nvPr/>
        </p:nvSpPr>
        <p:spPr>
          <a:xfrm>
            <a:off x="585216" y="1764792"/>
            <a:ext cx="2359152" cy="1847088"/>
          </a:xfrm>
          <a:prstGeom prst="rect">
            <a:avLst/>
          </a:prstGeom>
          <a:noFill/>
          <a:ln/>
        </p:spPr>
        <p:txBody>
          <a:bodyPr wrap="square" lIns="0" tIns="0" rIns="0" bIns="0" rtlCol="0" anchor="t"/>
          <a:lstStyle/>
          <a:p>
            <a:pPr indent="0" marL="0">
              <a:buNone/>
            </a:pPr>
            <a:r>
              <a:rPr lang="en-US" sz="1250" b="1" dirty="0">
                <a:solidFill>
                  <a:srgbClr val="7030A0"/>
                </a:solidFill>
                <a:latin typeface="Arial" pitchFamily="34" charset="0"/>
                <a:ea typeface="Arial" pitchFamily="34" charset="-122"/>
                <a:cs typeface="Arial" pitchFamily="34" charset="-120"/>
              </a:rPr>
              <a:t>μὴ γένοιτο</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v.21 — no law could give life; “Certainly not!”</a:t>
            </a:r>
            <a:endParaRPr lang="en-US" sz="1200" dirty="0"/>
          </a:p>
        </p:txBody>
      </p:sp>
      <p:sp>
        <p:nvSpPr>
          <p:cNvPr id="10" name="Shape 7"/>
          <p:cNvSpPr/>
          <p:nvPr/>
        </p:nvSpPr>
        <p:spPr>
          <a:xfrm>
            <a:off x="3264408" y="1143000"/>
            <a:ext cx="2615184" cy="2560320"/>
          </a:xfrm>
          <a:prstGeom prst="rect">
            <a:avLst/>
          </a:prstGeom>
          <a:solidFill>
            <a:srgbClr val="F2F6FC"/>
          </a:solidFill>
          <a:ln w="9525">
            <a:solidFill>
              <a:srgbClr val="D5DCEA"/>
            </a:solidFill>
            <a:prstDash val="solid"/>
          </a:ln>
        </p:spPr>
      </p:sp>
      <p:sp>
        <p:nvSpPr>
          <p:cNvPr id="11" name="Shape 8"/>
          <p:cNvSpPr/>
          <p:nvPr/>
        </p:nvSpPr>
        <p:spPr>
          <a:xfrm>
            <a:off x="3392424" y="1271016"/>
            <a:ext cx="402336" cy="402336"/>
          </a:xfrm>
          <a:prstGeom prst="ellipse">
            <a:avLst/>
          </a:prstGeom>
          <a:solidFill>
            <a:srgbClr val="6B7280"/>
          </a:solidFill>
          <a:ln w="12700">
            <a:solidFill>
              <a:srgbClr val="6B7280"/>
            </a:solidFill>
            <a:prstDash val="solid"/>
          </a:ln>
        </p:spPr>
      </p:sp>
      <p:sp>
        <p:nvSpPr>
          <p:cNvPr id="12" name="Text 9"/>
          <p:cNvSpPr txBox="1"/>
          <p:nvPr/>
        </p:nvSpPr>
        <p:spPr>
          <a:xfrm>
            <a:off x="3392424" y="127101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B</a:t>
            </a:r>
            <a:endParaRPr lang="en-US" sz="1200" dirty="0"/>
          </a:p>
        </p:txBody>
      </p:sp>
      <p:sp>
        <p:nvSpPr>
          <p:cNvPr id="13" name="Text 10"/>
          <p:cNvSpPr txBox="1"/>
          <p:nvPr/>
        </p:nvSpPr>
        <p:spPr>
          <a:xfrm>
            <a:off x="3886200" y="1252728"/>
            <a:ext cx="1901952"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Display sinfulness</a:t>
            </a:r>
            <a:endParaRPr lang="en-US" sz="1200" dirty="0"/>
          </a:p>
        </p:txBody>
      </p:sp>
      <p:sp>
        <p:nvSpPr>
          <p:cNvPr id="14" name="Text 11"/>
          <p:cNvSpPr txBox="1"/>
          <p:nvPr/>
        </p:nvSpPr>
        <p:spPr>
          <a:xfrm>
            <a:off x="3392424" y="1764792"/>
            <a:ext cx="2359152" cy="1847088"/>
          </a:xfrm>
          <a:prstGeom prst="rect">
            <a:avLst/>
          </a:prstGeom>
          <a:noFill/>
          <a:ln/>
        </p:spPr>
        <p:txBody>
          <a:bodyPr wrap="square" lIns="0" tIns="0" rIns="0" bIns="0" rtlCol="0" anchor="t"/>
          <a:lstStyle/>
          <a:p>
            <a:pPr indent="0" marL="0">
              <a:buNone/>
            </a:pPr>
            <a:r>
              <a:rPr lang="en-US" sz="1250" b="1" dirty="0">
                <a:solidFill>
                  <a:srgbClr val="7030A0"/>
                </a:solidFill>
                <a:latin typeface="Arial" pitchFamily="34" charset="0"/>
                <a:ea typeface="Arial" pitchFamily="34" charset="-122"/>
                <a:cs typeface="Arial" pitchFamily="34" charset="-120"/>
              </a:rPr>
              <a:t>συνέκλεισεν</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v.22 — Scripture shut up all under sin (Rom 3:9, 23)</a:t>
            </a:r>
            <a:endParaRPr lang="en-US" sz="1200" dirty="0"/>
          </a:p>
        </p:txBody>
      </p:sp>
      <p:sp>
        <p:nvSpPr>
          <p:cNvPr id="15" name="Shape 12"/>
          <p:cNvSpPr/>
          <p:nvPr/>
        </p:nvSpPr>
        <p:spPr>
          <a:xfrm>
            <a:off x="6071616" y="1143000"/>
            <a:ext cx="2615184" cy="2560320"/>
          </a:xfrm>
          <a:prstGeom prst="rect">
            <a:avLst/>
          </a:prstGeom>
          <a:solidFill>
            <a:srgbClr val="F2F6FC"/>
          </a:solidFill>
          <a:ln w="9525">
            <a:solidFill>
              <a:srgbClr val="D5DCEA"/>
            </a:solidFill>
            <a:prstDash val="solid"/>
          </a:ln>
        </p:spPr>
      </p:sp>
      <p:sp>
        <p:nvSpPr>
          <p:cNvPr id="16" name="Shape 13"/>
          <p:cNvSpPr/>
          <p:nvPr/>
        </p:nvSpPr>
        <p:spPr>
          <a:xfrm>
            <a:off x="6199632" y="1271016"/>
            <a:ext cx="402336" cy="402336"/>
          </a:xfrm>
          <a:prstGeom prst="ellipse">
            <a:avLst/>
          </a:prstGeom>
          <a:solidFill>
            <a:srgbClr val="375623"/>
          </a:solidFill>
          <a:ln w="12700">
            <a:solidFill>
              <a:srgbClr val="375623"/>
            </a:solidFill>
            <a:prstDash val="solid"/>
          </a:ln>
        </p:spPr>
      </p:sp>
      <p:sp>
        <p:nvSpPr>
          <p:cNvPr id="17" name="Text 14"/>
          <p:cNvSpPr txBox="1"/>
          <p:nvPr/>
        </p:nvSpPr>
        <p:spPr>
          <a:xfrm>
            <a:off x="6199632" y="127101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a:t>
            </a:r>
            <a:endParaRPr lang="en-US" sz="1200" dirty="0"/>
          </a:p>
        </p:txBody>
      </p:sp>
      <p:sp>
        <p:nvSpPr>
          <p:cNvPr id="18" name="Text 15"/>
          <p:cNvSpPr txBox="1"/>
          <p:nvPr/>
        </p:nvSpPr>
        <p:spPr>
          <a:xfrm>
            <a:off x="6693408" y="1252728"/>
            <a:ext cx="1901952"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Drive to Christ</a:t>
            </a:r>
            <a:endParaRPr lang="en-US" sz="1200" dirty="0"/>
          </a:p>
        </p:txBody>
      </p:sp>
      <p:sp>
        <p:nvSpPr>
          <p:cNvPr id="19" name="Text 16"/>
          <p:cNvSpPr txBox="1"/>
          <p:nvPr/>
        </p:nvSpPr>
        <p:spPr>
          <a:xfrm>
            <a:off x="6199632" y="1764792"/>
            <a:ext cx="2359152" cy="1847088"/>
          </a:xfrm>
          <a:prstGeom prst="rect">
            <a:avLst/>
          </a:prstGeom>
          <a:noFill/>
          <a:ln/>
        </p:spPr>
        <p:txBody>
          <a:bodyPr wrap="square" lIns="0" tIns="0" rIns="0" bIns="0" rtlCol="0" anchor="t"/>
          <a:lstStyle/>
          <a:p>
            <a:pPr indent="0" marL="0">
              <a:buNone/>
            </a:pPr>
            <a:r>
              <a:rPr lang="en-US" sz="1250" b="1" dirty="0">
                <a:solidFill>
                  <a:srgbClr val="7030A0"/>
                </a:solidFill>
                <a:latin typeface="Arial" pitchFamily="34" charset="0"/>
                <a:ea typeface="Arial" pitchFamily="34" charset="-122"/>
                <a:cs typeface="Arial" pitchFamily="34" charset="-120"/>
              </a:rPr>
              <a:t>παιδαγωγός</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vv.23–25 — the slave-escort until faith came; now no longer under him</a:t>
            </a:r>
            <a:endParaRPr lang="en-US" sz="1200" dirty="0"/>
          </a:p>
        </p:txBody>
      </p:sp>
      <p:sp>
        <p:nvSpPr>
          <p:cNvPr id="20" name="Shape 17"/>
          <p:cNvSpPr/>
          <p:nvPr/>
        </p:nvSpPr>
        <p:spPr>
          <a:xfrm>
            <a:off x="457200" y="3931920"/>
            <a:ext cx="8229600" cy="548640"/>
          </a:xfrm>
          <a:prstGeom prst="roundRect">
            <a:avLst>
              <a:gd name="adj" fmla="val 10000"/>
            </a:avLst>
          </a:prstGeom>
          <a:solidFill>
            <a:srgbClr val="1F3864"/>
          </a:solidFill>
          <a:ln w="12700">
            <a:solidFill>
              <a:srgbClr val="1F3864"/>
            </a:solidFill>
            <a:prstDash val="solid"/>
          </a:ln>
        </p:spPr>
      </p:sp>
      <p:sp>
        <p:nvSpPr>
          <p:cNvPr id="21" name="Text 18"/>
          <p:cNvSpPr txBox="1"/>
          <p:nvPr/>
        </p:nvSpPr>
        <p:spPr>
          <a:xfrm>
            <a:off x="621792" y="3931920"/>
            <a:ext cx="7900416" cy="54864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You can't be saved until you know you need to be saved. The law showed the need; Christ meets it.</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What the promise gives that the law never could</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3:26–29 · Outline IV — Higher, deeper, wider, longer</a:t>
            </a:r>
            <a:endParaRPr lang="en-US" sz="1200" dirty="0"/>
          </a:p>
        </p:txBody>
      </p:sp>
      <p:sp>
        <p:nvSpPr>
          <p:cNvPr id="5" name="Shape 2"/>
          <p:cNvSpPr/>
          <p:nvPr/>
        </p:nvSpPr>
        <p:spPr>
          <a:xfrm>
            <a:off x="457200" y="1143000"/>
            <a:ext cx="4018788" cy="1664208"/>
          </a:xfrm>
          <a:prstGeom prst="rect">
            <a:avLst/>
          </a:prstGeom>
          <a:solidFill>
            <a:srgbClr val="F2F6FC"/>
          </a:solidFill>
          <a:ln w="9525">
            <a:solidFill>
              <a:srgbClr val="D5DCEA"/>
            </a:solidFill>
            <a:prstDash val="solid"/>
          </a:ln>
        </p:spPr>
      </p:sp>
      <p:sp>
        <p:nvSpPr>
          <p:cNvPr id="6" name="Shape 3"/>
          <p:cNvSpPr/>
          <p:nvPr/>
        </p:nvSpPr>
        <p:spPr>
          <a:xfrm>
            <a:off x="585216" y="1271016"/>
            <a:ext cx="402336" cy="402336"/>
          </a:xfrm>
          <a:prstGeom prst="ellipse">
            <a:avLst/>
          </a:prstGeom>
          <a:solidFill>
            <a:srgbClr val="2E5496"/>
          </a:solidFill>
          <a:ln w="12700">
            <a:solidFill>
              <a:srgbClr val="2E5496"/>
            </a:solidFill>
            <a:prstDash val="solid"/>
          </a:ln>
        </p:spPr>
      </p:sp>
      <p:sp>
        <p:nvSpPr>
          <p:cNvPr id="7" name="Text 4"/>
          <p:cNvSpPr txBox="1"/>
          <p:nvPr/>
        </p:nvSpPr>
        <p:spPr>
          <a:xfrm>
            <a:off x="585216" y="127101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8" name="Text 5"/>
          <p:cNvSpPr txBox="1"/>
          <p:nvPr/>
        </p:nvSpPr>
        <p:spPr>
          <a:xfrm>
            <a:off x="1078992" y="1252728"/>
            <a:ext cx="3305556"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Higher  ·  v.26</a:t>
            </a:r>
            <a:endParaRPr lang="en-US" sz="1200" dirty="0"/>
          </a:p>
        </p:txBody>
      </p:sp>
      <p:sp>
        <p:nvSpPr>
          <p:cNvPr id="9" name="Text 6"/>
          <p:cNvSpPr txBox="1"/>
          <p:nvPr/>
        </p:nvSpPr>
        <p:spPr>
          <a:xfrm>
            <a:off x="585216" y="1764792"/>
            <a:ext cx="3762756" cy="950976"/>
          </a:xfrm>
          <a:prstGeom prst="rect">
            <a:avLst/>
          </a:prstGeom>
          <a:noFill/>
          <a:ln/>
        </p:spPr>
        <p:txBody>
          <a:bodyPr wrap="square" lIns="0" tIns="0" rIns="0" bIns="0" rtlCol="0" anchor="t"/>
          <a:lstStyle/>
          <a:p>
            <a:pPr indent="0" marL="0">
              <a:buNone/>
            </a:pPr>
            <a:r>
              <a:rPr lang="en-US" sz="1250" b="1" dirty="0">
                <a:solidFill>
                  <a:srgbClr val="7030A0"/>
                </a:solidFill>
                <a:latin typeface="Arial" pitchFamily="34" charset="0"/>
                <a:ea typeface="Arial" pitchFamily="34" charset="-122"/>
                <a:cs typeface="Arial" pitchFamily="34" charset="-120"/>
              </a:rPr>
              <a:t>υἱοί θεοῦ</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Sons of God through faith in Christ Jesus</a:t>
            </a:r>
            <a:endParaRPr lang="en-US" sz="1200" dirty="0"/>
          </a:p>
        </p:txBody>
      </p:sp>
      <p:sp>
        <p:nvSpPr>
          <p:cNvPr id="10" name="Shape 7"/>
          <p:cNvSpPr/>
          <p:nvPr/>
        </p:nvSpPr>
        <p:spPr>
          <a:xfrm>
            <a:off x="4668012" y="1143000"/>
            <a:ext cx="4018788" cy="1664208"/>
          </a:xfrm>
          <a:prstGeom prst="rect">
            <a:avLst/>
          </a:prstGeom>
          <a:solidFill>
            <a:srgbClr val="F2F6FC"/>
          </a:solidFill>
          <a:ln w="9525">
            <a:solidFill>
              <a:srgbClr val="D5DCEA"/>
            </a:solidFill>
            <a:prstDash val="solid"/>
          </a:ln>
        </p:spPr>
      </p:sp>
      <p:sp>
        <p:nvSpPr>
          <p:cNvPr id="11" name="Shape 8"/>
          <p:cNvSpPr/>
          <p:nvPr/>
        </p:nvSpPr>
        <p:spPr>
          <a:xfrm>
            <a:off x="4796028" y="1271016"/>
            <a:ext cx="402336" cy="402336"/>
          </a:xfrm>
          <a:prstGeom prst="ellipse">
            <a:avLst/>
          </a:prstGeom>
          <a:solidFill>
            <a:srgbClr val="2E5496"/>
          </a:solidFill>
          <a:ln w="12700">
            <a:solidFill>
              <a:srgbClr val="2E5496"/>
            </a:solidFill>
            <a:prstDash val="solid"/>
          </a:ln>
        </p:spPr>
      </p:sp>
      <p:sp>
        <p:nvSpPr>
          <p:cNvPr id="12" name="Text 9"/>
          <p:cNvSpPr txBox="1"/>
          <p:nvPr/>
        </p:nvSpPr>
        <p:spPr>
          <a:xfrm>
            <a:off x="4796028" y="127101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13" name="Text 10"/>
          <p:cNvSpPr txBox="1"/>
          <p:nvPr/>
        </p:nvSpPr>
        <p:spPr>
          <a:xfrm>
            <a:off x="5289804" y="1252728"/>
            <a:ext cx="3305556"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Deeper  ·  v.27</a:t>
            </a:r>
            <a:endParaRPr lang="en-US" sz="1200" dirty="0"/>
          </a:p>
        </p:txBody>
      </p:sp>
      <p:sp>
        <p:nvSpPr>
          <p:cNvPr id="14" name="Text 11"/>
          <p:cNvSpPr txBox="1"/>
          <p:nvPr/>
        </p:nvSpPr>
        <p:spPr>
          <a:xfrm>
            <a:off x="4796028" y="1764792"/>
            <a:ext cx="3762756" cy="950976"/>
          </a:xfrm>
          <a:prstGeom prst="rect">
            <a:avLst/>
          </a:prstGeom>
          <a:noFill/>
          <a:ln/>
        </p:spPr>
        <p:txBody>
          <a:bodyPr wrap="square" lIns="0" tIns="0" rIns="0" bIns="0" rtlCol="0" anchor="t"/>
          <a:lstStyle/>
          <a:p>
            <a:pPr indent="0" marL="0">
              <a:buNone/>
            </a:pPr>
            <a:r>
              <a:rPr lang="en-US" sz="1250" b="1" dirty="0">
                <a:solidFill>
                  <a:srgbClr val="7030A0"/>
                </a:solidFill>
                <a:latin typeface="Arial" pitchFamily="34" charset="0"/>
                <a:ea typeface="Arial" pitchFamily="34" charset="-122"/>
                <a:cs typeface="Arial" pitchFamily="34" charset="-120"/>
              </a:rPr>
              <a:t>ἐνεδύσασθε</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Baptized by the Spirit into Christ — clothed with Him (1 Cor 12:13)</a:t>
            </a:r>
            <a:endParaRPr lang="en-US" sz="1200" dirty="0"/>
          </a:p>
        </p:txBody>
      </p:sp>
      <p:sp>
        <p:nvSpPr>
          <p:cNvPr id="15" name="Shape 12"/>
          <p:cNvSpPr/>
          <p:nvPr/>
        </p:nvSpPr>
        <p:spPr>
          <a:xfrm>
            <a:off x="457200" y="2971800"/>
            <a:ext cx="4018788" cy="1664208"/>
          </a:xfrm>
          <a:prstGeom prst="rect">
            <a:avLst/>
          </a:prstGeom>
          <a:solidFill>
            <a:srgbClr val="F2F6FC"/>
          </a:solidFill>
          <a:ln w="9525">
            <a:solidFill>
              <a:srgbClr val="D5DCEA"/>
            </a:solidFill>
            <a:prstDash val="solid"/>
          </a:ln>
        </p:spPr>
      </p:sp>
      <p:sp>
        <p:nvSpPr>
          <p:cNvPr id="16" name="Shape 13"/>
          <p:cNvSpPr/>
          <p:nvPr/>
        </p:nvSpPr>
        <p:spPr>
          <a:xfrm>
            <a:off x="585216" y="3099816"/>
            <a:ext cx="402336" cy="402336"/>
          </a:xfrm>
          <a:prstGeom prst="ellipse">
            <a:avLst/>
          </a:prstGeom>
          <a:solidFill>
            <a:srgbClr val="2E5496"/>
          </a:solidFill>
          <a:ln w="12700">
            <a:solidFill>
              <a:srgbClr val="2E5496"/>
            </a:solidFill>
            <a:prstDash val="solid"/>
          </a:ln>
        </p:spPr>
      </p:sp>
      <p:sp>
        <p:nvSpPr>
          <p:cNvPr id="17" name="Text 14"/>
          <p:cNvSpPr txBox="1"/>
          <p:nvPr/>
        </p:nvSpPr>
        <p:spPr>
          <a:xfrm>
            <a:off x="585216" y="309981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18" name="Text 15"/>
          <p:cNvSpPr txBox="1"/>
          <p:nvPr/>
        </p:nvSpPr>
        <p:spPr>
          <a:xfrm>
            <a:off x="1078992" y="3081528"/>
            <a:ext cx="3305556"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Wider  ·  v.28</a:t>
            </a:r>
            <a:endParaRPr lang="en-US" sz="1200" dirty="0"/>
          </a:p>
        </p:txBody>
      </p:sp>
      <p:sp>
        <p:nvSpPr>
          <p:cNvPr id="19" name="Text 16"/>
          <p:cNvSpPr txBox="1"/>
          <p:nvPr/>
        </p:nvSpPr>
        <p:spPr>
          <a:xfrm>
            <a:off x="585216" y="3593592"/>
            <a:ext cx="3762756" cy="95097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Neither Jew nor Greek, slave nor free, male nor female — all one in Christ</a:t>
            </a:r>
            <a:endParaRPr lang="en-US" sz="1200" dirty="0"/>
          </a:p>
        </p:txBody>
      </p:sp>
      <p:sp>
        <p:nvSpPr>
          <p:cNvPr id="20" name="Shape 17"/>
          <p:cNvSpPr/>
          <p:nvPr/>
        </p:nvSpPr>
        <p:spPr>
          <a:xfrm>
            <a:off x="4668012" y="2971800"/>
            <a:ext cx="4018788" cy="1664208"/>
          </a:xfrm>
          <a:prstGeom prst="rect">
            <a:avLst/>
          </a:prstGeom>
          <a:solidFill>
            <a:srgbClr val="F2F6FC"/>
          </a:solidFill>
          <a:ln w="9525">
            <a:solidFill>
              <a:srgbClr val="D5DCEA"/>
            </a:solidFill>
            <a:prstDash val="solid"/>
          </a:ln>
        </p:spPr>
      </p:sp>
      <p:sp>
        <p:nvSpPr>
          <p:cNvPr id="21" name="Shape 18"/>
          <p:cNvSpPr/>
          <p:nvPr/>
        </p:nvSpPr>
        <p:spPr>
          <a:xfrm>
            <a:off x="4796028" y="3099816"/>
            <a:ext cx="402336" cy="402336"/>
          </a:xfrm>
          <a:prstGeom prst="ellipse">
            <a:avLst/>
          </a:prstGeom>
          <a:solidFill>
            <a:srgbClr val="375623"/>
          </a:solidFill>
          <a:ln w="12700">
            <a:solidFill>
              <a:srgbClr val="375623"/>
            </a:solidFill>
            <a:prstDash val="solid"/>
          </a:ln>
        </p:spPr>
      </p:sp>
      <p:sp>
        <p:nvSpPr>
          <p:cNvPr id="22" name="Text 19"/>
          <p:cNvSpPr txBox="1"/>
          <p:nvPr/>
        </p:nvSpPr>
        <p:spPr>
          <a:xfrm>
            <a:off x="4796028" y="309981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23" name="Text 20"/>
          <p:cNvSpPr txBox="1"/>
          <p:nvPr/>
        </p:nvSpPr>
        <p:spPr>
          <a:xfrm>
            <a:off x="5289804" y="3081528"/>
            <a:ext cx="3305556"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Longer  ·  v.29</a:t>
            </a:r>
            <a:endParaRPr lang="en-US" sz="1200" dirty="0"/>
          </a:p>
        </p:txBody>
      </p:sp>
      <p:sp>
        <p:nvSpPr>
          <p:cNvPr id="24" name="Text 21"/>
          <p:cNvSpPr txBox="1"/>
          <p:nvPr/>
        </p:nvSpPr>
        <p:spPr>
          <a:xfrm>
            <a:off x="4796028" y="3593592"/>
            <a:ext cx="3762756" cy="950976"/>
          </a:xfrm>
          <a:prstGeom prst="rect">
            <a:avLst/>
          </a:prstGeom>
          <a:noFill/>
          <a:ln/>
        </p:spPr>
        <p:txBody>
          <a:bodyPr wrap="square" lIns="0" tIns="0" rIns="0" bIns="0" rtlCol="0" anchor="t"/>
          <a:lstStyle/>
          <a:p>
            <a:pPr indent="0" marL="0">
              <a:buNone/>
            </a:pPr>
            <a:r>
              <a:rPr lang="en-US" sz="1250" b="1" dirty="0">
                <a:solidFill>
                  <a:srgbClr val="7030A0"/>
                </a:solidFill>
                <a:latin typeface="Arial" pitchFamily="34" charset="0"/>
                <a:ea typeface="Arial" pitchFamily="34" charset="-122"/>
                <a:cs typeface="Arial" pitchFamily="34" charset="-120"/>
              </a:rPr>
              <a:t>κληρονόμοι</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Abraham's seed and heirs according to the promise — forever</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Discuss and apply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3:15–29 · from the study's posted questions and applications</a:t>
            </a:r>
            <a:endParaRPr lang="en-US" sz="1200" dirty="0"/>
          </a:p>
        </p:txBody>
      </p:sp>
      <p:sp>
        <p:nvSpPr>
          <p:cNvPr id="5" name="Shape 2"/>
          <p:cNvSpPr/>
          <p:nvPr/>
        </p:nvSpPr>
        <p:spPr>
          <a:xfrm>
            <a:off x="457200" y="1115568"/>
            <a:ext cx="4023360" cy="384048"/>
          </a:xfrm>
          <a:prstGeom prst="rect">
            <a:avLst/>
          </a:prstGeom>
          <a:solidFill>
            <a:srgbClr val="2E5496"/>
          </a:solidFill>
          <a:ln w="12700">
            <a:solidFill>
              <a:srgbClr val="2E5496"/>
            </a:solidFill>
            <a:prstDash val="solid"/>
          </a:ln>
        </p:spPr>
      </p:sp>
      <p:sp>
        <p:nvSpPr>
          <p:cNvPr id="6" name="Text 3"/>
          <p:cNvSpPr txBox="1"/>
          <p:nvPr/>
        </p:nvSpPr>
        <p:spPr>
          <a:xfrm>
            <a:off x="56692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Discuss</a:t>
            </a:r>
            <a:endParaRPr lang="en-US" sz="1300" dirty="0"/>
          </a:p>
        </p:txBody>
      </p:sp>
      <p:sp>
        <p:nvSpPr>
          <p:cNvPr id="7" name="Shape 4"/>
          <p:cNvSpPr/>
          <p:nvPr/>
        </p:nvSpPr>
        <p:spPr>
          <a:xfrm>
            <a:off x="457200" y="1499616"/>
            <a:ext cx="4023360" cy="2359152"/>
          </a:xfrm>
          <a:prstGeom prst="rect">
            <a:avLst/>
          </a:prstGeom>
          <a:solidFill>
            <a:srgbClr val="F2F6FC"/>
          </a:solidFill>
          <a:ln w="9525">
            <a:solidFill>
              <a:srgbClr val="D5DCEA"/>
            </a:solidFill>
            <a:prstDash val="solid"/>
          </a:ln>
        </p:spPr>
      </p:sp>
      <p:sp>
        <p:nvSpPr>
          <p:cNvPr id="8" name="Shape 5"/>
          <p:cNvSpPr/>
          <p:nvPr/>
        </p:nvSpPr>
        <p:spPr>
          <a:xfrm>
            <a:off x="4663440" y="1115568"/>
            <a:ext cx="4023360" cy="384048"/>
          </a:xfrm>
          <a:prstGeom prst="rect">
            <a:avLst/>
          </a:prstGeom>
          <a:solidFill>
            <a:srgbClr val="375623"/>
          </a:solidFill>
          <a:ln w="12700">
            <a:solidFill>
              <a:srgbClr val="375623"/>
            </a:solidFill>
            <a:prstDash val="solid"/>
          </a:ln>
        </p:spPr>
      </p:sp>
      <p:sp>
        <p:nvSpPr>
          <p:cNvPr id="9" name="Text 6"/>
          <p:cNvSpPr txBox="1"/>
          <p:nvPr/>
        </p:nvSpPr>
        <p:spPr>
          <a:xfrm>
            <a:off x="477316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Apply</a:t>
            </a:r>
            <a:endParaRPr lang="en-US" sz="1300" dirty="0"/>
          </a:p>
        </p:txBody>
      </p:sp>
      <p:sp>
        <p:nvSpPr>
          <p:cNvPr id="10" name="Shape 7"/>
          <p:cNvSpPr/>
          <p:nvPr/>
        </p:nvSpPr>
        <p:spPr>
          <a:xfrm>
            <a:off x="4663440" y="1499616"/>
            <a:ext cx="4023360" cy="2359152"/>
          </a:xfrm>
          <a:prstGeom prst="rect">
            <a:avLst/>
          </a:prstGeom>
          <a:solidFill>
            <a:srgbClr val="F2F6FC"/>
          </a:solidFill>
          <a:ln w="9525">
            <a:solidFill>
              <a:srgbClr val="D5DCEA"/>
            </a:solidFill>
            <a:prstDash val="solid"/>
          </a:ln>
        </p:spPr>
      </p:sp>
      <p:sp>
        <p:nvSpPr>
          <p:cNvPr id="11" name="Shape 8"/>
          <p:cNvSpPr/>
          <p:nvPr/>
        </p:nvSpPr>
        <p:spPr>
          <a:xfrm>
            <a:off x="566928" y="1636776"/>
            <a:ext cx="347472" cy="347472"/>
          </a:xfrm>
          <a:prstGeom prst="ellipse">
            <a:avLst/>
          </a:prstGeom>
          <a:solidFill>
            <a:srgbClr val="2E5496"/>
          </a:solidFill>
          <a:ln w="12700">
            <a:solidFill>
              <a:srgbClr val="2E5496"/>
            </a:solidFill>
            <a:prstDash val="solid"/>
          </a:ln>
        </p:spPr>
      </p:sp>
      <p:sp>
        <p:nvSpPr>
          <p:cNvPr id="12" name="Text 9"/>
          <p:cNvSpPr txBox="1"/>
          <p:nvPr/>
        </p:nvSpPr>
        <p:spPr>
          <a:xfrm>
            <a:off x="566928" y="163677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3" name="Text 10"/>
          <p:cNvSpPr txBox="1"/>
          <p:nvPr/>
        </p:nvSpPr>
        <p:spPr>
          <a:xfrm>
            <a:off x="1005840" y="1591056"/>
            <a:ext cx="3364992" cy="1042416"/>
          </a:xfrm>
          <a:prstGeom prst="rect">
            <a:avLst/>
          </a:prstGeom>
          <a:noFill/>
          <a:ln/>
        </p:spPr>
        <p:txBody>
          <a:bodyPr wrap="square" lIns="0" tIns="0" rIns="0" bIns="0" rtlCol="0" anchor="t"/>
          <a:lstStyle/>
          <a:p>
            <a:pPr indent="0" marL="0">
              <a:buNone/>
            </a:pPr>
            <a:r>
              <a:rPr lang="en-US" sz="1350" dirty="0">
                <a:solidFill>
                  <a:srgbClr val="262626"/>
                </a:solidFill>
                <a:latin typeface="Arial" pitchFamily="34" charset="0"/>
                <a:ea typeface="Arial" pitchFamily="34" charset="-122"/>
                <a:cs typeface="Arial" pitchFamily="34" charset="-120"/>
              </a:rPr>
              <a:t>What does it mean that Abraham was asleep while God alone passed through the pieces (Genesis 15)?</a:t>
            </a:r>
            <a:endParaRPr lang="en-US" sz="1350" dirty="0"/>
          </a:p>
        </p:txBody>
      </p:sp>
      <p:sp>
        <p:nvSpPr>
          <p:cNvPr id="14" name="Shape 11"/>
          <p:cNvSpPr/>
          <p:nvPr/>
        </p:nvSpPr>
        <p:spPr>
          <a:xfrm>
            <a:off x="566928" y="2724912"/>
            <a:ext cx="347472" cy="347472"/>
          </a:xfrm>
          <a:prstGeom prst="ellipse">
            <a:avLst/>
          </a:prstGeom>
          <a:solidFill>
            <a:srgbClr val="2E5496"/>
          </a:solidFill>
          <a:ln w="12700">
            <a:solidFill>
              <a:srgbClr val="2E5496"/>
            </a:solidFill>
            <a:prstDash val="solid"/>
          </a:ln>
        </p:spPr>
      </p:sp>
      <p:sp>
        <p:nvSpPr>
          <p:cNvPr id="15" name="Text 12"/>
          <p:cNvSpPr txBox="1"/>
          <p:nvPr/>
        </p:nvSpPr>
        <p:spPr>
          <a:xfrm>
            <a:off x="566928" y="272491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6" name="Text 13"/>
          <p:cNvSpPr txBox="1"/>
          <p:nvPr/>
        </p:nvSpPr>
        <p:spPr>
          <a:xfrm>
            <a:off x="1005840" y="2679192"/>
            <a:ext cx="3364992" cy="1042416"/>
          </a:xfrm>
          <a:prstGeom prst="rect">
            <a:avLst/>
          </a:prstGeom>
          <a:noFill/>
          <a:ln/>
        </p:spPr>
        <p:txBody>
          <a:bodyPr wrap="square" lIns="0" tIns="0" rIns="0" bIns="0" rtlCol="0" anchor="t"/>
          <a:lstStyle/>
          <a:p>
            <a:pPr indent="0" marL="0">
              <a:buNone/>
            </a:pPr>
            <a:r>
              <a:rPr lang="en-US" sz="1350" dirty="0">
                <a:solidFill>
                  <a:srgbClr val="262626"/>
                </a:solidFill>
                <a:latin typeface="Arial" pitchFamily="34" charset="0"/>
                <a:ea typeface="Arial" pitchFamily="34" charset="-122"/>
                <a:cs typeface="Arial" pitchFamily="34" charset="-120"/>
              </a:rPr>
              <a:t>Of the four ways our standing surpasses the law — higher, deeper, wider, longer — which means most to you right now, and why?</a:t>
            </a:r>
            <a:endParaRPr lang="en-US" sz="1350" dirty="0"/>
          </a:p>
        </p:txBody>
      </p:sp>
      <p:sp>
        <p:nvSpPr>
          <p:cNvPr id="17" name="Text 14"/>
          <p:cNvSpPr txBox="1"/>
          <p:nvPr/>
        </p:nvSpPr>
        <p:spPr>
          <a:xfrm>
            <a:off x="4791456" y="1591056"/>
            <a:ext cx="3767328" cy="1042416"/>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Rest in “You Have Been Blessed, Do This”</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Before you pray tonight, say aloud “I have already been blessed” before anything you plan to do for God.</a:t>
            </a:r>
            <a:endParaRPr lang="en-US" sz="1200" dirty="0"/>
          </a:p>
        </p:txBody>
      </p:sp>
      <p:sp>
        <p:nvSpPr>
          <p:cNvPr id="18" name="Text 15"/>
          <p:cNvSpPr txBox="1"/>
          <p:nvPr/>
        </p:nvSpPr>
        <p:spPr>
          <a:xfrm>
            <a:off x="4791456" y="2679192"/>
            <a:ext cx="3767328" cy="1042416"/>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Live the Wide Ground</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Extend a specific honor this week to a believer you might ordinarily overlook.</a:t>
            </a:r>
            <a:endParaRPr lang="en-US" sz="1200" dirty="0"/>
          </a:p>
        </p:txBody>
      </p:sp>
      <p:sp>
        <p:nvSpPr>
          <p:cNvPr id="19" name="Shape 16"/>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0" name="Text 17"/>
          <p:cNvSpPr txBox="1"/>
          <p:nvPr/>
        </p:nvSpPr>
        <p:spPr>
          <a:xfrm>
            <a:off x="621792" y="4023360"/>
            <a:ext cx="7900416" cy="566928"/>
          </a:xfrm>
          <a:prstGeom prst="rect">
            <a:avLst/>
          </a:prstGeom>
          <a:noFill/>
          <a:ln/>
        </p:spPr>
        <p:txBody>
          <a:bodyPr wrap="square" lIns="0" tIns="0" rIns="0" bIns="0" rtlCol="0" anchor="ctr"/>
          <a:lstStyle/>
          <a:p>
            <a:pPr indent="0" marL="0">
              <a:buNone/>
            </a:pPr>
            <a:r>
              <a:rPr lang="en-US" sz="1250" b="1" dirty="0">
                <a:solidFill>
                  <a:srgbClr val="C9D5EE"/>
                </a:solidFill>
                <a:latin typeface="Arial" pitchFamily="34" charset="0"/>
                <a:ea typeface="Arial" pitchFamily="34" charset="-122"/>
                <a:cs typeface="Arial" pitchFamily="34" charset="-120"/>
              </a:rPr>
              <a:t>In one line:  </a:t>
            </a:r>
            <a:pPr indent="0" marL="0">
              <a:buNone/>
            </a:pPr>
            <a:r>
              <a:rPr lang="en-US" sz="1250" dirty="0">
                <a:solidFill>
                  <a:srgbClr val="FFFFFF"/>
                </a:solidFill>
                <a:latin typeface="Arial" pitchFamily="34" charset="0"/>
                <a:ea typeface="Arial" pitchFamily="34" charset="-122"/>
                <a:cs typeface="Arial" pitchFamily="34" charset="-120"/>
              </a:rPr>
              <a:t>The promise came first and stands forever; the law's work was to lead us to Christ.</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lstStyle/>
          <a:p>
            <a:pPr indent="0" marL="0">
              <a:buNone/>
            </a:pPr>
            <a:r>
              <a:rPr lang="en-US" sz="1400" dirty="0">
                <a:solidFill>
                  <a:srgbClr val="C9D5EE"/>
                </a:solidFill>
                <a:latin typeface="Arial" pitchFamily="34" charset="0"/>
                <a:ea typeface="Arial" pitchFamily="34" charset="-122"/>
                <a:cs typeface="Arial" pitchFamily="34" charset="-120"/>
              </a:rPr>
              <a:t>Study 9 of 16 · Galatians 4:1–11</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When I Became a Man</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t"/>
          <a:lstStyle/>
          <a:p>
            <a:pPr indent="0" marL="0">
              <a:buNone/>
            </a:pPr>
            <a:r>
              <a:rPr lang="en-US" sz="1500" i="1" dirty="0">
                <a:solidFill>
                  <a:srgbClr val="E6ECF7"/>
                </a:solidFill>
                <a:latin typeface="Arial" pitchFamily="34" charset="0"/>
                <a:ea typeface="Arial" pitchFamily="34" charset="-122"/>
                <a:cs typeface="Arial" pitchFamily="34" charset="-120"/>
              </a:rPr>
              <a:t>Before Christ, even the heir lived no differently than a slave. In the fullness of time God sent His Son to redeem those under law and make them sons and heirs — so turning back to rule-keeping only trades one slavery for another.</a:t>
            </a:r>
            <a:endParaRPr lang="en-US" sz="15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The child-heir under guardians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4:1–3 · Outline I — Our situation</a:t>
            </a:r>
            <a:endParaRPr lang="en-US" sz="1200" dirty="0"/>
          </a:p>
        </p:txBody>
      </p:sp>
      <p:sp>
        <p:nvSpPr>
          <p:cNvPr id="5" name="Shape 2"/>
          <p:cNvSpPr/>
          <p:nvPr/>
        </p:nvSpPr>
        <p:spPr>
          <a:xfrm>
            <a:off x="457200" y="1115568"/>
            <a:ext cx="777240" cy="548640"/>
          </a:xfrm>
          <a:prstGeom prst="rect">
            <a:avLst/>
          </a:prstGeom>
          <a:solidFill>
            <a:srgbClr val="2E5496"/>
          </a:solidFill>
          <a:ln w="12700">
            <a:solidFill>
              <a:srgbClr val="2E5496"/>
            </a:solidFill>
            <a:prstDash val="solid"/>
          </a:ln>
        </p:spPr>
      </p:sp>
      <p:sp>
        <p:nvSpPr>
          <p:cNvPr id="6" name="Text 3"/>
          <p:cNvSpPr txBox="1"/>
          <p:nvPr/>
        </p:nvSpPr>
        <p:spPr>
          <a:xfrm>
            <a:off x="457200" y="1115568"/>
            <a:ext cx="77724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a:t>
            </a:r>
            <a:endParaRPr lang="en-US" sz="1100" dirty="0"/>
          </a:p>
        </p:txBody>
      </p:sp>
      <p:sp>
        <p:nvSpPr>
          <p:cNvPr id="7" name="Shape 4"/>
          <p:cNvSpPr/>
          <p:nvPr/>
        </p:nvSpPr>
        <p:spPr>
          <a:xfrm>
            <a:off x="1234440" y="1115568"/>
            <a:ext cx="7452360" cy="548640"/>
          </a:xfrm>
          <a:prstGeom prst="rect">
            <a:avLst/>
          </a:prstGeom>
          <a:solidFill>
            <a:srgbClr val="F2F6FC"/>
          </a:solidFill>
          <a:ln w="9525">
            <a:solidFill>
              <a:srgbClr val="D5DCEA"/>
            </a:solidFill>
            <a:prstDash val="solid"/>
          </a:ln>
        </p:spPr>
      </p:sp>
      <p:sp>
        <p:nvSpPr>
          <p:cNvPr id="8" name="Text 5"/>
          <p:cNvSpPr txBox="1"/>
          <p:nvPr/>
        </p:nvSpPr>
        <p:spPr>
          <a:xfrm>
            <a:off x="1344168" y="1115568"/>
            <a:ext cx="416052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The heir, while a child, “does not differ at all from a slave”</a:t>
            </a:r>
            <a:endParaRPr lang="en-US" sz="1200" dirty="0"/>
          </a:p>
        </p:txBody>
      </p:sp>
      <p:sp>
        <p:nvSpPr>
          <p:cNvPr id="9" name="Text 6"/>
          <p:cNvSpPr txBox="1"/>
          <p:nvPr/>
        </p:nvSpPr>
        <p:spPr>
          <a:xfrm>
            <a:off x="5577840" y="1115568"/>
            <a:ext cx="3017520" cy="54864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νήπιος · δοῦλος</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a minor · a slave</a:t>
            </a:r>
            <a:endParaRPr lang="en-US" sz="1200" dirty="0"/>
          </a:p>
        </p:txBody>
      </p:sp>
      <p:sp>
        <p:nvSpPr>
          <p:cNvPr id="10" name="Shape 7"/>
          <p:cNvSpPr/>
          <p:nvPr/>
        </p:nvSpPr>
        <p:spPr>
          <a:xfrm>
            <a:off x="457200" y="1728216"/>
            <a:ext cx="777240" cy="548640"/>
          </a:xfrm>
          <a:prstGeom prst="rect">
            <a:avLst/>
          </a:prstGeom>
          <a:solidFill>
            <a:srgbClr val="2E5496"/>
          </a:solidFill>
          <a:ln w="12700">
            <a:solidFill>
              <a:srgbClr val="2E5496"/>
            </a:solidFill>
            <a:prstDash val="solid"/>
          </a:ln>
        </p:spPr>
      </p:sp>
      <p:sp>
        <p:nvSpPr>
          <p:cNvPr id="11" name="Text 8"/>
          <p:cNvSpPr txBox="1"/>
          <p:nvPr/>
        </p:nvSpPr>
        <p:spPr>
          <a:xfrm>
            <a:off x="457200" y="1728216"/>
            <a:ext cx="77724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a:t>
            </a:r>
            <a:endParaRPr lang="en-US" sz="1100" dirty="0"/>
          </a:p>
        </p:txBody>
      </p:sp>
      <p:sp>
        <p:nvSpPr>
          <p:cNvPr id="12" name="Shape 9"/>
          <p:cNvSpPr/>
          <p:nvPr/>
        </p:nvSpPr>
        <p:spPr>
          <a:xfrm>
            <a:off x="1234440" y="1728216"/>
            <a:ext cx="7452360" cy="548640"/>
          </a:xfrm>
          <a:prstGeom prst="rect">
            <a:avLst/>
          </a:prstGeom>
          <a:solidFill>
            <a:srgbClr val="FFFFFF"/>
          </a:solidFill>
          <a:ln w="9525">
            <a:solidFill>
              <a:srgbClr val="D5DCEA"/>
            </a:solidFill>
            <a:prstDash val="solid"/>
          </a:ln>
        </p:spPr>
      </p:sp>
      <p:sp>
        <p:nvSpPr>
          <p:cNvPr id="13" name="Text 10"/>
          <p:cNvSpPr txBox="1"/>
          <p:nvPr/>
        </p:nvSpPr>
        <p:spPr>
          <a:xfrm>
            <a:off x="1344168" y="1728216"/>
            <a:ext cx="416052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“though he is master of all” — legally owns the estate</a:t>
            </a:r>
            <a:endParaRPr lang="en-US" sz="1200" dirty="0"/>
          </a:p>
        </p:txBody>
      </p:sp>
      <p:sp>
        <p:nvSpPr>
          <p:cNvPr id="14" name="Text 11"/>
          <p:cNvSpPr txBox="1"/>
          <p:nvPr/>
        </p:nvSpPr>
        <p:spPr>
          <a:xfrm>
            <a:off x="5577840" y="1728216"/>
            <a:ext cx="3017520" cy="54864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κληρονόμος</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heir</a:t>
            </a:r>
            <a:endParaRPr lang="en-US" sz="1200" dirty="0"/>
          </a:p>
        </p:txBody>
      </p:sp>
      <p:sp>
        <p:nvSpPr>
          <p:cNvPr id="15" name="Shape 12"/>
          <p:cNvSpPr/>
          <p:nvPr/>
        </p:nvSpPr>
        <p:spPr>
          <a:xfrm>
            <a:off x="457200" y="2340864"/>
            <a:ext cx="777240" cy="548640"/>
          </a:xfrm>
          <a:prstGeom prst="rect">
            <a:avLst/>
          </a:prstGeom>
          <a:solidFill>
            <a:srgbClr val="2E5496"/>
          </a:solidFill>
          <a:ln w="12700">
            <a:solidFill>
              <a:srgbClr val="2E5496"/>
            </a:solidFill>
            <a:prstDash val="solid"/>
          </a:ln>
        </p:spPr>
      </p:sp>
      <p:sp>
        <p:nvSpPr>
          <p:cNvPr id="16" name="Text 13"/>
          <p:cNvSpPr txBox="1"/>
          <p:nvPr/>
        </p:nvSpPr>
        <p:spPr>
          <a:xfrm>
            <a:off x="457200" y="2340864"/>
            <a:ext cx="77724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v.2</a:t>
            </a:r>
            <a:endParaRPr lang="en-US" sz="1100" dirty="0"/>
          </a:p>
        </p:txBody>
      </p:sp>
      <p:sp>
        <p:nvSpPr>
          <p:cNvPr id="17" name="Shape 14"/>
          <p:cNvSpPr/>
          <p:nvPr/>
        </p:nvSpPr>
        <p:spPr>
          <a:xfrm>
            <a:off x="1234440" y="2340864"/>
            <a:ext cx="7452360" cy="548640"/>
          </a:xfrm>
          <a:prstGeom prst="rect">
            <a:avLst/>
          </a:prstGeom>
          <a:solidFill>
            <a:srgbClr val="F2F6FC"/>
          </a:solidFill>
          <a:ln w="9525">
            <a:solidFill>
              <a:srgbClr val="D5DCEA"/>
            </a:solidFill>
            <a:prstDash val="solid"/>
          </a:ln>
        </p:spPr>
      </p:sp>
      <p:sp>
        <p:nvSpPr>
          <p:cNvPr id="18" name="Text 15"/>
          <p:cNvSpPr txBox="1"/>
          <p:nvPr/>
        </p:nvSpPr>
        <p:spPr>
          <a:xfrm>
            <a:off x="1344168" y="2340864"/>
            <a:ext cx="416052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“under guardians and stewards” — over his person and his estate</a:t>
            </a:r>
            <a:endParaRPr lang="en-US" sz="1200" dirty="0"/>
          </a:p>
        </p:txBody>
      </p:sp>
      <p:sp>
        <p:nvSpPr>
          <p:cNvPr id="19" name="Text 16"/>
          <p:cNvSpPr txBox="1"/>
          <p:nvPr/>
        </p:nvSpPr>
        <p:spPr>
          <a:xfrm>
            <a:off x="5577840" y="2340864"/>
            <a:ext cx="3017520" cy="54864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ἐπιτρόπους · οἰκονόμους</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guardian · household manager</a:t>
            </a:r>
            <a:endParaRPr lang="en-US" sz="1200" dirty="0"/>
          </a:p>
        </p:txBody>
      </p:sp>
      <p:sp>
        <p:nvSpPr>
          <p:cNvPr id="20" name="Shape 17"/>
          <p:cNvSpPr/>
          <p:nvPr/>
        </p:nvSpPr>
        <p:spPr>
          <a:xfrm>
            <a:off x="457200" y="2953512"/>
            <a:ext cx="777240" cy="548640"/>
          </a:xfrm>
          <a:prstGeom prst="rect">
            <a:avLst/>
          </a:prstGeom>
          <a:solidFill>
            <a:srgbClr val="2E5496"/>
          </a:solidFill>
          <a:ln w="12700">
            <a:solidFill>
              <a:srgbClr val="2E5496"/>
            </a:solidFill>
            <a:prstDash val="solid"/>
          </a:ln>
        </p:spPr>
      </p:sp>
      <p:sp>
        <p:nvSpPr>
          <p:cNvPr id="21" name="Text 18"/>
          <p:cNvSpPr txBox="1"/>
          <p:nvPr/>
        </p:nvSpPr>
        <p:spPr>
          <a:xfrm>
            <a:off x="457200" y="2953512"/>
            <a:ext cx="77724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v.2</a:t>
            </a:r>
            <a:endParaRPr lang="en-US" sz="1100" dirty="0"/>
          </a:p>
        </p:txBody>
      </p:sp>
      <p:sp>
        <p:nvSpPr>
          <p:cNvPr id="22" name="Shape 19"/>
          <p:cNvSpPr/>
          <p:nvPr/>
        </p:nvSpPr>
        <p:spPr>
          <a:xfrm>
            <a:off x="1234440" y="2953512"/>
            <a:ext cx="7452360" cy="548640"/>
          </a:xfrm>
          <a:prstGeom prst="rect">
            <a:avLst/>
          </a:prstGeom>
          <a:solidFill>
            <a:srgbClr val="FFFFFF"/>
          </a:solidFill>
          <a:ln w="9525">
            <a:solidFill>
              <a:srgbClr val="D5DCEA"/>
            </a:solidFill>
            <a:prstDash val="solid"/>
          </a:ln>
        </p:spPr>
      </p:sp>
      <p:sp>
        <p:nvSpPr>
          <p:cNvPr id="23" name="Text 20"/>
          <p:cNvSpPr txBox="1"/>
          <p:nvPr/>
        </p:nvSpPr>
        <p:spPr>
          <a:xfrm>
            <a:off x="1344168" y="2953512"/>
            <a:ext cx="416052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“until the time appointed by the father” — the date set in the will</a:t>
            </a:r>
            <a:endParaRPr lang="en-US" sz="1200" dirty="0"/>
          </a:p>
        </p:txBody>
      </p:sp>
      <p:sp>
        <p:nvSpPr>
          <p:cNvPr id="24" name="Text 21"/>
          <p:cNvSpPr txBox="1"/>
          <p:nvPr/>
        </p:nvSpPr>
        <p:spPr>
          <a:xfrm>
            <a:off x="5577840" y="2953512"/>
            <a:ext cx="3017520" cy="54864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προθεσμίας</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appointed time</a:t>
            </a:r>
            <a:endParaRPr lang="en-US" sz="1200" dirty="0"/>
          </a:p>
        </p:txBody>
      </p:sp>
      <p:sp>
        <p:nvSpPr>
          <p:cNvPr id="25" name="Shape 22"/>
          <p:cNvSpPr/>
          <p:nvPr/>
        </p:nvSpPr>
        <p:spPr>
          <a:xfrm>
            <a:off x="457200" y="3566160"/>
            <a:ext cx="777240" cy="548640"/>
          </a:xfrm>
          <a:prstGeom prst="rect">
            <a:avLst/>
          </a:prstGeom>
          <a:solidFill>
            <a:srgbClr val="6B7280"/>
          </a:solidFill>
          <a:ln w="12700">
            <a:solidFill>
              <a:srgbClr val="6B7280"/>
            </a:solidFill>
            <a:prstDash val="solid"/>
          </a:ln>
        </p:spPr>
      </p:sp>
      <p:sp>
        <p:nvSpPr>
          <p:cNvPr id="26" name="Text 23"/>
          <p:cNvSpPr txBox="1"/>
          <p:nvPr/>
        </p:nvSpPr>
        <p:spPr>
          <a:xfrm>
            <a:off x="457200" y="3566160"/>
            <a:ext cx="77724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v.3</a:t>
            </a:r>
            <a:endParaRPr lang="en-US" sz="1100" dirty="0"/>
          </a:p>
        </p:txBody>
      </p:sp>
      <p:sp>
        <p:nvSpPr>
          <p:cNvPr id="27" name="Shape 24"/>
          <p:cNvSpPr/>
          <p:nvPr/>
        </p:nvSpPr>
        <p:spPr>
          <a:xfrm>
            <a:off x="1234440" y="3566160"/>
            <a:ext cx="7452360" cy="548640"/>
          </a:xfrm>
          <a:prstGeom prst="rect">
            <a:avLst/>
          </a:prstGeom>
          <a:solidFill>
            <a:srgbClr val="F2F6FC"/>
          </a:solidFill>
          <a:ln w="9525">
            <a:solidFill>
              <a:srgbClr val="D5DCEA"/>
            </a:solidFill>
            <a:prstDash val="solid"/>
          </a:ln>
        </p:spPr>
      </p:sp>
      <p:sp>
        <p:nvSpPr>
          <p:cNvPr id="28" name="Text 25"/>
          <p:cNvSpPr txBox="1"/>
          <p:nvPr/>
        </p:nvSpPr>
        <p:spPr>
          <a:xfrm>
            <a:off x="1344168" y="3566160"/>
            <a:ext cx="416052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“Even so we … were in bondage under the elements of the world”</a:t>
            </a:r>
            <a:endParaRPr lang="en-US" sz="1200" dirty="0"/>
          </a:p>
        </p:txBody>
      </p:sp>
      <p:sp>
        <p:nvSpPr>
          <p:cNvPr id="29" name="Text 26"/>
          <p:cNvSpPr txBox="1"/>
          <p:nvPr/>
        </p:nvSpPr>
        <p:spPr>
          <a:xfrm>
            <a:off x="5577840" y="3566160"/>
            <a:ext cx="3017520" cy="54864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στοιχεῖα</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rudiments — Jew and Gentile alike</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“When the fullness of the time had come”</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4:4 · Outline II.A.1 — It was the right season</a:t>
            </a:r>
            <a:endParaRPr lang="en-US" sz="1200" dirty="0"/>
          </a:p>
        </p:txBody>
      </p:sp>
      <p:sp>
        <p:nvSpPr>
          <p:cNvPr id="5" name="Shape 2"/>
          <p:cNvSpPr/>
          <p:nvPr/>
        </p:nvSpPr>
        <p:spPr>
          <a:xfrm>
            <a:off x="457200" y="1143000"/>
            <a:ext cx="2615184" cy="1645920"/>
          </a:xfrm>
          <a:prstGeom prst="rect">
            <a:avLst/>
          </a:prstGeom>
          <a:solidFill>
            <a:srgbClr val="F2F6FC"/>
          </a:solidFill>
          <a:ln w="9525">
            <a:solidFill>
              <a:srgbClr val="D5DCEA"/>
            </a:solidFill>
            <a:prstDash val="solid"/>
          </a:ln>
        </p:spPr>
      </p:sp>
      <p:sp>
        <p:nvSpPr>
          <p:cNvPr id="6" name="Shape 3"/>
          <p:cNvSpPr/>
          <p:nvPr/>
        </p:nvSpPr>
        <p:spPr>
          <a:xfrm>
            <a:off x="585216" y="1271016"/>
            <a:ext cx="402336" cy="402336"/>
          </a:xfrm>
          <a:prstGeom prst="ellipse">
            <a:avLst/>
          </a:prstGeom>
          <a:solidFill>
            <a:srgbClr val="2E5496"/>
          </a:solidFill>
          <a:ln w="12700">
            <a:solidFill>
              <a:srgbClr val="2E5496"/>
            </a:solidFill>
            <a:prstDash val="solid"/>
          </a:ln>
        </p:spPr>
      </p:sp>
      <p:sp>
        <p:nvSpPr>
          <p:cNvPr id="7" name="Text 4"/>
          <p:cNvSpPr txBox="1"/>
          <p:nvPr/>
        </p:nvSpPr>
        <p:spPr>
          <a:xfrm>
            <a:off x="585216" y="127101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a:t>
            </a:r>
            <a:endParaRPr lang="en-US" sz="1200" dirty="0"/>
          </a:p>
        </p:txBody>
      </p:sp>
      <p:sp>
        <p:nvSpPr>
          <p:cNvPr id="8" name="Text 5"/>
          <p:cNvSpPr txBox="1"/>
          <p:nvPr/>
        </p:nvSpPr>
        <p:spPr>
          <a:xfrm>
            <a:off x="1078992" y="1252728"/>
            <a:ext cx="1901952"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A common language</a:t>
            </a:r>
            <a:endParaRPr lang="en-US" sz="1200" dirty="0"/>
          </a:p>
        </p:txBody>
      </p:sp>
      <p:sp>
        <p:nvSpPr>
          <p:cNvPr id="9" name="Text 6"/>
          <p:cNvSpPr txBox="1"/>
          <p:nvPr/>
        </p:nvSpPr>
        <p:spPr>
          <a:xfrm>
            <a:off x="585216" y="1764792"/>
            <a:ext cx="2359152" cy="932688"/>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Greek, spread by Alexander — precise enough for theology</a:t>
            </a:r>
            <a:endParaRPr lang="en-US" sz="1200" dirty="0"/>
          </a:p>
        </p:txBody>
      </p:sp>
      <p:sp>
        <p:nvSpPr>
          <p:cNvPr id="10" name="Shape 7"/>
          <p:cNvSpPr/>
          <p:nvPr/>
        </p:nvSpPr>
        <p:spPr>
          <a:xfrm>
            <a:off x="3264408" y="1143000"/>
            <a:ext cx="2615184" cy="1645920"/>
          </a:xfrm>
          <a:prstGeom prst="rect">
            <a:avLst/>
          </a:prstGeom>
          <a:solidFill>
            <a:srgbClr val="F2F6FC"/>
          </a:solidFill>
          <a:ln w="9525">
            <a:solidFill>
              <a:srgbClr val="D5DCEA"/>
            </a:solidFill>
            <a:prstDash val="solid"/>
          </a:ln>
        </p:spPr>
      </p:sp>
      <p:sp>
        <p:nvSpPr>
          <p:cNvPr id="11" name="Shape 8"/>
          <p:cNvSpPr/>
          <p:nvPr/>
        </p:nvSpPr>
        <p:spPr>
          <a:xfrm>
            <a:off x="3392424" y="1271016"/>
            <a:ext cx="402336" cy="402336"/>
          </a:xfrm>
          <a:prstGeom prst="ellipse">
            <a:avLst/>
          </a:prstGeom>
          <a:solidFill>
            <a:srgbClr val="2E5496"/>
          </a:solidFill>
          <a:ln w="12700">
            <a:solidFill>
              <a:srgbClr val="2E5496"/>
            </a:solidFill>
            <a:prstDash val="solid"/>
          </a:ln>
        </p:spPr>
      </p:sp>
      <p:sp>
        <p:nvSpPr>
          <p:cNvPr id="12" name="Text 9"/>
          <p:cNvSpPr txBox="1"/>
          <p:nvPr/>
        </p:nvSpPr>
        <p:spPr>
          <a:xfrm>
            <a:off x="3392424" y="127101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b</a:t>
            </a:r>
            <a:endParaRPr lang="en-US" sz="1200" dirty="0"/>
          </a:p>
        </p:txBody>
      </p:sp>
      <p:sp>
        <p:nvSpPr>
          <p:cNvPr id="13" name="Text 10"/>
          <p:cNvSpPr txBox="1"/>
          <p:nvPr/>
        </p:nvSpPr>
        <p:spPr>
          <a:xfrm>
            <a:off x="3886200" y="1252728"/>
            <a:ext cx="1901952"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Roads and travel</a:t>
            </a:r>
            <a:endParaRPr lang="en-US" sz="1200" dirty="0"/>
          </a:p>
        </p:txBody>
      </p:sp>
      <p:sp>
        <p:nvSpPr>
          <p:cNvPr id="14" name="Text 11"/>
          <p:cNvSpPr txBox="1"/>
          <p:nvPr/>
        </p:nvSpPr>
        <p:spPr>
          <a:xfrm>
            <a:off x="3392424" y="1764792"/>
            <a:ext cx="2359152" cy="932688"/>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Roman roads let evangelists move town to town</a:t>
            </a:r>
            <a:endParaRPr lang="en-US" sz="1200" dirty="0"/>
          </a:p>
        </p:txBody>
      </p:sp>
      <p:sp>
        <p:nvSpPr>
          <p:cNvPr id="15" name="Shape 12"/>
          <p:cNvSpPr/>
          <p:nvPr/>
        </p:nvSpPr>
        <p:spPr>
          <a:xfrm>
            <a:off x="6071616" y="1143000"/>
            <a:ext cx="2615184" cy="1645920"/>
          </a:xfrm>
          <a:prstGeom prst="rect">
            <a:avLst/>
          </a:prstGeom>
          <a:solidFill>
            <a:srgbClr val="F2F6FC"/>
          </a:solidFill>
          <a:ln w="9525">
            <a:solidFill>
              <a:srgbClr val="D5DCEA"/>
            </a:solidFill>
            <a:prstDash val="solid"/>
          </a:ln>
        </p:spPr>
      </p:sp>
      <p:sp>
        <p:nvSpPr>
          <p:cNvPr id="16" name="Shape 13"/>
          <p:cNvSpPr/>
          <p:nvPr/>
        </p:nvSpPr>
        <p:spPr>
          <a:xfrm>
            <a:off x="6199632" y="1271016"/>
            <a:ext cx="402336" cy="402336"/>
          </a:xfrm>
          <a:prstGeom prst="ellipse">
            <a:avLst/>
          </a:prstGeom>
          <a:solidFill>
            <a:srgbClr val="2E5496"/>
          </a:solidFill>
          <a:ln w="12700">
            <a:solidFill>
              <a:srgbClr val="2E5496"/>
            </a:solidFill>
            <a:prstDash val="solid"/>
          </a:ln>
        </p:spPr>
      </p:sp>
      <p:sp>
        <p:nvSpPr>
          <p:cNvPr id="17" name="Text 14"/>
          <p:cNvSpPr txBox="1"/>
          <p:nvPr/>
        </p:nvSpPr>
        <p:spPr>
          <a:xfrm>
            <a:off x="6199632" y="127101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a:t>
            </a:r>
            <a:endParaRPr lang="en-US" sz="1200" dirty="0"/>
          </a:p>
        </p:txBody>
      </p:sp>
      <p:sp>
        <p:nvSpPr>
          <p:cNvPr id="18" name="Text 15"/>
          <p:cNvSpPr txBox="1"/>
          <p:nvPr/>
        </p:nvSpPr>
        <p:spPr>
          <a:xfrm>
            <a:off x="6693408" y="1252728"/>
            <a:ext cx="1901952"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Pax Romana</a:t>
            </a:r>
            <a:endParaRPr lang="en-US" sz="1200" dirty="0"/>
          </a:p>
        </p:txBody>
      </p:sp>
      <p:sp>
        <p:nvSpPr>
          <p:cNvPr id="19" name="Text 16"/>
          <p:cNvSpPr txBox="1"/>
          <p:nvPr/>
        </p:nvSpPr>
        <p:spPr>
          <a:xfrm>
            <a:off x="6199632" y="1764792"/>
            <a:ext cx="2359152" cy="932688"/>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Roman peace; citizens protected across the empire</a:t>
            </a:r>
            <a:endParaRPr lang="en-US" sz="1200" dirty="0"/>
          </a:p>
        </p:txBody>
      </p:sp>
      <p:sp>
        <p:nvSpPr>
          <p:cNvPr id="20" name="Shape 17"/>
          <p:cNvSpPr/>
          <p:nvPr/>
        </p:nvSpPr>
        <p:spPr>
          <a:xfrm>
            <a:off x="457200" y="2953512"/>
            <a:ext cx="2615184" cy="1645920"/>
          </a:xfrm>
          <a:prstGeom prst="rect">
            <a:avLst/>
          </a:prstGeom>
          <a:solidFill>
            <a:srgbClr val="F2F6FC"/>
          </a:solidFill>
          <a:ln w="9525">
            <a:solidFill>
              <a:srgbClr val="D5DCEA"/>
            </a:solidFill>
            <a:prstDash val="solid"/>
          </a:ln>
        </p:spPr>
      </p:sp>
      <p:sp>
        <p:nvSpPr>
          <p:cNvPr id="21" name="Shape 18"/>
          <p:cNvSpPr/>
          <p:nvPr/>
        </p:nvSpPr>
        <p:spPr>
          <a:xfrm>
            <a:off x="585216" y="3081528"/>
            <a:ext cx="402336" cy="402336"/>
          </a:xfrm>
          <a:prstGeom prst="ellipse">
            <a:avLst/>
          </a:prstGeom>
          <a:solidFill>
            <a:srgbClr val="6B7280"/>
          </a:solidFill>
          <a:ln w="12700">
            <a:solidFill>
              <a:srgbClr val="6B7280"/>
            </a:solidFill>
            <a:prstDash val="solid"/>
          </a:ln>
        </p:spPr>
      </p:sp>
      <p:sp>
        <p:nvSpPr>
          <p:cNvPr id="22" name="Text 19"/>
          <p:cNvSpPr txBox="1"/>
          <p:nvPr/>
        </p:nvSpPr>
        <p:spPr>
          <a:xfrm>
            <a:off x="585216" y="3081528"/>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d</a:t>
            </a:r>
            <a:endParaRPr lang="en-US" sz="1200" dirty="0"/>
          </a:p>
        </p:txBody>
      </p:sp>
      <p:sp>
        <p:nvSpPr>
          <p:cNvPr id="23" name="Text 20"/>
          <p:cNvSpPr txBox="1"/>
          <p:nvPr/>
        </p:nvSpPr>
        <p:spPr>
          <a:xfrm>
            <a:off x="1078992" y="3063240"/>
            <a:ext cx="1901952"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Bankrupt paganism</a:t>
            </a:r>
            <a:endParaRPr lang="en-US" sz="1200" dirty="0"/>
          </a:p>
        </p:txBody>
      </p:sp>
      <p:sp>
        <p:nvSpPr>
          <p:cNvPr id="24" name="Text 21"/>
          <p:cNvSpPr txBox="1"/>
          <p:nvPr/>
        </p:nvSpPr>
        <p:spPr>
          <a:xfrm>
            <a:off x="585216" y="3575304"/>
            <a:ext cx="2359152" cy="932688"/>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Pagan religions offered nothing of eternal value</a:t>
            </a:r>
            <a:endParaRPr lang="en-US" sz="1200" dirty="0"/>
          </a:p>
        </p:txBody>
      </p:sp>
      <p:sp>
        <p:nvSpPr>
          <p:cNvPr id="25" name="Shape 22"/>
          <p:cNvSpPr/>
          <p:nvPr/>
        </p:nvSpPr>
        <p:spPr>
          <a:xfrm>
            <a:off x="3264408" y="2953512"/>
            <a:ext cx="2615184" cy="1645920"/>
          </a:xfrm>
          <a:prstGeom prst="rect">
            <a:avLst/>
          </a:prstGeom>
          <a:solidFill>
            <a:srgbClr val="F2F6FC"/>
          </a:solidFill>
          <a:ln w="9525">
            <a:solidFill>
              <a:srgbClr val="D5DCEA"/>
            </a:solidFill>
            <a:prstDash val="solid"/>
          </a:ln>
        </p:spPr>
      </p:sp>
      <p:sp>
        <p:nvSpPr>
          <p:cNvPr id="26" name="Shape 23"/>
          <p:cNvSpPr/>
          <p:nvPr/>
        </p:nvSpPr>
        <p:spPr>
          <a:xfrm>
            <a:off x="3392424" y="3081528"/>
            <a:ext cx="402336" cy="402336"/>
          </a:xfrm>
          <a:prstGeom prst="ellipse">
            <a:avLst/>
          </a:prstGeom>
          <a:solidFill>
            <a:srgbClr val="6B7280"/>
          </a:solidFill>
          <a:ln w="12700">
            <a:solidFill>
              <a:srgbClr val="6B7280"/>
            </a:solidFill>
            <a:prstDash val="solid"/>
          </a:ln>
        </p:spPr>
      </p:sp>
      <p:sp>
        <p:nvSpPr>
          <p:cNvPr id="27" name="Text 24"/>
          <p:cNvSpPr txBox="1"/>
          <p:nvPr/>
        </p:nvSpPr>
        <p:spPr>
          <a:xfrm>
            <a:off x="3392424" y="3081528"/>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e</a:t>
            </a:r>
            <a:endParaRPr lang="en-US" sz="1200" dirty="0"/>
          </a:p>
        </p:txBody>
      </p:sp>
      <p:sp>
        <p:nvSpPr>
          <p:cNvPr id="28" name="Text 25"/>
          <p:cNvSpPr txBox="1"/>
          <p:nvPr/>
        </p:nvSpPr>
        <p:spPr>
          <a:xfrm>
            <a:off x="3886200" y="3063240"/>
            <a:ext cx="1901952"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The failure of Israel</a:t>
            </a:r>
            <a:endParaRPr lang="en-US" sz="1200" dirty="0"/>
          </a:p>
        </p:txBody>
      </p:sp>
      <p:sp>
        <p:nvSpPr>
          <p:cNvPr id="29" name="Text 26"/>
          <p:cNvSpPr txBox="1"/>
          <p:nvPr/>
        </p:nvSpPr>
        <p:spPr>
          <a:xfrm>
            <a:off x="3392424" y="3575304"/>
            <a:ext cx="2359152" cy="932688"/>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Failed leadership and a failed mission to the nations</a:t>
            </a:r>
            <a:endParaRPr lang="en-US" sz="1200" dirty="0"/>
          </a:p>
        </p:txBody>
      </p:sp>
      <p:sp>
        <p:nvSpPr>
          <p:cNvPr id="30" name="Shape 27"/>
          <p:cNvSpPr/>
          <p:nvPr/>
        </p:nvSpPr>
        <p:spPr>
          <a:xfrm>
            <a:off x="6071616" y="2953512"/>
            <a:ext cx="2615184" cy="1645920"/>
          </a:xfrm>
          <a:prstGeom prst="rect">
            <a:avLst/>
          </a:prstGeom>
          <a:solidFill>
            <a:srgbClr val="F2F6FC"/>
          </a:solidFill>
          <a:ln w="9525">
            <a:solidFill>
              <a:srgbClr val="D5DCEA"/>
            </a:solidFill>
            <a:prstDash val="solid"/>
          </a:ln>
        </p:spPr>
      </p:sp>
      <p:sp>
        <p:nvSpPr>
          <p:cNvPr id="31" name="Shape 28"/>
          <p:cNvSpPr/>
          <p:nvPr/>
        </p:nvSpPr>
        <p:spPr>
          <a:xfrm>
            <a:off x="6199632" y="3081528"/>
            <a:ext cx="402336" cy="402336"/>
          </a:xfrm>
          <a:prstGeom prst="ellipse">
            <a:avLst/>
          </a:prstGeom>
          <a:solidFill>
            <a:srgbClr val="375623"/>
          </a:solidFill>
          <a:ln w="12700">
            <a:solidFill>
              <a:srgbClr val="375623"/>
            </a:solidFill>
            <a:prstDash val="solid"/>
          </a:ln>
        </p:spPr>
      </p:sp>
      <p:sp>
        <p:nvSpPr>
          <p:cNvPr id="32" name="Text 29"/>
          <p:cNvSpPr txBox="1"/>
          <p:nvPr/>
        </p:nvSpPr>
        <p:spPr>
          <a:xfrm>
            <a:off x="6199632" y="3081528"/>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33" name="Text 30"/>
          <p:cNvSpPr txBox="1"/>
          <p:nvPr/>
        </p:nvSpPr>
        <p:spPr>
          <a:xfrm>
            <a:off x="6693408" y="3063240"/>
            <a:ext cx="1901952"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The right Savior</a:t>
            </a:r>
            <a:endParaRPr lang="en-US" sz="1200" dirty="0"/>
          </a:p>
        </p:txBody>
      </p:sp>
      <p:sp>
        <p:nvSpPr>
          <p:cNvPr id="34" name="Text 31"/>
          <p:cNvSpPr txBox="1"/>
          <p:nvPr/>
        </p:nvSpPr>
        <p:spPr>
          <a:xfrm>
            <a:off x="6199632" y="3575304"/>
            <a:ext cx="2359152" cy="932688"/>
          </a:xfrm>
          <a:prstGeom prst="rect">
            <a:avLst/>
          </a:prstGeom>
          <a:noFill/>
          <a:ln/>
        </p:spPr>
        <p:txBody>
          <a:bodyPr wrap="square" lIns="0" tIns="0" rIns="0" bIns="0" rtlCol="0" anchor="t"/>
          <a:lstStyle/>
          <a:p>
            <a:pPr indent="0" marL="0">
              <a:buNone/>
            </a:pPr>
            <a:r>
              <a:rPr lang="en-US" sz="1250" b="1" dirty="0">
                <a:solidFill>
                  <a:srgbClr val="7030A0"/>
                </a:solidFill>
                <a:latin typeface="Arial" pitchFamily="34" charset="0"/>
                <a:ea typeface="Arial" pitchFamily="34" charset="-122"/>
                <a:cs typeface="Arial" pitchFamily="34" charset="-120"/>
              </a:rPr>
              <a:t>γενόμενον ἐκ γυναικός</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born of a woman, born under the law</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Four A's of our salvation</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4:4–7 · Outline II — Our salvation</a:t>
            </a:r>
            <a:endParaRPr lang="en-US" sz="1200" dirty="0"/>
          </a:p>
        </p:txBody>
      </p:sp>
      <p:sp>
        <p:nvSpPr>
          <p:cNvPr id="5" name="Shape 2"/>
          <p:cNvSpPr/>
          <p:nvPr/>
        </p:nvSpPr>
        <p:spPr>
          <a:xfrm>
            <a:off x="457200" y="1188720"/>
            <a:ext cx="1892808" cy="2377440"/>
          </a:xfrm>
          <a:prstGeom prst="rect">
            <a:avLst/>
          </a:prstGeom>
          <a:solidFill>
            <a:srgbClr val="F2F6FC"/>
          </a:solidFill>
          <a:ln w="9525">
            <a:solidFill>
              <a:srgbClr val="D5DCEA"/>
            </a:solidFill>
            <a:prstDash val="solid"/>
          </a:ln>
        </p:spPr>
      </p:sp>
      <p:sp>
        <p:nvSpPr>
          <p:cNvPr id="6" name="Shape 3"/>
          <p:cNvSpPr/>
          <p:nvPr/>
        </p:nvSpPr>
        <p:spPr>
          <a:xfrm>
            <a:off x="457200" y="1188720"/>
            <a:ext cx="1892808" cy="566928"/>
          </a:xfrm>
          <a:prstGeom prst="rect">
            <a:avLst/>
          </a:prstGeom>
          <a:solidFill>
            <a:srgbClr val="2E5496"/>
          </a:solidFill>
          <a:ln w="12700">
            <a:solidFill>
              <a:srgbClr val="2E5496"/>
            </a:solidFill>
            <a:prstDash val="solid"/>
          </a:ln>
        </p:spPr>
      </p:sp>
      <p:sp>
        <p:nvSpPr>
          <p:cNvPr id="7" name="Text 4"/>
          <p:cNvSpPr txBox="1"/>
          <p:nvPr/>
        </p:nvSpPr>
        <p:spPr>
          <a:xfrm>
            <a:off x="512064" y="1188720"/>
            <a:ext cx="1783080"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Arrival</a:t>
            </a:r>
            <a:endParaRPr lang="en-US" sz="1150" dirty="0"/>
          </a:p>
        </p:txBody>
      </p:sp>
      <p:sp>
        <p:nvSpPr>
          <p:cNvPr id="8" name="Text 5"/>
          <p:cNvSpPr txBox="1"/>
          <p:nvPr/>
        </p:nvSpPr>
        <p:spPr>
          <a:xfrm>
            <a:off x="548640" y="1828800"/>
            <a:ext cx="1709928" cy="1426464"/>
          </a:xfrm>
          <a:prstGeom prst="rect">
            <a:avLst/>
          </a:prstGeom>
          <a:noFill/>
          <a:ln/>
        </p:spPr>
        <p:txBody>
          <a:bodyPr wrap="square" lIns="0" tIns="0" rIns="0" bIns="0" rtlCol="0" anchor="t"/>
          <a:lstStyle/>
          <a:p>
            <a:pPr algn="ctr" indent="0" marL="0">
              <a:buNone/>
            </a:pPr>
            <a:r>
              <a:rPr lang="en-US" sz="1250" b="1" dirty="0">
                <a:solidFill>
                  <a:srgbClr val="7030A0"/>
                </a:solidFill>
                <a:latin typeface="Arial" pitchFamily="34" charset="0"/>
                <a:ea typeface="Arial" pitchFamily="34" charset="-122"/>
                <a:cs typeface="Arial" pitchFamily="34" charset="-120"/>
              </a:rPr>
              <a:t>ἐξαγοράσῃ</a:t>
            </a:r>
            <a:endParaRPr lang="en-US" sz="1200" dirty="0"/>
          </a:p>
          <a:p>
            <a:pPr algn="ctr" indent="0" marL="0">
              <a:buNone/>
            </a:pPr>
            <a:r>
              <a:rPr lang="en-US" sz="1200" dirty="0">
                <a:solidFill>
                  <a:srgbClr val="262626"/>
                </a:solidFill>
                <a:latin typeface="Arial" pitchFamily="34" charset="0"/>
                <a:ea typeface="Arial" pitchFamily="34" charset="-122"/>
                <a:cs typeface="Arial" pitchFamily="34" charset="-120"/>
              </a:rPr>
              <a:t>God sent His Son to redeem those under the law</a:t>
            </a:r>
            <a:endParaRPr lang="en-US" sz="1200" dirty="0"/>
          </a:p>
        </p:txBody>
      </p:sp>
      <p:sp>
        <p:nvSpPr>
          <p:cNvPr id="9" name="Text 6"/>
          <p:cNvSpPr txBox="1"/>
          <p:nvPr/>
        </p:nvSpPr>
        <p:spPr>
          <a:xfrm>
            <a:off x="530352" y="3236976"/>
            <a:ext cx="1746504"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vv.4–5a</a:t>
            </a:r>
            <a:endParaRPr lang="en-US" sz="950" dirty="0"/>
          </a:p>
        </p:txBody>
      </p:sp>
      <p:sp>
        <p:nvSpPr>
          <p:cNvPr id="10" name="Shape 7"/>
          <p:cNvSpPr/>
          <p:nvPr/>
        </p:nvSpPr>
        <p:spPr>
          <a:xfrm>
            <a:off x="2359152" y="2258568"/>
            <a:ext cx="201168" cy="237744"/>
          </a:xfrm>
          <a:prstGeom prst="rightArrow">
            <a:avLst/>
          </a:prstGeom>
          <a:solidFill>
            <a:srgbClr val="6B7280"/>
          </a:solidFill>
          <a:ln w="12700">
            <a:solidFill>
              <a:srgbClr val="6B7280"/>
            </a:solidFill>
            <a:prstDash val="solid"/>
          </a:ln>
        </p:spPr>
      </p:sp>
      <p:sp>
        <p:nvSpPr>
          <p:cNvPr id="11" name="Shape 8"/>
          <p:cNvSpPr/>
          <p:nvPr/>
        </p:nvSpPr>
        <p:spPr>
          <a:xfrm>
            <a:off x="2569464" y="1188720"/>
            <a:ext cx="1892808" cy="2377440"/>
          </a:xfrm>
          <a:prstGeom prst="rect">
            <a:avLst/>
          </a:prstGeom>
          <a:solidFill>
            <a:srgbClr val="F2F6FC"/>
          </a:solidFill>
          <a:ln w="9525">
            <a:solidFill>
              <a:srgbClr val="D5DCEA"/>
            </a:solidFill>
            <a:prstDash val="solid"/>
          </a:ln>
        </p:spPr>
      </p:sp>
      <p:sp>
        <p:nvSpPr>
          <p:cNvPr id="12" name="Shape 9"/>
          <p:cNvSpPr/>
          <p:nvPr/>
        </p:nvSpPr>
        <p:spPr>
          <a:xfrm>
            <a:off x="2569464" y="1188720"/>
            <a:ext cx="1892808" cy="566928"/>
          </a:xfrm>
          <a:prstGeom prst="rect">
            <a:avLst/>
          </a:prstGeom>
          <a:solidFill>
            <a:srgbClr val="2E5496"/>
          </a:solidFill>
          <a:ln w="12700">
            <a:solidFill>
              <a:srgbClr val="2E5496"/>
            </a:solidFill>
            <a:prstDash val="solid"/>
          </a:ln>
        </p:spPr>
      </p:sp>
      <p:sp>
        <p:nvSpPr>
          <p:cNvPr id="13" name="Text 10"/>
          <p:cNvSpPr txBox="1"/>
          <p:nvPr/>
        </p:nvSpPr>
        <p:spPr>
          <a:xfrm>
            <a:off x="2624328" y="1188720"/>
            <a:ext cx="1783080"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Adoption</a:t>
            </a:r>
            <a:endParaRPr lang="en-US" sz="1150" dirty="0"/>
          </a:p>
        </p:txBody>
      </p:sp>
      <p:sp>
        <p:nvSpPr>
          <p:cNvPr id="14" name="Text 11"/>
          <p:cNvSpPr txBox="1"/>
          <p:nvPr/>
        </p:nvSpPr>
        <p:spPr>
          <a:xfrm>
            <a:off x="2660904" y="1828800"/>
            <a:ext cx="1709928" cy="1426464"/>
          </a:xfrm>
          <a:prstGeom prst="rect">
            <a:avLst/>
          </a:prstGeom>
          <a:noFill/>
          <a:ln/>
        </p:spPr>
        <p:txBody>
          <a:bodyPr wrap="square" lIns="0" tIns="0" rIns="0" bIns="0" rtlCol="0" anchor="t"/>
          <a:lstStyle/>
          <a:p>
            <a:pPr algn="ctr" indent="0" marL="0">
              <a:buNone/>
            </a:pPr>
            <a:r>
              <a:rPr lang="en-US" sz="1250" b="1" dirty="0">
                <a:solidFill>
                  <a:srgbClr val="7030A0"/>
                </a:solidFill>
                <a:latin typeface="Arial" pitchFamily="34" charset="0"/>
                <a:ea typeface="Arial" pitchFamily="34" charset="-122"/>
                <a:cs typeface="Arial" pitchFamily="34" charset="-120"/>
              </a:rPr>
              <a:t>υἱοθεσίαν</a:t>
            </a:r>
            <a:endParaRPr lang="en-US" sz="1200" dirty="0"/>
          </a:p>
          <a:p>
            <a:pPr algn="ctr" indent="0" marL="0">
              <a:buNone/>
            </a:pPr>
            <a:r>
              <a:rPr lang="en-US" sz="1200" dirty="0">
                <a:solidFill>
                  <a:srgbClr val="262626"/>
                </a:solidFill>
                <a:latin typeface="Arial" pitchFamily="34" charset="0"/>
                <a:ea typeface="Arial" pitchFamily="34" charset="-122"/>
                <a:cs typeface="Arial" pitchFamily="34" charset="-120"/>
              </a:rPr>
              <a:t>Placed as sons — about the inheritance, not entry</a:t>
            </a:r>
            <a:endParaRPr lang="en-US" sz="1200" dirty="0"/>
          </a:p>
        </p:txBody>
      </p:sp>
      <p:sp>
        <p:nvSpPr>
          <p:cNvPr id="15" name="Text 12"/>
          <p:cNvSpPr txBox="1"/>
          <p:nvPr/>
        </p:nvSpPr>
        <p:spPr>
          <a:xfrm>
            <a:off x="2642616" y="3236976"/>
            <a:ext cx="1746504"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v.5b</a:t>
            </a:r>
            <a:endParaRPr lang="en-US" sz="950" dirty="0"/>
          </a:p>
        </p:txBody>
      </p:sp>
      <p:sp>
        <p:nvSpPr>
          <p:cNvPr id="16" name="Shape 13"/>
          <p:cNvSpPr/>
          <p:nvPr/>
        </p:nvSpPr>
        <p:spPr>
          <a:xfrm>
            <a:off x="4471416" y="2258568"/>
            <a:ext cx="201168" cy="237744"/>
          </a:xfrm>
          <a:prstGeom prst="rightArrow">
            <a:avLst/>
          </a:prstGeom>
          <a:solidFill>
            <a:srgbClr val="6B7280"/>
          </a:solidFill>
          <a:ln w="12700">
            <a:solidFill>
              <a:srgbClr val="6B7280"/>
            </a:solidFill>
            <a:prstDash val="solid"/>
          </a:ln>
        </p:spPr>
      </p:sp>
      <p:sp>
        <p:nvSpPr>
          <p:cNvPr id="17" name="Shape 14"/>
          <p:cNvSpPr/>
          <p:nvPr/>
        </p:nvSpPr>
        <p:spPr>
          <a:xfrm>
            <a:off x="4681728" y="1188720"/>
            <a:ext cx="1892808" cy="2377440"/>
          </a:xfrm>
          <a:prstGeom prst="rect">
            <a:avLst/>
          </a:prstGeom>
          <a:solidFill>
            <a:srgbClr val="F2F6FC"/>
          </a:solidFill>
          <a:ln w="9525">
            <a:solidFill>
              <a:srgbClr val="D5DCEA"/>
            </a:solidFill>
            <a:prstDash val="solid"/>
          </a:ln>
        </p:spPr>
      </p:sp>
      <p:sp>
        <p:nvSpPr>
          <p:cNvPr id="18" name="Shape 15"/>
          <p:cNvSpPr/>
          <p:nvPr/>
        </p:nvSpPr>
        <p:spPr>
          <a:xfrm>
            <a:off x="4681728" y="1188720"/>
            <a:ext cx="1892808" cy="566928"/>
          </a:xfrm>
          <a:prstGeom prst="rect">
            <a:avLst/>
          </a:prstGeom>
          <a:solidFill>
            <a:srgbClr val="2E5496"/>
          </a:solidFill>
          <a:ln w="12700">
            <a:solidFill>
              <a:srgbClr val="2E5496"/>
            </a:solidFill>
            <a:prstDash val="solid"/>
          </a:ln>
        </p:spPr>
      </p:sp>
      <p:sp>
        <p:nvSpPr>
          <p:cNvPr id="19" name="Text 16"/>
          <p:cNvSpPr txBox="1"/>
          <p:nvPr/>
        </p:nvSpPr>
        <p:spPr>
          <a:xfrm>
            <a:off x="4736592" y="1188720"/>
            <a:ext cx="1783080"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Advent of the Spirit</a:t>
            </a:r>
            <a:endParaRPr lang="en-US" sz="1150" dirty="0"/>
          </a:p>
        </p:txBody>
      </p:sp>
      <p:sp>
        <p:nvSpPr>
          <p:cNvPr id="20" name="Text 17"/>
          <p:cNvSpPr txBox="1"/>
          <p:nvPr/>
        </p:nvSpPr>
        <p:spPr>
          <a:xfrm>
            <a:off x="4773168" y="1828800"/>
            <a:ext cx="1709928" cy="1426464"/>
          </a:xfrm>
          <a:prstGeom prst="rect">
            <a:avLst/>
          </a:prstGeom>
          <a:noFill/>
          <a:ln/>
        </p:spPr>
        <p:txBody>
          <a:bodyPr wrap="square" lIns="0" tIns="0" rIns="0" bIns="0" rtlCol="0" anchor="t"/>
          <a:lstStyle/>
          <a:p>
            <a:pPr algn="ctr" indent="0" marL="0">
              <a:buNone/>
            </a:pPr>
            <a:r>
              <a:rPr lang="en-US" sz="1250" b="1" dirty="0">
                <a:solidFill>
                  <a:srgbClr val="7030A0"/>
                </a:solidFill>
                <a:latin typeface="Arial" pitchFamily="34" charset="0"/>
                <a:ea typeface="Arial" pitchFamily="34" charset="-122"/>
                <a:cs typeface="Arial" pitchFamily="34" charset="-120"/>
              </a:rPr>
              <a:t>κρᾶζον</a:t>
            </a:r>
            <a:endParaRPr lang="en-US" sz="1200" dirty="0"/>
          </a:p>
          <a:p>
            <a:pPr algn="ctr" indent="0" marL="0">
              <a:buNone/>
            </a:pPr>
            <a:r>
              <a:rPr lang="en-US" sz="1200" dirty="0">
                <a:solidFill>
                  <a:srgbClr val="262626"/>
                </a:solidFill>
                <a:latin typeface="Arial" pitchFamily="34" charset="0"/>
                <a:ea typeface="Arial" pitchFamily="34" charset="-122"/>
                <a:cs typeface="Arial" pitchFamily="34" charset="-120"/>
              </a:rPr>
              <a:t>“Abba, Father!” — an ongoing cry</a:t>
            </a:r>
            <a:endParaRPr lang="en-US" sz="1200" dirty="0"/>
          </a:p>
        </p:txBody>
      </p:sp>
      <p:sp>
        <p:nvSpPr>
          <p:cNvPr id="21" name="Text 18"/>
          <p:cNvSpPr txBox="1"/>
          <p:nvPr/>
        </p:nvSpPr>
        <p:spPr>
          <a:xfrm>
            <a:off x="4754880" y="3236976"/>
            <a:ext cx="1746504"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v.6</a:t>
            </a:r>
            <a:endParaRPr lang="en-US" sz="950" dirty="0"/>
          </a:p>
        </p:txBody>
      </p:sp>
      <p:sp>
        <p:nvSpPr>
          <p:cNvPr id="22" name="Shape 19"/>
          <p:cNvSpPr/>
          <p:nvPr/>
        </p:nvSpPr>
        <p:spPr>
          <a:xfrm>
            <a:off x="6583680" y="2258568"/>
            <a:ext cx="201168" cy="237744"/>
          </a:xfrm>
          <a:prstGeom prst="rightArrow">
            <a:avLst/>
          </a:prstGeom>
          <a:solidFill>
            <a:srgbClr val="6B7280"/>
          </a:solidFill>
          <a:ln w="12700">
            <a:solidFill>
              <a:srgbClr val="6B7280"/>
            </a:solidFill>
            <a:prstDash val="solid"/>
          </a:ln>
        </p:spPr>
      </p:sp>
      <p:sp>
        <p:nvSpPr>
          <p:cNvPr id="23" name="Shape 20"/>
          <p:cNvSpPr/>
          <p:nvPr/>
        </p:nvSpPr>
        <p:spPr>
          <a:xfrm>
            <a:off x="6793992" y="1188720"/>
            <a:ext cx="1892808" cy="2377440"/>
          </a:xfrm>
          <a:prstGeom prst="rect">
            <a:avLst/>
          </a:prstGeom>
          <a:solidFill>
            <a:srgbClr val="F2F6FC"/>
          </a:solidFill>
          <a:ln w="9525">
            <a:solidFill>
              <a:srgbClr val="D5DCEA"/>
            </a:solidFill>
            <a:prstDash val="solid"/>
          </a:ln>
        </p:spPr>
      </p:sp>
      <p:sp>
        <p:nvSpPr>
          <p:cNvPr id="24" name="Shape 21"/>
          <p:cNvSpPr/>
          <p:nvPr/>
        </p:nvSpPr>
        <p:spPr>
          <a:xfrm>
            <a:off x="6793992" y="1188720"/>
            <a:ext cx="1892808" cy="566928"/>
          </a:xfrm>
          <a:prstGeom prst="rect">
            <a:avLst/>
          </a:prstGeom>
          <a:solidFill>
            <a:srgbClr val="375623"/>
          </a:solidFill>
          <a:ln w="12700">
            <a:solidFill>
              <a:srgbClr val="375623"/>
            </a:solidFill>
            <a:prstDash val="solid"/>
          </a:ln>
        </p:spPr>
      </p:sp>
      <p:sp>
        <p:nvSpPr>
          <p:cNvPr id="25" name="Text 22"/>
          <p:cNvSpPr txBox="1"/>
          <p:nvPr/>
        </p:nvSpPr>
        <p:spPr>
          <a:xfrm>
            <a:off x="6848856" y="1188720"/>
            <a:ext cx="1783080"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Abolition of slavery</a:t>
            </a:r>
            <a:endParaRPr lang="en-US" sz="1150" dirty="0"/>
          </a:p>
        </p:txBody>
      </p:sp>
      <p:sp>
        <p:nvSpPr>
          <p:cNvPr id="26" name="Text 23"/>
          <p:cNvSpPr txBox="1"/>
          <p:nvPr/>
        </p:nvSpPr>
        <p:spPr>
          <a:xfrm>
            <a:off x="6885432" y="1828800"/>
            <a:ext cx="1709928" cy="1426464"/>
          </a:xfrm>
          <a:prstGeom prst="rect">
            <a:avLst/>
          </a:prstGeom>
          <a:noFill/>
          <a:ln/>
        </p:spPr>
        <p:txBody>
          <a:bodyPr wrap="square" lIns="0" tIns="0" rIns="0" bIns="0" rtlCol="0" anchor="t"/>
          <a:lstStyle/>
          <a:p>
            <a:pPr algn="ctr" indent="0" marL="0">
              <a:buNone/>
            </a:pPr>
            <a:r>
              <a:rPr lang="en-US" sz="1250" b="1" dirty="0">
                <a:solidFill>
                  <a:srgbClr val="7030A0"/>
                </a:solidFill>
                <a:latin typeface="Arial" pitchFamily="34" charset="0"/>
                <a:ea typeface="Arial" pitchFamily="34" charset="-122"/>
                <a:cs typeface="Arial" pitchFamily="34" charset="-120"/>
              </a:rPr>
              <a:t>οὐκέτι δοῦλος</a:t>
            </a:r>
            <a:endParaRPr lang="en-US" sz="1200" dirty="0"/>
          </a:p>
          <a:p>
            <a:pPr algn="ctr" indent="0" marL="0">
              <a:buNone/>
            </a:pPr>
            <a:r>
              <a:rPr lang="en-US" sz="1200" dirty="0">
                <a:solidFill>
                  <a:srgbClr val="262626"/>
                </a:solidFill>
                <a:latin typeface="Arial" pitchFamily="34" charset="0"/>
                <a:ea typeface="Arial" pitchFamily="34" charset="-122"/>
                <a:cs typeface="Arial" pitchFamily="34" charset="-120"/>
              </a:rPr>
              <a:t>No longer a slave but a son — and an heir</a:t>
            </a:r>
            <a:endParaRPr lang="en-US" sz="1200" dirty="0"/>
          </a:p>
        </p:txBody>
      </p:sp>
      <p:sp>
        <p:nvSpPr>
          <p:cNvPr id="27" name="Text 24"/>
          <p:cNvSpPr txBox="1"/>
          <p:nvPr/>
        </p:nvSpPr>
        <p:spPr>
          <a:xfrm>
            <a:off x="6867144" y="3236976"/>
            <a:ext cx="1746504"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v.7</a:t>
            </a:r>
            <a:endParaRPr lang="en-US" sz="950" dirty="0"/>
          </a:p>
        </p:txBody>
      </p:sp>
      <p:sp>
        <p:nvSpPr>
          <p:cNvPr id="28" name="Shape 25"/>
          <p:cNvSpPr/>
          <p:nvPr/>
        </p:nvSpPr>
        <p:spPr>
          <a:xfrm>
            <a:off x="457200" y="3749040"/>
            <a:ext cx="8229600" cy="548640"/>
          </a:xfrm>
          <a:prstGeom prst="roundRect">
            <a:avLst>
              <a:gd name="adj" fmla="val 10000"/>
            </a:avLst>
          </a:prstGeom>
          <a:solidFill>
            <a:srgbClr val="1F3864"/>
          </a:solidFill>
          <a:ln w="12700">
            <a:solidFill>
              <a:srgbClr val="1F3864"/>
            </a:solidFill>
            <a:prstDash val="solid"/>
          </a:ln>
        </p:spPr>
      </p:sp>
      <p:sp>
        <p:nvSpPr>
          <p:cNvPr id="29" name="Text 26"/>
          <p:cNvSpPr txBox="1"/>
          <p:nvPr/>
        </p:nvSpPr>
        <p:spPr>
          <a:xfrm>
            <a:off x="621792" y="3749040"/>
            <a:ext cx="7900416" cy="54864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We are born into the family; adoption is about the inheritance — received the moment we believed.</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Back to the beggarly elements?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4:8–11 · Outline III — Our selection</a:t>
            </a:r>
            <a:endParaRPr lang="en-US" sz="1200" dirty="0"/>
          </a:p>
        </p:txBody>
      </p:sp>
      <p:sp>
        <p:nvSpPr>
          <p:cNvPr id="5" name="Shape 2"/>
          <p:cNvSpPr/>
          <p:nvPr/>
        </p:nvSpPr>
        <p:spPr>
          <a:xfrm>
            <a:off x="457200" y="1188720"/>
            <a:ext cx="1892808" cy="2011680"/>
          </a:xfrm>
          <a:prstGeom prst="rect">
            <a:avLst/>
          </a:prstGeom>
          <a:solidFill>
            <a:srgbClr val="F2F6FC"/>
          </a:solidFill>
          <a:ln w="9525">
            <a:solidFill>
              <a:srgbClr val="D5DCEA"/>
            </a:solidFill>
            <a:prstDash val="solid"/>
          </a:ln>
        </p:spPr>
      </p:sp>
      <p:sp>
        <p:nvSpPr>
          <p:cNvPr id="6" name="Shape 3"/>
          <p:cNvSpPr/>
          <p:nvPr/>
        </p:nvSpPr>
        <p:spPr>
          <a:xfrm>
            <a:off x="457200" y="1188720"/>
            <a:ext cx="1892808" cy="566928"/>
          </a:xfrm>
          <a:prstGeom prst="rect">
            <a:avLst/>
          </a:prstGeom>
          <a:solidFill>
            <a:srgbClr val="6B7280"/>
          </a:solidFill>
          <a:ln w="12700">
            <a:solidFill>
              <a:srgbClr val="6B7280"/>
            </a:solidFill>
            <a:prstDash val="solid"/>
          </a:ln>
        </p:spPr>
      </p:sp>
      <p:sp>
        <p:nvSpPr>
          <p:cNvPr id="7" name="Text 4"/>
          <p:cNvSpPr txBox="1"/>
          <p:nvPr/>
        </p:nvSpPr>
        <p:spPr>
          <a:xfrm>
            <a:off x="512064" y="1188720"/>
            <a:ext cx="1783080"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Ignorant</a:t>
            </a:r>
            <a:endParaRPr lang="en-US" sz="1150" dirty="0"/>
          </a:p>
        </p:txBody>
      </p:sp>
      <p:sp>
        <p:nvSpPr>
          <p:cNvPr id="8" name="Text 5"/>
          <p:cNvSpPr txBox="1"/>
          <p:nvPr/>
        </p:nvSpPr>
        <p:spPr>
          <a:xfrm>
            <a:off x="548640" y="1828800"/>
            <a:ext cx="1709928" cy="1060704"/>
          </a:xfrm>
          <a:prstGeom prst="rect">
            <a:avLst/>
          </a:prstGeom>
          <a:noFill/>
          <a:ln/>
        </p:spPr>
        <p:txBody>
          <a:bodyPr wrap="square" lIns="0" tIns="0" rIns="0" bIns="0" rtlCol="0" anchor="t"/>
          <a:lstStyle/>
          <a:p>
            <a:pPr algn="ctr" indent="0" marL="0">
              <a:buNone/>
            </a:pPr>
            <a:r>
              <a:rPr lang="en-US" sz="1200" dirty="0">
                <a:solidFill>
                  <a:srgbClr val="262626"/>
                </a:solidFill>
                <a:latin typeface="Arial" pitchFamily="34" charset="0"/>
                <a:ea typeface="Arial" pitchFamily="34" charset="-122"/>
                <a:cs typeface="Arial" pitchFamily="34" charset="-120"/>
              </a:rPr>
              <a:t>Served those which by nature are not gods</a:t>
            </a:r>
            <a:endParaRPr lang="en-US" sz="1200" dirty="0"/>
          </a:p>
        </p:txBody>
      </p:sp>
      <p:sp>
        <p:nvSpPr>
          <p:cNvPr id="9" name="Text 6"/>
          <p:cNvSpPr txBox="1"/>
          <p:nvPr/>
        </p:nvSpPr>
        <p:spPr>
          <a:xfrm>
            <a:off x="530352" y="2871216"/>
            <a:ext cx="1746504"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v.8</a:t>
            </a:r>
            <a:endParaRPr lang="en-US" sz="950" dirty="0"/>
          </a:p>
        </p:txBody>
      </p:sp>
      <p:sp>
        <p:nvSpPr>
          <p:cNvPr id="10" name="Shape 7"/>
          <p:cNvSpPr/>
          <p:nvPr/>
        </p:nvSpPr>
        <p:spPr>
          <a:xfrm>
            <a:off x="2359152" y="2075688"/>
            <a:ext cx="201168" cy="237744"/>
          </a:xfrm>
          <a:prstGeom prst="rightArrow">
            <a:avLst/>
          </a:prstGeom>
          <a:solidFill>
            <a:srgbClr val="6B7280"/>
          </a:solidFill>
          <a:ln w="12700">
            <a:solidFill>
              <a:srgbClr val="6B7280"/>
            </a:solidFill>
            <a:prstDash val="solid"/>
          </a:ln>
        </p:spPr>
      </p:sp>
      <p:sp>
        <p:nvSpPr>
          <p:cNvPr id="11" name="Shape 8"/>
          <p:cNvSpPr/>
          <p:nvPr/>
        </p:nvSpPr>
        <p:spPr>
          <a:xfrm>
            <a:off x="2569464" y="1188720"/>
            <a:ext cx="1892808" cy="2011680"/>
          </a:xfrm>
          <a:prstGeom prst="rect">
            <a:avLst/>
          </a:prstGeom>
          <a:solidFill>
            <a:srgbClr val="F2F6FC"/>
          </a:solidFill>
          <a:ln w="9525">
            <a:solidFill>
              <a:srgbClr val="D5DCEA"/>
            </a:solidFill>
            <a:prstDash val="solid"/>
          </a:ln>
        </p:spPr>
      </p:sp>
      <p:sp>
        <p:nvSpPr>
          <p:cNvPr id="12" name="Shape 9"/>
          <p:cNvSpPr/>
          <p:nvPr/>
        </p:nvSpPr>
        <p:spPr>
          <a:xfrm>
            <a:off x="2569464" y="1188720"/>
            <a:ext cx="1892808" cy="566928"/>
          </a:xfrm>
          <a:prstGeom prst="rect">
            <a:avLst/>
          </a:prstGeom>
          <a:solidFill>
            <a:srgbClr val="375623"/>
          </a:solidFill>
          <a:ln w="12700">
            <a:solidFill>
              <a:srgbClr val="375623"/>
            </a:solidFill>
            <a:prstDash val="solid"/>
          </a:ln>
        </p:spPr>
      </p:sp>
      <p:sp>
        <p:nvSpPr>
          <p:cNvPr id="13" name="Text 10"/>
          <p:cNvSpPr txBox="1"/>
          <p:nvPr/>
        </p:nvSpPr>
        <p:spPr>
          <a:xfrm>
            <a:off x="2624328" y="1188720"/>
            <a:ext cx="1783080"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Illumined</a:t>
            </a:r>
            <a:endParaRPr lang="en-US" sz="1150" dirty="0"/>
          </a:p>
        </p:txBody>
      </p:sp>
      <p:sp>
        <p:nvSpPr>
          <p:cNvPr id="14" name="Text 11"/>
          <p:cNvSpPr txBox="1"/>
          <p:nvPr/>
        </p:nvSpPr>
        <p:spPr>
          <a:xfrm>
            <a:off x="2660904" y="1828800"/>
            <a:ext cx="1709928" cy="1060704"/>
          </a:xfrm>
          <a:prstGeom prst="rect">
            <a:avLst/>
          </a:prstGeom>
          <a:noFill/>
          <a:ln/>
        </p:spPr>
        <p:txBody>
          <a:bodyPr wrap="square" lIns="0" tIns="0" rIns="0" bIns="0" rtlCol="0" anchor="t"/>
          <a:lstStyle/>
          <a:p>
            <a:pPr algn="ctr" indent="0" marL="0">
              <a:buNone/>
            </a:pPr>
            <a:r>
              <a:rPr lang="en-US" sz="1200" dirty="0">
                <a:solidFill>
                  <a:srgbClr val="262626"/>
                </a:solidFill>
                <a:latin typeface="Arial" pitchFamily="34" charset="0"/>
                <a:ea typeface="Arial" pitchFamily="34" charset="-122"/>
                <a:cs typeface="Arial" pitchFamily="34" charset="-120"/>
              </a:rPr>
              <a:t>Came to know God — rather, were known by God</a:t>
            </a:r>
            <a:endParaRPr lang="en-US" sz="1200" dirty="0"/>
          </a:p>
        </p:txBody>
      </p:sp>
      <p:sp>
        <p:nvSpPr>
          <p:cNvPr id="15" name="Text 12"/>
          <p:cNvSpPr txBox="1"/>
          <p:nvPr/>
        </p:nvSpPr>
        <p:spPr>
          <a:xfrm>
            <a:off x="2642616" y="2871216"/>
            <a:ext cx="1746504"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v.9a</a:t>
            </a:r>
            <a:endParaRPr lang="en-US" sz="950" dirty="0"/>
          </a:p>
        </p:txBody>
      </p:sp>
      <p:sp>
        <p:nvSpPr>
          <p:cNvPr id="16" name="Shape 13"/>
          <p:cNvSpPr/>
          <p:nvPr/>
        </p:nvSpPr>
        <p:spPr>
          <a:xfrm>
            <a:off x="4471416" y="2075688"/>
            <a:ext cx="201168" cy="237744"/>
          </a:xfrm>
          <a:prstGeom prst="rightArrow">
            <a:avLst/>
          </a:prstGeom>
          <a:solidFill>
            <a:srgbClr val="6B7280"/>
          </a:solidFill>
          <a:ln w="12700">
            <a:solidFill>
              <a:srgbClr val="6B7280"/>
            </a:solidFill>
            <a:prstDash val="solid"/>
          </a:ln>
        </p:spPr>
      </p:sp>
      <p:sp>
        <p:nvSpPr>
          <p:cNvPr id="17" name="Shape 14"/>
          <p:cNvSpPr/>
          <p:nvPr/>
        </p:nvSpPr>
        <p:spPr>
          <a:xfrm>
            <a:off x="4681728" y="1188720"/>
            <a:ext cx="1892808" cy="2011680"/>
          </a:xfrm>
          <a:prstGeom prst="rect">
            <a:avLst/>
          </a:prstGeom>
          <a:solidFill>
            <a:srgbClr val="F2F6FC"/>
          </a:solidFill>
          <a:ln w="9525">
            <a:solidFill>
              <a:srgbClr val="D5DCEA"/>
            </a:solidFill>
            <a:prstDash val="solid"/>
          </a:ln>
        </p:spPr>
      </p:sp>
      <p:sp>
        <p:nvSpPr>
          <p:cNvPr id="18" name="Shape 15"/>
          <p:cNvSpPr/>
          <p:nvPr/>
        </p:nvSpPr>
        <p:spPr>
          <a:xfrm>
            <a:off x="4681728" y="1188720"/>
            <a:ext cx="1892808" cy="566928"/>
          </a:xfrm>
          <a:prstGeom prst="rect">
            <a:avLst/>
          </a:prstGeom>
          <a:solidFill>
            <a:srgbClr val="6B7280"/>
          </a:solidFill>
          <a:ln w="12700">
            <a:solidFill>
              <a:srgbClr val="6B7280"/>
            </a:solidFill>
            <a:prstDash val="solid"/>
          </a:ln>
        </p:spPr>
      </p:sp>
      <p:sp>
        <p:nvSpPr>
          <p:cNvPr id="19" name="Text 16"/>
          <p:cNvSpPr txBox="1"/>
          <p:nvPr/>
        </p:nvSpPr>
        <p:spPr>
          <a:xfrm>
            <a:off x="4736592" y="1188720"/>
            <a:ext cx="1783080"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Immersed in the law</a:t>
            </a:r>
            <a:endParaRPr lang="en-US" sz="1150" dirty="0"/>
          </a:p>
        </p:txBody>
      </p:sp>
      <p:sp>
        <p:nvSpPr>
          <p:cNvPr id="20" name="Text 17"/>
          <p:cNvSpPr txBox="1"/>
          <p:nvPr/>
        </p:nvSpPr>
        <p:spPr>
          <a:xfrm>
            <a:off x="4773168" y="1828800"/>
            <a:ext cx="1709928" cy="1060704"/>
          </a:xfrm>
          <a:prstGeom prst="rect">
            <a:avLst/>
          </a:prstGeom>
          <a:noFill/>
          <a:ln/>
        </p:spPr>
        <p:txBody>
          <a:bodyPr wrap="square" lIns="0" tIns="0" rIns="0" bIns="0" rtlCol="0" anchor="t"/>
          <a:lstStyle/>
          <a:p>
            <a:pPr algn="ctr" indent="0" marL="0">
              <a:buNone/>
            </a:pPr>
            <a:r>
              <a:rPr lang="en-US" sz="1200" dirty="0">
                <a:solidFill>
                  <a:srgbClr val="262626"/>
                </a:solidFill>
                <a:latin typeface="Arial" pitchFamily="34" charset="0"/>
                <a:ea typeface="Arial" pitchFamily="34" charset="-122"/>
                <a:cs typeface="Arial" pitchFamily="34" charset="-120"/>
              </a:rPr>
              <a:t>Days, months, seasons, years — weak and beggarly</a:t>
            </a:r>
            <a:endParaRPr lang="en-US" sz="1200" dirty="0"/>
          </a:p>
        </p:txBody>
      </p:sp>
      <p:sp>
        <p:nvSpPr>
          <p:cNvPr id="21" name="Text 18"/>
          <p:cNvSpPr txBox="1"/>
          <p:nvPr/>
        </p:nvSpPr>
        <p:spPr>
          <a:xfrm>
            <a:off x="4754880" y="2871216"/>
            <a:ext cx="1746504"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vv.9b–10</a:t>
            </a:r>
            <a:endParaRPr lang="en-US" sz="950" dirty="0"/>
          </a:p>
        </p:txBody>
      </p:sp>
      <p:sp>
        <p:nvSpPr>
          <p:cNvPr id="22" name="Shape 19"/>
          <p:cNvSpPr/>
          <p:nvPr/>
        </p:nvSpPr>
        <p:spPr>
          <a:xfrm>
            <a:off x="6583680" y="2075688"/>
            <a:ext cx="201168" cy="237744"/>
          </a:xfrm>
          <a:prstGeom prst="rightArrow">
            <a:avLst/>
          </a:prstGeom>
          <a:solidFill>
            <a:srgbClr val="6B7280"/>
          </a:solidFill>
          <a:ln w="12700">
            <a:solidFill>
              <a:srgbClr val="6B7280"/>
            </a:solidFill>
            <a:prstDash val="solid"/>
          </a:ln>
        </p:spPr>
      </p:sp>
      <p:sp>
        <p:nvSpPr>
          <p:cNvPr id="23" name="Shape 20"/>
          <p:cNvSpPr/>
          <p:nvPr/>
        </p:nvSpPr>
        <p:spPr>
          <a:xfrm>
            <a:off x="6793992" y="1188720"/>
            <a:ext cx="1892808" cy="2011680"/>
          </a:xfrm>
          <a:prstGeom prst="rect">
            <a:avLst/>
          </a:prstGeom>
          <a:solidFill>
            <a:srgbClr val="F2F6FC"/>
          </a:solidFill>
          <a:ln w="9525">
            <a:solidFill>
              <a:srgbClr val="D5DCEA"/>
            </a:solidFill>
            <a:prstDash val="solid"/>
          </a:ln>
        </p:spPr>
      </p:sp>
      <p:sp>
        <p:nvSpPr>
          <p:cNvPr id="24" name="Shape 21"/>
          <p:cNvSpPr/>
          <p:nvPr/>
        </p:nvSpPr>
        <p:spPr>
          <a:xfrm>
            <a:off x="6793992" y="1188720"/>
            <a:ext cx="1892808" cy="566928"/>
          </a:xfrm>
          <a:prstGeom prst="rect">
            <a:avLst/>
          </a:prstGeom>
          <a:solidFill>
            <a:srgbClr val="7030A0"/>
          </a:solidFill>
          <a:ln w="12700">
            <a:solidFill>
              <a:srgbClr val="7030A0"/>
            </a:solidFill>
            <a:prstDash val="solid"/>
          </a:ln>
        </p:spPr>
      </p:sp>
      <p:sp>
        <p:nvSpPr>
          <p:cNvPr id="25" name="Text 22"/>
          <p:cNvSpPr txBox="1"/>
          <p:nvPr/>
        </p:nvSpPr>
        <p:spPr>
          <a:xfrm>
            <a:off x="6848856" y="1188720"/>
            <a:ext cx="1783080"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About to be dis-inherited</a:t>
            </a:r>
            <a:endParaRPr lang="en-US" sz="1150" dirty="0"/>
          </a:p>
        </p:txBody>
      </p:sp>
      <p:sp>
        <p:nvSpPr>
          <p:cNvPr id="26" name="Text 23"/>
          <p:cNvSpPr txBox="1"/>
          <p:nvPr/>
        </p:nvSpPr>
        <p:spPr>
          <a:xfrm>
            <a:off x="6885432" y="1828800"/>
            <a:ext cx="1709928" cy="1060704"/>
          </a:xfrm>
          <a:prstGeom prst="rect">
            <a:avLst/>
          </a:prstGeom>
          <a:noFill/>
          <a:ln/>
        </p:spPr>
        <p:txBody>
          <a:bodyPr wrap="square" lIns="0" tIns="0" rIns="0" bIns="0" rtlCol="0" anchor="t"/>
          <a:lstStyle/>
          <a:p>
            <a:pPr algn="ctr" indent="0" marL="0">
              <a:buNone/>
            </a:pPr>
            <a:r>
              <a:rPr lang="en-US" sz="1200" dirty="0">
                <a:solidFill>
                  <a:srgbClr val="262626"/>
                </a:solidFill>
                <a:latin typeface="Arial" pitchFamily="34" charset="0"/>
                <a:ea typeface="Arial" pitchFamily="34" charset="-122"/>
                <a:cs typeface="Arial" pitchFamily="34" charset="-120"/>
              </a:rPr>
              <a:t>“Lest I have labored for you in vain”</a:t>
            </a:r>
            <a:endParaRPr lang="en-US" sz="1200" dirty="0"/>
          </a:p>
        </p:txBody>
      </p:sp>
      <p:sp>
        <p:nvSpPr>
          <p:cNvPr id="27" name="Text 24"/>
          <p:cNvSpPr txBox="1"/>
          <p:nvPr/>
        </p:nvSpPr>
        <p:spPr>
          <a:xfrm>
            <a:off x="6867144" y="2871216"/>
            <a:ext cx="1746504"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v.11</a:t>
            </a:r>
            <a:endParaRPr lang="en-US" sz="950" dirty="0"/>
          </a:p>
        </p:txBody>
      </p:sp>
      <p:sp>
        <p:nvSpPr>
          <p:cNvPr id="28" name="Shape 25"/>
          <p:cNvSpPr/>
          <p:nvPr/>
        </p:nvSpPr>
        <p:spPr>
          <a:xfrm>
            <a:off x="457200" y="3337560"/>
            <a:ext cx="8229600" cy="365760"/>
          </a:xfrm>
          <a:prstGeom prst="rect">
            <a:avLst/>
          </a:prstGeom>
          <a:solidFill>
            <a:srgbClr val="1F3864"/>
          </a:solidFill>
          <a:ln w="12700">
            <a:solidFill>
              <a:srgbClr val="1F3864"/>
            </a:solidFill>
            <a:prstDash val="solid"/>
          </a:ln>
        </p:spPr>
      </p:sp>
      <p:sp>
        <p:nvSpPr>
          <p:cNvPr id="29" name="Text 26"/>
          <p:cNvSpPr txBox="1"/>
          <p:nvPr/>
        </p:nvSpPr>
        <p:spPr>
          <a:xfrm>
            <a:off x="548640" y="3383280"/>
            <a:ext cx="804672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What Paul fears — and what he does not</a:t>
            </a:r>
            <a:endParaRPr lang="en-US" sz="1200" dirty="0"/>
          </a:p>
        </p:txBody>
      </p:sp>
      <p:sp>
        <p:nvSpPr>
          <p:cNvPr id="30" name="Shape 27"/>
          <p:cNvSpPr/>
          <p:nvPr/>
        </p:nvSpPr>
        <p:spPr>
          <a:xfrm>
            <a:off x="457200" y="3703320"/>
            <a:ext cx="8229600" cy="914400"/>
          </a:xfrm>
          <a:prstGeom prst="rect">
            <a:avLst/>
          </a:prstGeom>
          <a:solidFill>
            <a:srgbClr val="F2F6FC"/>
          </a:solidFill>
          <a:ln w="9525">
            <a:solidFill>
              <a:srgbClr val="D5DCEA"/>
            </a:solidFill>
            <a:prstDash val="solid"/>
          </a:ln>
        </p:spPr>
      </p:sp>
      <p:sp>
        <p:nvSpPr>
          <p:cNvPr id="31" name="Text 28"/>
          <p:cNvSpPr txBox="1"/>
          <p:nvPr/>
        </p:nvSpPr>
        <p:spPr>
          <a:xfrm>
            <a:off x="548640" y="3776472"/>
            <a:ext cx="8046720" cy="786384"/>
          </a:xfrm>
          <a:prstGeom prst="rect">
            <a:avLst/>
          </a:prstGeom>
          <a:noFill/>
          <a:ln/>
        </p:spPr>
        <p:txBody>
          <a:bodyPr wrap="square" lIns="0" tIns="0" rIns="0" bIns="0" rtlCol="0" anchor="t"/>
          <a:lstStyle/>
          <a:p>
            <a:pPr marL="127000" indent="-127000">
              <a:spcAft>
                <a:spcPts val="300"/>
              </a:spcAft>
              <a:buSzPct val="100000"/>
              <a:buChar char="•"/>
            </a:pPr>
            <a:r>
              <a:rPr lang="en-US" sz="1150" dirty="0">
                <a:solidFill>
                  <a:srgbClr val="262626"/>
                </a:solidFill>
                <a:latin typeface="Arial" pitchFamily="34" charset="0"/>
                <a:ea typeface="Arial" pitchFamily="34" charset="-122"/>
                <a:cs typeface="Arial" pitchFamily="34" charset="-120"/>
              </a:rPr>
              <a:t>Not lost salvation: eternal life, received by grace through faith, is forever</a:t>
            </a:r>
            <a:endParaRPr lang="en-US" sz="1150" dirty="0"/>
          </a:p>
          <a:p>
            <a:pPr marL="127000" indent="-127000">
              <a:spcAft>
                <a:spcPts val="300"/>
              </a:spcAft>
              <a:buSzPct val="100000"/>
              <a:buChar char="•"/>
            </a:pPr>
            <a:r>
              <a:rPr lang="en-US" sz="1150" dirty="0">
                <a:solidFill>
                  <a:srgbClr val="262626"/>
                </a:solidFill>
                <a:latin typeface="Arial" pitchFamily="34" charset="0"/>
                <a:ea typeface="Arial" pitchFamily="34" charset="-122"/>
                <a:cs typeface="Arial" pitchFamily="34" charset="-120"/>
              </a:rPr>
              <a:t>But trading pagan slavery for law slavery — no better off than before</a:t>
            </a:r>
            <a:endParaRPr lang="en-US" sz="11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Discuss and apply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4:1–11 · from the study's posted questions and applications</a:t>
            </a:r>
            <a:endParaRPr lang="en-US" sz="1200" dirty="0"/>
          </a:p>
        </p:txBody>
      </p:sp>
      <p:sp>
        <p:nvSpPr>
          <p:cNvPr id="5" name="Shape 2"/>
          <p:cNvSpPr/>
          <p:nvPr/>
        </p:nvSpPr>
        <p:spPr>
          <a:xfrm>
            <a:off x="457200" y="1115568"/>
            <a:ext cx="4023360" cy="384048"/>
          </a:xfrm>
          <a:prstGeom prst="rect">
            <a:avLst/>
          </a:prstGeom>
          <a:solidFill>
            <a:srgbClr val="2E5496"/>
          </a:solidFill>
          <a:ln w="12700">
            <a:solidFill>
              <a:srgbClr val="2E5496"/>
            </a:solidFill>
            <a:prstDash val="solid"/>
          </a:ln>
        </p:spPr>
      </p:sp>
      <p:sp>
        <p:nvSpPr>
          <p:cNvPr id="6" name="Text 3"/>
          <p:cNvSpPr txBox="1"/>
          <p:nvPr/>
        </p:nvSpPr>
        <p:spPr>
          <a:xfrm>
            <a:off x="56692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Discuss</a:t>
            </a:r>
            <a:endParaRPr lang="en-US" sz="1300" dirty="0"/>
          </a:p>
        </p:txBody>
      </p:sp>
      <p:sp>
        <p:nvSpPr>
          <p:cNvPr id="7" name="Shape 4"/>
          <p:cNvSpPr/>
          <p:nvPr/>
        </p:nvSpPr>
        <p:spPr>
          <a:xfrm>
            <a:off x="457200" y="1499616"/>
            <a:ext cx="4023360" cy="2359152"/>
          </a:xfrm>
          <a:prstGeom prst="rect">
            <a:avLst/>
          </a:prstGeom>
          <a:solidFill>
            <a:srgbClr val="F2F6FC"/>
          </a:solidFill>
          <a:ln w="9525">
            <a:solidFill>
              <a:srgbClr val="D5DCEA"/>
            </a:solidFill>
            <a:prstDash val="solid"/>
          </a:ln>
        </p:spPr>
      </p:sp>
      <p:sp>
        <p:nvSpPr>
          <p:cNvPr id="8" name="Shape 5"/>
          <p:cNvSpPr/>
          <p:nvPr/>
        </p:nvSpPr>
        <p:spPr>
          <a:xfrm>
            <a:off x="4663440" y="1115568"/>
            <a:ext cx="4023360" cy="384048"/>
          </a:xfrm>
          <a:prstGeom prst="rect">
            <a:avLst/>
          </a:prstGeom>
          <a:solidFill>
            <a:srgbClr val="375623"/>
          </a:solidFill>
          <a:ln w="12700">
            <a:solidFill>
              <a:srgbClr val="375623"/>
            </a:solidFill>
            <a:prstDash val="solid"/>
          </a:ln>
        </p:spPr>
      </p:sp>
      <p:sp>
        <p:nvSpPr>
          <p:cNvPr id="9" name="Text 6"/>
          <p:cNvSpPr txBox="1"/>
          <p:nvPr/>
        </p:nvSpPr>
        <p:spPr>
          <a:xfrm>
            <a:off x="477316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Apply</a:t>
            </a:r>
            <a:endParaRPr lang="en-US" sz="1300" dirty="0"/>
          </a:p>
        </p:txBody>
      </p:sp>
      <p:sp>
        <p:nvSpPr>
          <p:cNvPr id="10" name="Shape 7"/>
          <p:cNvSpPr/>
          <p:nvPr/>
        </p:nvSpPr>
        <p:spPr>
          <a:xfrm>
            <a:off x="4663440" y="1499616"/>
            <a:ext cx="4023360" cy="2359152"/>
          </a:xfrm>
          <a:prstGeom prst="rect">
            <a:avLst/>
          </a:prstGeom>
          <a:solidFill>
            <a:srgbClr val="F2F6FC"/>
          </a:solidFill>
          <a:ln w="9525">
            <a:solidFill>
              <a:srgbClr val="D5DCEA"/>
            </a:solidFill>
            <a:prstDash val="solid"/>
          </a:ln>
        </p:spPr>
      </p:sp>
      <p:sp>
        <p:nvSpPr>
          <p:cNvPr id="11" name="Shape 8"/>
          <p:cNvSpPr/>
          <p:nvPr/>
        </p:nvSpPr>
        <p:spPr>
          <a:xfrm>
            <a:off x="566928" y="1636776"/>
            <a:ext cx="347472" cy="347472"/>
          </a:xfrm>
          <a:prstGeom prst="ellipse">
            <a:avLst/>
          </a:prstGeom>
          <a:solidFill>
            <a:srgbClr val="2E5496"/>
          </a:solidFill>
          <a:ln w="12700">
            <a:solidFill>
              <a:srgbClr val="2E5496"/>
            </a:solidFill>
            <a:prstDash val="solid"/>
          </a:ln>
        </p:spPr>
      </p:sp>
      <p:sp>
        <p:nvSpPr>
          <p:cNvPr id="12" name="Text 9"/>
          <p:cNvSpPr txBox="1"/>
          <p:nvPr/>
        </p:nvSpPr>
        <p:spPr>
          <a:xfrm>
            <a:off x="566928" y="163677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3" name="Text 10"/>
          <p:cNvSpPr txBox="1"/>
          <p:nvPr/>
        </p:nvSpPr>
        <p:spPr>
          <a:xfrm>
            <a:off x="1005840" y="1591056"/>
            <a:ext cx="3364992" cy="1042416"/>
          </a:xfrm>
          <a:prstGeom prst="rect">
            <a:avLst/>
          </a:prstGeom>
          <a:noFill/>
          <a:ln/>
        </p:spPr>
        <p:txBody>
          <a:bodyPr wrap="square" lIns="0" tIns="0" rIns="0" bIns="0" rtlCol="0" anchor="t"/>
          <a:lstStyle/>
          <a:p>
            <a:pPr indent="0" marL="0">
              <a:buNone/>
            </a:pPr>
            <a:r>
              <a:rPr lang="en-US" sz="1350" dirty="0">
                <a:solidFill>
                  <a:srgbClr val="262626"/>
                </a:solidFill>
                <a:latin typeface="Arial" pitchFamily="34" charset="0"/>
                <a:ea typeface="Arial" pitchFamily="34" charset="-122"/>
                <a:cs typeface="Arial" pitchFamily="34" charset="-120"/>
              </a:rPr>
              <a:t>What is the difference between how we enter God's family (birth) and how we receive the inheritance (adoption)?</a:t>
            </a:r>
            <a:endParaRPr lang="en-US" sz="1350" dirty="0"/>
          </a:p>
        </p:txBody>
      </p:sp>
      <p:sp>
        <p:nvSpPr>
          <p:cNvPr id="14" name="Shape 11"/>
          <p:cNvSpPr/>
          <p:nvPr/>
        </p:nvSpPr>
        <p:spPr>
          <a:xfrm>
            <a:off x="566928" y="2724912"/>
            <a:ext cx="347472" cy="347472"/>
          </a:xfrm>
          <a:prstGeom prst="ellipse">
            <a:avLst/>
          </a:prstGeom>
          <a:solidFill>
            <a:srgbClr val="2E5496"/>
          </a:solidFill>
          <a:ln w="12700">
            <a:solidFill>
              <a:srgbClr val="2E5496"/>
            </a:solidFill>
            <a:prstDash val="solid"/>
          </a:ln>
        </p:spPr>
      </p:sp>
      <p:sp>
        <p:nvSpPr>
          <p:cNvPr id="15" name="Text 12"/>
          <p:cNvSpPr txBox="1"/>
          <p:nvPr/>
        </p:nvSpPr>
        <p:spPr>
          <a:xfrm>
            <a:off x="566928" y="272491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6" name="Text 13"/>
          <p:cNvSpPr txBox="1"/>
          <p:nvPr/>
        </p:nvSpPr>
        <p:spPr>
          <a:xfrm>
            <a:off x="1005840" y="2679192"/>
            <a:ext cx="3364992" cy="1042416"/>
          </a:xfrm>
          <a:prstGeom prst="rect">
            <a:avLst/>
          </a:prstGeom>
          <a:noFill/>
          <a:ln/>
        </p:spPr>
        <p:txBody>
          <a:bodyPr wrap="square" lIns="0" tIns="0" rIns="0" bIns="0" rtlCol="0" anchor="t"/>
          <a:lstStyle/>
          <a:p>
            <a:pPr indent="0" marL="0">
              <a:buNone/>
            </a:pPr>
            <a:r>
              <a:rPr lang="en-US" sz="1350" dirty="0">
                <a:solidFill>
                  <a:srgbClr val="262626"/>
                </a:solidFill>
                <a:latin typeface="Arial" pitchFamily="34" charset="0"/>
                <a:ea typeface="Arial" pitchFamily="34" charset="-122"/>
                <a:cs typeface="Arial" pitchFamily="34" charset="-120"/>
              </a:rPr>
              <a:t>In verses 9–11, why is Paul “afraid” for the Galatians, if he is not questioning their salvation?</a:t>
            </a:r>
            <a:endParaRPr lang="en-US" sz="1350" dirty="0"/>
          </a:p>
        </p:txBody>
      </p:sp>
      <p:sp>
        <p:nvSpPr>
          <p:cNvPr id="17" name="Text 14"/>
          <p:cNvSpPr txBox="1"/>
          <p:nvPr/>
        </p:nvSpPr>
        <p:spPr>
          <a:xfrm>
            <a:off x="4791456" y="1591056"/>
            <a:ext cx="3767328" cy="1042416"/>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Let “Abba” Change How You Pray</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Begin at least one prayer time this week simply saying, “Abba, Father.”</a:t>
            </a:r>
            <a:endParaRPr lang="en-US" sz="1200" dirty="0"/>
          </a:p>
        </p:txBody>
      </p:sp>
      <p:sp>
        <p:nvSpPr>
          <p:cNvPr id="18" name="Text 15"/>
          <p:cNvSpPr txBox="1"/>
          <p:nvPr/>
        </p:nvSpPr>
        <p:spPr>
          <a:xfrm>
            <a:off x="4791456" y="2679192"/>
            <a:ext cx="3767328" cy="1042416"/>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Don't Trade Grace for Another Slavery</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Name one rule-keeping substitute for grace in your life and bring it to a trusted friend or your group.</a:t>
            </a:r>
            <a:endParaRPr lang="en-US" sz="1200" dirty="0"/>
          </a:p>
        </p:txBody>
      </p:sp>
      <p:sp>
        <p:nvSpPr>
          <p:cNvPr id="19" name="Shape 16"/>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0" name="Text 17"/>
          <p:cNvSpPr txBox="1"/>
          <p:nvPr/>
        </p:nvSpPr>
        <p:spPr>
          <a:xfrm>
            <a:off x="621792" y="4023360"/>
            <a:ext cx="7900416" cy="566928"/>
          </a:xfrm>
          <a:prstGeom prst="rect">
            <a:avLst/>
          </a:prstGeom>
          <a:noFill/>
          <a:ln/>
        </p:spPr>
        <p:txBody>
          <a:bodyPr wrap="square" lIns="0" tIns="0" rIns="0" bIns="0" rtlCol="0" anchor="ctr"/>
          <a:lstStyle/>
          <a:p>
            <a:pPr indent="0" marL="0">
              <a:buNone/>
            </a:pPr>
            <a:r>
              <a:rPr lang="en-US" sz="1250" b="1" dirty="0">
                <a:solidFill>
                  <a:srgbClr val="C9D5EE"/>
                </a:solidFill>
                <a:latin typeface="Arial" pitchFamily="34" charset="0"/>
                <a:ea typeface="Arial" pitchFamily="34" charset="-122"/>
                <a:cs typeface="Arial" pitchFamily="34" charset="-120"/>
              </a:rPr>
              <a:t>In one line:  </a:t>
            </a:r>
            <a:pPr indent="0" marL="0">
              <a:buNone/>
            </a:pPr>
            <a:r>
              <a:rPr lang="en-US" sz="1250" dirty="0">
                <a:solidFill>
                  <a:srgbClr val="FFFFFF"/>
                </a:solidFill>
                <a:latin typeface="Arial" pitchFamily="34" charset="0"/>
                <a:ea typeface="Arial" pitchFamily="34" charset="-122"/>
                <a:cs typeface="Arial" pitchFamily="34" charset="-120"/>
              </a:rPr>
              <a:t>You are no longer a slave but a son and an heir — don't go back to the beggarly elements.</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lstStyle/>
          <a:p>
            <a:pPr indent="0" marL="0">
              <a:buNone/>
            </a:pPr>
            <a:r>
              <a:rPr lang="en-US" sz="1400" dirty="0">
                <a:solidFill>
                  <a:srgbClr val="C9D5EE"/>
                </a:solidFill>
                <a:latin typeface="Arial" pitchFamily="34" charset="0"/>
                <a:ea typeface="Arial" pitchFamily="34" charset="-122"/>
                <a:cs typeface="Arial" pitchFamily="34" charset="-120"/>
              </a:rPr>
              <a:t>Study 10 of 16 · Galatians 4:12–20</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A Steel Fist in a Velvet Glove</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t"/>
          <a:lstStyle/>
          <a:p>
            <a:pPr indent="0" marL="0">
              <a:buNone/>
            </a:pPr>
            <a:r>
              <a:rPr lang="en-US" sz="1500" i="1" dirty="0">
                <a:solidFill>
                  <a:srgbClr val="E6ECF7"/>
                </a:solidFill>
                <a:latin typeface="Arial" pitchFamily="34" charset="0"/>
                <a:ea typeface="Arial" pitchFamily="34" charset="-122"/>
                <a:cs typeface="Arial" pitchFamily="34" charset="-120"/>
              </a:rPr>
              <a:t>After three chapters of rebuke, Paul pleads as a father: he shows his affection for the Galatians and his authentic loyalty to them, laboring again until Christ is formed in them.</a:t>
            </a:r>
            <a:endParaRPr lang="en-US" sz="15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Paul's affection and allegiance</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4:12–20 · The commentary's outline</a:t>
            </a:r>
            <a:endParaRPr lang="en-US" sz="1200" dirty="0"/>
          </a:p>
        </p:txBody>
      </p:sp>
      <p:sp>
        <p:nvSpPr>
          <p:cNvPr id="5" name="Shape 2"/>
          <p:cNvSpPr/>
          <p:nvPr/>
        </p:nvSpPr>
        <p:spPr>
          <a:xfrm>
            <a:off x="457200" y="1143000"/>
            <a:ext cx="4023360" cy="457200"/>
          </a:xfrm>
          <a:prstGeom prst="rect">
            <a:avLst/>
          </a:prstGeom>
          <a:solidFill>
            <a:srgbClr val="2E5496"/>
          </a:solidFill>
          <a:ln w="12700">
            <a:solidFill>
              <a:srgbClr val="2E5496"/>
            </a:solidFill>
            <a:prstDash val="solid"/>
          </a:ln>
        </p:spPr>
      </p:sp>
      <p:sp>
        <p:nvSpPr>
          <p:cNvPr id="6" name="Text 3"/>
          <p:cNvSpPr txBox="1"/>
          <p:nvPr/>
        </p:nvSpPr>
        <p:spPr>
          <a:xfrm>
            <a:off x="548640" y="1188720"/>
            <a:ext cx="3840480"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 Paul's Affection  ·  4:12–16</a:t>
            </a:r>
            <a:endParaRPr lang="en-US" sz="1200" dirty="0"/>
          </a:p>
        </p:txBody>
      </p:sp>
      <p:sp>
        <p:nvSpPr>
          <p:cNvPr id="7" name="Shape 4"/>
          <p:cNvSpPr/>
          <p:nvPr/>
        </p:nvSpPr>
        <p:spPr>
          <a:xfrm>
            <a:off x="457200" y="1600200"/>
            <a:ext cx="4023360" cy="2971800"/>
          </a:xfrm>
          <a:prstGeom prst="rect">
            <a:avLst/>
          </a:prstGeom>
          <a:solidFill>
            <a:srgbClr val="F2F6FC"/>
          </a:solidFill>
          <a:ln w="9525">
            <a:solidFill>
              <a:srgbClr val="D5DCEA"/>
            </a:solidFill>
            <a:prstDash val="solid"/>
          </a:ln>
        </p:spPr>
      </p:sp>
      <p:sp>
        <p:nvSpPr>
          <p:cNvPr id="8" name="Text 5"/>
          <p:cNvSpPr txBox="1"/>
          <p:nvPr/>
        </p:nvSpPr>
        <p:spPr>
          <a:xfrm>
            <a:off x="548640" y="1673352"/>
            <a:ext cx="3840480" cy="2843784"/>
          </a:xfrm>
          <a:prstGeom prst="rect">
            <a:avLst/>
          </a:prstGeom>
          <a:noFill/>
          <a:ln/>
        </p:spPr>
        <p:txBody>
          <a:bodyPr wrap="square" lIns="0" tIns="0" rIns="0" bIns="0" rtlCol="0" anchor="t"/>
          <a:lstStyle/>
          <a:p>
            <a:pPr indent="0" marL="0">
              <a:buNone/>
            </a:pPr>
            <a:endParaRPr lang="en-US" sz="1300" dirty="0"/>
          </a:p>
        </p:txBody>
      </p:sp>
      <p:sp>
        <p:nvSpPr>
          <p:cNvPr id="9" name="Shape 6"/>
          <p:cNvSpPr/>
          <p:nvPr/>
        </p:nvSpPr>
        <p:spPr>
          <a:xfrm>
            <a:off x="566928" y="1792224"/>
            <a:ext cx="420624" cy="420624"/>
          </a:xfrm>
          <a:prstGeom prst="ellipse">
            <a:avLst/>
          </a:prstGeom>
          <a:solidFill>
            <a:srgbClr val="2E5496"/>
          </a:solidFill>
          <a:ln w="12700">
            <a:solidFill>
              <a:srgbClr val="2E5496"/>
            </a:solidFill>
            <a:prstDash val="solid"/>
          </a:ln>
        </p:spPr>
      </p:sp>
      <p:sp>
        <p:nvSpPr>
          <p:cNvPr id="10" name="Text 7"/>
          <p:cNvSpPr txBox="1"/>
          <p:nvPr/>
        </p:nvSpPr>
        <p:spPr>
          <a:xfrm>
            <a:off x="566928" y="1792224"/>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a:t>
            </a:r>
            <a:endParaRPr lang="en-US" sz="1100" dirty="0"/>
          </a:p>
        </p:txBody>
      </p:sp>
      <p:sp>
        <p:nvSpPr>
          <p:cNvPr id="11" name="Text 8"/>
          <p:cNvSpPr txBox="1"/>
          <p:nvPr/>
        </p:nvSpPr>
        <p:spPr>
          <a:xfrm>
            <a:off x="1097280" y="1719072"/>
            <a:ext cx="3291840" cy="594360"/>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His plea</a:t>
            </a:r>
            <a:endParaRPr lang="en-US" sz="1200" dirty="0"/>
          </a:p>
          <a:p>
            <a:pPr indent="0" marL="0">
              <a:buNone/>
            </a:pPr>
            <a:r>
              <a:rPr lang="en-US" sz="1100" dirty="0">
                <a:solidFill>
                  <a:srgbClr val="262626"/>
                </a:solidFill>
                <a:latin typeface="Arial" pitchFamily="34" charset="0"/>
                <a:ea typeface="Arial" pitchFamily="34" charset="-122"/>
                <a:cs typeface="Arial" pitchFamily="34" charset="-120"/>
              </a:rPr>
              <a:t>Become like me — free from the Law (12a)</a:t>
            </a:r>
            <a:endParaRPr lang="en-US" sz="1200" dirty="0"/>
          </a:p>
        </p:txBody>
      </p:sp>
      <p:sp>
        <p:nvSpPr>
          <p:cNvPr id="12" name="Shape 9"/>
          <p:cNvSpPr/>
          <p:nvPr/>
        </p:nvSpPr>
        <p:spPr>
          <a:xfrm>
            <a:off x="566928" y="2496312"/>
            <a:ext cx="420624" cy="420624"/>
          </a:xfrm>
          <a:prstGeom prst="ellipse">
            <a:avLst/>
          </a:prstGeom>
          <a:solidFill>
            <a:srgbClr val="2E5496"/>
          </a:solidFill>
          <a:ln w="12700">
            <a:solidFill>
              <a:srgbClr val="2E5496"/>
            </a:solidFill>
            <a:prstDash val="solid"/>
          </a:ln>
        </p:spPr>
      </p:sp>
      <p:sp>
        <p:nvSpPr>
          <p:cNvPr id="13" name="Text 10"/>
          <p:cNvSpPr txBox="1"/>
          <p:nvPr/>
        </p:nvSpPr>
        <p:spPr>
          <a:xfrm>
            <a:off x="566928" y="2496312"/>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B</a:t>
            </a:r>
            <a:endParaRPr lang="en-US" sz="1100" dirty="0"/>
          </a:p>
        </p:txBody>
      </p:sp>
      <p:sp>
        <p:nvSpPr>
          <p:cNvPr id="14" name="Text 11"/>
          <p:cNvSpPr txBox="1"/>
          <p:nvPr/>
        </p:nvSpPr>
        <p:spPr>
          <a:xfrm>
            <a:off x="1097280" y="2423160"/>
            <a:ext cx="3291840" cy="594360"/>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His problem</a:t>
            </a:r>
            <a:endParaRPr lang="en-US" sz="1200" dirty="0"/>
          </a:p>
          <a:p>
            <a:pPr indent="0" marL="0">
              <a:buNone/>
            </a:pPr>
            <a:r>
              <a:rPr lang="en-US" sz="1100" dirty="0">
                <a:solidFill>
                  <a:srgbClr val="262626"/>
                </a:solidFill>
                <a:latin typeface="Arial" pitchFamily="34" charset="0"/>
                <a:ea typeface="Arial" pitchFamily="34" charset="-122"/>
                <a:cs typeface="Arial" pitchFamily="34" charset="-120"/>
              </a:rPr>
              <a:t>He first came in physical weakness (12b–13)</a:t>
            </a:r>
            <a:endParaRPr lang="en-US" sz="1200" dirty="0"/>
          </a:p>
        </p:txBody>
      </p:sp>
      <p:sp>
        <p:nvSpPr>
          <p:cNvPr id="15" name="Shape 12"/>
          <p:cNvSpPr/>
          <p:nvPr/>
        </p:nvSpPr>
        <p:spPr>
          <a:xfrm>
            <a:off x="566928" y="3200400"/>
            <a:ext cx="420624" cy="420624"/>
          </a:xfrm>
          <a:prstGeom prst="ellipse">
            <a:avLst/>
          </a:prstGeom>
          <a:solidFill>
            <a:srgbClr val="2E5496"/>
          </a:solidFill>
          <a:ln w="12700">
            <a:solidFill>
              <a:srgbClr val="2E5496"/>
            </a:solidFill>
            <a:prstDash val="solid"/>
          </a:ln>
        </p:spPr>
      </p:sp>
      <p:sp>
        <p:nvSpPr>
          <p:cNvPr id="16" name="Text 13"/>
          <p:cNvSpPr txBox="1"/>
          <p:nvPr/>
        </p:nvSpPr>
        <p:spPr>
          <a:xfrm>
            <a:off x="566928" y="3200400"/>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a:t>
            </a:r>
            <a:endParaRPr lang="en-US" sz="1100" dirty="0"/>
          </a:p>
        </p:txBody>
      </p:sp>
      <p:sp>
        <p:nvSpPr>
          <p:cNvPr id="17" name="Text 14"/>
          <p:cNvSpPr txBox="1"/>
          <p:nvPr/>
        </p:nvSpPr>
        <p:spPr>
          <a:xfrm>
            <a:off x="1097280" y="3127248"/>
            <a:ext cx="3291840" cy="594360"/>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Their approval</a:t>
            </a:r>
            <a:endParaRPr lang="en-US" sz="1200" dirty="0"/>
          </a:p>
          <a:p>
            <a:pPr indent="0" marL="0">
              <a:buNone/>
            </a:pPr>
            <a:r>
              <a:rPr lang="en-US" sz="1100" dirty="0">
                <a:solidFill>
                  <a:srgbClr val="262626"/>
                </a:solidFill>
                <a:latin typeface="Arial" pitchFamily="34" charset="0"/>
                <a:ea typeface="Arial" pitchFamily="34" charset="-122"/>
                <a:cs typeface="Arial" pitchFamily="34" charset="-120"/>
              </a:rPr>
              <a:t>They received him as an angel of God (14–15)</a:t>
            </a:r>
            <a:endParaRPr lang="en-US" sz="1200" dirty="0"/>
          </a:p>
        </p:txBody>
      </p:sp>
      <p:sp>
        <p:nvSpPr>
          <p:cNvPr id="18" name="Shape 15"/>
          <p:cNvSpPr/>
          <p:nvPr/>
        </p:nvSpPr>
        <p:spPr>
          <a:xfrm>
            <a:off x="566928" y="3904488"/>
            <a:ext cx="420624" cy="420624"/>
          </a:xfrm>
          <a:prstGeom prst="ellipse">
            <a:avLst/>
          </a:prstGeom>
          <a:solidFill>
            <a:srgbClr val="2E5496"/>
          </a:solidFill>
          <a:ln w="12700">
            <a:solidFill>
              <a:srgbClr val="2E5496"/>
            </a:solidFill>
            <a:prstDash val="solid"/>
          </a:ln>
        </p:spPr>
      </p:sp>
      <p:sp>
        <p:nvSpPr>
          <p:cNvPr id="19" name="Text 16"/>
          <p:cNvSpPr txBox="1"/>
          <p:nvPr/>
        </p:nvSpPr>
        <p:spPr>
          <a:xfrm>
            <a:off x="566928" y="3904488"/>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D</a:t>
            </a:r>
            <a:endParaRPr lang="en-US" sz="1100" dirty="0"/>
          </a:p>
        </p:txBody>
      </p:sp>
      <p:sp>
        <p:nvSpPr>
          <p:cNvPr id="20" name="Text 17"/>
          <p:cNvSpPr txBox="1"/>
          <p:nvPr/>
        </p:nvSpPr>
        <p:spPr>
          <a:xfrm>
            <a:off x="1097280" y="3831336"/>
            <a:ext cx="3291840" cy="594360"/>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His persuasion</a:t>
            </a:r>
            <a:endParaRPr lang="en-US" sz="1200" dirty="0"/>
          </a:p>
          <a:p>
            <a:pPr indent="0" marL="0">
              <a:buNone/>
            </a:pPr>
            <a:r>
              <a:rPr lang="en-US" sz="1100" dirty="0">
                <a:solidFill>
                  <a:srgbClr val="262626"/>
                </a:solidFill>
                <a:latin typeface="Arial" pitchFamily="34" charset="0"/>
                <a:ea typeface="Arial" pitchFamily="34" charset="-122"/>
                <a:cs typeface="Arial" pitchFamily="34" charset="-120"/>
              </a:rPr>
              <a:t>Am I your enemy for telling the truth? (16)</a:t>
            </a:r>
            <a:endParaRPr lang="en-US" sz="1200" dirty="0"/>
          </a:p>
        </p:txBody>
      </p:sp>
      <p:sp>
        <p:nvSpPr>
          <p:cNvPr id="21" name="Shape 18"/>
          <p:cNvSpPr/>
          <p:nvPr/>
        </p:nvSpPr>
        <p:spPr>
          <a:xfrm>
            <a:off x="4663440" y="1143000"/>
            <a:ext cx="4023360" cy="457200"/>
          </a:xfrm>
          <a:prstGeom prst="rect">
            <a:avLst/>
          </a:prstGeom>
          <a:solidFill>
            <a:srgbClr val="375623"/>
          </a:solidFill>
          <a:ln w="12700">
            <a:solidFill>
              <a:srgbClr val="375623"/>
            </a:solidFill>
            <a:prstDash val="solid"/>
          </a:ln>
        </p:spPr>
      </p:sp>
      <p:sp>
        <p:nvSpPr>
          <p:cNvPr id="22" name="Text 19"/>
          <p:cNvSpPr txBox="1"/>
          <p:nvPr/>
        </p:nvSpPr>
        <p:spPr>
          <a:xfrm>
            <a:off x="4754880" y="1188720"/>
            <a:ext cx="3840480"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II. Paul's Allegiance  ·  4:17–20</a:t>
            </a:r>
            <a:endParaRPr lang="en-US" sz="1200" dirty="0"/>
          </a:p>
        </p:txBody>
      </p:sp>
      <p:sp>
        <p:nvSpPr>
          <p:cNvPr id="23" name="Shape 20"/>
          <p:cNvSpPr/>
          <p:nvPr/>
        </p:nvSpPr>
        <p:spPr>
          <a:xfrm>
            <a:off x="4663440" y="1600200"/>
            <a:ext cx="4023360" cy="2971800"/>
          </a:xfrm>
          <a:prstGeom prst="rect">
            <a:avLst/>
          </a:prstGeom>
          <a:solidFill>
            <a:srgbClr val="F2F6FC"/>
          </a:solidFill>
          <a:ln w="9525">
            <a:solidFill>
              <a:srgbClr val="D5DCEA"/>
            </a:solidFill>
            <a:prstDash val="solid"/>
          </a:ln>
        </p:spPr>
      </p:sp>
      <p:sp>
        <p:nvSpPr>
          <p:cNvPr id="24" name="Text 21"/>
          <p:cNvSpPr txBox="1"/>
          <p:nvPr/>
        </p:nvSpPr>
        <p:spPr>
          <a:xfrm>
            <a:off x="4754880" y="1673352"/>
            <a:ext cx="3840480" cy="2843784"/>
          </a:xfrm>
          <a:prstGeom prst="rect">
            <a:avLst/>
          </a:prstGeom>
          <a:noFill/>
          <a:ln/>
        </p:spPr>
        <p:txBody>
          <a:bodyPr wrap="square" lIns="0" tIns="0" rIns="0" bIns="0" rtlCol="0" anchor="t"/>
          <a:lstStyle/>
          <a:p>
            <a:pPr indent="0" marL="0">
              <a:buNone/>
            </a:pPr>
            <a:endParaRPr lang="en-US" sz="1300" dirty="0"/>
          </a:p>
        </p:txBody>
      </p:sp>
      <p:sp>
        <p:nvSpPr>
          <p:cNvPr id="25" name="Shape 22"/>
          <p:cNvSpPr/>
          <p:nvPr/>
        </p:nvSpPr>
        <p:spPr>
          <a:xfrm>
            <a:off x="4773168" y="1792224"/>
            <a:ext cx="420624" cy="420624"/>
          </a:xfrm>
          <a:prstGeom prst="ellipse">
            <a:avLst/>
          </a:prstGeom>
          <a:solidFill>
            <a:srgbClr val="375623"/>
          </a:solidFill>
          <a:ln w="12700">
            <a:solidFill>
              <a:srgbClr val="375623"/>
            </a:solidFill>
            <a:prstDash val="solid"/>
          </a:ln>
        </p:spPr>
      </p:sp>
      <p:sp>
        <p:nvSpPr>
          <p:cNvPr id="26" name="Text 23"/>
          <p:cNvSpPr txBox="1"/>
          <p:nvPr/>
        </p:nvSpPr>
        <p:spPr>
          <a:xfrm>
            <a:off x="4773168" y="1792224"/>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a:t>
            </a:r>
            <a:endParaRPr lang="en-US" sz="1100" dirty="0"/>
          </a:p>
        </p:txBody>
      </p:sp>
      <p:sp>
        <p:nvSpPr>
          <p:cNvPr id="27" name="Text 24"/>
          <p:cNvSpPr txBox="1"/>
          <p:nvPr/>
        </p:nvSpPr>
        <p:spPr>
          <a:xfrm>
            <a:off x="5303520" y="1719072"/>
            <a:ext cx="3291840" cy="594360"/>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Artificial loyalty</a:t>
            </a:r>
            <a:endParaRPr lang="en-US" sz="1200" dirty="0"/>
          </a:p>
          <a:p>
            <a:pPr indent="0" marL="0">
              <a:buNone/>
            </a:pPr>
            <a:r>
              <a:rPr lang="en-US" sz="1100" dirty="0">
                <a:solidFill>
                  <a:srgbClr val="262626"/>
                </a:solidFill>
                <a:latin typeface="Arial" pitchFamily="34" charset="0"/>
                <a:ea typeface="Arial" pitchFamily="34" charset="-122"/>
                <a:cs typeface="Arial" pitchFamily="34" charset="-120"/>
              </a:rPr>
              <a:t>The Judaizers court you for no good (17)</a:t>
            </a:r>
            <a:endParaRPr lang="en-US" sz="1200" dirty="0"/>
          </a:p>
        </p:txBody>
      </p:sp>
      <p:sp>
        <p:nvSpPr>
          <p:cNvPr id="28" name="Shape 25"/>
          <p:cNvSpPr/>
          <p:nvPr/>
        </p:nvSpPr>
        <p:spPr>
          <a:xfrm>
            <a:off x="4773168" y="2496312"/>
            <a:ext cx="420624" cy="420624"/>
          </a:xfrm>
          <a:prstGeom prst="ellipse">
            <a:avLst/>
          </a:prstGeom>
          <a:solidFill>
            <a:srgbClr val="375623"/>
          </a:solidFill>
          <a:ln w="12700">
            <a:solidFill>
              <a:srgbClr val="375623"/>
            </a:solidFill>
            <a:prstDash val="solid"/>
          </a:ln>
        </p:spPr>
      </p:sp>
      <p:sp>
        <p:nvSpPr>
          <p:cNvPr id="29" name="Text 26"/>
          <p:cNvSpPr txBox="1"/>
          <p:nvPr/>
        </p:nvSpPr>
        <p:spPr>
          <a:xfrm>
            <a:off x="4773168" y="2496312"/>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B1</a:t>
            </a:r>
            <a:endParaRPr lang="en-US" sz="1100" dirty="0"/>
          </a:p>
        </p:txBody>
      </p:sp>
      <p:sp>
        <p:nvSpPr>
          <p:cNvPr id="30" name="Text 27"/>
          <p:cNvSpPr txBox="1"/>
          <p:nvPr/>
        </p:nvSpPr>
        <p:spPr>
          <a:xfrm>
            <a:off x="5303520" y="2423160"/>
            <a:ext cx="3291840" cy="594360"/>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Certainty</a:t>
            </a:r>
            <a:endParaRPr lang="en-US" sz="1200" dirty="0"/>
          </a:p>
          <a:p>
            <a:pPr indent="0" marL="0">
              <a:buNone/>
            </a:pPr>
            <a:r>
              <a:rPr lang="en-US" sz="1100" dirty="0">
                <a:solidFill>
                  <a:srgbClr val="262626"/>
                </a:solidFill>
                <a:latin typeface="Arial" pitchFamily="34" charset="0"/>
                <a:ea typeface="Arial" pitchFamily="34" charset="-122"/>
                <a:cs typeface="Arial" pitchFamily="34" charset="-120"/>
              </a:rPr>
              <a:t>Zeal in a good thing, always (18)</a:t>
            </a:r>
            <a:endParaRPr lang="en-US" sz="1200" dirty="0"/>
          </a:p>
        </p:txBody>
      </p:sp>
      <p:sp>
        <p:nvSpPr>
          <p:cNvPr id="31" name="Shape 28"/>
          <p:cNvSpPr/>
          <p:nvPr/>
        </p:nvSpPr>
        <p:spPr>
          <a:xfrm>
            <a:off x="4773168" y="3200400"/>
            <a:ext cx="420624" cy="420624"/>
          </a:xfrm>
          <a:prstGeom prst="ellipse">
            <a:avLst/>
          </a:prstGeom>
          <a:solidFill>
            <a:srgbClr val="375623"/>
          </a:solidFill>
          <a:ln w="12700">
            <a:solidFill>
              <a:srgbClr val="375623"/>
            </a:solidFill>
            <a:prstDash val="solid"/>
          </a:ln>
        </p:spPr>
      </p:sp>
      <p:sp>
        <p:nvSpPr>
          <p:cNvPr id="32" name="Text 29"/>
          <p:cNvSpPr txBox="1"/>
          <p:nvPr/>
        </p:nvSpPr>
        <p:spPr>
          <a:xfrm>
            <a:off x="4773168" y="3200400"/>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B2</a:t>
            </a:r>
            <a:endParaRPr lang="en-US" sz="1100" dirty="0"/>
          </a:p>
        </p:txBody>
      </p:sp>
      <p:sp>
        <p:nvSpPr>
          <p:cNvPr id="33" name="Text 30"/>
          <p:cNvSpPr txBox="1"/>
          <p:nvPr/>
        </p:nvSpPr>
        <p:spPr>
          <a:xfrm>
            <a:off x="5303520" y="3127248"/>
            <a:ext cx="3291840" cy="594360"/>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Compassion</a:t>
            </a:r>
            <a:endParaRPr lang="en-US" sz="1200" dirty="0"/>
          </a:p>
          <a:p>
            <a:pPr indent="0" marL="0">
              <a:buNone/>
            </a:pPr>
            <a:r>
              <a:rPr lang="en-US" sz="1100" dirty="0">
                <a:solidFill>
                  <a:srgbClr val="262626"/>
                </a:solidFill>
                <a:latin typeface="Arial" pitchFamily="34" charset="0"/>
                <a:ea typeface="Arial" pitchFamily="34" charset="-122"/>
                <a:cs typeface="Arial" pitchFamily="34" charset="-120"/>
              </a:rPr>
              <a:t>“My little children” (19a)</a:t>
            </a:r>
            <a:endParaRPr lang="en-US" sz="1200" dirty="0"/>
          </a:p>
        </p:txBody>
      </p:sp>
      <p:sp>
        <p:nvSpPr>
          <p:cNvPr id="34" name="Shape 31"/>
          <p:cNvSpPr/>
          <p:nvPr/>
        </p:nvSpPr>
        <p:spPr>
          <a:xfrm>
            <a:off x="4773168" y="3904488"/>
            <a:ext cx="420624" cy="420624"/>
          </a:xfrm>
          <a:prstGeom prst="ellipse">
            <a:avLst/>
          </a:prstGeom>
          <a:solidFill>
            <a:srgbClr val="375623"/>
          </a:solidFill>
          <a:ln w="12700">
            <a:solidFill>
              <a:srgbClr val="375623"/>
            </a:solidFill>
            <a:prstDash val="solid"/>
          </a:ln>
        </p:spPr>
      </p:sp>
      <p:sp>
        <p:nvSpPr>
          <p:cNvPr id="35" name="Text 32"/>
          <p:cNvSpPr txBox="1"/>
          <p:nvPr/>
        </p:nvSpPr>
        <p:spPr>
          <a:xfrm>
            <a:off x="4773168" y="3904488"/>
            <a:ext cx="420624" cy="420624"/>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B3–4</a:t>
            </a:r>
            <a:endParaRPr lang="en-US" sz="850" dirty="0"/>
          </a:p>
        </p:txBody>
      </p:sp>
      <p:sp>
        <p:nvSpPr>
          <p:cNvPr id="36" name="Text 33"/>
          <p:cNvSpPr txBox="1"/>
          <p:nvPr/>
        </p:nvSpPr>
        <p:spPr>
          <a:xfrm>
            <a:off x="5303520" y="3831336"/>
            <a:ext cx="3291840" cy="594360"/>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Check · character</a:t>
            </a:r>
            <a:endParaRPr lang="en-US" sz="1200" dirty="0"/>
          </a:p>
          <a:p>
            <a:pPr indent="0" marL="0">
              <a:buNone/>
            </a:pPr>
            <a:r>
              <a:rPr lang="en-US" sz="1100" dirty="0">
                <a:solidFill>
                  <a:srgbClr val="262626"/>
                </a:solidFill>
                <a:latin typeface="Arial" pitchFamily="34" charset="0"/>
                <a:ea typeface="Arial" pitchFamily="34" charset="-122"/>
                <a:cs typeface="Arial" pitchFamily="34" charset="-120"/>
              </a:rPr>
              <a:t>Until Christ is formed in you; I wish I were there (19b–20)</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Then and now</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4:13–16 · Outline I.B–D</a:t>
            </a:r>
            <a:endParaRPr lang="en-US" sz="1200" dirty="0"/>
          </a:p>
        </p:txBody>
      </p:sp>
      <p:sp>
        <p:nvSpPr>
          <p:cNvPr id="5" name="Shape 2"/>
          <p:cNvSpPr/>
          <p:nvPr/>
        </p:nvSpPr>
        <p:spPr>
          <a:xfrm>
            <a:off x="2011680" y="1115568"/>
            <a:ext cx="3291840" cy="384048"/>
          </a:xfrm>
          <a:prstGeom prst="rect">
            <a:avLst/>
          </a:prstGeom>
          <a:solidFill>
            <a:srgbClr val="2E5496"/>
          </a:solidFill>
          <a:ln w="12700">
            <a:solidFill>
              <a:srgbClr val="2E5496"/>
            </a:solidFill>
            <a:prstDash val="solid"/>
          </a:ln>
        </p:spPr>
      </p:sp>
      <p:sp>
        <p:nvSpPr>
          <p:cNvPr id="6" name="Text 3"/>
          <p:cNvSpPr txBox="1"/>
          <p:nvPr/>
        </p:nvSpPr>
        <p:spPr>
          <a:xfrm>
            <a:off x="2103120" y="1115568"/>
            <a:ext cx="3154680" cy="38404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Then — when Paul first came</a:t>
            </a:r>
            <a:endParaRPr lang="en-US" sz="1250" dirty="0"/>
          </a:p>
        </p:txBody>
      </p:sp>
      <p:sp>
        <p:nvSpPr>
          <p:cNvPr id="7" name="Shape 4"/>
          <p:cNvSpPr/>
          <p:nvPr/>
        </p:nvSpPr>
        <p:spPr>
          <a:xfrm>
            <a:off x="5394960" y="1115568"/>
            <a:ext cx="3291840" cy="384048"/>
          </a:xfrm>
          <a:prstGeom prst="rect">
            <a:avLst/>
          </a:prstGeom>
          <a:solidFill>
            <a:srgbClr val="6B7280"/>
          </a:solidFill>
          <a:ln w="12700">
            <a:solidFill>
              <a:srgbClr val="6B7280"/>
            </a:solidFill>
            <a:prstDash val="solid"/>
          </a:ln>
        </p:spPr>
      </p:sp>
      <p:sp>
        <p:nvSpPr>
          <p:cNvPr id="8" name="Text 5"/>
          <p:cNvSpPr txBox="1"/>
          <p:nvPr/>
        </p:nvSpPr>
        <p:spPr>
          <a:xfrm>
            <a:off x="5440680" y="1115568"/>
            <a:ext cx="3154680" cy="38404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Now — after the Judaizers</a:t>
            </a:r>
            <a:endParaRPr lang="en-US" sz="1250" dirty="0"/>
          </a:p>
        </p:txBody>
      </p:sp>
      <p:sp>
        <p:nvSpPr>
          <p:cNvPr id="9" name="Text 6"/>
          <p:cNvSpPr txBox="1"/>
          <p:nvPr/>
        </p:nvSpPr>
        <p:spPr>
          <a:xfrm>
            <a:off x="457200" y="1554480"/>
            <a:ext cx="1463040" cy="548640"/>
          </a:xfrm>
          <a:prstGeom prst="rect">
            <a:avLst/>
          </a:prstGeom>
          <a:noFill/>
          <a:ln/>
        </p:spPr>
        <p:txBody>
          <a:bodyPr wrap="square" lIns="0" tIns="0" rIns="0" bIns="0" rtlCol="0" anchor="ctr"/>
          <a:lstStyle/>
          <a:p>
            <a:pPr indent="0" marL="0">
              <a:buNone/>
            </a:pPr>
            <a:r>
              <a:rPr lang="en-US" sz="1150" b="1" dirty="0">
                <a:solidFill>
                  <a:srgbClr val="1F3864"/>
                </a:solidFill>
                <a:latin typeface="Arial" pitchFamily="34" charset="0"/>
                <a:ea typeface="Arial" pitchFamily="34" charset="-122"/>
                <a:cs typeface="Arial" pitchFamily="34" charset="-120"/>
              </a:rPr>
              <a:t>Paul's condition</a:t>
            </a:r>
            <a:endParaRPr lang="en-US" sz="1150" dirty="0"/>
          </a:p>
        </p:txBody>
      </p:sp>
      <p:sp>
        <p:nvSpPr>
          <p:cNvPr id="10" name="Shape 7"/>
          <p:cNvSpPr/>
          <p:nvPr/>
        </p:nvSpPr>
        <p:spPr>
          <a:xfrm>
            <a:off x="2011680" y="1554480"/>
            <a:ext cx="3291840" cy="548640"/>
          </a:xfrm>
          <a:prstGeom prst="rect">
            <a:avLst/>
          </a:prstGeom>
          <a:solidFill>
            <a:srgbClr val="F2F6FC"/>
          </a:solidFill>
          <a:ln w="9525">
            <a:solidFill>
              <a:srgbClr val="D5DCEA"/>
            </a:solidFill>
            <a:prstDash val="solid"/>
          </a:ln>
        </p:spPr>
      </p:sp>
      <p:sp>
        <p:nvSpPr>
          <p:cNvPr id="11" name="Text 8"/>
          <p:cNvSpPr txBox="1"/>
          <p:nvPr/>
        </p:nvSpPr>
        <p:spPr>
          <a:xfrm>
            <a:off x="2103120" y="1554480"/>
            <a:ext cx="310896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A physical infirmity (ἀσθένεια) — v.13</a:t>
            </a:r>
            <a:endParaRPr lang="en-US" sz="1200" dirty="0"/>
          </a:p>
        </p:txBody>
      </p:sp>
      <p:sp>
        <p:nvSpPr>
          <p:cNvPr id="12" name="Shape 9"/>
          <p:cNvSpPr/>
          <p:nvPr/>
        </p:nvSpPr>
        <p:spPr>
          <a:xfrm>
            <a:off x="5394960" y="1554480"/>
            <a:ext cx="3291840" cy="548640"/>
          </a:xfrm>
          <a:prstGeom prst="rect">
            <a:avLst/>
          </a:prstGeom>
          <a:solidFill>
            <a:srgbClr val="F2F6FC"/>
          </a:solidFill>
          <a:ln w="9525">
            <a:solidFill>
              <a:srgbClr val="D5DCEA"/>
            </a:solidFill>
            <a:prstDash val="solid"/>
          </a:ln>
        </p:spPr>
      </p:sp>
      <p:sp>
        <p:nvSpPr>
          <p:cNvPr id="13" name="Text 10"/>
          <p:cNvSpPr txBox="1"/>
          <p:nvPr/>
        </p:nvSpPr>
        <p:spPr>
          <a:xfrm>
            <a:off x="5486400" y="1554480"/>
            <a:ext cx="310896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The same Paul, telling the same truth</a:t>
            </a:r>
            <a:endParaRPr lang="en-US" sz="1200" dirty="0"/>
          </a:p>
        </p:txBody>
      </p:sp>
      <p:sp>
        <p:nvSpPr>
          <p:cNvPr id="14" name="Text 11"/>
          <p:cNvSpPr txBox="1"/>
          <p:nvPr/>
        </p:nvSpPr>
        <p:spPr>
          <a:xfrm>
            <a:off x="457200" y="2157984"/>
            <a:ext cx="1463040" cy="548640"/>
          </a:xfrm>
          <a:prstGeom prst="rect">
            <a:avLst/>
          </a:prstGeom>
          <a:noFill/>
          <a:ln/>
        </p:spPr>
        <p:txBody>
          <a:bodyPr wrap="square" lIns="0" tIns="0" rIns="0" bIns="0" rtlCol="0" anchor="ctr"/>
          <a:lstStyle/>
          <a:p>
            <a:pPr indent="0" marL="0">
              <a:buNone/>
            </a:pPr>
            <a:r>
              <a:rPr lang="en-US" sz="1150" b="1" dirty="0">
                <a:solidFill>
                  <a:srgbClr val="1F3864"/>
                </a:solidFill>
                <a:latin typeface="Arial" pitchFamily="34" charset="0"/>
                <a:ea typeface="Arial" pitchFamily="34" charset="-122"/>
                <a:cs typeface="Arial" pitchFamily="34" charset="-120"/>
              </a:rPr>
              <a:t>Their response</a:t>
            </a:r>
            <a:endParaRPr lang="en-US" sz="1150" dirty="0"/>
          </a:p>
        </p:txBody>
      </p:sp>
      <p:sp>
        <p:nvSpPr>
          <p:cNvPr id="15" name="Shape 12"/>
          <p:cNvSpPr/>
          <p:nvPr/>
        </p:nvSpPr>
        <p:spPr>
          <a:xfrm>
            <a:off x="2011680" y="2157984"/>
            <a:ext cx="3291840" cy="548640"/>
          </a:xfrm>
          <a:prstGeom prst="rect">
            <a:avLst/>
          </a:prstGeom>
          <a:solidFill>
            <a:srgbClr val="F2F6FC"/>
          </a:solidFill>
          <a:ln w="9525">
            <a:solidFill>
              <a:srgbClr val="D5DCEA"/>
            </a:solidFill>
            <a:prstDash val="solid"/>
          </a:ln>
        </p:spPr>
      </p:sp>
      <p:sp>
        <p:nvSpPr>
          <p:cNvPr id="16" name="Text 13"/>
          <p:cNvSpPr txBox="1"/>
          <p:nvPr/>
        </p:nvSpPr>
        <p:spPr>
          <a:xfrm>
            <a:off x="2103120" y="2157984"/>
            <a:ext cx="310896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Did not despise or spit him out — v.14</a:t>
            </a:r>
            <a:endParaRPr lang="en-US" sz="1200" dirty="0"/>
          </a:p>
        </p:txBody>
      </p:sp>
      <p:sp>
        <p:nvSpPr>
          <p:cNvPr id="17" name="Shape 14"/>
          <p:cNvSpPr/>
          <p:nvPr/>
        </p:nvSpPr>
        <p:spPr>
          <a:xfrm>
            <a:off x="5394960" y="2157984"/>
            <a:ext cx="3291840" cy="548640"/>
          </a:xfrm>
          <a:prstGeom prst="rect">
            <a:avLst/>
          </a:prstGeom>
          <a:solidFill>
            <a:srgbClr val="F2F6FC"/>
          </a:solidFill>
          <a:ln w="9525">
            <a:solidFill>
              <a:srgbClr val="D5DCEA"/>
            </a:solidFill>
            <a:prstDash val="solid"/>
          </a:ln>
        </p:spPr>
      </p:sp>
      <p:sp>
        <p:nvSpPr>
          <p:cNvPr id="18" name="Text 15"/>
          <p:cNvSpPr txBox="1"/>
          <p:nvPr/>
        </p:nvSpPr>
        <p:spPr>
          <a:xfrm>
            <a:off x="5486400" y="2157984"/>
            <a:ext cx="310896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“Have I become your enemy?” (ἐχθρός) — v.16</a:t>
            </a:r>
            <a:endParaRPr lang="en-US" sz="1200" dirty="0"/>
          </a:p>
        </p:txBody>
      </p:sp>
      <p:sp>
        <p:nvSpPr>
          <p:cNvPr id="19" name="Text 16"/>
          <p:cNvSpPr txBox="1"/>
          <p:nvPr/>
        </p:nvSpPr>
        <p:spPr>
          <a:xfrm>
            <a:off x="457200" y="2761488"/>
            <a:ext cx="1463040" cy="548640"/>
          </a:xfrm>
          <a:prstGeom prst="rect">
            <a:avLst/>
          </a:prstGeom>
          <a:noFill/>
          <a:ln/>
        </p:spPr>
        <p:txBody>
          <a:bodyPr wrap="square" lIns="0" tIns="0" rIns="0" bIns="0" rtlCol="0" anchor="ctr"/>
          <a:lstStyle/>
          <a:p>
            <a:pPr indent="0" marL="0">
              <a:buNone/>
            </a:pPr>
            <a:r>
              <a:rPr lang="en-US" sz="1150" b="1" dirty="0">
                <a:solidFill>
                  <a:srgbClr val="1F3864"/>
                </a:solidFill>
                <a:latin typeface="Arial" pitchFamily="34" charset="0"/>
                <a:ea typeface="Arial" pitchFamily="34" charset="-122"/>
                <a:cs typeface="Arial" pitchFamily="34" charset="-120"/>
              </a:rPr>
              <a:t>How they saw him</a:t>
            </a:r>
            <a:endParaRPr lang="en-US" sz="1150" dirty="0"/>
          </a:p>
        </p:txBody>
      </p:sp>
      <p:sp>
        <p:nvSpPr>
          <p:cNvPr id="20" name="Shape 17"/>
          <p:cNvSpPr/>
          <p:nvPr/>
        </p:nvSpPr>
        <p:spPr>
          <a:xfrm>
            <a:off x="2011680" y="2761488"/>
            <a:ext cx="3291840" cy="548640"/>
          </a:xfrm>
          <a:prstGeom prst="rect">
            <a:avLst/>
          </a:prstGeom>
          <a:solidFill>
            <a:srgbClr val="F2F6FC"/>
          </a:solidFill>
          <a:ln w="9525">
            <a:solidFill>
              <a:srgbClr val="D5DCEA"/>
            </a:solidFill>
            <a:prstDash val="solid"/>
          </a:ln>
        </p:spPr>
      </p:sp>
      <p:sp>
        <p:nvSpPr>
          <p:cNvPr id="21" name="Text 18"/>
          <p:cNvSpPr txBox="1"/>
          <p:nvPr/>
        </p:nvSpPr>
        <p:spPr>
          <a:xfrm>
            <a:off x="2103120" y="2761488"/>
            <a:ext cx="310896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“As an angel of God, even as Christ Jesus”</a:t>
            </a:r>
            <a:endParaRPr lang="en-US" sz="1200" dirty="0"/>
          </a:p>
        </p:txBody>
      </p:sp>
      <p:sp>
        <p:nvSpPr>
          <p:cNvPr id="22" name="Shape 19"/>
          <p:cNvSpPr/>
          <p:nvPr/>
        </p:nvSpPr>
        <p:spPr>
          <a:xfrm>
            <a:off x="5394960" y="2761488"/>
            <a:ext cx="3291840" cy="548640"/>
          </a:xfrm>
          <a:prstGeom prst="rect">
            <a:avLst/>
          </a:prstGeom>
          <a:solidFill>
            <a:srgbClr val="F2F6FC"/>
          </a:solidFill>
          <a:ln w="9525">
            <a:solidFill>
              <a:srgbClr val="D5DCEA"/>
            </a:solidFill>
            <a:prstDash val="solid"/>
          </a:ln>
        </p:spPr>
      </p:sp>
      <p:sp>
        <p:nvSpPr>
          <p:cNvPr id="23" name="Text 20"/>
          <p:cNvSpPr txBox="1"/>
          <p:nvPr/>
        </p:nvSpPr>
        <p:spPr>
          <a:xfrm>
            <a:off x="5486400" y="2761488"/>
            <a:ext cx="310896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As an opponent</a:t>
            </a:r>
            <a:endParaRPr lang="en-US" sz="1200" dirty="0"/>
          </a:p>
        </p:txBody>
      </p:sp>
      <p:sp>
        <p:nvSpPr>
          <p:cNvPr id="24" name="Text 21"/>
          <p:cNvSpPr txBox="1"/>
          <p:nvPr/>
        </p:nvSpPr>
        <p:spPr>
          <a:xfrm>
            <a:off x="457200" y="3364992"/>
            <a:ext cx="1463040" cy="548640"/>
          </a:xfrm>
          <a:prstGeom prst="rect">
            <a:avLst/>
          </a:prstGeom>
          <a:noFill/>
          <a:ln/>
        </p:spPr>
        <p:txBody>
          <a:bodyPr wrap="square" lIns="0" tIns="0" rIns="0" bIns="0" rtlCol="0" anchor="ctr"/>
          <a:lstStyle/>
          <a:p>
            <a:pPr indent="0" marL="0">
              <a:buNone/>
            </a:pPr>
            <a:r>
              <a:rPr lang="en-US" sz="1150" b="1" dirty="0">
                <a:solidFill>
                  <a:srgbClr val="1F3864"/>
                </a:solidFill>
                <a:latin typeface="Arial" pitchFamily="34" charset="0"/>
                <a:ea typeface="Arial" pitchFamily="34" charset="-122"/>
                <a:cs typeface="Arial" pitchFamily="34" charset="-120"/>
              </a:rPr>
              <a:t>Their blessing</a:t>
            </a:r>
            <a:endParaRPr lang="en-US" sz="1150" dirty="0"/>
          </a:p>
        </p:txBody>
      </p:sp>
      <p:sp>
        <p:nvSpPr>
          <p:cNvPr id="25" name="Shape 22"/>
          <p:cNvSpPr/>
          <p:nvPr/>
        </p:nvSpPr>
        <p:spPr>
          <a:xfrm>
            <a:off x="2011680" y="3364992"/>
            <a:ext cx="3291840" cy="548640"/>
          </a:xfrm>
          <a:prstGeom prst="rect">
            <a:avLst/>
          </a:prstGeom>
          <a:solidFill>
            <a:srgbClr val="F2F6FC"/>
          </a:solidFill>
          <a:ln w="9525">
            <a:solidFill>
              <a:srgbClr val="D5DCEA"/>
            </a:solidFill>
            <a:prstDash val="solid"/>
          </a:ln>
        </p:spPr>
      </p:sp>
      <p:sp>
        <p:nvSpPr>
          <p:cNvPr id="26" name="Text 23"/>
          <p:cNvSpPr txBox="1"/>
          <p:nvPr/>
        </p:nvSpPr>
        <p:spPr>
          <a:xfrm>
            <a:off x="2103120" y="3364992"/>
            <a:ext cx="310896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Would have plucked out their own eyes for him — v.15</a:t>
            </a:r>
            <a:endParaRPr lang="en-US" sz="1200" dirty="0"/>
          </a:p>
        </p:txBody>
      </p:sp>
      <p:sp>
        <p:nvSpPr>
          <p:cNvPr id="27" name="Shape 24"/>
          <p:cNvSpPr/>
          <p:nvPr/>
        </p:nvSpPr>
        <p:spPr>
          <a:xfrm>
            <a:off x="5394960" y="3364992"/>
            <a:ext cx="3291840" cy="548640"/>
          </a:xfrm>
          <a:prstGeom prst="rect">
            <a:avLst/>
          </a:prstGeom>
          <a:solidFill>
            <a:srgbClr val="F2F6FC"/>
          </a:solidFill>
          <a:ln w="9525">
            <a:solidFill>
              <a:srgbClr val="D5DCEA"/>
            </a:solidFill>
            <a:prstDash val="solid"/>
          </a:ln>
        </p:spPr>
      </p:sp>
      <p:sp>
        <p:nvSpPr>
          <p:cNvPr id="28" name="Text 25"/>
          <p:cNvSpPr txBox="1"/>
          <p:nvPr/>
        </p:nvSpPr>
        <p:spPr>
          <a:xfrm>
            <a:off x="5486400" y="3364992"/>
            <a:ext cx="310896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“What then was the blessing you enjoyed?”</a:t>
            </a:r>
            <a:endParaRPr lang="en-US" sz="1200" dirty="0"/>
          </a:p>
        </p:txBody>
      </p:sp>
      <p:sp>
        <p:nvSpPr>
          <p:cNvPr id="29" name="Shape 26"/>
          <p:cNvSpPr/>
          <p:nvPr/>
        </p:nvSpPr>
        <p:spPr>
          <a:xfrm>
            <a:off x="457200" y="4069080"/>
            <a:ext cx="8229600" cy="502920"/>
          </a:xfrm>
          <a:prstGeom prst="roundRect">
            <a:avLst>
              <a:gd name="adj" fmla="val 10909"/>
            </a:avLst>
          </a:prstGeom>
          <a:solidFill>
            <a:srgbClr val="1F3864"/>
          </a:solidFill>
          <a:ln w="12700">
            <a:solidFill>
              <a:srgbClr val="1F3864"/>
            </a:solidFill>
            <a:prstDash val="solid"/>
          </a:ln>
        </p:spPr>
      </p:sp>
      <p:sp>
        <p:nvSpPr>
          <p:cNvPr id="30" name="Text 27"/>
          <p:cNvSpPr txBox="1"/>
          <p:nvPr/>
        </p:nvSpPr>
        <p:spPr>
          <a:xfrm>
            <a:off x="621792" y="4069080"/>
            <a:ext cx="7900416" cy="50292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I told you the truth. Now I am your enemy. Conclusion: I became your enemy because I told you the truth.</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Two kinds of zeal</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4:17–18 · Outline II.A–B.1</a:t>
            </a:r>
            <a:endParaRPr lang="en-US" sz="1200" dirty="0"/>
          </a:p>
        </p:txBody>
      </p:sp>
      <p:sp>
        <p:nvSpPr>
          <p:cNvPr id="5" name="Shape 2"/>
          <p:cNvSpPr/>
          <p:nvPr/>
        </p:nvSpPr>
        <p:spPr>
          <a:xfrm>
            <a:off x="1737360" y="1115568"/>
            <a:ext cx="3429000" cy="384048"/>
          </a:xfrm>
          <a:prstGeom prst="rect">
            <a:avLst/>
          </a:prstGeom>
          <a:solidFill>
            <a:srgbClr val="6B7280"/>
          </a:solidFill>
          <a:ln w="12700">
            <a:solidFill>
              <a:srgbClr val="6B7280"/>
            </a:solidFill>
            <a:prstDash val="solid"/>
          </a:ln>
        </p:spPr>
      </p:sp>
      <p:sp>
        <p:nvSpPr>
          <p:cNvPr id="6" name="Text 3"/>
          <p:cNvSpPr txBox="1"/>
          <p:nvPr/>
        </p:nvSpPr>
        <p:spPr>
          <a:xfrm>
            <a:off x="1828800" y="1115568"/>
            <a:ext cx="3291840" cy="38404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The Judaizers — artificial</a:t>
            </a:r>
            <a:endParaRPr lang="en-US" sz="1250" dirty="0"/>
          </a:p>
        </p:txBody>
      </p:sp>
      <p:sp>
        <p:nvSpPr>
          <p:cNvPr id="7" name="Shape 4"/>
          <p:cNvSpPr/>
          <p:nvPr/>
        </p:nvSpPr>
        <p:spPr>
          <a:xfrm>
            <a:off x="5257800" y="1115568"/>
            <a:ext cx="3429000" cy="384048"/>
          </a:xfrm>
          <a:prstGeom prst="rect">
            <a:avLst/>
          </a:prstGeom>
          <a:solidFill>
            <a:srgbClr val="375623"/>
          </a:solidFill>
          <a:ln w="12700">
            <a:solidFill>
              <a:srgbClr val="375623"/>
            </a:solidFill>
            <a:prstDash val="solid"/>
          </a:ln>
        </p:spPr>
      </p:sp>
      <p:sp>
        <p:nvSpPr>
          <p:cNvPr id="8" name="Text 5"/>
          <p:cNvSpPr txBox="1"/>
          <p:nvPr/>
        </p:nvSpPr>
        <p:spPr>
          <a:xfrm>
            <a:off x="5303520" y="1115568"/>
            <a:ext cx="3291840" cy="38404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Paul — authentic</a:t>
            </a:r>
            <a:endParaRPr lang="en-US" sz="1250" dirty="0"/>
          </a:p>
        </p:txBody>
      </p:sp>
      <p:sp>
        <p:nvSpPr>
          <p:cNvPr id="9" name="Text 6"/>
          <p:cNvSpPr txBox="1"/>
          <p:nvPr/>
        </p:nvSpPr>
        <p:spPr>
          <a:xfrm>
            <a:off x="457200" y="1554480"/>
            <a:ext cx="1188720" cy="548640"/>
          </a:xfrm>
          <a:prstGeom prst="rect">
            <a:avLst/>
          </a:prstGeom>
          <a:noFill/>
          <a:ln/>
        </p:spPr>
        <p:txBody>
          <a:bodyPr wrap="square" lIns="0" tIns="0" rIns="0" bIns="0" rtlCol="0" anchor="ctr"/>
          <a:lstStyle/>
          <a:p>
            <a:pPr indent="0" marL="0">
              <a:buNone/>
            </a:pPr>
            <a:r>
              <a:rPr lang="en-US" sz="1150" b="1" dirty="0">
                <a:solidFill>
                  <a:srgbClr val="1F3864"/>
                </a:solidFill>
                <a:latin typeface="Arial" pitchFamily="34" charset="0"/>
                <a:ea typeface="Arial" pitchFamily="34" charset="-122"/>
                <a:cs typeface="Arial" pitchFamily="34" charset="-120"/>
              </a:rPr>
              <a:t>The verb</a:t>
            </a:r>
            <a:endParaRPr lang="en-US" sz="1150" dirty="0"/>
          </a:p>
        </p:txBody>
      </p:sp>
      <p:sp>
        <p:nvSpPr>
          <p:cNvPr id="10" name="Shape 7"/>
          <p:cNvSpPr/>
          <p:nvPr/>
        </p:nvSpPr>
        <p:spPr>
          <a:xfrm>
            <a:off x="1737360" y="1554480"/>
            <a:ext cx="3429000" cy="548640"/>
          </a:xfrm>
          <a:prstGeom prst="rect">
            <a:avLst/>
          </a:prstGeom>
          <a:solidFill>
            <a:srgbClr val="F2F6FC"/>
          </a:solidFill>
          <a:ln w="9525">
            <a:solidFill>
              <a:srgbClr val="D5DCEA"/>
            </a:solidFill>
            <a:prstDash val="solid"/>
          </a:ln>
        </p:spPr>
      </p:sp>
      <p:sp>
        <p:nvSpPr>
          <p:cNvPr id="11" name="Text 8"/>
          <p:cNvSpPr txBox="1"/>
          <p:nvPr/>
        </p:nvSpPr>
        <p:spPr>
          <a:xfrm>
            <a:off x="1828800" y="1554480"/>
            <a:ext cx="324612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ζηλοῦσιν — they zealously court you</a:t>
            </a:r>
            <a:endParaRPr lang="en-US" sz="1200" dirty="0"/>
          </a:p>
        </p:txBody>
      </p:sp>
      <p:sp>
        <p:nvSpPr>
          <p:cNvPr id="12" name="Shape 9"/>
          <p:cNvSpPr/>
          <p:nvPr/>
        </p:nvSpPr>
        <p:spPr>
          <a:xfrm>
            <a:off x="5257800" y="1554480"/>
            <a:ext cx="3429000" cy="548640"/>
          </a:xfrm>
          <a:prstGeom prst="rect">
            <a:avLst/>
          </a:prstGeom>
          <a:solidFill>
            <a:srgbClr val="F2F6FC"/>
          </a:solidFill>
          <a:ln w="9525">
            <a:solidFill>
              <a:srgbClr val="D5DCEA"/>
            </a:solidFill>
            <a:prstDash val="solid"/>
          </a:ln>
        </p:spPr>
      </p:sp>
      <p:sp>
        <p:nvSpPr>
          <p:cNvPr id="13" name="Text 10"/>
          <p:cNvSpPr txBox="1"/>
          <p:nvPr/>
        </p:nvSpPr>
        <p:spPr>
          <a:xfrm>
            <a:off x="5349240" y="1554480"/>
            <a:ext cx="324612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ζηλοῦσθαι — zealous in a good thing</a:t>
            </a:r>
            <a:endParaRPr lang="en-US" sz="1200" dirty="0"/>
          </a:p>
        </p:txBody>
      </p:sp>
      <p:sp>
        <p:nvSpPr>
          <p:cNvPr id="14" name="Text 11"/>
          <p:cNvSpPr txBox="1"/>
          <p:nvPr/>
        </p:nvSpPr>
        <p:spPr>
          <a:xfrm>
            <a:off x="457200" y="2157984"/>
            <a:ext cx="1188720" cy="548640"/>
          </a:xfrm>
          <a:prstGeom prst="rect">
            <a:avLst/>
          </a:prstGeom>
          <a:noFill/>
          <a:ln/>
        </p:spPr>
        <p:txBody>
          <a:bodyPr wrap="square" lIns="0" tIns="0" rIns="0" bIns="0" rtlCol="0" anchor="ctr"/>
          <a:lstStyle/>
          <a:p>
            <a:pPr indent="0" marL="0">
              <a:buNone/>
            </a:pPr>
            <a:r>
              <a:rPr lang="en-US" sz="1150" b="1" dirty="0">
                <a:solidFill>
                  <a:srgbClr val="1F3864"/>
                </a:solidFill>
                <a:latin typeface="Arial" pitchFamily="34" charset="0"/>
                <a:ea typeface="Arial" pitchFamily="34" charset="-122"/>
                <a:cs typeface="Arial" pitchFamily="34" charset="-120"/>
              </a:rPr>
              <a:t>The aim</a:t>
            </a:r>
            <a:endParaRPr lang="en-US" sz="1150" dirty="0"/>
          </a:p>
        </p:txBody>
      </p:sp>
      <p:sp>
        <p:nvSpPr>
          <p:cNvPr id="15" name="Shape 12"/>
          <p:cNvSpPr/>
          <p:nvPr/>
        </p:nvSpPr>
        <p:spPr>
          <a:xfrm>
            <a:off x="1737360" y="2157984"/>
            <a:ext cx="3429000" cy="548640"/>
          </a:xfrm>
          <a:prstGeom prst="rect">
            <a:avLst/>
          </a:prstGeom>
          <a:solidFill>
            <a:srgbClr val="F2F6FC"/>
          </a:solidFill>
          <a:ln w="9525">
            <a:solidFill>
              <a:srgbClr val="D5DCEA"/>
            </a:solidFill>
            <a:prstDash val="solid"/>
          </a:ln>
        </p:spPr>
      </p:sp>
      <p:sp>
        <p:nvSpPr>
          <p:cNvPr id="16" name="Text 13"/>
          <p:cNvSpPr txBox="1"/>
          <p:nvPr/>
        </p:nvSpPr>
        <p:spPr>
          <a:xfrm>
            <a:off x="1828800" y="2157984"/>
            <a:ext cx="324612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“for no good”</a:t>
            </a:r>
            <a:endParaRPr lang="en-US" sz="1200" dirty="0"/>
          </a:p>
        </p:txBody>
      </p:sp>
      <p:sp>
        <p:nvSpPr>
          <p:cNvPr id="17" name="Shape 14"/>
          <p:cNvSpPr/>
          <p:nvPr/>
        </p:nvSpPr>
        <p:spPr>
          <a:xfrm>
            <a:off x="5257800" y="2157984"/>
            <a:ext cx="3429000" cy="548640"/>
          </a:xfrm>
          <a:prstGeom prst="rect">
            <a:avLst/>
          </a:prstGeom>
          <a:solidFill>
            <a:srgbClr val="F2F6FC"/>
          </a:solidFill>
          <a:ln w="9525">
            <a:solidFill>
              <a:srgbClr val="D5DCEA"/>
            </a:solidFill>
            <a:prstDash val="solid"/>
          </a:ln>
        </p:spPr>
      </p:sp>
      <p:sp>
        <p:nvSpPr>
          <p:cNvPr id="18" name="Text 15"/>
          <p:cNvSpPr txBox="1"/>
          <p:nvPr/>
        </p:nvSpPr>
        <p:spPr>
          <a:xfrm>
            <a:off x="5349240" y="2157984"/>
            <a:ext cx="324612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the truth and your good</a:t>
            </a:r>
            <a:endParaRPr lang="en-US" sz="1200" dirty="0"/>
          </a:p>
        </p:txBody>
      </p:sp>
      <p:sp>
        <p:nvSpPr>
          <p:cNvPr id="19" name="Text 16"/>
          <p:cNvSpPr txBox="1"/>
          <p:nvPr/>
        </p:nvSpPr>
        <p:spPr>
          <a:xfrm>
            <a:off x="457200" y="2761488"/>
            <a:ext cx="1188720" cy="548640"/>
          </a:xfrm>
          <a:prstGeom prst="rect">
            <a:avLst/>
          </a:prstGeom>
          <a:noFill/>
          <a:ln/>
        </p:spPr>
        <p:txBody>
          <a:bodyPr wrap="square" lIns="0" tIns="0" rIns="0" bIns="0" rtlCol="0" anchor="ctr"/>
          <a:lstStyle/>
          <a:p>
            <a:pPr indent="0" marL="0">
              <a:buNone/>
            </a:pPr>
            <a:r>
              <a:rPr lang="en-US" sz="1150" b="1" dirty="0">
                <a:solidFill>
                  <a:srgbClr val="1F3864"/>
                </a:solidFill>
                <a:latin typeface="Arial" pitchFamily="34" charset="0"/>
                <a:ea typeface="Arial" pitchFamily="34" charset="-122"/>
                <a:cs typeface="Arial" pitchFamily="34" charset="-120"/>
              </a:rPr>
              <a:t>The method</a:t>
            </a:r>
            <a:endParaRPr lang="en-US" sz="1150" dirty="0"/>
          </a:p>
        </p:txBody>
      </p:sp>
      <p:sp>
        <p:nvSpPr>
          <p:cNvPr id="20" name="Shape 17"/>
          <p:cNvSpPr/>
          <p:nvPr/>
        </p:nvSpPr>
        <p:spPr>
          <a:xfrm>
            <a:off x="1737360" y="2761488"/>
            <a:ext cx="3429000" cy="548640"/>
          </a:xfrm>
          <a:prstGeom prst="rect">
            <a:avLst/>
          </a:prstGeom>
          <a:solidFill>
            <a:srgbClr val="F2F6FC"/>
          </a:solidFill>
          <a:ln w="9525">
            <a:solidFill>
              <a:srgbClr val="D5DCEA"/>
            </a:solidFill>
            <a:prstDash val="solid"/>
          </a:ln>
        </p:spPr>
      </p:sp>
      <p:sp>
        <p:nvSpPr>
          <p:cNvPr id="21" name="Text 18"/>
          <p:cNvSpPr txBox="1"/>
          <p:nvPr/>
        </p:nvSpPr>
        <p:spPr>
          <a:xfrm>
            <a:off x="1828800" y="2761488"/>
            <a:ext cx="324612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ἐκκλεῖσαι — shut you out from Paul</a:t>
            </a:r>
            <a:endParaRPr lang="en-US" sz="1200" dirty="0"/>
          </a:p>
        </p:txBody>
      </p:sp>
      <p:sp>
        <p:nvSpPr>
          <p:cNvPr id="22" name="Shape 19"/>
          <p:cNvSpPr/>
          <p:nvPr/>
        </p:nvSpPr>
        <p:spPr>
          <a:xfrm>
            <a:off x="5257800" y="2761488"/>
            <a:ext cx="3429000" cy="548640"/>
          </a:xfrm>
          <a:prstGeom prst="rect">
            <a:avLst/>
          </a:prstGeom>
          <a:solidFill>
            <a:srgbClr val="F2F6FC"/>
          </a:solidFill>
          <a:ln w="9525">
            <a:solidFill>
              <a:srgbClr val="D5DCEA"/>
            </a:solidFill>
            <a:prstDash val="solid"/>
          </a:ln>
        </p:spPr>
      </p:sp>
      <p:sp>
        <p:nvSpPr>
          <p:cNvPr id="23" name="Text 20"/>
          <p:cNvSpPr txBox="1"/>
          <p:nvPr/>
        </p:nvSpPr>
        <p:spPr>
          <a:xfrm>
            <a:off x="5349240" y="2761488"/>
            <a:ext cx="324612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present or absent, the same</a:t>
            </a:r>
            <a:endParaRPr lang="en-US" sz="1200" dirty="0"/>
          </a:p>
        </p:txBody>
      </p:sp>
      <p:sp>
        <p:nvSpPr>
          <p:cNvPr id="24" name="Text 21"/>
          <p:cNvSpPr txBox="1"/>
          <p:nvPr/>
        </p:nvSpPr>
        <p:spPr>
          <a:xfrm>
            <a:off x="457200" y="3364992"/>
            <a:ext cx="1188720" cy="548640"/>
          </a:xfrm>
          <a:prstGeom prst="rect">
            <a:avLst/>
          </a:prstGeom>
          <a:noFill/>
          <a:ln/>
        </p:spPr>
        <p:txBody>
          <a:bodyPr wrap="square" lIns="0" tIns="0" rIns="0" bIns="0" rtlCol="0" anchor="ctr"/>
          <a:lstStyle/>
          <a:p>
            <a:pPr indent="0" marL="0">
              <a:buNone/>
            </a:pPr>
            <a:r>
              <a:rPr lang="en-US" sz="1150" b="1" dirty="0">
                <a:solidFill>
                  <a:srgbClr val="1F3864"/>
                </a:solidFill>
                <a:latin typeface="Arial" pitchFamily="34" charset="0"/>
                <a:ea typeface="Arial" pitchFamily="34" charset="-122"/>
                <a:cs typeface="Arial" pitchFamily="34" charset="-120"/>
              </a:rPr>
              <a:t>The result</a:t>
            </a:r>
            <a:endParaRPr lang="en-US" sz="1150" dirty="0"/>
          </a:p>
        </p:txBody>
      </p:sp>
      <p:sp>
        <p:nvSpPr>
          <p:cNvPr id="25" name="Shape 22"/>
          <p:cNvSpPr/>
          <p:nvPr/>
        </p:nvSpPr>
        <p:spPr>
          <a:xfrm>
            <a:off x="1737360" y="3364992"/>
            <a:ext cx="3429000" cy="548640"/>
          </a:xfrm>
          <a:prstGeom prst="rect">
            <a:avLst/>
          </a:prstGeom>
          <a:solidFill>
            <a:srgbClr val="F2F6FC"/>
          </a:solidFill>
          <a:ln w="9525">
            <a:solidFill>
              <a:srgbClr val="D5DCEA"/>
            </a:solidFill>
            <a:prstDash val="solid"/>
          </a:ln>
        </p:spPr>
      </p:sp>
      <p:sp>
        <p:nvSpPr>
          <p:cNvPr id="26" name="Text 23"/>
          <p:cNvSpPr txBox="1"/>
          <p:nvPr/>
        </p:nvSpPr>
        <p:spPr>
          <a:xfrm>
            <a:off x="1828800" y="3364992"/>
            <a:ext cx="324612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“that you may be zealous for them”</a:t>
            </a:r>
            <a:endParaRPr lang="en-US" sz="1200" dirty="0"/>
          </a:p>
        </p:txBody>
      </p:sp>
      <p:sp>
        <p:nvSpPr>
          <p:cNvPr id="27" name="Shape 24"/>
          <p:cNvSpPr/>
          <p:nvPr/>
        </p:nvSpPr>
        <p:spPr>
          <a:xfrm>
            <a:off x="5257800" y="3364992"/>
            <a:ext cx="3429000" cy="548640"/>
          </a:xfrm>
          <a:prstGeom prst="rect">
            <a:avLst/>
          </a:prstGeom>
          <a:solidFill>
            <a:srgbClr val="F2F6FC"/>
          </a:solidFill>
          <a:ln w="9525">
            <a:solidFill>
              <a:srgbClr val="D5DCEA"/>
            </a:solidFill>
            <a:prstDash val="solid"/>
          </a:ln>
        </p:spPr>
      </p:sp>
      <p:sp>
        <p:nvSpPr>
          <p:cNvPr id="28" name="Text 25"/>
          <p:cNvSpPr txBox="1"/>
          <p:nvPr/>
        </p:nvSpPr>
        <p:spPr>
          <a:xfrm>
            <a:off x="5349240" y="3364992"/>
            <a:ext cx="324612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that Christ be formed in you</a:t>
            </a:r>
            <a:endParaRPr lang="en-US" sz="1200" dirty="0"/>
          </a:p>
        </p:txBody>
      </p:sp>
      <p:sp>
        <p:nvSpPr>
          <p:cNvPr id="29" name="Shape 26"/>
          <p:cNvSpPr/>
          <p:nvPr/>
        </p:nvSpPr>
        <p:spPr>
          <a:xfrm>
            <a:off x="457200" y="4069080"/>
            <a:ext cx="8229600" cy="502920"/>
          </a:xfrm>
          <a:prstGeom prst="roundRect">
            <a:avLst>
              <a:gd name="adj" fmla="val 10909"/>
            </a:avLst>
          </a:prstGeom>
          <a:solidFill>
            <a:srgbClr val="1F3864"/>
          </a:solidFill>
          <a:ln w="12700">
            <a:solidFill>
              <a:srgbClr val="1F3864"/>
            </a:solidFill>
            <a:prstDash val="solid"/>
          </a:ln>
        </p:spPr>
      </p:sp>
      <p:sp>
        <p:nvSpPr>
          <p:cNvPr id="30" name="Text 27"/>
          <p:cNvSpPr txBox="1"/>
          <p:nvPr/>
        </p:nvSpPr>
        <p:spPr>
          <a:xfrm>
            <a:off x="621792" y="4069080"/>
            <a:ext cx="7900416" cy="50292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Zeal is not the test. The truth, and the good of others, is.</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“Until Christ is formed in you”</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4:19–20 · Outline II.B.2–4</a:t>
            </a:r>
            <a:endParaRPr lang="en-US" sz="1200" dirty="0"/>
          </a:p>
        </p:txBody>
      </p:sp>
      <p:sp>
        <p:nvSpPr>
          <p:cNvPr id="5" name="Shape 2"/>
          <p:cNvSpPr/>
          <p:nvPr/>
        </p:nvSpPr>
        <p:spPr>
          <a:xfrm>
            <a:off x="457200" y="1143000"/>
            <a:ext cx="4018788" cy="1298448"/>
          </a:xfrm>
          <a:prstGeom prst="rect">
            <a:avLst/>
          </a:prstGeom>
          <a:solidFill>
            <a:srgbClr val="F2F6FC"/>
          </a:solidFill>
          <a:ln w="9525">
            <a:solidFill>
              <a:srgbClr val="D5DCEA"/>
            </a:solidFill>
            <a:prstDash val="solid"/>
          </a:ln>
        </p:spPr>
      </p:sp>
      <p:sp>
        <p:nvSpPr>
          <p:cNvPr id="6" name="Shape 3"/>
          <p:cNvSpPr/>
          <p:nvPr/>
        </p:nvSpPr>
        <p:spPr>
          <a:xfrm>
            <a:off x="585216" y="1271016"/>
            <a:ext cx="402336" cy="402336"/>
          </a:xfrm>
          <a:prstGeom prst="ellipse">
            <a:avLst/>
          </a:prstGeom>
          <a:solidFill>
            <a:srgbClr val="2E5496"/>
          </a:solidFill>
          <a:ln w="12700">
            <a:solidFill>
              <a:srgbClr val="2E5496"/>
            </a:solidFill>
            <a:prstDash val="solid"/>
          </a:ln>
        </p:spPr>
      </p:sp>
      <p:sp>
        <p:nvSpPr>
          <p:cNvPr id="7" name="Text 4"/>
          <p:cNvSpPr txBox="1"/>
          <p:nvPr/>
        </p:nvSpPr>
        <p:spPr>
          <a:xfrm>
            <a:off x="585216" y="127101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8" name="Text 5"/>
          <p:cNvSpPr txBox="1"/>
          <p:nvPr/>
        </p:nvSpPr>
        <p:spPr>
          <a:xfrm>
            <a:off x="1078992" y="1252728"/>
            <a:ext cx="3305556"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Compassion  ·  v.19a</a:t>
            </a:r>
            <a:endParaRPr lang="en-US" sz="1200" dirty="0"/>
          </a:p>
        </p:txBody>
      </p:sp>
      <p:sp>
        <p:nvSpPr>
          <p:cNvPr id="9" name="Text 6"/>
          <p:cNvSpPr txBox="1"/>
          <p:nvPr/>
        </p:nvSpPr>
        <p:spPr>
          <a:xfrm>
            <a:off x="585216" y="1764792"/>
            <a:ext cx="3762756" cy="585216"/>
          </a:xfrm>
          <a:prstGeom prst="rect">
            <a:avLst/>
          </a:prstGeom>
          <a:noFill/>
          <a:ln/>
        </p:spPr>
        <p:txBody>
          <a:bodyPr wrap="square" lIns="0" tIns="0" rIns="0" bIns="0" rtlCol="0" anchor="t"/>
          <a:lstStyle/>
          <a:p>
            <a:pPr indent="0" marL="0">
              <a:buNone/>
            </a:pPr>
            <a:r>
              <a:rPr lang="en-US" sz="1250" b="1" dirty="0">
                <a:solidFill>
                  <a:srgbClr val="7030A0"/>
                </a:solidFill>
                <a:latin typeface="Arial" pitchFamily="34" charset="0"/>
                <a:ea typeface="Arial" pitchFamily="34" charset="-122"/>
                <a:cs typeface="Arial" pitchFamily="34" charset="-120"/>
              </a:rPr>
              <a:t>τεκνία</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“My little children” — a term of endearment</a:t>
            </a:r>
            <a:endParaRPr lang="en-US" sz="1200" dirty="0"/>
          </a:p>
        </p:txBody>
      </p:sp>
      <p:sp>
        <p:nvSpPr>
          <p:cNvPr id="10" name="Shape 7"/>
          <p:cNvSpPr/>
          <p:nvPr/>
        </p:nvSpPr>
        <p:spPr>
          <a:xfrm>
            <a:off x="4668012" y="1143000"/>
            <a:ext cx="4018788" cy="1298448"/>
          </a:xfrm>
          <a:prstGeom prst="rect">
            <a:avLst/>
          </a:prstGeom>
          <a:solidFill>
            <a:srgbClr val="F2F6FC"/>
          </a:solidFill>
          <a:ln w="9525">
            <a:solidFill>
              <a:srgbClr val="D5DCEA"/>
            </a:solidFill>
            <a:prstDash val="solid"/>
          </a:ln>
        </p:spPr>
      </p:sp>
      <p:sp>
        <p:nvSpPr>
          <p:cNvPr id="11" name="Shape 8"/>
          <p:cNvSpPr/>
          <p:nvPr/>
        </p:nvSpPr>
        <p:spPr>
          <a:xfrm>
            <a:off x="4796028" y="1271016"/>
            <a:ext cx="402336" cy="402336"/>
          </a:xfrm>
          <a:prstGeom prst="ellipse">
            <a:avLst/>
          </a:prstGeom>
          <a:solidFill>
            <a:srgbClr val="2E5496"/>
          </a:solidFill>
          <a:ln w="12700">
            <a:solidFill>
              <a:srgbClr val="2E5496"/>
            </a:solidFill>
            <a:prstDash val="solid"/>
          </a:ln>
        </p:spPr>
      </p:sp>
      <p:sp>
        <p:nvSpPr>
          <p:cNvPr id="12" name="Text 9"/>
          <p:cNvSpPr txBox="1"/>
          <p:nvPr/>
        </p:nvSpPr>
        <p:spPr>
          <a:xfrm>
            <a:off x="4796028" y="127101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3" name="Text 10"/>
          <p:cNvSpPr txBox="1"/>
          <p:nvPr/>
        </p:nvSpPr>
        <p:spPr>
          <a:xfrm>
            <a:off x="5289804" y="1252728"/>
            <a:ext cx="3305556"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Cost  ·  v.19b</a:t>
            </a:r>
            <a:endParaRPr lang="en-US" sz="1200" dirty="0"/>
          </a:p>
        </p:txBody>
      </p:sp>
      <p:sp>
        <p:nvSpPr>
          <p:cNvPr id="14" name="Text 11"/>
          <p:cNvSpPr txBox="1"/>
          <p:nvPr/>
        </p:nvSpPr>
        <p:spPr>
          <a:xfrm>
            <a:off x="4796028" y="1764792"/>
            <a:ext cx="3762756" cy="585216"/>
          </a:xfrm>
          <a:prstGeom prst="rect">
            <a:avLst/>
          </a:prstGeom>
          <a:noFill/>
          <a:ln/>
        </p:spPr>
        <p:txBody>
          <a:bodyPr wrap="square" lIns="0" tIns="0" rIns="0" bIns="0" rtlCol="0" anchor="t"/>
          <a:lstStyle/>
          <a:p>
            <a:pPr indent="0" marL="0">
              <a:buNone/>
            </a:pPr>
            <a:r>
              <a:rPr lang="en-US" sz="1250" b="1" dirty="0">
                <a:solidFill>
                  <a:srgbClr val="7030A0"/>
                </a:solidFill>
                <a:latin typeface="Arial" pitchFamily="34" charset="0"/>
                <a:ea typeface="Arial" pitchFamily="34" charset="-122"/>
                <a:cs typeface="Arial" pitchFamily="34" charset="-120"/>
              </a:rPr>
              <a:t>ὠδίνω</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“I labor in birth again” — a second labor for the same children</a:t>
            </a:r>
            <a:endParaRPr lang="en-US" sz="1200" dirty="0"/>
          </a:p>
        </p:txBody>
      </p:sp>
      <p:sp>
        <p:nvSpPr>
          <p:cNvPr id="15" name="Shape 12"/>
          <p:cNvSpPr/>
          <p:nvPr/>
        </p:nvSpPr>
        <p:spPr>
          <a:xfrm>
            <a:off x="457200" y="2606040"/>
            <a:ext cx="4018788" cy="1298448"/>
          </a:xfrm>
          <a:prstGeom prst="rect">
            <a:avLst/>
          </a:prstGeom>
          <a:solidFill>
            <a:srgbClr val="F2F6FC"/>
          </a:solidFill>
          <a:ln w="9525">
            <a:solidFill>
              <a:srgbClr val="D5DCEA"/>
            </a:solidFill>
            <a:prstDash val="solid"/>
          </a:ln>
        </p:spPr>
      </p:sp>
      <p:sp>
        <p:nvSpPr>
          <p:cNvPr id="16" name="Shape 13"/>
          <p:cNvSpPr/>
          <p:nvPr/>
        </p:nvSpPr>
        <p:spPr>
          <a:xfrm>
            <a:off x="585216" y="2734056"/>
            <a:ext cx="402336" cy="402336"/>
          </a:xfrm>
          <a:prstGeom prst="ellipse">
            <a:avLst/>
          </a:prstGeom>
          <a:solidFill>
            <a:srgbClr val="375623"/>
          </a:solidFill>
          <a:ln w="12700">
            <a:solidFill>
              <a:srgbClr val="375623"/>
            </a:solidFill>
            <a:prstDash val="solid"/>
          </a:ln>
        </p:spPr>
      </p:sp>
      <p:sp>
        <p:nvSpPr>
          <p:cNvPr id="17" name="Text 14"/>
          <p:cNvSpPr txBox="1"/>
          <p:nvPr/>
        </p:nvSpPr>
        <p:spPr>
          <a:xfrm>
            <a:off x="585216" y="273405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8" name="Text 15"/>
          <p:cNvSpPr txBox="1"/>
          <p:nvPr/>
        </p:nvSpPr>
        <p:spPr>
          <a:xfrm>
            <a:off x="1078992" y="2715768"/>
            <a:ext cx="3305556"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Goal  ·  v.19c</a:t>
            </a:r>
            <a:endParaRPr lang="en-US" sz="1200" dirty="0"/>
          </a:p>
        </p:txBody>
      </p:sp>
      <p:sp>
        <p:nvSpPr>
          <p:cNvPr id="19" name="Text 16"/>
          <p:cNvSpPr txBox="1"/>
          <p:nvPr/>
        </p:nvSpPr>
        <p:spPr>
          <a:xfrm>
            <a:off x="585216" y="3227832"/>
            <a:ext cx="3762756" cy="585216"/>
          </a:xfrm>
          <a:prstGeom prst="rect">
            <a:avLst/>
          </a:prstGeom>
          <a:noFill/>
          <a:ln/>
        </p:spPr>
        <p:txBody>
          <a:bodyPr wrap="square" lIns="0" tIns="0" rIns="0" bIns="0" rtlCol="0" anchor="t"/>
          <a:lstStyle/>
          <a:p>
            <a:pPr indent="0" marL="0">
              <a:buNone/>
            </a:pPr>
            <a:r>
              <a:rPr lang="en-US" sz="1250" b="1" dirty="0">
                <a:solidFill>
                  <a:srgbClr val="7030A0"/>
                </a:solidFill>
                <a:latin typeface="Arial" pitchFamily="34" charset="0"/>
                <a:ea typeface="Arial" pitchFamily="34" charset="-122"/>
                <a:cs typeface="Arial" pitchFamily="34" charset="-120"/>
              </a:rPr>
              <a:t>μορφωθῇ</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Christ formed in you — inward, essential form (cf. Rom 12:2)</a:t>
            </a:r>
            <a:endParaRPr lang="en-US" sz="1200" dirty="0"/>
          </a:p>
        </p:txBody>
      </p:sp>
      <p:sp>
        <p:nvSpPr>
          <p:cNvPr id="20" name="Shape 17"/>
          <p:cNvSpPr/>
          <p:nvPr/>
        </p:nvSpPr>
        <p:spPr>
          <a:xfrm>
            <a:off x="4668012" y="2606040"/>
            <a:ext cx="4018788" cy="1298448"/>
          </a:xfrm>
          <a:prstGeom prst="rect">
            <a:avLst/>
          </a:prstGeom>
          <a:solidFill>
            <a:srgbClr val="F2F6FC"/>
          </a:solidFill>
          <a:ln w="9525">
            <a:solidFill>
              <a:srgbClr val="D5DCEA"/>
            </a:solidFill>
            <a:prstDash val="solid"/>
          </a:ln>
        </p:spPr>
      </p:sp>
      <p:sp>
        <p:nvSpPr>
          <p:cNvPr id="21" name="Shape 18"/>
          <p:cNvSpPr/>
          <p:nvPr/>
        </p:nvSpPr>
        <p:spPr>
          <a:xfrm>
            <a:off x="4796028" y="2734056"/>
            <a:ext cx="402336" cy="402336"/>
          </a:xfrm>
          <a:prstGeom prst="ellipse">
            <a:avLst/>
          </a:prstGeom>
          <a:solidFill>
            <a:srgbClr val="6B7280"/>
          </a:solidFill>
          <a:ln w="12700">
            <a:solidFill>
              <a:srgbClr val="6B7280"/>
            </a:solidFill>
            <a:prstDash val="solid"/>
          </a:ln>
        </p:spPr>
      </p:sp>
      <p:sp>
        <p:nvSpPr>
          <p:cNvPr id="22" name="Text 19"/>
          <p:cNvSpPr txBox="1"/>
          <p:nvPr/>
        </p:nvSpPr>
        <p:spPr>
          <a:xfrm>
            <a:off x="4796028" y="273405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3" name="Text 20"/>
          <p:cNvSpPr txBox="1"/>
          <p:nvPr/>
        </p:nvSpPr>
        <p:spPr>
          <a:xfrm>
            <a:off x="5289804" y="2715768"/>
            <a:ext cx="3305556"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Character  ·  v.20</a:t>
            </a:r>
            <a:endParaRPr lang="en-US" sz="1200" dirty="0"/>
          </a:p>
        </p:txBody>
      </p:sp>
      <p:sp>
        <p:nvSpPr>
          <p:cNvPr id="24" name="Text 21"/>
          <p:cNvSpPr txBox="1"/>
          <p:nvPr/>
        </p:nvSpPr>
        <p:spPr>
          <a:xfrm>
            <a:off x="4796028" y="3227832"/>
            <a:ext cx="3762756" cy="585216"/>
          </a:xfrm>
          <a:prstGeom prst="rect">
            <a:avLst/>
          </a:prstGeom>
          <a:noFill/>
          <a:ln/>
        </p:spPr>
        <p:txBody>
          <a:bodyPr wrap="square" lIns="0" tIns="0" rIns="0" bIns="0" rtlCol="0" anchor="t"/>
          <a:lstStyle/>
          <a:p>
            <a:pPr indent="0" marL="0">
              <a:buNone/>
            </a:pPr>
            <a:r>
              <a:rPr lang="en-US" sz="1250" b="1" dirty="0">
                <a:solidFill>
                  <a:srgbClr val="7030A0"/>
                </a:solidFill>
                <a:latin typeface="Arial" pitchFamily="34" charset="0"/>
                <a:ea typeface="Arial" pitchFamily="34" charset="-122"/>
                <a:cs typeface="Arial" pitchFamily="34" charset="-120"/>
              </a:rPr>
              <a:t>ἀποροῦμαι</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“I have doubts about you” — perplexed, wishing to be present</a:t>
            </a:r>
            <a:endParaRPr lang="en-US" sz="1200" dirty="0"/>
          </a:p>
        </p:txBody>
      </p:sp>
      <p:sp>
        <p:nvSpPr>
          <p:cNvPr id="25" name="Shape 22"/>
          <p:cNvSpPr/>
          <p:nvPr/>
        </p:nvSpPr>
        <p:spPr>
          <a:xfrm>
            <a:off x="457200" y="4160520"/>
            <a:ext cx="8229600" cy="457200"/>
          </a:xfrm>
          <a:prstGeom prst="roundRect">
            <a:avLst>
              <a:gd name="adj" fmla="val 12000"/>
            </a:avLst>
          </a:prstGeom>
          <a:solidFill>
            <a:srgbClr val="1F3864"/>
          </a:solidFill>
          <a:ln w="12700">
            <a:solidFill>
              <a:srgbClr val="1F3864"/>
            </a:solidFill>
            <a:prstDash val="solid"/>
          </a:ln>
        </p:spPr>
      </p:sp>
      <p:sp>
        <p:nvSpPr>
          <p:cNvPr id="26" name="Text 23"/>
          <p:cNvSpPr txBox="1"/>
          <p:nvPr/>
        </p:nvSpPr>
        <p:spPr>
          <a:xfrm>
            <a:off x="621792" y="4160520"/>
            <a:ext cx="7900416" cy="45720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Dare to discipline — and then hold them close. Truth with a steel fist, in a velvet glove.</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Discuss and apply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4:12–20 · from the study's posted questions and applications</a:t>
            </a:r>
            <a:endParaRPr lang="en-US" sz="1200" dirty="0"/>
          </a:p>
        </p:txBody>
      </p:sp>
      <p:sp>
        <p:nvSpPr>
          <p:cNvPr id="5" name="Shape 2"/>
          <p:cNvSpPr/>
          <p:nvPr/>
        </p:nvSpPr>
        <p:spPr>
          <a:xfrm>
            <a:off x="457200" y="1115568"/>
            <a:ext cx="4023360" cy="384048"/>
          </a:xfrm>
          <a:prstGeom prst="rect">
            <a:avLst/>
          </a:prstGeom>
          <a:solidFill>
            <a:srgbClr val="2E5496"/>
          </a:solidFill>
          <a:ln w="12700">
            <a:solidFill>
              <a:srgbClr val="2E5496"/>
            </a:solidFill>
            <a:prstDash val="solid"/>
          </a:ln>
        </p:spPr>
      </p:sp>
      <p:sp>
        <p:nvSpPr>
          <p:cNvPr id="6" name="Text 3"/>
          <p:cNvSpPr txBox="1"/>
          <p:nvPr/>
        </p:nvSpPr>
        <p:spPr>
          <a:xfrm>
            <a:off x="56692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Discuss</a:t>
            </a:r>
            <a:endParaRPr lang="en-US" sz="1300" dirty="0"/>
          </a:p>
        </p:txBody>
      </p:sp>
      <p:sp>
        <p:nvSpPr>
          <p:cNvPr id="7" name="Shape 4"/>
          <p:cNvSpPr/>
          <p:nvPr/>
        </p:nvSpPr>
        <p:spPr>
          <a:xfrm>
            <a:off x="457200" y="1499616"/>
            <a:ext cx="4023360" cy="2359152"/>
          </a:xfrm>
          <a:prstGeom prst="rect">
            <a:avLst/>
          </a:prstGeom>
          <a:solidFill>
            <a:srgbClr val="F2F6FC"/>
          </a:solidFill>
          <a:ln w="9525">
            <a:solidFill>
              <a:srgbClr val="D5DCEA"/>
            </a:solidFill>
            <a:prstDash val="solid"/>
          </a:ln>
        </p:spPr>
      </p:sp>
      <p:sp>
        <p:nvSpPr>
          <p:cNvPr id="8" name="Shape 5"/>
          <p:cNvSpPr/>
          <p:nvPr/>
        </p:nvSpPr>
        <p:spPr>
          <a:xfrm>
            <a:off x="4663440" y="1115568"/>
            <a:ext cx="4023360" cy="384048"/>
          </a:xfrm>
          <a:prstGeom prst="rect">
            <a:avLst/>
          </a:prstGeom>
          <a:solidFill>
            <a:srgbClr val="375623"/>
          </a:solidFill>
          <a:ln w="12700">
            <a:solidFill>
              <a:srgbClr val="375623"/>
            </a:solidFill>
            <a:prstDash val="solid"/>
          </a:ln>
        </p:spPr>
      </p:sp>
      <p:sp>
        <p:nvSpPr>
          <p:cNvPr id="9" name="Text 6"/>
          <p:cNvSpPr txBox="1"/>
          <p:nvPr/>
        </p:nvSpPr>
        <p:spPr>
          <a:xfrm>
            <a:off x="477316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Apply</a:t>
            </a:r>
            <a:endParaRPr lang="en-US" sz="1300" dirty="0"/>
          </a:p>
        </p:txBody>
      </p:sp>
      <p:sp>
        <p:nvSpPr>
          <p:cNvPr id="10" name="Shape 7"/>
          <p:cNvSpPr/>
          <p:nvPr/>
        </p:nvSpPr>
        <p:spPr>
          <a:xfrm>
            <a:off x="4663440" y="1499616"/>
            <a:ext cx="4023360" cy="2359152"/>
          </a:xfrm>
          <a:prstGeom prst="rect">
            <a:avLst/>
          </a:prstGeom>
          <a:solidFill>
            <a:srgbClr val="F2F6FC"/>
          </a:solidFill>
          <a:ln w="9525">
            <a:solidFill>
              <a:srgbClr val="D5DCEA"/>
            </a:solidFill>
            <a:prstDash val="solid"/>
          </a:ln>
        </p:spPr>
      </p:sp>
      <p:sp>
        <p:nvSpPr>
          <p:cNvPr id="11" name="Shape 8"/>
          <p:cNvSpPr/>
          <p:nvPr/>
        </p:nvSpPr>
        <p:spPr>
          <a:xfrm>
            <a:off x="566928" y="1636776"/>
            <a:ext cx="347472" cy="347472"/>
          </a:xfrm>
          <a:prstGeom prst="ellipse">
            <a:avLst/>
          </a:prstGeom>
          <a:solidFill>
            <a:srgbClr val="2E5496"/>
          </a:solidFill>
          <a:ln w="12700">
            <a:solidFill>
              <a:srgbClr val="2E5496"/>
            </a:solidFill>
            <a:prstDash val="solid"/>
          </a:ln>
        </p:spPr>
      </p:sp>
      <p:sp>
        <p:nvSpPr>
          <p:cNvPr id="12" name="Text 9"/>
          <p:cNvSpPr txBox="1"/>
          <p:nvPr/>
        </p:nvSpPr>
        <p:spPr>
          <a:xfrm>
            <a:off x="566928" y="163677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3" name="Text 10"/>
          <p:cNvSpPr txBox="1"/>
          <p:nvPr/>
        </p:nvSpPr>
        <p:spPr>
          <a:xfrm>
            <a:off x="1005840" y="1591056"/>
            <a:ext cx="3364992" cy="1042416"/>
          </a:xfrm>
          <a:prstGeom prst="rect">
            <a:avLst/>
          </a:prstGeom>
          <a:noFill/>
          <a:ln/>
        </p:spPr>
        <p:txBody>
          <a:bodyPr wrap="square" lIns="0" tIns="0" rIns="0" bIns="0" rtlCol="0" anchor="t"/>
          <a:lstStyle/>
          <a:p>
            <a:pPr indent="0" marL="0">
              <a:buNone/>
            </a:pPr>
            <a:r>
              <a:rPr lang="en-US" sz="1350" dirty="0">
                <a:solidFill>
                  <a:srgbClr val="262626"/>
                </a:solidFill>
                <a:latin typeface="Arial" pitchFamily="34" charset="0"/>
                <a:ea typeface="Arial" pitchFamily="34" charset="-122"/>
                <a:cs typeface="Arial" pitchFamily="34" charset="-120"/>
              </a:rPr>
              <a:t>How can Paul call his truth-telling the reason he became their “enemy” (v.16), and what does that warn us about?</a:t>
            </a:r>
            <a:endParaRPr lang="en-US" sz="1350" dirty="0"/>
          </a:p>
        </p:txBody>
      </p:sp>
      <p:sp>
        <p:nvSpPr>
          <p:cNvPr id="14" name="Shape 11"/>
          <p:cNvSpPr/>
          <p:nvPr/>
        </p:nvSpPr>
        <p:spPr>
          <a:xfrm>
            <a:off x="566928" y="2724912"/>
            <a:ext cx="347472" cy="347472"/>
          </a:xfrm>
          <a:prstGeom prst="ellipse">
            <a:avLst/>
          </a:prstGeom>
          <a:solidFill>
            <a:srgbClr val="2E5496"/>
          </a:solidFill>
          <a:ln w="12700">
            <a:solidFill>
              <a:srgbClr val="2E5496"/>
            </a:solidFill>
            <a:prstDash val="solid"/>
          </a:ln>
        </p:spPr>
      </p:sp>
      <p:sp>
        <p:nvSpPr>
          <p:cNvPr id="15" name="Text 12"/>
          <p:cNvSpPr txBox="1"/>
          <p:nvPr/>
        </p:nvSpPr>
        <p:spPr>
          <a:xfrm>
            <a:off x="566928" y="272491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6" name="Text 13"/>
          <p:cNvSpPr txBox="1"/>
          <p:nvPr/>
        </p:nvSpPr>
        <p:spPr>
          <a:xfrm>
            <a:off x="1005840" y="2679192"/>
            <a:ext cx="3364992" cy="1042416"/>
          </a:xfrm>
          <a:prstGeom prst="rect">
            <a:avLst/>
          </a:prstGeom>
          <a:noFill/>
          <a:ln/>
        </p:spPr>
        <p:txBody>
          <a:bodyPr wrap="square" lIns="0" tIns="0" rIns="0" bIns="0" rtlCol="0" anchor="t"/>
          <a:lstStyle/>
          <a:p>
            <a:pPr indent="0" marL="0">
              <a:buNone/>
            </a:pPr>
            <a:r>
              <a:rPr lang="en-US" sz="1350" dirty="0">
                <a:solidFill>
                  <a:srgbClr val="262626"/>
                </a:solidFill>
                <a:latin typeface="Arial" pitchFamily="34" charset="0"/>
                <a:ea typeface="Arial" pitchFamily="34" charset="-122"/>
                <a:cs typeface="Arial" pitchFamily="34" charset="-120"/>
              </a:rPr>
              <a:t>What does it mean for Christ to be “formed” (μορφόω) in the Galatians, and how does that differ from simply believing correct doctrine?</a:t>
            </a:r>
            <a:endParaRPr lang="en-US" sz="1350" dirty="0"/>
          </a:p>
        </p:txBody>
      </p:sp>
      <p:sp>
        <p:nvSpPr>
          <p:cNvPr id="17" name="Text 14"/>
          <p:cNvSpPr txBox="1"/>
          <p:nvPr/>
        </p:nvSpPr>
        <p:spPr>
          <a:xfrm>
            <a:off x="4791456" y="1591056"/>
            <a:ext cx="3767328" cy="1042416"/>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Correct Like a Father, Labor Like a Mother</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When you must say a hard true thing, pair it with a concrete word or act that shows the relationship survives it.</a:t>
            </a:r>
            <a:endParaRPr lang="en-US" sz="1200" dirty="0"/>
          </a:p>
        </p:txBody>
      </p:sp>
      <p:sp>
        <p:nvSpPr>
          <p:cNvPr id="18" name="Text 15"/>
          <p:cNvSpPr txBox="1"/>
          <p:nvPr/>
        </p:nvSpPr>
        <p:spPr>
          <a:xfrm>
            <a:off x="4791456" y="2679192"/>
            <a:ext cx="3767328" cy="1042416"/>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Aim at Formation, Not Attendance</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Where you've managed behavior from the outside in, ask the Lord this week to do the inside-out work.</a:t>
            </a:r>
            <a:endParaRPr lang="en-US" sz="1200" dirty="0"/>
          </a:p>
        </p:txBody>
      </p:sp>
      <p:sp>
        <p:nvSpPr>
          <p:cNvPr id="19" name="Shape 16"/>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0" name="Text 17"/>
          <p:cNvSpPr txBox="1"/>
          <p:nvPr/>
        </p:nvSpPr>
        <p:spPr>
          <a:xfrm>
            <a:off x="621792" y="4023360"/>
            <a:ext cx="7900416" cy="566928"/>
          </a:xfrm>
          <a:prstGeom prst="rect">
            <a:avLst/>
          </a:prstGeom>
          <a:noFill/>
          <a:ln/>
        </p:spPr>
        <p:txBody>
          <a:bodyPr wrap="square" lIns="0" tIns="0" rIns="0" bIns="0" rtlCol="0" anchor="ctr"/>
          <a:lstStyle/>
          <a:p>
            <a:pPr indent="0" marL="0">
              <a:buNone/>
            </a:pPr>
            <a:r>
              <a:rPr lang="en-US" sz="1250" b="1" dirty="0">
                <a:solidFill>
                  <a:srgbClr val="C9D5EE"/>
                </a:solidFill>
                <a:latin typeface="Arial" pitchFamily="34" charset="0"/>
                <a:ea typeface="Arial" pitchFamily="34" charset="-122"/>
                <a:cs typeface="Arial" pitchFamily="34" charset="-120"/>
              </a:rPr>
              <a:t>In one line:  </a:t>
            </a:r>
            <a:pPr indent="0" marL="0">
              <a:buNone/>
            </a:pPr>
            <a:r>
              <a:rPr lang="en-US" sz="1250" dirty="0">
                <a:solidFill>
                  <a:srgbClr val="FFFFFF"/>
                </a:solidFill>
                <a:latin typeface="Arial" pitchFamily="34" charset="0"/>
                <a:ea typeface="Arial" pitchFamily="34" charset="-122"/>
                <a:cs typeface="Arial" pitchFamily="34" charset="-120"/>
              </a:rPr>
              <a:t>Speak the truth firmly, love tenderly, and labor until Christ is formed in others.</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lstStyle/>
          <a:p>
            <a:pPr indent="0" marL="0">
              <a:buNone/>
            </a:pPr>
            <a:r>
              <a:rPr lang="en-US" sz="1400" dirty="0">
                <a:solidFill>
                  <a:srgbClr val="C9D5EE"/>
                </a:solidFill>
                <a:latin typeface="Arial" pitchFamily="34" charset="0"/>
                <a:ea typeface="Arial" pitchFamily="34" charset="-122"/>
                <a:cs typeface="Arial" pitchFamily="34" charset="-120"/>
              </a:rPr>
              <a:t>Study 11 of 16 · Galatians 4:21–31</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Paul's Old Testament Story</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t"/>
          <a:lstStyle/>
          <a:p>
            <a:pPr indent="0" marL="0">
              <a:buNone/>
            </a:pPr>
            <a:r>
              <a:rPr lang="en-US" sz="1500" i="1" dirty="0">
                <a:solidFill>
                  <a:srgbClr val="E6ECF7"/>
                </a:solidFill>
                <a:latin typeface="Arial" pitchFamily="34" charset="0"/>
                <a:ea typeface="Arial" pitchFamily="34" charset="-122"/>
                <a:cs typeface="Arial" pitchFamily="34" charset="-120"/>
              </a:rPr>
              <a:t>Because Isaac, the child of promise, could never share an inheritance with Ishmael, the child of the flesh, the believer — born by the same kind of promise — must cast out every attempt to mix law-keeping with grace and stand in the freedom to which Christ has called him.</a:t>
            </a:r>
            <a:endParaRPr lang="en-US" sz="15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The key is the number two</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4:21–31 · Introduction</a:t>
            </a:r>
            <a:endParaRPr lang="en-US" sz="1200" dirty="0"/>
          </a:p>
        </p:txBody>
      </p:sp>
      <p:sp>
        <p:nvSpPr>
          <p:cNvPr id="5" name="Shape 2"/>
          <p:cNvSpPr/>
          <p:nvPr/>
        </p:nvSpPr>
        <p:spPr>
          <a:xfrm>
            <a:off x="2011680" y="1078992"/>
            <a:ext cx="3291840" cy="384048"/>
          </a:xfrm>
          <a:prstGeom prst="rect">
            <a:avLst/>
          </a:prstGeom>
          <a:solidFill>
            <a:srgbClr val="6B7280"/>
          </a:solidFill>
          <a:ln w="12700">
            <a:solidFill>
              <a:srgbClr val="6B7280"/>
            </a:solidFill>
            <a:prstDash val="solid"/>
          </a:ln>
        </p:spPr>
      </p:sp>
      <p:sp>
        <p:nvSpPr>
          <p:cNvPr id="6" name="Text 3"/>
          <p:cNvSpPr txBox="1"/>
          <p:nvPr/>
        </p:nvSpPr>
        <p:spPr>
          <a:xfrm>
            <a:off x="2103120" y="1078992"/>
            <a:ext cx="3154680" cy="38404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Bondage — the left column</a:t>
            </a:r>
            <a:endParaRPr lang="en-US" sz="1250" dirty="0"/>
          </a:p>
        </p:txBody>
      </p:sp>
      <p:sp>
        <p:nvSpPr>
          <p:cNvPr id="7" name="Shape 4"/>
          <p:cNvSpPr/>
          <p:nvPr/>
        </p:nvSpPr>
        <p:spPr>
          <a:xfrm>
            <a:off x="5394960" y="1078992"/>
            <a:ext cx="3291840" cy="384048"/>
          </a:xfrm>
          <a:prstGeom prst="rect">
            <a:avLst/>
          </a:prstGeom>
          <a:solidFill>
            <a:srgbClr val="375623"/>
          </a:solidFill>
          <a:ln w="12700">
            <a:solidFill>
              <a:srgbClr val="375623"/>
            </a:solidFill>
            <a:prstDash val="solid"/>
          </a:ln>
        </p:spPr>
      </p:sp>
      <p:sp>
        <p:nvSpPr>
          <p:cNvPr id="8" name="Text 5"/>
          <p:cNvSpPr txBox="1"/>
          <p:nvPr/>
        </p:nvSpPr>
        <p:spPr>
          <a:xfrm>
            <a:off x="5440680" y="1078992"/>
            <a:ext cx="3154680" cy="38404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Freedom — the right column</a:t>
            </a:r>
            <a:endParaRPr lang="en-US" sz="1250" dirty="0"/>
          </a:p>
        </p:txBody>
      </p:sp>
      <p:sp>
        <p:nvSpPr>
          <p:cNvPr id="9" name="Text 6"/>
          <p:cNvSpPr txBox="1"/>
          <p:nvPr/>
        </p:nvSpPr>
        <p:spPr>
          <a:xfrm>
            <a:off x="457200" y="1517904"/>
            <a:ext cx="1463040" cy="402336"/>
          </a:xfrm>
          <a:prstGeom prst="rect">
            <a:avLst/>
          </a:prstGeom>
          <a:noFill/>
          <a:ln/>
        </p:spPr>
        <p:txBody>
          <a:bodyPr wrap="square" lIns="0" tIns="0" rIns="0" bIns="0" rtlCol="0" anchor="ctr"/>
          <a:lstStyle/>
          <a:p>
            <a:pPr indent="0" marL="0">
              <a:buNone/>
            </a:pPr>
            <a:r>
              <a:rPr lang="en-US" sz="1150" b="1" dirty="0">
                <a:solidFill>
                  <a:srgbClr val="1F3864"/>
                </a:solidFill>
                <a:latin typeface="Arial" pitchFamily="34" charset="0"/>
                <a:ea typeface="Arial" pitchFamily="34" charset="-122"/>
                <a:cs typeface="Arial" pitchFamily="34" charset="-120"/>
              </a:rPr>
              <a:t>Two sons</a:t>
            </a:r>
            <a:endParaRPr lang="en-US" sz="1150" dirty="0"/>
          </a:p>
        </p:txBody>
      </p:sp>
      <p:sp>
        <p:nvSpPr>
          <p:cNvPr id="10" name="Shape 7"/>
          <p:cNvSpPr/>
          <p:nvPr/>
        </p:nvSpPr>
        <p:spPr>
          <a:xfrm>
            <a:off x="2011680" y="1517904"/>
            <a:ext cx="3291840" cy="402336"/>
          </a:xfrm>
          <a:prstGeom prst="rect">
            <a:avLst/>
          </a:prstGeom>
          <a:solidFill>
            <a:srgbClr val="F2F6FC"/>
          </a:solidFill>
          <a:ln w="9525">
            <a:solidFill>
              <a:srgbClr val="D5DCEA"/>
            </a:solidFill>
            <a:prstDash val="solid"/>
          </a:ln>
        </p:spPr>
      </p:sp>
      <p:sp>
        <p:nvSpPr>
          <p:cNvPr id="11" name="Text 8"/>
          <p:cNvSpPr txBox="1"/>
          <p:nvPr/>
        </p:nvSpPr>
        <p:spPr>
          <a:xfrm>
            <a:off x="2103120" y="1517904"/>
            <a:ext cx="3108960" cy="402336"/>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Ishmael</a:t>
            </a:r>
            <a:endParaRPr lang="en-US" sz="1200" dirty="0"/>
          </a:p>
        </p:txBody>
      </p:sp>
      <p:sp>
        <p:nvSpPr>
          <p:cNvPr id="12" name="Shape 9"/>
          <p:cNvSpPr/>
          <p:nvPr/>
        </p:nvSpPr>
        <p:spPr>
          <a:xfrm>
            <a:off x="5394960" y="1517904"/>
            <a:ext cx="3291840" cy="402336"/>
          </a:xfrm>
          <a:prstGeom prst="rect">
            <a:avLst/>
          </a:prstGeom>
          <a:solidFill>
            <a:srgbClr val="F2F6FC"/>
          </a:solidFill>
          <a:ln w="9525">
            <a:solidFill>
              <a:srgbClr val="D5DCEA"/>
            </a:solidFill>
            <a:prstDash val="solid"/>
          </a:ln>
        </p:spPr>
      </p:sp>
      <p:sp>
        <p:nvSpPr>
          <p:cNvPr id="13" name="Text 10"/>
          <p:cNvSpPr txBox="1"/>
          <p:nvPr/>
        </p:nvSpPr>
        <p:spPr>
          <a:xfrm>
            <a:off x="5486400" y="1517904"/>
            <a:ext cx="3108960" cy="402336"/>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Isaac</a:t>
            </a:r>
            <a:endParaRPr lang="en-US" sz="1200" dirty="0"/>
          </a:p>
        </p:txBody>
      </p:sp>
      <p:sp>
        <p:nvSpPr>
          <p:cNvPr id="14" name="Text 11"/>
          <p:cNvSpPr txBox="1"/>
          <p:nvPr/>
        </p:nvSpPr>
        <p:spPr>
          <a:xfrm>
            <a:off x="457200" y="1965960"/>
            <a:ext cx="1463040" cy="402336"/>
          </a:xfrm>
          <a:prstGeom prst="rect">
            <a:avLst/>
          </a:prstGeom>
          <a:noFill/>
          <a:ln/>
        </p:spPr>
        <p:txBody>
          <a:bodyPr wrap="square" lIns="0" tIns="0" rIns="0" bIns="0" rtlCol="0" anchor="ctr"/>
          <a:lstStyle/>
          <a:p>
            <a:pPr indent="0" marL="0">
              <a:buNone/>
            </a:pPr>
            <a:r>
              <a:rPr lang="en-US" sz="1150" b="1" dirty="0">
                <a:solidFill>
                  <a:srgbClr val="1F3864"/>
                </a:solidFill>
                <a:latin typeface="Arial" pitchFamily="34" charset="0"/>
                <a:ea typeface="Arial" pitchFamily="34" charset="-122"/>
                <a:cs typeface="Arial" pitchFamily="34" charset="-120"/>
              </a:rPr>
              <a:t>Two women</a:t>
            </a:r>
            <a:endParaRPr lang="en-US" sz="1150" dirty="0"/>
          </a:p>
        </p:txBody>
      </p:sp>
      <p:sp>
        <p:nvSpPr>
          <p:cNvPr id="15" name="Shape 12"/>
          <p:cNvSpPr/>
          <p:nvPr/>
        </p:nvSpPr>
        <p:spPr>
          <a:xfrm>
            <a:off x="2011680" y="1965960"/>
            <a:ext cx="3291840" cy="402336"/>
          </a:xfrm>
          <a:prstGeom prst="rect">
            <a:avLst/>
          </a:prstGeom>
          <a:solidFill>
            <a:srgbClr val="F2F6FC"/>
          </a:solidFill>
          <a:ln w="9525">
            <a:solidFill>
              <a:srgbClr val="D5DCEA"/>
            </a:solidFill>
            <a:prstDash val="solid"/>
          </a:ln>
        </p:spPr>
      </p:sp>
      <p:sp>
        <p:nvSpPr>
          <p:cNvPr id="16" name="Text 13"/>
          <p:cNvSpPr txBox="1"/>
          <p:nvPr/>
        </p:nvSpPr>
        <p:spPr>
          <a:xfrm>
            <a:off x="2103120" y="1965960"/>
            <a:ext cx="3108960" cy="402336"/>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Hagar, the bondwoman (παιδίσκη)</a:t>
            </a:r>
            <a:endParaRPr lang="en-US" sz="1200" dirty="0"/>
          </a:p>
        </p:txBody>
      </p:sp>
      <p:sp>
        <p:nvSpPr>
          <p:cNvPr id="17" name="Shape 14"/>
          <p:cNvSpPr/>
          <p:nvPr/>
        </p:nvSpPr>
        <p:spPr>
          <a:xfrm>
            <a:off x="5394960" y="1965960"/>
            <a:ext cx="3291840" cy="402336"/>
          </a:xfrm>
          <a:prstGeom prst="rect">
            <a:avLst/>
          </a:prstGeom>
          <a:solidFill>
            <a:srgbClr val="F2F6FC"/>
          </a:solidFill>
          <a:ln w="9525">
            <a:solidFill>
              <a:srgbClr val="D5DCEA"/>
            </a:solidFill>
            <a:prstDash val="solid"/>
          </a:ln>
        </p:spPr>
      </p:sp>
      <p:sp>
        <p:nvSpPr>
          <p:cNvPr id="18" name="Text 15"/>
          <p:cNvSpPr txBox="1"/>
          <p:nvPr/>
        </p:nvSpPr>
        <p:spPr>
          <a:xfrm>
            <a:off x="5486400" y="1965960"/>
            <a:ext cx="3108960" cy="402336"/>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Sarah, the freewoman (ἐλευθέρα)</a:t>
            </a:r>
            <a:endParaRPr lang="en-US" sz="1200" dirty="0"/>
          </a:p>
        </p:txBody>
      </p:sp>
      <p:sp>
        <p:nvSpPr>
          <p:cNvPr id="19" name="Text 16"/>
          <p:cNvSpPr txBox="1"/>
          <p:nvPr/>
        </p:nvSpPr>
        <p:spPr>
          <a:xfrm>
            <a:off x="457200" y="2414016"/>
            <a:ext cx="1463040" cy="402336"/>
          </a:xfrm>
          <a:prstGeom prst="rect">
            <a:avLst/>
          </a:prstGeom>
          <a:noFill/>
          <a:ln/>
        </p:spPr>
        <p:txBody>
          <a:bodyPr wrap="square" lIns="0" tIns="0" rIns="0" bIns="0" rtlCol="0" anchor="ctr"/>
          <a:lstStyle/>
          <a:p>
            <a:pPr indent="0" marL="0">
              <a:buNone/>
            </a:pPr>
            <a:r>
              <a:rPr lang="en-US" sz="1150" b="1" dirty="0">
                <a:solidFill>
                  <a:srgbClr val="1F3864"/>
                </a:solidFill>
                <a:latin typeface="Arial" pitchFamily="34" charset="0"/>
                <a:ea typeface="Arial" pitchFamily="34" charset="-122"/>
                <a:cs typeface="Arial" pitchFamily="34" charset="-120"/>
              </a:rPr>
              <a:t>Two spheres</a:t>
            </a:r>
            <a:endParaRPr lang="en-US" sz="1150" dirty="0"/>
          </a:p>
        </p:txBody>
      </p:sp>
      <p:sp>
        <p:nvSpPr>
          <p:cNvPr id="20" name="Shape 17"/>
          <p:cNvSpPr/>
          <p:nvPr/>
        </p:nvSpPr>
        <p:spPr>
          <a:xfrm>
            <a:off x="2011680" y="2414016"/>
            <a:ext cx="3291840" cy="402336"/>
          </a:xfrm>
          <a:prstGeom prst="rect">
            <a:avLst/>
          </a:prstGeom>
          <a:solidFill>
            <a:srgbClr val="F2F6FC"/>
          </a:solidFill>
          <a:ln w="9525">
            <a:solidFill>
              <a:srgbClr val="D5DCEA"/>
            </a:solidFill>
            <a:prstDash val="solid"/>
          </a:ln>
        </p:spPr>
      </p:sp>
      <p:sp>
        <p:nvSpPr>
          <p:cNvPr id="21" name="Text 18"/>
          <p:cNvSpPr txBox="1"/>
          <p:nvPr/>
        </p:nvSpPr>
        <p:spPr>
          <a:xfrm>
            <a:off x="2103120" y="2414016"/>
            <a:ext cx="3108960" cy="402336"/>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Flesh</a:t>
            </a:r>
            <a:endParaRPr lang="en-US" sz="1200" dirty="0"/>
          </a:p>
        </p:txBody>
      </p:sp>
      <p:sp>
        <p:nvSpPr>
          <p:cNvPr id="22" name="Shape 19"/>
          <p:cNvSpPr/>
          <p:nvPr/>
        </p:nvSpPr>
        <p:spPr>
          <a:xfrm>
            <a:off x="5394960" y="2414016"/>
            <a:ext cx="3291840" cy="402336"/>
          </a:xfrm>
          <a:prstGeom prst="rect">
            <a:avLst/>
          </a:prstGeom>
          <a:solidFill>
            <a:srgbClr val="F2F6FC"/>
          </a:solidFill>
          <a:ln w="9525">
            <a:solidFill>
              <a:srgbClr val="D5DCEA"/>
            </a:solidFill>
            <a:prstDash val="solid"/>
          </a:ln>
        </p:spPr>
      </p:sp>
      <p:sp>
        <p:nvSpPr>
          <p:cNvPr id="23" name="Text 20"/>
          <p:cNvSpPr txBox="1"/>
          <p:nvPr/>
        </p:nvSpPr>
        <p:spPr>
          <a:xfrm>
            <a:off x="5486400" y="2414016"/>
            <a:ext cx="3108960" cy="402336"/>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Spirit — promise</a:t>
            </a:r>
            <a:endParaRPr lang="en-US" sz="1200" dirty="0"/>
          </a:p>
        </p:txBody>
      </p:sp>
      <p:sp>
        <p:nvSpPr>
          <p:cNvPr id="24" name="Text 21"/>
          <p:cNvSpPr txBox="1"/>
          <p:nvPr/>
        </p:nvSpPr>
        <p:spPr>
          <a:xfrm>
            <a:off x="457200" y="2862072"/>
            <a:ext cx="1463040" cy="402336"/>
          </a:xfrm>
          <a:prstGeom prst="rect">
            <a:avLst/>
          </a:prstGeom>
          <a:noFill/>
          <a:ln/>
        </p:spPr>
        <p:txBody>
          <a:bodyPr wrap="square" lIns="0" tIns="0" rIns="0" bIns="0" rtlCol="0" anchor="ctr"/>
          <a:lstStyle/>
          <a:p>
            <a:pPr indent="0" marL="0">
              <a:buNone/>
            </a:pPr>
            <a:r>
              <a:rPr lang="en-US" sz="1150" b="1" dirty="0">
                <a:solidFill>
                  <a:srgbClr val="1F3864"/>
                </a:solidFill>
                <a:latin typeface="Arial" pitchFamily="34" charset="0"/>
                <a:ea typeface="Arial" pitchFamily="34" charset="-122"/>
                <a:cs typeface="Arial" pitchFamily="34" charset="-120"/>
              </a:rPr>
              <a:t>Two covenants</a:t>
            </a:r>
            <a:endParaRPr lang="en-US" sz="1150" dirty="0"/>
          </a:p>
        </p:txBody>
      </p:sp>
      <p:sp>
        <p:nvSpPr>
          <p:cNvPr id="25" name="Shape 22"/>
          <p:cNvSpPr/>
          <p:nvPr/>
        </p:nvSpPr>
        <p:spPr>
          <a:xfrm>
            <a:off x="2011680" y="2862072"/>
            <a:ext cx="3291840" cy="402336"/>
          </a:xfrm>
          <a:prstGeom prst="rect">
            <a:avLst/>
          </a:prstGeom>
          <a:solidFill>
            <a:srgbClr val="F2F6FC"/>
          </a:solidFill>
          <a:ln w="9525">
            <a:solidFill>
              <a:srgbClr val="D5DCEA"/>
            </a:solidFill>
            <a:prstDash val="solid"/>
          </a:ln>
        </p:spPr>
      </p:sp>
      <p:sp>
        <p:nvSpPr>
          <p:cNvPr id="26" name="Text 23"/>
          <p:cNvSpPr txBox="1"/>
          <p:nvPr/>
        </p:nvSpPr>
        <p:spPr>
          <a:xfrm>
            <a:off x="2103120" y="2862072"/>
            <a:ext cx="3108960" cy="402336"/>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Law</a:t>
            </a:r>
            <a:endParaRPr lang="en-US" sz="1200" dirty="0"/>
          </a:p>
        </p:txBody>
      </p:sp>
      <p:sp>
        <p:nvSpPr>
          <p:cNvPr id="27" name="Shape 24"/>
          <p:cNvSpPr/>
          <p:nvPr/>
        </p:nvSpPr>
        <p:spPr>
          <a:xfrm>
            <a:off x="5394960" y="2862072"/>
            <a:ext cx="3291840" cy="402336"/>
          </a:xfrm>
          <a:prstGeom prst="rect">
            <a:avLst/>
          </a:prstGeom>
          <a:solidFill>
            <a:srgbClr val="F2F6FC"/>
          </a:solidFill>
          <a:ln w="9525">
            <a:solidFill>
              <a:srgbClr val="D5DCEA"/>
            </a:solidFill>
            <a:prstDash val="solid"/>
          </a:ln>
        </p:spPr>
      </p:sp>
      <p:sp>
        <p:nvSpPr>
          <p:cNvPr id="28" name="Text 25"/>
          <p:cNvSpPr txBox="1"/>
          <p:nvPr/>
        </p:nvSpPr>
        <p:spPr>
          <a:xfrm>
            <a:off x="5486400" y="2862072"/>
            <a:ext cx="3108960" cy="402336"/>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Promise</a:t>
            </a:r>
            <a:endParaRPr lang="en-US" sz="1200" dirty="0"/>
          </a:p>
        </p:txBody>
      </p:sp>
      <p:sp>
        <p:nvSpPr>
          <p:cNvPr id="29" name="Text 26"/>
          <p:cNvSpPr txBox="1"/>
          <p:nvPr/>
        </p:nvSpPr>
        <p:spPr>
          <a:xfrm>
            <a:off x="457200" y="3310128"/>
            <a:ext cx="1463040" cy="402336"/>
          </a:xfrm>
          <a:prstGeom prst="rect">
            <a:avLst/>
          </a:prstGeom>
          <a:noFill/>
          <a:ln/>
        </p:spPr>
        <p:txBody>
          <a:bodyPr wrap="square" lIns="0" tIns="0" rIns="0" bIns="0" rtlCol="0" anchor="ctr"/>
          <a:lstStyle/>
          <a:p>
            <a:pPr indent="0" marL="0">
              <a:buNone/>
            </a:pPr>
            <a:r>
              <a:rPr lang="en-US" sz="1150" b="1" dirty="0">
                <a:solidFill>
                  <a:srgbClr val="1F3864"/>
                </a:solidFill>
                <a:latin typeface="Arial" pitchFamily="34" charset="0"/>
                <a:ea typeface="Arial" pitchFamily="34" charset="-122"/>
                <a:cs typeface="Arial" pitchFamily="34" charset="-120"/>
              </a:rPr>
              <a:t>Two places</a:t>
            </a:r>
            <a:endParaRPr lang="en-US" sz="1150" dirty="0"/>
          </a:p>
        </p:txBody>
      </p:sp>
      <p:sp>
        <p:nvSpPr>
          <p:cNvPr id="30" name="Shape 27"/>
          <p:cNvSpPr/>
          <p:nvPr/>
        </p:nvSpPr>
        <p:spPr>
          <a:xfrm>
            <a:off x="2011680" y="3310128"/>
            <a:ext cx="3291840" cy="402336"/>
          </a:xfrm>
          <a:prstGeom prst="rect">
            <a:avLst/>
          </a:prstGeom>
          <a:solidFill>
            <a:srgbClr val="F2F6FC"/>
          </a:solidFill>
          <a:ln w="9525">
            <a:solidFill>
              <a:srgbClr val="D5DCEA"/>
            </a:solidFill>
            <a:prstDash val="solid"/>
          </a:ln>
        </p:spPr>
      </p:sp>
      <p:sp>
        <p:nvSpPr>
          <p:cNvPr id="31" name="Text 28"/>
          <p:cNvSpPr txBox="1"/>
          <p:nvPr/>
        </p:nvSpPr>
        <p:spPr>
          <a:xfrm>
            <a:off x="2103120" y="3310128"/>
            <a:ext cx="3108960" cy="402336"/>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Arabia</a:t>
            </a:r>
            <a:endParaRPr lang="en-US" sz="1200" dirty="0"/>
          </a:p>
        </p:txBody>
      </p:sp>
      <p:sp>
        <p:nvSpPr>
          <p:cNvPr id="32" name="Shape 29"/>
          <p:cNvSpPr/>
          <p:nvPr/>
        </p:nvSpPr>
        <p:spPr>
          <a:xfrm>
            <a:off x="5394960" y="3310128"/>
            <a:ext cx="3291840" cy="402336"/>
          </a:xfrm>
          <a:prstGeom prst="rect">
            <a:avLst/>
          </a:prstGeom>
          <a:solidFill>
            <a:srgbClr val="F2F6FC"/>
          </a:solidFill>
          <a:ln w="9525">
            <a:solidFill>
              <a:srgbClr val="D5DCEA"/>
            </a:solidFill>
            <a:prstDash val="solid"/>
          </a:ln>
        </p:spPr>
      </p:sp>
      <p:sp>
        <p:nvSpPr>
          <p:cNvPr id="33" name="Text 30"/>
          <p:cNvSpPr txBox="1"/>
          <p:nvPr/>
        </p:nvSpPr>
        <p:spPr>
          <a:xfrm>
            <a:off x="5486400" y="3310128"/>
            <a:ext cx="3108960" cy="402336"/>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Jerusalem</a:t>
            </a:r>
            <a:endParaRPr lang="en-US" sz="1200" dirty="0"/>
          </a:p>
        </p:txBody>
      </p:sp>
      <p:sp>
        <p:nvSpPr>
          <p:cNvPr id="34" name="Text 31"/>
          <p:cNvSpPr txBox="1"/>
          <p:nvPr/>
        </p:nvSpPr>
        <p:spPr>
          <a:xfrm>
            <a:off x="457200" y="3758184"/>
            <a:ext cx="1463040" cy="402336"/>
          </a:xfrm>
          <a:prstGeom prst="rect">
            <a:avLst/>
          </a:prstGeom>
          <a:noFill/>
          <a:ln/>
        </p:spPr>
        <p:txBody>
          <a:bodyPr wrap="square" lIns="0" tIns="0" rIns="0" bIns="0" rtlCol="0" anchor="ctr"/>
          <a:lstStyle/>
          <a:p>
            <a:pPr indent="0" marL="0">
              <a:buNone/>
            </a:pPr>
            <a:r>
              <a:rPr lang="en-US" sz="1150" b="1" dirty="0">
                <a:solidFill>
                  <a:srgbClr val="1F3864"/>
                </a:solidFill>
                <a:latin typeface="Arial" pitchFamily="34" charset="0"/>
                <a:ea typeface="Arial" pitchFamily="34" charset="-122"/>
                <a:cs typeface="Arial" pitchFamily="34" charset="-120"/>
              </a:rPr>
              <a:t>Two mountains</a:t>
            </a:r>
            <a:endParaRPr lang="en-US" sz="1150" dirty="0"/>
          </a:p>
        </p:txBody>
      </p:sp>
      <p:sp>
        <p:nvSpPr>
          <p:cNvPr id="35" name="Shape 32"/>
          <p:cNvSpPr/>
          <p:nvPr/>
        </p:nvSpPr>
        <p:spPr>
          <a:xfrm>
            <a:off x="2011680" y="3758184"/>
            <a:ext cx="3291840" cy="402336"/>
          </a:xfrm>
          <a:prstGeom prst="rect">
            <a:avLst/>
          </a:prstGeom>
          <a:solidFill>
            <a:srgbClr val="F2F6FC"/>
          </a:solidFill>
          <a:ln w="9525">
            <a:solidFill>
              <a:srgbClr val="D5DCEA"/>
            </a:solidFill>
            <a:prstDash val="solid"/>
          </a:ln>
        </p:spPr>
      </p:sp>
      <p:sp>
        <p:nvSpPr>
          <p:cNvPr id="36" name="Text 33"/>
          <p:cNvSpPr txBox="1"/>
          <p:nvPr/>
        </p:nvSpPr>
        <p:spPr>
          <a:xfrm>
            <a:off x="2103120" y="3758184"/>
            <a:ext cx="3108960" cy="402336"/>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Sinai</a:t>
            </a:r>
            <a:endParaRPr lang="en-US" sz="1200" dirty="0"/>
          </a:p>
        </p:txBody>
      </p:sp>
      <p:sp>
        <p:nvSpPr>
          <p:cNvPr id="37" name="Shape 34"/>
          <p:cNvSpPr/>
          <p:nvPr/>
        </p:nvSpPr>
        <p:spPr>
          <a:xfrm>
            <a:off x="5394960" y="3758184"/>
            <a:ext cx="3291840" cy="402336"/>
          </a:xfrm>
          <a:prstGeom prst="rect">
            <a:avLst/>
          </a:prstGeom>
          <a:solidFill>
            <a:srgbClr val="F2F6FC"/>
          </a:solidFill>
          <a:ln w="9525">
            <a:solidFill>
              <a:srgbClr val="D5DCEA"/>
            </a:solidFill>
            <a:prstDash val="solid"/>
          </a:ln>
        </p:spPr>
      </p:sp>
      <p:sp>
        <p:nvSpPr>
          <p:cNvPr id="38" name="Text 35"/>
          <p:cNvSpPr txBox="1"/>
          <p:nvPr/>
        </p:nvSpPr>
        <p:spPr>
          <a:xfrm>
            <a:off x="5486400" y="3758184"/>
            <a:ext cx="3108960" cy="402336"/>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Zion</a:t>
            </a:r>
            <a:endParaRPr lang="en-US" sz="1200" dirty="0"/>
          </a:p>
        </p:txBody>
      </p:sp>
      <p:sp>
        <p:nvSpPr>
          <p:cNvPr id="39" name="Text 36"/>
          <p:cNvSpPr txBox="1"/>
          <p:nvPr/>
        </p:nvSpPr>
        <p:spPr>
          <a:xfrm>
            <a:off x="457200" y="4206240"/>
            <a:ext cx="1463040" cy="402336"/>
          </a:xfrm>
          <a:prstGeom prst="rect">
            <a:avLst/>
          </a:prstGeom>
          <a:noFill/>
          <a:ln/>
        </p:spPr>
        <p:txBody>
          <a:bodyPr wrap="square" lIns="0" tIns="0" rIns="0" bIns="0" rtlCol="0" anchor="ctr"/>
          <a:lstStyle/>
          <a:p>
            <a:pPr indent="0" marL="0">
              <a:buNone/>
            </a:pPr>
            <a:r>
              <a:rPr lang="en-US" sz="1150" b="1" dirty="0">
                <a:solidFill>
                  <a:srgbClr val="1F3864"/>
                </a:solidFill>
                <a:latin typeface="Arial" pitchFamily="34" charset="0"/>
                <a:ea typeface="Arial" pitchFamily="34" charset="-122"/>
                <a:cs typeface="Arial" pitchFamily="34" charset="-120"/>
              </a:rPr>
              <a:t>Two Jerusalems</a:t>
            </a:r>
            <a:endParaRPr lang="en-US" sz="1150" dirty="0"/>
          </a:p>
        </p:txBody>
      </p:sp>
      <p:sp>
        <p:nvSpPr>
          <p:cNvPr id="40" name="Shape 37"/>
          <p:cNvSpPr/>
          <p:nvPr/>
        </p:nvSpPr>
        <p:spPr>
          <a:xfrm>
            <a:off x="2011680" y="4206240"/>
            <a:ext cx="3291840" cy="402336"/>
          </a:xfrm>
          <a:prstGeom prst="rect">
            <a:avLst/>
          </a:prstGeom>
          <a:solidFill>
            <a:srgbClr val="F2F6FC"/>
          </a:solidFill>
          <a:ln w="9525">
            <a:solidFill>
              <a:srgbClr val="D5DCEA"/>
            </a:solidFill>
            <a:prstDash val="solid"/>
          </a:ln>
        </p:spPr>
      </p:sp>
      <p:sp>
        <p:nvSpPr>
          <p:cNvPr id="41" name="Text 38"/>
          <p:cNvSpPr txBox="1"/>
          <p:nvPr/>
        </p:nvSpPr>
        <p:spPr>
          <a:xfrm>
            <a:off x="2103120" y="4206240"/>
            <a:ext cx="3108960" cy="402336"/>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The Jerusalem that now is</a:t>
            </a:r>
            <a:endParaRPr lang="en-US" sz="1200" dirty="0"/>
          </a:p>
        </p:txBody>
      </p:sp>
      <p:sp>
        <p:nvSpPr>
          <p:cNvPr id="42" name="Shape 39"/>
          <p:cNvSpPr/>
          <p:nvPr/>
        </p:nvSpPr>
        <p:spPr>
          <a:xfrm>
            <a:off x="5394960" y="4206240"/>
            <a:ext cx="3291840" cy="402336"/>
          </a:xfrm>
          <a:prstGeom prst="rect">
            <a:avLst/>
          </a:prstGeom>
          <a:solidFill>
            <a:srgbClr val="F2F6FC"/>
          </a:solidFill>
          <a:ln w="9525">
            <a:solidFill>
              <a:srgbClr val="D5DCEA"/>
            </a:solidFill>
            <a:prstDash val="solid"/>
          </a:ln>
        </p:spPr>
      </p:sp>
      <p:sp>
        <p:nvSpPr>
          <p:cNvPr id="43" name="Text 40"/>
          <p:cNvSpPr txBox="1"/>
          <p:nvPr/>
        </p:nvSpPr>
        <p:spPr>
          <a:xfrm>
            <a:off x="5486400" y="4206240"/>
            <a:ext cx="3108960" cy="402336"/>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The Jerusalem above (ἄνω)</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Signed up without reading the fine print</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4:21 · Outline I — The argument</a:t>
            </a:r>
            <a:endParaRPr lang="en-US" sz="1200" dirty="0"/>
          </a:p>
        </p:txBody>
      </p:sp>
      <p:sp>
        <p:nvSpPr>
          <p:cNvPr id="5" name="Shape 2"/>
          <p:cNvSpPr/>
          <p:nvPr/>
        </p:nvSpPr>
        <p:spPr>
          <a:xfrm>
            <a:off x="457200" y="1143000"/>
            <a:ext cx="4023360" cy="365760"/>
          </a:xfrm>
          <a:prstGeom prst="rect">
            <a:avLst/>
          </a:prstGeom>
          <a:solidFill>
            <a:srgbClr val="6B7280"/>
          </a:solidFill>
          <a:ln w="12700">
            <a:solidFill>
              <a:srgbClr val="6B7280"/>
            </a:solidFill>
            <a:prstDash val="solid"/>
          </a:ln>
        </p:spPr>
      </p:sp>
      <p:sp>
        <p:nvSpPr>
          <p:cNvPr id="6" name="Text 3"/>
          <p:cNvSpPr txBox="1"/>
          <p:nvPr/>
        </p:nvSpPr>
        <p:spPr>
          <a:xfrm>
            <a:off x="548640" y="1188720"/>
            <a:ext cx="3840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What they wanted</a:t>
            </a:r>
            <a:endParaRPr lang="en-US" sz="1200" dirty="0"/>
          </a:p>
        </p:txBody>
      </p:sp>
      <p:sp>
        <p:nvSpPr>
          <p:cNvPr id="7" name="Shape 4"/>
          <p:cNvSpPr/>
          <p:nvPr/>
        </p:nvSpPr>
        <p:spPr>
          <a:xfrm>
            <a:off x="457200" y="1508760"/>
            <a:ext cx="4023360" cy="2148840"/>
          </a:xfrm>
          <a:prstGeom prst="rect">
            <a:avLst/>
          </a:prstGeom>
          <a:solidFill>
            <a:srgbClr val="F2F6FC"/>
          </a:solidFill>
          <a:ln w="9525">
            <a:solidFill>
              <a:srgbClr val="D5DCEA"/>
            </a:solidFill>
            <a:prstDash val="solid"/>
          </a:ln>
        </p:spPr>
      </p:sp>
      <p:sp>
        <p:nvSpPr>
          <p:cNvPr id="8" name="Text 5"/>
          <p:cNvSpPr txBox="1"/>
          <p:nvPr/>
        </p:nvSpPr>
        <p:spPr>
          <a:xfrm>
            <a:off x="548640" y="1581912"/>
            <a:ext cx="3840480" cy="2020824"/>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“You who desire to be under the law”</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Law-keeping as their way to please God</a:t>
            </a:r>
            <a:endParaRPr lang="en-US" sz="1300" dirty="0"/>
          </a:p>
        </p:txBody>
      </p:sp>
      <p:sp>
        <p:nvSpPr>
          <p:cNvPr id="9" name="Shape 6"/>
          <p:cNvSpPr/>
          <p:nvPr/>
        </p:nvSpPr>
        <p:spPr>
          <a:xfrm>
            <a:off x="4572000" y="2286000"/>
            <a:ext cx="274320" cy="237744"/>
          </a:xfrm>
          <a:prstGeom prst="rightArrow">
            <a:avLst/>
          </a:prstGeom>
          <a:solidFill>
            <a:srgbClr val="6B7280"/>
          </a:solidFill>
          <a:ln w="12700">
            <a:solidFill>
              <a:srgbClr val="6B7280"/>
            </a:solidFill>
            <a:prstDash val="solid"/>
          </a:ln>
        </p:spPr>
      </p:sp>
      <p:sp>
        <p:nvSpPr>
          <p:cNvPr id="10" name="Shape 7"/>
          <p:cNvSpPr/>
          <p:nvPr/>
        </p:nvSpPr>
        <p:spPr>
          <a:xfrm>
            <a:off x="4937760" y="1143000"/>
            <a:ext cx="3749040" cy="365760"/>
          </a:xfrm>
          <a:prstGeom prst="rect">
            <a:avLst/>
          </a:prstGeom>
          <a:solidFill>
            <a:srgbClr val="2E5496"/>
          </a:solidFill>
          <a:ln w="12700">
            <a:solidFill>
              <a:srgbClr val="2E5496"/>
            </a:solidFill>
            <a:prstDash val="solid"/>
          </a:ln>
        </p:spPr>
      </p:sp>
      <p:sp>
        <p:nvSpPr>
          <p:cNvPr id="11" name="Text 8"/>
          <p:cNvSpPr txBox="1"/>
          <p:nvPr/>
        </p:nvSpPr>
        <p:spPr>
          <a:xfrm>
            <a:off x="5029200" y="1188720"/>
            <a:ext cx="356616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What they had not heard</a:t>
            </a:r>
            <a:endParaRPr lang="en-US" sz="1200" dirty="0"/>
          </a:p>
        </p:txBody>
      </p:sp>
      <p:sp>
        <p:nvSpPr>
          <p:cNvPr id="12" name="Shape 9"/>
          <p:cNvSpPr/>
          <p:nvPr/>
        </p:nvSpPr>
        <p:spPr>
          <a:xfrm>
            <a:off x="4937760" y="1508760"/>
            <a:ext cx="3749040" cy="2148840"/>
          </a:xfrm>
          <a:prstGeom prst="rect">
            <a:avLst/>
          </a:prstGeom>
          <a:solidFill>
            <a:srgbClr val="F2F6FC"/>
          </a:solidFill>
          <a:ln w="9525">
            <a:solidFill>
              <a:srgbClr val="D5DCEA"/>
            </a:solidFill>
            <a:prstDash val="solid"/>
          </a:ln>
        </p:spPr>
      </p:sp>
      <p:sp>
        <p:nvSpPr>
          <p:cNvPr id="13" name="Text 10"/>
          <p:cNvSpPr txBox="1"/>
          <p:nvPr/>
        </p:nvSpPr>
        <p:spPr>
          <a:xfrm>
            <a:off x="5029200" y="1581912"/>
            <a:ext cx="3566160" cy="2020824"/>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“Do you not hear the law?”</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What the law demands — and what it produces</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Paul's answer comes from the law itself: Genesis</a:t>
            </a:r>
            <a:endParaRPr lang="en-US" sz="1300" dirty="0"/>
          </a:p>
        </p:txBody>
      </p:sp>
      <p:sp>
        <p:nvSpPr>
          <p:cNvPr id="14" name="Shape 11"/>
          <p:cNvSpPr/>
          <p:nvPr/>
        </p:nvSpPr>
        <p:spPr>
          <a:xfrm>
            <a:off x="457200" y="3931920"/>
            <a:ext cx="8229600" cy="502920"/>
          </a:xfrm>
          <a:prstGeom prst="roundRect">
            <a:avLst>
              <a:gd name="adj" fmla="val 10909"/>
            </a:avLst>
          </a:prstGeom>
          <a:solidFill>
            <a:srgbClr val="1F3864"/>
          </a:solidFill>
          <a:ln w="12700">
            <a:solidFill>
              <a:srgbClr val="1F3864"/>
            </a:solidFill>
            <a:prstDash val="solid"/>
          </a:ln>
        </p:spPr>
      </p:sp>
      <p:sp>
        <p:nvSpPr>
          <p:cNvPr id="15" name="Text 12"/>
          <p:cNvSpPr txBox="1"/>
          <p:nvPr/>
        </p:nvSpPr>
        <p:spPr>
          <a:xfrm>
            <a:off x="621792" y="3931920"/>
            <a:ext cx="7900416" cy="50292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They signed up for the law without reading what was in it.</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Two sons, two births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4:22–23 · Outline II.A–B</a:t>
            </a:r>
            <a:endParaRPr lang="en-US" sz="1200" dirty="0"/>
          </a:p>
        </p:txBody>
      </p:sp>
      <p:sp>
        <p:nvSpPr>
          <p:cNvPr id="5" name="Shape 2"/>
          <p:cNvSpPr/>
          <p:nvPr/>
        </p:nvSpPr>
        <p:spPr>
          <a:xfrm>
            <a:off x="457200" y="1143000"/>
            <a:ext cx="4023360" cy="365760"/>
          </a:xfrm>
          <a:prstGeom prst="rect">
            <a:avLst/>
          </a:prstGeom>
          <a:solidFill>
            <a:srgbClr val="6B7280"/>
          </a:solidFill>
          <a:ln w="12700">
            <a:solidFill>
              <a:srgbClr val="6B7280"/>
            </a:solidFill>
            <a:prstDash val="solid"/>
          </a:ln>
        </p:spPr>
      </p:sp>
      <p:sp>
        <p:nvSpPr>
          <p:cNvPr id="6" name="Text 3"/>
          <p:cNvSpPr txBox="1"/>
          <p:nvPr/>
        </p:nvSpPr>
        <p:spPr>
          <a:xfrm>
            <a:off x="548640" y="1188720"/>
            <a:ext cx="3840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Ishmael — “according to the flesh”</a:t>
            </a:r>
            <a:endParaRPr lang="en-US" sz="1200" dirty="0"/>
          </a:p>
        </p:txBody>
      </p:sp>
      <p:sp>
        <p:nvSpPr>
          <p:cNvPr id="7" name="Shape 4"/>
          <p:cNvSpPr/>
          <p:nvPr/>
        </p:nvSpPr>
        <p:spPr>
          <a:xfrm>
            <a:off x="457200" y="1508760"/>
            <a:ext cx="4023360" cy="2331720"/>
          </a:xfrm>
          <a:prstGeom prst="rect">
            <a:avLst/>
          </a:prstGeom>
          <a:solidFill>
            <a:srgbClr val="F2F6FC"/>
          </a:solidFill>
          <a:ln w="9525">
            <a:solidFill>
              <a:srgbClr val="D5DCEA"/>
            </a:solidFill>
            <a:prstDash val="solid"/>
          </a:ln>
        </p:spPr>
      </p:sp>
      <p:sp>
        <p:nvSpPr>
          <p:cNvPr id="8" name="Text 5"/>
          <p:cNvSpPr txBox="1"/>
          <p:nvPr/>
        </p:nvSpPr>
        <p:spPr>
          <a:xfrm>
            <a:off x="548640" y="1581912"/>
            <a:ext cx="3840480" cy="2203704"/>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Son of Hagar, the bondwoman</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Sarah's plan, by human means</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Apart from God's revealed will</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No miracle</a:t>
            </a:r>
            <a:endParaRPr lang="en-US" sz="1300" dirty="0"/>
          </a:p>
        </p:txBody>
      </p:sp>
      <p:sp>
        <p:nvSpPr>
          <p:cNvPr id="9" name="Shape 6"/>
          <p:cNvSpPr/>
          <p:nvPr/>
        </p:nvSpPr>
        <p:spPr>
          <a:xfrm>
            <a:off x="4663440" y="1143000"/>
            <a:ext cx="4023360" cy="566928"/>
          </a:xfrm>
          <a:prstGeom prst="rect">
            <a:avLst/>
          </a:prstGeom>
          <a:solidFill>
            <a:srgbClr val="375623"/>
          </a:solidFill>
          <a:ln w="12700">
            <a:solidFill>
              <a:srgbClr val="375623"/>
            </a:solidFill>
            <a:prstDash val="solid"/>
          </a:ln>
        </p:spPr>
      </p:sp>
      <p:sp>
        <p:nvSpPr>
          <p:cNvPr id="10" name="Text 7"/>
          <p:cNvSpPr txBox="1"/>
          <p:nvPr/>
        </p:nvSpPr>
        <p:spPr>
          <a:xfrm>
            <a:off x="4754880" y="1188720"/>
            <a:ext cx="3840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Isaac — “through promise”</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δι' ἐπαγγελίας</a:t>
            </a:r>
            <a:pPr indent="0" marL="0">
              <a:buNone/>
            </a:pPr>
            <a:r>
              <a:rPr lang="en-US" sz="850" dirty="0">
                <a:solidFill>
                  <a:srgbClr val="DCE4F2"/>
                </a:solidFill>
                <a:latin typeface="Arial" pitchFamily="34" charset="0"/>
                <a:ea typeface="Arial" pitchFamily="34" charset="-122"/>
                <a:cs typeface="Arial" pitchFamily="34" charset="-120"/>
              </a:rPr>
              <a:t>  through promise</a:t>
            </a:r>
            <a:endParaRPr lang="en-US" sz="1200" dirty="0"/>
          </a:p>
        </p:txBody>
      </p:sp>
      <p:sp>
        <p:nvSpPr>
          <p:cNvPr id="11" name="Shape 8"/>
          <p:cNvSpPr/>
          <p:nvPr/>
        </p:nvSpPr>
        <p:spPr>
          <a:xfrm>
            <a:off x="4663440" y="1709928"/>
            <a:ext cx="4023360" cy="2130552"/>
          </a:xfrm>
          <a:prstGeom prst="rect">
            <a:avLst/>
          </a:prstGeom>
          <a:solidFill>
            <a:srgbClr val="F2F6FC"/>
          </a:solidFill>
          <a:ln w="9525">
            <a:solidFill>
              <a:srgbClr val="D5DCEA"/>
            </a:solidFill>
            <a:prstDash val="solid"/>
          </a:ln>
        </p:spPr>
      </p:sp>
      <p:sp>
        <p:nvSpPr>
          <p:cNvPr id="12" name="Text 9"/>
          <p:cNvSpPr txBox="1"/>
          <p:nvPr/>
        </p:nvSpPr>
        <p:spPr>
          <a:xfrm>
            <a:off x="4754880" y="1783080"/>
            <a:ext cx="3840480" cy="2002536"/>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Son of Sarah, the freewoman</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When God said, as God said</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Against all natural possibility</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Abraham called at 75; God waited 25 years</a:t>
            </a:r>
            <a:endParaRPr lang="en-US" sz="1300" dirty="0"/>
          </a:p>
        </p:txBody>
      </p:sp>
      <p:sp>
        <p:nvSpPr>
          <p:cNvPr id="13" name="Shape 10"/>
          <p:cNvSpPr/>
          <p:nvPr/>
        </p:nvSpPr>
        <p:spPr>
          <a:xfrm>
            <a:off x="457200" y="4069080"/>
            <a:ext cx="8229600" cy="502920"/>
          </a:xfrm>
          <a:prstGeom prst="roundRect">
            <a:avLst>
              <a:gd name="adj" fmla="val 10909"/>
            </a:avLst>
          </a:prstGeom>
          <a:solidFill>
            <a:srgbClr val="1F3864"/>
          </a:solidFill>
          <a:ln w="12700">
            <a:solidFill>
              <a:srgbClr val="1F3864"/>
            </a:solidFill>
            <a:prstDash val="solid"/>
          </a:ln>
        </p:spPr>
      </p:sp>
      <p:sp>
        <p:nvSpPr>
          <p:cNvPr id="14" name="Text 11"/>
          <p:cNvSpPr txBox="1"/>
          <p:nvPr/>
        </p:nvSpPr>
        <p:spPr>
          <a:xfrm>
            <a:off x="621792" y="4069080"/>
            <a:ext cx="7900416" cy="50292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Make it as hard as it can be — so that when it happens, everyone knows God did it.</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History made into an allegory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4:24–27 · Outline II.C — Two symbols</a:t>
            </a:r>
            <a:endParaRPr lang="en-US" sz="1200" dirty="0"/>
          </a:p>
        </p:txBody>
      </p:sp>
      <p:sp>
        <p:nvSpPr>
          <p:cNvPr id="5" name="Shape 2"/>
          <p:cNvSpPr/>
          <p:nvPr/>
        </p:nvSpPr>
        <p:spPr>
          <a:xfrm>
            <a:off x="457200" y="1115568"/>
            <a:ext cx="777240" cy="548640"/>
          </a:xfrm>
          <a:prstGeom prst="rect">
            <a:avLst/>
          </a:prstGeom>
          <a:solidFill>
            <a:srgbClr val="2E5496"/>
          </a:solidFill>
          <a:ln w="12700">
            <a:solidFill>
              <a:srgbClr val="2E5496"/>
            </a:solidFill>
            <a:prstDash val="solid"/>
          </a:ln>
        </p:spPr>
      </p:sp>
      <p:sp>
        <p:nvSpPr>
          <p:cNvPr id="6" name="Text 3"/>
          <p:cNvSpPr txBox="1"/>
          <p:nvPr/>
        </p:nvSpPr>
        <p:spPr>
          <a:xfrm>
            <a:off x="457200" y="1115568"/>
            <a:ext cx="77724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v.24a</a:t>
            </a:r>
            <a:endParaRPr lang="en-US" sz="1100" dirty="0"/>
          </a:p>
        </p:txBody>
      </p:sp>
      <p:sp>
        <p:nvSpPr>
          <p:cNvPr id="7" name="Shape 4"/>
          <p:cNvSpPr/>
          <p:nvPr/>
        </p:nvSpPr>
        <p:spPr>
          <a:xfrm>
            <a:off x="1234440" y="1115568"/>
            <a:ext cx="7452360" cy="548640"/>
          </a:xfrm>
          <a:prstGeom prst="rect">
            <a:avLst/>
          </a:prstGeom>
          <a:solidFill>
            <a:srgbClr val="F2F6FC"/>
          </a:solidFill>
          <a:ln w="9525">
            <a:solidFill>
              <a:srgbClr val="D5DCEA"/>
            </a:solidFill>
            <a:prstDash val="solid"/>
          </a:ln>
        </p:spPr>
      </p:sp>
      <p:sp>
        <p:nvSpPr>
          <p:cNvPr id="8" name="Text 5"/>
          <p:cNvSpPr txBox="1"/>
          <p:nvPr/>
        </p:nvSpPr>
        <p:spPr>
          <a:xfrm>
            <a:off x="1344168" y="1115568"/>
            <a:ext cx="420624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Historical events, used as an allegory — not fiction</a:t>
            </a:r>
            <a:endParaRPr lang="en-US" sz="1200" dirty="0"/>
          </a:p>
        </p:txBody>
      </p:sp>
      <p:sp>
        <p:nvSpPr>
          <p:cNvPr id="9" name="Text 6"/>
          <p:cNvSpPr txBox="1"/>
          <p:nvPr/>
        </p:nvSpPr>
        <p:spPr>
          <a:xfrm>
            <a:off x="5623560" y="1115568"/>
            <a:ext cx="2971800" cy="54864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ἀλληγορούμενα</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Pres. Pass. Ptc. — made into</a:t>
            </a:r>
            <a:endParaRPr lang="en-US" sz="1200" dirty="0"/>
          </a:p>
        </p:txBody>
      </p:sp>
      <p:sp>
        <p:nvSpPr>
          <p:cNvPr id="10" name="Shape 7"/>
          <p:cNvSpPr/>
          <p:nvPr/>
        </p:nvSpPr>
        <p:spPr>
          <a:xfrm>
            <a:off x="457200" y="1728216"/>
            <a:ext cx="777240" cy="548640"/>
          </a:xfrm>
          <a:prstGeom prst="rect">
            <a:avLst/>
          </a:prstGeom>
          <a:solidFill>
            <a:srgbClr val="6B7280"/>
          </a:solidFill>
          <a:ln w="12700">
            <a:solidFill>
              <a:srgbClr val="6B7280"/>
            </a:solidFill>
            <a:prstDash val="solid"/>
          </a:ln>
        </p:spPr>
      </p:sp>
      <p:sp>
        <p:nvSpPr>
          <p:cNvPr id="11" name="Text 8"/>
          <p:cNvSpPr txBox="1"/>
          <p:nvPr/>
        </p:nvSpPr>
        <p:spPr>
          <a:xfrm>
            <a:off x="457200" y="1728216"/>
            <a:ext cx="77724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v.24b</a:t>
            </a:r>
            <a:endParaRPr lang="en-US" sz="1100" dirty="0"/>
          </a:p>
        </p:txBody>
      </p:sp>
      <p:sp>
        <p:nvSpPr>
          <p:cNvPr id="12" name="Shape 9"/>
          <p:cNvSpPr/>
          <p:nvPr/>
        </p:nvSpPr>
        <p:spPr>
          <a:xfrm>
            <a:off x="1234440" y="1728216"/>
            <a:ext cx="7452360" cy="548640"/>
          </a:xfrm>
          <a:prstGeom prst="rect">
            <a:avLst/>
          </a:prstGeom>
          <a:solidFill>
            <a:srgbClr val="FFFFFF"/>
          </a:solidFill>
          <a:ln w="9525">
            <a:solidFill>
              <a:srgbClr val="D5DCEA"/>
            </a:solidFill>
            <a:prstDash val="solid"/>
          </a:ln>
        </p:spPr>
      </p:sp>
      <p:sp>
        <p:nvSpPr>
          <p:cNvPr id="13" name="Text 10"/>
          <p:cNvSpPr txBox="1"/>
          <p:nvPr/>
        </p:nvSpPr>
        <p:spPr>
          <a:xfrm>
            <a:off x="1344168" y="1728216"/>
            <a:ext cx="420624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Mount Sinai “gives birth to bondage” — Hagar</a:t>
            </a:r>
            <a:endParaRPr lang="en-US" sz="1200" dirty="0"/>
          </a:p>
        </p:txBody>
      </p:sp>
      <p:sp>
        <p:nvSpPr>
          <p:cNvPr id="14" name="Text 11"/>
          <p:cNvSpPr txBox="1"/>
          <p:nvPr/>
        </p:nvSpPr>
        <p:spPr>
          <a:xfrm>
            <a:off x="5623560" y="1728216"/>
            <a:ext cx="2971800" cy="54864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γεννῶσα · δουλείαν</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continually bearing · slavery</a:t>
            </a:r>
            <a:endParaRPr lang="en-US" sz="1200" dirty="0"/>
          </a:p>
        </p:txBody>
      </p:sp>
      <p:sp>
        <p:nvSpPr>
          <p:cNvPr id="15" name="Shape 12"/>
          <p:cNvSpPr/>
          <p:nvPr/>
        </p:nvSpPr>
        <p:spPr>
          <a:xfrm>
            <a:off x="457200" y="2340864"/>
            <a:ext cx="777240" cy="548640"/>
          </a:xfrm>
          <a:prstGeom prst="rect">
            <a:avLst/>
          </a:prstGeom>
          <a:solidFill>
            <a:srgbClr val="6B7280"/>
          </a:solidFill>
          <a:ln w="12700">
            <a:solidFill>
              <a:srgbClr val="6B7280"/>
            </a:solidFill>
            <a:prstDash val="solid"/>
          </a:ln>
        </p:spPr>
      </p:sp>
      <p:sp>
        <p:nvSpPr>
          <p:cNvPr id="16" name="Text 13"/>
          <p:cNvSpPr txBox="1"/>
          <p:nvPr/>
        </p:nvSpPr>
        <p:spPr>
          <a:xfrm>
            <a:off x="457200" y="2340864"/>
            <a:ext cx="77724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v.25</a:t>
            </a:r>
            <a:endParaRPr lang="en-US" sz="1100" dirty="0"/>
          </a:p>
        </p:txBody>
      </p:sp>
      <p:sp>
        <p:nvSpPr>
          <p:cNvPr id="17" name="Shape 14"/>
          <p:cNvSpPr/>
          <p:nvPr/>
        </p:nvSpPr>
        <p:spPr>
          <a:xfrm>
            <a:off x="1234440" y="2340864"/>
            <a:ext cx="7452360" cy="548640"/>
          </a:xfrm>
          <a:prstGeom prst="rect">
            <a:avLst/>
          </a:prstGeom>
          <a:solidFill>
            <a:srgbClr val="F2F6FC"/>
          </a:solidFill>
          <a:ln w="9525">
            <a:solidFill>
              <a:srgbClr val="D5DCEA"/>
            </a:solidFill>
            <a:prstDash val="solid"/>
          </a:ln>
        </p:spPr>
      </p:sp>
      <p:sp>
        <p:nvSpPr>
          <p:cNvPr id="18" name="Text 15"/>
          <p:cNvSpPr txBox="1"/>
          <p:nvPr/>
        </p:nvSpPr>
        <p:spPr>
          <a:xfrm>
            <a:off x="1344168" y="2340864"/>
            <a:ext cx="420624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Hagar “corresponds to Jerusalem which now is”</a:t>
            </a:r>
            <a:endParaRPr lang="en-US" sz="1200" dirty="0"/>
          </a:p>
        </p:txBody>
      </p:sp>
      <p:sp>
        <p:nvSpPr>
          <p:cNvPr id="19" name="Text 16"/>
          <p:cNvSpPr txBox="1"/>
          <p:nvPr/>
        </p:nvSpPr>
        <p:spPr>
          <a:xfrm>
            <a:off x="5623560" y="2340864"/>
            <a:ext cx="2971800" cy="54864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συστοιχεῖ</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stands in the same rank</a:t>
            </a:r>
            <a:endParaRPr lang="en-US" sz="1200" dirty="0"/>
          </a:p>
        </p:txBody>
      </p:sp>
      <p:sp>
        <p:nvSpPr>
          <p:cNvPr id="20" name="Shape 17"/>
          <p:cNvSpPr/>
          <p:nvPr/>
        </p:nvSpPr>
        <p:spPr>
          <a:xfrm>
            <a:off x="457200" y="2953512"/>
            <a:ext cx="777240" cy="548640"/>
          </a:xfrm>
          <a:prstGeom prst="rect">
            <a:avLst/>
          </a:prstGeom>
          <a:solidFill>
            <a:srgbClr val="375623"/>
          </a:solidFill>
          <a:ln w="12700">
            <a:solidFill>
              <a:srgbClr val="375623"/>
            </a:solidFill>
            <a:prstDash val="solid"/>
          </a:ln>
        </p:spPr>
      </p:sp>
      <p:sp>
        <p:nvSpPr>
          <p:cNvPr id="21" name="Text 18"/>
          <p:cNvSpPr txBox="1"/>
          <p:nvPr/>
        </p:nvSpPr>
        <p:spPr>
          <a:xfrm>
            <a:off x="457200" y="2953512"/>
            <a:ext cx="77724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v.26</a:t>
            </a:r>
            <a:endParaRPr lang="en-US" sz="1100" dirty="0"/>
          </a:p>
        </p:txBody>
      </p:sp>
      <p:sp>
        <p:nvSpPr>
          <p:cNvPr id="22" name="Shape 19"/>
          <p:cNvSpPr/>
          <p:nvPr/>
        </p:nvSpPr>
        <p:spPr>
          <a:xfrm>
            <a:off x="1234440" y="2953512"/>
            <a:ext cx="7452360" cy="548640"/>
          </a:xfrm>
          <a:prstGeom prst="rect">
            <a:avLst/>
          </a:prstGeom>
          <a:solidFill>
            <a:srgbClr val="FFFFFF"/>
          </a:solidFill>
          <a:ln w="9525">
            <a:solidFill>
              <a:srgbClr val="D5DCEA"/>
            </a:solidFill>
            <a:prstDash val="solid"/>
          </a:ln>
        </p:spPr>
      </p:sp>
      <p:sp>
        <p:nvSpPr>
          <p:cNvPr id="23" name="Text 20"/>
          <p:cNvSpPr txBox="1"/>
          <p:nvPr/>
        </p:nvSpPr>
        <p:spPr>
          <a:xfrm>
            <a:off x="1344168" y="2953512"/>
            <a:ext cx="420624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“The Jerusalem above is free, which is the mother of us all”</a:t>
            </a:r>
            <a:endParaRPr lang="en-US" sz="1200" dirty="0"/>
          </a:p>
        </p:txBody>
      </p:sp>
      <p:sp>
        <p:nvSpPr>
          <p:cNvPr id="24" name="Text 21"/>
          <p:cNvSpPr txBox="1"/>
          <p:nvPr/>
        </p:nvSpPr>
        <p:spPr>
          <a:xfrm>
            <a:off x="5623560" y="2953512"/>
            <a:ext cx="2971800" cy="54864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ἄνω</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above — heavenly</a:t>
            </a:r>
            <a:endParaRPr lang="en-US" sz="1200" dirty="0"/>
          </a:p>
        </p:txBody>
      </p:sp>
      <p:sp>
        <p:nvSpPr>
          <p:cNvPr id="25" name="Shape 22"/>
          <p:cNvSpPr/>
          <p:nvPr/>
        </p:nvSpPr>
        <p:spPr>
          <a:xfrm>
            <a:off x="457200" y="3566160"/>
            <a:ext cx="777240" cy="548640"/>
          </a:xfrm>
          <a:prstGeom prst="rect">
            <a:avLst/>
          </a:prstGeom>
          <a:solidFill>
            <a:srgbClr val="375623"/>
          </a:solidFill>
          <a:ln w="12700">
            <a:solidFill>
              <a:srgbClr val="375623"/>
            </a:solidFill>
            <a:prstDash val="solid"/>
          </a:ln>
        </p:spPr>
      </p:sp>
      <p:sp>
        <p:nvSpPr>
          <p:cNvPr id="26" name="Text 23"/>
          <p:cNvSpPr txBox="1"/>
          <p:nvPr/>
        </p:nvSpPr>
        <p:spPr>
          <a:xfrm>
            <a:off x="457200" y="3566160"/>
            <a:ext cx="77724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v.27</a:t>
            </a:r>
            <a:endParaRPr lang="en-US" sz="1100" dirty="0"/>
          </a:p>
        </p:txBody>
      </p:sp>
      <p:sp>
        <p:nvSpPr>
          <p:cNvPr id="27" name="Shape 24"/>
          <p:cNvSpPr/>
          <p:nvPr/>
        </p:nvSpPr>
        <p:spPr>
          <a:xfrm>
            <a:off x="1234440" y="3566160"/>
            <a:ext cx="7452360" cy="548640"/>
          </a:xfrm>
          <a:prstGeom prst="rect">
            <a:avLst/>
          </a:prstGeom>
          <a:solidFill>
            <a:srgbClr val="F2F6FC"/>
          </a:solidFill>
          <a:ln w="9525">
            <a:solidFill>
              <a:srgbClr val="D5DCEA"/>
            </a:solidFill>
            <a:prstDash val="solid"/>
          </a:ln>
        </p:spPr>
      </p:sp>
      <p:sp>
        <p:nvSpPr>
          <p:cNvPr id="28" name="Text 25"/>
          <p:cNvSpPr txBox="1"/>
          <p:nvPr/>
        </p:nvSpPr>
        <p:spPr>
          <a:xfrm>
            <a:off x="1344168" y="3566160"/>
            <a:ext cx="420624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“Rejoice, O barren” — Isaiah 54:1</a:t>
            </a:r>
            <a:endParaRPr lang="en-US" sz="1200" dirty="0"/>
          </a:p>
        </p:txBody>
      </p:sp>
      <p:sp>
        <p:nvSpPr>
          <p:cNvPr id="29" name="Text 26"/>
          <p:cNvSpPr txBox="1"/>
          <p:nvPr/>
        </p:nvSpPr>
        <p:spPr>
          <a:xfrm>
            <a:off x="5623560" y="3566160"/>
            <a:ext cx="2971800" cy="54864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στεῖρα</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barren — yet more fruitful</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Children of promise: four applications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4:28–31 · Outline III — The application</a:t>
            </a:r>
            <a:endParaRPr lang="en-US" sz="1200" dirty="0"/>
          </a:p>
        </p:txBody>
      </p:sp>
      <p:sp>
        <p:nvSpPr>
          <p:cNvPr id="5" name="Shape 2"/>
          <p:cNvSpPr/>
          <p:nvPr/>
        </p:nvSpPr>
        <p:spPr>
          <a:xfrm>
            <a:off x="457200" y="1143000"/>
            <a:ext cx="4018788" cy="1261872"/>
          </a:xfrm>
          <a:prstGeom prst="rect">
            <a:avLst/>
          </a:prstGeom>
          <a:solidFill>
            <a:srgbClr val="F2F6FC"/>
          </a:solidFill>
          <a:ln w="9525">
            <a:solidFill>
              <a:srgbClr val="D5DCEA"/>
            </a:solidFill>
            <a:prstDash val="solid"/>
          </a:ln>
        </p:spPr>
      </p:sp>
      <p:sp>
        <p:nvSpPr>
          <p:cNvPr id="6" name="Shape 3"/>
          <p:cNvSpPr/>
          <p:nvPr/>
        </p:nvSpPr>
        <p:spPr>
          <a:xfrm>
            <a:off x="585216" y="1271016"/>
            <a:ext cx="402336" cy="402336"/>
          </a:xfrm>
          <a:prstGeom prst="ellipse">
            <a:avLst/>
          </a:prstGeom>
          <a:solidFill>
            <a:srgbClr val="2E5496"/>
          </a:solidFill>
          <a:ln w="12700">
            <a:solidFill>
              <a:srgbClr val="2E5496"/>
            </a:solidFill>
            <a:prstDash val="solid"/>
          </a:ln>
        </p:spPr>
      </p:sp>
      <p:sp>
        <p:nvSpPr>
          <p:cNvPr id="7" name="Text 4"/>
          <p:cNvSpPr txBox="1"/>
          <p:nvPr/>
        </p:nvSpPr>
        <p:spPr>
          <a:xfrm>
            <a:off x="585216" y="127101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a:t>
            </a:r>
            <a:endParaRPr lang="en-US" sz="1200" dirty="0"/>
          </a:p>
        </p:txBody>
      </p:sp>
      <p:sp>
        <p:nvSpPr>
          <p:cNvPr id="8" name="Text 5"/>
          <p:cNvSpPr txBox="1"/>
          <p:nvPr/>
        </p:nvSpPr>
        <p:spPr>
          <a:xfrm>
            <a:off x="1078992" y="1252728"/>
            <a:ext cx="3305556"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Children of promise</a:t>
            </a:r>
            <a:endParaRPr lang="en-US" sz="1200" dirty="0"/>
          </a:p>
        </p:txBody>
      </p:sp>
      <p:sp>
        <p:nvSpPr>
          <p:cNvPr id="9" name="Text 6"/>
          <p:cNvSpPr txBox="1"/>
          <p:nvPr/>
        </p:nvSpPr>
        <p:spPr>
          <a:xfrm>
            <a:off x="585216" y="1764792"/>
            <a:ext cx="3762756" cy="548640"/>
          </a:xfrm>
          <a:prstGeom prst="rect">
            <a:avLst/>
          </a:prstGeom>
          <a:noFill/>
          <a:ln/>
        </p:spPr>
        <p:txBody>
          <a:bodyPr wrap="square" lIns="0" tIns="0" rIns="0" bIns="0" rtlCol="0" anchor="t"/>
          <a:lstStyle/>
          <a:p>
            <a:pPr indent="0" marL="0">
              <a:buNone/>
            </a:pPr>
            <a:r>
              <a:rPr lang="en-US" sz="1250" b="1" dirty="0">
                <a:solidFill>
                  <a:srgbClr val="7030A0"/>
                </a:solidFill>
                <a:latin typeface="Arial" pitchFamily="34" charset="0"/>
                <a:ea typeface="Arial" pitchFamily="34" charset="-122"/>
                <a:cs typeface="Arial" pitchFamily="34" charset="-120"/>
              </a:rPr>
              <a:t>v.28</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“Now we, brethren, as Isaac was, are children of promise”</a:t>
            </a:r>
            <a:endParaRPr lang="en-US" sz="1200" dirty="0"/>
          </a:p>
        </p:txBody>
      </p:sp>
      <p:sp>
        <p:nvSpPr>
          <p:cNvPr id="10" name="Shape 7"/>
          <p:cNvSpPr/>
          <p:nvPr/>
        </p:nvSpPr>
        <p:spPr>
          <a:xfrm>
            <a:off x="4668012" y="1143000"/>
            <a:ext cx="4018788" cy="1261872"/>
          </a:xfrm>
          <a:prstGeom prst="rect">
            <a:avLst/>
          </a:prstGeom>
          <a:solidFill>
            <a:srgbClr val="F2F6FC"/>
          </a:solidFill>
          <a:ln w="9525">
            <a:solidFill>
              <a:srgbClr val="D5DCEA"/>
            </a:solidFill>
            <a:prstDash val="solid"/>
          </a:ln>
        </p:spPr>
      </p:sp>
      <p:sp>
        <p:nvSpPr>
          <p:cNvPr id="11" name="Shape 8"/>
          <p:cNvSpPr/>
          <p:nvPr/>
        </p:nvSpPr>
        <p:spPr>
          <a:xfrm>
            <a:off x="4796028" y="1271016"/>
            <a:ext cx="402336" cy="402336"/>
          </a:xfrm>
          <a:prstGeom prst="ellipse">
            <a:avLst/>
          </a:prstGeom>
          <a:solidFill>
            <a:srgbClr val="6B7280"/>
          </a:solidFill>
          <a:ln w="12700">
            <a:solidFill>
              <a:srgbClr val="6B7280"/>
            </a:solidFill>
            <a:prstDash val="solid"/>
          </a:ln>
        </p:spPr>
      </p:sp>
      <p:sp>
        <p:nvSpPr>
          <p:cNvPr id="12" name="Text 9"/>
          <p:cNvSpPr txBox="1"/>
          <p:nvPr/>
        </p:nvSpPr>
        <p:spPr>
          <a:xfrm>
            <a:off x="4796028" y="127101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B</a:t>
            </a:r>
            <a:endParaRPr lang="en-US" sz="1200" dirty="0"/>
          </a:p>
        </p:txBody>
      </p:sp>
      <p:sp>
        <p:nvSpPr>
          <p:cNvPr id="13" name="Text 10"/>
          <p:cNvSpPr txBox="1"/>
          <p:nvPr/>
        </p:nvSpPr>
        <p:spPr>
          <a:xfrm>
            <a:off x="5289804" y="1252728"/>
            <a:ext cx="3305556"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Candidates for persecution</a:t>
            </a:r>
            <a:endParaRPr lang="en-US" sz="1200" dirty="0"/>
          </a:p>
        </p:txBody>
      </p:sp>
      <p:sp>
        <p:nvSpPr>
          <p:cNvPr id="14" name="Text 11"/>
          <p:cNvSpPr txBox="1"/>
          <p:nvPr/>
        </p:nvSpPr>
        <p:spPr>
          <a:xfrm>
            <a:off x="4796028" y="1764792"/>
            <a:ext cx="3762756" cy="548640"/>
          </a:xfrm>
          <a:prstGeom prst="rect">
            <a:avLst/>
          </a:prstGeom>
          <a:noFill/>
          <a:ln/>
        </p:spPr>
        <p:txBody>
          <a:bodyPr wrap="square" lIns="0" tIns="0" rIns="0" bIns="0" rtlCol="0" anchor="t"/>
          <a:lstStyle/>
          <a:p>
            <a:pPr indent="0" marL="0">
              <a:buNone/>
            </a:pPr>
            <a:r>
              <a:rPr lang="en-US" sz="1250" b="1" dirty="0">
                <a:solidFill>
                  <a:srgbClr val="7030A0"/>
                </a:solidFill>
                <a:latin typeface="Arial" pitchFamily="34" charset="0"/>
                <a:ea typeface="Arial" pitchFamily="34" charset="-122"/>
                <a:cs typeface="Arial" pitchFamily="34" charset="-120"/>
              </a:rPr>
              <a:t>ἐδίωκεν · v.29</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The child of the flesh kept persecuting the child of the Spirit</a:t>
            </a:r>
            <a:endParaRPr lang="en-US" sz="1200" dirty="0"/>
          </a:p>
        </p:txBody>
      </p:sp>
      <p:sp>
        <p:nvSpPr>
          <p:cNvPr id="15" name="Shape 12"/>
          <p:cNvSpPr/>
          <p:nvPr/>
        </p:nvSpPr>
        <p:spPr>
          <a:xfrm>
            <a:off x="457200" y="2569464"/>
            <a:ext cx="4018788" cy="1261872"/>
          </a:xfrm>
          <a:prstGeom prst="rect">
            <a:avLst/>
          </a:prstGeom>
          <a:solidFill>
            <a:srgbClr val="F2F6FC"/>
          </a:solidFill>
          <a:ln w="9525">
            <a:solidFill>
              <a:srgbClr val="D5DCEA"/>
            </a:solidFill>
            <a:prstDash val="solid"/>
          </a:ln>
        </p:spPr>
      </p:sp>
      <p:sp>
        <p:nvSpPr>
          <p:cNvPr id="16" name="Shape 13"/>
          <p:cNvSpPr/>
          <p:nvPr/>
        </p:nvSpPr>
        <p:spPr>
          <a:xfrm>
            <a:off x="585216" y="2697480"/>
            <a:ext cx="402336" cy="402336"/>
          </a:xfrm>
          <a:prstGeom prst="ellipse">
            <a:avLst/>
          </a:prstGeom>
          <a:solidFill>
            <a:srgbClr val="7030A0"/>
          </a:solidFill>
          <a:ln w="12700">
            <a:solidFill>
              <a:srgbClr val="7030A0"/>
            </a:solidFill>
            <a:prstDash val="solid"/>
          </a:ln>
        </p:spPr>
      </p:sp>
      <p:sp>
        <p:nvSpPr>
          <p:cNvPr id="17" name="Text 14"/>
          <p:cNvSpPr txBox="1"/>
          <p:nvPr/>
        </p:nvSpPr>
        <p:spPr>
          <a:xfrm>
            <a:off x="585216" y="2697480"/>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a:t>
            </a:r>
            <a:endParaRPr lang="en-US" sz="1200" dirty="0"/>
          </a:p>
        </p:txBody>
      </p:sp>
      <p:sp>
        <p:nvSpPr>
          <p:cNvPr id="18" name="Text 15"/>
          <p:cNvSpPr txBox="1"/>
          <p:nvPr/>
        </p:nvSpPr>
        <p:spPr>
          <a:xfrm>
            <a:off x="1078992" y="2679192"/>
            <a:ext cx="3305556"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No compromise</a:t>
            </a:r>
            <a:endParaRPr lang="en-US" sz="1200" dirty="0"/>
          </a:p>
        </p:txBody>
      </p:sp>
      <p:sp>
        <p:nvSpPr>
          <p:cNvPr id="19" name="Text 16"/>
          <p:cNvSpPr txBox="1"/>
          <p:nvPr/>
        </p:nvSpPr>
        <p:spPr>
          <a:xfrm>
            <a:off x="585216" y="3191256"/>
            <a:ext cx="3762756" cy="548640"/>
          </a:xfrm>
          <a:prstGeom prst="rect">
            <a:avLst/>
          </a:prstGeom>
          <a:noFill/>
          <a:ln/>
        </p:spPr>
        <p:txBody>
          <a:bodyPr wrap="square" lIns="0" tIns="0" rIns="0" bIns="0" rtlCol="0" anchor="t"/>
          <a:lstStyle/>
          <a:p>
            <a:pPr indent="0" marL="0">
              <a:buNone/>
            </a:pPr>
            <a:r>
              <a:rPr lang="en-US" sz="1250" b="1" dirty="0">
                <a:solidFill>
                  <a:srgbClr val="7030A0"/>
                </a:solidFill>
                <a:latin typeface="Arial" pitchFamily="34" charset="0"/>
                <a:ea typeface="Arial" pitchFamily="34" charset="-122"/>
                <a:cs typeface="Arial" pitchFamily="34" charset="-120"/>
              </a:rPr>
              <a:t>Ἔκβαλε · v.30</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“Cast out the bondwoman and her son” — they shall not be heirs together</a:t>
            </a:r>
            <a:endParaRPr lang="en-US" sz="1200" dirty="0"/>
          </a:p>
        </p:txBody>
      </p:sp>
      <p:sp>
        <p:nvSpPr>
          <p:cNvPr id="20" name="Shape 17"/>
          <p:cNvSpPr/>
          <p:nvPr/>
        </p:nvSpPr>
        <p:spPr>
          <a:xfrm>
            <a:off x="4668012" y="2569464"/>
            <a:ext cx="4018788" cy="1261872"/>
          </a:xfrm>
          <a:prstGeom prst="rect">
            <a:avLst/>
          </a:prstGeom>
          <a:solidFill>
            <a:srgbClr val="F2F6FC"/>
          </a:solidFill>
          <a:ln w="9525">
            <a:solidFill>
              <a:srgbClr val="D5DCEA"/>
            </a:solidFill>
            <a:prstDash val="solid"/>
          </a:ln>
        </p:spPr>
      </p:sp>
      <p:sp>
        <p:nvSpPr>
          <p:cNvPr id="21" name="Shape 18"/>
          <p:cNvSpPr/>
          <p:nvPr/>
        </p:nvSpPr>
        <p:spPr>
          <a:xfrm>
            <a:off x="4796028" y="2697480"/>
            <a:ext cx="402336" cy="402336"/>
          </a:xfrm>
          <a:prstGeom prst="ellipse">
            <a:avLst/>
          </a:prstGeom>
          <a:solidFill>
            <a:srgbClr val="375623"/>
          </a:solidFill>
          <a:ln w="12700">
            <a:solidFill>
              <a:srgbClr val="375623"/>
            </a:solidFill>
            <a:prstDash val="solid"/>
          </a:ln>
        </p:spPr>
      </p:sp>
      <p:sp>
        <p:nvSpPr>
          <p:cNvPr id="22" name="Text 19"/>
          <p:cNvSpPr txBox="1"/>
          <p:nvPr/>
        </p:nvSpPr>
        <p:spPr>
          <a:xfrm>
            <a:off x="4796028" y="2697480"/>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D</a:t>
            </a:r>
            <a:endParaRPr lang="en-US" sz="1200" dirty="0"/>
          </a:p>
        </p:txBody>
      </p:sp>
      <p:sp>
        <p:nvSpPr>
          <p:cNvPr id="23" name="Text 20"/>
          <p:cNvSpPr txBox="1"/>
          <p:nvPr/>
        </p:nvSpPr>
        <p:spPr>
          <a:xfrm>
            <a:off x="5289804" y="2679192"/>
            <a:ext cx="3305556"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Called to liberty</a:t>
            </a:r>
            <a:endParaRPr lang="en-US" sz="1200" dirty="0"/>
          </a:p>
        </p:txBody>
      </p:sp>
      <p:sp>
        <p:nvSpPr>
          <p:cNvPr id="24" name="Text 21"/>
          <p:cNvSpPr txBox="1"/>
          <p:nvPr/>
        </p:nvSpPr>
        <p:spPr>
          <a:xfrm>
            <a:off x="4796028" y="3191256"/>
            <a:ext cx="3762756" cy="548640"/>
          </a:xfrm>
          <a:prstGeom prst="rect">
            <a:avLst/>
          </a:prstGeom>
          <a:noFill/>
          <a:ln/>
        </p:spPr>
        <p:txBody>
          <a:bodyPr wrap="square" lIns="0" tIns="0" rIns="0" bIns="0" rtlCol="0" anchor="t"/>
          <a:lstStyle/>
          <a:p>
            <a:pPr indent="0" marL="0">
              <a:buNone/>
            </a:pPr>
            <a:r>
              <a:rPr lang="en-US" sz="1250" b="1" dirty="0">
                <a:solidFill>
                  <a:srgbClr val="7030A0"/>
                </a:solidFill>
                <a:latin typeface="Arial" pitchFamily="34" charset="0"/>
                <a:ea typeface="Arial" pitchFamily="34" charset="-122"/>
                <a:cs typeface="Arial" pitchFamily="34" charset="-120"/>
              </a:rPr>
              <a:t>v.31</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“We are not children of the bondwoman but of the free”</a:t>
            </a:r>
            <a:endParaRPr lang="en-US" sz="1200" dirty="0"/>
          </a:p>
        </p:txBody>
      </p:sp>
      <p:sp>
        <p:nvSpPr>
          <p:cNvPr id="25" name="Shape 22"/>
          <p:cNvSpPr/>
          <p:nvPr/>
        </p:nvSpPr>
        <p:spPr>
          <a:xfrm>
            <a:off x="457200" y="4069080"/>
            <a:ext cx="8229600" cy="548640"/>
          </a:xfrm>
          <a:prstGeom prst="roundRect">
            <a:avLst>
              <a:gd name="adj" fmla="val 10000"/>
            </a:avLst>
          </a:prstGeom>
          <a:solidFill>
            <a:srgbClr val="1F3864"/>
          </a:solidFill>
          <a:ln w="12700">
            <a:solidFill>
              <a:srgbClr val="1F3864"/>
            </a:solidFill>
            <a:prstDash val="solid"/>
          </a:ln>
        </p:spPr>
      </p:sp>
      <p:sp>
        <p:nvSpPr>
          <p:cNvPr id="26" name="Text 23"/>
          <p:cNvSpPr txBox="1"/>
          <p:nvPr/>
        </p:nvSpPr>
        <p:spPr>
          <a:xfrm>
            <a:off x="621792" y="4069080"/>
            <a:ext cx="7900416" cy="54864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Law: work six days, then rest — working for the blessing. Grace: rest first, then work — working from the blessing.</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Discuss and apply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4:21–31 · from the study's posted questions and applications</a:t>
            </a:r>
            <a:endParaRPr lang="en-US" sz="1200" dirty="0"/>
          </a:p>
        </p:txBody>
      </p:sp>
      <p:sp>
        <p:nvSpPr>
          <p:cNvPr id="5" name="Shape 2"/>
          <p:cNvSpPr/>
          <p:nvPr/>
        </p:nvSpPr>
        <p:spPr>
          <a:xfrm>
            <a:off x="457200" y="1115568"/>
            <a:ext cx="4023360" cy="384048"/>
          </a:xfrm>
          <a:prstGeom prst="rect">
            <a:avLst/>
          </a:prstGeom>
          <a:solidFill>
            <a:srgbClr val="2E5496"/>
          </a:solidFill>
          <a:ln w="12700">
            <a:solidFill>
              <a:srgbClr val="2E5496"/>
            </a:solidFill>
            <a:prstDash val="solid"/>
          </a:ln>
        </p:spPr>
      </p:sp>
      <p:sp>
        <p:nvSpPr>
          <p:cNvPr id="6" name="Text 3"/>
          <p:cNvSpPr txBox="1"/>
          <p:nvPr/>
        </p:nvSpPr>
        <p:spPr>
          <a:xfrm>
            <a:off x="56692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Discuss</a:t>
            </a:r>
            <a:endParaRPr lang="en-US" sz="1300" dirty="0"/>
          </a:p>
        </p:txBody>
      </p:sp>
      <p:sp>
        <p:nvSpPr>
          <p:cNvPr id="7" name="Shape 4"/>
          <p:cNvSpPr/>
          <p:nvPr/>
        </p:nvSpPr>
        <p:spPr>
          <a:xfrm>
            <a:off x="457200" y="1499616"/>
            <a:ext cx="4023360" cy="2359152"/>
          </a:xfrm>
          <a:prstGeom prst="rect">
            <a:avLst/>
          </a:prstGeom>
          <a:solidFill>
            <a:srgbClr val="F2F6FC"/>
          </a:solidFill>
          <a:ln w="9525">
            <a:solidFill>
              <a:srgbClr val="D5DCEA"/>
            </a:solidFill>
            <a:prstDash val="solid"/>
          </a:ln>
        </p:spPr>
      </p:sp>
      <p:sp>
        <p:nvSpPr>
          <p:cNvPr id="8" name="Shape 5"/>
          <p:cNvSpPr/>
          <p:nvPr/>
        </p:nvSpPr>
        <p:spPr>
          <a:xfrm>
            <a:off x="4663440" y="1115568"/>
            <a:ext cx="4023360" cy="384048"/>
          </a:xfrm>
          <a:prstGeom prst="rect">
            <a:avLst/>
          </a:prstGeom>
          <a:solidFill>
            <a:srgbClr val="375623"/>
          </a:solidFill>
          <a:ln w="12700">
            <a:solidFill>
              <a:srgbClr val="375623"/>
            </a:solidFill>
            <a:prstDash val="solid"/>
          </a:ln>
        </p:spPr>
      </p:sp>
      <p:sp>
        <p:nvSpPr>
          <p:cNvPr id="9" name="Text 6"/>
          <p:cNvSpPr txBox="1"/>
          <p:nvPr/>
        </p:nvSpPr>
        <p:spPr>
          <a:xfrm>
            <a:off x="477316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Apply</a:t>
            </a:r>
            <a:endParaRPr lang="en-US" sz="1300" dirty="0"/>
          </a:p>
        </p:txBody>
      </p:sp>
      <p:sp>
        <p:nvSpPr>
          <p:cNvPr id="10" name="Shape 7"/>
          <p:cNvSpPr/>
          <p:nvPr/>
        </p:nvSpPr>
        <p:spPr>
          <a:xfrm>
            <a:off x="4663440" y="1499616"/>
            <a:ext cx="4023360" cy="2359152"/>
          </a:xfrm>
          <a:prstGeom prst="rect">
            <a:avLst/>
          </a:prstGeom>
          <a:solidFill>
            <a:srgbClr val="F2F6FC"/>
          </a:solidFill>
          <a:ln w="9525">
            <a:solidFill>
              <a:srgbClr val="D5DCEA"/>
            </a:solidFill>
            <a:prstDash val="solid"/>
          </a:ln>
        </p:spPr>
      </p:sp>
      <p:sp>
        <p:nvSpPr>
          <p:cNvPr id="11" name="Shape 8"/>
          <p:cNvSpPr/>
          <p:nvPr/>
        </p:nvSpPr>
        <p:spPr>
          <a:xfrm>
            <a:off x="566928" y="1636776"/>
            <a:ext cx="347472" cy="347472"/>
          </a:xfrm>
          <a:prstGeom prst="ellipse">
            <a:avLst/>
          </a:prstGeom>
          <a:solidFill>
            <a:srgbClr val="2E5496"/>
          </a:solidFill>
          <a:ln w="12700">
            <a:solidFill>
              <a:srgbClr val="2E5496"/>
            </a:solidFill>
            <a:prstDash val="solid"/>
          </a:ln>
        </p:spPr>
      </p:sp>
      <p:sp>
        <p:nvSpPr>
          <p:cNvPr id="12" name="Text 9"/>
          <p:cNvSpPr txBox="1"/>
          <p:nvPr/>
        </p:nvSpPr>
        <p:spPr>
          <a:xfrm>
            <a:off x="566928" y="163677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3" name="Text 10"/>
          <p:cNvSpPr txBox="1"/>
          <p:nvPr/>
        </p:nvSpPr>
        <p:spPr>
          <a:xfrm>
            <a:off x="1005840" y="1591056"/>
            <a:ext cx="3364992" cy="1042416"/>
          </a:xfrm>
          <a:prstGeom prst="rect">
            <a:avLst/>
          </a:prstGeom>
          <a:noFill/>
          <a:ln/>
        </p:spPr>
        <p:txBody>
          <a:bodyPr wrap="square" lIns="0" tIns="0" rIns="0" bIns="0" rtlCol="0" anchor="t"/>
          <a:lstStyle/>
          <a:p>
            <a:pPr indent="0" marL="0">
              <a:buNone/>
            </a:pPr>
            <a:r>
              <a:rPr lang="en-US" sz="1350" dirty="0">
                <a:solidFill>
                  <a:srgbClr val="262626"/>
                </a:solidFill>
                <a:latin typeface="Arial" pitchFamily="34" charset="0"/>
                <a:ea typeface="Arial" pitchFamily="34" charset="-122"/>
                <a:cs typeface="Arial" pitchFamily="34" charset="-120"/>
              </a:rPr>
              <a:t>Paul says the Jerusalem above “is the mother of us all.” What does it mean practically to live as a citizen of that city?</a:t>
            </a:r>
            <a:endParaRPr lang="en-US" sz="1350" dirty="0"/>
          </a:p>
        </p:txBody>
      </p:sp>
      <p:sp>
        <p:nvSpPr>
          <p:cNvPr id="14" name="Shape 11"/>
          <p:cNvSpPr/>
          <p:nvPr/>
        </p:nvSpPr>
        <p:spPr>
          <a:xfrm>
            <a:off x="566928" y="2724912"/>
            <a:ext cx="347472" cy="347472"/>
          </a:xfrm>
          <a:prstGeom prst="ellipse">
            <a:avLst/>
          </a:prstGeom>
          <a:solidFill>
            <a:srgbClr val="2E5496"/>
          </a:solidFill>
          <a:ln w="12700">
            <a:solidFill>
              <a:srgbClr val="2E5496"/>
            </a:solidFill>
            <a:prstDash val="solid"/>
          </a:ln>
        </p:spPr>
      </p:sp>
      <p:sp>
        <p:nvSpPr>
          <p:cNvPr id="15" name="Text 12"/>
          <p:cNvSpPr txBox="1"/>
          <p:nvPr/>
        </p:nvSpPr>
        <p:spPr>
          <a:xfrm>
            <a:off x="566928" y="272491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6" name="Text 13"/>
          <p:cNvSpPr txBox="1"/>
          <p:nvPr/>
        </p:nvSpPr>
        <p:spPr>
          <a:xfrm>
            <a:off x="1005840" y="2679192"/>
            <a:ext cx="3364992" cy="1042416"/>
          </a:xfrm>
          <a:prstGeom prst="rect">
            <a:avLst/>
          </a:prstGeom>
          <a:noFill/>
          <a:ln/>
        </p:spPr>
        <p:txBody>
          <a:bodyPr wrap="square" lIns="0" tIns="0" rIns="0" bIns="0" rtlCol="0" anchor="t"/>
          <a:lstStyle/>
          <a:p>
            <a:pPr indent="0" marL="0">
              <a:buNone/>
            </a:pPr>
            <a:r>
              <a:rPr lang="en-US" sz="1350" dirty="0">
                <a:solidFill>
                  <a:srgbClr val="262626"/>
                </a:solidFill>
                <a:latin typeface="Arial" pitchFamily="34" charset="0"/>
                <a:ea typeface="Arial" pitchFamily="34" charset="-122"/>
                <a:cs typeface="Arial" pitchFamily="34" charset="-120"/>
              </a:rPr>
              <a:t>What would it look like concretely to “cast out” a legalistic rule you've let sit alongside your faith in Christ?</a:t>
            </a:r>
            <a:endParaRPr lang="en-US" sz="1350" dirty="0"/>
          </a:p>
        </p:txBody>
      </p:sp>
      <p:sp>
        <p:nvSpPr>
          <p:cNvPr id="17" name="Text 14"/>
          <p:cNvSpPr txBox="1"/>
          <p:nvPr/>
        </p:nvSpPr>
        <p:spPr>
          <a:xfrm>
            <a:off x="4791456" y="1591056"/>
            <a:ext cx="3767328" cy="1042416"/>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Know Which Column You're In</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Identify one requirement you've added, and set it back outside your standing with God — not a condition of it.</a:t>
            </a:r>
            <a:endParaRPr lang="en-US" sz="1200" dirty="0"/>
          </a:p>
        </p:txBody>
      </p:sp>
      <p:sp>
        <p:nvSpPr>
          <p:cNvPr id="18" name="Text 15"/>
          <p:cNvSpPr txBox="1"/>
          <p:nvPr/>
        </p:nvSpPr>
        <p:spPr>
          <a:xfrm>
            <a:off x="4791456" y="2679192"/>
            <a:ext cx="3767328" cy="1042416"/>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Work From the Blessing, Not For It</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Do one act of service this week from rest and gratitude rather than obligation to earn favor.</a:t>
            </a:r>
            <a:endParaRPr lang="en-US" sz="1200" dirty="0"/>
          </a:p>
        </p:txBody>
      </p:sp>
      <p:sp>
        <p:nvSpPr>
          <p:cNvPr id="19" name="Shape 16"/>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0" name="Text 17"/>
          <p:cNvSpPr txBox="1"/>
          <p:nvPr/>
        </p:nvSpPr>
        <p:spPr>
          <a:xfrm>
            <a:off x="621792" y="4023360"/>
            <a:ext cx="7900416" cy="566928"/>
          </a:xfrm>
          <a:prstGeom prst="rect">
            <a:avLst/>
          </a:prstGeom>
          <a:noFill/>
          <a:ln/>
        </p:spPr>
        <p:txBody>
          <a:bodyPr wrap="square" lIns="0" tIns="0" rIns="0" bIns="0" rtlCol="0" anchor="ctr"/>
          <a:lstStyle/>
          <a:p>
            <a:pPr indent="0" marL="0">
              <a:buNone/>
            </a:pPr>
            <a:r>
              <a:rPr lang="en-US" sz="1250" b="1" dirty="0">
                <a:solidFill>
                  <a:srgbClr val="C9D5EE"/>
                </a:solidFill>
                <a:latin typeface="Arial" pitchFamily="34" charset="0"/>
                <a:ea typeface="Arial" pitchFamily="34" charset="-122"/>
                <a:cs typeface="Arial" pitchFamily="34" charset="-120"/>
              </a:rPr>
              <a:t>In one line:  </a:t>
            </a:r>
            <a:pPr indent="0" marL="0">
              <a:buNone/>
            </a:pPr>
            <a:r>
              <a:rPr lang="en-US" sz="1250" dirty="0">
                <a:solidFill>
                  <a:srgbClr val="FFFFFF"/>
                </a:solidFill>
                <a:latin typeface="Arial" pitchFamily="34" charset="0"/>
                <a:ea typeface="Arial" pitchFamily="34" charset="-122"/>
                <a:cs typeface="Arial" pitchFamily="34" charset="-120"/>
              </a:rPr>
              <a:t>Two sons, two covenants — and only one column a believer can stand in.</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lstStyle/>
          <a:p>
            <a:pPr indent="0" marL="0">
              <a:buNone/>
            </a:pPr>
            <a:r>
              <a:rPr lang="en-US" sz="1400" dirty="0">
                <a:solidFill>
                  <a:srgbClr val="C9D5EE"/>
                </a:solidFill>
                <a:latin typeface="Arial" pitchFamily="34" charset="0"/>
                <a:ea typeface="Arial" pitchFamily="34" charset="-122"/>
                <a:cs typeface="Arial" pitchFamily="34" charset="-120"/>
              </a:rPr>
              <a:t>Study 12 of 16 · Galatians 5:1–12</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Taking a Stand in Liberty</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t"/>
          <a:lstStyle/>
          <a:p>
            <a:pPr indent="0" marL="0">
              <a:buNone/>
            </a:pPr>
            <a:r>
              <a:rPr lang="en-US" sz="1500" i="1" dirty="0">
                <a:solidFill>
                  <a:srgbClr val="E6ECF7"/>
                </a:solidFill>
                <a:latin typeface="Arial" pitchFamily="34" charset="0"/>
                <a:ea typeface="Arial" pitchFamily="34" charset="-122"/>
                <a:cs typeface="Arial" pitchFamily="34" charset="-120"/>
              </a:rPr>
              <a:t>Christ has set believers permanently and completely free from the Law; to add anything to that finished grace forfeits its profit, courts renewed bondage, and demeans the cross that purchased the freedom.</a:t>
            </a:r>
            <a:endParaRPr lang="en-US" sz="15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Stand fast — and don't be entangled again</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5:1 · Outline I — The request</a:t>
            </a:r>
            <a:endParaRPr lang="en-US" sz="1200" dirty="0"/>
          </a:p>
        </p:txBody>
      </p:sp>
      <p:sp>
        <p:nvSpPr>
          <p:cNvPr id="5" name="Shape 2"/>
          <p:cNvSpPr/>
          <p:nvPr/>
        </p:nvSpPr>
        <p:spPr>
          <a:xfrm>
            <a:off x="457200" y="1143000"/>
            <a:ext cx="4023360" cy="566928"/>
          </a:xfrm>
          <a:prstGeom prst="rect">
            <a:avLst/>
          </a:prstGeom>
          <a:solidFill>
            <a:srgbClr val="375623"/>
          </a:solidFill>
          <a:ln w="12700">
            <a:solidFill>
              <a:srgbClr val="375623"/>
            </a:solidFill>
            <a:prstDash val="solid"/>
          </a:ln>
        </p:spPr>
      </p:sp>
      <p:sp>
        <p:nvSpPr>
          <p:cNvPr id="6" name="Text 3"/>
          <p:cNvSpPr txBox="1"/>
          <p:nvPr/>
        </p:nvSpPr>
        <p:spPr>
          <a:xfrm>
            <a:off x="548640" y="1188720"/>
            <a:ext cx="3840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 positive command — 5:1a</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στήκετε</a:t>
            </a:r>
            <a:pPr indent="0" marL="0">
              <a:buNone/>
            </a:pPr>
            <a:r>
              <a:rPr lang="en-US" sz="850" dirty="0">
                <a:solidFill>
                  <a:srgbClr val="DCE4F2"/>
                </a:solidFill>
                <a:latin typeface="Arial" pitchFamily="34" charset="0"/>
                <a:ea typeface="Arial" pitchFamily="34" charset="-122"/>
                <a:cs typeface="Arial" pitchFamily="34" charset="-120"/>
              </a:rPr>
              <a:t>  Pres. Act. Impv. — keep standing</a:t>
            </a:r>
            <a:endParaRPr lang="en-US" sz="1200" dirty="0"/>
          </a:p>
        </p:txBody>
      </p:sp>
      <p:sp>
        <p:nvSpPr>
          <p:cNvPr id="7" name="Shape 4"/>
          <p:cNvSpPr/>
          <p:nvPr/>
        </p:nvSpPr>
        <p:spPr>
          <a:xfrm>
            <a:off x="457200" y="1709928"/>
            <a:ext cx="4023360" cy="2039112"/>
          </a:xfrm>
          <a:prstGeom prst="rect">
            <a:avLst/>
          </a:prstGeom>
          <a:solidFill>
            <a:srgbClr val="F2F6FC"/>
          </a:solidFill>
          <a:ln w="9525">
            <a:solidFill>
              <a:srgbClr val="D5DCEA"/>
            </a:solidFill>
            <a:prstDash val="solid"/>
          </a:ln>
        </p:spPr>
      </p:sp>
      <p:sp>
        <p:nvSpPr>
          <p:cNvPr id="8" name="Text 5"/>
          <p:cNvSpPr txBox="1"/>
          <p:nvPr/>
        </p:nvSpPr>
        <p:spPr>
          <a:xfrm>
            <a:off x="548640" y="1783080"/>
            <a:ext cx="3840480" cy="1911096"/>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“Stand fast therefore in the liberty by which Christ has made us free”</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Freedom already given (ἐλευθερία)</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Standing in it is a continuing choice</a:t>
            </a:r>
            <a:endParaRPr lang="en-US" sz="1300" dirty="0"/>
          </a:p>
        </p:txBody>
      </p:sp>
      <p:sp>
        <p:nvSpPr>
          <p:cNvPr id="9" name="Shape 6"/>
          <p:cNvSpPr/>
          <p:nvPr/>
        </p:nvSpPr>
        <p:spPr>
          <a:xfrm>
            <a:off x="4663440" y="1143000"/>
            <a:ext cx="4023360" cy="566928"/>
          </a:xfrm>
          <a:prstGeom prst="rect">
            <a:avLst/>
          </a:prstGeom>
          <a:solidFill>
            <a:srgbClr val="6B7280"/>
          </a:solidFill>
          <a:ln w="12700">
            <a:solidFill>
              <a:srgbClr val="6B7280"/>
            </a:solidFill>
            <a:prstDash val="solid"/>
          </a:ln>
        </p:spPr>
      </p:sp>
      <p:sp>
        <p:nvSpPr>
          <p:cNvPr id="10" name="Text 7"/>
          <p:cNvSpPr txBox="1"/>
          <p:nvPr/>
        </p:nvSpPr>
        <p:spPr>
          <a:xfrm>
            <a:off x="4754880" y="1188720"/>
            <a:ext cx="3840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 negative command — 5:1b</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ζυγῷ δουλείας</a:t>
            </a:r>
            <a:pPr indent="0" marL="0">
              <a:buNone/>
            </a:pPr>
            <a:r>
              <a:rPr lang="en-US" sz="850" dirty="0">
                <a:solidFill>
                  <a:srgbClr val="DCE4F2"/>
                </a:solidFill>
                <a:latin typeface="Arial" pitchFamily="34" charset="0"/>
                <a:ea typeface="Arial" pitchFamily="34" charset="-122"/>
                <a:cs typeface="Arial" pitchFamily="34" charset="-120"/>
              </a:rPr>
              <a:t>  yoke of bondage</a:t>
            </a:r>
            <a:endParaRPr lang="en-US" sz="1200" dirty="0"/>
          </a:p>
        </p:txBody>
      </p:sp>
      <p:sp>
        <p:nvSpPr>
          <p:cNvPr id="11" name="Shape 8"/>
          <p:cNvSpPr/>
          <p:nvPr/>
        </p:nvSpPr>
        <p:spPr>
          <a:xfrm>
            <a:off x="4663440" y="1709928"/>
            <a:ext cx="4023360" cy="2039112"/>
          </a:xfrm>
          <a:prstGeom prst="rect">
            <a:avLst/>
          </a:prstGeom>
          <a:solidFill>
            <a:srgbClr val="F2F6FC"/>
          </a:solidFill>
          <a:ln w="9525">
            <a:solidFill>
              <a:srgbClr val="D5DCEA"/>
            </a:solidFill>
            <a:prstDash val="solid"/>
          </a:ln>
        </p:spPr>
      </p:sp>
      <p:sp>
        <p:nvSpPr>
          <p:cNvPr id="12" name="Text 9"/>
          <p:cNvSpPr txBox="1"/>
          <p:nvPr/>
        </p:nvSpPr>
        <p:spPr>
          <a:xfrm>
            <a:off x="4754880" y="1783080"/>
            <a:ext cx="3840480" cy="1911096"/>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“Do not be entangled again”</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Gentiles: the yoke of pagan religion</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Jews: law-keeping to be accepted — now offered again</a:t>
            </a:r>
            <a:endParaRPr lang="en-US" sz="1300" dirty="0"/>
          </a:p>
        </p:txBody>
      </p:sp>
      <p:sp>
        <p:nvSpPr>
          <p:cNvPr id="13" name="Shape 10"/>
          <p:cNvSpPr/>
          <p:nvPr/>
        </p:nvSpPr>
        <p:spPr>
          <a:xfrm>
            <a:off x="457200" y="3977640"/>
            <a:ext cx="8229600" cy="502920"/>
          </a:xfrm>
          <a:prstGeom prst="roundRect">
            <a:avLst>
              <a:gd name="adj" fmla="val 10909"/>
            </a:avLst>
          </a:prstGeom>
          <a:solidFill>
            <a:srgbClr val="1F3864"/>
          </a:solidFill>
          <a:ln w="12700">
            <a:solidFill>
              <a:srgbClr val="1F3864"/>
            </a:solidFill>
            <a:prstDash val="solid"/>
          </a:ln>
        </p:spPr>
      </p:sp>
      <p:sp>
        <p:nvSpPr>
          <p:cNvPr id="14" name="Text 11"/>
          <p:cNvSpPr txBox="1"/>
          <p:nvPr/>
        </p:nvSpPr>
        <p:spPr>
          <a:xfrm>
            <a:off x="621792" y="3977640"/>
            <a:ext cx="7900416" cy="50292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Freedom is a settled fact. Standing in it is an ongoing decision — it isn't automatic.</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Three results of submitting to the law</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5:2–4 · Outline II — The results</a:t>
            </a:r>
            <a:endParaRPr lang="en-US" sz="1200" dirty="0"/>
          </a:p>
        </p:txBody>
      </p:sp>
      <p:sp>
        <p:nvSpPr>
          <p:cNvPr id="5" name="Shape 2"/>
          <p:cNvSpPr/>
          <p:nvPr/>
        </p:nvSpPr>
        <p:spPr>
          <a:xfrm>
            <a:off x="457200" y="1170432"/>
            <a:ext cx="8229600" cy="841248"/>
          </a:xfrm>
          <a:prstGeom prst="rect">
            <a:avLst/>
          </a:prstGeom>
          <a:solidFill>
            <a:srgbClr val="F2F6FC"/>
          </a:solidFill>
          <a:ln w="9525">
            <a:solidFill>
              <a:srgbClr val="D5DCEA"/>
            </a:solidFill>
            <a:prstDash val="solid"/>
          </a:ln>
        </p:spPr>
      </p:sp>
      <p:sp>
        <p:nvSpPr>
          <p:cNvPr id="6" name="Shape 3"/>
          <p:cNvSpPr/>
          <p:nvPr/>
        </p:nvSpPr>
        <p:spPr>
          <a:xfrm>
            <a:off x="585216" y="1362456"/>
            <a:ext cx="457200" cy="457200"/>
          </a:xfrm>
          <a:prstGeom prst="ellipse">
            <a:avLst/>
          </a:prstGeom>
          <a:solidFill>
            <a:srgbClr val="2E5496"/>
          </a:solidFill>
          <a:ln w="12700">
            <a:solidFill>
              <a:srgbClr val="2E5496"/>
            </a:solidFill>
            <a:prstDash val="solid"/>
          </a:ln>
        </p:spPr>
      </p:sp>
      <p:sp>
        <p:nvSpPr>
          <p:cNvPr id="7" name="Text 4"/>
          <p:cNvSpPr txBox="1"/>
          <p:nvPr/>
        </p:nvSpPr>
        <p:spPr>
          <a:xfrm>
            <a:off x="585216" y="136245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txBox="1"/>
          <p:nvPr/>
        </p:nvSpPr>
        <p:spPr>
          <a:xfrm>
            <a:off x="1207008" y="1170432"/>
            <a:ext cx="5468112" cy="841248"/>
          </a:xfrm>
          <a:prstGeom prst="rect">
            <a:avLst/>
          </a:prstGeom>
          <a:noFill/>
          <a:ln/>
        </p:spPr>
        <p:txBody>
          <a:bodyPr wrap="square" lIns="0" tIns="0" rIns="0" bIns="0" rtlCol="0" anchor="ctr"/>
          <a:lstStyle/>
          <a:p>
            <a:pPr indent="0" marL="0">
              <a:buNone/>
            </a:pPr>
            <a:r>
              <a:rPr lang="en-US" sz="1250" b="1" dirty="0">
                <a:solidFill>
                  <a:srgbClr val="1F3864"/>
                </a:solidFill>
                <a:latin typeface="Arial" pitchFamily="34" charset="0"/>
                <a:ea typeface="Arial" pitchFamily="34" charset="-122"/>
                <a:cs typeface="Arial" pitchFamily="34" charset="-120"/>
              </a:rPr>
              <a:t>Denied the power of Christ — v.2</a:t>
            </a:r>
            <a:endParaRPr lang="en-US" sz="1200" dirty="0"/>
          </a:p>
          <a:p>
            <a:pPr indent="0" marL="0">
              <a:buNone/>
            </a:pPr>
            <a:r>
              <a:rPr lang="en-US" sz="1200" dirty="0">
                <a:solidFill>
                  <a:srgbClr val="262626"/>
                </a:solidFill>
                <a:latin typeface="Arial" pitchFamily="34" charset="0"/>
                <a:ea typeface="Arial" pitchFamily="34" charset="-122"/>
                <a:cs typeface="Arial" pitchFamily="34" charset="-120"/>
              </a:rPr>
              <a:t>“If you become circumcised, Christ will profit you nothing”</a:t>
            </a:r>
            <a:endParaRPr lang="en-US" sz="1200" dirty="0"/>
          </a:p>
        </p:txBody>
      </p:sp>
      <p:sp>
        <p:nvSpPr>
          <p:cNvPr id="9" name="Text 6"/>
          <p:cNvSpPr txBox="1"/>
          <p:nvPr/>
        </p:nvSpPr>
        <p:spPr>
          <a:xfrm>
            <a:off x="6675120" y="1170432"/>
            <a:ext cx="1901952" cy="84124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περιτέμνησθε</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subjunctive — not yet final</a:t>
            </a:r>
            <a:endParaRPr lang="en-US" sz="1200" dirty="0"/>
          </a:p>
        </p:txBody>
      </p:sp>
      <p:sp>
        <p:nvSpPr>
          <p:cNvPr id="10" name="Shape 7"/>
          <p:cNvSpPr/>
          <p:nvPr/>
        </p:nvSpPr>
        <p:spPr>
          <a:xfrm>
            <a:off x="457200" y="2121408"/>
            <a:ext cx="8229600" cy="841248"/>
          </a:xfrm>
          <a:prstGeom prst="rect">
            <a:avLst/>
          </a:prstGeom>
          <a:solidFill>
            <a:srgbClr val="FFFFFF"/>
          </a:solidFill>
          <a:ln w="9525">
            <a:solidFill>
              <a:srgbClr val="D5DCEA"/>
            </a:solidFill>
            <a:prstDash val="solid"/>
          </a:ln>
        </p:spPr>
      </p:sp>
      <p:sp>
        <p:nvSpPr>
          <p:cNvPr id="11" name="Shape 8"/>
          <p:cNvSpPr/>
          <p:nvPr/>
        </p:nvSpPr>
        <p:spPr>
          <a:xfrm>
            <a:off x="585216" y="2313432"/>
            <a:ext cx="457200" cy="457200"/>
          </a:xfrm>
          <a:prstGeom prst="ellipse">
            <a:avLst/>
          </a:prstGeom>
          <a:solidFill>
            <a:srgbClr val="2E5496"/>
          </a:solidFill>
          <a:ln w="12700">
            <a:solidFill>
              <a:srgbClr val="2E5496"/>
            </a:solidFill>
            <a:prstDash val="solid"/>
          </a:ln>
        </p:spPr>
      </p:sp>
      <p:sp>
        <p:nvSpPr>
          <p:cNvPr id="12" name="Text 9"/>
          <p:cNvSpPr txBox="1"/>
          <p:nvPr/>
        </p:nvSpPr>
        <p:spPr>
          <a:xfrm>
            <a:off x="585216" y="23134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3" name="Text 10"/>
          <p:cNvSpPr txBox="1"/>
          <p:nvPr/>
        </p:nvSpPr>
        <p:spPr>
          <a:xfrm>
            <a:off x="1207008" y="2121408"/>
            <a:ext cx="5468112" cy="841248"/>
          </a:xfrm>
          <a:prstGeom prst="rect">
            <a:avLst/>
          </a:prstGeom>
          <a:noFill/>
          <a:ln/>
        </p:spPr>
        <p:txBody>
          <a:bodyPr wrap="square" lIns="0" tIns="0" rIns="0" bIns="0" rtlCol="0" anchor="ctr"/>
          <a:lstStyle/>
          <a:p>
            <a:pPr indent="0" marL="0">
              <a:buNone/>
            </a:pPr>
            <a:r>
              <a:rPr lang="en-US" sz="1250" b="1" dirty="0">
                <a:solidFill>
                  <a:srgbClr val="1F3864"/>
                </a:solidFill>
                <a:latin typeface="Arial" pitchFamily="34" charset="0"/>
                <a:ea typeface="Arial" pitchFamily="34" charset="-122"/>
                <a:cs typeface="Arial" pitchFamily="34" charset="-120"/>
              </a:rPr>
              <a:t>Indebted to keep the whole law — v.3</a:t>
            </a:r>
            <a:endParaRPr lang="en-US" sz="1200" dirty="0"/>
          </a:p>
          <a:p>
            <a:pPr indent="0" marL="0">
              <a:buNone/>
            </a:pPr>
            <a:r>
              <a:rPr lang="en-US" sz="1200" dirty="0">
                <a:solidFill>
                  <a:srgbClr val="262626"/>
                </a:solidFill>
                <a:latin typeface="Arial" pitchFamily="34" charset="0"/>
                <a:ea typeface="Arial" pitchFamily="34" charset="-122"/>
                <a:cs typeface="Arial" pitchFamily="34" charset="-120"/>
              </a:rPr>
              <a:t>All or nothing — no picking and choosing (cf. James 2:10)</a:t>
            </a:r>
            <a:endParaRPr lang="en-US" sz="1200" dirty="0"/>
          </a:p>
        </p:txBody>
      </p:sp>
      <p:sp>
        <p:nvSpPr>
          <p:cNvPr id="14" name="Text 11"/>
          <p:cNvSpPr txBox="1"/>
          <p:nvPr/>
        </p:nvSpPr>
        <p:spPr>
          <a:xfrm>
            <a:off x="6675120" y="2121408"/>
            <a:ext cx="1901952" cy="84124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ὀφειλέτης</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a debtor</a:t>
            </a:r>
            <a:endParaRPr lang="en-US" sz="1200" dirty="0"/>
          </a:p>
        </p:txBody>
      </p:sp>
      <p:sp>
        <p:nvSpPr>
          <p:cNvPr id="15" name="Shape 12"/>
          <p:cNvSpPr/>
          <p:nvPr/>
        </p:nvSpPr>
        <p:spPr>
          <a:xfrm>
            <a:off x="457200" y="3072384"/>
            <a:ext cx="8229600" cy="841248"/>
          </a:xfrm>
          <a:prstGeom prst="rect">
            <a:avLst/>
          </a:prstGeom>
          <a:solidFill>
            <a:srgbClr val="F2F6FC"/>
          </a:solidFill>
          <a:ln w="9525">
            <a:solidFill>
              <a:srgbClr val="D5DCEA"/>
            </a:solidFill>
            <a:prstDash val="solid"/>
          </a:ln>
        </p:spPr>
      </p:sp>
      <p:sp>
        <p:nvSpPr>
          <p:cNvPr id="16" name="Shape 13"/>
          <p:cNvSpPr/>
          <p:nvPr/>
        </p:nvSpPr>
        <p:spPr>
          <a:xfrm>
            <a:off x="585216" y="3264408"/>
            <a:ext cx="457200" cy="457200"/>
          </a:xfrm>
          <a:prstGeom prst="ellipse">
            <a:avLst/>
          </a:prstGeom>
          <a:solidFill>
            <a:srgbClr val="7030A0"/>
          </a:solidFill>
          <a:ln w="12700">
            <a:solidFill>
              <a:srgbClr val="7030A0"/>
            </a:solidFill>
            <a:prstDash val="solid"/>
          </a:ln>
        </p:spPr>
      </p:sp>
      <p:sp>
        <p:nvSpPr>
          <p:cNvPr id="17" name="Text 14"/>
          <p:cNvSpPr txBox="1"/>
          <p:nvPr/>
        </p:nvSpPr>
        <p:spPr>
          <a:xfrm>
            <a:off x="585216" y="32644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t>
            </a:r>
            <a:endParaRPr lang="en-US" sz="1300" dirty="0"/>
          </a:p>
        </p:txBody>
      </p:sp>
      <p:sp>
        <p:nvSpPr>
          <p:cNvPr id="18" name="Text 15"/>
          <p:cNvSpPr txBox="1"/>
          <p:nvPr/>
        </p:nvSpPr>
        <p:spPr>
          <a:xfrm>
            <a:off x="1207008" y="3072384"/>
            <a:ext cx="5468112" cy="841248"/>
          </a:xfrm>
          <a:prstGeom prst="rect">
            <a:avLst/>
          </a:prstGeom>
          <a:noFill/>
          <a:ln/>
        </p:spPr>
        <p:txBody>
          <a:bodyPr wrap="square" lIns="0" tIns="0" rIns="0" bIns="0" rtlCol="0" anchor="ctr"/>
          <a:lstStyle/>
          <a:p>
            <a:pPr indent="0" marL="0">
              <a:buNone/>
            </a:pPr>
            <a:r>
              <a:rPr lang="en-US" sz="1250" b="1" dirty="0">
                <a:solidFill>
                  <a:srgbClr val="1F3864"/>
                </a:solidFill>
                <a:latin typeface="Arial" pitchFamily="34" charset="0"/>
                <a:ea typeface="Arial" pitchFamily="34" charset="-122"/>
                <a:cs typeface="Arial" pitchFamily="34" charset="-120"/>
              </a:rPr>
              <a:t>Detached from the grace of God — v.4</a:t>
            </a:r>
            <a:endParaRPr lang="en-US" sz="1200" dirty="0"/>
          </a:p>
          <a:p>
            <a:pPr indent="0" marL="0">
              <a:buNone/>
            </a:pPr>
            <a:r>
              <a:rPr lang="en-US" sz="1200" dirty="0">
                <a:solidFill>
                  <a:srgbClr val="262626"/>
                </a:solidFill>
                <a:latin typeface="Arial" pitchFamily="34" charset="0"/>
                <a:ea typeface="Arial" pitchFamily="34" charset="-122"/>
                <a:cs typeface="Arial" pitchFamily="34" charset="-120"/>
              </a:rPr>
              <a:t>Estranged in fellowship, off course from grace — not loss of salvation</a:t>
            </a:r>
            <a:endParaRPr lang="en-US" sz="1200" dirty="0"/>
          </a:p>
        </p:txBody>
      </p:sp>
      <p:sp>
        <p:nvSpPr>
          <p:cNvPr id="19" name="Text 16"/>
          <p:cNvSpPr txBox="1"/>
          <p:nvPr/>
        </p:nvSpPr>
        <p:spPr>
          <a:xfrm>
            <a:off x="6675120" y="3072384"/>
            <a:ext cx="1901952" cy="84124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ἐξεπέσατε</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a ship driven off course</a:t>
            </a:r>
            <a:endParaRPr lang="en-US" sz="1200" dirty="0"/>
          </a:p>
        </p:txBody>
      </p:sp>
      <p:sp>
        <p:nvSpPr>
          <p:cNvPr id="20" name="Shape 17"/>
          <p:cNvSpPr/>
          <p:nvPr/>
        </p:nvSpPr>
        <p:spPr>
          <a:xfrm>
            <a:off x="457200" y="4069080"/>
            <a:ext cx="8229600" cy="502920"/>
          </a:xfrm>
          <a:prstGeom prst="roundRect">
            <a:avLst>
              <a:gd name="adj" fmla="val 10909"/>
            </a:avLst>
          </a:prstGeom>
          <a:solidFill>
            <a:srgbClr val="1F3864"/>
          </a:solidFill>
          <a:ln w="12700">
            <a:solidFill>
              <a:srgbClr val="1F3864"/>
            </a:solidFill>
            <a:prstDash val="solid"/>
          </a:ln>
        </p:spPr>
      </p:sp>
      <p:sp>
        <p:nvSpPr>
          <p:cNvPr id="21" name="Text 18"/>
          <p:cNvSpPr txBox="1"/>
          <p:nvPr/>
        </p:nvSpPr>
        <p:spPr>
          <a:xfrm>
            <a:off x="621792" y="4069080"/>
            <a:ext cx="7900416" cy="50292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“Fallen from grace” — their relationship with God was not affected; their walk was.</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The Spirit-filled alternative</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5:5–6 · Outline III — The reality of the Spirit-filled life</a:t>
            </a:r>
            <a:endParaRPr lang="en-US" sz="1200" dirty="0"/>
          </a:p>
        </p:txBody>
      </p:sp>
      <p:sp>
        <p:nvSpPr>
          <p:cNvPr id="5" name="Shape 2"/>
          <p:cNvSpPr/>
          <p:nvPr/>
        </p:nvSpPr>
        <p:spPr>
          <a:xfrm>
            <a:off x="457200" y="1143000"/>
            <a:ext cx="4023360" cy="566928"/>
          </a:xfrm>
          <a:prstGeom prst="rect">
            <a:avLst/>
          </a:prstGeom>
          <a:solidFill>
            <a:srgbClr val="2E5496"/>
          </a:solidFill>
          <a:ln w="12700">
            <a:solidFill>
              <a:srgbClr val="2E5496"/>
            </a:solidFill>
            <a:prstDash val="solid"/>
          </a:ln>
        </p:spPr>
      </p:sp>
      <p:sp>
        <p:nvSpPr>
          <p:cNvPr id="6" name="Text 3"/>
          <p:cNvSpPr txBox="1"/>
          <p:nvPr/>
        </p:nvSpPr>
        <p:spPr>
          <a:xfrm>
            <a:off x="548640" y="1188720"/>
            <a:ext cx="3840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We patiently hope — v.5</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ἀπεκδεχόμεθα</a:t>
            </a:r>
            <a:pPr indent="0" marL="0">
              <a:buNone/>
            </a:pPr>
            <a:r>
              <a:rPr lang="en-US" sz="850" dirty="0">
                <a:solidFill>
                  <a:srgbClr val="DCE4F2"/>
                </a:solidFill>
                <a:latin typeface="Arial" pitchFamily="34" charset="0"/>
                <a:ea typeface="Arial" pitchFamily="34" charset="-122"/>
                <a:cs typeface="Arial" pitchFamily="34" charset="-120"/>
              </a:rPr>
              <a:t>  eagerly, fully wait</a:t>
            </a:r>
            <a:endParaRPr lang="en-US" sz="1200" dirty="0"/>
          </a:p>
        </p:txBody>
      </p:sp>
      <p:sp>
        <p:nvSpPr>
          <p:cNvPr id="7" name="Shape 4"/>
          <p:cNvSpPr/>
          <p:nvPr/>
        </p:nvSpPr>
        <p:spPr>
          <a:xfrm>
            <a:off x="457200" y="1709928"/>
            <a:ext cx="4023360" cy="2084832"/>
          </a:xfrm>
          <a:prstGeom prst="rect">
            <a:avLst/>
          </a:prstGeom>
          <a:solidFill>
            <a:srgbClr val="F2F6FC"/>
          </a:solidFill>
          <a:ln w="9525">
            <a:solidFill>
              <a:srgbClr val="D5DCEA"/>
            </a:solidFill>
            <a:prstDash val="solid"/>
          </a:ln>
        </p:spPr>
      </p:sp>
      <p:sp>
        <p:nvSpPr>
          <p:cNvPr id="8" name="Text 5"/>
          <p:cNvSpPr txBox="1"/>
          <p:nvPr/>
        </p:nvSpPr>
        <p:spPr>
          <a:xfrm>
            <a:off x="548640" y="1783080"/>
            <a:ext cx="3840480" cy="1956816"/>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“Through the Spirit” — not the law's fast way</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Forward-leaning, patient expectancy</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“the hope of righteousness by faith”</a:t>
            </a:r>
            <a:endParaRPr lang="en-US" sz="1300" dirty="0"/>
          </a:p>
        </p:txBody>
      </p:sp>
      <p:sp>
        <p:nvSpPr>
          <p:cNvPr id="9" name="Shape 6"/>
          <p:cNvSpPr/>
          <p:nvPr/>
        </p:nvSpPr>
        <p:spPr>
          <a:xfrm>
            <a:off x="4663440" y="1143000"/>
            <a:ext cx="4023360" cy="566928"/>
          </a:xfrm>
          <a:prstGeom prst="rect">
            <a:avLst/>
          </a:prstGeom>
          <a:solidFill>
            <a:srgbClr val="375623"/>
          </a:solidFill>
          <a:ln w="12700">
            <a:solidFill>
              <a:srgbClr val="375623"/>
            </a:solidFill>
            <a:prstDash val="solid"/>
          </a:ln>
        </p:spPr>
      </p:sp>
      <p:sp>
        <p:nvSpPr>
          <p:cNvPr id="10" name="Text 7"/>
          <p:cNvSpPr txBox="1"/>
          <p:nvPr/>
        </p:nvSpPr>
        <p:spPr>
          <a:xfrm>
            <a:off x="4754880" y="1188720"/>
            <a:ext cx="3840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We passionately love — v.6</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ἐνεργουμένη δι' ἀγάπης</a:t>
            </a:r>
            <a:pPr indent="0" marL="0">
              <a:buNone/>
            </a:pPr>
            <a:r>
              <a:rPr lang="en-US" sz="850" dirty="0">
                <a:solidFill>
                  <a:srgbClr val="DCE4F2"/>
                </a:solidFill>
                <a:latin typeface="Arial" pitchFamily="34" charset="0"/>
                <a:ea typeface="Arial" pitchFamily="34" charset="-122"/>
                <a:cs typeface="Arial" pitchFamily="34" charset="-120"/>
              </a:rPr>
              <a:t>  working through love</a:t>
            </a:r>
            <a:endParaRPr lang="en-US" sz="1200" dirty="0"/>
          </a:p>
        </p:txBody>
      </p:sp>
      <p:sp>
        <p:nvSpPr>
          <p:cNvPr id="11" name="Shape 8"/>
          <p:cNvSpPr/>
          <p:nvPr/>
        </p:nvSpPr>
        <p:spPr>
          <a:xfrm>
            <a:off x="4663440" y="1709928"/>
            <a:ext cx="4023360" cy="2084832"/>
          </a:xfrm>
          <a:prstGeom prst="rect">
            <a:avLst/>
          </a:prstGeom>
          <a:solidFill>
            <a:srgbClr val="F2F6FC"/>
          </a:solidFill>
          <a:ln w="9525">
            <a:solidFill>
              <a:srgbClr val="D5DCEA"/>
            </a:solidFill>
            <a:prstDash val="solid"/>
          </a:ln>
        </p:spPr>
      </p:sp>
      <p:sp>
        <p:nvSpPr>
          <p:cNvPr id="12" name="Text 9"/>
          <p:cNvSpPr txBox="1"/>
          <p:nvPr/>
        </p:nvSpPr>
        <p:spPr>
          <a:xfrm>
            <a:off x="4754880" y="1783080"/>
            <a:ext cx="3840480" cy="1956816"/>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Neither circumcision nor uncircumcision avails anything</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Faith operates through love</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Serving Christ from love, not fear</a:t>
            </a:r>
            <a:endParaRPr lang="en-US" sz="1300" dirty="0"/>
          </a:p>
        </p:txBody>
      </p:sp>
      <p:sp>
        <p:nvSpPr>
          <p:cNvPr id="13" name="Shape 10"/>
          <p:cNvSpPr/>
          <p:nvPr/>
        </p:nvSpPr>
        <p:spPr>
          <a:xfrm>
            <a:off x="457200" y="4023360"/>
            <a:ext cx="8229600" cy="502920"/>
          </a:xfrm>
          <a:prstGeom prst="roundRect">
            <a:avLst>
              <a:gd name="adj" fmla="val 10909"/>
            </a:avLst>
          </a:prstGeom>
          <a:solidFill>
            <a:srgbClr val="1F3864"/>
          </a:solidFill>
          <a:ln w="12700">
            <a:solidFill>
              <a:srgbClr val="1F3864"/>
            </a:solidFill>
            <a:prstDash val="solid"/>
          </a:ln>
        </p:spPr>
      </p:sp>
      <p:sp>
        <p:nvSpPr>
          <p:cNvPr id="14" name="Text 11"/>
          <p:cNvSpPr txBox="1"/>
          <p:nvPr/>
        </p:nvSpPr>
        <p:spPr>
          <a:xfrm>
            <a:off x="621792" y="4023360"/>
            <a:ext cx="7900416" cy="50292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Love, not fear, is the motive for serving Christ.</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Five marks of the teachers of the law</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5:7–12 · Outline IV — Their reputation</a:t>
            </a:r>
            <a:endParaRPr lang="en-US" sz="1200" dirty="0"/>
          </a:p>
        </p:txBody>
      </p:sp>
      <p:sp>
        <p:nvSpPr>
          <p:cNvPr id="5" name="Shape 2"/>
          <p:cNvSpPr/>
          <p:nvPr/>
        </p:nvSpPr>
        <p:spPr>
          <a:xfrm>
            <a:off x="457200" y="1115568"/>
            <a:ext cx="914400" cy="548640"/>
          </a:xfrm>
          <a:prstGeom prst="rect">
            <a:avLst/>
          </a:prstGeom>
          <a:solidFill>
            <a:srgbClr val="2E5496"/>
          </a:solidFill>
          <a:ln w="12700">
            <a:solidFill>
              <a:srgbClr val="2E5496"/>
            </a:solidFill>
            <a:prstDash val="solid"/>
          </a:ln>
        </p:spPr>
      </p:sp>
      <p:sp>
        <p:nvSpPr>
          <p:cNvPr id="6" name="Text 3"/>
          <p:cNvSpPr txBox="1"/>
          <p:nvPr/>
        </p:nvSpPr>
        <p:spPr>
          <a:xfrm>
            <a:off x="457200" y="1115568"/>
            <a:ext cx="91440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v.7</a:t>
            </a:r>
            <a:endParaRPr lang="en-US" sz="1100" dirty="0"/>
          </a:p>
        </p:txBody>
      </p:sp>
      <p:sp>
        <p:nvSpPr>
          <p:cNvPr id="7" name="Shape 4"/>
          <p:cNvSpPr/>
          <p:nvPr/>
        </p:nvSpPr>
        <p:spPr>
          <a:xfrm>
            <a:off x="1371600" y="1115568"/>
            <a:ext cx="7315200" cy="548640"/>
          </a:xfrm>
          <a:prstGeom prst="rect">
            <a:avLst/>
          </a:prstGeom>
          <a:solidFill>
            <a:srgbClr val="F2F6FC"/>
          </a:solidFill>
          <a:ln w="9525">
            <a:solidFill>
              <a:srgbClr val="D5DCEA"/>
            </a:solidFill>
            <a:prstDash val="solid"/>
          </a:ln>
        </p:spPr>
      </p:sp>
      <p:sp>
        <p:nvSpPr>
          <p:cNvPr id="8" name="Text 5"/>
          <p:cNvSpPr txBox="1"/>
          <p:nvPr/>
        </p:nvSpPr>
        <p:spPr>
          <a:xfrm>
            <a:off x="1481328" y="1115568"/>
            <a:ext cx="4160520" cy="548640"/>
          </a:xfrm>
          <a:prstGeom prst="rect">
            <a:avLst/>
          </a:prstGeom>
          <a:noFill/>
          <a:ln/>
        </p:spPr>
        <p:txBody>
          <a:bodyPr wrap="square" lIns="0" tIns="0" rIns="0" bIns="0" rtlCol="0" anchor="ctr"/>
          <a:lstStyle/>
          <a:p>
            <a:pPr indent="0" marL="0">
              <a:buNone/>
            </a:pPr>
            <a:r>
              <a:rPr lang="en-US" sz="1050" dirty="0">
                <a:solidFill>
                  <a:srgbClr val="262626"/>
                </a:solidFill>
                <a:latin typeface="Arial" pitchFamily="34" charset="0"/>
                <a:ea typeface="Arial" pitchFamily="34" charset="-122"/>
                <a:cs typeface="Arial" pitchFamily="34" charset="-120"/>
              </a:rPr>
              <a:t>They challenge the truth — “Who hindered you from obeying the truth?”</a:t>
            </a:r>
            <a:endParaRPr lang="en-US" sz="1050" dirty="0"/>
          </a:p>
        </p:txBody>
      </p:sp>
      <p:sp>
        <p:nvSpPr>
          <p:cNvPr id="9" name="Text 6"/>
          <p:cNvSpPr txBox="1"/>
          <p:nvPr/>
        </p:nvSpPr>
        <p:spPr>
          <a:xfrm>
            <a:off x="5715000" y="1115568"/>
            <a:ext cx="2880360" cy="54864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ἐνέκοψεν</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cut in on your lane</a:t>
            </a:r>
            <a:endParaRPr lang="en-US" sz="1200" dirty="0"/>
          </a:p>
        </p:txBody>
      </p:sp>
      <p:sp>
        <p:nvSpPr>
          <p:cNvPr id="10" name="Shape 7"/>
          <p:cNvSpPr/>
          <p:nvPr/>
        </p:nvSpPr>
        <p:spPr>
          <a:xfrm>
            <a:off x="457200" y="1728216"/>
            <a:ext cx="914400" cy="548640"/>
          </a:xfrm>
          <a:prstGeom prst="rect">
            <a:avLst/>
          </a:prstGeom>
          <a:solidFill>
            <a:srgbClr val="2E5496"/>
          </a:solidFill>
          <a:ln w="12700">
            <a:solidFill>
              <a:srgbClr val="2E5496"/>
            </a:solidFill>
            <a:prstDash val="solid"/>
          </a:ln>
        </p:spPr>
      </p:sp>
      <p:sp>
        <p:nvSpPr>
          <p:cNvPr id="11" name="Text 8"/>
          <p:cNvSpPr txBox="1"/>
          <p:nvPr/>
        </p:nvSpPr>
        <p:spPr>
          <a:xfrm>
            <a:off x="457200" y="1728216"/>
            <a:ext cx="91440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v.8</a:t>
            </a:r>
            <a:endParaRPr lang="en-US" sz="1100" dirty="0"/>
          </a:p>
        </p:txBody>
      </p:sp>
      <p:sp>
        <p:nvSpPr>
          <p:cNvPr id="12" name="Shape 9"/>
          <p:cNvSpPr/>
          <p:nvPr/>
        </p:nvSpPr>
        <p:spPr>
          <a:xfrm>
            <a:off x="1371600" y="1728216"/>
            <a:ext cx="7315200" cy="548640"/>
          </a:xfrm>
          <a:prstGeom prst="rect">
            <a:avLst/>
          </a:prstGeom>
          <a:solidFill>
            <a:srgbClr val="FFFFFF"/>
          </a:solidFill>
          <a:ln w="9525">
            <a:solidFill>
              <a:srgbClr val="D5DCEA"/>
            </a:solidFill>
            <a:prstDash val="solid"/>
          </a:ln>
        </p:spPr>
      </p:sp>
      <p:sp>
        <p:nvSpPr>
          <p:cNvPr id="13" name="Text 10"/>
          <p:cNvSpPr txBox="1"/>
          <p:nvPr/>
        </p:nvSpPr>
        <p:spPr>
          <a:xfrm>
            <a:off x="1481328" y="1728216"/>
            <a:ext cx="4160520" cy="548640"/>
          </a:xfrm>
          <a:prstGeom prst="rect">
            <a:avLst/>
          </a:prstGeom>
          <a:noFill/>
          <a:ln/>
        </p:spPr>
        <p:txBody>
          <a:bodyPr wrap="square" lIns="0" tIns="0" rIns="0" bIns="0" rtlCol="0" anchor="ctr"/>
          <a:lstStyle/>
          <a:p>
            <a:pPr indent="0" marL="0">
              <a:buNone/>
            </a:pPr>
            <a:r>
              <a:rPr lang="en-US" sz="1050" dirty="0">
                <a:solidFill>
                  <a:srgbClr val="262626"/>
                </a:solidFill>
                <a:latin typeface="Arial" pitchFamily="34" charset="0"/>
                <a:ea typeface="Arial" pitchFamily="34" charset="-122"/>
                <a:cs typeface="Arial" pitchFamily="34" charset="-120"/>
              </a:rPr>
              <a:t>They are contrary to God — “This persuasion does not come from Him”</a:t>
            </a:r>
            <a:endParaRPr lang="en-US" sz="1050" dirty="0"/>
          </a:p>
        </p:txBody>
      </p:sp>
      <p:sp>
        <p:nvSpPr>
          <p:cNvPr id="14" name="Text 11"/>
          <p:cNvSpPr txBox="1"/>
          <p:nvPr/>
        </p:nvSpPr>
        <p:spPr>
          <a:xfrm>
            <a:off x="5715000" y="1728216"/>
            <a:ext cx="2880360" cy="54864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πεισμονή</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used only here in the NT</a:t>
            </a:r>
            <a:endParaRPr lang="en-US" sz="1200" dirty="0"/>
          </a:p>
        </p:txBody>
      </p:sp>
      <p:sp>
        <p:nvSpPr>
          <p:cNvPr id="15" name="Shape 12"/>
          <p:cNvSpPr/>
          <p:nvPr/>
        </p:nvSpPr>
        <p:spPr>
          <a:xfrm>
            <a:off x="457200" y="2340864"/>
            <a:ext cx="914400" cy="548640"/>
          </a:xfrm>
          <a:prstGeom prst="rect">
            <a:avLst/>
          </a:prstGeom>
          <a:solidFill>
            <a:srgbClr val="2E5496"/>
          </a:solidFill>
          <a:ln w="12700">
            <a:solidFill>
              <a:srgbClr val="2E5496"/>
            </a:solidFill>
            <a:prstDash val="solid"/>
          </a:ln>
        </p:spPr>
      </p:sp>
      <p:sp>
        <p:nvSpPr>
          <p:cNvPr id="16" name="Text 13"/>
          <p:cNvSpPr txBox="1"/>
          <p:nvPr/>
        </p:nvSpPr>
        <p:spPr>
          <a:xfrm>
            <a:off x="457200" y="2340864"/>
            <a:ext cx="91440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v.9</a:t>
            </a:r>
            <a:endParaRPr lang="en-US" sz="1100" dirty="0"/>
          </a:p>
        </p:txBody>
      </p:sp>
      <p:sp>
        <p:nvSpPr>
          <p:cNvPr id="17" name="Shape 14"/>
          <p:cNvSpPr/>
          <p:nvPr/>
        </p:nvSpPr>
        <p:spPr>
          <a:xfrm>
            <a:off x="1371600" y="2340864"/>
            <a:ext cx="7315200" cy="548640"/>
          </a:xfrm>
          <a:prstGeom prst="rect">
            <a:avLst/>
          </a:prstGeom>
          <a:solidFill>
            <a:srgbClr val="F2F6FC"/>
          </a:solidFill>
          <a:ln w="9525">
            <a:solidFill>
              <a:srgbClr val="D5DCEA"/>
            </a:solidFill>
            <a:prstDash val="solid"/>
          </a:ln>
        </p:spPr>
      </p:sp>
      <p:sp>
        <p:nvSpPr>
          <p:cNvPr id="18" name="Text 15"/>
          <p:cNvSpPr txBox="1"/>
          <p:nvPr/>
        </p:nvSpPr>
        <p:spPr>
          <a:xfrm>
            <a:off x="1481328" y="2340864"/>
            <a:ext cx="4160520" cy="548640"/>
          </a:xfrm>
          <a:prstGeom prst="rect">
            <a:avLst/>
          </a:prstGeom>
          <a:noFill/>
          <a:ln/>
        </p:spPr>
        <p:txBody>
          <a:bodyPr wrap="square" lIns="0" tIns="0" rIns="0" bIns="0" rtlCol="0" anchor="ctr"/>
          <a:lstStyle/>
          <a:p>
            <a:pPr indent="0" marL="0">
              <a:buNone/>
            </a:pPr>
            <a:r>
              <a:rPr lang="en-US" sz="1050" dirty="0">
                <a:solidFill>
                  <a:srgbClr val="262626"/>
                </a:solidFill>
                <a:latin typeface="Arial" pitchFamily="34" charset="0"/>
                <a:ea typeface="Arial" pitchFamily="34" charset="-122"/>
                <a:cs typeface="Arial" pitchFamily="34" charset="-120"/>
              </a:rPr>
              <a:t>They contaminate the church — “A little leaven leavens the whole lump”</a:t>
            </a:r>
            <a:endParaRPr lang="en-US" sz="1050" dirty="0"/>
          </a:p>
        </p:txBody>
      </p:sp>
      <p:sp>
        <p:nvSpPr>
          <p:cNvPr id="19" name="Text 16"/>
          <p:cNvSpPr txBox="1"/>
          <p:nvPr/>
        </p:nvSpPr>
        <p:spPr>
          <a:xfrm>
            <a:off x="5715000" y="2340864"/>
            <a:ext cx="2880360" cy="54864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ζύμη</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small, but pervasive</a:t>
            </a:r>
            <a:endParaRPr lang="en-US" sz="1200" dirty="0"/>
          </a:p>
        </p:txBody>
      </p:sp>
      <p:sp>
        <p:nvSpPr>
          <p:cNvPr id="20" name="Shape 17"/>
          <p:cNvSpPr/>
          <p:nvPr/>
        </p:nvSpPr>
        <p:spPr>
          <a:xfrm>
            <a:off x="457200" y="2953512"/>
            <a:ext cx="914400" cy="548640"/>
          </a:xfrm>
          <a:prstGeom prst="rect">
            <a:avLst/>
          </a:prstGeom>
          <a:solidFill>
            <a:srgbClr val="2E5496"/>
          </a:solidFill>
          <a:ln w="12700">
            <a:solidFill>
              <a:srgbClr val="2E5496"/>
            </a:solidFill>
            <a:prstDash val="solid"/>
          </a:ln>
        </p:spPr>
      </p:sp>
      <p:sp>
        <p:nvSpPr>
          <p:cNvPr id="21" name="Text 18"/>
          <p:cNvSpPr txBox="1"/>
          <p:nvPr/>
        </p:nvSpPr>
        <p:spPr>
          <a:xfrm>
            <a:off x="457200" y="2953512"/>
            <a:ext cx="91440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v.10</a:t>
            </a:r>
            <a:endParaRPr lang="en-US" sz="1100" dirty="0"/>
          </a:p>
        </p:txBody>
      </p:sp>
      <p:sp>
        <p:nvSpPr>
          <p:cNvPr id="22" name="Shape 19"/>
          <p:cNvSpPr/>
          <p:nvPr/>
        </p:nvSpPr>
        <p:spPr>
          <a:xfrm>
            <a:off x="1371600" y="2953512"/>
            <a:ext cx="7315200" cy="548640"/>
          </a:xfrm>
          <a:prstGeom prst="rect">
            <a:avLst/>
          </a:prstGeom>
          <a:solidFill>
            <a:srgbClr val="FFFFFF"/>
          </a:solidFill>
          <a:ln w="9525">
            <a:solidFill>
              <a:srgbClr val="D5DCEA"/>
            </a:solidFill>
            <a:prstDash val="solid"/>
          </a:ln>
        </p:spPr>
      </p:sp>
      <p:sp>
        <p:nvSpPr>
          <p:cNvPr id="23" name="Text 20"/>
          <p:cNvSpPr txBox="1"/>
          <p:nvPr/>
        </p:nvSpPr>
        <p:spPr>
          <a:xfrm>
            <a:off x="1481328" y="2953512"/>
            <a:ext cx="4160520" cy="548640"/>
          </a:xfrm>
          <a:prstGeom prst="rect">
            <a:avLst/>
          </a:prstGeom>
          <a:noFill/>
          <a:ln/>
        </p:spPr>
        <p:txBody>
          <a:bodyPr wrap="square" lIns="0" tIns="0" rIns="0" bIns="0" rtlCol="0" anchor="ctr"/>
          <a:lstStyle/>
          <a:p>
            <a:pPr indent="0" marL="0">
              <a:buNone/>
            </a:pPr>
            <a:r>
              <a:rPr lang="en-US" sz="1050" dirty="0">
                <a:solidFill>
                  <a:srgbClr val="262626"/>
                </a:solidFill>
                <a:latin typeface="Arial" pitchFamily="34" charset="0"/>
                <a:ea typeface="Arial" pitchFamily="34" charset="-122"/>
                <a:cs typeface="Arial" pitchFamily="34" charset="-120"/>
              </a:rPr>
              <a:t>Their conviction is certain — “he who troubles you shall bear his judgment”</a:t>
            </a:r>
            <a:endParaRPr lang="en-US" sz="1050" dirty="0"/>
          </a:p>
        </p:txBody>
      </p:sp>
      <p:sp>
        <p:nvSpPr>
          <p:cNvPr id="24" name="Text 21"/>
          <p:cNvSpPr txBox="1"/>
          <p:nvPr/>
        </p:nvSpPr>
        <p:spPr>
          <a:xfrm>
            <a:off x="5715000" y="2953512"/>
            <a:ext cx="2880360" cy="548640"/>
          </a:xfrm>
          <a:prstGeom prst="rect">
            <a:avLst/>
          </a:prstGeom>
          <a:noFill/>
          <a:ln/>
        </p:spPr>
        <p:txBody>
          <a:bodyPr wrap="square" lIns="0" tIns="0" rIns="0" bIns="0" rtlCol="0" anchor="ctr"/>
          <a:lstStyle/>
          <a:p>
            <a:pPr indent="0" marL="0">
              <a:buNone/>
            </a:pPr>
            <a:r>
              <a:rPr lang="en-US" sz="950" dirty="0">
                <a:solidFill>
                  <a:srgbClr val="595959"/>
                </a:solidFill>
                <a:latin typeface="Arial" pitchFamily="34" charset="0"/>
                <a:ea typeface="Arial" pitchFamily="34" charset="-122"/>
                <a:cs typeface="Arial" pitchFamily="34" charset="-120"/>
              </a:rPr>
              <a:t>judgment belongs to God</a:t>
            </a:r>
            <a:endParaRPr lang="en-US" sz="1200" dirty="0"/>
          </a:p>
        </p:txBody>
      </p:sp>
      <p:sp>
        <p:nvSpPr>
          <p:cNvPr id="25" name="Shape 22"/>
          <p:cNvSpPr/>
          <p:nvPr/>
        </p:nvSpPr>
        <p:spPr>
          <a:xfrm>
            <a:off x="457200" y="3566160"/>
            <a:ext cx="914400" cy="548640"/>
          </a:xfrm>
          <a:prstGeom prst="rect">
            <a:avLst/>
          </a:prstGeom>
          <a:solidFill>
            <a:srgbClr val="7030A0"/>
          </a:solidFill>
          <a:ln w="12700">
            <a:solidFill>
              <a:srgbClr val="7030A0"/>
            </a:solidFill>
            <a:prstDash val="solid"/>
          </a:ln>
        </p:spPr>
      </p:sp>
      <p:sp>
        <p:nvSpPr>
          <p:cNvPr id="26" name="Text 23"/>
          <p:cNvSpPr txBox="1"/>
          <p:nvPr/>
        </p:nvSpPr>
        <p:spPr>
          <a:xfrm>
            <a:off x="457200" y="3566160"/>
            <a:ext cx="91440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vv.11–12</a:t>
            </a:r>
            <a:endParaRPr lang="en-US" sz="1100" dirty="0"/>
          </a:p>
        </p:txBody>
      </p:sp>
      <p:sp>
        <p:nvSpPr>
          <p:cNvPr id="27" name="Shape 24"/>
          <p:cNvSpPr/>
          <p:nvPr/>
        </p:nvSpPr>
        <p:spPr>
          <a:xfrm>
            <a:off x="1371600" y="3566160"/>
            <a:ext cx="7315200" cy="548640"/>
          </a:xfrm>
          <a:prstGeom prst="rect">
            <a:avLst/>
          </a:prstGeom>
          <a:solidFill>
            <a:srgbClr val="F2F6FC"/>
          </a:solidFill>
          <a:ln w="9525">
            <a:solidFill>
              <a:srgbClr val="D5DCEA"/>
            </a:solidFill>
            <a:prstDash val="solid"/>
          </a:ln>
        </p:spPr>
      </p:sp>
      <p:sp>
        <p:nvSpPr>
          <p:cNvPr id="28" name="Text 25"/>
          <p:cNvSpPr txBox="1"/>
          <p:nvPr/>
        </p:nvSpPr>
        <p:spPr>
          <a:xfrm>
            <a:off x="1481328" y="3566160"/>
            <a:ext cx="4160520" cy="548640"/>
          </a:xfrm>
          <a:prstGeom prst="rect">
            <a:avLst/>
          </a:prstGeom>
          <a:noFill/>
          <a:ln/>
        </p:spPr>
        <p:txBody>
          <a:bodyPr wrap="square" lIns="0" tIns="0" rIns="0" bIns="0" rtlCol="0" anchor="ctr"/>
          <a:lstStyle/>
          <a:p>
            <a:pPr indent="0" marL="0">
              <a:buNone/>
            </a:pPr>
            <a:r>
              <a:rPr lang="en-US" sz="1050" dirty="0">
                <a:solidFill>
                  <a:srgbClr val="262626"/>
                </a:solidFill>
                <a:latin typeface="Arial" pitchFamily="34" charset="0"/>
                <a:ea typeface="Arial" pitchFamily="34" charset="-122"/>
                <a:cs typeface="Arial" pitchFamily="34" charset="-120"/>
              </a:rPr>
              <a:t>They condemn teachers of the truth — the offense of the cross</a:t>
            </a:r>
            <a:endParaRPr lang="en-US" sz="1050" dirty="0"/>
          </a:p>
        </p:txBody>
      </p:sp>
      <p:sp>
        <p:nvSpPr>
          <p:cNvPr id="29" name="Text 26"/>
          <p:cNvSpPr txBox="1"/>
          <p:nvPr/>
        </p:nvSpPr>
        <p:spPr>
          <a:xfrm>
            <a:off x="5715000" y="3566160"/>
            <a:ext cx="2880360" cy="54864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ἀποκόψονται</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“cut themselves off”</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Works that follow — and works that don't</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5:1–12 · Conclusion</a:t>
            </a:r>
            <a:endParaRPr lang="en-US" sz="1200" dirty="0"/>
          </a:p>
        </p:txBody>
      </p:sp>
      <p:sp>
        <p:nvSpPr>
          <p:cNvPr id="5" name="Shape 2"/>
          <p:cNvSpPr/>
          <p:nvPr/>
        </p:nvSpPr>
        <p:spPr>
          <a:xfrm>
            <a:off x="1737360" y="1143000"/>
            <a:ext cx="3429000" cy="384048"/>
          </a:xfrm>
          <a:prstGeom prst="rect">
            <a:avLst/>
          </a:prstGeom>
          <a:solidFill>
            <a:srgbClr val="6B7280"/>
          </a:solidFill>
          <a:ln w="12700">
            <a:solidFill>
              <a:srgbClr val="6B7280"/>
            </a:solidFill>
            <a:prstDash val="solid"/>
          </a:ln>
        </p:spPr>
      </p:sp>
      <p:sp>
        <p:nvSpPr>
          <p:cNvPr id="6" name="Text 3"/>
          <p:cNvSpPr txBox="1"/>
          <p:nvPr/>
        </p:nvSpPr>
        <p:spPr>
          <a:xfrm>
            <a:off x="1828800" y="1143000"/>
            <a:ext cx="3291840" cy="38404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Works added to grace</a:t>
            </a:r>
            <a:endParaRPr lang="en-US" sz="1250" dirty="0"/>
          </a:p>
        </p:txBody>
      </p:sp>
      <p:sp>
        <p:nvSpPr>
          <p:cNvPr id="7" name="Shape 4"/>
          <p:cNvSpPr/>
          <p:nvPr/>
        </p:nvSpPr>
        <p:spPr>
          <a:xfrm>
            <a:off x="5257800" y="1143000"/>
            <a:ext cx="3429000" cy="384048"/>
          </a:xfrm>
          <a:prstGeom prst="rect">
            <a:avLst/>
          </a:prstGeom>
          <a:solidFill>
            <a:srgbClr val="375623"/>
          </a:solidFill>
          <a:ln w="12700">
            <a:solidFill>
              <a:srgbClr val="375623"/>
            </a:solidFill>
            <a:prstDash val="solid"/>
          </a:ln>
        </p:spPr>
      </p:sp>
      <p:sp>
        <p:nvSpPr>
          <p:cNvPr id="8" name="Text 5"/>
          <p:cNvSpPr txBox="1"/>
          <p:nvPr/>
        </p:nvSpPr>
        <p:spPr>
          <a:xfrm>
            <a:off x="5303520" y="1143000"/>
            <a:ext cx="3291840" cy="38404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The work of the Lord</a:t>
            </a:r>
            <a:endParaRPr lang="en-US" sz="1250" dirty="0"/>
          </a:p>
        </p:txBody>
      </p:sp>
      <p:sp>
        <p:nvSpPr>
          <p:cNvPr id="9" name="Text 6"/>
          <p:cNvSpPr txBox="1"/>
          <p:nvPr/>
        </p:nvSpPr>
        <p:spPr>
          <a:xfrm>
            <a:off x="457200" y="1581912"/>
            <a:ext cx="1188720" cy="658368"/>
          </a:xfrm>
          <a:prstGeom prst="rect">
            <a:avLst/>
          </a:prstGeom>
          <a:noFill/>
          <a:ln/>
        </p:spPr>
        <p:txBody>
          <a:bodyPr wrap="square" lIns="0" tIns="0" rIns="0" bIns="0" rtlCol="0" anchor="ctr"/>
          <a:lstStyle/>
          <a:p>
            <a:pPr indent="0" marL="0">
              <a:buNone/>
            </a:pPr>
            <a:r>
              <a:rPr lang="en-US" sz="1150" b="1" dirty="0">
                <a:solidFill>
                  <a:srgbClr val="1F3864"/>
                </a:solidFill>
                <a:latin typeface="Arial" pitchFamily="34" charset="0"/>
                <a:ea typeface="Arial" pitchFamily="34" charset="-122"/>
                <a:cs typeface="Arial" pitchFamily="34" charset="-120"/>
              </a:rPr>
              <a:t>Motive</a:t>
            </a:r>
            <a:endParaRPr lang="en-US" sz="1150" dirty="0"/>
          </a:p>
        </p:txBody>
      </p:sp>
      <p:sp>
        <p:nvSpPr>
          <p:cNvPr id="10" name="Shape 7"/>
          <p:cNvSpPr/>
          <p:nvPr/>
        </p:nvSpPr>
        <p:spPr>
          <a:xfrm>
            <a:off x="1737360" y="1581912"/>
            <a:ext cx="3429000" cy="658368"/>
          </a:xfrm>
          <a:prstGeom prst="rect">
            <a:avLst/>
          </a:prstGeom>
          <a:solidFill>
            <a:srgbClr val="F2F6FC"/>
          </a:solidFill>
          <a:ln w="9525">
            <a:solidFill>
              <a:srgbClr val="D5DCEA"/>
            </a:solidFill>
            <a:prstDash val="solid"/>
          </a:ln>
        </p:spPr>
      </p:sp>
      <p:sp>
        <p:nvSpPr>
          <p:cNvPr id="11" name="Text 8"/>
          <p:cNvSpPr txBox="1"/>
          <p:nvPr/>
        </p:nvSpPr>
        <p:spPr>
          <a:xfrm>
            <a:off x="1828800" y="1581912"/>
            <a:ext cx="3246120" cy="658368"/>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To be accepted or kept by God</a:t>
            </a:r>
            <a:endParaRPr lang="en-US" sz="1200" dirty="0"/>
          </a:p>
        </p:txBody>
      </p:sp>
      <p:sp>
        <p:nvSpPr>
          <p:cNvPr id="12" name="Shape 9"/>
          <p:cNvSpPr/>
          <p:nvPr/>
        </p:nvSpPr>
        <p:spPr>
          <a:xfrm>
            <a:off x="5257800" y="1581912"/>
            <a:ext cx="3429000" cy="658368"/>
          </a:xfrm>
          <a:prstGeom prst="rect">
            <a:avLst/>
          </a:prstGeom>
          <a:solidFill>
            <a:srgbClr val="F2F6FC"/>
          </a:solidFill>
          <a:ln w="9525">
            <a:solidFill>
              <a:srgbClr val="D5DCEA"/>
            </a:solidFill>
            <a:prstDash val="solid"/>
          </a:ln>
        </p:spPr>
      </p:sp>
      <p:sp>
        <p:nvSpPr>
          <p:cNvPr id="13" name="Text 10"/>
          <p:cNvSpPr txBox="1"/>
          <p:nvPr/>
        </p:nvSpPr>
        <p:spPr>
          <a:xfrm>
            <a:off x="5349240" y="1581912"/>
            <a:ext cx="3246120" cy="658368"/>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Love for Christ, who already paid</a:t>
            </a:r>
            <a:endParaRPr lang="en-US" sz="1200" dirty="0"/>
          </a:p>
        </p:txBody>
      </p:sp>
      <p:sp>
        <p:nvSpPr>
          <p:cNvPr id="14" name="Text 11"/>
          <p:cNvSpPr txBox="1"/>
          <p:nvPr/>
        </p:nvSpPr>
        <p:spPr>
          <a:xfrm>
            <a:off x="457200" y="2295144"/>
            <a:ext cx="1188720" cy="658368"/>
          </a:xfrm>
          <a:prstGeom prst="rect">
            <a:avLst/>
          </a:prstGeom>
          <a:noFill/>
          <a:ln/>
        </p:spPr>
        <p:txBody>
          <a:bodyPr wrap="square" lIns="0" tIns="0" rIns="0" bIns="0" rtlCol="0" anchor="ctr"/>
          <a:lstStyle/>
          <a:p>
            <a:pPr indent="0" marL="0">
              <a:buNone/>
            </a:pPr>
            <a:r>
              <a:rPr lang="en-US" sz="1150" b="1" dirty="0">
                <a:solidFill>
                  <a:srgbClr val="1F3864"/>
                </a:solidFill>
                <a:latin typeface="Arial" pitchFamily="34" charset="0"/>
                <a:ea typeface="Arial" pitchFamily="34" charset="-122"/>
                <a:cs typeface="Arial" pitchFamily="34" charset="-120"/>
              </a:rPr>
              <a:t>Reach</a:t>
            </a:r>
            <a:endParaRPr lang="en-US" sz="1150" dirty="0"/>
          </a:p>
        </p:txBody>
      </p:sp>
      <p:sp>
        <p:nvSpPr>
          <p:cNvPr id="15" name="Shape 12"/>
          <p:cNvSpPr/>
          <p:nvPr/>
        </p:nvSpPr>
        <p:spPr>
          <a:xfrm>
            <a:off x="1737360" y="2295144"/>
            <a:ext cx="3429000" cy="658368"/>
          </a:xfrm>
          <a:prstGeom prst="rect">
            <a:avLst/>
          </a:prstGeom>
          <a:solidFill>
            <a:srgbClr val="F2F6FC"/>
          </a:solidFill>
          <a:ln w="9525">
            <a:solidFill>
              <a:srgbClr val="D5DCEA"/>
            </a:solidFill>
            <a:prstDash val="solid"/>
          </a:ln>
        </p:spPr>
      </p:sp>
      <p:sp>
        <p:nvSpPr>
          <p:cNvPr id="16" name="Text 13"/>
          <p:cNvSpPr txBox="1"/>
          <p:nvPr/>
        </p:nvSpPr>
        <p:spPr>
          <a:xfrm>
            <a:off x="1828800" y="2295144"/>
            <a:ext cx="3246120" cy="658368"/>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Limited to this life — no door out</a:t>
            </a:r>
            <a:endParaRPr lang="en-US" sz="1200" dirty="0"/>
          </a:p>
        </p:txBody>
      </p:sp>
      <p:sp>
        <p:nvSpPr>
          <p:cNvPr id="17" name="Shape 14"/>
          <p:cNvSpPr/>
          <p:nvPr/>
        </p:nvSpPr>
        <p:spPr>
          <a:xfrm>
            <a:off x="5257800" y="2295144"/>
            <a:ext cx="3429000" cy="658368"/>
          </a:xfrm>
          <a:prstGeom prst="rect">
            <a:avLst/>
          </a:prstGeom>
          <a:solidFill>
            <a:srgbClr val="F2F6FC"/>
          </a:solidFill>
          <a:ln w="9525">
            <a:solidFill>
              <a:srgbClr val="D5DCEA"/>
            </a:solidFill>
            <a:prstDash val="solid"/>
          </a:ln>
        </p:spPr>
      </p:sp>
      <p:sp>
        <p:nvSpPr>
          <p:cNvPr id="18" name="Text 15"/>
          <p:cNvSpPr txBox="1"/>
          <p:nvPr/>
        </p:nvSpPr>
        <p:spPr>
          <a:xfrm>
            <a:off x="5349240" y="2295144"/>
            <a:ext cx="3246120" cy="658368"/>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Follows the believer beyond this life</a:t>
            </a:r>
            <a:endParaRPr lang="en-US" sz="1200" dirty="0"/>
          </a:p>
        </p:txBody>
      </p:sp>
      <p:sp>
        <p:nvSpPr>
          <p:cNvPr id="19" name="Text 16"/>
          <p:cNvSpPr txBox="1"/>
          <p:nvPr/>
        </p:nvSpPr>
        <p:spPr>
          <a:xfrm>
            <a:off x="457200" y="3008376"/>
            <a:ext cx="1188720" cy="658368"/>
          </a:xfrm>
          <a:prstGeom prst="rect">
            <a:avLst/>
          </a:prstGeom>
          <a:noFill/>
          <a:ln/>
        </p:spPr>
        <p:txBody>
          <a:bodyPr wrap="square" lIns="0" tIns="0" rIns="0" bIns="0" rtlCol="0" anchor="ctr"/>
          <a:lstStyle/>
          <a:p>
            <a:pPr indent="0" marL="0">
              <a:buNone/>
            </a:pPr>
            <a:r>
              <a:rPr lang="en-US" sz="1150" b="1" dirty="0">
                <a:solidFill>
                  <a:srgbClr val="1F3864"/>
                </a:solidFill>
                <a:latin typeface="Arial" pitchFamily="34" charset="0"/>
                <a:ea typeface="Arial" pitchFamily="34" charset="-122"/>
                <a:cs typeface="Arial" pitchFamily="34" charset="-120"/>
              </a:rPr>
              <a:t>Outcome</a:t>
            </a:r>
            <a:endParaRPr lang="en-US" sz="1150" dirty="0"/>
          </a:p>
        </p:txBody>
      </p:sp>
      <p:sp>
        <p:nvSpPr>
          <p:cNvPr id="20" name="Shape 17"/>
          <p:cNvSpPr/>
          <p:nvPr/>
        </p:nvSpPr>
        <p:spPr>
          <a:xfrm>
            <a:off x="1737360" y="3008376"/>
            <a:ext cx="3429000" cy="658368"/>
          </a:xfrm>
          <a:prstGeom prst="rect">
            <a:avLst/>
          </a:prstGeom>
          <a:solidFill>
            <a:srgbClr val="F2F6FC"/>
          </a:solidFill>
          <a:ln w="9525">
            <a:solidFill>
              <a:srgbClr val="D5DCEA"/>
            </a:solidFill>
            <a:prstDash val="solid"/>
          </a:ln>
        </p:spPr>
      </p:sp>
      <p:sp>
        <p:nvSpPr>
          <p:cNvPr id="21" name="Text 18"/>
          <p:cNvSpPr txBox="1"/>
          <p:nvPr/>
        </p:nvSpPr>
        <p:spPr>
          <a:xfrm>
            <a:off x="1828800" y="3008376"/>
            <a:ext cx="3246120" cy="658368"/>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Christ profits you nothing (v.2)</a:t>
            </a:r>
            <a:endParaRPr lang="en-US" sz="1200" dirty="0"/>
          </a:p>
        </p:txBody>
      </p:sp>
      <p:sp>
        <p:nvSpPr>
          <p:cNvPr id="22" name="Shape 19"/>
          <p:cNvSpPr/>
          <p:nvPr/>
        </p:nvSpPr>
        <p:spPr>
          <a:xfrm>
            <a:off x="5257800" y="3008376"/>
            <a:ext cx="3429000" cy="658368"/>
          </a:xfrm>
          <a:prstGeom prst="rect">
            <a:avLst/>
          </a:prstGeom>
          <a:solidFill>
            <a:srgbClr val="F2F6FC"/>
          </a:solidFill>
          <a:ln w="9525">
            <a:solidFill>
              <a:srgbClr val="D5DCEA"/>
            </a:solidFill>
            <a:prstDash val="solid"/>
          </a:ln>
        </p:spPr>
      </p:sp>
      <p:sp>
        <p:nvSpPr>
          <p:cNvPr id="23" name="Text 20"/>
          <p:cNvSpPr txBox="1"/>
          <p:nvPr/>
        </p:nvSpPr>
        <p:spPr>
          <a:xfrm>
            <a:off x="5349240" y="3008376"/>
            <a:ext cx="3246120" cy="658368"/>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Rewarded at the judgment seat of Christ</a:t>
            </a:r>
            <a:endParaRPr lang="en-US" sz="1200" dirty="0"/>
          </a:p>
        </p:txBody>
      </p:sp>
      <p:sp>
        <p:nvSpPr>
          <p:cNvPr id="24" name="Shape 21"/>
          <p:cNvSpPr/>
          <p:nvPr/>
        </p:nvSpPr>
        <p:spPr>
          <a:xfrm>
            <a:off x="457200" y="3840480"/>
            <a:ext cx="8229600" cy="548640"/>
          </a:xfrm>
          <a:prstGeom prst="roundRect">
            <a:avLst>
              <a:gd name="adj" fmla="val 10000"/>
            </a:avLst>
          </a:prstGeom>
          <a:solidFill>
            <a:srgbClr val="1F3864"/>
          </a:solidFill>
          <a:ln w="12700">
            <a:solidFill>
              <a:srgbClr val="1F3864"/>
            </a:solidFill>
            <a:prstDash val="solid"/>
          </a:ln>
        </p:spPr>
      </p:sp>
      <p:sp>
        <p:nvSpPr>
          <p:cNvPr id="25" name="Text 22"/>
          <p:cNvSpPr txBox="1"/>
          <p:nvPr/>
        </p:nvSpPr>
        <p:spPr>
          <a:xfrm>
            <a:off x="621792" y="3840480"/>
            <a:ext cx="7900416" cy="54864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Add anything to salvation, and you demean the cross that purchased the freedom.</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Discuss and apply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5:1–12 · from the study's posted questions and applications</a:t>
            </a:r>
            <a:endParaRPr lang="en-US" sz="1200" dirty="0"/>
          </a:p>
        </p:txBody>
      </p:sp>
      <p:sp>
        <p:nvSpPr>
          <p:cNvPr id="5" name="Shape 2"/>
          <p:cNvSpPr/>
          <p:nvPr/>
        </p:nvSpPr>
        <p:spPr>
          <a:xfrm>
            <a:off x="457200" y="1115568"/>
            <a:ext cx="4023360" cy="384048"/>
          </a:xfrm>
          <a:prstGeom prst="rect">
            <a:avLst/>
          </a:prstGeom>
          <a:solidFill>
            <a:srgbClr val="2E5496"/>
          </a:solidFill>
          <a:ln w="12700">
            <a:solidFill>
              <a:srgbClr val="2E5496"/>
            </a:solidFill>
            <a:prstDash val="solid"/>
          </a:ln>
        </p:spPr>
      </p:sp>
      <p:sp>
        <p:nvSpPr>
          <p:cNvPr id="6" name="Text 3"/>
          <p:cNvSpPr txBox="1"/>
          <p:nvPr/>
        </p:nvSpPr>
        <p:spPr>
          <a:xfrm>
            <a:off x="56692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Discuss</a:t>
            </a:r>
            <a:endParaRPr lang="en-US" sz="1300" dirty="0"/>
          </a:p>
        </p:txBody>
      </p:sp>
      <p:sp>
        <p:nvSpPr>
          <p:cNvPr id="7" name="Shape 4"/>
          <p:cNvSpPr/>
          <p:nvPr/>
        </p:nvSpPr>
        <p:spPr>
          <a:xfrm>
            <a:off x="457200" y="1499616"/>
            <a:ext cx="4023360" cy="2359152"/>
          </a:xfrm>
          <a:prstGeom prst="rect">
            <a:avLst/>
          </a:prstGeom>
          <a:solidFill>
            <a:srgbClr val="F2F6FC"/>
          </a:solidFill>
          <a:ln w="9525">
            <a:solidFill>
              <a:srgbClr val="D5DCEA"/>
            </a:solidFill>
            <a:prstDash val="solid"/>
          </a:ln>
        </p:spPr>
      </p:sp>
      <p:sp>
        <p:nvSpPr>
          <p:cNvPr id="8" name="Shape 5"/>
          <p:cNvSpPr/>
          <p:nvPr/>
        </p:nvSpPr>
        <p:spPr>
          <a:xfrm>
            <a:off x="4663440" y="1115568"/>
            <a:ext cx="4023360" cy="384048"/>
          </a:xfrm>
          <a:prstGeom prst="rect">
            <a:avLst/>
          </a:prstGeom>
          <a:solidFill>
            <a:srgbClr val="375623"/>
          </a:solidFill>
          <a:ln w="12700">
            <a:solidFill>
              <a:srgbClr val="375623"/>
            </a:solidFill>
            <a:prstDash val="solid"/>
          </a:ln>
        </p:spPr>
      </p:sp>
      <p:sp>
        <p:nvSpPr>
          <p:cNvPr id="9" name="Text 6"/>
          <p:cNvSpPr txBox="1"/>
          <p:nvPr/>
        </p:nvSpPr>
        <p:spPr>
          <a:xfrm>
            <a:off x="477316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Apply</a:t>
            </a:r>
            <a:endParaRPr lang="en-US" sz="1300" dirty="0"/>
          </a:p>
        </p:txBody>
      </p:sp>
      <p:sp>
        <p:nvSpPr>
          <p:cNvPr id="10" name="Shape 7"/>
          <p:cNvSpPr/>
          <p:nvPr/>
        </p:nvSpPr>
        <p:spPr>
          <a:xfrm>
            <a:off x="4663440" y="1499616"/>
            <a:ext cx="4023360" cy="2359152"/>
          </a:xfrm>
          <a:prstGeom prst="rect">
            <a:avLst/>
          </a:prstGeom>
          <a:solidFill>
            <a:srgbClr val="F2F6FC"/>
          </a:solidFill>
          <a:ln w="9525">
            <a:solidFill>
              <a:srgbClr val="D5DCEA"/>
            </a:solidFill>
            <a:prstDash val="solid"/>
          </a:ln>
        </p:spPr>
      </p:sp>
      <p:sp>
        <p:nvSpPr>
          <p:cNvPr id="11" name="Shape 8"/>
          <p:cNvSpPr/>
          <p:nvPr/>
        </p:nvSpPr>
        <p:spPr>
          <a:xfrm>
            <a:off x="566928" y="1636776"/>
            <a:ext cx="347472" cy="347472"/>
          </a:xfrm>
          <a:prstGeom prst="ellipse">
            <a:avLst/>
          </a:prstGeom>
          <a:solidFill>
            <a:srgbClr val="2E5496"/>
          </a:solidFill>
          <a:ln w="12700">
            <a:solidFill>
              <a:srgbClr val="2E5496"/>
            </a:solidFill>
            <a:prstDash val="solid"/>
          </a:ln>
        </p:spPr>
      </p:sp>
      <p:sp>
        <p:nvSpPr>
          <p:cNvPr id="12" name="Text 9"/>
          <p:cNvSpPr txBox="1"/>
          <p:nvPr/>
        </p:nvSpPr>
        <p:spPr>
          <a:xfrm>
            <a:off x="566928" y="163677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3" name="Text 10"/>
          <p:cNvSpPr txBox="1"/>
          <p:nvPr/>
        </p:nvSpPr>
        <p:spPr>
          <a:xfrm>
            <a:off x="1005840" y="1591056"/>
            <a:ext cx="3364992" cy="1042416"/>
          </a:xfrm>
          <a:prstGeom prst="rect">
            <a:avLst/>
          </a:prstGeom>
          <a:noFill/>
          <a:ln/>
        </p:spPr>
        <p:txBody>
          <a:bodyPr wrap="square" lIns="0" tIns="0" rIns="0" bIns="0" rtlCol="0" anchor="t"/>
          <a:lstStyle/>
          <a:p>
            <a:pPr indent="0" marL="0">
              <a:buNone/>
            </a:pPr>
            <a:r>
              <a:rPr lang="en-US" sz="1350" dirty="0">
                <a:solidFill>
                  <a:srgbClr val="262626"/>
                </a:solidFill>
                <a:latin typeface="Arial" pitchFamily="34" charset="0"/>
                <a:ea typeface="Arial" pitchFamily="34" charset="-122"/>
                <a:cs typeface="Arial" pitchFamily="34" charset="-120"/>
              </a:rPr>
              <a:t>The Galatians were told “just one small thing” needed adding to their faith. What “small things” do people quietly add to grace today?</a:t>
            </a:r>
            <a:endParaRPr lang="en-US" sz="1350" dirty="0"/>
          </a:p>
        </p:txBody>
      </p:sp>
      <p:sp>
        <p:nvSpPr>
          <p:cNvPr id="14" name="Shape 11"/>
          <p:cNvSpPr/>
          <p:nvPr/>
        </p:nvSpPr>
        <p:spPr>
          <a:xfrm>
            <a:off x="566928" y="2724912"/>
            <a:ext cx="347472" cy="347472"/>
          </a:xfrm>
          <a:prstGeom prst="ellipse">
            <a:avLst/>
          </a:prstGeom>
          <a:solidFill>
            <a:srgbClr val="2E5496"/>
          </a:solidFill>
          <a:ln w="12700">
            <a:solidFill>
              <a:srgbClr val="2E5496"/>
            </a:solidFill>
            <a:prstDash val="solid"/>
          </a:ln>
        </p:spPr>
      </p:sp>
      <p:sp>
        <p:nvSpPr>
          <p:cNvPr id="15" name="Text 12"/>
          <p:cNvSpPr txBox="1"/>
          <p:nvPr/>
        </p:nvSpPr>
        <p:spPr>
          <a:xfrm>
            <a:off x="566928" y="272491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6" name="Text 13"/>
          <p:cNvSpPr txBox="1"/>
          <p:nvPr/>
        </p:nvSpPr>
        <p:spPr>
          <a:xfrm>
            <a:off x="1005840" y="2679192"/>
            <a:ext cx="3364992" cy="1042416"/>
          </a:xfrm>
          <a:prstGeom prst="rect">
            <a:avLst/>
          </a:prstGeom>
          <a:noFill/>
          <a:ln/>
        </p:spPr>
        <p:txBody>
          <a:bodyPr wrap="square" lIns="0" tIns="0" rIns="0" bIns="0" rtlCol="0" anchor="t"/>
          <a:lstStyle/>
          <a:p>
            <a:pPr indent="0" marL="0">
              <a:buNone/>
            </a:pPr>
            <a:r>
              <a:rPr lang="en-US" sz="1350" dirty="0">
                <a:solidFill>
                  <a:srgbClr val="262626"/>
                </a:solidFill>
                <a:latin typeface="Arial" pitchFamily="34" charset="0"/>
                <a:ea typeface="Arial" pitchFamily="34" charset="-122"/>
                <a:cs typeface="Arial" pitchFamily="34" charset="-120"/>
              </a:rPr>
              <a:t>How would you describe the difference between serving Christ out of love and serving out of fear or guilt (5:6)?</a:t>
            </a:r>
            <a:endParaRPr lang="en-US" sz="1350" dirty="0"/>
          </a:p>
        </p:txBody>
      </p:sp>
      <p:sp>
        <p:nvSpPr>
          <p:cNvPr id="17" name="Text 14"/>
          <p:cNvSpPr txBox="1"/>
          <p:nvPr/>
        </p:nvSpPr>
        <p:spPr>
          <a:xfrm>
            <a:off x="4791456" y="1591056"/>
            <a:ext cx="3767328" cy="1042416"/>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Resist the “Just One Small Thing”</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Name one addition before God as unnecessary — not wrong to do, but adding nothing to what Christ finished.</a:t>
            </a:r>
            <a:endParaRPr lang="en-US" sz="1200" dirty="0"/>
          </a:p>
        </p:txBody>
      </p:sp>
      <p:sp>
        <p:nvSpPr>
          <p:cNvPr id="18" name="Text 15"/>
          <p:cNvSpPr txBox="1"/>
          <p:nvPr/>
        </p:nvSpPr>
        <p:spPr>
          <a:xfrm>
            <a:off x="4791456" y="2679192"/>
            <a:ext cx="3767328" cy="1042416"/>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Take Your Stand</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Where you've been passively hoping to feel free, make one concrete, deliberate decision instead.</a:t>
            </a:r>
            <a:endParaRPr lang="en-US" sz="1200" dirty="0"/>
          </a:p>
        </p:txBody>
      </p:sp>
      <p:sp>
        <p:nvSpPr>
          <p:cNvPr id="19" name="Shape 16"/>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0" name="Text 17"/>
          <p:cNvSpPr txBox="1"/>
          <p:nvPr/>
        </p:nvSpPr>
        <p:spPr>
          <a:xfrm>
            <a:off x="621792" y="4023360"/>
            <a:ext cx="7900416" cy="566928"/>
          </a:xfrm>
          <a:prstGeom prst="rect">
            <a:avLst/>
          </a:prstGeom>
          <a:noFill/>
          <a:ln/>
        </p:spPr>
        <p:txBody>
          <a:bodyPr wrap="square" lIns="0" tIns="0" rIns="0" bIns="0" rtlCol="0" anchor="ctr"/>
          <a:lstStyle/>
          <a:p>
            <a:pPr indent="0" marL="0">
              <a:buNone/>
            </a:pPr>
            <a:r>
              <a:rPr lang="en-US" sz="1250" b="1" dirty="0">
                <a:solidFill>
                  <a:srgbClr val="C9D5EE"/>
                </a:solidFill>
                <a:latin typeface="Arial" pitchFamily="34" charset="0"/>
                <a:ea typeface="Arial" pitchFamily="34" charset="-122"/>
                <a:cs typeface="Arial" pitchFamily="34" charset="-120"/>
              </a:rPr>
              <a:t>In one line:  </a:t>
            </a:r>
            <a:pPr indent="0" marL="0">
              <a:buNone/>
            </a:pPr>
            <a:r>
              <a:rPr lang="en-US" sz="1250" dirty="0">
                <a:solidFill>
                  <a:srgbClr val="FFFFFF"/>
                </a:solidFill>
                <a:latin typeface="Arial" pitchFamily="34" charset="0"/>
                <a:ea typeface="Arial" pitchFamily="34" charset="-122"/>
                <a:cs typeface="Arial" pitchFamily="34" charset="-120"/>
              </a:rPr>
              <a:t>Christ has made us free — stand there, and add nothing to grace.</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lstStyle/>
          <a:p>
            <a:pPr indent="0" marL="0">
              <a:buNone/>
            </a:pPr>
            <a:r>
              <a:rPr lang="en-US" sz="1400" dirty="0">
                <a:solidFill>
                  <a:srgbClr val="C9D5EE"/>
                </a:solidFill>
                <a:latin typeface="Arial" pitchFamily="34" charset="0"/>
                <a:ea typeface="Arial" pitchFamily="34" charset="-122"/>
                <a:cs typeface="Arial" pitchFamily="34" charset="-120"/>
              </a:rPr>
              <a:t>Study 13 of 16 · Galatians 5:13–26</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Walk in the Spirit</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t"/>
          <a:lstStyle/>
          <a:p>
            <a:pPr indent="0" marL="0">
              <a:buNone/>
            </a:pPr>
            <a:r>
              <a:rPr lang="en-US" sz="1500" i="1" dirty="0">
                <a:solidFill>
                  <a:srgbClr val="E6ECF7"/>
                </a:solidFill>
                <a:latin typeface="Arial" pitchFamily="34" charset="0"/>
                <a:ea typeface="Arial" pitchFamily="34" charset="-122"/>
                <a:cs typeface="Arial" pitchFamily="34" charset="-120"/>
              </a:rPr>
              <a:t>Christian liberty is not freedom to indulge the flesh but freedom to walk continually in step with the Holy Spirit — who alone produces, as fruit rather than forced works, what the law could only demand.</a:t>
            </a:r>
            <a:endParaRPr lang="en-US" sz="15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Three things to do with liberty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5:13–15 · Outline I — The potential of liberty</a:t>
            </a:r>
            <a:endParaRPr lang="en-US" sz="1200" dirty="0"/>
          </a:p>
        </p:txBody>
      </p:sp>
      <p:sp>
        <p:nvSpPr>
          <p:cNvPr id="5" name="Shape 2"/>
          <p:cNvSpPr/>
          <p:nvPr/>
        </p:nvSpPr>
        <p:spPr>
          <a:xfrm>
            <a:off x="457200" y="1143000"/>
            <a:ext cx="2615184" cy="2377440"/>
          </a:xfrm>
          <a:prstGeom prst="rect">
            <a:avLst/>
          </a:prstGeom>
          <a:solidFill>
            <a:srgbClr val="F2F6FC"/>
          </a:solidFill>
          <a:ln w="9525">
            <a:solidFill>
              <a:srgbClr val="D5DCEA"/>
            </a:solidFill>
            <a:prstDash val="solid"/>
          </a:ln>
        </p:spPr>
      </p:sp>
      <p:sp>
        <p:nvSpPr>
          <p:cNvPr id="6" name="Shape 3"/>
          <p:cNvSpPr/>
          <p:nvPr/>
        </p:nvSpPr>
        <p:spPr>
          <a:xfrm>
            <a:off x="585216" y="1271016"/>
            <a:ext cx="402336" cy="402336"/>
          </a:xfrm>
          <a:prstGeom prst="ellipse">
            <a:avLst/>
          </a:prstGeom>
          <a:solidFill>
            <a:srgbClr val="6B7280"/>
          </a:solidFill>
          <a:ln w="12700">
            <a:solidFill>
              <a:srgbClr val="6B7280"/>
            </a:solidFill>
            <a:prstDash val="solid"/>
          </a:ln>
        </p:spPr>
      </p:sp>
      <p:sp>
        <p:nvSpPr>
          <p:cNvPr id="7" name="Text 4"/>
          <p:cNvSpPr txBox="1"/>
          <p:nvPr/>
        </p:nvSpPr>
        <p:spPr>
          <a:xfrm>
            <a:off x="585216" y="127101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a:t>
            </a:r>
            <a:endParaRPr lang="en-US" sz="1200" dirty="0"/>
          </a:p>
        </p:txBody>
      </p:sp>
      <p:sp>
        <p:nvSpPr>
          <p:cNvPr id="8" name="Text 5"/>
          <p:cNvSpPr txBox="1"/>
          <p:nvPr/>
        </p:nvSpPr>
        <p:spPr>
          <a:xfrm>
            <a:off x="1078992" y="1252728"/>
            <a:ext cx="1901952"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Exploit it through license</a:t>
            </a:r>
            <a:endParaRPr lang="en-US" sz="1200" dirty="0"/>
          </a:p>
        </p:txBody>
      </p:sp>
      <p:sp>
        <p:nvSpPr>
          <p:cNvPr id="9" name="Text 6"/>
          <p:cNvSpPr txBox="1"/>
          <p:nvPr/>
        </p:nvSpPr>
        <p:spPr>
          <a:xfrm>
            <a:off x="585216" y="1764792"/>
            <a:ext cx="2359152" cy="1664208"/>
          </a:xfrm>
          <a:prstGeom prst="rect">
            <a:avLst/>
          </a:prstGeom>
          <a:noFill/>
          <a:ln/>
        </p:spPr>
        <p:txBody>
          <a:bodyPr wrap="square" lIns="0" tIns="0" rIns="0" bIns="0" rtlCol="0" anchor="t"/>
          <a:lstStyle/>
          <a:p>
            <a:pPr indent="0" marL="0">
              <a:buNone/>
            </a:pPr>
            <a:r>
              <a:rPr lang="en-US" sz="1250" b="1" dirty="0">
                <a:solidFill>
                  <a:srgbClr val="7030A0"/>
                </a:solidFill>
                <a:latin typeface="Arial" pitchFamily="34" charset="0"/>
                <a:ea typeface="Arial" pitchFamily="34" charset="-122"/>
                <a:cs typeface="Arial" pitchFamily="34" charset="-120"/>
              </a:rPr>
              <a:t>ἀφορμή · v.13a</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Don't turn liberty into a staging ground for the flesh</a:t>
            </a:r>
            <a:endParaRPr lang="en-US" sz="1200" dirty="0"/>
          </a:p>
        </p:txBody>
      </p:sp>
      <p:sp>
        <p:nvSpPr>
          <p:cNvPr id="10" name="Shape 7"/>
          <p:cNvSpPr/>
          <p:nvPr/>
        </p:nvSpPr>
        <p:spPr>
          <a:xfrm>
            <a:off x="3264408" y="1143000"/>
            <a:ext cx="2615184" cy="2377440"/>
          </a:xfrm>
          <a:prstGeom prst="rect">
            <a:avLst/>
          </a:prstGeom>
          <a:solidFill>
            <a:srgbClr val="F2F6FC"/>
          </a:solidFill>
          <a:ln w="9525">
            <a:solidFill>
              <a:srgbClr val="D5DCEA"/>
            </a:solidFill>
            <a:prstDash val="solid"/>
          </a:ln>
        </p:spPr>
      </p:sp>
      <p:sp>
        <p:nvSpPr>
          <p:cNvPr id="11" name="Shape 8"/>
          <p:cNvSpPr/>
          <p:nvPr/>
        </p:nvSpPr>
        <p:spPr>
          <a:xfrm>
            <a:off x="3392424" y="1271016"/>
            <a:ext cx="402336" cy="402336"/>
          </a:xfrm>
          <a:prstGeom prst="ellipse">
            <a:avLst/>
          </a:prstGeom>
          <a:solidFill>
            <a:srgbClr val="2E5496"/>
          </a:solidFill>
          <a:ln w="12700">
            <a:solidFill>
              <a:srgbClr val="2E5496"/>
            </a:solidFill>
            <a:prstDash val="solid"/>
          </a:ln>
        </p:spPr>
      </p:sp>
      <p:sp>
        <p:nvSpPr>
          <p:cNvPr id="12" name="Text 9"/>
          <p:cNvSpPr txBox="1"/>
          <p:nvPr/>
        </p:nvSpPr>
        <p:spPr>
          <a:xfrm>
            <a:off x="3392424" y="127101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B</a:t>
            </a:r>
            <a:endParaRPr lang="en-US" sz="1200" dirty="0"/>
          </a:p>
        </p:txBody>
      </p:sp>
      <p:sp>
        <p:nvSpPr>
          <p:cNvPr id="13" name="Text 10"/>
          <p:cNvSpPr txBox="1"/>
          <p:nvPr/>
        </p:nvSpPr>
        <p:spPr>
          <a:xfrm>
            <a:off x="3886200" y="1252728"/>
            <a:ext cx="1901952"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Explore it through love</a:t>
            </a:r>
            <a:endParaRPr lang="en-US" sz="1200" dirty="0"/>
          </a:p>
        </p:txBody>
      </p:sp>
      <p:sp>
        <p:nvSpPr>
          <p:cNvPr id="14" name="Text 11"/>
          <p:cNvSpPr txBox="1"/>
          <p:nvPr/>
        </p:nvSpPr>
        <p:spPr>
          <a:xfrm>
            <a:off x="3392424" y="1764792"/>
            <a:ext cx="2359152" cy="1664208"/>
          </a:xfrm>
          <a:prstGeom prst="rect">
            <a:avLst/>
          </a:prstGeom>
          <a:noFill/>
          <a:ln/>
        </p:spPr>
        <p:txBody>
          <a:bodyPr wrap="square" lIns="0" tIns="0" rIns="0" bIns="0" rtlCol="0" anchor="t"/>
          <a:lstStyle/>
          <a:p>
            <a:pPr indent="0" marL="0">
              <a:buNone/>
            </a:pPr>
            <a:r>
              <a:rPr lang="en-US" sz="1250" b="1" dirty="0">
                <a:solidFill>
                  <a:srgbClr val="7030A0"/>
                </a:solidFill>
                <a:latin typeface="Arial" pitchFamily="34" charset="0"/>
                <a:ea typeface="Arial" pitchFamily="34" charset="-122"/>
                <a:cs typeface="Arial" pitchFamily="34" charset="-120"/>
              </a:rPr>
              <a:t>δουλεύετε · v.13b–14</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Through love serve one another — the law fulfilled in one word (πεπλήρωται)</a:t>
            </a:r>
            <a:endParaRPr lang="en-US" sz="1200" dirty="0"/>
          </a:p>
        </p:txBody>
      </p:sp>
      <p:sp>
        <p:nvSpPr>
          <p:cNvPr id="15" name="Shape 12"/>
          <p:cNvSpPr/>
          <p:nvPr/>
        </p:nvSpPr>
        <p:spPr>
          <a:xfrm>
            <a:off x="6071616" y="1143000"/>
            <a:ext cx="2615184" cy="2377440"/>
          </a:xfrm>
          <a:prstGeom prst="rect">
            <a:avLst/>
          </a:prstGeom>
          <a:solidFill>
            <a:srgbClr val="F2F6FC"/>
          </a:solidFill>
          <a:ln w="9525">
            <a:solidFill>
              <a:srgbClr val="D5DCEA"/>
            </a:solidFill>
            <a:prstDash val="solid"/>
          </a:ln>
        </p:spPr>
      </p:sp>
      <p:sp>
        <p:nvSpPr>
          <p:cNvPr id="16" name="Shape 13"/>
          <p:cNvSpPr/>
          <p:nvPr/>
        </p:nvSpPr>
        <p:spPr>
          <a:xfrm>
            <a:off x="6199632" y="1271016"/>
            <a:ext cx="402336" cy="402336"/>
          </a:xfrm>
          <a:prstGeom prst="ellipse">
            <a:avLst/>
          </a:prstGeom>
          <a:solidFill>
            <a:srgbClr val="375623"/>
          </a:solidFill>
          <a:ln w="12700">
            <a:solidFill>
              <a:srgbClr val="375623"/>
            </a:solidFill>
            <a:prstDash val="solid"/>
          </a:ln>
        </p:spPr>
      </p:sp>
      <p:sp>
        <p:nvSpPr>
          <p:cNvPr id="17" name="Text 14"/>
          <p:cNvSpPr txBox="1"/>
          <p:nvPr/>
        </p:nvSpPr>
        <p:spPr>
          <a:xfrm>
            <a:off x="6199632" y="127101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a:t>
            </a:r>
            <a:endParaRPr lang="en-US" sz="1200" dirty="0"/>
          </a:p>
        </p:txBody>
      </p:sp>
      <p:sp>
        <p:nvSpPr>
          <p:cNvPr id="18" name="Text 15"/>
          <p:cNvSpPr txBox="1"/>
          <p:nvPr/>
        </p:nvSpPr>
        <p:spPr>
          <a:xfrm>
            <a:off x="6693408" y="1252728"/>
            <a:ext cx="1901952"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Enjoy it through harmony</a:t>
            </a:r>
            <a:endParaRPr lang="en-US" sz="1200" dirty="0"/>
          </a:p>
        </p:txBody>
      </p:sp>
      <p:sp>
        <p:nvSpPr>
          <p:cNvPr id="19" name="Text 16"/>
          <p:cNvSpPr txBox="1"/>
          <p:nvPr/>
        </p:nvSpPr>
        <p:spPr>
          <a:xfrm>
            <a:off x="6199632" y="1764792"/>
            <a:ext cx="2359152" cy="1664208"/>
          </a:xfrm>
          <a:prstGeom prst="rect">
            <a:avLst/>
          </a:prstGeom>
          <a:noFill/>
          <a:ln/>
        </p:spPr>
        <p:txBody>
          <a:bodyPr wrap="square" lIns="0" tIns="0" rIns="0" bIns="0" rtlCol="0" anchor="t"/>
          <a:lstStyle/>
          <a:p>
            <a:pPr indent="0" marL="0">
              <a:buNone/>
            </a:pPr>
            <a:r>
              <a:rPr lang="en-US" sz="1250" b="1" dirty="0">
                <a:solidFill>
                  <a:srgbClr val="7030A0"/>
                </a:solidFill>
                <a:latin typeface="Arial" pitchFamily="34" charset="0"/>
                <a:ea typeface="Arial" pitchFamily="34" charset="-122"/>
                <a:cs typeface="Arial" pitchFamily="34" charset="-120"/>
              </a:rPr>
              <a:t>v.15</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Don't bite and devour one another — written to believers</a:t>
            </a:r>
            <a:endParaRPr lang="en-US" sz="1200" dirty="0"/>
          </a:p>
        </p:txBody>
      </p:sp>
      <p:sp>
        <p:nvSpPr>
          <p:cNvPr id="20" name="Shape 17"/>
          <p:cNvSpPr/>
          <p:nvPr/>
        </p:nvSpPr>
        <p:spPr>
          <a:xfrm>
            <a:off x="457200" y="3931920"/>
            <a:ext cx="8229600" cy="548640"/>
          </a:xfrm>
          <a:prstGeom prst="roundRect">
            <a:avLst>
              <a:gd name="adj" fmla="val 10000"/>
            </a:avLst>
          </a:prstGeom>
          <a:solidFill>
            <a:srgbClr val="1F3864"/>
          </a:solidFill>
          <a:ln w="12700">
            <a:solidFill>
              <a:srgbClr val="1F3864"/>
            </a:solidFill>
            <a:prstDash val="solid"/>
          </a:ln>
        </p:spPr>
      </p:sp>
      <p:sp>
        <p:nvSpPr>
          <p:cNvPr id="21" name="Text 18"/>
          <p:cNvSpPr txBox="1"/>
          <p:nvPr/>
        </p:nvSpPr>
        <p:spPr>
          <a:xfrm>
            <a:off x="621792" y="3931920"/>
            <a:ext cx="7900416" cy="54864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Positionally we are already free (5:1). Experientially we choose, day by day, to live up to that position.</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Walk, conflict, led</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5:16–18 · Outline II — The performance of liberty</a:t>
            </a:r>
            <a:endParaRPr lang="en-US" sz="1200" dirty="0"/>
          </a:p>
        </p:txBody>
      </p:sp>
      <p:sp>
        <p:nvSpPr>
          <p:cNvPr id="5" name="Shape 2"/>
          <p:cNvSpPr/>
          <p:nvPr/>
        </p:nvSpPr>
        <p:spPr>
          <a:xfrm>
            <a:off x="457200" y="1188720"/>
            <a:ext cx="2596896" cy="2286000"/>
          </a:xfrm>
          <a:prstGeom prst="rect">
            <a:avLst/>
          </a:prstGeom>
          <a:solidFill>
            <a:srgbClr val="F2F6FC"/>
          </a:solidFill>
          <a:ln w="9525">
            <a:solidFill>
              <a:srgbClr val="D5DCEA"/>
            </a:solidFill>
            <a:prstDash val="solid"/>
          </a:ln>
        </p:spPr>
      </p:sp>
      <p:sp>
        <p:nvSpPr>
          <p:cNvPr id="6" name="Shape 3"/>
          <p:cNvSpPr/>
          <p:nvPr/>
        </p:nvSpPr>
        <p:spPr>
          <a:xfrm>
            <a:off x="457200" y="1188720"/>
            <a:ext cx="2596896" cy="566928"/>
          </a:xfrm>
          <a:prstGeom prst="rect">
            <a:avLst/>
          </a:prstGeom>
          <a:solidFill>
            <a:srgbClr val="2E5496"/>
          </a:solidFill>
          <a:ln w="12700">
            <a:solidFill>
              <a:srgbClr val="2E5496"/>
            </a:solidFill>
            <a:prstDash val="solid"/>
          </a:ln>
        </p:spPr>
      </p:sp>
      <p:sp>
        <p:nvSpPr>
          <p:cNvPr id="7" name="Text 4"/>
          <p:cNvSpPr txBox="1"/>
          <p:nvPr/>
        </p:nvSpPr>
        <p:spPr>
          <a:xfrm>
            <a:off x="512064" y="1188720"/>
            <a:ext cx="2487168"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The command</a:t>
            </a:r>
            <a:endParaRPr lang="en-US" sz="1150" dirty="0"/>
          </a:p>
        </p:txBody>
      </p:sp>
      <p:sp>
        <p:nvSpPr>
          <p:cNvPr id="8" name="Text 5"/>
          <p:cNvSpPr txBox="1"/>
          <p:nvPr/>
        </p:nvSpPr>
        <p:spPr>
          <a:xfrm>
            <a:off x="548640" y="1828800"/>
            <a:ext cx="2414016" cy="1335024"/>
          </a:xfrm>
          <a:prstGeom prst="rect">
            <a:avLst/>
          </a:prstGeom>
          <a:noFill/>
          <a:ln/>
        </p:spPr>
        <p:txBody>
          <a:bodyPr wrap="square" lIns="0" tIns="0" rIns="0" bIns="0" rtlCol="0" anchor="t"/>
          <a:lstStyle/>
          <a:p>
            <a:pPr algn="ctr" indent="0" marL="0">
              <a:buNone/>
            </a:pPr>
            <a:r>
              <a:rPr lang="en-US" sz="1250" b="1" dirty="0">
                <a:solidFill>
                  <a:srgbClr val="7030A0"/>
                </a:solidFill>
                <a:latin typeface="Arial" pitchFamily="34" charset="0"/>
                <a:ea typeface="Arial" pitchFamily="34" charset="-122"/>
                <a:cs typeface="Arial" pitchFamily="34" charset="-120"/>
              </a:rPr>
              <a:t>περιπατεῖτε</a:t>
            </a:r>
            <a:endParaRPr lang="en-US" sz="1200" dirty="0"/>
          </a:p>
          <a:p>
            <a:pPr algn="ctr" indent="0" marL="0">
              <a:buNone/>
            </a:pPr>
            <a:r>
              <a:rPr lang="en-US" sz="1200" dirty="0">
                <a:solidFill>
                  <a:srgbClr val="262626"/>
                </a:solidFill>
                <a:latin typeface="Arial" pitchFamily="34" charset="0"/>
                <a:ea typeface="Arial" pitchFamily="34" charset="-122"/>
                <a:cs typeface="Arial" pitchFamily="34" charset="-120"/>
              </a:rPr>
              <a:t>“Walk in the Spirit, and you shall not fulfill the lust of the flesh”</a:t>
            </a:r>
            <a:endParaRPr lang="en-US" sz="1200" dirty="0"/>
          </a:p>
        </p:txBody>
      </p:sp>
      <p:sp>
        <p:nvSpPr>
          <p:cNvPr id="9" name="Text 6"/>
          <p:cNvSpPr txBox="1"/>
          <p:nvPr/>
        </p:nvSpPr>
        <p:spPr>
          <a:xfrm>
            <a:off x="530352" y="3145536"/>
            <a:ext cx="2450592"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v.16</a:t>
            </a:r>
            <a:endParaRPr lang="en-US" sz="950" dirty="0"/>
          </a:p>
        </p:txBody>
      </p:sp>
      <p:sp>
        <p:nvSpPr>
          <p:cNvPr id="10" name="Shape 7"/>
          <p:cNvSpPr/>
          <p:nvPr/>
        </p:nvSpPr>
        <p:spPr>
          <a:xfrm>
            <a:off x="3063240" y="2212848"/>
            <a:ext cx="201168" cy="237744"/>
          </a:xfrm>
          <a:prstGeom prst="rightArrow">
            <a:avLst/>
          </a:prstGeom>
          <a:solidFill>
            <a:srgbClr val="6B7280"/>
          </a:solidFill>
          <a:ln w="12700">
            <a:solidFill>
              <a:srgbClr val="6B7280"/>
            </a:solidFill>
            <a:prstDash val="solid"/>
          </a:ln>
        </p:spPr>
      </p:sp>
      <p:sp>
        <p:nvSpPr>
          <p:cNvPr id="11" name="Shape 8"/>
          <p:cNvSpPr/>
          <p:nvPr/>
        </p:nvSpPr>
        <p:spPr>
          <a:xfrm>
            <a:off x="3273552" y="1188720"/>
            <a:ext cx="2596896" cy="2286000"/>
          </a:xfrm>
          <a:prstGeom prst="rect">
            <a:avLst/>
          </a:prstGeom>
          <a:solidFill>
            <a:srgbClr val="F2F6FC"/>
          </a:solidFill>
          <a:ln w="9525">
            <a:solidFill>
              <a:srgbClr val="D5DCEA"/>
            </a:solidFill>
            <a:prstDash val="solid"/>
          </a:ln>
        </p:spPr>
      </p:sp>
      <p:sp>
        <p:nvSpPr>
          <p:cNvPr id="12" name="Shape 9"/>
          <p:cNvSpPr/>
          <p:nvPr/>
        </p:nvSpPr>
        <p:spPr>
          <a:xfrm>
            <a:off x="3273552" y="1188720"/>
            <a:ext cx="2596896" cy="566928"/>
          </a:xfrm>
          <a:prstGeom prst="rect">
            <a:avLst/>
          </a:prstGeom>
          <a:solidFill>
            <a:srgbClr val="6B7280"/>
          </a:solidFill>
          <a:ln w="12700">
            <a:solidFill>
              <a:srgbClr val="6B7280"/>
            </a:solidFill>
            <a:prstDash val="solid"/>
          </a:ln>
        </p:spPr>
      </p:sp>
      <p:sp>
        <p:nvSpPr>
          <p:cNvPr id="13" name="Text 10"/>
          <p:cNvSpPr txBox="1"/>
          <p:nvPr/>
        </p:nvSpPr>
        <p:spPr>
          <a:xfrm>
            <a:off x="3328416" y="1188720"/>
            <a:ext cx="2487168"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The conflict</a:t>
            </a:r>
            <a:endParaRPr lang="en-US" sz="1150" dirty="0"/>
          </a:p>
        </p:txBody>
      </p:sp>
      <p:sp>
        <p:nvSpPr>
          <p:cNvPr id="14" name="Text 11"/>
          <p:cNvSpPr txBox="1"/>
          <p:nvPr/>
        </p:nvSpPr>
        <p:spPr>
          <a:xfrm>
            <a:off x="3364992" y="1828800"/>
            <a:ext cx="2414016" cy="1335024"/>
          </a:xfrm>
          <a:prstGeom prst="rect">
            <a:avLst/>
          </a:prstGeom>
          <a:noFill/>
          <a:ln/>
        </p:spPr>
        <p:txBody>
          <a:bodyPr wrap="square" lIns="0" tIns="0" rIns="0" bIns="0" rtlCol="0" anchor="t"/>
          <a:lstStyle/>
          <a:p>
            <a:pPr algn="ctr" indent="0" marL="0">
              <a:buNone/>
            </a:pPr>
            <a:r>
              <a:rPr lang="en-US" sz="1200" dirty="0">
                <a:solidFill>
                  <a:srgbClr val="262626"/>
                </a:solidFill>
                <a:latin typeface="Arial" pitchFamily="34" charset="0"/>
                <a:ea typeface="Arial" pitchFamily="34" charset="-122"/>
                <a:cs typeface="Arial" pitchFamily="34" charset="-120"/>
              </a:rPr>
              <a:t>Flesh and Spirit are contrary — a war within the believer</a:t>
            </a:r>
            <a:endParaRPr lang="en-US" sz="1200" dirty="0"/>
          </a:p>
        </p:txBody>
      </p:sp>
      <p:sp>
        <p:nvSpPr>
          <p:cNvPr id="15" name="Text 12"/>
          <p:cNvSpPr txBox="1"/>
          <p:nvPr/>
        </p:nvSpPr>
        <p:spPr>
          <a:xfrm>
            <a:off x="3346704" y="3145536"/>
            <a:ext cx="2450592"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v.17</a:t>
            </a:r>
            <a:endParaRPr lang="en-US" sz="950" dirty="0"/>
          </a:p>
        </p:txBody>
      </p:sp>
      <p:sp>
        <p:nvSpPr>
          <p:cNvPr id="16" name="Shape 13"/>
          <p:cNvSpPr/>
          <p:nvPr/>
        </p:nvSpPr>
        <p:spPr>
          <a:xfrm>
            <a:off x="5879592" y="2212848"/>
            <a:ext cx="201168" cy="237744"/>
          </a:xfrm>
          <a:prstGeom prst="rightArrow">
            <a:avLst/>
          </a:prstGeom>
          <a:solidFill>
            <a:srgbClr val="6B7280"/>
          </a:solidFill>
          <a:ln w="12700">
            <a:solidFill>
              <a:srgbClr val="6B7280"/>
            </a:solidFill>
            <a:prstDash val="solid"/>
          </a:ln>
        </p:spPr>
      </p:sp>
      <p:sp>
        <p:nvSpPr>
          <p:cNvPr id="17" name="Shape 14"/>
          <p:cNvSpPr/>
          <p:nvPr/>
        </p:nvSpPr>
        <p:spPr>
          <a:xfrm>
            <a:off x="6089904" y="1188720"/>
            <a:ext cx="2596896" cy="2286000"/>
          </a:xfrm>
          <a:prstGeom prst="rect">
            <a:avLst/>
          </a:prstGeom>
          <a:solidFill>
            <a:srgbClr val="F2F6FC"/>
          </a:solidFill>
          <a:ln w="9525">
            <a:solidFill>
              <a:srgbClr val="D5DCEA"/>
            </a:solidFill>
            <a:prstDash val="solid"/>
          </a:ln>
        </p:spPr>
      </p:sp>
      <p:sp>
        <p:nvSpPr>
          <p:cNvPr id="18" name="Shape 15"/>
          <p:cNvSpPr/>
          <p:nvPr/>
        </p:nvSpPr>
        <p:spPr>
          <a:xfrm>
            <a:off x="6089904" y="1188720"/>
            <a:ext cx="2596896" cy="566928"/>
          </a:xfrm>
          <a:prstGeom prst="rect">
            <a:avLst/>
          </a:prstGeom>
          <a:solidFill>
            <a:srgbClr val="375623"/>
          </a:solidFill>
          <a:ln w="12700">
            <a:solidFill>
              <a:srgbClr val="375623"/>
            </a:solidFill>
            <a:prstDash val="solid"/>
          </a:ln>
        </p:spPr>
      </p:sp>
      <p:sp>
        <p:nvSpPr>
          <p:cNvPr id="19" name="Text 16"/>
          <p:cNvSpPr txBox="1"/>
          <p:nvPr/>
        </p:nvSpPr>
        <p:spPr>
          <a:xfrm>
            <a:off x="6144768" y="1188720"/>
            <a:ext cx="2487168"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The call</a:t>
            </a:r>
            <a:endParaRPr lang="en-US" sz="1150" dirty="0"/>
          </a:p>
        </p:txBody>
      </p:sp>
      <p:sp>
        <p:nvSpPr>
          <p:cNvPr id="20" name="Text 17"/>
          <p:cNvSpPr txBox="1"/>
          <p:nvPr/>
        </p:nvSpPr>
        <p:spPr>
          <a:xfrm>
            <a:off x="6181344" y="1828800"/>
            <a:ext cx="2414016" cy="1335024"/>
          </a:xfrm>
          <a:prstGeom prst="rect">
            <a:avLst/>
          </a:prstGeom>
          <a:noFill/>
          <a:ln/>
        </p:spPr>
        <p:txBody>
          <a:bodyPr wrap="square" lIns="0" tIns="0" rIns="0" bIns="0" rtlCol="0" anchor="t"/>
          <a:lstStyle/>
          <a:p>
            <a:pPr algn="ctr" indent="0" marL="0">
              <a:buNone/>
            </a:pPr>
            <a:r>
              <a:rPr lang="en-US" sz="1200" dirty="0">
                <a:solidFill>
                  <a:srgbClr val="262626"/>
                </a:solidFill>
                <a:latin typeface="Arial" pitchFamily="34" charset="0"/>
                <a:ea typeface="Arial" pitchFamily="34" charset="-122"/>
                <a:cs typeface="Arial" pitchFamily="34" charset="-120"/>
              </a:rPr>
              <a:t>“If you are led by the Spirit, you are not under the law”</a:t>
            </a:r>
            <a:endParaRPr lang="en-US" sz="1200" dirty="0"/>
          </a:p>
        </p:txBody>
      </p:sp>
      <p:sp>
        <p:nvSpPr>
          <p:cNvPr id="21" name="Text 18"/>
          <p:cNvSpPr txBox="1"/>
          <p:nvPr/>
        </p:nvSpPr>
        <p:spPr>
          <a:xfrm>
            <a:off x="6163056" y="3145536"/>
            <a:ext cx="2450592"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v.18</a:t>
            </a:r>
            <a:endParaRPr lang="en-US" sz="950" dirty="0"/>
          </a:p>
        </p:txBody>
      </p:sp>
      <p:sp>
        <p:nvSpPr>
          <p:cNvPr id="22" name="Shape 19"/>
          <p:cNvSpPr/>
          <p:nvPr/>
        </p:nvSpPr>
        <p:spPr>
          <a:xfrm>
            <a:off x="457200" y="3749040"/>
            <a:ext cx="8229600" cy="548640"/>
          </a:xfrm>
          <a:prstGeom prst="roundRect">
            <a:avLst>
              <a:gd name="adj" fmla="val 10000"/>
            </a:avLst>
          </a:prstGeom>
          <a:solidFill>
            <a:srgbClr val="1F3864"/>
          </a:solidFill>
          <a:ln w="12700">
            <a:solidFill>
              <a:srgbClr val="1F3864"/>
            </a:solidFill>
            <a:prstDash val="solid"/>
          </a:ln>
        </p:spPr>
      </p:sp>
      <p:sp>
        <p:nvSpPr>
          <p:cNvPr id="23" name="Text 20"/>
          <p:cNvSpPr txBox="1"/>
          <p:nvPr/>
        </p:nvSpPr>
        <p:spPr>
          <a:xfrm>
            <a:off x="621792" y="3749040"/>
            <a:ext cx="7900416" cy="54864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Walking in the Spirit, not self-effort, is how the believer overcomes the flesh.</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Works of the flesh, fruit of the Spirit</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5:19–23 · Outline III — The pictures of liberty</a:t>
            </a:r>
            <a:endParaRPr lang="en-US" sz="1200" dirty="0"/>
          </a:p>
        </p:txBody>
      </p:sp>
      <p:sp>
        <p:nvSpPr>
          <p:cNvPr id="5" name="Shape 2"/>
          <p:cNvSpPr/>
          <p:nvPr/>
        </p:nvSpPr>
        <p:spPr>
          <a:xfrm>
            <a:off x="457200" y="1143000"/>
            <a:ext cx="4023360" cy="566928"/>
          </a:xfrm>
          <a:prstGeom prst="rect">
            <a:avLst/>
          </a:prstGeom>
          <a:solidFill>
            <a:srgbClr val="6B7280"/>
          </a:solidFill>
          <a:ln w="12700">
            <a:solidFill>
              <a:srgbClr val="6B7280"/>
            </a:solidFill>
            <a:prstDash val="solid"/>
          </a:ln>
        </p:spPr>
      </p:sp>
      <p:sp>
        <p:nvSpPr>
          <p:cNvPr id="6" name="Text 3"/>
          <p:cNvSpPr txBox="1"/>
          <p:nvPr/>
        </p:nvSpPr>
        <p:spPr>
          <a:xfrm>
            <a:off x="548640" y="1188720"/>
            <a:ext cx="3840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Works of the flesh — plural, self-produced</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ἔργα τῆς σαρκός</a:t>
            </a:r>
            <a:pPr indent="0" marL="0">
              <a:buNone/>
            </a:pPr>
            <a:r>
              <a:rPr lang="en-US" sz="850" dirty="0">
                <a:solidFill>
                  <a:srgbClr val="DCE4F2"/>
                </a:solidFill>
                <a:latin typeface="Arial" pitchFamily="34" charset="0"/>
                <a:ea typeface="Arial" pitchFamily="34" charset="-122"/>
                <a:cs typeface="Arial" pitchFamily="34" charset="-120"/>
              </a:rPr>
              <a:t>  v.19</a:t>
            </a:r>
            <a:endParaRPr lang="en-US" sz="1200" dirty="0"/>
          </a:p>
        </p:txBody>
      </p:sp>
      <p:sp>
        <p:nvSpPr>
          <p:cNvPr id="7" name="Shape 4"/>
          <p:cNvSpPr/>
          <p:nvPr/>
        </p:nvSpPr>
        <p:spPr>
          <a:xfrm>
            <a:off x="457200" y="1709928"/>
            <a:ext cx="4023360" cy="2907792"/>
          </a:xfrm>
          <a:prstGeom prst="rect">
            <a:avLst/>
          </a:prstGeom>
          <a:solidFill>
            <a:srgbClr val="F2F6FC"/>
          </a:solidFill>
          <a:ln w="9525">
            <a:solidFill>
              <a:srgbClr val="D5DCEA"/>
            </a:solidFill>
            <a:prstDash val="solid"/>
          </a:ln>
        </p:spPr>
      </p:sp>
      <p:sp>
        <p:nvSpPr>
          <p:cNvPr id="8" name="Text 5"/>
          <p:cNvSpPr txBox="1"/>
          <p:nvPr/>
        </p:nvSpPr>
        <p:spPr>
          <a:xfrm>
            <a:off x="548640" y="1783080"/>
            <a:ext cx="3840480" cy="2779776"/>
          </a:xfrm>
          <a:prstGeom prst="rect">
            <a:avLst/>
          </a:prstGeom>
          <a:noFill/>
          <a:ln/>
        </p:spPr>
        <p:txBody>
          <a:bodyPr wrap="square" lIns="0" tIns="0" rIns="0" bIns="0" rtlCol="0" anchor="t"/>
          <a:lstStyle/>
          <a:p>
            <a:pPr indent="0" marL="0">
              <a:buNone/>
            </a:pPr>
            <a:endParaRPr lang="en-US" sz="1100" dirty="0"/>
          </a:p>
        </p:txBody>
      </p:sp>
      <p:sp>
        <p:nvSpPr>
          <p:cNvPr id="9" name="Text 6"/>
          <p:cNvSpPr txBox="1"/>
          <p:nvPr/>
        </p:nvSpPr>
        <p:spPr>
          <a:xfrm>
            <a:off x="566928" y="1801368"/>
            <a:ext cx="3803904" cy="2724912"/>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Sexual  </a:t>
            </a:r>
            <a:pPr indent="0" marL="0">
              <a:buNone/>
            </a:pPr>
            <a:r>
              <a:rPr lang="en-US" sz="1300" dirty="0">
                <a:solidFill>
                  <a:srgbClr val="262626"/>
                </a:solidFill>
                <a:latin typeface="Arial" pitchFamily="34" charset="0"/>
                <a:ea typeface="Arial" pitchFamily="34" charset="-122"/>
                <a:cs typeface="Arial" pitchFamily="34" charset="-120"/>
              </a:rPr>
              <a:t>adultery, fornication, uncleanness, lewdness</a:t>
            </a:r>
            <a:endParaRPr lang="en-US" sz="1300" dirty="0"/>
          </a:p>
          <a:p>
            <a:pPr indent="0" marL="0">
              <a:buNone/>
            </a:pPr>
            <a:r>
              <a:rPr lang="en-US" sz="500" dirty="0">
                <a:solidFill>
                  <a:srgbClr val="262626"/>
                </a:solidFill>
                <a:latin typeface="Arial" pitchFamily="34" charset="0"/>
                <a:ea typeface="Arial" pitchFamily="34" charset="-122"/>
                <a:cs typeface="Arial" pitchFamily="34" charset="-120"/>
              </a:rPr>
              <a:t> </a:t>
            </a:r>
            <a:endParaRPr lang="en-US" sz="1300" dirty="0"/>
          </a:p>
          <a:p>
            <a:pPr indent="0" marL="0">
              <a:buNone/>
            </a:pPr>
            <a:r>
              <a:rPr lang="en-US" sz="1300" b="1" dirty="0">
                <a:solidFill>
                  <a:srgbClr val="1F3864"/>
                </a:solidFill>
                <a:latin typeface="Arial" pitchFamily="34" charset="0"/>
                <a:ea typeface="Arial" pitchFamily="34" charset="-122"/>
                <a:cs typeface="Arial" pitchFamily="34" charset="-120"/>
              </a:rPr>
              <a:t>Spiritual  </a:t>
            </a:r>
            <a:pPr indent="0" marL="0">
              <a:buNone/>
            </a:pPr>
            <a:r>
              <a:rPr lang="en-US" sz="1300" dirty="0">
                <a:solidFill>
                  <a:srgbClr val="262626"/>
                </a:solidFill>
                <a:latin typeface="Arial" pitchFamily="34" charset="0"/>
                <a:ea typeface="Arial" pitchFamily="34" charset="-122"/>
                <a:cs typeface="Arial" pitchFamily="34" charset="-120"/>
              </a:rPr>
              <a:t>idolatry, sorcery</a:t>
            </a:r>
            <a:endParaRPr lang="en-US" sz="1300" dirty="0"/>
          </a:p>
          <a:p>
            <a:pPr indent="0" marL="0">
              <a:buNone/>
            </a:pPr>
            <a:r>
              <a:rPr lang="en-US" sz="500" dirty="0">
                <a:solidFill>
                  <a:srgbClr val="262626"/>
                </a:solidFill>
                <a:latin typeface="Arial" pitchFamily="34" charset="0"/>
                <a:ea typeface="Arial" pitchFamily="34" charset="-122"/>
                <a:cs typeface="Arial" pitchFamily="34" charset="-120"/>
              </a:rPr>
              <a:t> </a:t>
            </a:r>
            <a:endParaRPr lang="en-US" sz="1300" dirty="0"/>
          </a:p>
          <a:p>
            <a:pPr indent="0" marL="0">
              <a:buNone/>
            </a:pPr>
            <a:r>
              <a:rPr lang="en-US" sz="1300" b="1" dirty="0">
                <a:solidFill>
                  <a:srgbClr val="1F3864"/>
                </a:solidFill>
                <a:latin typeface="Arial" pitchFamily="34" charset="0"/>
                <a:ea typeface="Arial" pitchFamily="34" charset="-122"/>
                <a:cs typeface="Arial" pitchFamily="34" charset="-120"/>
              </a:rPr>
              <a:t>Social  </a:t>
            </a:r>
            <a:pPr indent="0" marL="0">
              <a:buNone/>
            </a:pPr>
            <a:r>
              <a:rPr lang="en-US" sz="1300" dirty="0">
                <a:solidFill>
                  <a:srgbClr val="262626"/>
                </a:solidFill>
                <a:latin typeface="Arial" pitchFamily="34" charset="0"/>
                <a:ea typeface="Arial" pitchFamily="34" charset="-122"/>
                <a:cs typeface="Arial" pitchFamily="34" charset="-120"/>
              </a:rPr>
              <a:t>hatred, contentions, jealousies, outbursts of wrath, selfish ambitions, dissensions, heresies, envy, murders … “and the like”</a:t>
            </a:r>
            <a:endParaRPr lang="en-US" sz="1300" dirty="0"/>
          </a:p>
        </p:txBody>
      </p:sp>
      <p:sp>
        <p:nvSpPr>
          <p:cNvPr id="10" name="Shape 7"/>
          <p:cNvSpPr/>
          <p:nvPr/>
        </p:nvSpPr>
        <p:spPr>
          <a:xfrm>
            <a:off x="4663440" y="1143000"/>
            <a:ext cx="4023360" cy="566928"/>
          </a:xfrm>
          <a:prstGeom prst="rect">
            <a:avLst/>
          </a:prstGeom>
          <a:solidFill>
            <a:srgbClr val="375623"/>
          </a:solidFill>
          <a:ln w="12700">
            <a:solidFill>
              <a:srgbClr val="375623"/>
            </a:solidFill>
            <a:prstDash val="solid"/>
          </a:ln>
        </p:spPr>
      </p:sp>
      <p:sp>
        <p:nvSpPr>
          <p:cNvPr id="11" name="Text 8"/>
          <p:cNvSpPr txBox="1"/>
          <p:nvPr/>
        </p:nvSpPr>
        <p:spPr>
          <a:xfrm>
            <a:off x="4754880" y="1188720"/>
            <a:ext cx="3840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Fruit of the Spirit — singular, grown</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καρπός</a:t>
            </a:r>
            <a:pPr indent="0" marL="0">
              <a:buNone/>
            </a:pPr>
            <a:r>
              <a:rPr lang="en-US" sz="850" dirty="0">
                <a:solidFill>
                  <a:srgbClr val="DCE4F2"/>
                </a:solidFill>
                <a:latin typeface="Arial" pitchFamily="34" charset="0"/>
                <a:ea typeface="Arial" pitchFamily="34" charset="-122"/>
                <a:cs typeface="Arial" pitchFamily="34" charset="-120"/>
              </a:rPr>
              <a:t>  v.22</a:t>
            </a:r>
            <a:endParaRPr lang="en-US" sz="1200" dirty="0"/>
          </a:p>
        </p:txBody>
      </p:sp>
      <p:sp>
        <p:nvSpPr>
          <p:cNvPr id="12" name="Shape 9"/>
          <p:cNvSpPr/>
          <p:nvPr/>
        </p:nvSpPr>
        <p:spPr>
          <a:xfrm>
            <a:off x="4663440" y="1709928"/>
            <a:ext cx="4023360" cy="2907792"/>
          </a:xfrm>
          <a:prstGeom prst="rect">
            <a:avLst/>
          </a:prstGeom>
          <a:solidFill>
            <a:srgbClr val="F2F6FC"/>
          </a:solidFill>
          <a:ln w="9525">
            <a:solidFill>
              <a:srgbClr val="D5DCEA"/>
            </a:solidFill>
            <a:prstDash val="solid"/>
          </a:ln>
        </p:spPr>
      </p:sp>
      <p:sp>
        <p:nvSpPr>
          <p:cNvPr id="13" name="Text 10"/>
          <p:cNvSpPr txBox="1"/>
          <p:nvPr/>
        </p:nvSpPr>
        <p:spPr>
          <a:xfrm>
            <a:off x="4754880" y="1783080"/>
            <a:ext cx="3840480" cy="2779776"/>
          </a:xfrm>
          <a:prstGeom prst="rect">
            <a:avLst/>
          </a:prstGeom>
          <a:noFill/>
          <a:ln/>
        </p:spPr>
        <p:txBody>
          <a:bodyPr wrap="square" lIns="0" tIns="0" rIns="0" bIns="0" rtlCol="0" anchor="t"/>
          <a:lstStyle/>
          <a:p>
            <a:pPr indent="0" marL="0">
              <a:buNone/>
            </a:pPr>
            <a:endParaRPr lang="en-US" sz="1100" dirty="0"/>
          </a:p>
        </p:txBody>
      </p:sp>
      <p:sp>
        <p:nvSpPr>
          <p:cNvPr id="14" name="Text 11"/>
          <p:cNvSpPr txBox="1"/>
          <p:nvPr/>
        </p:nvSpPr>
        <p:spPr>
          <a:xfrm>
            <a:off x="4773168" y="1801368"/>
            <a:ext cx="3803904" cy="2724912"/>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Upward  </a:t>
            </a:r>
            <a:pPr indent="0" marL="0">
              <a:buNone/>
            </a:pPr>
            <a:r>
              <a:rPr lang="en-US" sz="1300" dirty="0">
                <a:solidFill>
                  <a:srgbClr val="262626"/>
                </a:solidFill>
                <a:latin typeface="Arial" pitchFamily="34" charset="0"/>
                <a:ea typeface="Arial" pitchFamily="34" charset="-122"/>
                <a:cs typeface="Arial" pitchFamily="34" charset="-120"/>
              </a:rPr>
              <a:t>love, joy, peace</a:t>
            </a:r>
            <a:endParaRPr lang="en-US" sz="1300" dirty="0"/>
          </a:p>
          <a:p>
            <a:pPr indent="0" marL="0">
              <a:buNone/>
            </a:pPr>
            <a:r>
              <a:rPr lang="en-US" sz="500" dirty="0">
                <a:solidFill>
                  <a:srgbClr val="262626"/>
                </a:solidFill>
                <a:latin typeface="Arial" pitchFamily="34" charset="0"/>
                <a:ea typeface="Arial" pitchFamily="34" charset="-122"/>
                <a:cs typeface="Arial" pitchFamily="34" charset="-120"/>
              </a:rPr>
              <a:t> </a:t>
            </a:r>
            <a:endParaRPr lang="en-US" sz="1300" dirty="0"/>
          </a:p>
          <a:p>
            <a:pPr indent="0" marL="0">
              <a:buNone/>
            </a:pPr>
            <a:r>
              <a:rPr lang="en-US" sz="1300" b="1" dirty="0">
                <a:solidFill>
                  <a:srgbClr val="1F3864"/>
                </a:solidFill>
                <a:latin typeface="Arial" pitchFamily="34" charset="0"/>
                <a:ea typeface="Arial" pitchFamily="34" charset="-122"/>
                <a:cs typeface="Arial" pitchFamily="34" charset="-120"/>
              </a:rPr>
              <a:t>Outward  </a:t>
            </a:r>
            <a:pPr indent="0" marL="0">
              <a:buNone/>
            </a:pPr>
            <a:r>
              <a:rPr lang="en-US" sz="1300" dirty="0">
                <a:solidFill>
                  <a:srgbClr val="262626"/>
                </a:solidFill>
                <a:latin typeface="Arial" pitchFamily="34" charset="0"/>
                <a:ea typeface="Arial" pitchFamily="34" charset="-122"/>
                <a:cs typeface="Arial" pitchFamily="34" charset="-120"/>
              </a:rPr>
              <a:t>longsuffering, kindness, goodness</a:t>
            </a:r>
            <a:endParaRPr lang="en-US" sz="1300" dirty="0"/>
          </a:p>
          <a:p>
            <a:pPr indent="0" marL="0">
              <a:buNone/>
            </a:pPr>
            <a:r>
              <a:rPr lang="en-US" sz="500" dirty="0">
                <a:solidFill>
                  <a:srgbClr val="262626"/>
                </a:solidFill>
                <a:latin typeface="Arial" pitchFamily="34" charset="0"/>
                <a:ea typeface="Arial" pitchFamily="34" charset="-122"/>
                <a:cs typeface="Arial" pitchFamily="34" charset="-120"/>
              </a:rPr>
              <a:t> </a:t>
            </a:r>
            <a:endParaRPr lang="en-US" sz="1300" dirty="0"/>
          </a:p>
          <a:p>
            <a:pPr indent="0" marL="0">
              <a:buNone/>
            </a:pPr>
            <a:r>
              <a:rPr lang="en-US" sz="1300" b="1" dirty="0">
                <a:solidFill>
                  <a:srgbClr val="1F3864"/>
                </a:solidFill>
                <a:latin typeface="Arial" pitchFamily="34" charset="0"/>
                <a:ea typeface="Arial" pitchFamily="34" charset="-122"/>
                <a:cs typeface="Arial" pitchFamily="34" charset="-120"/>
              </a:rPr>
              <a:t>Inward  </a:t>
            </a:r>
            <a:pPr indent="0" marL="0">
              <a:buNone/>
            </a:pPr>
            <a:r>
              <a:rPr lang="en-US" sz="1300" dirty="0">
                <a:solidFill>
                  <a:srgbClr val="262626"/>
                </a:solidFill>
                <a:latin typeface="Arial" pitchFamily="34" charset="0"/>
                <a:ea typeface="Arial" pitchFamily="34" charset="-122"/>
                <a:cs typeface="Arial" pitchFamily="34" charset="-120"/>
              </a:rPr>
              <a:t>faithfulness, gentleness, self-control</a:t>
            </a:r>
            <a:endParaRPr lang="en-US" sz="1300" dirty="0"/>
          </a:p>
          <a:p>
            <a:pPr indent="0" marL="0">
              <a:buNone/>
            </a:pPr>
            <a:r>
              <a:rPr lang="en-US" sz="500" dirty="0">
                <a:solidFill>
                  <a:srgbClr val="262626"/>
                </a:solidFill>
                <a:latin typeface="Arial" pitchFamily="34" charset="0"/>
                <a:ea typeface="Arial" pitchFamily="34" charset="-122"/>
                <a:cs typeface="Arial" pitchFamily="34" charset="-120"/>
              </a:rPr>
              <a:t> </a:t>
            </a:r>
            <a:endParaRPr lang="en-US" sz="1300" dirty="0"/>
          </a:p>
          <a:p>
            <a:pPr indent="0" marL="0">
              <a:buNone/>
            </a:pPr>
            <a:r>
              <a:rPr lang="en-US" sz="1300" i="1" dirty="0">
                <a:solidFill>
                  <a:srgbClr val="595959"/>
                </a:solidFill>
                <a:latin typeface="Arial" pitchFamily="34" charset="0"/>
                <a:ea typeface="Arial" pitchFamily="34" charset="-122"/>
                <a:cs typeface="Arial" pitchFamily="34" charset="-120"/>
              </a:rPr>
              <a:t>Love (ἀγάπη) comes first — self-sacrificing, the root of the rest</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“Will not inherit the kingdom of God”</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5:21 · Outline III.A.2 — The danger of the works of the flesh</a:t>
            </a:r>
            <a:endParaRPr lang="en-US" sz="1200" dirty="0"/>
          </a:p>
        </p:txBody>
      </p:sp>
      <p:sp>
        <p:nvSpPr>
          <p:cNvPr id="5" name="Shape 2"/>
          <p:cNvSpPr/>
          <p:nvPr/>
        </p:nvSpPr>
        <p:spPr>
          <a:xfrm>
            <a:off x="457200" y="1143000"/>
            <a:ext cx="4023360" cy="365760"/>
          </a:xfrm>
          <a:prstGeom prst="rect">
            <a:avLst/>
          </a:prstGeom>
          <a:solidFill>
            <a:srgbClr val="6B7280"/>
          </a:solidFill>
          <a:ln w="12700">
            <a:solidFill>
              <a:srgbClr val="6B7280"/>
            </a:solidFill>
            <a:prstDash val="solid"/>
          </a:ln>
        </p:spPr>
      </p:sp>
      <p:sp>
        <p:nvSpPr>
          <p:cNvPr id="6" name="Text 3"/>
          <p:cNvSpPr txBox="1"/>
          <p:nvPr/>
        </p:nvSpPr>
        <p:spPr>
          <a:xfrm>
            <a:off x="548640" y="1188720"/>
            <a:ext cx="3840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Not entering the kingdom</a:t>
            </a:r>
            <a:endParaRPr lang="en-US" sz="1200" dirty="0"/>
          </a:p>
        </p:txBody>
      </p:sp>
      <p:sp>
        <p:nvSpPr>
          <p:cNvPr id="7" name="Shape 4"/>
          <p:cNvSpPr/>
          <p:nvPr/>
        </p:nvSpPr>
        <p:spPr>
          <a:xfrm>
            <a:off x="457200" y="1508760"/>
            <a:ext cx="4023360" cy="2148840"/>
          </a:xfrm>
          <a:prstGeom prst="rect">
            <a:avLst/>
          </a:prstGeom>
          <a:solidFill>
            <a:srgbClr val="F2F6FC"/>
          </a:solidFill>
          <a:ln w="9525">
            <a:solidFill>
              <a:srgbClr val="D5DCEA"/>
            </a:solidFill>
            <a:prstDash val="solid"/>
          </a:ln>
        </p:spPr>
      </p:sp>
      <p:sp>
        <p:nvSpPr>
          <p:cNvPr id="8" name="Text 5"/>
          <p:cNvSpPr txBox="1"/>
          <p:nvPr/>
        </p:nvSpPr>
        <p:spPr>
          <a:xfrm>
            <a:off x="548640" y="1581912"/>
            <a:ext cx="3840480" cy="2020824"/>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Paul is writing to brethren — believers</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They have eternal life</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Entrance is promised and cannot be lost</a:t>
            </a:r>
            <a:endParaRPr lang="en-US" sz="1300" dirty="0"/>
          </a:p>
        </p:txBody>
      </p:sp>
      <p:sp>
        <p:nvSpPr>
          <p:cNvPr id="9" name="Shape 6"/>
          <p:cNvSpPr/>
          <p:nvPr/>
        </p:nvSpPr>
        <p:spPr>
          <a:xfrm>
            <a:off x="4663440" y="1143000"/>
            <a:ext cx="4023360" cy="365760"/>
          </a:xfrm>
          <a:prstGeom prst="rect">
            <a:avLst/>
          </a:prstGeom>
          <a:solidFill>
            <a:srgbClr val="375623"/>
          </a:solidFill>
          <a:ln w="12700">
            <a:solidFill>
              <a:srgbClr val="375623"/>
            </a:solidFill>
            <a:prstDash val="solid"/>
          </a:ln>
        </p:spPr>
      </p:sp>
      <p:sp>
        <p:nvSpPr>
          <p:cNvPr id="10" name="Text 7"/>
          <p:cNvSpPr txBox="1"/>
          <p:nvPr/>
        </p:nvSpPr>
        <p:spPr>
          <a:xfrm>
            <a:off x="4754880" y="1188720"/>
            <a:ext cx="3840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But ruling with Christ in it</a:t>
            </a:r>
            <a:endParaRPr lang="en-US" sz="1200" dirty="0"/>
          </a:p>
        </p:txBody>
      </p:sp>
      <p:sp>
        <p:nvSpPr>
          <p:cNvPr id="11" name="Shape 8"/>
          <p:cNvSpPr/>
          <p:nvPr/>
        </p:nvSpPr>
        <p:spPr>
          <a:xfrm>
            <a:off x="4663440" y="1508760"/>
            <a:ext cx="4023360" cy="2148840"/>
          </a:xfrm>
          <a:prstGeom prst="rect">
            <a:avLst/>
          </a:prstGeom>
          <a:solidFill>
            <a:srgbClr val="F2F6FC"/>
          </a:solidFill>
          <a:ln w="9525">
            <a:solidFill>
              <a:srgbClr val="D5DCEA"/>
            </a:solidFill>
            <a:prstDash val="solid"/>
          </a:ln>
        </p:spPr>
      </p:sp>
      <p:sp>
        <p:nvSpPr>
          <p:cNvPr id="12" name="Text 9"/>
          <p:cNvSpPr txBox="1"/>
          <p:nvPr/>
        </p:nvSpPr>
        <p:spPr>
          <a:xfrm>
            <a:off x="4754880" y="1581912"/>
            <a:ext cx="3840480" cy="2020824"/>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Inheritance = reigning with Christ (Matt 19:29; Rev 2:26)</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Believers who live like unbelievers forfeit it</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Like Jacob's three sons in Genesis 49</a:t>
            </a:r>
            <a:endParaRPr lang="en-US" sz="1300" dirty="0"/>
          </a:p>
        </p:txBody>
      </p:sp>
      <p:sp>
        <p:nvSpPr>
          <p:cNvPr id="13" name="Shape 10"/>
          <p:cNvSpPr/>
          <p:nvPr/>
        </p:nvSpPr>
        <p:spPr>
          <a:xfrm>
            <a:off x="457200" y="3886200"/>
            <a:ext cx="8229600" cy="548640"/>
          </a:xfrm>
          <a:prstGeom prst="roundRect">
            <a:avLst>
              <a:gd name="adj" fmla="val 10000"/>
            </a:avLst>
          </a:prstGeom>
          <a:solidFill>
            <a:srgbClr val="1F3864"/>
          </a:solidFill>
          <a:ln w="12700">
            <a:solidFill>
              <a:srgbClr val="1F3864"/>
            </a:solidFill>
            <a:prstDash val="solid"/>
          </a:ln>
        </p:spPr>
      </p:sp>
      <p:sp>
        <p:nvSpPr>
          <p:cNvPr id="14" name="Text 11"/>
          <p:cNvSpPr txBox="1"/>
          <p:nvPr/>
        </p:nvSpPr>
        <p:spPr>
          <a:xfrm>
            <a:off x="621792" y="3886200"/>
            <a:ext cx="7900416" cy="54864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When believers live like unbelievers, they will not rule with Christ in His righteous kingdom.</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Participating in liberty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5:24–26 · Outline IV</a:t>
            </a:r>
            <a:endParaRPr lang="en-US" sz="1200" dirty="0"/>
          </a:p>
        </p:txBody>
      </p:sp>
      <p:sp>
        <p:nvSpPr>
          <p:cNvPr id="5" name="Shape 2"/>
          <p:cNvSpPr/>
          <p:nvPr/>
        </p:nvSpPr>
        <p:spPr>
          <a:xfrm>
            <a:off x="457200" y="1115568"/>
            <a:ext cx="777240" cy="621792"/>
          </a:xfrm>
          <a:prstGeom prst="rect">
            <a:avLst/>
          </a:prstGeom>
          <a:solidFill>
            <a:srgbClr val="2E5496"/>
          </a:solidFill>
          <a:ln w="12700">
            <a:solidFill>
              <a:srgbClr val="2E5496"/>
            </a:solidFill>
            <a:prstDash val="solid"/>
          </a:ln>
        </p:spPr>
      </p:sp>
      <p:sp>
        <p:nvSpPr>
          <p:cNvPr id="6" name="Text 3"/>
          <p:cNvSpPr txBox="1"/>
          <p:nvPr/>
        </p:nvSpPr>
        <p:spPr>
          <a:xfrm>
            <a:off x="457200" y="1115568"/>
            <a:ext cx="777240" cy="62179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v.24</a:t>
            </a:r>
            <a:endParaRPr lang="en-US" sz="1100" dirty="0"/>
          </a:p>
        </p:txBody>
      </p:sp>
      <p:sp>
        <p:nvSpPr>
          <p:cNvPr id="7" name="Shape 4"/>
          <p:cNvSpPr/>
          <p:nvPr/>
        </p:nvSpPr>
        <p:spPr>
          <a:xfrm>
            <a:off x="1234440" y="1115568"/>
            <a:ext cx="7452360" cy="621792"/>
          </a:xfrm>
          <a:prstGeom prst="rect">
            <a:avLst/>
          </a:prstGeom>
          <a:solidFill>
            <a:srgbClr val="F2F6FC"/>
          </a:solidFill>
          <a:ln w="9525">
            <a:solidFill>
              <a:srgbClr val="D5DCEA"/>
            </a:solidFill>
            <a:prstDash val="solid"/>
          </a:ln>
        </p:spPr>
      </p:sp>
      <p:sp>
        <p:nvSpPr>
          <p:cNvPr id="8" name="Text 5"/>
          <p:cNvSpPr txBox="1"/>
          <p:nvPr/>
        </p:nvSpPr>
        <p:spPr>
          <a:xfrm>
            <a:off x="1344168" y="1115568"/>
            <a:ext cx="4206240" cy="621792"/>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Provision — “those who are Christ's have crucified the flesh”</a:t>
            </a:r>
            <a:endParaRPr lang="en-US" sz="1200" dirty="0"/>
          </a:p>
        </p:txBody>
      </p:sp>
      <p:sp>
        <p:nvSpPr>
          <p:cNvPr id="9" name="Text 6"/>
          <p:cNvSpPr txBox="1"/>
          <p:nvPr/>
        </p:nvSpPr>
        <p:spPr>
          <a:xfrm>
            <a:off x="5623560" y="1115568"/>
            <a:ext cx="2971800" cy="621792"/>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ἐσταύρωσαν</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aorist — a completed identification</a:t>
            </a:r>
            <a:endParaRPr lang="en-US" sz="1200" dirty="0"/>
          </a:p>
        </p:txBody>
      </p:sp>
      <p:sp>
        <p:nvSpPr>
          <p:cNvPr id="10" name="Shape 7"/>
          <p:cNvSpPr/>
          <p:nvPr/>
        </p:nvSpPr>
        <p:spPr>
          <a:xfrm>
            <a:off x="457200" y="1810512"/>
            <a:ext cx="777240" cy="621792"/>
          </a:xfrm>
          <a:prstGeom prst="rect">
            <a:avLst/>
          </a:prstGeom>
          <a:solidFill>
            <a:srgbClr val="2E5496"/>
          </a:solidFill>
          <a:ln w="12700">
            <a:solidFill>
              <a:srgbClr val="2E5496"/>
            </a:solidFill>
            <a:prstDash val="solid"/>
          </a:ln>
        </p:spPr>
      </p:sp>
      <p:sp>
        <p:nvSpPr>
          <p:cNvPr id="11" name="Text 8"/>
          <p:cNvSpPr txBox="1"/>
          <p:nvPr/>
        </p:nvSpPr>
        <p:spPr>
          <a:xfrm>
            <a:off x="457200" y="1810512"/>
            <a:ext cx="777240" cy="62179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v.16</a:t>
            </a:r>
            <a:endParaRPr lang="en-US" sz="1100" dirty="0"/>
          </a:p>
        </p:txBody>
      </p:sp>
      <p:sp>
        <p:nvSpPr>
          <p:cNvPr id="12" name="Shape 9"/>
          <p:cNvSpPr/>
          <p:nvPr/>
        </p:nvSpPr>
        <p:spPr>
          <a:xfrm>
            <a:off x="1234440" y="1810512"/>
            <a:ext cx="7452360" cy="621792"/>
          </a:xfrm>
          <a:prstGeom prst="rect">
            <a:avLst/>
          </a:prstGeom>
          <a:solidFill>
            <a:srgbClr val="FFFFFF"/>
          </a:solidFill>
          <a:ln w="9525">
            <a:solidFill>
              <a:srgbClr val="D5DCEA"/>
            </a:solidFill>
            <a:prstDash val="solid"/>
          </a:ln>
        </p:spPr>
      </p:sp>
      <p:sp>
        <p:nvSpPr>
          <p:cNvPr id="13" name="Text 10"/>
          <p:cNvSpPr txBox="1"/>
          <p:nvPr/>
        </p:nvSpPr>
        <p:spPr>
          <a:xfrm>
            <a:off x="1344168" y="1810512"/>
            <a:ext cx="4206240" cy="621792"/>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Daily walking — ordinary, everyday conduct</a:t>
            </a:r>
            <a:endParaRPr lang="en-US" sz="1200" dirty="0"/>
          </a:p>
        </p:txBody>
      </p:sp>
      <p:sp>
        <p:nvSpPr>
          <p:cNvPr id="14" name="Text 11"/>
          <p:cNvSpPr txBox="1"/>
          <p:nvPr/>
        </p:nvSpPr>
        <p:spPr>
          <a:xfrm>
            <a:off x="5623560" y="1810512"/>
            <a:ext cx="2971800" cy="621792"/>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περιπατεῖτε</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to walk around, conduct life</a:t>
            </a:r>
            <a:endParaRPr lang="en-US" sz="1200" dirty="0"/>
          </a:p>
        </p:txBody>
      </p:sp>
      <p:sp>
        <p:nvSpPr>
          <p:cNvPr id="15" name="Shape 12"/>
          <p:cNvSpPr/>
          <p:nvPr/>
        </p:nvSpPr>
        <p:spPr>
          <a:xfrm>
            <a:off x="457200" y="2505456"/>
            <a:ext cx="777240" cy="621792"/>
          </a:xfrm>
          <a:prstGeom prst="rect">
            <a:avLst/>
          </a:prstGeom>
          <a:solidFill>
            <a:srgbClr val="375623"/>
          </a:solidFill>
          <a:ln w="12700">
            <a:solidFill>
              <a:srgbClr val="375623"/>
            </a:solidFill>
            <a:prstDash val="solid"/>
          </a:ln>
        </p:spPr>
      </p:sp>
      <p:sp>
        <p:nvSpPr>
          <p:cNvPr id="16" name="Text 13"/>
          <p:cNvSpPr txBox="1"/>
          <p:nvPr/>
        </p:nvSpPr>
        <p:spPr>
          <a:xfrm>
            <a:off x="457200" y="2505456"/>
            <a:ext cx="777240" cy="62179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v.25</a:t>
            </a:r>
            <a:endParaRPr lang="en-US" sz="1100" dirty="0"/>
          </a:p>
        </p:txBody>
      </p:sp>
      <p:sp>
        <p:nvSpPr>
          <p:cNvPr id="17" name="Shape 14"/>
          <p:cNvSpPr/>
          <p:nvPr/>
        </p:nvSpPr>
        <p:spPr>
          <a:xfrm>
            <a:off x="1234440" y="2505456"/>
            <a:ext cx="7452360" cy="621792"/>
          </a:xfrm>
          <a:prstGeom prst="rect">
            <a:avLst/>
          </a:prstGeom>
          <a:solidFill>
            <a:srgbClr val="F2F6FC"/>
          </a:solidFill>
          <a:ln w="9525">
            <a:solidFill>
              <a:srgbClr val="D5DCEA"/>
            </a:solidFill>
            <a:prstDash val="solid"/>
          </a:ln>
        </p:spPr>
      </p:sp>
      <p:sp>
        <p:nvSpPr>
          <p:cNvPr id="18" name="Text 15"/>
          <p:cNvSpPr txBox="1"/>
          <p:nvPr/>
        </p:nvSpPr>
        <p:spPr>
          <a:xfrm>
            <a:off x="1344168" y="2505456"/>
            <a:ext cx="4206240" cy="621792"/>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Power — “since we live in the Spirit, let us also walk in the Spirit”</a:t>
            </a:r>
            <a:endParaRPr lang="en-US" sz="1200" dirty="0"/>
          </a:p>
        </p:txBody>
      </p:sp>
      <p:sp>
        <p:nvSpPr>
          <p:cNvPr id="19" name="Text 16"/>
          <p:cNvSpPr txBox="1"/>
          <p:nvPr/>
        </p:nvSpPr>
        <p:spPr>
          <a:xfrm>
            <a:off x="5623560" y="2505456"/>
            <a:ext cx="2971800" cy="621792"/>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στοιχῶμεν</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march in rank, keep step</a:t>
            </a:r>
            <a:endParaRPr lang="en-US" sz="1200" dirty="0"/>
          </a:p>
        </p:txBody>
      </p:sp>
      <p:sp>
        <p:nvSpPr>
          <p:cNvPr id="20" name="Shape 17"/>
          <p:cNvSpPr/>
          <p:nvPr/>
        </p:nvSpPr>
        <p:spPr>
          <a:xfrm>
            <a:off x="457200" y="3200400"/>
            <a:ext cx="777240" cy="621792"/>
          </a:xfrm>
          <a:prstGeom prst="rect">
            <a:avLst/>
          </a:prstGeom>
          <a:solidFill>
            <a:srgbClr val="7030A0"/>
          </a:solidFill>
          <a:ln w="12700">
            <a:solidFill>
              <a:srgbClr val="7030A0"/>
            </a:solidFill>
            <a:prstDash val="solid"/>
          </a:ln>
        </p:spPr>
      </p:sp>
      <p:sp>
        <p:nvSpPr>
          <p:cNvPr id="21" name="Text 18"/>
          <p:cNvSpPr txBox="1"/>
          <p:nvPr/>
        </p:nvSpPr>
        <p:spPr>
          <a:xfrm>
            <a:off x="457200" y="3200400"/>
            <a:ext cx="777240" cy="62179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v.26</a:t>
            </a:r>
            <a:endParaRPr lang="en-US" sz="1100" dirty="0"/>
          </a:p>
        </p:txBody>
      </p:sp>
      <p:sp>
        <p:nvSpPr>
          <p:cNvPr id="22" name="Shape 19"/>
          <p:cNvSpPr/>
          <p:nvPr/>
        </p:nvSpPr>
        <p:spPr>
          <a:xfrm>
            <a:off x="1234440" y="3200400"/>
            <a:ext cx="7452360" cy="621792"/>
          </a:xfrm>
          <a:prstGeom prst="rect">
            <a:avLst/>
          </a:prstGeom>
          <a:solidFill>
            <a:srgbClr val="FFFFFF"/>
          </a:solidFill>
          <a:ln w="9525">
            <a:solidFill>
              <a:srgbClr val="D5DCEA"/>
            </a:solidFill>
            <a:prstDash val="solid"/>
          </a:ln>
        </p:spPr>
      </p:sp>
      <p:sp>
        <p:nvSpPr>
          <p:cNvPr id="23" name="Text 20"/>
          <p:cNvSpPr txBox="1"/>
          <p:nvPr/>
        </p:nvSpPr>
        <p:spPr>
          <a:xfrm>
            <a:off x="1344168" y="3200400"/>
            <a:ext cx="4206240" cy="621792"/>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Particulars — not conceited, not provoking, not envying</a:t>
            </a:r>
            <a:endParaRPr lang="en-US" sz="1200" dirty="0"/>
          </a:p>
        </p:txBody>
      </p:sp>
      <p:sp>
        <p:nvSpPr>
          <p:cNvPr id="24" name="Text 21"/>
          <p:cNvSpPr txBox="1"/>
          <p:nvPr/>
        </p:nvSpPr>
        <p:spPr>
          <a:xfrm>
            <a:off x="5623560" y="3200400"/>
            <a:ext cx="2971800" cy="621792"/>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κενόδοξοι</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“empty glory” — used only here</a:t>
            </a:r>
            <a:endParaRPr lang="en-US" sz="1200" dirty="0"/>
          </a:p>
        </p:txBody>
      </p:sp>
      <p:sp>
        <p:nvSpPr>
          <p:cNvPr id="25" name="Shape 22"/>
          <p:cNvSpPr/>
          <p:nvPr/>
        </p:nvSpPr>
        <p:spPr>
          <a:xfrm>
            <a:off x="457200" y="4069080"/>
            <a:ext cx="8229600" cy="502920"/>
          </a:xfrm>
          <a:prstGeom prst="roundRect">
            <a:avLst>
              <a:gd name="adj" fmla="val 10909"/>
            </a:avLst>
          </a:prstGeom>
          <a:solidFill>
            <a:srgbClr val="1F3864"/>
          </a:solidFill>
          <a:ln w="12700">
            <a:solidFill>
              <a:srgbClr val="1F3864"/>
            </a:solidFill>
            <a:prstDash val="solid"/>
          </a:ln>
        </p:spPr>
      </p:sp>
      <p:sp>
        <p:nvSpPr>
          <p:cNvPr id="26" name="Text 23"/>
          <p:cNvSpPr txBox="1"/>
          <p:nvPr/>
        </p:nvSpPr>
        <p:spPr>
          <a:xfrm>
            <a:off x="621792" y="4069080"/>
            <a:ext cx="7900416" cy="50292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Don't try to live the Christian life without Him. You have the Holy Spirit from the moment you believed.</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Discuss and apply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5:13–26 · from the study's posted questions and applications</a:t>
            </a:r>
            <a:endParaRPr lang="en-US" sz="1200" dirty="0"/>
          </a:p>
        </p:txBody>
      </p:sp>
      <p:sp>
        <p:nvSpPr>
          <p:cNvPr id="5" name="Shape 2"/>
          <p:cNvSpPr/>
          <p:nvPr/>
        </p:nvSpPr>
        <p:spPr>
          <a:xfrm>
            <a:off x="457200" y="1115568"/>
            <a:ext cx="4023360" cy="384048"/>
          </a:xfrm>
          <a:prstGeom prst="rect">
            <a:avLst/>
          </a:prstGeom>
          <a:solidFill>
            <a:srgbClr val="2E5496"/>
          </a:solidFill>
          <a:ln w="12700">
            <a:solidFill>
              <a:srgbClr val="2E5496"/>
            </a:solidFill>
            <a:prstDash val="solid"/>
          </a:ln>
        </p:spPr>
      </p:sp>
      <p:sp>
        <p:nvSpPr>
          <p:cNvPr id="6" name="Text 3"/>
          <p:cNvSpPr txBox="1"/>
          <p:nvPr/>
        </p:nvSpPr>
        <p:spPr>
          <a:xfrm>
            <a:off x="56692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Discuss</a:t>
            </a:r>
            <a:endParaRPr lang="en-US" sz="1300" dirty="0"/>
          </a:p>
        </p:txBody>
      </p:sp>
      <p:sp>
        <p:nvSpPr>
          <p:cNvPr id="7" name="Shape 4"/>
          <p:cNvSpPr/>
          <p:nvPr/>
        </p:nvSpPr>
        <p:spPr>
          <a:xfrm>
            <a:off x="457200" y="1499616"/>
            <a:ext cx="4023360" cy="2359152"/>
          </a:xfrm>
          <a:prstGeom prst="rect">
            <a:avLst/>
          </a:prstGeom>
          <a:solidFill>
            <a:srgbClr val="F2F6FC"/>
          </a:solidFill>
          <a:ln w="9525">
            <a:solidFill>
              <a:srgbClr val="D5DCEA"/>
            </a:solidFill>
            <a:prstDash val="solid"/>
          </a:ln>
        </p:spPr>
      </p:sp>
      <p:sp>
        <p:nvSpPr>
          <p:cNvPr id="8" name="Shape 5"/>
          <p:cNvSpPr/>
          <p:nvPr/>
        </p:nvSpPr>
        <p:spPr>
          <a:xfrm>
            <a:off x="4663440" y="1115568"/>
            <a:ext cx="4023360" cy="384048"/>
          </a:xfrm>
          <a:prstGeom prst="rect">
            <a:avLst/>
          </a:prstGeom>
          <a:solidFill>
            <a:srgbClr val="375623"/>
          </a:solidFill>
          <a:ln w="12700">
            <a:solidFill>
              <a:srgbClr val="375623"/>
            </a:solidFill>
            <a:prstDash val="solid"/>
          </a:ln>
        </p:spPr>
      </p:sp>
      <p:sp>
        <p:nvSpPr>
          <p:cNvPr id="9" name="Text 6"/>
          <p:cNvSpPr txBox="1"/>
          <p:nvPr/>
        </p:nvSpPr>
        <p:spPr>
          <a:xfrm>
            <a:off x="477316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Apply</a:t>
            </a:r>
            <a:endParaRPr lang="en-US" sz="1300" dirty="0"/>
          </a:p>
        </p:txBody>
      </p:sp>
      <p:sp>
        <p:nvSpPr>
          <p:cNvPr id="10" name="Shape 7"/>
          <p:cNvSpPr/>
          <p:nvPr/>
        </p:nvSpPr>
        <p:spPr>
          <a:xfrm>
            <a:off x="4663440" y="1499616"/>
            <a:ext cx="4023360" cy="2359152"/>
          </a:xfrm>
          <a:prstGeom prst="rect">
            <a:avLst/>
          </a:prstGeom>
          <a:solidFill>
            <a:srgbClr val="F2F6FC"/>
          </a:solidFill>
          <a:ln w="9525">
            <a:solidFill>
              <a:srgbClr val="D5DCEA"/>
            </a:solidFill>
            <a:prstDash val="solid"/>
          </a:ln>
        </p:spPr>
      </p:sp>
      <p:sp>
        <p:nvSpPr>
          <p:cNvPr id="11" name="Shape 8"/>
          <p:cNvSpPr/>
          <p:nvPr/>
        </p:nvSpPr>
        <p:spPr>
          <a:xfrm>
            <a:off x="566928" y="1636776"/>
            <a:ext cx="347472" cy="347472"/>
          </a:xfrm>
          <a:prstGeom prst="ellipse">
            <a:avLst/>
          </a:prstGeom>
          <a:solidFill>
            <a:srgbClr val="2E5496"/>
          </a:solidFill>
          <a:ln w="12700">
            <a:solidFill>
              <a:srgbClr val="2E5496"/>
            </a:solidFill>
            <a:prstDash val="solid"/>
          </a:ln>
        </p:spPr>
      </p:sp>
      <p:sp>
        <p:nvSpPr>
          <p:cNvPr id="12" name="Text 9"/>
          <p:cNvSpPr txBox="1"/>
          <p:nvPr/>
        </p:nvSpPr>
        <p:spPr>
          <a:xfrm>
            <a:off x="566928" y="163677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3" name="Text 10"/>
          <p:cNvSpPr txBox="1"/>
          <p:nvPr/>
        </p:nvSpPr>
        <p:spPr>
          <a:xfrm>
            <a:off x="1005840" y="1591056"/>
            <a:ext cx="3364992" cy="1042416"/>
          </a:xfrm>
          <a:prstGeom prst="rect">
            <a:avLst/>
          </a:prstGeom>
          <a:noFill/>
          <a:ln/>
        </p:spPr>
        <p:txBody>
          <a:bodyPr wrap="square" lIns="0" tIns="0" rIns="0" bIns="0" rtlCol="0" anchor="t"/>
          <a:lstStyle/>
          <a:p>
            <a:pPr indent="0" marL="0">
              <a:buNone/>
            </a:pPr>
            <a:r>
              <a:rPr lang="en-US" sz="1350" dirty="0">
                <a:solidFill>
                  <a:srgbClr val="262626"/>
                </a:solidFill>
                <a:latin typeface="Arial" pitchFamily="34" charset="0"/>
                <a:ea typeface="Arial" pitchFamily="34" charset="-122"/>
                <a:cs typeface="Arial" pitchFamily="34" charset="-120"/>
              </a:rPr>
              <a:t>What would it look like to “wash someone's feet” today — literally or figuratively — in your own relationships?</a:t>
            </a:r>
            <a:endParaRPr lang="en-US" sz="1350" dirty="0"/>
          </a:p>
        </p:txBody>
      </p:sp>
      <p:sp>
        <p:nvSpPr>
          <p:cNvPr id="14" name="Shape 11"/>
          <p:cNvSpPr/>
          <p:nvPr/>
        </p:nvSpPr>
        <p:spPr>
          <a:xfrm>
            <a:off x="566928" y="2724912"/>
            <a:ext cx="347472" cy="347472"/>
          </a:xfrm>
          <a:prstGeom prst="ellipse">
            <a:avLst/>
          </a:prstGeom>
          <a:solidFill>
            <a:srgbClr val="2E5496"/>
          </a:solidFill>
          <a:ln w="12700">
            <a:solidFill>
              <a:srgbClr val="2E5496"/>
            </a:solidFill>
            <a:prstDash val="solid"/>
          </a:ln>
        </p:spPr>
      </p:sp>
      <p:sp>
        <p:nvSpPr>
          <p:cNvPr id="15" name="Text 12"/>
          <p:cNvSpPr txBox="1"/>
          <p:nvPr/>
        </p:nvSpPr>
        <p:spPr>
          <a:xfrm>
            <a:off x="566928" y="272491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6" name="Text 13"/>
          <p:cNvSpPr txBox="1"/>
          <p:nvPr/>
        </p:nvSpPr>
        <p:spPr>
          <a:xfrm>
            <a:off x="1005840" y="2679192"/>
            <a:ext cx="3364992" cy="1042416"/>
          </a:xfrm>
          <a:prstGeom prst="rect">
            <a:avLst/>
          </a:prstGeom>
          <a:noFill/>
          <a:ln/>
        </p:spPr>
        <p:txBody>
          <a:bodyPr wrap="square" lIns="0" tIns="0" rIns="0" bIns="0" rtlCol="0" anchor="t"/>
          <a:lstStyle/>
          <a:p>
            <a:pPr indent="0" marL="0">
              <a:buNone/>
            </a:pPr>
            <a:r>
              <a:rPr lang="en-US" sz="1350" dirty="0">
                <a:solidFill>
                  <a:srgbClr val="262626"/>
                </a:solidFill>
                <a:latin typeface="Arial" pitchFamily="34" charset="0"/>
                <a:ea typeface="Arial" pitchFamily="34" charset="-122"/>
                <a:cs typeface="Arial" pitchFamily="34" charset="-120"/>
              </a:rPr>
              <a:t>Which fruit of the Spirit do you most need to grow in right now, and what's one step toward depending on the Spirit for it?</a:t>
            </a:r>
            <a:endParaRPr lang="en-US" sz="1350" dirty="0"/>
          </a:p>
        </p:txBody>
      </p:sp>
      <p:sp>
        <p:nvSpPr>
          <p:cNvPr id="17" name="Text 14"/>
          <p:cNvSpPr txBox="1"/>
          <p:nvPr/>
        </p:nvSpPr>
        <p:spPr>
          <a:xfrm>
            <a:off x="4791456" y="1591056"/>
            <a:ext cx="3767328" cy="1042416"/>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Serve Through Love, Not License</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Do one lowly, unglamorous task for someone this week — unasked, and without mentioning it.</a:t>
            </a:r>
            <a:endParaRPr lang="en-US" sz="1200" dirty="0"/>
          </a:p>
        </p:txBody>
      </p:sp>
      <p:sp>
        <p:nvSpPr>
          <p:cNvPr id="18" name="Text 15"/>
          <p:cNvSpPr txBox="1"/>
          <p:nvPr/>
        </p:nvSpPr>
        <p:spPr>
          <a:xfrm>
            <a:off x="4791456" y="2679192"/>
            <a:ext cx="3767328" cy="1042416"/>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Let the Root Produce the Fruit</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Name the fruit you most need, and instead of resolving to try harder, spend time asking the Spirit for it.</a:t>
            </a:r>
            <a:endParaRPr lang="en-US" sz="1200" dirty="0"/>
          </a:p>
        </p:txBody>
      </p:sp>
      <p:sp>
        <p:nvSpPr>
          <p:cNvPr id="19" name="Shape 16"/>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0" name="Text 17"/>
          <p:cNvSpPr txBox="1"/>
          <p:nvPr/>
        </p:nvSpPr>
        <p:spPr>
          <a:xfrm>
            <a:off x="621792" y="4023360"/>
            <a:ext cx="7900416" cy="566928"/>
          </a:xfrm>
          <a:prstGeom prst="rect">
            <a:avLst/>
          </a:prstGeom>
          <a:noFill/>
          <a:ln/>
        </p:spPr>
        <p:txBody>
          <a:bodyPr wrap="square" lIns="0" tIns="0" rIns="0" bIns="0" rtlCol="0" anchor="ctr"/>
          <a:lstStyle/>
          <a:p>
            <a:pPr indent="0" marL="0">
              <a:buNone/>
            </a:pPr>
            <a:r>
              <a:rPr lang="en-US" sz="1250" b="1" dirty="0">
                <a:solidFill>
                  <a:srgbClr val="C9D5EE"/>
                </a:solidFill>
                <a:latin typeface="Arial" pitchFamily="34" charset="0"/>
                <a:ea typeface="Arial" pitchFamily="34" charset="-122"/>
                <a:cs typeface="Arial" pitchFamily="34" charset="-120"/>
              </a:rPr>
              <a:t>In one line:  </a:t>
            </a:r>
            <a:pPr indent="0" marL="0">
              <a:buNone/>
            </a:pPr>
            <a:r>
              <a:rPr lang="en-US" sz="1250" dirty="0">
                <a:solidFill>
                  <a:srgbClr val="FFFFFF"/>
                </a:solidFill>
                <a:latin typeface="Arial" pitchFamily="34" charset="0"/>
                <a:ea typeface="Arial" pitchFamily="34" charset="-122"/>
                <a:cs typeface="Arial" pitchFamily="34" charset="-120"/>
              </a:rPr>
              <a:t>Liberty is lived by walking in step with the Spirit, who grows what the law could only demand.</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lstStyle/>
          <a:p>
            <a:pPr indent="0" marL="0">
              <a:buNone/>
            </a:pPr>
            <a:r>
              <a:rPr lang="en-US" sz="1400" dirty="0">
                <a:solidFill>
                  <a:srgbClr val="C9D5EE"/>
                </a:solidFill>
                <a:latin typeface="Arial" pitchFamily="34" charset="0"/>
                <a:ea typeface="Arial" pitchFamily="34" charset="-122"/>
                <a:cs typeface="Arial" pitchFamily="34" charset="-120"/>
              </a:rPr>
              <a:t>Study 14 of 16 · Galatians 6:1–5</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Brothers and Burdens</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t"/>
          <a:lstStyle/>
          <a:p>
            <a:pPr indent="0" marL="0">
              <a:buNone/>
            </a:pPr>
            <a:r>
              <a:rPr lang="en-US" sz="1500" i="1" dirty="0">
                <a:solidFill>
                  <a:srgbClr val="E6ECF7"/>
                </a:solidFill>
                <a:latin typeface="Arial" pitchFamily="34" charset="0"/>
                <a:ea typeface="Arial" pitchFamily="34" charset="-122"/>
                <a:cs typeface="Arial" pitchFamily="34" charset="-120"/>
              </a:rPr>
              <a:t>The Spirit-filled community that gently restores a brother overtaken in sin also expects each believer, without comparison or self-deception, to carry and one day give account for his own work before the Lord.</a:t>
            </a:r>
            <a:endParaRPr lang="en-US" sz="15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Two burdens, two Greek words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6:2 and 6:5 · The key to the passage</a:t>
            </a:r>
            <a:endParaRPr lang="en-US" sz="1200" dirty="0"/>
          </a:p>
        </p:txBody>
      </p:sp>
      <p:sp>
        <p:nvSpPr>
          <p:cNvPr id="5" name="Shape 2"/>
          <p:cNvSpPr/>
          <p:nvPr/>
        </p:nvSpPr>
        <p:spPr>
          <a:xfrm>
            <a:off x="457200" y="1143000"/>
            <a:ext cx="4023360" cy="566928"/>
          </a:xfrm>
          <a:prstGeom prst="rect">
            <a:avLst/>
          </a:prstGeom>
          <a:solidFill>
            <a:srgbClr val="2E5496"/>
          </a:solidFill>
          <a:ln w="12700">
            <a:solidFill>
              <a:srgbClr val="2E5496"/>
            </a:solidFill>
            <a:prstDash val="solid"/>
          </a:ln>
        </p:spPr>
      </p:sp>
      <p:sp>
        <p:nvSpPr>
          <p:cNvPr id="6" name="Text 3"/>
          <p:cNvSpPr txBox="1"/>
          <p:nvPr/>
        </p:nvSpPr>
        <p:spPr>
          <a:xfrm>
            <a:off x="548640" y="1188720"/>
            <a:ext cx="3840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“Bear one another's burdens” — v.2</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βάρη</a:t>
            </a:r>
            <a:pPr indent="0" marL="0">
              <a:buNone/>
            </a:pPr>
            <a:r>
              <a:rPr lang="en-US" sz="850" dirty="0">
                <a:solidFill>
                  <a:srgbClr val="DCE4F2"/>
                </a:solidFill>
                <a:latin typeface="Arial" pitchFamily="34" charset="0"/>
                <a:ea typeface="Arial" pitchFamily="34" charset="-122"/>
                <a:cs typeface="Arial" pitchFamily="34" charset="-120"/>
              </a:rPr>
              <a:t>  barē · a crushing weight</a:t>
            </a:r>
            <a:endParaRPr lang="en-US" sz="1200" dirty="0"/>
          </a:p>
        </p:txBody>
      </p:sp>
      <p:sp>
        <p:nvSpPr>
          <p:cNvPr id="7" name="Shape 4"/>
          <p:cNvSpPr/>
          <p:nvPr/>
        </p:nvSpPr>
        <p:spPr>
          <a:xfrm>
            <a:off x="457200" y="1709928"/>
            <a:ext cx="4023360" cy="2039112"/>
          </a:xfrm>
          <a:prstGeom prst="rect">
            <a:avLst/>
          </a:prstGeom>
          <a:solidFill>
            <a:srgbClr val="F2F6FC"/>
          </a:solidFill>
          <a:ln w="9525">
            <a:solidFill>
              <a:srgbClr val="D5DCEA"/>
            </a:solidFill>
            <a:prstDash val="solid"/>
          </a:ln>
        </p:spPr>
      </p:sp>
      <p:sp>
        <p:nvSpPr>
          <p:cNvPr id="8" name="Text 5"/>
          <p:cNvSpPr txBox="1"/>
          <p:nvPr/>
        </p:nvSpPr>
        <p:spPr>
          <a:xfrm>
            <a:off x="548640" y="1783080"/>
            <a:ext cx="3840480" cy="1911096"/>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Too heavy for one person to lift</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Calls for the help of the body</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So fulfill the law of Christ</a:t>
            </a:r>
            <a:endParaRPr lang="en-US" sz="1300" dirty="0"/>
          </a:p>
        </p:txBody>
      </p:sp>
      <p:sp>
        <p:nvSpPr>
          <p:cNvPr id="9" name="Shape 6"/>
          <p:cNvSpPr/>
          <p:nvPr/>
        </p:nvSpPr>
        <p:spPr>
          <a:xfrm>
            <a:off x="4663440" y="1143000"/>
            <a:ext cx="4023360" cy="566928"/>
          </a:xfrm>
          <a:prstGeom prst="rect">
            <a:avLst/>
          </a:prstGeom>
          <a:solidFill>
            <a:srgbClr val="375623"/>
          </a:solidFill>
          <a:ln w="12700">
            <a:solidFill>
              <a:srgbClr val="375623"/>
            </a:solidFill>
            <a:prstDash val="solid"/>
          </a:ln>
        </p:spPr>
      </p:sp>
      <p:sp>
        <p:nvSpPr>
          <p:cNvPr id="10" name="Text 7"/>
          <p:cNvSpPr txBox="1"/>
          <p:nvPr/>
        </p:nvSpPr>
        <p:spPr>
          <a:xfrm>
            <a:off x="4754880" y="1188720"/>
            <a:ext cx="3840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“Each one shall bear his own load” — v.5</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φορτίον</a:t>
            </a:r>
            <a:pPr indent="0" marL="0">
              <a:buNone/>
            </a:pPr>
            <a:r>
              <a:rPr lang="en-US" sz="850" dirty="0">
                <a:solidFill>
                  <a:srgbClr val="DCE4F2"/>
                </a:solidFill>
                <a:latin typeface="Arial" pitchFamily="34" charset="0"/>
                <a:ea typeface="Arial" pitchFamily="34" charset="-122"/>
                <a:cs typeface="Arial" pitchFamily="34" charset="-120"/>
              </a:rPr>
              <a:t>  phortion · a soldier's own pack</a:t>
            </a:r>
            <a:endParaRPr lang="en-US" sz="1200" dirty="0"/>
          </a:p>
        </p:txBody>
      </p:sp>
      <p:sp>
        <p:nvSpPr>
          <p:cNvPr id="11" name="Shape 8"/>
          <p:cNvSpPr/>
          <p:nvPr/>
        </p:nvSpPr>
        <p:spPr>
          <a:xfrm>
            <a:off x="4663440" y="1709928"/>
            <a:ext cx="4023360" cy="2039112"/>
          </a:xfrm>
          <a:prstGeom prst="rect">
            <a:avLst/>
          </a:prstGeom>
          <a:solidFill>
            <a:srgbClr val="F2F6FC"/>
          </a:solidFill>
          <a:ln w="9525">
            <a:solidFill>
              <a:srgbClr val="D5DCEA"/>
            </a:solidFill>
            <a:prstDash val="solid"/>
          </a:ln>
        </p:spPr>
      </p:sp>
      <p:sp>
        <p:nvSpPr>
          <p:cNvPr id="12" name="Text 9"/>
          <p:cNvSpPr txBox="1"/>
          <p:nvPr/>
        </p:nvSpPr>
        <p:spPr>
          <a:xfrm>
            <a:off x="4754880" y="1783080"/>
            <a:ext cx="3840480" cy="1911096"/>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Carried by him alone</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Personal stewardship and service</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Accountability at the judgment seat of Christ</a:t>
            </a:r>
            <a:endParaRPr lang="en-US" sz="1300" dirty="0"/>
          </a:p>
        </p:txBody>
      </p:sp>
      <p:sp>
        <p:nvSpPr>
          <p:cNvPr id="13" name="Shape 10"/>
          <p:cNvSpPr/>
          <p:nvPr/>
        </p:nvSpPr>
        <p:spPr>
          <a:xfrm>
            <a:off x="457200" y="3977640"/>
            <a:ext cx="8229600" cy="502920"/>
          </a:xfrm>
          <a:prstGeom prst="roundRect">
            <a:avLst>
              <a:gd name="adj" fmla="val 10909"/>
            </a:avLst>
          </a:prstGeom>
          <a:solidFill>
            <a:srgbClr val="1F3864"/>
          </a:solidFill>
          <a:ln w="12700">
            <a:solidFill>
              <a:srgbClr val="1F3864"/>
            </a:solidFill>
            <a:prstDash val="solid"/>
          </a:ln>
        </p:spPr>
      </p:sp>
      <p:sp>
        <p:nvSpPr>
          <p:cNvPr id="14" name="Text 11"/>
          <p:cNvSpPr txBox="1"/>
          <p:nvPr/>
        </p:nvSpPr>
        <p:spPr>
          <a:xfrm>
            <a:off x="621792" y="3977640"/>
            <a:ext cx="7900416" cy="50292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Help with what is unbearable — and carry what is yours. Both are true at once.</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Restoring a brother</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6:1 · Outline I.A — The exhortation</a:t>
            </a:r>
            <a:endParaRPr lang="en-US" sz="1200" dirty="0"/>
          </a:p>
        </p:txBody>
      </p:sp>
      <p:sp>
        <p:nvSpPr>
          <p:cNvPr id="5" name="Shape 2"/>
          <p:cNvSpPr/>
          <p:nvPr/>
        </p:nvSpPr>
        <p:spPr>
          <a:xfrm>
            <a:off x="457200" y="1188720"/>
            <a:ext cx="1892808" cy="2286000"/>
          </a:xfrm>
          <a:prstGeom prst="rect">
            <a:avLst/>
          </a:prstGeom>
          <a:solidFill>
            <a:srgbClr val="F2F6FC"/>
          </a:solidFill>
          <a:ln w="9525">
            <a:solidFill>
              <a:srgbClr val="D5DCEA"/>
            </a:solidFill>
            <a:prstDash val="solid"/>
          </a:ln>
        </p:spPr>
      </p:sp>
      <p:sp>
        <p:nvSpPr>
          <p:cNvPr id="6" name="Shape 3"/>
          <p:cNvSpPr/>
          <p:nvPr/>
        </p:nvSpPr>
        <p:spPr>
          <a:xfrm>
            <a:off x="457200" y="1188720"/>
            <a:ext cx="1892808" cy="566928"/>
          </a:xfrm>
          <a:prstGeom prst="rect">
            <a:avLst/>
          </a:prstGeom>
          <a:solidFill>
            <a:srgbClr val="6B7280"/>
          </a:solidFill>
          <a:ln w="12700">
            <a:solidFill>
              <a:srgbClr val="6B7280"/>
            </a:solidFill>
            <a:prstDash val="solid"/>
          </a:ln>
        </p:spPr>
      </p:sp>
      <p:sp>
        <p:nvSpPr>
          <p:cNvPr id="7" name="Text 4"/>
          <p:cNvSpPr txBox="1"/>
          <p:nvPr/>
        </p:nvSpPr>
        <p:spPr>
          <a:xfrm>
            <a:off x="512064" y="1188720"/>
            <a:ext cx="1783080"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The sinning believer</a:t>
            </a:r>
            <a:endParaRPr lang="en-US" sz="1150" dirty="0"/>
          </a:p>
        </p:txBody>
      </p:sp>
      <p:sp>
        <p:nvSpPr>
          <p:cNvPr id="8" name="Text 5"/>
          <p:cNvSpPr txBox="1"/>
          <p:nvPr/>
        </p:nvSpPr>
        <p:spPr>
          <a:xfrm>
            <a:off x="548640" y="1828800"/>
            <a:ext cx="1709928" cy="1335024"/>
          </a:xfrm>
          <a:prstGeom prst="rect">
            <a:avLst/>
          </a:prstGeom>
          <a:noFill/>
          <a:ln/>
        </p:spPr>
        <p:txBody>
          <a:bodyPr wrap="square" lIns="0" tIns="0" rIns="0" bIns="0" rtlCol="0" anchor="t"/>
          <a:lstStyle/>
          <a:p>
            <a:pPr algn="ctr" indent="0" marL="0">
              <a:buNone/>
            </a:pPr>
            <a:r>
              <a:rPr lang="en-US" sz="1250" b="1" dirty="0">
                <a:solidFill>
                  <a:srgbClr val="7030A0"/>
                </a:solidFill>
                <a:latin typeface="Arial" pitchFamily="34" charset="0"/>
                <a:ea typeface="Arial" pitchFamily="34" charset="-122"/>
                <a:cs typeface="Arial" pitchFamily="34" charset="-120"/>
              </a:rPr>
              <a:t>προλημφθῇ</a:t>
            </a:r>
            <a:endParaRPr lang="en-US" sz="1200" dirty="0"/>
          </a:p>
          <a:p>
            <a:pPr algn="ctr" indent="0" marL="0">
              <a:buNone/>
            </a:pPr>
            <a:r>
              <a:rPr lang="en-US" sz="1200" dirty="0">
                <a:solidFill>
                  <a:srgbClr val="262626"/>
                </a:solidFill>
                <a:latin typeface="Arial" pitchFamily="34" charset="0"/>
                <a:ea typeface="Arial" pitchFamily="34" charset="-122"/>
                <a:cs typeface="Arial" pitchFamily="34" charset="-120"/>
              </a:rPr>
              <a:t>“overtaken in any trespass” — a slip, caught by surprise</a:t>
            </a:r>
            <a:endParaRPr lang="en-US" sz="1200" dirty="0"/>
          </a:p>
        </p:txBody>
      </p:sp>
      <p:sp>
        <p:nvSpPr>
          <p:cNvPr id="9" name="Text 6"/>
          <p:cNvSpPr txBox="1"/>
          <p:nvPr/>
        </p:nvSpPr>
        <p:spPr>
          <a:xfrm>
            <a:off x="530352" y="3145536"/>
            <a:ext cx="1746504"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6:1a</a:t>
            </a:r>
            <a:endParaRPr lang="en-US" sz="950" dirty="0"/>
          </a:p>
        </p:txBody>
      </p:sp>
      <p:sp>
        <p:nvSpPr>
          <p:cNvPr id="10" name="Shape 7"/>
          <p:cNvSpPr/>
          <p:nvPr/>
        </p:nvSpPr>
        <p:spPr>
          <a:xfrm>
            <a:off x="2359152" y="2212848"/>
            <a:ext cx="201168" cy="237744"/>
          </a:xfrm>
          <a:prstGeom prst="rightArrow">
            <a:avLst/>
          </a:prstGeom>
          <a:solidFill>
            <a:srgbClr val="6B7280"/>
          </a:solidFill>
          <a:ln w="12700">
            <a:solidFill>
              <a:srgbClr val="6B7280"/>
            </a:solidFill>
            <a:prstDash val="solid"/>
          </a:ln>
        </p:spPr>
      </p:sp>
      <p:sp>
        <p:nvSpPr>
          <p:cNvPr id="11" name="Shape 8"/>
          <p:cNvSpPr/>
          <p:nvPr/>
        </p:nvSpPr>
        <p:spPr>
          <a:xfrm>
            <a:off x="2569464" y="1188720"/>
            <a:ext cx="1892808" cy="2286000"/>
          </a:xfrm>
          <a:prstGeom prst="rect">
            <a:avLst/>
          </a:prstGeom>
          <a:solidFill>
            <a:srgbClr val="F2F6FC"/>
          </a:solidFill>
          <a:ln w="9525">
            <a:solidFill>
              <a:srgbClr val="D5DCEA"/>
            </a:solidFill>
            <a:prstDash val="solid"/>
          </a:ln>
        </p:spPr>
      </p:sp>
      <p:sp>
        <p:nvSpPr>
          <p:cNvPr id="12" name="Shape 9"/>
          <p:cNvSpPr/>
          <p:nvPr/>
        </p:nvSpPr>
        <p:spPr>
          <a:xfrm>
            <a:off x="2569464" y="1188720"/>
            <a:ext cx="1892808" cy="566928"/>
          </a:xfrm>
          <a:prstGeom prst="rect">
            <a:avLst/>
          </a:prstGeom>
          <a:solidFill>
            <a:srgbClr val="2E5496"/>
          </a:solidFill>
          <a:ln w="12700">
            <a:solidFill>
              <a:srgbClr val="2E5496"/>
            </a:solidFill>
            <a:prstDash val="solid"/>
          </a:ln>
        </p:spPr>
      </p:sp>
      <p:sp>
        <p:nvSpPr>
          <p:cNvPr id="13" name="Text 10"/>
          <p:cNvSpPr txBox="1"/>
          <p:nvPr/>
        </p:nvSpPr>
        <p:spPr>
          <a:xfrm>
            <a:off x="2624328" y="1188720"/>
            <a:ext cx="1783080"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The spiritual believer</a:t>
            </a:r>
            <a:endParaRPr lang="en-US" sz="1150" dirty="0"/>
          </a:p>
        </p:txBody>
      </p:sp>
      <p:sp>
        <p:nvSpPr>
          <p:cNvPr id="14" name="Text 11"/>
          <p:cNvSpPr txBox="1"/>
          <p:nvPr/>
        </p:nvSpPr>
        <p:spPr>
          <a:xfrm>
            <a:off x="2660904" y="1828800"/>
            <a:ext cx="1709928" cy="1335024"/>
          </a:xfrm>
          <a:prstGeom prst="rect">
            <a:avLst/>
          </a:prstGeom>
          <a:noFill/>
          <a:ln/>
        </p:spPr>
        <p:txBody>
          <a:bodyPr wrap="square" lIns="0" tIns="0" rIns="0" bIns="0" rtlCol="0" anchor="t"/>
          <a:lstStyle/>
          <a:p>
            <a:pPr algn="ctr" indent="0" marL="0">
              <a:buNone/>
            </a:pPr>
            <a:r>
              <a:rPr lang="en-US" sz="1250" b="1" dirty="0">
                <a:solidFill>
                  <a:srgbClr val="7030A0"/>
                </a:solidFill>
                <a:latin typeface="Arial" pitchFamily="34" charset="0"/>
                <a:ea typeface="Arial" pitchFamily="34" charset="-122"/>
                <a:cs typeface="Arial" pitchFamily="34" charset="-120"/>
              </a:rPr>
              <a:t>πνευματικοί</a:t>
            </a:r>
            <a:endParaRPr lang="en-US" sz="1200" dirty="0"/>
          </a:p>
          <a:p>
            <a:pPr algn="ctr" indent="0" marL="0">
              <a:buNone/>
            </a:pPr>
            <a:r>
              <a:rPr lang="en-US" sz="1200" dirty="0">
                <a:solidFill>
                  <a:srgbClr val="262626"/>
                </a:solidFill>
                <a:latin typeface="Arial" pitchFamily="34" charset="0"/>
                <a:ea typeface="Arial" pitchFamily="34" charset="-122"/>
                <a:cs typeface="Arial" pitchFamily="34" charset="-120"/>
              </a:rPr>
              <a:t>Walking in the Spirit (5:16–25) — not sinless</a:t>
            </a:r>
            <a:endParaRPr lang="en-US" sz="1200" dirty="0"/>
          </a:p>
        </p:txBody>
      </p:sp>
      <p:sp>
        <p:nvSpPr>
          <p:cNvPr id="15" name="Text 12"/>
          <p:cNvSpPr txBox="1"/>
          <p:nvPr/>
        </p:nvSpPr>
        <p:spPr>
          <a:xfrm>
            <a:off x="2642616" y="3145536"/>
            <a:ext cx="1746504"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6:1b</a:t>
            </a:r>
            <a:endParaRPr lang="en-US" sz="950" dirty="0"/>
          </a:p>
        </p:txBody>
      </p:sp>
      <p:sp>
        <p:nvSpPr>
          <p:cNvPr id="16" name="Shape 13"/>
          <p:cNvSpPr/>
          <p:nvPr/>
        </p:nvSpPr>
        <p:spPr>
          <a:xfrm>
            <a:off x="4471416" y="2212848"/>
            <a:ext cx="201168" cy="237744"/>
          </a:xfrm>
          <a:prstGeom prst="rightArrow">
            <a:avLst/>
          </a:prstGeom>
          <a:solidFill>
            <a:srgbClr val="6B7280"/>
          </a:solidFill>
          <a:ln w="12700">
            <a:solidFill>
              <a:srgbClr val="6B7280"/>
            </a:solidFill>
            <a:prstDash val="solid"/>
          </a:ln>
        </p:spPr>
      </p:sp>
      <p:sp>
        <p:nvSpPr>
          <p:cNvPr id="17" name="Shape 14"/>
          <p:cNvSpPr/>
          <p:nvPr/>
        </p:nvSpPr>
        <p:spPr>
          <a:xfrm>
            <a:off x="4681728" y="1188720"/>
            <a:ext cx="1892808" cy="2286000"/>
          </a:xfrm>
          <a:prstGeom prst="rect">
            <a:avLst/>
          </a:prstGeom>
          <a:solidFill>
            <a:srgbClr val="F2F6FC"/>
          </a:solidFill>
          <a:ln w="9525">
            <a:solidFill>
              <a:srgbClr val="D5DCEA"/>
            </a:solidFill>
            <a:prstDash val="solid"/>
          </a:ln>
        </p:spPr>
      </p:sp>
      <p:sp>
        <p:nvSpPr>
          <p:cNvPr id="18" name="Shape 15"/>
          <p:cNvSpPr/>
          <p:nvPr/>
        </p:nvSpPr>
        <p:spPr>
          <a:xfrm>
            <a:off x="4681728" y="1188720"/>
            <a:ext cx="1892808" cy="566928"/>
          </a:xfrm>
          <a:prstGeom prst="rect">
            <a:avLst/>
          </a:prstGeom>
          <a:solidFill>
            <a:srgbClr val="375623"/>
          </a:solidFill>
          <a:ln w="12700">
            <a:solidFill>
              <a:srgbClr val="375623"/>
            </a:solidFill>
            <a:prstDash val="solid"/>
          </a:ln>
        </p:spPr>
      </p:sp>
      <p:sp>
        <p:nvSpPr>
          <p:cNvPr id="19" name="Text 16"/>
          <p:cNvSpPr txBox="1"/>
          <p:nvPr/>
        </p:nvSpPr>
        <p:spPr>
          <a:xfrm>
            <a:off x="4736592" y="1188720"/>
            <a:ext cx="1783080"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The goal</a:t>
            </a:r>
            <a:endParaRPr lang="en-US" sz="1150" dirty="0"/>
          </a:p>
        </p:txBody>
      </p:sp>
      <p:sp>
        <p:nvSpPr>
          <p:cNvPr id="20" name="Text 17"/>
          <p:cNvSpPr txBox="1"/>
          <p:nvPr/>
        </p:nvSpPr>
        <p:spPr>
          <a:xfrm>
            <a:off x="4773168" y="1828800"/>
            <a:ext cx="1709928" cy="1335024"/>
          </a:xfrm>
          <a:prstGeom prst="rect">
            <a:avLst/>
          </a:prstGeom>
          <a:noFill/>
          <a:ln/>
        </p:spPr>
        <p:txBody>
          <a:bodyPr wrap="square" lIns="0" tIns="0" rIns="0" bIns="0" rtlCol="0" anchor="t"/>
          <a:lstStyle/>
          <a:p>
            <a:pPr algn="ctr" indent="0" marL="0">
              <a:buNone/>
            </a:pPr>
            <a:r>
              <a:rPr lang="en-US" sz="1250" b="1" dirty="0">
                <a:solidFill>
                  <a:srgbClr val="7030A0"/>
                </a:solidFill>
                <a:latin typeface="Arial" pitchFamily="34" charset="0"/>
                <a:ea typeface="Arial" pitchFamily="34" charset="-122"/>
                <a:cs typeface="Arial" pitchFamily="34" charset="-120"/>
              </a:rPr>
              <a:t>καταρτίζετε</a:t>
            </a:r>
            <a:endParaRPr lang="en-US" sz="1200" dirty="0"/>
          </a:p>
          <a:p>
            <a:pPr algn="ctr" indent="0" marL="0">
              <a:buNone/>
            </a:pPr>
            <a:r>
              <a:rPr lang="en-US" sz="1200" dirty="0">
                <a:solidFill>
                  <a:srgbClr val="262626"/>
                </a:solidFill>
                <a:latin typeface="Arial" pitchFamily="34" charset="0"/>
                <a:ea typeface="Arial" pitchFamily="34" charset="-122"/>
                <a:cs typeface="Arial" pitchFamily="34" charset="-120"/>
              </a:rPr>
              <a:t>Restore — mend the net, set the bone</a:t>
            </a:r>
            <a:endParaRPr lang="en-US" sz="1200" dirty="0"/>
          </a:p>
        </p:txBody>
      </p:sp>
      <p:sp>
        <p:nvSpPr>
          <p:cNvPr id="21" name="Text 18"/>
          <p:cNvSpPr txBox="1"/>
          <p:nvPr/>
        </p:nvSpPr>
        <p:spPr>
          <a:xfrm>
            <a:off x="4754880" y="3145536"/>
            <a:ext cx="1746504"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6:1c</a:t>
            </a:r>
            <a:endParaRPr lang="en-US" sz="950" dirty="0"/>
          </a:p>
        </p:txBody>
      </p:sp>
      <p:sp>
        <p:nvSpPr>
          <p:cNvPr id="22" name="Shape 19"/>
          <p:cNvSpPr/>
          <p:nvPr/>
        </p:nvSpPr>
        <p:spPr>
          <a:xfrm>
            <a:off x="6583680" y="2212848"/>
            <a:ext cx="201168" cy="237744"/>
          </a:xfrm>
          <a:prstGeom prst="rightArrow">
            <a:avLst/>
          </a:prstGeom>
          <a:solidFill>
            <a:srgbClr val="6B7280"/>
          </a:solidFill>
          <a:ln w="12700">
            <a:solidFill>
              <a:srgbClr val="6B7280"/>
            </a:solidFill>
            <a:prstDash val="solid"/>
          </a:ln>
        </p:spPr>
      </p:sp>
      <p:sp>
        <p:nvSpPr>
          <p:cNvPr id="23" name="Shape 20"/>
          <p:cNvSpPr/>
          <p:nvPr/>
        </p:nvSpPr>
        <p:spPr>
          <a:xfrm>
            <a:off x="6793992" y="1188720"/>
            <a:ext cx="1892808" cy="2286000"/>
          </a:xfrm>
          <a:prstGeom prst="rect">
            <a:avLst/>
          </a:prstGeom>
          <a:solidFill>
            <a:srgbClr val="F2F6FC"/>
          </a:solidFill>
          <a:ln w="9525">
            <a:solidFill>
              <a:srgbClr val="D5DCEA"/>
            </a:solidFill>
            <a:prstDash val="solid"/>
          </a:ln>
        </p:spPr>
      </p:sp>
      <p:sp>
        <p:nvSpPr>
          <p:cNvPr id="24" name="Shape 21"/>
          <p:cNvSpPr/>
          <p:nvPr/>
        </p:nvSpPr>
        <p:spPr>
          <a:xfrm>
            <a:off x="6793992" y="1188720"/>
            <a:ext cx="1892808" cy="566928"/>
          </a:xfrm>
          <a:prstGeom prst="rect">
            <a:avLst/>
          </a:prstGeom>
          <a:solidFill>
            <a:srgbClr val="375623"/>
          </a:solidFill>
          <a:ln w="12700">
            <a:solidFill>
              <a:srgbClr val="375623"/>
            </a:solidFill>
            <a:prstDash val="solid"/>
          </a:ln>
        </p:spPr>
      </p:sp>
      <p:sp>
        <p:nvSpPr>
          <p:cNvPr id="25" name="Text 22"/>
          <p:cNvSpPr txBox="1"/>
          <p:nvPr/>
        </p:nvSpPr>
        <p:spPr>
          <a:xfrm>
            <a:off x="6848856" y="1188720"/>
            <a:ext cx="1783080"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The manner</a:t>
            </a:r>
            <a:endParaRPr lang="en-US" sz="1150" dirty="0"/>
          </a:p>
        </p:txBody>
      </p:sp>
      <p:sp>
        <p:nvSpPr>
          <p:cNvPr id="26" name="Text 23"/>
          <p:cNvSpPr txBox="1"/>
          <p:nvPr/>
        </p:nvSpPr>
        <p:spPr>
          <a:xfrm>
            <a:off x="6885432" y="1828800"/>
            <a:ext cx="1709928" cy="1335024"/>
          </a:xfrm>
          <a:prstGeom prst="rect">
            <a:avLst/>
          </a:prstGeom>
          <a:noFill/>
          <a:ln/>
        </p:spPr>
        <p:txBody>
          <a:bodyPr wrap="square" lIns="0" tIns="0" rIns="0" bIns="0" rtlCol="0" anchor="t"/>
          <a:lstStyle/>
          <a:p>
            <a:pPr algn="ctr" indent="0" marL="0">
              <a:buNone/>
            </a:pPr>
            <a:r>
              <a:rPr lang="en-US" sz="1250" b="1" dirty="0">
                <a:solidFill>
                  <a:srgbClr val="7030A0"/>
                </a:solidFill>
                <a:latin typeface="Arial" pitchFamily="34" charset="0"/>
                <a:ea typeface="Arial" pitchFamily="34" charset="-122"/>
                <a:cs typeface="Arial" pitchFamily="34" charset="-120"/>
              </a:rPr>
              <a:t>πραΰτητος</a:t>
            </a:r>
            <a:endParaRPr lang="en-US" sz="1200" dirty="0"/>
          </a:p>
          <a:p>
            <a:pPr algn="ctr" indent="0" marL="0">
              <a:buNone/>
            </a:pPr>
            <a:r>
              <a:rPr lang="en-US" sz="1200" dirty="0">
                <a:solidFill>
                  <a:srgbClr val="262626"/>
                </a:solidFill>
                <a:latin typeface="Arial" pitchFamily="34" charset="0"/>
                <a:ea typeface="Arial" pitchFamily="34" charset="-122"/>
                <a:cs typeface="Arial" pitchFamily="34" charset="-120"/>
              </a:rPr>
              <a:t>In gentleness, considering yourself</a:t>
            </a:r>
            <a:endParaRPr lang="en-US" sz="1200" dirty="0"/>
          </a:p>
        </p:txBody>
      </p:sp>
      <p:sp>
        <p:nvSpPr>
          <p:cNvPr id="27" name="Text 24"/>
          <p:cNvSpPr txBox="1"/>
          <p:nvPr/>
        </p:nvSpPr>
        <p:spPr>
          <a:xfrm>
            <a:off x="6867144" y="3145536"/>
            <a:ext cx="1746504"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6:1d</a:t>
            </a:r>
            <a:endParaRPr lang="en-US" sz="950" dirty="0"/>
          </a:p>
        </p:txBody>
      </p:sp>
      <p:sp>
        <p:nvSpPr>
          <p:cNvPr id="28" name="Shape 25"/>
          <p:cNvSpPr/>
          <p:nvPr/>
        </p:nvSpPr>
        <p:spPr>
          <a:xfrm>
            <a:off x="457200" y="3749040"/>
            <a:ext cx="8229600" cy="548640"/>
          </a:xfrm>
          <a:prstGeom prst="roundRect">
            <a:avLst>
              <a:gd name="adj" fmla="val 10000"/>
            </a:avLst>
          </a:prstGeom>
          <a:solidFill>
            <a:srgbClr val="1F3864"/>
          </a:solidFill>
          <a:ln w="12700">
            <a:solidFill>
              <a:srgbClr val="1F3864"/>
            </a:solidFill>
            <a:prstDash val="solid"/>
          </a:ln>
        </p:spPr>
      </p:sp>
      <p:sp>
        <p:nvSpPr>
          <p:cNvPr id="29" name="Text 26"/>
          <p:cNvSpPr txBox="1"/>
          <p:nvPr/>
        </p:nvSpPr>
        <p:spPr>
          <a:xfrm>
            <a:off x="621792" y="3749040"/>
            <a:ext cx="7900416" cy="54864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Restoration, never condemnation — gentleness guards against harshness toward him and pride in us.</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The law of Christ and the self-deceived</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6:2–3 · Outline I.B — The explanation</a:t>
            </a:r>
            <a:endParaRPr lang="en-US" sz="1200" dirty="0"/>
          </a:p>
        </p:txBody>
      </p:sp>
      <p:sp>
        <p:nvSpPr>
          <p:cNvPr id="5" name="Shape 2"/>
          <p:cNvSpPr/>
          <p:nvPr/>
        </p:nvSpPr>
        <p:spPr>
          <a:xfrm>
            <a:off x="457200" y="1143000"/>
            <a:ext cx="777240" cy="621792"/>
          </a:xfrm>
          <a:prstGeom prst="rect">
            <a:avLst/>
          </a:prstGeom>
          <a:solidFill>
            <a:srgbClr val="2E5496"/>
          </a:solidFill>
          <a:ln w="12700">
            <a:solidFill>
              <a:srgbClr val="2E5496"/>
            </a:solidFill>
            <a:prstDash val="solid"/>
          </a:ln>
        </p:spPr>
      </p:sp>
      <p:sp>
        <p:nvSpPr>
          <p:cNvPr id="6" name="Text 3"/>
          <p:cNvSpPr txBox="1"/>
          <p:nvPr/>
        </p:nvSpPr>
        <p:spPr>
          <a:xfrm>
            <a:off x="457200" y="1143000"/>
            <a:ext cx="777240" cy="62179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v.2a</a:t>
            </a:r>
            <a:endParaRPr lang="en-US" sz="1100" dirty="0"/>
          </a:p>
        </p:txBody>
      </p:sp>
      <p:sp>
        <p:nvSpPr>
          <p:cNvPr id="7" name="Shape 4"/>
          <p:cNvSpPr/>
          <p:nvPr/>
        </p:nvSpPr>
        <p:spPr>
          <a:xfrm>
            <a:off x="1234440" y="1143000"/>
            <a:ext cx="7452360" cy="621792"/>
          </a:xfrm>
          <a:prstGeom prst="rect">
            <a:avLst/>
          </a:prstGeom>
          <a:solidFill>
            <a:srgbClr val="F2F6FC"/>
          </a:solidFill>
          <a:ln w="9525">
            <a:solidFill>
              <a:srgbClr val="D5DCEA"/>
            </a:solidFill>
            <a:prstDash val="solid"/>
          </a:ln>
        </p:spPr>
      </p:sp>
      <p:sp>
        <p:nvSpPr>
          <p:cNvPr id="8" name="Text 5"/>
          <p:cNvSpPr txBox="1"/>
          <p:nvPr/>
        </p:nvSpPr>
        <p:spPr>
          <a:xfrm>
            <a:off x="1344168" y="1143000"/>
            <a:ext cx="4206240" cy="621792"/>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“Bear one another's burdens”</a:t>
            </a:r>
            <a:endParaRPr lang="en-US" sz="1200" dirty="0"/>
          </a:p>
        </p:txBody>
      </p:sp>
      <p:sp>
        <p:nvSpPr>
          <p:cNvPr id="9" name="Text 6"/>
          <p:cNvSpPr txBox="1"/>
          <p:nvPr/>
        </p:nvSpPr>
        <p:spPr>
          <a:xfrm>
            <a:off x="5623560" y="1143000"/>
            <a:ext cx="2971800" cy="621792"/>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βάρη</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too heavy to carry alone</a:t>
            </a:r>
            <a:endParaRPr lang="en-US" sz="1200" dirty="0"/>
          </a:p>
        </p:txBody>
      </p:sp>
      <p:sp>
        <p:nvSpPr>
          <p:cNvPr id="10" name="Shape 7"/>
          <p:cNvSpPr/>
          <p:nvPr/>
        </p:nvSpPr>
        <p:spPr>
          <a:xfrm>
            <a:off x="457200" y="1837944"/>
            <a:ext cx="777240" cy="621792"/>
          </a:xfrm>
          <a:prstGeom prst="rect">
            <a:avLst/>
          </a:prstGeom>
          <a:solidFill>
            <a:srgbClr val="375623"/>
          </a:solidFill>
          <a:ln w="12700">
            <a:solidFill>
              <a:srgbClr val="375623"/>
            </a:solidFill>
            <a:prstDash val="solid"/>
          </a:ln>
        </p:spPr>
      </p:sp>
      <p:sp>
        <p:nvSpPr>
          <p:cNvPr id="11" name="Text 8"/>
          <p:cNvSpPr txBox="1"/>
          <p:nvPr/>
        </p:nvSpPr>
        <p:spPr>
          <a:xfrm>
            <a:off x="457200" y="1837944"/>
            <a:ext cx="777240" cy="62179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v.2b</a:t>
            </a:r>
            <a:endParaRPr lang="en-US" sz="1100" dirty="0"/>
          </a:p>
        </p:txBody>
      </p:sp>
      <p:sp>
        <p:nvSpPr>
          <p:cNvPr id="12" name="Shape 9"/>
          <p:cNvSpPr/>
          <p:nvPr/>
        </p:nvSpPr>
        <p:spPr>
          <a:xfrm>
            <a:off x="1234440" y="1837944"/>
            <a:ext cx="7452360" cy="621792"/>
          </a:xfrm>
          <a:prstGeom prst="rect">
            <a:avLst/>
          </a:prstGeom>
          <a:solidFill>
            <a:srgbClr val="FFFFFF"/>
          </a:solidFill>
          <a:ln w="9525">
            <a:solidFill>
              <a:srgbClr val="D5DCEA"/>
            </a:solidFill>
            <a:prstDash val="solid"/>
          </a:ln>
        </p:spPr>
      </p:sp>
      <p:sp>
        <p:nvSpPr>
          <p:cNvPr id="13" name="Text 10"/>
          <p:cNvSpPr txBox="1"/>
          <p:nvPr/>
        </p:nvSpPr>
        <p:spPr>
          <a:xfrm>
            <a:off x="1344168" y="1837944"/>
            <a:ext cx="4206240" cy="621792"/>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“and so fulfill the law of Christ”</a:t>
            </a:r>
            <a:endParaRPr lang="en-US" sz="1200" dirty="0"/>
          </a:p>
        </p:txBody>
      </p:sp>
      <p:sp>
        <p:nvSpPr>
          <p:cNvPr id="14" name="Text 11"/>
          <p:cNvSpPr txBox="1"/>
          <p:nvPr/>
        </p:nvSpPr>
        <p:spPr>
          <a:xfrm>
            <a:off x="5623560" y="1837944"/>
            <a:ext cx="2971800" cy="621792"/>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ἀναπληρώσατε</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fill up to full measure</a:t>
            </a:r>
            <a:endParaRPr lang="en-US" sz="1200" dirty="0"/>
          </a:p>
        </p:txBody>
      </p:sp>
      <p:sp>
        <p:nvSpPr>
          <p:cNvPr id="15" name="Shape 12"/>
          <p:cNvSpPr/>
          <p:nvPr/>
        </p:nvSpPr>
        <p:spPr>
          <a:xfrm>
            <a:off x="457200" y="2532888"/>
            <a:ext cx="777240" cy="621792"/>
          </a:xfrm>
          <a:prstGeom prst="rect">
            <a:avLst/>
          </a:prstGeom>
          <a:solidFill>
            <a:srgbClr val="6B7280"/>
          </a:solidFill>
          <a:ln w="12700">
            <a:solidFill>
              <a:srgbClr val="6B7280"/>
            </a:solidFill>
            <a:prstDash val="solid"/>
          </a:ln>
        </p:spPr>
      </p:sp>
      <p:sp>
        <p:nvSpPr>
          <p:cNvPr id="16" name="Text 13"/>
          <p:cNvSpPr txBox="1"/>
          <p:nvPr/>
        </p:nvSpPr>
        <p:spPr>
          <a:xfrm>
            <a:off x="457200" y="2532888"/>
            <a:ext cx="777240" cy="62179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v.3a</a:t>
            </a:r>
            <a:endParaRPr lang="en-US" sz="1100" dirty="0"/>
          </a:p>
        </p:txBody>
      </p:sp>
      <p:sp>
        <p:nvSpPr>
          <p:cNvPr id="17" name="Shape 14"/>
          <p:cNvSpPr/>
          <p:nvPr/>
        </p:nvSpPr>
        <p:spPr>
          <a:xfrm>
            <a:off x="1234440" y="2532888"/>
            <a:ext cx="7452360" cy="621792"/>
          </a:xfrm>
          <a:prstGeom prst="rect">
            <a:avLst/>
          </a:prstGeom>
          <a:solidFill>
            <a:srgbClr val="F2F6FC"/>
          </a:solidFill>
          <a:ln w="9525">
            <a:solidFill>
              <a:srgbClr val="D5DCEA"/>
            </a:solidFill>
            <a:prstDash val="solid"/>
          </a:ln>
        </p:spPr>
      </p:sp>
      <p:sp>
        <p:nvSpPr>
          <p:cNvPr id="18" name="Text 15"/>
          <p:cNvSpPr txBox="1"/>
          <p:nvPr/>
        </p:nvSpPr>
        <p:spPr>
          <a:xfrm>
            <a:off x="1344168" y="2532888"/>
            <a:ext cx="4206240" cy="621792"/>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“If anyone thinks himself to be something, when he is nothing”</a:t>
            </a:r>
            <a:endParaRPr lang="en-US" sz="1200" dirty="0"/>
          </a:p>
        </p:txBody>
      </p:sp>
      <p:sp>
        <p:nvSpPr>
          <p:cNvPr id="19" name="Text 16"/>
          <p:cNvSpPr txBox="1"/>
          <p:nvPr/>
        </p:nvSpPr>
        <p:spPr>
          <a:xfrm>
            <a:off x="5623560" y="2532888"/>
            <a:ext cx="2971800" cy="621792"/>
          </a:xfrm>
          <a:prstGeom prst="rect">
            <a:avLst/>
          </a:prstGeom>
          <a:noFill/>
          <a:ln/>
        </p:spPr>
        <p:txBody>
          <a:bodyPr wrap="square" lIns="0" tIns="0" rIns="0" bIns="0" rtlCol="0" anchor="ctr"/>
          <a:lstStyle/>
          <a:p>
            <a:pPr indent="0" marL="0">
              <a:buNone/>
            </a:pPr>
            <a:r>
              <a:rPr lang="en-US" sz="950" dirty="0">
                <a:solidFill>
                  <a:srgbClr val="595959"/>
                </a:solidFill>
                <a:latin typeface="Arial" pitchFamily="34" charset="0"/>
                <a:ea typeface="Arial" pitchFamily="34" charset="-122"/>
                <a:cs typeface="Arial" pitchFamily="34" charset="-120"/>
              </a:rPr>
              <a:t>the danger after helping</a:t>
            </a:r>
            <a:endParaRPr lang="en-US" sz="1200" dirty="0"/>
          </a:p>
        </p:txBody>
      </p:sp>
      <p:sp>
        <p:nvSpPr>
          <p:cNvPr id="20" name="Shape 17"/>
          <p:cNvSpPr/>
          <p:nvPr/>
        </p:nvSpPr>
        <p:spPr>
          <a:xfrm>
            <a:off x="457200" y="3227832"/>
            <a:ext cx="777240" cy="621792"/>
          </a:xfrm>
          <a:prstGeom prst="rect">
            <a:avLst/>
          </a:prstGeom>
          <a:solidFill>
            <a:srgbClr val="7030A0"/>
          </a:solidFill>
          <a:ln w="12700">
            <a:solidFill>
              <a:srgbClr val="7030A0"/>
            </a:solidFill>
            <a:prstDash val="solid"/>
          </a:ln>
        </p:spPr>
      </p:sp>
      <p:sp>
        <p:nvSpPr>
          <p:cNvPr id="21" name="Text 18"/>
          <p:cNvSpPr txBox="1"/>
          <p:nvPr/>
        </p:nvSpPr>
        <p:spPr>
          <a:xfrm>
            <a:off x="457200" y="3227832"/>
            <a:ext cx="777240" cy="62179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v.3b</a:t>
            </a:r>
            <a:endParaRPr lang="en-US" sz="1100" dirty="0"/>
          </a:p>
        </p:txBody>
      </p:sp>
      <p:sp>
        <p:nvSpPr>
          <p:cNvPr id="22" name="Shape 19"/>
          <p:cNvSpPr/>
          <p:nvPr/>
        </p:nvSpPr>
        <p:spPr>
          <a:xfrm>
            <a:off x="1234440" y="3227832"/>
            <a:ext cx="7452360" cy="621792"/>
          </a:xfrm>
          <a:prstGeom prst="rect">
            <a:avLst/>
          </a:prstGeom>
          <a:solidFill>
            <a:srgbClr val="FFFFFF"/>
          </a:solidFill>
          <a:ln w="9525">
            <a:solidFill>
              <a:srgbClr val="D5DCEA"/>
            </a:solidFill>
            <a:prstDash val="solid"/>
          </a:ln>
        </p:spPr>
      </p:sp>
      <p:sp>
        <p:nvSpPr>
          <p:cNvPr id="23" name="Text 20"/>
          <p:cNvSpPr txBox="1"/>
          <p:nvPr/>
        </p:nvSpPr>
        <p:spPr>
          <a:xfrm>
            <a:off x="1344168" y="3227832"/>
            <a:ext cx="4206240" cy="621792"/>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“he deceives himself”</a:t>
            </a:r>
            <a:endParaRPr lang="en-US" sz="1200" dirty="0"/>
          </a:p>
        </p:txBody>
      </p:sp>
      <p:sp>
        <p:nvSpPr>
          <p:cNvPr id="24" name="Text 21"/>
          <p:cNvSpPr txBox="1"/>
          <p:nvPr/>
        </p:nvSpPr>
        <p:spPr>
          <a:xfrm>
            <a:off x="5623560" y="3227832"/>
            <a:ext cx="2971800" cy="621792"/>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φρεναπατᾷ</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self-fancy · used only here</a:t>
            </a:r>
            <a:endParaRPr lang="en-US" sz="1200" dirty="0"/>
          </a:p>
        </p:txBody>
      </p:sp>
      <p:sp>
        <p:nvSpPr>
          <p:cNvPr id="25" name="Shape 22"/>
          <p:cNvSpPr/>
          <p:nvPr/>
        </p:nvSpPr>
        <p:spPr>
          <a:xfrm>
            <a:off x="457200" y="4069080"/>
            <a:ext cx="8229600" cy="502920"/>
          </a:xfrm>
          <a:prstGeom prst="roundRect">
            <a:avLst>
              <a:gd name="adj" fmla="val 10909"/>
            </a:avLst>
          </a:prstGeom>
          <a:solidFill>
            <a:srgbClr val="1F3864"/>
          </a:solidFill>
          <a:ln w="12700">
            <a:solidFill>
              <a:srgbClr val="1F3864"/>
            </a:solidFill>
            <a:prstDash val="solid"/>
          </a:ln>
        </p:spPr>
      </p:sp>
      <p:sp>
        <p:nvSpPr>
          <p:cNvPr id="26" name="Text 23"/>
          <p:cNvSpPr txBox="1"/>
          <p:nvPr/>
        </p:nvSpPr>
        <p:spPr>
          <a:xfrm>
            <a:off x="621792" y="4069080"/>
            <a:ext cx="7900416" cy="50292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The Christian army is said to be the only army that shoots its wounded. Let's not shoot our wounded.</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Examine your own work</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6:4–5 · Outline II — Bear your own burden</a:t>
            </a:r>
            <a:endParaRPr lang="en-US" sz="1200" dirty="0"/>
          </a:p>
        </p:txBody>
      </p:sp>
      <p:sp>
        <p:nvSpPr>
          <p:cNvPr id="5" name="Shape 2"/>
          <p:cNvSpPr/>
          <p:nvPr/>
        </p:nvSpPr>
        <p:spPr>
          <a:xfrm>
            <a:off x="457200" y="1188720"/>
            <a:ext cx="2596896" cy="2194560"/>
          </a:xfrm>
          <a:prstGeom prst="rect">
            <a:avLst/>
          </a:prstGeom>
          <a:solidFill>
            <a:srgbClr val="F2F6FC"/>
          </a:solidFill>
          <a:ln w="9525">
            <a:solidFill>
              <a:srgbClr val="D5DCEA"/>
            </a:solidFill>
            <a:prstDash val="solid"/>
          </a:ln>
        </p:spPr>
      </p:sp>
      <p:sp>
        <p:nvSpPr>
          <p:cNvPr id="6" name="Shape 3"/>
          <p:cNvSpPr/>
          <p:nvPr/>
        </p:nvSpPr>
        <p:spPr>
          <a:xfrm>
            <a:off x="457200" y="1188720"/>
            <a:ext cx="2596896" cy="566928"/>
          </a:xfrm>
          <a:prstGeom prst="rect">
            <a:avLst/>
          </a:prstGeom>
          <a:solidFill>
            <a:srgbClr val="2E5496"/>
          </a:solidFill>
          <a:ln w="12700">
            <a:solidFill>
              <a:srgbClr val="2E5496"/>
            </a:solidFill>
            <a:prstDash val="solid"/>
          </a:ln>
        </p:spPr>
      </p:sp>
      <p:sp>
        <p:nvSpPr>
          <p:cNvPr id="7" name="Text 4"/>
          <p:cNvSpPr txBox="1"/>
          <p:nvPr/>
        </p:nvSpPr>
        <p:spPr>
          <a:xfrm>
            <a:off x="512064" y="1188720"/>
            <a:ext cx="2487168"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Examination</a:t>
            </a:r>
            <a:endParaRPr lang="en-US" sz="1150" dirty="0"/>
          </a:p>
        </p:txBody>
      </p:sp>
      <p:sp>
        <p:nvSpPr>
          <p:cNvPr id="8" name="Text 5"/>
          <p:cNvSpPr txBox="1"/>
          <p:nvPr/>
        </p:nvSpPr>
        <p:spPr>
          <a:xfrm>
            <a:off x="548640" y="1828800"/>
            <a:ext cx="2414016" cy="1243584"/>
          </a:xfrm>
          <a:prstGeom prst="rect">
            <a:avLst/>
          </a:prstGeom>
          <a:noFill/>
          <a:ln/>
        </p:spPr>
        <p:txBody>
          <a:bodyPr wrap="square" lIns="0" tIns="0" rIns="0" bIns="0" rtlCol="0" anchor="t"/>
          <a:lstStyle/>
          <a:p>
            <a:pPr algn="ctr" indent="0" marL="0">
              <a:buNone/>
            </a:pPr>
            <a:r>
              <a:rPr lang="en-US" sz="1250" b="1" dirty="0">
                <a:solidFill>
                  <a:srgbClr val="7030A0"/>
                </a:solidFill>
                <a:latin typeface="Arial" pitchFamily="34" charset="0"/>
                <a:ea typeface="Arial" pitchFamily="34" charset="-122"/>
                <a:cs typeface="Arial" pitchFamily="34" charset="-120"/>
              </a:rPr>
              <a:t>δοκιμαζέτω</a:t>
            </a:r>
            <a:endParaRPr lang="en-US" sz="1200" dirty="0"/>
          </a:p>
          <a:p>
            <a:pPr algn="ctr" indent="0" marL="0">
              <a:buNone/>
            </a:pPr>
            <a:r>
              <a:rPr lang="en-US" sz="1200" dirty="0">
                <a:solidFill>
                  <a:srgbClr val="262626"/>
                </a:solidFill>
                <a:latin typeface="Arial" pitchFamily="34" charset="0"/>
                <a:ea typeface="Arial" pitchFamily="34" charset="-122"/>
                <a:cs typeface="Arial" pitchFamily="34" charset="-120"/>
              </a:rPr>
              <a:t>Test your own work — your service, not your salvation</a:t>
            </a:r>
            <a:endParaRPr lang="en-US" sz="1200" dirty="0"/>
          </a:p>
        </p:txBody>
      </p:sp>
      <p:sp>
        <p:nvSpPr>
          <p:cNvPr id="9" name="Text 6"/>
          <p:cNvSpPr txBox="1"/>
          <p:nvPr/>
        </p:nvSpPr>
        <p:spPr>
          <a:xfrm>
            <a:off x="530352" y="3054096"/>
            <a:ext cx="2450592"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v.4a</a:t>
            </a:r>
            <a:endParaRPr lang="en-US" sz="950" dirty="0"/>
          </a:p>
        </p:txBody>
      </p:sp>
      <p:sp>
        <p:nvSpPr>
          <p:cNvPr id="10" name="Shape 7"/>
          <p:cNvSpPr/>
          <p:nvPr/>
        </p:nvSpPr>
        <p:spPr>
          <a:xfrm>
            <a:off x="3063240" y="2167128"/>
            <a:ext cx="201168" cy="237744"/>
          </a:xfrm>
          <a:prstGeom prst="rightArrow">
            <a:avLst/>
          </a:prstGeom>
          <a:solidFill>
            <a:srgbClr val="6B7280"/>
          </a:solidFill>
          <a:ln w="12700">
            <a:solidFill>
              <a:srgbClr val="6B7280"/>
            </a:solidFill>
            <a:prstDash val="solid"/>
          </a:ln>
        </p:spPr>
      </p:sp>
      <p:sp>
        <p:nvSpPr>
          <p:cNvPr id="11" name="Shape 8"/>
          <p:cNvSpPr/>
          <p:nvPr/>
        </p:nvSpPr>
        <p:spPr>
          <a:xfrm>
            <a:off x="3273552" y="1188720"/>
            <a:ext cx="2596896" cy="2194560"/>
          </a:xfrm>
          <a:prstGeom prst="rect">
            <a:avLst/>
          </a:prstGeom>
          <a:solidFill>
            <a:srgbClr val="F2F6FC"/>
          </a:solidFill>
          <a:ln w="9525">
            <a:solidFill>
              <a:srgbClr val="D5DCEA"/>
            </a:solidFill>
            <a:prstDash val="solid"/>
          </a:ln>
        </p:spPr>
      </p:sp>
      <p:sp>
        <p:nvSpPr>
          <p:cNvPr id="12" name="Shape 9"/>
          <p:cNvSpPr/>
          <p:nvPr/>
        </p:nvSpPr>
        <p:spPr>
          <a:xfrm>
            <a:off x="3273552" y="1188720"/>
            <a:ext cx="2596896" cy="566928"/>
          </a:xfrm>
          <a:prstGeom prst="rect">
            <a:avLst/>
          </a:prstGeom>
          <a:solidFill>
            <a:srgbClr val="375623"/>
          </a:solidFill>
          <a:ln w="12700">
            <a:solidFill>
              <a:srgbClr val="375623"/>
            </a:solidFill>
            <a:prstDash val="solid"/>
          </a:ln>
        </p:spPr>
      </p:sp>
      <p:sp>
        <p:nvSpPr>
          <p:cNvPr id="13" name="Text 10"/>
          <p:cNvSpPr txBox="1"/>
          <p:nvPr/>
        </p:nvSpPr>
        <p:spPr>
          <a:xfrm>
            <a:off x="3328416" y="1188720"/>
            <a:ext cx="2487168"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Exaltation</a:t>
            </a:r>
            <a:endParaRPr lang="en-US" sz="1150" dirty="0"/>
          </a:p>
        </p:txBody>
      </p:sp>
      <p:sp>
        <p:nvSpPr>
          <p:cNvPr id="14" name="Text 11"/>
          <p:cNvSpPr txBox="1"/>
          <p:nvPr/>
        </p:nvSpPr>
        <p:spPr>
          <a:xfrm>
            <a:off x="3364992" y="1828800"/>
            <a:ext cx="2414016" cy="1243584"/>
          </a:xfrm>
          <a:prstGeom prst="rect">
            <a:avLst/>
          </a:prstGeom>
          <a:noFill/>
          <a:ln/>
        </p:spPr>
        <p:txBody>
          <a:bodyPr wrap="square" lIns="0" tIns="0" rIns="0" bIns="0" rtlCol="0" anchor="t"/>
          <a:lstStyle/>
          <a:p>
            <a:pPr algn="ctr" indent="0" marL="0">
              <a:buNone/>
            </a:pPr>
            <a:r>
              <a:rPr lang="en-US" sz="1250" b="1" dirty="0">
                <a:solidFill>
                  <a:srgbClr val="7030A0"/>
                </a:solidFill>
                <a:latin typeface="Arial" pitchFamily="34" charset="0"/>
                <a:ea typeface="Arial" pitchFamily="34" charset="-122"/>
                <a:cs typeface="Arial" pitchFamily="34" charset="-120"/>
              </a:rPr>
              <a:t>καύχημα</a:t>
            </a:r>
            <a:endParaRPr lang="en-US" sz="1200" dirty="0"/>
          </a:p>
          <a:p>
            <a:pPr algn="ctr" indent="0" marL="0">
              <a:buNone/>
            </a:pPr>
            <a:r>
              <a:rPr lang="en-US" sz="1200" dirty="0">
                <a:solidFill>
                  <a:srgbClr val="262626"/>
                </a:solidFill>
                <a:latin typeface="Arial" pitchFamily="34" charset="0"/>
                <a:ea typeface="Arial" pitchFamily="34" charset="-122"/>
                <a:cs typeface="Arial" pitchFamily="34" charset="-120"/>
              </a:rPr>
              <a:t>Rejoicing in yourself alone, not by comparing with another</a:t>
            </a:r>
            <a:endParaRPr lang="en-US" sz="1200" dirty="0"/>
          </a:p>
        </p:txBody>
      </p:sp>
      <p:sp>
        <p:nvSpPr>
          <p:cNvPr id="15" name="Text 12"/>
          <p:cNvSpPr txBox="1"/>
          <p:nvPr/>
        </p:nvSpPr>
        <p:spPr>
          <a:xfrm>
            <a:off x="3346704" y="3054096"/>
            <a:ext cx="2450592"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v.4b</a:t>
            </a:r>
            <a:endParaRPr lang="en-US" sz="950" dirty="0"/>
          </a:p>
        </p:txBody>
      </p:sp>
      <p:sp>
        <p:nvSpPr>
          <p:cNvPr id="16" name="Shape 13"/>
          <p:cNvSpPr/>
          <p:nvPr/>
        </p:nvSpPr>
        <p:spPr>
          <a:xfrm>
            <a:off x="5879592" y="2167128"/>
            <a:ext cx="201168" cy="237744"/>
          </a:xfrm>
          <a:prstGeom prst="rightArrow">
            <a:avLst/>
          </a:prstGeom>
          <a:solidFill>
            <a:srgbClr val="6B7280"/>
          </a:solidFill>
          <a:ln w="12700">
            <a:solidFill>
              <a:srgbClr val="6B7280"/>
            </a:solidFill>
            <a:prstDash val="solid"/>
          </a:ln>
        </p:spPr>
      </p:sp>
      <p:sp>
        <p:nvSpPr>
          <p:cNvPr id="17" name="Shape 14"/>
          <p:cNvSpPr/>
          <p:nvPr/>
        </p:nvSpPr>
        <p:spPr>
          <a:xfrm>
            <a:off x="6089904" y="1188720"/>
            <a:ext cx="2596896" cy="2194560"/>
          </a:xfrm>
          <a:prstGeom prst="rect">
            <a:avLst/>
          </a:prstGeom>
          <a:solidFill>
            <a:srgbClr val="F2F6FC"/>
          </a:solidFill>
          <a:ln w="9525">
            <a:solidFill>
              <a:srgbClr val="D5DCEA"/>
            </a:solidFill>
            <a:prstDash val="solid"/>
          </a:ln>
        </p:spPr>
      </p:sp>
      <p:sp>
        <p:nvSpPr>
          <p:cNvPr id="18" name="Shape 15"/>
          <p:cNvSpPr/>
          <p:nvPr/>
        </p:nvSpPr>
        <p:spPr>
          <a:xfrm>
            <a:off x="6089904" y="1188720"/>
            <a:ext cx="2596896" cy="566928"/>
          </a:xfrm>
          <a:prstGeom prst="rect">
            <a:avLst/>
          </a:prstGeom>
          <a:solidFill>
            <a:srgbClr val="7030A0"/>
          </a:solidFill>
          <a:ln w="12700">
            <a:solidFill>
              <a:srgbClr val="7030A0"/>
            </a:solidFill>
            <a:prstDash val="solid"/>
          </a:ln>
        </p:spPr>
      </p:sp>
      <p:sp>
        <p:nvSpPr>
          <p:cNvPr id="19" name="Text 16"/>
          <p:cNvSpPr txBox="1"/>
          <p:nvPr/>
        </p:nvSpPr>
        <p:spPr>
          <a:xfrm>
            <a:off x="6144768" y="1188720"/>
            <a:ext cx="2487168"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Explanation</a:t>
            </a:r>
            <a:endParaRPr lang="en-US" sz="1150" dirty="0"/>
          </a:p>
        </p:txBody>
      </p:sp>
      <p:sp>
        <p:nvSpPr>
          <p:cNvPr id="20" name="Text 17"/>
          <p:cNvSpPr txBox="1"/>
          <p:nvPr/>
        </p:nvSpPr>
        <p:spPr>
          <a:xfrm>
            <a:off x="6181344" y="1828800"/>
            <a:ext cx="2414016" cy="1243584"/>
          </a:xfrm>
          <a:prstGeom prst="rect">
            <a:avLst/>
          </a:prstGeom>
          <a:noFill/>
          <a:ln/>
        </p:spPr>
        <p:txBody>
          <a:bodyPr wrap="square" lIns="0" tIns="0" rIns="0" bIns="0" rtlCol="0" anchor="t"/>
          <a:lstStyle/>
          <a:p>
            <a:pPr algn="ctr" indent="0" marL="0">
              <a:buNone/>
            </a:pPr>
            <a:r>
              <a:rPr lang="en-US" sz="1250" b="1" dirty="0">
                <a:solidFill>
                  <a:srgbClr val="7030A0"/>
                </a:solidFill>
                <a:latin typeface="Arial" pitchFamily="34" charset="0"/>
                <a:ea typeface="Arial" pitchFamily="34" charset="-122"/>
                <a:cs typeface="Arial" pitchFamily="34" charset="-120"/>
              </a:rPr>
              <a:t>φορτίον</a:t>
            </a:r>
            <a:endParaRPr lang="en-US" sz="1200" dirty="0"/>
          </a:p>
          <a:p>
            <a:pPr algn="ctr" indent="0" marL="0">
              <a:buNone/>
            </a:pPr>
            <a:r>
              <a:rPr lang="en-US" sz="1200" dirty="0">
                <a:solidFill>
                  <a:srgbClr val="262626"/>
                </a:solidFill>
                <a:latin typeface="Arial" pitchFamily="34" charset="0"/>
                <a:ea typeface="Arial" pitchFamily="34" charset="-122"/>
                <a:cs typeface="Arial" pitchFamily="34" charset="-120"/>
              </a:rPr>
              <a:t>“Each one shall bear his own load”</a:t>
            </a:r>
            <a:endParaRPr lang="en-US" sz="1200" dirty="0"/>
          </a:p>
        </p:txBody>
      </p:sp>
      <p:sp>
        <p:nvSpPr>
          <p:cNvPr id="21" name="Text 18"/>
          <p:cNvSpPr txBox="1"/>
          <p:nvPr/>
        </p:nvSpPr>
        <p:spPr>
          <a:xfrm>
            <a:off x="6163056" y="3054096"/>
            <a:ext cx="2450592"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v.5</a:t>
            </a:r>
            <a:endParaRPr lang="en-US" sz="950" dirty="0"/>
          </a:p>
        </p:txBody>
      </p:sp>
      <p:sp>
        <p:nvSpPr>
          <p:cNvPr id="22" name="Shape 19"/>
          <p:cNvSpPr/>
          <p:nvPr/>
        </p:nvSpPr>
        <p:spPr>
          <a:xfrm>
            <a:off x="457200" y="3520440"/>
            <a:ext cx="8229600" cy="365760"/>
          </a:xfrm>
          <a:prstGeom prst="rect">
            <a:avLst/>
          </a:prstGeom>
          <a:solidFill>
            <a:srgbClr val="1F3864"/>
          </a:solidFill>
          <a:ln w="12700">
            <a:solidFill>
              <a:srgbClr val="1F3864"/>
            </a:solidFill>
            <a:prstDash val="solid"/>
          </a:ln>
        </p:spPr>
      </p:sp>
      <p:sp>
        <p:nvSpPr>
          <p:cNvPr id="23" name="Text 20"/>
          <p:cNvSpPr txBox="1"/>
          <p:nvPr/>
        </p:nvSpPr>
        <p:spPr>
          <a:xfrm>
            <a:off x="548640" y="3566160"/>
            <a:ext cx="804672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Assurance does not come from self-examination</a:t>
            </a:r>
            <a:endParaRPr lang="en-US" sz="1200" dirty="0"/>
          </a:p>
        </p:txBody>
      </p:sp>
      <p:sp>
        <p:nvSpPr>
          <p:cNvPr id="24" name="Shape 21"/>
          <p:cNvSpPr/>
          <p:nvPr/>
        </p:nvSpPr>
        <p:spPr>
          <a:xfrm>
            <a:off x="457200" y="3886200"/>
            <a:ext cx="8229600" cy="731520"/>
          </a:xfrm>
          <a:prstGeom prst="rect">
            <a:avLst/>
          </a:prstGeom>
          <a:solidFill>
            <a:srgbClr val="F2F6FC"/>
          </a:solidFill>
          <a:ln w="9525">
            <a:solidFill>
              <a:srgbClr val="D5DCEA"/>
            </a:solidFill>
            <a:prstDash val="solid"/>
          </a:ln>
        </p:spPr>
      </p:sp>
      <p:sp>
        <p:nvSpPr>
          <p:cNvPr id="25" name="Text 22"/>
          <p:cNvSpPr txBox="1"/>
          <p:nvPr/>
        </p:nvSpPr>
        <p:spPr>
          <a:xfrm>
            <a:off x="548640" y="3959352"/>
            <a:ext cx="8046720" cy="603504"/>
          </a:xfrm>
          <a:prstGeom prst="rect">
            <a:avLst/>
          </a:prstGeom>
          <a:noFill/>
          <a:ln/>
        </p:spPr>
        <p:txBody>
          <a:bodyPr wrap="square" lIns="0" tIns="0" rIns="0" bIns="0" rtlCol="0" anchor="t"/>
          <a:lstStyle/>
          <a:p>
            <a:pPr marL="127000" indent="-127000">
              <a:spcAft>
                <a:spcPts val="300"/>
              </a:spcAft>
              <a:buSzPct val="100000"/>
              <a:buChar char="•"/>
            </a:pPr>
            <a:r>
              <a:rPr lang="en-US" sz="1150" dirty="0">
                <a:solidFill>
                  <a:srgbClr val="262626"/>
                </a:solidFill>
                <a:latin typeface="Arial" pitchFamily="34" charset="0"/>
                <a:ea typeface="Arial" pitchFamily="34" charset="-122"/>
                <a:cs typeface="Arial" pitchFamily="34" charset="-120"/>
              </a:rPr>
              <a:t>It rests on God's promise to the one who believes — the examination here is about stewardship and reward</a:t>
            </a:r>
            <a:endParaRPr lang="en-US" sz="11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Discuss and apply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6:1–5 · from the study's posted questions and applications</a:t>
            </a:r>
            <a:endParaRPr lang="en-US" sz="1200" dirty="0"/>
          </a:p>
        </p:txBody>
      </p:sp>
      <p:sp>
        <p:nvSpPr>
          <p:cNvPr id="5" name="Shape 2"/>
          <p:cNvSpPr/>
          <p:nvPr/>
        </p:nvSpPr>
        <p:spPr>
          <a:xfrm>
            <a:off x="457200" y="1115568"/>
            <a:ext cx="4023360" cy="384048"/>
          </a:xfrm>
          <a:prstGeom prst="rect">
            <a:avLst/>
          </a:prstGeom>
          <a:solidFill>
            <a:srgbClr val="2E5496"/>
          </a:solidFill>
          <a:ln w="12700">
            <a:solidFill>
              <a:srgbClr val="2E5496"/>
            </a:solidFill>
            <a:prstDash val="solid"/>
          </a:ln>
        </p:spPr>
      </p:sp>
      <p:sp>
        <p:nvSpPr>
          <p:cNvPr id="6" name="Text 3"/>
          <p:cNvSpPr txBox="1"/>
          <p:nvPr/>
        </p:nvSpPr>
        <p:spPr>
          <a:xfrm>
            <a:off x="56692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Discuss</a:t>
            </a:r>
            <a:endParaRPr lang="en-US" sz="1300" dirty="0"/>
          </a:p>
        </p:txBody>
      </p:sp>
      <p:sp>
        <p:nvSpPr>
          <p:cNvPr id="7" name="Shape 4"/>
          <p:cNvSpPr/>
          <p:nvPr/>
        </p:nvSpPr>
        <p:spPr>
          <a:xfrm>
            <a:off x="457200" y="1499616"/>
            <a:ext cx="4023360" cy="2359152"/>
          </a:xfrm>
          <a:prstGeom prst="rect">
            <a:avLst/>
          </a:prstGeom>
          <a:solidFill>
            <a:srgbClr val="F2F6FC"/>
          </a:solidFill>
          <a:ln w="9525">
            <a:solidFill>
              <a:srgbClr val="D5DCEA"/>
            </a:solidFill>
            <a:prstDash val="solid"/>
          </a:ln>
        </p:spPr>
      </p:sp>
      <p:sp>
        <p:nvSpPr>
          <p:cNvPr id="8" name="Shape 5"/>
          <p:cNvSpPr/>
          <p:nvPr/>
        </p:nvSpPr>
        <p:spPr>
          <a:xfrm>
            <a:off x="4663440" y="1115568"/>
            <a:ext cx="4023360" cy="384048"/>
          </a:xfrm>
          <a:prstGeom prst="rect">
            <a:avLst/>
          </a:prstGeom>
          <a:solidFill>
            <a:srgbClr val="375623"/>
          </a:solidFill>
          <a:ln w="12700">
            <a:solidFill>
              <a:srgbClr val="375623"/>
            </a:solidFill>
            <a:prstDash val="solid"/>
          </a:ln>
        </p:spPr>
      </p:sp>
      <p:sp>
        <p:nvSpPr>
          <p:cNvPr id="9" name="Text 6"/>
          <p:cNvSpPr txBox="1"/>
          <p:nvPr/>
        </p:nvSpPr>
        <p:spPr>
          <a:xfrm>
            <a:off x="477316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Apply</a:t>
            </a:r>
            <a:endParaRPr lang="en-US" sz="1300" dirty="0"/>
          </a:p>
        </p:txBody>
      </p:sp>
      <p:sp>
        <p:nvSpPr>
          <p:cNvPr id="10" name="Shape 7"/>
          <p:cNvSpPr/>
          <p:nvPr/>
        </p:nvSpPr>
        <p:spPr>
          <a:xfrm>
            <a:off x="4663440" y="1499616"/>
            <a:ext cx="4023360" cy="2359152"/>
          </a:xfrm>
          <a:prstGeom prst="rect">
            <a:avLst/>
          </a:prstGeom>
          <a:solidFill>
            <a:srgbClr val="F2F6FC"/>
          </a:solidFill>
          <a:ln w="9525">
            <a:solidFill>
              <a:srgbClr val="D5DCEA"/>
            </a:solidFill>
            <a:prstDash val="solid"/>
          </a:ln>
        </p:spPr>
      </p:sp>
      <p:sp>
        <p:nvSpPr>
          <p:cNvPr id="11" name="Shape 8"/>
          <p:cNvSpPr/>
          <p:nvPr/>
        </p:nvSpPr>
        <p:spPr>
          <a:xfrm>
            <a:off x="566928" y="1636776"/>
            <a:ext cx="347472" cy="347472"/>
          </a:xfrm>
          <a:prstGeom prst="ellipse">
            <a:avLst/>
          </a:prstGeom>
          <a:solidFill>
            <a:srgbClr val="2E5496"/>
          </a:solidFill>
          <a:ln w="12700">
            <a:solidFill>
              <a:srgbClr val="2E5496"/>
            </a:solidFill>
            <a:prstDash val="solid"/>
          </a:ln>
        </p:spPr>
      </p:sp>
      <p:sp>
        <p:nvSpPr>
          <p:cNvPr id="12" name="Text 9"/>
          <p:cNvSpPr txBox="1"/>
          <p:nvPr/>
        </p:nvSpPr>
        <p:spPr>
          <a:xfrm>
            <a:off x="566928" y="163677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3" name="Text 10"/>
          <p:cNvSpPr txBox="1"/>
          <p:nvPr/>
        </p:nvSpPr>
        <p:spPr>
          <a:xfrm>
            <a:off x="1005840" y="1591056"/>
            <a:ext cx="3364992" cy="1042416"/>
          </a:xfrm>
          <a:prstGeom prst="rect">
            <a:avLst/>
          </a:prstGeom>
          <a:noFill/>
          <a:ln/>
        </p:spPr>
        <p:txBody>
          <a:bodyPr wrap="square" lIns="0" tIns="0" rIns="0" bIns="0" rtlCol="0" anchor="t"/>
          <a:lstStyle/>
          <a:p>
            <a:pPr indent="0" marL="0">
              <a:buNone/>
            </a:pPr>
            <a:r>
              <a:rPr lang="en-US" sz="1350" dirty="0">
                <a:solidFill>
                  <a:srgbClr val="262626"/>
                </a:solidFill>
                <a:latin typeface="Arial" pitchFamily="34" charset="0"/>
                <a:ea typeface="Arial" pitchFamily="34" charset="-122"/>
                <a:cs typeface="Arial" pitchFamily="34" charset="-120"/>
              </a:rPr>
              <a:t>Think of a time someone gently restored you after a failure. What made it feel like restoration rather than condemnation?</a:t>
            </a:r>
            <a:endParaRPr lang="en-US" sz="1350" dirty="0"/>
          </a:p>
        </p:txBody>
      </p:sp>
      <p:sp>
        <p:nvSpPr>
          <p:cNvPr id="14" name="Shape 11"/>
          <p:cNvSpPr/>
          <p:nvPr/>
        </p:nvSpPr>
        <p:spPr>
          <a:xfrm>
            <a:off x="566928" y="2724912"/>
            <a:ext cx="347472" cy="347472"/>
          </a:xfrm>
          <a:prstGeom prst="ellipse">
            <a:avLst/>
          </a:prstGeom>
          <a:solidFill>
            <a:srgbClr val="2E5496"/>
          </a:solidFill>
          <a:ln w="12700">
            <a:solidFill>
              <a:srgbClr val="2E5496"/>
            </a:solidFill>
            <a:prstDash val="solid"/>
          </a:ln>
        </p:spPr>
      </p:sp>
      <p:sp>
        <p:nvSpPr>
          <p:cNvPr id="15" name="Text 12"/>
          <p:cNvSpPr txBox="1"/>
          <p:nvPr/>
        </p:nvSpPr>
        <p:spPr>
          <a:xfrm>
            <a:off x="566928" y="272491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6" name="Text 13"/>
          <p:cNvSpPr txBox="1"/>
          <p:nvPr/>
        </p:nvSpPr>
        <p:spPr>
          <a:xfrm>
            <a:off x="1005840" y="2679192"/>
            <a:ext cx="3364992" cy="1042416"/>
          </a:xfrm>
          <a:prstGeom prst="rect">
            <a:avLst/>
          </a:prstGeom>
          <a:noFill/>
          <a:ln/>
        </p:spPr>
        <p:txBody>
          <a:bodyPr wrap="square" lIns="0" tIns="0" rIns="0" bIns="0" rtlCol="0" anchor="t"/>
          <a:lstStyle/>
          <a:p>
            <a:pPr indent="0" marL="0">
              <a:buNone/>
            </a:pPr>
            <a:r>
              <a:rPr lang="en-US" sz="1350" dirty="0">
                <a:solidFill>
                  <a:srgbClr val="262626"/>
                </a:solidFill>
                <a:latin typeface="Arial" pitchFamily="34" charset="0"/>
                <a:ea typeface="Arial" pitchFamily="34" charset="-122"/>
                <a:cs typeface="Arial" pitchFamily="34" charset="-120"/>
              </a:rPr>
              <a:t>Is there a burden in your life right now too heavy to carry alone? Who could you ask to help carry it?</a:t>
            </a:r>
            <a:endParaRPr lang="en-US" sz="1350" dirty="0"/>
          </a:p>
        </p:txBody>
      </p:sp>
      <p:sp>
        <p:nvSpPr>
          <p:cNvPr id="17" name="Text 14"/>
          <p:cNvSpPr txBox="1"/>
          <p:nvPr/>
        </p:nvSpPr>
        <p:spPr>
          <a:xfrm>
            <a:off x="4791456" y="1591056"/>
            <a:ext cx="3767328" cy="1042416"/>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Restore, Don't Gossip</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If a brother or sister has been overtaken, go to them privately and gently before mentioning it to anyone else.</a:t>
            </a:r>
            <a:endParaRPr lang="en-US" sz="1200" dirty="0"/>
          </a:p>
        </p:txBody>
      </p:sp>
      <p:sp>
        <p:nvSpPr>
          <p:cNvPr id="18" name="Text 15"/>
          <p:cNvSpPr txBox="1"/>
          <p:nvPr/>
        </p:nvSpPr>
        <p:spPr>
          <a:xfrm>
            <a:off x="4791456" y="2679192"/>
            <a:ext cx="3767328" cy="1042416"/>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Carry What's Too Heavy, Alone What's Yours</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Ask someone specific for help with a crushing burden — or stop comparing and take one step in your own course.</a:t>
            </a:r>
            <a:endParaRPr lang="en-US" sz="1200" dirty="0"/>
          </a:p>
        </p:txBody>
      </p:sp>
      <p:sp>
        <p:nvSpPr>
          <p:cNvPr id="19" name="Shape 16"/>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0" name="Text 17"/>
          <p:cNvSpPr txBox="1"/>
          <p:nvPr/>
        </p:nvSpPr>
        <p:spPr>
          <a:xfrm>
            <a:off x="621792" y="4023360"/>
            <a:ext cx="7900416" cy="566928"/>
          </a:xfrm>
          <a:prstGeom prst="rect">
            <a:avLst/>
          </a:prstGeom>
          <a:noFill/>
          <a:ln/>
        </p:spPr>
        <p:txBody>
          <a:bodyPr wrap="square" lIns="0" tIns="0" rIns="0" bIns="0" rtlCol="0" anchor="ctr"/>
          <a:lstStyle/>
          <a:p>
            <a:pPr indent="0" marL="0">
              <a:buNone/>
            </a:pPr>
            <a:r>
              <a:rPr lang="en-US" sz="1250" b="1" dirty="0">
                <a:solidFill>
                  <a:srgbClr val="C9D5EE"/>
                </a:solidFill>
                <a:latin typeface="Arial" pitchFamily="34" charset="0"/>
                <a:ea typeface="Arial" pitchFamily="34" charset="-122"/>
                <a:cs typeface="Arial" pitchFamily="34" charset="-120"/>
              </a:rPr>
              <a:t>In one line:  </a:t>
            </a:r>
            <a:pPr indent="0" marL="0">
              <a:buNone/>
            </a:pPr>
            <a:r>
              <a:rPr lang="en-US" sz="1250" dirty="0">
                <a:solidFill>
                  <a:srgbClr val="FFFFFF"/>
                </a:solidFill>
                <a:latin typeface="Arial" pitchFamily="34" charset="0"/>
                <a:ea typeface="Arial" pitchFamily="34" charset="-122"/>
                <a:cs typeface="Arial" pitchFamily="34" charset="-120"/>
              </a:rPr>
              <a:t>Help carry what is too heavy; faithfully carry what is yours.</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lstStyle/>
          <a:p>
            <a:pPr indent="0" marL="0">
              <a:buNone/>
            </a:pPr>
            <a:r>
              <a:rPr lang="en-US" sz="1400" dirty="0">
                <a:solidFill>
                  <a:srgbClr val="C9D5EE"/>
                </a:solidFill>
                <a:latin typeface="Arial" pitchFamily="34" charset="0"/>
                <a:ea typeface="Arial" pitchFamily="34" charset="-122"/>
                <a:cs typeface="Arial" pitchFamily="34" charset="-120"/>
              </a:rPr>
              <a:t>Study 15 of 16 · Galatians 6:6–10</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Sowing and Reaping</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t"/>
          <a:lstStyle/>
          <a:p>
            <a:pPr indent="0" marL="0">
              <a:buNone/>
            </a:pPr>
            <a:r>
              <a:rPr lang="en-US" sz="1500" i="1" dirty="0">
                <a:solidFill>
                  <a:srgbClr val="E6ECF7"/>
                </a:solidFill>
                <a:latin typeface="Arial" pitchFamily="34" charset="0"/>
                <a:ea typeface="Arial" pitchFamily="34" charset="-122"/>
                <a:cs typeface="Arial" pitchFamily="34" charset="-120"/>
              </a:rPr>
              <a:t>Because God is never mocked, every believer's use of time, money and resources — starting with support of those who teach — is seed that will yield either decay or lasting reward, so we keep sowing to the Spirit without growing weary.</a:t>
            </a:r>
            <a:endParaRPr lang="en-US" sz="15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Sowing and reaping in four parts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6:6–10 · The commentary's outline</a:t>
            </a:r>
            <a:endParaRPr lang="en-US" sz="1200" dirty="0"/>
          </a:p>
        </p:txBody>
      </p:sp>
      <p:sp>
        <p:nvSpPr>
          <p:cNvPr id="5" name="Shape 2"/>
          <p:cNvSpPr/>
          <p:nvPr/>
        </p:nvSpPr>
        <p:spPr>
          <a:xfrm>
            <a:off x="457200" y="1143000"/>
            <a:ext cx="4018788" cy="1463040"/>
          </a:xfrm>
          <a:prstGeom prst="rect">
            <a:avLst/>
          </a:prstGeom>
          <a:solidFill>
            <a:srgbClr val="F2F6FC"/>
          </a:solidFill>
          <a:ln w="9525">
            <a:solidFill>
              <a:srgbClr val="D5DCEA"/>
            </a:solidFill>
            <a:prstDash val="solid"/>
          </a:ln>
        </p:spPr>
      </p:sp>
      <p:sp>
        <p:nvSpPr>
          <p:cNvPr id="6" name="Shape 3"/>
          <p:cNvSpPr/>
          <p:nvPr/>
        </p:nvSpPr>
        <p:spPr>
          <a:xfrm>
            <a:off x="585216" y="1271016"/>
            <a:ext cx="402336" cy="402336"/>
          </a:xfrm>
          <a:prstGeom prst="ellipse">
            <a:avLst/>
          </a:prstGeom>
          <a:solidFill>
            <a:srgbClr val="2E5496"/>
          </a:solidFill>
          <a:ln w="12700">
            <a:solidFill>
              <a:srgbClr val="2E5496"/>
            </a:solidFill>
            <a:prstDash val="solid"/>
          </a:ln>
        </p:spPr>
      </p:sp>
      <p:sp>
        <p:nvSpPr>
          <p:cNvPr id="7" name="Text 4"/>
          <p:cNvSpPr txBox="1"/>
          <p:nvPr/>
        </p:nvSpPr>
        <p:spPr>
          <a:xfrm>
            <a:off x="585216" y="127101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I</a:t>
            </a:r>
            <a:endParaRPr lang="en-US" sz="1200" dirty="0"/>
          </a:p>
        </p:txBody>
      </p:sp>
      <p:sp>
        <p:nvSpPr>
          <p:cNvPr id="8" name="Text 5"/>
          <p:cNvSpPr txBox="1"/>
          <p:nvPr/>
        </p:nvSpPr>
        <p:spPr>
          <a:xfrm>
            <a:off x="1078992" y="1252728"/>
            <a:ext cx="3305556"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The Performance  ·  v.6</a:t>
            </a:r>
            <a:endParaRPr lang="en-US" sz="1200" dirty="0"/>
          </a:p>
        </p:txBody>
      </p:sp>
      <p:sp>
        <p:nvSpPr>
          <p:cNvPr id="9" name="Text 6"/>
          <p:cNvSpPr txBox="1"/>
          <p:nvPr/>
        </p:nvSpPr>
        <p:spPr>
          <a:xfrm>
            <a:off x="585216" y="1764792"/>
            <a:ext cx="3762756" cy="749808"/>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Share all good things with the one who teaches you</a:t>
            </a:r>
            <a:endParaRPr lang="en-US" sz="1200" dirty="0"/>
          </a:p>
        </p:txBody>
      </p:sp>
      <p:sp>
        <p:nvSpPr>
          <p:cNvPr id="10" name="Shape 7"/>
          <p:cNvSpPr/>
          <p:nvPr/>
        </p:nvSpPr>
        <p:spPr>
          <a:xfrm>
            <a:off x="4668012" y="1143000"/>
            <a:ext cx="4018788" cy="1463040"/>
          </a:xfrm>
          <a:prstGeom prst="rect">
            <a:avLst/>
          </a:prstGeom>
          <a:solidFill>
            <a:srgbClr val="F2F6FC"/>
          </a:solidFill>
          <a:ln w="9525">
            <a:solidFill>
              <a:srgbClr val="D5DCEA"/>
            </a:solidFill>
            <a:prstDash val="solid"/>
          </a:ln>
        </p:spPr>
      </p:sp>
      <p:sp>
        <p:nvSpPr>
          <p:cNvPr id="11" name="Shape 8"/>
          <p:cNvSpPr/>
          <p:nvPr/>
        </p:nvSpPr>
        <p:spPr>
          <a:xfrm>
            <a:off x="4796028" y="1271016"/>
            <a:ext cx="402336" cy="402336"/>
          </a:xfrm>
          <a:prstGeom prst="ellipse">
            <a:avLst/>
          </a:prstGeom>
          <a:solidFill>
            <a:srgbClr val="7030A0"/>
          </a:solidFill>
          <a:ln w="12700">
            <a:solidFill>
              <a:srgbClr val="7030A0"/>
            </a:solidFill>
            <a:prstDash val="solid"/>
          </a:ln>
        </p:spPr>
      </p:sp>
      <p:sp>
        <p:nvSpPr>
          <p:cNvPr id="12" name="Text 9"/>
          <p:cNvSpPr txBox="1"/>
          <p:nvPr/>
        </p:nvSpPr>
        <p:spPr>
          <a:xfrm>
            <a:off x="4796028" y="127101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II</a:t>
            </a:r>
            <a:endParaRPr lang="en-US" sz="1200" dirty="0"/>
          </a:p>
        </p:txBody>
      </p:sp>
      <p:sp>
        <p:nvSpPr>
          <p:cNvPr id="13" name="Text 10"/>
          <p:cNvSpPr txBox="1"/>
          <p:nvPr/>
        </p:nvSpPr>
        <p:spPr>
          <a:xfrm>
            <a:off x="5289804" y="1252728"/>
            <a:ext cx="3305556"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The Principles  ·  vv.7–8</a:t>
            </a:r>
            <a:endParaRPr lang="en-US" sz="1200" dirty="0"/>
          </a:p>
        </p:txBody>
      </p:sp>
      <p:sp>
        <p:nvSpPr>
          <p:cNvPr id="14" name="Text 11"/>
          <p:cNvSpPr txBox="1"/>
          <p:nvPr/>
        </p:nvSpPr>
        <p:spPr>
          <a:xfrm>
            <a:off x="4796028" y="1764792"/>
            <a:ext cx="3762756" cy="749808"/>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God is not mocked: four laws of the harvest</a:t>
            </a:r>
            <a:endParaRPr lang="en-US" sz="1200" dirty="0"/>
          </a:p>
        </p:txBody>
      </p:sp>
      <p:sp>
        <p:nvSpPr>
          <p:cNvPr id="15" name="Shape 12"/>
          <p:cNvSpPr/>
          <p:nvPr/>
        </p:nvSpPr>
        <p:spPr>
          <a:xfrm>
            <a:off x="457200" y="2770632"/>
            <a:ext cx="4018788" cy="1463040"/>
          </a:xfrm>
          <a:prstGeom prst="rect">
            <a:avLst/>
          </a:prstGeom>
          <a:solidFill>
            <a:srgbClr val="F2F6FC"/>
          </a:solidFill>
          <a:ln w="9525">
            <a:solidFill>
              <a:srgbClr val="D5DCEA"/>
            </a:solidFill>
            <a:prstDash val="solid"/>
          </a:ln>
        </p:spPr>
      </p:sp>
      <p:sp>
        <p:nvSpPr>
          <p:cNvPr id="16" name="Shape 13"/>
          <p:cNvSpPr/>
          <p:nvPr/>
        </p:nvSpPr>
        <p:spPr>
          <a:xfrm>
            <a:off x="585216" y="2898648"/>
            <a:ext cx="402336" cy="402336"/>
          </a:xfrm>
          <a:prstGeom prst="ellipse">
            <a:avLst/>
          </a:prstGeom>
          <a:solidFill>
            <a:srgbClr val="375623"/>
          </a:solidFill>
          <a:ln w="12700">
            <a:solidFill>
              <a:srgbClr val="375623"/>
            </a:solidFill>
            <a:prstDash val="solid"/>
          </a:ln>
        </p:spPr>
      </p:sp>
      <p:sp>
        <p:nvSpPr>
          <p:cNvPr id="17" name="Text 14"/>
          <p:cNvSpPr txBox="1"/>
          <p:nvPr/>
        </p:nvSpPr>
        <p:spPr>
          <a:xfrm>
            <a:off x="585216" y="2898648"/>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III</a:t>
            </a:r>
            <a:endParaRPr lang="en-US" sz="1200" dirty="0"/>
          </a:p>
        </p:txBody>
      </p:sp>
      <p:sp>
        <p:nvSpPr>
          <p:cNvPr id="18" name="Text 15"/>
          <p:cNvSpPr txBox="1"/>
          <p:nvPr/>
        </p:nvSpPr>
        <p:spPr>
          <a:xfrm>
            <a:off x="1078992" y="2880360"/>
            <a:ext cx="3305556"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The Pledge  ·  v.9</a:t>
            </a:r>
            <a:endParaRPr lang="en-US" sz="1200" dirty="0"/>
          </a:p>
        </p:txBody>
      </p:sp>
      <p:sp>
        <p:nvSpPr>
          <p:cNvPr id="19" name="Text 16"/>
          <p:cNvSpPr txBox="1"/>
          <p:nvPr/>
        </p:nvSpPr>
        <p:spPr>
          <a:xfrm>
            <a:off x="585216" y="3392424"/>
            <a:ext cx="3762756" cy="749808"/>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A harvest in due season — if we do not lose heart</a:t>
            </a:r>
            <a:endParaRPr lang="en-US" sz="1200" dirty="0"/>
          </a:p>
        </p:txBody>
      </p:sp>
      <p:sp>
        <p:nvSpPr>
          <p:cNvPr id="20" name="Shape 17"/>
          <p:cNvSpPr/>
          <p:nvPr/>
        </p:nvSpPr>
        <p:spPr>
          <a:xfrm>
            <a:off x="4668012" y="2770632"/>
            <a:ext cx="4018788" cy="1463040"/>
          </a:xfrm>
          <a:prstGeom prst="rect">
            <a:avLst/>
          </a:prstGeom>
          <a:solidFill>
            <a:srgbClr val="F2F6FC"/>
          </a:solidFill>
          <a:ln w="9525">
            <a:solidFill>
              <a:srgbClr val="D5DCEA"/>
            </a:solidFill>
            <a:prstDash val="solid"/>
          </a:ln>
        </p:spPr>
      </p:sp>
      <p:sp>
        <p:nvSpPr>
          <p:cNvPr id="21" name="Shape 18"/>
          <p:cNvSpPr/>
          <p:nvPr/>
        </p:nvSpPr>
        <p:spPr>
          <a:xfrm>
            <a:off x="4796028" y="2898648"/>
            <a:ext cx="402336" cy="402336"/>
          </a:xfrm>
          <a:prstGeom prst="ellipse">
            <a:avLst/>
          </a:prstGeom>
          <a:solidFill>
            <a:srgbClr val="6B7280"/>
          </a:solidFill>
          <a:ln w="12700">
            <a:solidFill>
              <a:srgbClr val="6B7280"/>
            </a:solidFill>
            <a:prstDash val="solid"/>
          </a:ln>
        </p:spPr>
      </p:sp>
      <p:sp>
        <p:nvSpPr>
          <p:cNvPr id="22" name="Text 19"/>
          <p:cNvSpPr txBox="1"/>
          <p:nvPr/>
        </p:nvSpPr>
        <p:spPr>
          <a:xfrm>
            <a:off x="4796028" y="2898648"/>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IV</a:t>
            </a:r>
            <a:endParaRPr lang="en-US" sz="1200" dirty="0"/>
          </a:p>
        </p:txBody>
      </p:sp>
      <p:sp>
        <p:nvSpPr>
          <p:cNvPr id="23" name="Text 20"/>
          <p:cNvSpPr txBox="1"/>
          <p:nvPr/>
        </p:nvSpPr>
        <p:spPr>
          <a:xfrm>
            <a:off x="5289804" y="2880360"/>
            <a:ext cx="3305556"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The Priority  ·  v.10</a:t>
            </a:r>
            <a:endParaRPr lang="en-US" sz="1200" dirty="0"/>
          </a:p>
        </p:txBody>
      </p:sp>
      <p:sp>
        <p:nvSpPr>
          <p:cNvPr id="24" name="Text 21"/>
          <p:cNvSpPr txBox="1"/>
          <p:nvPr/>
        </p:nvSpPr>
        <p:spPr>
          <a:xfrm>
            <a:off x="4796028" y="3392424"/>
            <a:ext cx="3762756" cy="749808"/>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Do good to all — especially the household of faith</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“Share in all good things with him who teaches”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6:6 · Outline I — The performance</a:t>
            </a:r>
            <a:endParaRPr lang="en-US" sz="1200" dirty="0"/>
          </a:p>
        </p:txBody>
      </p:sp>
      <p:sp>
        <p:nvSpPr>
          <p:cNvPr id="5" name="Shape 2"/>
          <p:cNvSpPr/>
          <p:nvPr/>
        </p:nvSpPr>
        <p:spPr>
          <a:xfrm>
            <a:off x="457200" y="1143000"/>
            <a:ext cx="3108960" cy="566928"/>
          </a:xfrm>
          <a:prstGeom prst="rect">
            <a:avLst/>
          </a:prstGeom>
          <a:solidFill>
            <a:srgbClr val="375623"/>
          </a:solidFill>
          <a:ln w="12700">
            <a:solidFill>
              <a:srgbClr val="375623"/>
            </a:solidFill>
            <a:prstDash val="solid"/>
          </a:ln>
        </p:spPr>
      </p:sp>
      <p:sp>
        <p:nvSpPr>
          <p:cNvPr id="6" name="Text 3"/>
          <p:cNvSpPr txBox="1"/>
          <p:nvPr/>
        </p:nvSpPr>
        <p:spPr>
          <a:xfrm>
            <a:off x="548640" y="1188720"/>
            <a:ext cx="29260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 command — v.6</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κατηχούμενος · κοινωνείτω</a:t>
            </a:r>
            <a:pPr indent="0" marL="0">
              <a:buNone/>
            </a:pPr>
            <a:r>
              <a:rPr lang="en-US" sz="850" dirty="0">
                <a:solidFill>
                  <a:srgbClr val="DCE4F2"/>
                </a:solidFill>
                <a:latin typeface="Arial" pitchFamily="34" charset="0"/>
                <a:ea typeface="Arial" pitchFamily="34" charset="-122"/>
                <a:cs typeface="Arial" pitchFamily="34" charset="-120"/>
              </a:rPr>
              <a:t>  taught · share</a:t>
            </a:r>
            <a:endParaRPr lang="en-US" sz="1200" dirty="0"/>
          </a:p>
        </p:txBody>
      </p:sp>
      <p:sp>
        <p:nvSpPr>
          <p:cNvPr id="7" name="Shape 4"/>
          <p:cNvSpPr/>
          <p:nvPr/>
        </p:nvSpPr>
        <p:spPr>
          <a:xfrm>
            <a:off x="457200" y="1709928"/>
            <a:ext cx="3108960" cy="2084832"/>
          </a:xfrm>
          <a:prstGeom prst="rect">
            <a:avLst/>
          </a:prstGeom>
          <a:solidFill>
            <a:srgbClr val="F2F6FC"/>
          </a:solidFill>
          <a:ln w="9525">
            <a:solidFill>
              <a:srgbClr val="D5DCEA"/>
            </a:solidFill>
            <a:prstDash val="solid"/>
          </a:ln>
        </p:spPr>
      </p:sp>
      <p:sp>
        <p:nvSpPr>
          <p:cNvPr id="8" name="Text 5"/>
          <p:cNvSpPr txBox="1"/>
          <p:nvPr/>
        </p:nvSpPr>
        <p:spPr>
          <a:xfrm>
            <a:off x="548640" y="1783080"/>
            <a:ext cx="2926080" cy="1956816"/>
          </a:xfrm>
          <a:prstGeom prst="rect">
            <a:avLst/>
          </a:prstGeom>
          <a:noFill/>
          <a:ln/>
        </p:spPr>
        <p:txBody>
          <a:bodyPr wrap="square" lIns="0" tIns="0" rIns="0" bIns="0" rtlCol="0" anchor="t"/>
          <a:lstStyle/>
          <a:p>
            <a:pPr marL="127000" indent="-127000">
              <a:spcAft>
                <a:spcPts val="300"/>
              </a:spcAft>
              <a:buSzPct val="100000"/>
              <a:buChar char="•"/>
            </a:pPr>
            <a:r>
              <a:rPr lang="en-US" sz="1150" dirty="0">
                <a:solidFill>
                  <a:srgbClr val="262626"/>
                </a:solidFill>
                <a:latin typeface="Arial" pitchFamily="34" charset="0"/>
                <a:ea typeface="Arial" pitchFamily="34" charset="-122"/>
                <a:cs typeface="Arial" pitchFamily="34" charset="-120"/>
              </a:rPr>
              <a:t>Those taught the word share with the one who teaches</a:t>
            </a:r>
            <a:endParaRPr lang="en-US" sz="1150" dirty="0"/>
          </a:p>
          <a:p>
            <a:pPr marL="127000" indent="-127000">
              <a:spcAft>
                <a:spcPts val="300"/>
              </a:spcAft>
              <a:buSzPct val="100000"/>
              <a:buChar char="•"/>
            </a:pPr>
            <a:r>
              <a:rPr lang="en-US" sz="1150" dirty="0">
                <a:solidFill>
                  <a:srgbClr val="262626"/>
                </a:solidFill>
                <a:latin typeface="Arial" pitchFamily="34" charset="0"/>
                <a:ea typeface="Arial" pitchFamily="34" charset="-122"/>
                <a:cs typeface="Arial" pitchFamily="34" charset="-120"/>
              </a:rPr>
              <a:t>An ongoing responsibility</a:t>
            </a:r>
            <a:endParaRPr lang="en-US" sz="1150" dirty="0"/>
          </a:p>
        </p:txBody>
      </p:sp>
      <p:sp>
        <p:nvSpPr>
          <p:cNvPr id="9" name="Text 6"/>
          <p:cNvSpPr txBox="1"/>
          <p:nvPr/>
        </p:nvSpPr>
        <p:spPr>
          <a:xfrm>
            <a:off x="3794760" y="1143000"/>
            <a:ext cx="4846320" cy="320040"/>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Why it seemed strange</a:t>
            </a:r>
            <a:endParaRPr lang="en-US" sz="1300" dirty="0"/>
          </a:p>
        </p:txBody>
      </p:sp>
      <p:sp>
        <p:nvSpPr>
          <p:cNvPr id="10" name="Shape 7"/>
          <p:cNvSpPr/>
          <p:nvPr/>
        </p:nvSpPr>
        <p:spPr>
          <a:xfrm>
            <a:off x="3794760" y="1508760"/>
            <a:ext cx="4892040" cy="658368"/>
          </a:xfrm>
          <a:prstGeom prst="rect">
            <a:avLst/>
          </a:prstGeom>
          <a:solidFill>
            <a:srgbClr val="F2F6FC"/>
          </a:solidFill>
          <a:ln w="9525">
            <a:solidFill>
              <a:srgbClr val="D5DCEA"/>
            </a:solidFill>
            <a:prstDash val="solid"/>
          </a:ln>
        </p:spPr>
      </p:sp>
      <p:sp>
        <p:nvSpPr>
          <p:cNvPr id="11" name="Shape 8"/>
          <p:cNvSpPr/>
          <p:nvPr/>
        </p:nvSpPr>
        <p:spPr>
          <a:xfrm>
            <a:off x="3922776" y="1609344"/>
            <a:ext cx="457200" cy="457200"/>
          </a:xfrm>
          <a:prstGeom prst="ellipse">
            <a:avLst/>
          </a:prstGeom>
          <a:solidFill>
            <a:srgbClr val="6B7280"/>
          </a:solidFill>
          <a:ln w="12700">
            <a:solidFill>
              <a:srgbClr val="6B7280"/>
            </a:solidFill>
            <a:prstDash val="solid"/>
          </a:ln>
        </p:spPr>
      </p:sp>
      <p:sp>
        <p:nvSpPr>
          <p:cNvPr id="12" name="Text 9"/>
          <p:cNvSpPr txBox="1"/>
          <p:nvPr/>
        </p:nvSpPr>
        <p:spPr>
          <a:xfrm>
            <a:off x="3922776" y="160934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3" name="Text 10"/>
          <p:cNvSpPr txBox="1"/>
          <p:nvPr/>
        </p:nvSpPr>
        <p:spPr>
          <a:xfrm>
            <a:off x="4544568" y="1508760"/>
            <a:ext cx="3959352" cy="658368"/>
          </a:xfrm>
          <a:prstGeom prst="rect">
            <a:avLst/>
          </a:prstGeom>
          <a:noFill/>
          <a:ln/>
        </p:spPr>
        <p:txBody>
          <a:bodyPr wrap="square" lIns="0" tIns="0" rIns="0" bIns="0" rtlCol="0" anchor="ctr"/>
          <a:lstStyle/>
          <a:p>
            <a:pPr indent="0" marL="0">
              <a:buNone/>
            </a:pPr>
            <a:r>
              <a:rPr lang="en-US" sz="1250" b="1" dirty="0">
                <a:solidFill>
                  <a:srgbClr val="1F3864"/>
                </a:solidFill>
                <a:latin typeface="Arial" pitchFamily="34" charset="0"/>
                <a:ea typeface="Arial" pitchFamily="34" charset="-122"/>
                <a:cs typeface="Arial" pitchFamily="34" charset="-120"/>
              </a:rPr>
              <a:t>The law</a:t>
            </a:r>
            <a:endParaRPr lang="en-US" sz="1200" dirty="0"/>
          </a:p>
          <a:p>
            <a:pPr indent="0" marL="0">
              <a:buNone/>
            </a:pPr>
            <a:r>
              <a:rPr lang="en-US" sz="1200" dirty="0">
                <a:solidFill>
                  <a:srgbClr val="262626"/>
                </a:solidFill>
                <a:latin typeface="Arial" pitchFamily="34" charset="0"/>
                <a:ea typeface="Arial" pitchFamily="34" charset="-122"/>
                <a:cs typeface="Arial" pitchFamily="34" charset="-120"/>
              </a:rPr>
              <a:t>The temple system was already funded</a:t>
            </a:r>
            <a:endParaRPr lang="en-US" sz="1200" dirty="0"/>
          </a:p>
        </p:txBody>
      </p:sp>
      <p:sp>
        <p:nvSpPr>
          <p:cNvPr id="14" name="Shape 11"/>
          <p:cNvSpPr/>
          <p:nvPr/>
        </p:nvSpPr>
        <p:spPr>
          <a:xfrm>
            <a:off x="3794760" y="2240280"/>
            <a:ext cx="4892040" cy="658368"/>
          </a:xfrm>
          <a:prstGeom prst="rect">
            <a:avLst/>
          </a:prstGeom>
          <a:solidFill>
            <a:srgbClr val="FFFFFF"/>
          </a:solidFill>
          <a:ln w="9525">
            <a:solidFill>
              <a:srgbClr val="D5DCEA"/>
            </a:solidFill>
            <a:prstDash val="solid"/>
          </a:ln>
        </p:spPr>
      </p:sp>
      <p:sp>
        <p:nvSpPr>
          <p:cNvPr id="15" name="Shape 12"/>
          <p:cNvSpPr/>
          <p:nvPr/>
        </p:nvSpPr>
        <p:spPr>
          <a:xfrm>
            <a:off x="3922776" y="2340864"/>
            <a:ext cx="457200" cy="457200"/>
          </a:xfrm>
          <a:prstGeom prst="ellipse">
            <a:avLst/>
          </a:prstGeom>
          <a:solidFill>
            <a:srgbClr val="6B7280"/>
          </a:solidFill>
          <a:ln w="12700">
            <a:solidFill>
              <a:srgbClr val="6B7280"/>
            </a:solidFill>
            <a:prstDash val="solid"/>
          </a:ln>
        </p:spPr>
      </p:sp>
      <p:sp>
        <p:nvSpPr>
          <p:cNvPr id="16" name="Text 13"/>
          <p:cNvSpPr txBox="1"/>
          <p:nvPr/>
        </p:nvSpPr>
        <p:spPr>
          <a:xfrm>
            <a:off x="3922776" y="234086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7" name="Text 14"/>
          <p:cNvSpPr txBox="1"/>
          <p:nvPr/>
        </p:nvSpPr>
        <p:spPr>
          <a:xfrm>
            <a:off x="4544568" y="2240280"/>
            <a:ext cx="3959352" cy="658368"/>
          </a:xfrm>
          <a:prstGeom prst="rect">
            <a:avLst/>
          </a:prstGeom>
          <a:noFill/>
          <a:ln/>
        </p:spPr>
        <p:txBody>
          <a:bodyPr wrap="square" lIns="0" tIns="0" rIns="0" bIns="0" rtlCol="0" anchor="ctr"/>
          <a:lstStyle/>
          <a:p>
            <a:pPr indent="0" marL="0">
              <a:buNone/>
            </a:pPr>
            <a:r>
              <a:rPr lang="en-US" sz="1250" b="1" dirty="0">
                <a:solidFill>
                  <a:srgbClr val="1F3864"/>
                </a:solidFill>
                <a:latin typeface="Arial" pitchFamily="34" charset="0"/>
                <a:ea typeface="Arial" pitchFamily="34" charset="-122"/>
                <a:cs typeface="Arial" pitchFamily="34" charset="-120"/>
              </a:rPr>
              <a:t>The Judaizers</a:t>
            </a:r>
            <a:endParaRPr lang="en-US" sz="1200" dirty="0"/>
          </a:p>
          <a:p>
            <a:pPr indent="0" marL="0">
              <a:buNone/>
            </a:pPr>
            <a:r>
              <a:rPr lang="en-US" sz="1200" dirty="0">
                <a:solidFill>
                  <a:srgbClr val="262626"/>
                </a:solidFill>
                <a:latin typeface="Arial" pitchFamily="34" charset="0"/>
                <a:ea typeface="Arial" pitchFamily="34" charset="-122"/>
                <a:cs typeface="Arial" pitchFamily="34" charset="-120"/>
              </a:rPr>
              <a:t>They discouraged support of grace teachers</a:t>
            </a:r>
            <a:endParaRPr lang="en-US" sz="1200" dirty="0"/>
          </a:p>
        </p:txBody>
      </p:sp>
      <p:sp>
        <p:nvSpPr>
          <p:cNvPr id="18" name="Shape 15"/>
          <p:cNvSpPr/>
          <p:nvPr/>
        </p:nvSpPr>
        <p:spPr>
          <a:xfrm>
            <a:off x="3794760" y="2971800"/>
            <a:ext cx="4892040" cy="658368"/>
          </a:xfrm>
          <a:prstGeom prst="rect">
            <a:avLst/>
          </a:prstGeom>
          <a:solidFill>
            <a:srgbClr val="F2F6FC"/>
          </a:solidFill>
          <a:ln w="9525">
            <a:solidFill>
              <a:srgbClr val="D5DCEA"/>
            </a:solidFill>
            <a:prstDash val="solid"/>
          </a:ln>
        </p:spPr>
      </p:sp>
      <p:sp>
        <p:nvSpPr>
          <p:cNvPr id="19" name="Shape 16"/>
          <p:cNvSpPr/>
          <p:nvPr/>
        </p:nvSpPr>
        <p:spPr>
          <a:xfrm>
            <a:off x="3922776" y="3072384"/>
            <a:ext cx="457200" cy="457200"/>
          </a:xfrm>
          <a:prstGeom prst="ellipse">
            <a:avLst/>
          </a:prstGeom>
          <a:solidFill>
            <a:srgbClr val="6B7280"/>
          </a:solidFill>
          <a:ln w="12700">
            <a:solidFill>
              <a:srgbClr val="6B7280"/>
            </a:solidFill>
            <a:prstDash val="solid"/>
          </a:ln>
        </p:spPr>
      </p:sp>
      <p:sp>
        <p:nvSpPr>
          <p:cNvPr id="20" name="Text 17"/>
          <p:cNvSpPr txBox="1"/>
          <p:nvPr/>
        </p:nvSpPr>
        <p:spPr>
          <a:xfrm>
            <a:off x="3922776" y="30723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1" name="Text 18"/>
          <p:cNvSpPr txBox="1"/>
          <p:nvPr/>
        </p:nvSpPr>
        <p:spPr>
          <a:xfrm>
            <a:off x="4544568" y="2971800"/>
            <a:ext cx="3959352" cy="658368"/>
          </a:xfrm>
          <a:prstGeom prst="rect">
            <a:avLst/>
          </a:prstGeom>
          <a:noFill/>
          <a:ln/>
        </p:spPr>
        <p:txBody>
          <a:bodyPr wrap="square" lIns="0" tIns="0" rIns="0" bIns="0" rtlCol="0" anchor="ctr"/>
          <a:lstStyle/>
          <a:p>
            <a:pPr indent="0" marL="0">
              <a:buNone/>
            </a:pPr>
            <a:r>
              <a:rPr lang="en-US" sz="1250" b="1" dirty="0">
                <a:solidFill>
                  <a:srgbClr val="1F3864"/>
                </a:solidFill>
                <a:latin typeface="Arial" pitchFamily="34" charset="0"/>
                <a:ea typeface="Arial" pitchFamily="34" charset="-122"/>
                <a:cs typeface="Arial" pitchFamily="34" charset="-120"/>
              </a:rPr>
              <a:t>Paul's own example</a:t>
            </a:r>
            <a:endParaRPr lang="en-US" sz="1200" dirty="0"/>
          </a:p>
          <a:p>
            <a:pPr indent="0" marL="0">
              <a:buNone/>
            </a:pPr>
            <a:r>
              <a:rPr lang="en-US" sz="1200" dirty="0">
                <a:solidFill>
                  <a:srgbClr val="262626"/>
                </a:solidFill>
                <a:latin typeface="Arial" pitchFamily="34" charset="0"/>
                <a:ea typeface="Arial" pitchFamily="34" charset="-122"/>
                <a:cs typeface="Arial" pitchFamily="34" charset="-120"/>
              </a:rPr>
              <a:t>He waived his right (1 Cor 9) — his choice, not a rule</a:t>
            </a:r>
            <a:endParaRPr lang="en-US" sz="1200" dirty="0"/>
          </a:p>
        </p:txBody>
      </p:sp>
      <p:sp>
        <p:nvSpPr>
          <p:cNvPr id="22" name="Shape 19"/>
          <p:cNvSpPr/>
          <p:nvPr/>
        </p:nvSpPr>
        <p:spPr>
          <a:xfrm>
            <a:off x="457200" y="3977640"/>
            <a:ext cx="8229600" cy="502920"/>
          </a:xfrm>
          <a:prstGeom prst="roundRect">
            <a:avLst>
              <a:gd name="adj" fmla="val 10909"/>
            </a:avLst>
          </a:prstGeom>
          <a:solidFill>
            <a:srgbClr val="1F3864"/>
          </a:solidFill>
          <a:ln w="12700">
            <a:solidFill>
              <a:srgbClr val="1F3864"/>
            </a:solidFill>
            <a:prstDash val="solid"/>
          </a:ln>
        </p:spPr>
      </p:sp>
      <p:sp>
        <p:nvSpPr>
          <p:cNvPr id="23" name="Text 20"/>
          <p:cNvSpPr txBox="1"/>
          <p:nvPr/>
        </p:nvSpPr>
        <p:spPr>
          <a:xfrm>
            <a:off x="621792" y="3977640"/>
            <a:ext cx="7900416" cy="50292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None of the three changed the believers' responsibility.</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Four laws of the harvest</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6:7–8 · Outline II — The principles</a:t>
            </a:r>
            <a:endParaRPr lang="en-US" sz="1200" dirty="0"/>
          </a:p>
        </p:txBody>
      </p:sp>
      <p:sp>
        <p:nvSpPr>
          <p:cNvPr id="5" name="Shape 2"/>
          <p:cNvSpPr/>
          <p:nvPr/>
        </p:nvSpPr>
        <p:spPr>
          <a:xfrm>
            <a:off x="457200" y="1143000"/>
            <a:ext cx="4018788" cy="1298448"/>
          </a:xfrm>
          <a:prstGeom prst="rect">
            <a:avLst/>
          </a:prstGeom>
          <a:solidFill>
            <a:srgbClr val="F2F6FC"/>
          </a:solidFill>
          <a:ln w="9525">
            <a:solidFill>
              <a:srgbClr val="D5DCEA"/>
            </a:solidFill>
            <a:prstDash val="solid"/>
          </a:ln>
        </p:spPr>
      </p:sp>
      <p:sp>
        <p:nvSpPr>
          <p:cNvPr id="6" name="Shape 3"/>
          <p:cNvSpPr/>
          <p:nvPr/>
        </p:nvSpPr>
        <p:spPr>
          <a:xfrm>
            <a:off x="585216" y="1271016"/>
            <a:ext cx="402336" cy="402336"/>
          </a:xfrm>
          <a:prstGeom prst="ellipse">
            <a:avLst/>
          </a:prstGeom>
          <a:solidFill>
            <a:srgbClr val="2E5496"/>
          </a:solidFill>
          <a:ln w="12700">
            <a:solidFill>
              <a:srgbClr val="2E5496"/>
            </a:solidFill>
            <a:prstDash val="solid"/>
          </a:ln>
        </p:spPr>
      </p:sp>
      <p:sp>
        <p:nvSpPr>
          <p:cNvPr id="7" name="Text 4"/>
          <p:cNvSpPr txBox="1"/>
          <p:nvPr/>
        </p:nvSpPr>
        <p:spPr>
          <a:xfrm>
            <a:off x="585216" y="127101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8" name="Text 5"/>
          <p:cNvSpPr txBox="1"/>
          <p:nvPr/>
        </p:nvSpPr>
        <p:spPr>
          <a:xfrm>
            <a:off x="1078992" y="1252728"/>
            <a:ext cx="3305556"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We reap if we sow</a:t>
            </a:r>
            <a:endParaRPr lang="en-US" sz="1200" dirty="0"/>
          </a:p>
        </p:txBody>
      </p:sp>
      <p:sp>
        <p:nvSpPr>
          <p:cNvPr id="9" name="Text 6"/>
          <p:cNvSpPr txBox="1"/>
          <p:nvPr/>
        </p:nvSpPr>
        <p:spPr>
          <a:xfrm>
            <a:off x="585216" y="1764792"/>
            <a:ext cx="3762756" cy="5852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Put in before you take out — “unless a grain of wheat falls into the ground and dies” (John 12:24)</a:t>
            </a:r>
            <a:endParaRPr lang="en-US" sz="1200" dirty="0"/>
          </a:p>
        </p:txBody>
      </p:sp>
      <p:sp>
        <p:nvSpPr>
          <p:cNvPr id="10" name="Shape 7"/>
          <p:cNvSpPr/>
          <p:nvPr/>
        </p:nvSpPr>
        <p:spPr>
          <a:xfrm>
            <a:off x="4668012" y="1143000"/>
            <a:ext cx="4018788" cy="1298448"/>
          </a:xfrm>
          <a:prstGeom prst="rect">
            <a:avLst/>
          </a:prstGeom>
          <a:solidFill>
            <a:srgbClr val="F2F6FC"/>
          </a:solidFill>
          <a:ln w="9525">
            <a:solidFill>
              <a:srgbClr val="D5DCEA"/>
            </a:solidFill>
            <a:prstDash val="solid"/>
          </a:ln>
        </p:spPr>
      </p:sp>
      <p:sp>
        <p:nvSpPr>
          <p:cNvPr id="11" name="Shape 8"/>
          <p:cNvSpPr/>
          <p:nvPr/>
        </p:nvSpPr>
        <p:spPr>
          <a:xfrm>
            <a:off x="4796028" y="1271016"/>
            <a:ext cx="402336" cy="402336"/>
          </a:xfrm>
          <a:prstGeom prst="ellipse">
            <a:avLst/>
          </a:prstGeom>
          <a:solidFill>
            <a:srgbClr val="7030A0"/>
          </a:solidFill>
          <a:ln w="12700">
            <a:solidFill>
              <a:srgbClr val="7030A0"/>
            </a:solidFill>
            <a:prstDash val="solid"/>
          </a:ln>
        </p:spPr>
      </p:sp>
      <p:sp>
        <p:nvSpPr>
          <p:cNvPr id="12" name="Text 9"/>
          <p:cNvSpPr txBox="1"/>
          <p:nvPr/>
        </p:nvSpPr>
        <p:spPr>
          <a:xfrm>
            <a:off x="4796028" y="127101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3" name="Text 10"/>
          <p:cNvSpPr txBox="1"/>
          <p:nvPr/>
        </p:nvSpPr>
        <p:spPr>
          <a:xfrm>
            <a:off x="5289804" y="1252728"/>
            <a:ext cx="3305556"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We reap what we sow</a:t>
            </a:r>
            <a:endParaRPr lang="en-US" sz="1200" dirty="0"/>
          </a:p>
        </p:txBody>
      </p:sp>
      <p:sp>
        <p:nvSpPr>
          <p:cNvPr id="14" name="Text 11"/>
          <p:cNvSpPr txBox="1"/>
          <p:nvPr/>
        </p:nvSpPr>
        <p:spPr>
          <a:xfrm>
            <a:off x="4796028" y="1764792"/>
            <a:ext cx="3762756" cy="5852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Sow to the flesh → corruption (φθοράν); sow to the Spirit → everlasting life</a:t>
            </a:r>
            <a:endParaRPr lang="en-US" sz="1200" dirty="0"/>
          </a:p>
        </p:txBody>
      </p:sp>
      <p:sp>
        <p:nvSpPr>
          <p:cNvPr id="15" name="Shape 12"/>
          <p:cNvSpPr/>
          <p:nvPr/>
        </p:nvSpPr>
        <p:spPr>
          <a:xfrm>
            <a:off x="457200" y="2606040"/>
            <a:ext cx="4018788" cy="1298448"/>
          </a:xfrm>
          <a:prstGeom prst="rect">
            <a:avLst/>
          </a:prstGeom>
          <a:solidFill>
            <a:srgbClr val="F2F6FC"/>
          </a:solidFill>
          <a:ln w="9525">
            <a:solidFill>
              <a:srgbClr val="D5DCEA"/>
            </a:solidFill>
            <a:prstDash val="solid"/>
          </a:ln>
        </p:spPr>
      </p:sp>
      <p:sp>
        <p:nvSpPr>
          <p:cNvPr id="16" name="Shape 13"/>
          <p:cNvSpPr/>
          <p:nvPr/>
        </p:nvSpPr>
        <p:spPr>
          <a:xfrm>
            <a:off x="585216" y="2734056"/>
            <a:ext cx="402336" cy="402336"/>
          </a:xfrm>
          <a:prstGeom prst="ellipse">
            <a:avLst/>
          </a:prstGeom>
          <a:solidFill>
            <a:srgbClr val="375623"/>
          </a:solidFill>
          <a:ln w="12700">
            <a:solidFill>
              <a:srgbClr val="375623"/>
            </a:solidFill>
            <a:prstDash val="solid"/>
          </a:ln>
        </p:spPr>
      </p:sp>
      <p:sp>
        <p:nvSpPr>
          <p:cNvPr id="17" name="Text 14"/>
          <p:cNvSpPr txBox="1"/>
          <p:nvPr/>
        </p:nvSpPr>
        <p:spPr>
          <a:xfrm>
            <a:off x="585216" y="273405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8" name="Text 15"/>
          <p:cNvSpPr txBox="1"/>
          <p:nvPr/>
        </p:nvSpPr>
        <p:spPr>
          <a:xfrm>
            <a:off x="1078992" y="2715768"/>
            <a:ext cx="3305556"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We reap more than we sow</a:t>
            </a:r>
            <a:endParaRPr lang="en-US" sz="1200" dirty="0"/>
          </a:p>
        </p:txBody>
      </p:sp>
      <p:sp>
        <p:nvSpPr>
          <p:cNvPr id="19" name="Text 16"/>
          <p:cNvSpPr txBox="1"/>
          <p:nvPr/>
        </p:nvSpPr>
        <p:spPr>
          <a:xfrm>
            <a:off x="585216" y="3227832"/>
            <a:ext cx="3762756" cy="5852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One kernel planted yields a full ear and more</a:t>
            </a:r>
            <a:endParaRPr lang="en-US" sz="1200" dirty="0"/>
          </a:p>
        </p:txBody>
      </p:sp>
      <p:sp>
        <p:nvSpPr>
          <p:cNvPr id="20" name="Shape 17"/>
          <p:cNvSpPr/>
          <p:nvPr/>
        </p:nvSpPr>
        <p:spPr>
          <a:xfrm>
            <a:off x="4668012" y="2606040"/>
            <a:ext cx="4018788" cy="1298448"/>
          </a:xfrm>
          <a:prstGeom prst="rect">
            <a:avLst/>
          </a:prstGeom>
          <a:solidFill>
            <a:srgbClr val="F2F6FC"/>
          </a:solidFill>
          <a:ln w="9525">
            <a:solidFill>
              <a:srgbClr val="D5DCEA"/>
            </a:solidFill>
            <a:prstDash val="solid"/>
          </a:ln>
        </p:spPr>
      </p:sp>
      <p:sp>
        <p:nvSpPr>
          <p:cNvPr id="21" name="Shape 18"/>
          <p:cNvSpPr/>
          <p:nvPr/>
        </p:nvSpPr>
        <p:spPr>
          <a:xfrm>
            <a:off x="4796028" y="2734056"/>
            <a:ext cx="402336" cy="402336"/>
          </a:xfrm>
          <a:prstGeom prst="ellipse">
            <a:avLst/>
          </a:prstGeom>
          <a:solidFill>
            <a:srgbClr val="6B7280"/>
          </a:solidFill>
          <a:ln w="12700">
            <a:solidFill>
              <a:srgbClr val="6B7280"/>
            </a:solidFill>
            <a:prstDash val="solid"/>
          </a:ln>
        </p:spPr>
      </p:sp>
      <p:sp>
        <p:nvSpPr>
          <p:cNvPr id="22" name="Text 19"/>
          <p:cNvSpPr txBox="1"/>
          <p:nvPr/>
        </p:nvSpPr>
        <p:spPr>
          <a:xfrm>
            <a:off x="4796028" y="273405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3" name="Text 20"/>
          <p:cNvSpPr txBox="1"/>
          <p:nvPr/>
        </p:nvSpPr>
        <p:spPr>
          <a:xfrm>
            <a:off x="5289804" y="2715768"/>
            <a:ext cx="3305556"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We reap later than we sow</a:t>
            </a:r>
            <a:endParaRPr lang="en-US" sz="1200" dirty="0"/>
          </a:p>
        </p:txBody>
      </p:sp>
      <p:sp>
        <p:nvSpPr>
          <p:cNvPr id="24" name="Text 21"/>
          <p:cNvSpPr txBox="1"/>
          <p:nvPr/>
        </p:nvSpPr>
        <p:spPr>
          <a:xfrm>
            <a:off x="4796028" y="3227832"/>
            <a:ext cx="3762756" cy="5852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The farmer plants, waits, and harvests in its time</a:t>
            </a:r>
            <a:endParaRPr lang="en-US" sz="1200" dirty="0"/>
          </a:p>
        </p:txBody>
      </p:sp>
      <p:sp>
        <p:nvSpPr>
          <p:cNvPr id="25" name="Shape 22"/>
          <p:cNvSpPr/>
          <p:nvPr/>
        </p:nvSpPr>
        <p:spPr>
          <a:xfrm>
            <a:off x="457200" y="4160520"/>
            <a:ext cx="8229600" cy="457200"/>
          </a:xfrm>
          <a:prstGeom prst="roundRect">
            <a:avLst>
              <a:gd name="adj" fmla="val 12000"/>
            </a:avLst>
          </a:prstGeom>
          <a:solidFill>
            <a:srgbClr val="1F3864"/>
          </a:solidFill>
          <a:ln w="12700">
            <a:solidFill>
              <a:srgbClr val="1F3864"/>
            </a:solidFill>
            <a:prstDash val="solid"/>
          </a:ln>
        </p:spPr>
      </p:sp>
      <p:sp>
        <p:nvSpPr>
          <p:cNvPr id="26" name="Text 23"/>
          <p:cNvSpPr txBox="1"/>
          <p:nvPr/>
        </p:nvSpPr>
        <p:spPr>
          <a:xfrm>
            <a:off x="621792" y="4160520"/>
            <a:ext cx="7900416" cy="45720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“Do not be deceived, God is not mocked” — μυκτηρίζεται: to turn up one's nose at Him.</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“Will of the Spirit reap everlasting life”</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6:8 · The posted study's Free Grace reading</a:t>
            </a:r>
            <a:endParaRPr lang="en-US" sz="1200" dirty="0"/>
          </a:p>
        </p:txBody>
      </p:sp>
      <p:sp>
        <p:nvSpPr>
          <p:cNvPr id="5" name="Shape 2"/>
          <p:cNvSpPr/>
          <p:nvPr/>
        </p:nvSpPr>
        <p:spPr>
          <a:xfrm>
            <a:off x="1874520" y="1115568"/>
            <a:ext cx="3360420" cy="384048"/>
          </a:xfrm>
          <a:prstGeom prst="rect">
            <a:avLst/>
          </a:prstGeom>
          <a:solidFill>
            <a:srgbClr val="2E5496"/>
          </a:solidFill>
          <a:ln w="12700">
            <a:solidFill>
              <a:srgbClr val="2E5496"/>
            </a:solidFill>
            <a:prstDash val="solid"/>
          </a:ln>
        </p:spPr>
      </p:sp>
      <p:sp>
        <p:nvSpPr>
          <p:cNvPr id="6" name="Text 3"/>
          <p:cNvSpPr txBox="1"/>
          <p:nvPr/>
        </p:nvSpPr>
        <p:spPr>
          <a:xfrm>
            <a:off x="1965960" y="1115568"/>
            <a:ext cx="3223260" cy="38404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The gift of eternal life</a:t>
            </a:r>
            <a:endParaRPr lang="en-US" sz="1250" dirty="0"/>
          </a:p>
        </p:txBody>
      </p:sp>
      <p:sp>
        <p:nvSpPr>
          <p:cNvPr id="7" name="Shape 4"/>
          <p:cNvSpPr/>
          <p:nvPr/>
        </p:nvSpPr>
        <p:spPr>
          <a:xfrm>
            <a:off x="5326380" y="1115568"/>
            <a:ext cx="3360420" cy="384048"/>
          </a:xfrm>
          <a:prstGeom prst="rect">
            <a:avLst/>
          </a:prstGeom>
          <a:solidFill>
            <a:srgbClr val="375623"/>
          </a:solidFill>
          <a:ln w="12700">
            <a:solidFill>
              <a:srgbClr val="375623"/>
            </a:solidFill>
            <a:prstDash val="solid"/>
          </a:ln>
        </p:spPr>
      </p:sp>
      <p:sp>
        <p:nvSpPr>
          <p:cNvPr id="8" name="Text 5"/>
          <p:cNvSpPr txBox="1"/>
          <p:nvPr/>
        </p:nvSpPr>
        <p:spPr>
          <a:xfrm>
            <a:off x="5372100" y="1115568"/>
            <a:ext cx="3223260" cy="38404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Reaping everlasting life (v.8)</a:t>
            </a:r>
            <a:endParaRPr lang="en-US" sz="1250" dirty="0"/>
          </a:p>
        </p:txBody>
      </p:sp>
      <p:sp>
        <p:nvSpPr>
          <p:cNvPr id="9" name="Text 6"/>
          <p:cNvSpPr txBox="1"/>
          <p:nvPr/>
        </p:nvSpPr>
        <p:spPr>
          <a:xfrm>
            <a:off x="457200" y="1554480"/>
            <a:ext cx="1325880" cy="548640"/>
          </a:xfrm>
          <a:prstGeom prst="rect">
            <a:avLst/>
          </a:prstGeom>
          <a:noFill/>
          <a:ln/>
        </p:spPr>
        <p:txBody>
          <a:bodyPr wrap="square" lIns="0" tIns="0" rIns="0" bIns="0" rtlCol="0" anchor="ctr"/>
          <a:lstStyle/>
          <a:p>
            <a:pPr indent="0" marL="0">
              <a:buNone/>
            </a:pPr>
            <a:r>
              <a:rPr lang="en-US" sz="1150" b="1" dirty="0">
                <a:solidFill>
                  <a:srgbClr val="1F3864"/>
                </a:solidFill>
                <a:latin typeface="Arial" pitchFamily="34" charset="0"/>
                <a:ea typeface="Arial" pitchFamily="34" charset="-122"/>
                <a:cs typeface="Arial" pitchFamily="34" charset="-120"/>
              </a:rPr>
              <a:t>Received by</a:t>
            </a:r>
            <a:endParaRPr lang="en-US" sz="1150" dirty="0"/>
          </a:p>
        </p:txBody>
      </p:sp>
      <p:sp>
        <p:nvSpPr>
          <p:cNvPr id="10" name="Shape 7"/>
          <p:cNvSpPr/>
          <p:nvPr/>
        </p:nvSpPr>
        <p:spPr>
          <a:xfrm>
            <a:off x="1874520" y="1554480"/>
            <a:ext cx="3360420" cy="548640"/>
          </a:xfrm>
          <a:prstGeom prst="rect">
            <a:avLst/>
          </a:prstGeom>
          <a:solidFill>
            <a:srgbClr val="F2F6FC"/>
          </a:solidFill>
          <a:ln w="9525">
            <a:solidFill>
              <a:srgbClr val="D5DCEA"/>
            </a:solidFill>
            <a:prstDash val="solid"/>
          </a:ln>
        </p:spPr>
      </p:sp>
      <p:sp>
        <p:nvSpPr>
          <p:cNvPr id="11" name="Text 8"/>
          <p:cNvSpPr txBox="1"/>
          <p:nvPr/>
        </p:nvSpPr>
        <p:spPr>
          <a:xfrm>
            <a:off x="1965960" y="1554480"/>
            <a:ext cx="317754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Faith alone in Christ alone</a:t>
            </a:r>
            <a:endParaRPr lang="en-US" sz="1200" dirty="0"/>
          </a:p>
        </p:txBody>
      </p:sp>
      <p:sp>
        <p:nvSpPr>
          <p:cNvPr id="12" name="Shape 9"/>
          <p:cNvSpPr/>
          <p:nvPr/>
        </p:nvSpPr>
        <p:spPr>
          <a:xfrm>
            <a:off x="5326380" y="1554480"/>
            <a:ext cx="3360420" cy="548640"/>
          </a:xfrm>
          <a:prstGeom prst="rect">
            <a:avLst/>
          </a:prstGeom>
          <a:solidFill>
            <a:srgbClr val="F2F6FC"/>
          </a:solidFill>
          <a:ln w="9525">
            <a:solidFill>
              <a:srgbClr val="D5DCEA"/>
            </a:solidFill>
            <a:prstDash val="solid"/>
          </a:ln>
        </p:spPr>
      </p:sp>
      <p:sp>
        <p:nvSpPr>
          <p:cNvPr id="13" name="Text 10"/>
          <p:cNvSpPr txBox="1"/>
          <p:nvPr/>
        </p:nvSpPr>
        <p:spPr>
          <a:xfrm>
            <a:off x="5417820" y="1554480"/>
            <a:ext cx="317754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Sowing to the Spirit — faithful living</a:t>
            </a:r>
            <a:endParaRPr lang="en-US" sz="1200" dirty="0"/>
          </a:p>
        </p:txBody>
      </p:sp>
      <p:sp>
        <p:nvSpPr>
          <p:cNvPr id="14" name="Text 11"/>
          <p:cNvSpPr txBox="1"/>
          <p:nvPr/>
        </p:nvSpPr>
        <p:spPr>
          <a:xfrm>
            <a:off x="457200" y="2157984"/>
            <a:ext cx="1325880" cy="548640"/>
          </a:xfrm>
          <a:prstGeom prst="rect">
            <a:avLst/>
          </a:prstGeom>
          <a:noFill/>
          <a:ln/>
        </p:spPr>
        <p:txBody>
          <a:bodyPr wrap="square" lIns="0" tIns="0" rIns="0" bIns="0" rtlCol="0" anchor="ctr"/>
          <a:lstStyle/>
          <a:p>
            <a:pPr indent="0" marL="0">
              <a:buNone/>
            </a:pPr>
            <a:r>
              <a:rPr lang="en-US" sz="1150" b="1" dirty="0">
                <a:solidFill>
                  <a:srgbClr val="1F3864"/>
                </a:solidFill>
                <a:latin typeface="Arial" pitchFamily="34" charset="0"/>
                <a:ea typeface="Arial" pitchFamily="34" charset="-122"/>
                <a:cs typeface="Arial" pitchFamily="34" charset="-120"/>
              </a:rPr>
              <a:t>When</a:t>
            </a:r>
            <a:endParaRPr lang="en-US" sz="1150" dirty="0"/>
          </a:p>
        </p:txBody>
      </p:sp>
      <p:sp>
        <p:nvSpPr>
          <p:cNvPr id="15" name="Shape 12"/>
          <p:cNvSpPr/>
          <p:nvPr/>
        </p:nvSpPr>
        <p:spPr>
          <a:xfrm>
            <a:off x="1874520" y="2157984"/>
            <a:ext cx="3360420" cy="548640"/>
          </a:xfrm>
          <a:prstGeom prst="rect">
            <a:avLst/>
          </a:prstGeom>
          <a:solidFill>
            <a:srgbClr val="F2F6FC"/>
          </a:solidFill>
          <a:ln w="9525">
            <a:solidFill>
              <a:srgbClr val="D5DCEA"/>
            </a:solidFill>
            <a:prstDash val="solid"/>
          </a:ln>
        </p:spPr>
      </p:sp>
      <p:sp>
        <p:nvSpPr>
          <p:cNvPr id="16" name="Text 13"/>
          <p:cNvSpPr txBox="1"/>
          <p:nvPr/>
        </p:nvSpPr>
        <p:spPr>
          <a:xfrm>
            <a:off x="1965960" y="2157984"/>
            <a:ext cx="317754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The moment a person believes</a:t>
            </a:r>
            <a:endParaRPr lang="en-US" sz="1200" dirty="0"/>
          </a:p>
        </p:txBody>
      </p:sp>
      <p:sp>
        <p:nvSpPr>
          <p:cNvPr id="17" name="Shape 14"/>
          <p:cNvSpPr/>
          <p:nvPr/>
        </p:nvSpPr>
        <p:spPr>
          <a:xfrm>
            <a:off x="5326380" y="2157984"/>
            <a:ext cx="3360420" cy="548640"/>
          </a:xfrm>
          <a:prstGeom prst="rect">
            <a:avLst/>
          </a:prstGeom>
          <a:solidFill>
            <a:srgbClr val="F2F6FC"/>
          </a:solidFill>
          <a:ln w="9525">
            <a:solidFill>
              <a:srgbClr val="D5DCEA"/>
            </a:solidFill>
            <a:prstDash val="solid"/>
          </a:ln>
        </p:spPr>
      </p:sp>
      <p:sp>
        <p:nvSpPr>
          <p:cNvPr id="18" name="Text 15"/>
          <p:cNvSpPr txBox="1"/>
          <p:nvPr/>
        </p:nvSpPr>
        <p:spPr>
          <a:xfrm>
            <a:off x="5417820" y="2157984"/>
            <a:ext cx="317754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In due season — at the harvest</a:t>
            </a:r>
            <a:endParaRPr lang="en-US" sz="1200" dirty="0"/>
          </a:p>
        </p:txBody>
      </p:sp>
      <p:sp>
        <p:nvSpPr>
          <p:cNvPr id="19" name="Text 16"/>
          <p:cNvSpPr txBox="1"/>
          <p:nvPr/>
        </p:nvSpPr>
        <p:spPr>
          <a:xfrm>
            <a:off x="457200" y="2761488"/>
            <a:ext cx="1325880" cy="548640"/>
          </a:xfrm>
          <a:prstGeom prst="rect">
            <a:avLst/>
          </a:prstGeom>
          <a:noFill/>
          <a:ln/>
        </p:spPr>
        <p:txBody>
          <a:bodyPr wrap="square" lIns="0" tIns="0" rIns="0" bIns="0" rtlCol="0" anchor="ctr"/>
          <a:lstStyle/>
          <a:p>
            <a:pPr indent="0" marL="0">
              <a:buNone/>
            </a:pPr>
            <a:r>
              <a:rPr lang="en-US" sz="1150" b="1" dirty="0">
                <a:solidFill>
                  <a:srgbClr val="1F3864"/>
                </a:solidFill>
                <a:latin typeface="Arial" pitchFamily="34" charset="0"/>
                <a:ea typeface="Arial" pitchFamily="34" charset="-122"/>
                <a:cs typeface="Arial" pitchFamily="34" charset="-120"/>
              </a:rPr>
              <a:t>Can it be lost?</a:t>
            </a:r>
            <a:endParaRPr lang="en-US" sz="1150" dirty="0"/>
          </a:p>
        </p:txBody>
      </p:sp>
      <p:sp>
        <p:nvSpPr>
          <p:cNvPr id="20" name="Shape 17"/>
          <p:cNvSpPr/>
          <p:nvPr/>
        </p:nvSpPr>
        <p:spPr>
          <a:xfrm>
            <a:off x="1874520" y="2761488"/>
            <a:ext cx="3360420" cy="548640"/>
          </a:xfrm>
          <a:prstGeom prst="rect">
            <a:avLst/>
          </a:prstGeom>
          <a:solidFill>
            <a:srgbClr val="F2F6FC"/>
          </a:solidFill>
          <a:ln w="9525">
            <a:solidFill>
              <a:srgbClr val="D5DCEA"/>
            </a:solidFill>
            <a:prstDash val="solid"/>
          </a:ln>
        </p:spPr>
      </p:sp>
      <p:sp>
        <p:nvSpPr>
          <p:cNvPr id="21" name="Text 18"/>
          <p:cNvSpPr txBox="1"/>
          <p:nvPr/>
        </p:nvSpPr>
        <p:spPr>
          <a:xfrm>
            <a:off x="1965960" y="2761488"/>
            <a:ext cx="317754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Never</a:t>
            </a:r>
            <a:endParaRPr lang="en-US" sz="1200" dirty="0"/>
          </a:p>
        </p:txBody>
      </p:sp>
      <p:sp>
        <p:nvSpPr>
          <p:cNvPr id="22" name="Shape 19"/>
          <p:cNvSpPr/>
          <p:nvPr/>
        </p:nvSpPr>
        <p:spPr>
          <a:xfrm>
            <a:off x="5326380" y="2761488"/>
            <a:ext cx="3360420" cy="548640"/>
          </a:xfrm>
          <a:prstGeom prst="rect">
            <a:avLst/>
          </a:prstGeom>
          <a:solidFill>
            <a:srgbClr val="F2F6FC"/>
          </a:solidFill>
          <a:ln w="9525">
            <a:solidFill>
              <a:srgbClr val="D5DCEA"/>
            </a:solidFill>
            <a:prstDash val="solid"/>
          </a:ln>
        </p:spPr>
      </p:sp>
      <p:sp>
        <p:nvSpPr>
          <p:cNvPr id="23" name="Text 20"/>
          <p:cNvSpPr txBox="1"/>
          <p:nvPr/>
        </p:nvSpPr>
        <p:spPr>
          <a:xfrm>
            <a:off x="5417820" y="2761488"/>
            <a:ext cx="317754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It can be forfeited by sowing to the flesh</a:t>
            </a:r>
            <a:endParaRPr lang="en-US" sz="1200" dirty="0"/>
          </a:p>
        </p:txBody>
      </p:sp>
      <p:sp>
        <p:nvSpPr>
          <p:cNvPr id="24" name="Text 21"/>
          <p:cNvSpPr txBox="1"/>
          <p:nvPr/>
        </p:nvSpPr>
        <p:spPr>
          <a:xfrm>
            <a:off x="457200" y="3364992"/>
            <a:ext cx="1325880" cy="548640"/>
          </a:xfrm>
          <a:prstGeom prst="rect">
            <a:avLst/>
          </a:prstGeom>
          <a:noFill/>
          <a:ln/>
        </p:spPr>
        <p:txBody>
          <a:bodyPr wrap="square" lIns="0" tIns="0" rIns="0" bIns="0" rtlCol="0" anchor="ctr"/>
          <a:lstStyle/>
          <a:p>
            <a:pPr indent="0" marL="0">
              <a:buNone/>
            </a:pPr>
            <a:r>
              <a:rPr lang="en-US" sz="1150" b="1" dirty="0">
                <a:solidFill>
                  <a:srgbClr val="1F3864"/>
                </a:solidFill>
                <a:latin typeface="Arial" pitchFamily="34" charset="0"/>
                <a:ea typeface="Arial" pitchFamily="34" charset="-122"/>
                <a:cs typeface="Arial" pitchFamily="34" charset="-120"/>
              </a:rPr>
              <a:t>What it is</a:t>
            </a:r>
            <a:endParaRPr lang="en-US" sz="1150" dirty="0"/>
          </a:p>
        </p:txBody>
      </p:sp>
      <p:sp>
        <p:nvSpPr>
          <p:cNvPr id="25" name="Shape 22"/>
          <p:cNvSpPr/>
          <p:nvPr/>
        </p:nvSpPr>
        <p:spPr>
          <a:xfrm>
            <a:off x="1874520" y="3364992"/>
            <a:ext cx="3360420" cy="548640"/>
          </a:xfrm>
          <a:prstGeom prst="rect">
            <a:avLst/>
          </a:prstGeom>
          <a:solidFill>
            <a:srgbClr val="F2F6FC"/>
          </a:solidFill>
          <a:ln w="9525">
            <a:solidFill>
              <a:srgbClr val="D5DCEA"/>
            </a:solidFill>
            <a:prstDash val="solid"/>
          </a:ln>
        </p:spPr>
      </p:sp>
      <p:sp>
        <p:nvSpPr>
          <p:cNvPr id="26" name="Text 23"/>
          <p:cNvSpPr txBox="1"/>
          <p:nvPr/>
        </p:nvSpPr>
        <p:spPr>
          <a:xfrm>
            <a:off x="1965960" y="3364992"/>
            <a:ext cx="317754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Life itself — a free gift</a:t>
            </a:r>
            <a:endParaRPr lang="en-US" sz="1200" dirty="0"/>
          </a:p>
        </p:txBody>
      </p:sp>
      <p:sp>
        <p:nvSpPr>
          <p:cNvPr id="27" name="Shape 24"/>
          <p:cNvSpPr/>
          <p:nvPr/>
        </p:nvSpPr>
        <p:spPr>
          <a:xfrm>
            <a:off x="5326380" y="3364992"/>
            <a:ext cx="3360420" cy="548640"/>
          </a:xfrm>
          <a:prstGeom prst="rect">
            <a:avLst/>
          </a:prstGeom>
          <a:solidFill>
            <a:srgbClr val="F2F6FC"/>
          </a:solidFill>
          <a:ln w="9525">
            <a:solidFill>
              <a:srgbClr val="D5DCEA"/>
            </a:solidFill>
            <a:prstDash val="solid"/>
          </a:ln>
        </p:spPr>
      </p:sp>
      <p:sp>
        <p:nvSpPr>
          <p:cNvPr id="28" name="Text 25"/>
          <p:cNvSpPr txBox="1"/>
          <p:nvPr/>
        </p:nvSpPr>
        <p:spPr>
          <a:xfrm>
            <a:off x="5417820" y="3364992"/>
            <a:ext cx="317754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Reward: ruling with Christ (cf. 5:21; 2 Tim 2:12)</a:t>
            </a:r>
            <a:endParaRPr lang="en-US" sz="1200" dirty="0"/>
          </a:p>
        </p:txBody>
      </p:sp>
      <p:sp>
        <p:nvSpPr>
          <p:cNvPr id="29" name="Shape 26"/>
          <p:cNvSpPr/>
          <p:nvPr/>
        </p:nvSpPr>
        <p:spPr>
          <a:xfrm>
            <a:off x="457200" y="4069080"/>
            <a:ext cx="8229600" cy="502920"/>
          </a:xfrm>
          <a:prstGeom prst="roundRect">
            <a:avLst>
              <a:gd name="adj" fmla="val 10909"/>
            </a:avLst>
          </a:prstGeom>
          <a:solidFill>
            <a:srgbClr val="1F3864"/>
          </a:solidFill>
          <a:ln w="12700">
            <a:solidFill>
              <a:srgbClr val="1F3864"/>
            </a:solidFill>
            <a:prstDash val="solid"/>
          </a:ln>
        </p:spPr>
      </p:sp>
      <p:sp>
        <p:nvSpPr>
          <p:cNvPr id="30" name="Text 27"/>
          <p:cNvSpPr txBox="1"/>
          <p:nvPr/>
        </p:nvSpPr>
        <p:spPr>
          <a:xfrm>
            <a:off x="621792" y="4069080"/>
            <a:ext cx="7900416" cy="50292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Paul is writing to believers who already have eternal life. The harvest in view is reward.</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Don't grow weary — and start at home</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6:9–10 · Outline III–IV — The pledge and the priority</a:t>
            </a:r>
            <a:endParaRPr lang="en-US" sz="1200" dirty="0"/>
          </a:p>
        </p:txBody>
      </p:sp>
      <p:sp>
        <p:nvSpPr>
          <p:cNvPr id="5" name="Shape 2"/>
          <p:cNvSpPr/>
          <p:nvPr/>
        </p:nvSpPr>
        <p:spPr>
          <a:xfrm>
            <a:off x="457200" y="1143000"/>
            <a:ext cx="777240" cy="621792"/>
          </a:xfrm>
          <a:prstGeom prst="rect">
            <a:avLst/>
          </a:prstGeom>
          <a:solidFill>
            <a:srgbClr val="2E5496"/>
          </a:solidFill>
          <a:ln w="12700">
            <a:solidFill>
              <a:srgbClr val="2E5496"/>
            </a:solidFill>
            <a:prstDash val="solid"/>
          </a:ln>
        </p:spPr>
      </p:sp>
      <p:sp>
        <p:nvSpPr>
          <p:cNvPr id="6" name="Text 3"/>
          <p:cNvSpPr txBox="1"/>
          <p:nvPr/>
        </p:nvSpPr>
        <p:spPr>
          <a:xfrm>
            <a:off x="457200" y="1143000"/>
            <a:ext cx="777240" cy="62179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v.9a</a:t>
            </a:r>
            <a:endParaRPr lang="en-US" sz="1100" dirty="0"/>
          </a:p>
        </p:txBody>
      </p:sp>
      <p:sp>
        <p:nvSpPr>
          <p:cNvPr id="7" name="Shape 4"/>
          <p:cNvSpPr/>
          <p:nvPr/>
        </p:nvSpPr>
        <p:spPr>
          <a:xfrm>
            <a:off x="1234440" y="1143000"/>
            <a:ext cx="7452360" cy="621792"/>
          </a:xfrm>
          <a:prstGeom prst="rect">
            <a:avLst/>
          </a:prstGeom>
          <a:solidFill>
            <a:srgbClr val="F2F6FC"/>
          </a:solidFill>
          <a:ln w="9525">
            <a:solidFill>
              <a:srgbClr val="D5DCEA"/>
            </a:solidFill>
            <a:prstDash val="solid"/>
          </a:ln>
        </p:spPr>
      </p:sp>
      <p:sp>
        <p:nvSpPr>
          <p:cNvPr id="8" name="Text 5"/>
          <p:cNvSpPr txBox="1"/>
          <p:nvPr/>
        </p:nvSpPr>
        <p:spPr>
          <a:xfrm>
            <a:off x="1344168" y="1143000"/>
            <a:ext cx="4206240" cy="621792"/>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“Let us not grow weary while doing good”</a:t>
            </a:r>
            <a:endParaRPr lang="en-US" sz="1200" dirty="0"/>
          </a:p>
        </p:txBody>
      </p:sp>
      <p:sp>
        <p:nvSpPr>
          <p:cNvPr id="9" name="Text 6"/>
          <p:cNvSpPr txBox="1"/>
          <p:nvPr/>
        </p:nvSpPr>
        <p:spPr>
          <a:xfrm>
            <a:off x="5623560" y="1143000"/>
            <a:ext cx="2971800" cy="621792"/>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ἐγκακῶμεν</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lose courage</a:t>
            </a:r>
            <a:endParaRPr lang="en-US" sz="1200" dirty="0"/>
          </a:p>
        </p:txBody>
      </p:sp>
      <p:sp>
        <p:nvSpPr>
          <p:cNvPr id="10" name="Shape 7"/>
          <p:cNvSpPr/>
          <p:nvPr/>
        </p:nvSpPr>
        <p:spPr>
          <a:xfrm>
            <a:off x="457200" y="1837944"/>
            <a:ext cx="777240" cy="621792"/>
          </a:xfrm>
          <a:prstGeom prst="rect">
            <a:avLst/>
          </a:prstGeom>
          <a:solidFill>
            <a:srgbClr val="375623"/>
          </a:solidFill>
          <a:ln w="12700">
            <a:solidFill>
              <a:srgbClr val="375623"/>
            </a:solidFill>
            <a:prstDash val="solid"/>
          </a:ln>
        </p:spPr>
      </p:sp>
      <p:sp>
        <p:nvSpPr>
          <p:cNvPr id="11" name="Text 8"/>
          <p:cNvSpPr txBox="1"/>
          <p:nvPr/>
        </p:nvSpPr>
        <p:spPr>
          <a:xfrm>
            <a:off x="457200" y="1837944"/>
            <a:ext cx="777240" cy="62179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v.9b</a:t>
            </a:r>
            <a:endParaRPr lang="en-US" sz="1100" dirty="0"/>
          </a:p>
        </p:txBody>
      </p:sp>
      <p:sp>
        <p:nvSpPr>
          <p:cNvPr id="12" name="Shape 9"/>
          <p:cNvSpPr/>
          <p:nvPr/>
        </p:nvSpPr>
        <p:spPr>
          <a:xfrm>
            <a:off x="1234440" y="1837944"/>
            <a:ext cx="7452360" cy="621792"/>
          </a:xfrm>
          <a:prstGeom prst="rect">
            <a:avLst/>
          </a:prstGeom>
          <a:solidFill>
            <a:srgbClr val="FFFFFF"/>
          </a:solidFill>
          <a:ln w="9525">
            <a:solidFill>
              <a:srgbClr val="D5DCEA"/>
            </a:solidFill>
            <a:prstDash val="solid"/>
          </a:ln>
        </p:spPr>
      </p:sp>
      <p:sp>
        <p:nvSpPr>
          <p:cNvPr id="13" name="Text 10"/>
          <p:cNvSpPr txBox="1"/>
          <p:nvPr/>
        </p:nvSpPr>
        <p:spPr>
          <a:xfrm>
            <a:off x="1344168" y="1837944"/>
            <a:ext cx="4206240" cy="621792"/>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“for in due season we shall reap”</a:t>
            </a:r>
            <a:endParaRPr lang="en-US" sz="1200" dirty="0"/>
          </a:p>
        </p:txBody>
      </p:sp>
      <p:sp>
        <p:nvSpPr>
          <p:cNvPr id="14" name="Text 11"/>
          <p:cNvSpPr txBox="1"/>
          <p:nvPr/>
        </p:nvSpPr>
        <p:spPr>
          <a:xfrm>
            <a:off x="5623560" y="1837944"/>
            <a:ext cx="2971800" cy="621792"/>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καιρῷ ἰδίῳ</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God's right time</a:t>
            </a:r>
            <a:endParaRPr lang="en-US" sz="1200" dirty="0"/>
          </a:p>
        </p:txBody>
      </p:sp>
      <p:sp>
        <p:nvSpPr>
          <p:cNvPr id="15" name="Shape 12"/>
          <p:cNvSpPr/>
          <p:nvPr/>
        </p:nvSpPr>
        <p:spPr>
          <a:xfrm>
            <a:off x="457200" y="2532888"/>
            <a:ext cx="777240" cy="621792"/>
          </a:xfrm>
          <a:prstGeom prst="rect">
            <a:avLst/>
          </a:prstGeom>
          <a:solidFill>
            <a:srgbClr val="6B7280"/>
          </a:solidFill>
          <a:ln w="12700">
            <a:solidFill>
              <a:srgbClr val="6B7280"/>
            </a:solidFill>
            <a:prstDash val="solid"/>
          </a:ln>
        </p:spPr>
      </p:sp>
      <p:sp>
        <p:nvSpPr>
          <p:cNvPr id="16" name="Text 13"/>
          <p:cNvSpPr txBox="1"/>
          <p:nvPr/>
        </p:nvSpPr>
        <p:spPr>
          <a:xfrm>
            <a:off x="457200" y="2532888"/>
            <a:ext cx="777240" cy="62179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v.9c</a:t>
            </a:r>
            <a:endParaRPr lang="en-US" sz="1100" dirty="0"/>
          </a:p>
        </p:txBody>
      </p:sp>
      <p:sp>
        <p:nvSpPr>
          <p:cNvPr id="17" name="Shape 14"/>
          <p:cNvSpPr/>
          <p:nvPr/>
        </p:nvSpPr>
        <p:spPr>
          <a:xfrm>
            <a:off x="1234440" y="2532888"/>
            <a:ext cx="7452360" cy="621792"/>
          </a:xfrm>
          <a:prstGeom prst="rect">
            <a:avLst/>
          </a:prstGeom>
          <a:solidFill>
            <a:srgbClr val="F2F6FC"/>
          </a:solidFill>
          <a:ln w="9525">
            <a:solidFill>
              <a:srgbClr val="D5DCEA"/>
            </a:solidFill>
            <a:prstDash val="solid"/>
          </a:ln>
        </p:spPr>
      </p:sp>
      <p:sp>
        <p:nvSpPr>
          <p:cNvPr id="18" name="Text 15"/>
          <p:cNvSpPr txBox="1"/>
          <p:nvPr/>
        </p:nvSpPr>
        <p:spPr>
          <a:xfrm>
            <a:off x="1344168" y="2532888"/>
            <a:ext cx="4206240" cy="621792"/>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“if we do not lose heart”</a:t>
            </a:r>
            <a:endParaRPr lang="en-US" sz="1200" dirty="0"/>
          </a:p>
        </p:txBody>
      </p:sp>
      <p:sp>
        <p:nvSpPr>
          <p:cNvPr id="19" name="Text 16"/>
          <p:cNvSpPr txBox="1"/>
          <p:nvPr/>
        </p:nvSpPr>
        <p:spPr>
          <a:xfrm>
            <a:off x="5623560" y="2532888"/>
            <a:ext cx="2971800" cy="621792"/>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ἐκλυόμενοι</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a runner giving out</a:t>
            </a:r>
            <a:endParaRPr lang="en-US" sz="1200" dirty="0"/>
          </a:p>
        </p:txBody>
      </p:sp>
      <p:sp>
        <p:nvSpPr>
          <p:cNvPr id="20" name="Shape 17"/>
          <p:cNvSpPr/>
          <p:nvPr/>
        </p:nvSpPr>
        <p:spPr>
          <a:xfrm>
            <a:off x="457200" y="3227832"/>
            <a:ext cx="777240" cy="621792"/>
          </a:xfrm>
          <a:prstGeom prst="rect">
            <a:avLst/>
          </a:prstGeom>
          <a:solidFill>
            <a:srgbClr val="1F3864"/>
          </a:solidFill>
          <a:ln w="12700">
            <a:solidFill>
              <a:srgbClr val="1F3864"/>
            </a:solidFill>
            <a:prstDash val="solid"/>
          </a:ln>
        </p:spPr>
      </p:sp>
      <p:sp>
        <p:nvSpPr>
          <p:cNvPr id="21" name="Text 18"/>
          <p:cNvSpPr txBox="1"/>
          <p:nvPr/>
        </p:nvSpPr>
        <p:spPr>
          <a:xfrm>
            <a:off x="457200" y="3227832"/>
            <a:ext cx="777240" cy="62179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v.10</a:t>
            </a:r>
            <a:endParaRPr lang="en-US" sz="1100" dirty="0"/>
          </a:p>
        </p:txBody>
      </p:sp>
      <p:sp>
        <p:nvSpPr>
          <p:cNvPr id="22" name="Shape 19"/>
          <p:cNvSpPr/>
          <p:nvPr/>
        </p:nvSpPr>
        <p:spPr>
          <a:xfrm>
            <a:off x="1234440" y="3227832"/>
            <a:ext cx="7452360" cy="621792"/>
          </a:xfrm>
          <a:prstGeom prst="rect">
            <a:avLst/>
          </a:prstGeom>
          <a:solidFill>
            <a:srgbClr val="FFFFFF"/>
          </a:solidFill>
          <a:ln w="9525">
            <a:solidFill>
              <a:srgbClr val="D5DCEA"/>
            </a:solidFill>
            <a:prstDash val="solid"/>
          </a:ln>
        </p:spPr>
      </p:sp>
      <p:sp>
        <p:nvSpPr>
          <p:cNvPr id="23" name="Text 20"/>
          <p:cNvSpPr txBox="1"/>
          <p:nvPr/>
        </p:nvSpPr>
        <p:spPr>
          <a:xfrm>
            <a:off x="1344168" y="3227832"/>
            <a:ext cx="4206240" cy="621792"/>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“Do good to all, especially to those who are of the household of faith”</a:t>
            </a:r>
            <a:endParaRPr lang="en-US" sz="1200" dirty="0"/>
          </a:p>
        </p:txBody>
      </p:sp>
      <p:sp>
        <p:nvSpPr>
          <p:cNvPr id="24" name="Text 21"/>
          <p:cNvSpPr txBox="1"/>
          <p:nvPr/>
        </p:nvSpPr>
        <p:spPr>
          <a:xfrm>
            <a:off x="5623560" y="3227832"/>
            <a:ext cx="2971800" cy="621792"/>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οἰκείους</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first, not only</a:t>
            </a:r>
            <a:endParaRPr lang="en-US" sz="1200" dirty="0"/>
          </a:p>
        </p:txBody>
      </p:sp>
      <p:sp>
        <p:nvSpPr>
          <p:cNvPr id="25" name="Shape 22"/>
          <p:cNvSpPr/>
          <p:nvPr/>
        </p:nvSpPr>
        <p:spPr>
          <a:xfrm>
            <a:off x="457200" y="4069080"/>
            <a:ext cx="8229600" cy="502920"/>
          </a:xfrm>
          <a:prstGeom prst="roundRect">
            <a:avLst>
              <a:gd name="adj" fmla="val 10909"/>
            </a:avLst>
          </a:prstGeom>
          <a:solidFill>
            <a:srgbClr val="1F3864"/>
          </a:solidFill>
          <a:ln w="12700">
            <a:solidFill>
              <a:srgbClr val="1F3864"/>
            </a:solidFill>
            <a:prstDash val="solid"/>
          </a:ln>
        </p:spPr>
      </p:sp>
      <p:sp>
        <p:nvSpPr>
          <p:cNvPr id="26" name="Text 23"/>
          <p:cNvSpPr txBox="1"/>
          <p:nvPr/>
        </p:nvSpPr>
        <p:spPr>
          <a:xfrm>
            <a:off x="621792" y="4069080"/>
            <a:ext cx="7900416" cy="50292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Keep doing what the Lord has led you to do — until He leads you to do something else.</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Discuss and apply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6:6–10 · from the study's posted questions and applications</a:t>
            </a:r>
            <a:endParaRPr lang="en-US" sz="1200" dirty="0"/>
          </a:p>
        </p:txBody>
      </p:sp>
      <p:sp>
        <p:nvSpPr>
          <p:cNvPr id="5" name="Shape 2"/>
          <p:cNvSpPr/>
          <p:nvPr/>
        </p:nvSpPr>
        <p:spPr>
          <a:xfrm>
            <a:off x="457200" y="1115568"/>
            <a:ext cx="4023360" cy="384048"/>
          </a:xfrm>
          <a:prstGeom prst="rect">
            <a:avLst/>
          </a:prstGeom>
          <a:solidFill>
            <a:srgbClr val="2E5496"/>
          </a:solidFill>
          <a:ln w="12700">
            <a:solidFill>
              <a:srgbClr val="2E5496"/>
            </a:solidFill>
            <a:prstDash val="solid"/>
          </a:ln>
        </p:spPr>
      </p:sp>
      <p:sp>
        <p:nvSpPr>
          <p:cNvPr id="6" name="Text 3"/>
          <p:cNvSpPr txBox="1"/>
          <p:nvPr/>
        </p:nvSpPr>
        <p:spPr>
          <a:xfrm>
            <a:off x="56692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Discuss</a:t>
            </a:r>
            <a:endParaRPr lang="en-US" sz="1300" dirty="0"/>
          </a:p>
        </p:txBody>
      </p:sp>
      <p:sp>
        <p:nvSpPr>
          <p:cNvPr id="7" name="Shape 4"/>
          <p:cNvSpPr/>
          <p:nvPr/>
        </p:nvSpPr>
        <p:spPr>
          <a:xfrm>
            <a:off x="457200" y="1499616"/>
            <a:ext cx="4023360" cy="2359152"/>
          </a:xfrm>
          <a:prstGeom prst="rect">
            <a:avLst/>
          </a:prstGeom>
          <a:solidFill>
            <a:srgbClr val="F2F6FC"/>
          </a:solidFill>
          <a:ln w="9525">
            <a:solidFill>
              <a:srgbClr val="D5DCEA"/>
            </a:solidFill>
            <a:prstDash val="solid"/>
          </a:ln>
        </p:spPr>
      </p:sp>
      <p:sp>
        <p:nvSpPr>
          <p:cNvPr id="8" name="Shape 5"/>
          <p:cNvSpPr/>
          <p:nvPr/>
        </p:nvSpPr>
        <p:spPr>
          <a:xfrm>
            <a:off x="4663440" y="1115568"/>
            <a:ext cx="4023360" cy="384048"/>
          </a:xfrm>
          <a:prstGeom prst="rect">
            <a:avLst/>
          </a:prstGeom>
          <a:solidFill>
            <a:srgbClr val="375623"/>
          </a:solidFill>
          <a:ln w="12700">
            <a:solidFill>
              <a:srgbClr val="375623"/>
            </a:solidFill>
            <a:prstDash val="solid"/>
          </a:ln>
        </p:spPr>
      </p:sp>
      <p:sp>
        <p:nvSpPr>
          <p:cNvPr id="9" name="Text 6"/>
          <p:cNvSpPr txBox="1"/>
          <p:nvPr/>
        </p:nvSpPr>
        <p:spPr>
          <a:xfrm>
            <a:off x="477316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Apply</a:t>
            </a:r>
            <a:endParaRPr lang="en-US" sz="1300" dirty="0"/>
          </a:p>
        </p:txBody>
      </p:sp>
      <p:sp>
        <p:nvSpPr>
          <p:cNvPr id="10" name="Shape 7"/>
          <p:cNvSpPr/>
          <p:nvPr/>
        </p:nvSpPr>
        <p:spPr>
          <a:xfrm>
            <a:off x="4663440" y="1499616"/>
            <a:ext cx="4023360" cy="2359152"/>
          </a:xfrm>
          <a:prstGeom prst="rect">
            <a:avLst/>
          </a:prstGeom>
          <a:solidFill>
            <a:srgbClr val="F2F6FC"/>
          </a:solidFill>
          <a:ln w="9525">
            <a:solidFill>
              <a:srgbClr val="D5DCEA"/>
            </a:solidFill>
            <a:prstDash val="solid"/>
          </a:ln>
        </p:spPr>
      </p:sp>
      <p:sp>
        <p:nvSpPr>
          <p:cNvPr id="11" name="Shape 8"/>
          <p:cNvSpPr/>
          <p:nvPr/>
        </p:nvSpPr>
        <p:spPr>
          <a:xfrm>
            <a:off x="566928" y="1636776"/>
            <a:ext cx="347472" cy="347472"/>
          </a:xfrm>
          <a:prstGeom prst="ellipse">
            <a:avLst/>
          </a:prstGeom>
          <a:solidFill>
            <a:srgbClr val="2E5496"/>
          </a:solidFill>
          <a:ln w="12700">
            <a:solidFill>
              <a:srgbClr val="2E5496"/>
            </a:solidFill>
            <a:prstDash val="solid"/>
          </a:ln>
        </p:spPr>
      </p:sp>
      <p:sp>
        <p:nvSpPr>
          <p:cNvPr id="12" name="Text 9"/>
          <p:cNvSpPr txBox="1"/>
          <p:nvPr/>
        </p:nvSpPr>
        <p:spPr>
          <a:xfrm>
            <a:off x="566928" y="163677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3" name="Text 10"/>
          <p:cNvSpPr txBox="1"/>
          <p:nvPr/>
        </p:nvSpPr>
        <p:spPr>
          <a:xfrm>
            <a:off x="1005840" y="1591056"/>
            <a:ext cx="3364992" cy="1042416"/>
          </a:xfrm>
          <a:prstGeom prst="rect">
            <a:avLst/>
          </a:prstGeom>
          <a:noFill/>
          <a:ln/>
        </p:spPr>
        <p:txBody>
          <a:bodyPr wrap="square" lIns="0" tIns="0" rIns="0" bIns="0" rtlCol="0" anchor="t"/>
          <a:lstStyle/>
          <a:p>
            <a:pPr indent="0" marL="0">
              <a:buNone/>
            </a:pPr>
            <a:r>
              <a:rPr lang="en-US" sz="1350" dirty="0">
                <a:solidFill>
                  <a:srgbClr val="262626"/>
                </a:solidFill>
                <a:latin typeface="Arial" pitchFamily="34" charset="0"/>
                <a:ea typeface="Arial" pitchFamily="34" charset="-122"/>
                <a:cs typeface="Arial" pitchFamily="34" charset="-120"/>
              </a:rPr>
              <a:t>What is one thing in your life that is clearly “sowing to the flesh,” and what would sowing to the Spirit look like in that same area?</a:t>
            </a:r>
            <a:endParaRPr lang="en-US" sz="1350" dirty="0"/>
          </a:p>
        </p:txBody>
      </p:sp>
      <p:sp>
        <p:nvSpPr>
          <p:cNvPr id="14" name="Shape 11"/>
          <p:cNvSpPr/>
          <p:nvPr/>
        </p:nvSpPr>
        <p:spPr>
          <a:xfrm>
            <a:off x="566928" y="2724912"/>
            <a:ext cx="347472" cy="347472"/>
          </a:xfrm>
          <a:prstGeom prst="ellipse">
            <a:avLst/>
          </a:prstGeom>
          <a:solidFill>
            <a:srgbClr val="2E5496"/>
          </a:solidFill>
          <a:ln w="12700">
            <a:solidFill>
              <a:srgbClr val="2E5496"/>
            </a:solidFill>
            <a:prstDash val="solid"/>
          </a:ln>
        </p:spPr>
      </p:sp>
      <p:sp>
        <p:nvSpPr>
          <p:cNvPr id="15" name="Text 12"/>
          <p:cNvSpPr txBox="1"/>
          <p:nvPr/>
        </p:nvSpPr>
        <p:spPr>
          <a:xfrm>
            <a:off x="566928" y="272491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6" name="Text 13"/>
          <p:cNvSpPr txBox="1"/>
          <p:nvPr/>
        </p:nvSpPr>
        <p:spPr>
          <a:xfrm>
            <a:off x="1005840" y="2679192"/>
            <a:ext cx="3364992" cy="1042416"/>
          </a:xfrm>
          <a:prstGeom prst="rect">
            <a:avLst/>
          </a:prstGeom>
          <a:noFill/>
          <a:ln/>
        </p:spPr>
        <p:txBody>
          <a:bodyPr wrap="square" lIns="0" tIns="0" rIns="0" bIns="0" rtlCol="0" anchor="t"/>
          <a:lstStyle/>
          <a:p>
            <a:pPr indent="0" marL="0">
              <a:buNone/>
            </a:pPr>
            <a:r>
              <a:rPr lang="en-US" sz="1350" dirty="0">
                <a:solidFill>
                  <a:srgbClr val="262626"/>
                </a:solidFill>
                <a:latin typeface="Arial" pitchFamily="34" charset="0"/>
                <a:ea typeface="Arial" pitchFamily="34" charset="-122"/>
                <a:cs typeface="Arial" pitchFamily="34" charset="-120"/>
              </a:rPr>
              <a:t>Where have you been tempted to grow weary in doing good because you haven't yet seen a harvest?</a:t>
            </a:r>
            <a:endParaRPr lang="en-US" sz="1350" dirty="0"/>
          </a:p>
        </p:txBody>
      </p:sp>
      <p:sp>
        <p:nvSpPr>
          <p:cNvPr id="17" name="Text 14"/>
          <p:cNvSpPr txBox="1"/>
          <p:nvPr/>
        </p:nvSpPr>
        <p:spPr>
          <a:xfrm>
            <a:off x="4791456" y="1591056"/>
            <a:ext cx="3767328" cy="1042416"/>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Sow Into Your Teachers</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Take one concrete step this week — financial or otherwise — to support someone who faithfully teaches you the word.</a:t>
            </a:r>
            <a:endParaRPr lang="en-US" sz="1200" dirty="0"/>
          </a:p>
        </p:txBody>
      </p:sp>
      <p:sp>
        <p:nvSpPr>
          <p:cNvPr id="18" name="Text 15"/>
          <p:cNvSpPr txBox="1"/>
          <p:nvPr/>
        </p:nvSpPr>
        <p:spPr>
          <a:xfrm>
            <a:off x="4791456" y="2679192"/>
            <a:ext cx="3767328" cy="1042416"/>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Don't Lose Heart</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Recommit to a work for one more defined season, and ask someone to check in with you on it.</a:t>
            </a:r>
            <a:endParaRPr lang="en-US" sz="1200" dirty="0"/>
          </a:p>
        </p:txBody>
      </p:sp>
      <p:sp>
        <p:nvSpPr>
          <p:cNvPr id="19" name="Shape 16"/>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0" name="Text 17"/>
          <p:cNvSpPr txBox="1"/>
          <p:nvPr/>
        </p:nvSpPr>
        <p:spPr>
          <a:xfrm>
            <a:off x="621792" y="4023360"/>
            <a:ext cx="7900416" cy="566928"/>
          </a:xfrm>
          <a:prstGeom prst="rect">
            <a:avLst/>
          </a:prstGeom>
          <a:noFill/>
          <a:ln/>
        </p:spPr>
        <p:txBody>
          <a:bodyPr wrap="square" lIns="0" tIns="0" rIns="0" bIns="0" rtlCol="0" anchor="ctr"/>
          <a:lstStyle/>
          <a:p>
            <a:pPr indent="0" marL="0">
              <a:buNone/>
            </a:pPr>
            <a:r>
              <a:rPr lang="en-US" sz="1250" b="1" dirty="0">
                <a:solidFill>
                  <a:srgbClr val="C9D5EE"/>
                </a:solidFill>
                <a:latin typeface="Arial" pitchFamily="34" charset="0"/>
                <a:ea typeface="Arial" pitchFamily="34" charset="-122"/>
                <a:cs typeface="Arial" pitchFamily="34" charset="-120"/>
              </a:rPr>
              <a:t>In one line:  </a:t>
            </a:r>
            <a:pPr indent="0" marL="0">
              <a:buNone/>
            </a:pPr>
            <a:r>
              <a:rPr lang="en-US" sz="1250" dirty="0">
                <a:solidFill>
                  <a:srgbClr val="FFFFFF"/>
                </a:solidFill>
                <a:latin typeface="Arial" pitchFamily="34" charset="0"/>
                <a:ea typeface="Arial" pitchFamily="34" charset="-122"/>
                <a:cs typeface="Arial" pitchFamily="34" charset="-120"/>
              </a:rPr>
              <a:t>God is not mocked: keep sowing to the Spirit, and in due season you will reap.</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lstStyle/>
          <a:p>
            <a:pPr indent="0" marL="0">
              <a:buNone/>
            </a:pPr>
            <a:r>
              <a:rPr lang="en-US" sz="1400" dirty="0">
                <a:solidFill>
                  <a:srgbClr val="C9D5EE"/>
                </a:solidFill>
                <a:latin typeface="Arial" pitchFamily="34" charset="0"/>
                <a:ea typeface="Arial" pitchFamily="34" charset="-122"/>
                <a:cs typeface="Arial" pitchFamily="34" charset="-120"/>
              </a:rPr>
              <a:t>Study 16 of 16 · Galatians 6:11–18</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Teaching the Truth</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t"/>
          <a:lstStyle/>
          <a:p>
            <a:pPr indent="0" marL="0">
              <a:buNone/>
            </a:pPr>
            <a:r>
              <a:rPr lang="en-US" sz="1500" i="1" dirty="0">
                <a:solidFill>
                  <a:srgbClr val="E6ECF7"/>
                </a:solidFill>
                <a:latin typeface="Arial" pitchFamily="34" charset="0"/>
                <a:ea typeface="Arial" pitchFamily="34" charset="-122"/>
                <a:cs typeface="Arial" pitchFamily="34" charset="-120"/>
              </a:rPr>
              <a:t>Because nothing but the cross of Christ produces the new creation, the grace gospel must be presented persuasively, precisely, plainly, positively and personally — without adding to it or subtracting from it.</a:t>
            </a:r>
            <a:endParaRPr lang="en-US" sz="15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Five ways to present the truth</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6:11–18 · The commentary's outline</a:t>
            </a:r>
            <a:endParaRPr lang="en-US" sz="1200" dirty="0"/>
          </a:p>
        </p:txBody>
      </p:sp>
      <p:sp>
        <p:nvSpPr>
          <p:cNvPr id="5" name="Shape 2"/>
          <p:cNvSpPr/>
          <p:nvPr/>
        </p:nvSpPr>
        <p:spPr>
          <a:xfrm>
            <a:off x="457200" y="1188720"/>
            <a:ext cx="1470355" cy="2103120"/>
          </a:xfrm>
          <a:prstGeom prst="rect">
            <a:avLst/>
          </a:prstGeom>
          <a:solidFill>
            <a:srgbClr val="F2F6FC"/>
          </a:solidFill>
          <a:ln w="9525">
            <a:solidFill>
              <a:srgbClr val="D5DCEA"/>
            </a:solidFill>
            <a:prstDash val="solid"/>
          </a:ln>
        </p:spPr>
      </p:sp>
      <p:sp>
        <p:nvSpPr>
          <p:cNvPr id="6" name="Shape 3"/>
          <p:cNvSpPr/>
          <p:nvPr/>
        </p:nvSpPr>
        <p:spPr>
          <a:xfrm>
            <a:off x="457200" y="1188720"/>
            <a:ext cx="1470355" cy="566928"/>
          </a:xfrm>
          <a:prstGeom prst="rect">
            <a:avLst/>
          </a:prstGeom>
          <a:solidFill>
            <a:srgbClr val="2E5496"/>
          </a:solidFill>
          <a:ln w="12700">
            <a:solidFill>
              <a:srgbClr val="2E5496"/>
            </a:solidFill>
            <a:prstDash val="solid"/>
          </a:ln>
        </p:spPr>
      </p:sp>
      <p:sp>
        <p:nvSpPr>
          <p:cNvPr id="7" name="Text 4"/>
          <p:cNvSpPr txBox="1"/>
          <p:nvPr/>
        </p:nvSpPr>
        <p:spPr>
          <a:xfrm>
            <a:off x="512064" y="1188720"/>
            <a:ext cx="1360627"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Persuasively</a:t>
            </a:r>
            <a:endParaRPr lang="en-US" sz="1150" dirty="0"/>
          </a:p>
        </p:txBody>
      </p:sp>
      <p:sp>
        <p:nvSpPr>
          <p:cNvPr id="8" name="Text 5"/>
          <p:cNvSpPr txBox="1"/>
          <p:nvPr/>
        </p:nvSpPr>
        <p:spPr>
          <a:xfrm>
            <a:off x="548640" y="1828800"/>
            <a:ext cx="1287475" cy="1152144"/>
          </a:xfrm>
          <a:prstGeom prst="rect">
            <a:avLst/>
          </a:prstGeom>
          <a:noFill/>
          <a:ln/>
        </p:spPr>
        <p:txBody>
          <a:bodyPr wrap="square" lIns="0" tIns="0" rIns="0" bIns="0" rtlCol="0" anchor="t"/>
          <a:lstStyle/>
          <a:p>
            <a:pPr algn="ctr" indent="0" marL="0">
              <a:buNone/>
            </a:pPr>
            <a:r>
              <a:rPr lang="en-US" sz="1200" dirty="0">
                <a:solidFill>
                  <a:srgbClr val="262626"/>
                </a:solidFill>
                <a:latin typeface="Arial" pitchFamily="34" charset="0"/>
                <a:ea typeface="Arial" pitchFamily="34" charset="-122"/>
                <a:cs typeface="Arial" pitchFamily="34" charset="-120"/>
              </a:rPr>
              <a:t>Large letters, in his own hand</a:t>
            </a:r>
            <a:endParaRPr lang="en-US" sz="1200" dirty="0"/>
          </a:p>
        </p:txBody>
      </p:sp>
      <p:sp>
        <p:nvSpPr>
          <p:cNvPr id="9" name="Text 6"/>
          <p:cNvSpPr txBox="1"/>
          <p:nvPr/>
        </p:nvSpPr>
        <p:spPr>
          <a:xfrm>
            <a:off x="530352" y="2962656"/>
            <a:ext cx="1324051"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v.11</a:t>
            </a:r>
            <a:endParaRPr lang="en-US" sz="950" dirty="0"/>
          </a:p>
        </p:txBody>
      </p:sp>
      <p:sp>
        <p:nvSpPr>
          <p:cNvPr id="10" name="Shape 7"/>
          <p:cNvSpPr/>
          <p:nvPr/>
        </p:nvSpPr>
        <p:spPr>
          <a:xfrm>
            <a:off x="1936699" y="2121408"/>
            <a:ext cx="201168" cy="237744"/>
          </a:xfrm>
          <a:prstGeom prst="rightArrow">
            <a:avLst/>
          </a:prstGeom>
          <a:solidFill>
            <a:srgbClr val="6B7280"/>
          </a:solidFill>
          <a:ln w="12700">
            <a:solidFill>
              <a:srgbClr val="6B7280"/>
            </a:solidFill>
            <a:prstDash val="solid"/>
          </a:ln>
        </p:spPr>
      </p:sp>
      <p:sp>
        <p:nvSpPr>
          <p:cNvPr id="11" name="Shape 8"/>
          <p:cNvSpPr/>
          <p:nvPr/>
        </p:nvSpPr>
        <p:spPr>
          <a:xfrm>
            <a:off x="2147011" y="1188720"/>
            <a:ext cx="1470355" cy="2103120"/>
          </a:xfrm>
          <a:prstGeom prst="rect">
            <a:avLst/>
          </a:prstGeom>
          <a:solidFill>
            <a:srgbClr val="F2F6FC"/>
          </a:solidFill>
          <a:ln w="9525">
            <a:solidFill>
              <a:srgbClr val="D5DCEA"/>
            </a:solidFill>
            <a:prstDash val="solid"/>
          </a:ln>
        </p:spPr>
      </p:sp>
      <p:sp>
        <p:nvSpPr>
          <p:cNvPr id="12" name="Shape 9"/>
          <p:cNvSpPr/>
          <p:nvPr/>
        </p:nvSpPr>
        <p:spPr>
          <a:xfrm>
            <a:off x="2147011" y="1188720"/>
            <a:ext cx="1470355" cy="566928"/>
          </a:xfrm>
          <a:prstGeom prst="rect">
            <a:avLst/>
          </a:prstGeom>
          <a:solidFill>
            <a:srgbClr val="7030A0"/>
          </a:solidFill>
          <a:ln w="12700">
            <a:solidFill>
              <a:srgbClr val="7030A0"/>
            </a:solidFill>
            <a:prstDash val="solid"/>
          </a:ln>
        </p:spPr>
      </p:sp>
      <p:sp>
        <p:nvSpPr>
          <p:cNvPr id="13" name="Text 10"/>
          <p:cNvSpPr txBox="1"/>
          <p:nvPr/>
        </p:nvSpPr>
        <p:spPr>
          <a:xfrm>
            <a:off x="2201875" y="1188720"/>
            <a:ext cx="1360627"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Precisely</a:t>
            </a:r>
            <a:endParaRPr lang="en-US" sz="1150" dirty="0"/>
          </a:p>
        </p:txBody>
      </p:sp>
      <p:sp>
        <p:nvSpPr>
          <p:cNvPr id="14" name="Text 11"/>
          <p:cNvSpPr txBox="1"/>
          <p:nvPr/>
        </p:nvSpPr>
        <p:spPr>
          <a:xfrm>
            <a:off x="2238451" y="1828800"/>
            <a:ext cx="1287475" cy="1152144"/>
          </a:xfrm>
          <a:prstGeom prst="rect">
            <a:avLst/>
          </a:prstGeom>
          <a:noFill/>
          <a:ln/>
        </p:spPr>
        <p:txBody>
          <a:bodyPr wrap="square" lIns="0" tIns="0" rIns="0" bIns="0" rtlCol="0" anchor="t"/>
          <a:lstStyle/>
          <a:p>
            <a:pPr algn="ctr" indent="0" marL="0">
              <a:buNone/>
            </a:pPr>
            <a:r>
              <a:rPr lang="en-US" sz="1200" dirty="0">
                <a:solidFill>
                  <a:srgbClr val="262626"/>
                </a:solidFill>
                <a:latin typeface="Arial" pitchFamily="34" charset="0"/>
                <a:ea typeface="Arial" pitchFamily="34" charset="-122"/>
                <a:cs typeface="Arial" pitchFamily="34" charset="-120"/>
              </a:rPr>
              <a:t>Exposing motives; boasting only in the cross</a:t>
            </a:r>
            <a:endParaRPr lang="en-US" sz="1200" dirty="0"/>
          </a:p>
        </p:txBody>
      </p:sp>
      <p:sp>
        <p:nvSpPr>
          <p:cNvPr id="15" name="Text 12"/>
          <p:cNvSpPr txBox="1"/>
          <p:nvPr/>
        </p:nvSpPr>
        <p:spPr>
          <a:xfrm>
            <a:off x="2220163" y="2962656"/>
            <a:ext cx="1324051"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vv.12–15</a:t>
            </a:r>
            <a:endParaRPr lang="en-US" sz="950" dirty="0"/>
          </a:p>
        </p:txBody>
      </p:sp>
      <p:sp>
        <p:nvSpPr>
          <p:cNvPr id="16" name="Shape 13"/>
          <p:cNvSpPr/>
          <p:nvPr/>
        </p:nvSpPr>
        <p:spPr>
          <a:xfrm>
            <a:off x="3626510" y="2121408"/>
            <a:ext cx="201168" cy="237744"/>
          </a:xfrm>
          <a:prstGeom prst="rightArrow">
            <a:avLst/>
          </a:prstGeom>
          <a:solidFill>
            <a:srgbClr val="6B7280"/>
          </a:solidFill>
          <a:ln w="12700">
            <a:solidFill>
              <a:srgbClr val="6B7280"/>
            </a:solidFill>
            <a:prstDash val="solid"/>
          </a:ln>
        </p:spPr>
      </p:sp>
      <p:sp>
        <p:nvSpPr>
          <p:cNvPr id="17" name="Shape 14"/>
          <p:cNvSpPr/>
          <p:nvPr/>
        </p:nvSpPr>
        <p:spPr>
          <a:xfrm>
            <a:off x="3836822" y="1188720"/>
            <a:ext cx="1470355" cy="2103120"/>
          </a:xfrm>
          <a:prstGeom prst="rect">
            <a:avLst/>
          </a:prstGeom>
          <a:solidFill>
            <a:srgbClr val="F2F6FC"/>
          </a:solidFill>
          <a:ln w="9525">
            <a:solidFill>
              <a:srgbClr val="D5DCEA"/>
            </a:solidFill>
            <a:prstDash val="solid"/>
          </a:ln>
        </p:spPr>
      </p:sp>
      <p:sp>
        <p:nvSpPr>
          <p:cNvPr id="18" name="Shape 15"/>
          <p:cNvSpPr/>
          <p:nvPr/>
        </p:nvSpPr>
        <p:spPr>
          <a:xfrm>
            <a:off x="3836822" y="1188720"/>
            <a:ext cx="1470355" cy="566928"/>
          </a:xfrm>
          <a:prstGeom prst="rect">
            <a:avLst/>
          </a:prstGeom>
          <a:solidFill>
            <a:srgbClr val="375623"/>
          </a:solidFill>
          <a:ln w="12700">
            <a:solidFill>
              <a:srgbClr val="375623"/>
            </a:solidFill>
            <a:prstDash val="solid"/>
          </a:ln>
        </p:spPr>
      </p:sp>
      <p:sp>
        <p:nvSpPr>
          <p:cNvPr id="19" name="Text 16"/>
          <p:cNvSpPr txBox="1"/>
          <p:nvPr/>
        </p:nvSpPr>
        <p:spPr>
          <a:xfrm>
            <a:off x="3891686" y="1188720"/>
            <a:ext cx="1360627"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Plainly</a:t>
            </a:r>
            <a:endParaRPr lang="en-US" sz="1150" dirty="0"/>
          </a:p>
        </p:txBody>
      </p:sp>
      <p:sp>
        <p:nvSpPr>
          <p:cNvPr id="20" name="Text 17"/>
          <p:cNvSpPr txBox="1"/>
          <p:nvPr/>
        </p:nvSpPr>
        <p:spPr>
          <a:xfrm>
            <a:off x="3928262" y="1828800"/>
            <a:ext cx="1287475" cy="1152144"/>
          </a:xfrm>
          <a:prstGeom prst="rect">
            <a:avLst/>
          </a:prstGeom>
          <a:noFill/>
          <a:ln/>
        </p:spPr>
        <p:txBody>
          <a:bodyPr wrap="square" lIns="0" tIns="0" rIns="0" bIns="0" rtlCol="0" anchor="t"/>
          <a:lstStyle/>
          <a:p>
            <a:pPr algn="ctr" indent="0" marL="0">
              <a:buNone/>
            </a:pPr>
            <a:r>
              <a:rPr lang="en-US" sz="1200" dirty="0">
                <a:solidFill>
                  <a:srgbClr val="262626"/>
                </a:solidFill>
                <a:latin typeface="Arial" pitchFamily="34" charset="0"/>
                <a:ea typeface="Arial" pitchFamily="34" charset="-122"/>
                <a:cs typeface="Arial" pitchFamily="34" charset="-120"/>
              </a:rPr>
              <a:t>Walk by this rule — peace and mercy</a:t>
            </a:r>
            <a:endParaRPr lang="en-US" sz="1200" dirty="0"/>
          </a:p>
        </p:txBody>
      </p:sp>
      <p:sp>
        <p:nvSpPr>
          <p:cNvPr id="21" name="Text 18"/>
          <p:cNvSpPr txBox="1"/>
          <p:nvPr/>
        </p:nvSpPr>
        <p:spPr>
          <a:xfrm>
            <a:off x="3909974" y="2962656"/>
            <a:ext cx="1324051"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v.16</a:t>
            </a:r>
            <a:endParaRPr lang="en-US" sz="950" dirty="0"/>
          </a:p>
        </p:txBody>
      </p:sp>
      <p:sp>
        <p:nvSpPr>
          <p:cNvPr id="22" name="Shape 19"/>
          <p:cNvSpPr/>
          <p:nvPr/>
        </p:nvSpPr>
        <p:spPr>
          <a:xfrm>
            <a:off x="5316322" y="2121408"/>
            <a:ext cx="201168" cy="237744"/>
          </a:xfrm>
          <a:prstGeom prst="rightArrow">
            <a:avLst/>
          </a:prstGeom>
          <a:solidFill>
            <a:srgbClr val="6B7280"/>
          </a:solidFill>
          <a:ln w="12700">
            <a:solidFill>
              <a:srgbClr val="6B7280"/>
            </a:solidFill>
            <a:prstDash val="solid"/>
          </a:ln>
        </p:spPr>
      </p:sp>
      <p:sp>
        <p:nvSpPr>
          <p:cNvPr id="23" name="Shape 20"/>
          <p:cNvSpPr/>
          <p:nvPr/>
        </p:nvSpPr>
        <p:spPr>
          <a:xfrm>
            <a:off x="5526634" y="1188720"/>
            <a:ext cx="1470355" cy="2103120"/>
          </a:xfrm>
          <a:prstGeom prst="rect">
            <a:avLst/>
          </a:prstGeom>
          <a:solidFill>
            <a:srgbClr val="F2F6FC"/>
          </a:solidFill>
          <a:ln w="9525">
            <a:solidFill>
              <a:srgbClr val="D5DCEA"/>
            </a:solidFill>
            <a:prstDash val="solid"/>
          </a:ln>
        </p:spPr>
      </p:sp>
      <p:sp>
        <p:nvSpPr>
          <p:cNvPr id="24" name="Shape 21"/>
          <p:cNvSpPr/>
          <p:nvPr/>
        </p:nvSpPr>
        <p:spPr>
          <a:xfrm>
            <a:off x="5526634" y="1188720"/>
            <a:ext cx="1470355" cy="566928"/>
          </a:xfrm>
          <a:prstGeom prst="rect">
            <a:avLst/>
          </a:prstGeom>
          <a:solidFill>
            <a:srgbClr val="6B7280"/>
          </a:solidFill>
          <a:ln w="12700">
            <a:solidFill>
              <a:srgbClr val="6B7280"/>
            </a:solidFill>
            <a:prstDash val="solid"/>
          </a:ln>
        </p:spPr>
      </p:sp>
      <p:sp>
        <p:nvSpPr>
          <p:cNvPr id="25" name="Text 22"/>
          <p:cNvSpPr txBox="1"/>
          <p:nvPr/>
        </p:nvSpPr>
        <p:spPr>
          <a:xfrm>
            <a:off x="5581498" y="1188720"/>
            <a:ext cx="1360627"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Positively</a:t>
            </a:r>
            <a:endParaRPr lang="en-US" sz="1150" dirty="0"/>
          </a:p>
        </p:txBody>
      </p:sp>
      <p:sp>
        <p:nvSpPr>
          <p:cNvPr id="26" name="Text 23"/>
          <p:cNvSpPr txBox="1"/>
          <p:nvPr/>
        </p:nvSpPr>
        <p:spPr>
          <a:xfrm>
            <a:off x="5618074" y="1828800"/>
            <a:ext cx="1287475" cy="1152144"/>
          </a:xfrm>
          <a:prstGeom prst="rect">
            <a:avLst/>
          </a:prstGeom>
          <a:noFill/>
          <a:ln/>
        </p:spPr>
        <p:txBody>
          <a:bodyPr wrap="square" lIns="0" tIns="0" rIns="0" bIns="0" rtlCol="0" anchor="t"/>
          <a:lstStyle/>
          <a:p>
            <a:pPr algn="ctr" indent="0" marL="0">
              <a:buNone/>
            </a:pPr>
            <a:r>
              <a:rPr lang="en-US" sz="1200" dirty="0">
                <a:solidFill>
                  <a:srgbClr val="262626"/>
                </a:solidFill>
                <a:latin typeface="Arial" pitchFamily="34" charset="0"/>
                <a:ea typeface="Arial" pitchFamily="34" charset="-122"/>
                <a:cs typeface="Arial" pitchFamily="34" charset="-120"/>
              </a:rPr>
              <a:t>The marks of the Lord Jesus</a:t>
            </a:r>
            <a:endParaRPr lang="en-US" sz="1200" dirty="0"/>
          </a:p>
        </p:txBody>
      </p:sp>
      <p:sp>
        <p:nvSpPr>
          <p:cNvPr id="27" name="Text 24"/>
          <p:cNvSpPr txBox="1"/>
          <p:nvPr/>
        </p:nvSpPr>
        <p:spPr>
          <a:xfrm>
            <a:off x="5599786" y="2962656"/>
            <a:ext cx="1324051"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v.17</a:t>
            </a:r>
            <a:endParaRPr lang="en-US" sz="950" dirty="0"/>
          </a:p>
        </p:txBody>
      </p:sp>
      <p:sp>
        <p:nvSpPr>
          <p:cNvPr id="28" name="Shape 25"/>
          <p:cNvSpPr/>
          <p:nvPr/>
        </p:nvSpPr>
        <p:spPr>
          <a:xfrm>
            <a:off x="7006133" y="2121408"/>
            <a:ext cx="201168" cy="237744"/>
          </a:xfrm>
          <a:prstGeom prst="rightArrow">
            <a:avLst/>
          </a:prstGeom>
          <a:solidFill>
            <a:srgbClr val="6B7280"/>
          </a:solidFill>
          <a:ln w="12700">
            <a:solidFill>
              <a:srgbClr val="6B7280"/>
            </a:solidFill>
            <a:prstDash val="solid"/>
          </a:ln>
        </p:spPr>
      </p:sp>
      <p:sp>
        <p:nvSpPr>
          <p:cNvPr id="29" name="Shape 26"/>
          <p:cNvSpPr/>
          <p:nvPr/>
        </p:nvSpPr>
        <p:spPr>
          <a:xfrm>
            <a:off x="7216445" y="1188720"/>
            <a:ext cx="1470355" cy="2103120"/>
          </a:xfrm>
          <a:prstGeom prst="rect">
            <a:avLst/>
          </a:prstGeom>
          <a:solidFill>
            <a:srgbClr val="F2F6FC"/>
          </a:solidFill>
          <a:ln w="9525">
            <a:solidFill>
              <a:srgbClr val="D5DCEA"/>
            </a:solidFill>
            <a:prstDash val="solid"/>
          </a:ln>
        </p:spPr>
      </p:sp>
      <p:sp>
        <p:nvSpPr>
          <p:cNvPr id="30" name="Shape 27"/>
          <p:cNvSpPr/>
          <p:nvPr/>
        </p:nvSpPr>
        <p:spPr>
          <a:xfrm>
            <a:off x="7216445" y="1188720"/>
            <a:ext cx="1470355" cy="566928"/>
          </a:xfrm>
          <a:prstGeom prst="rect">
            <a:avLst/>
          </a:prstGeom>
          <a:solidFill>
            <a:srgbClr val="1F3864"/>
          </a:solidFill>
          <a:ln w="12700">
            <a:solidFill>
              <a:srgbClr val="1F3864"/>
            </a:solidFill>
            <a:prstDash val="solid"/>
          </a:ln>
        </p:spPr>
      </p:sp>
      <p:sp>
        <p:nvSpPr>
          <p:cNvPr id="31" name="Text 28"/>
          <p:cNvSpPr txBox="1"/>
          <p:nvPr/>
        </p:nvSpPr>
        <p:spPr>
          <a:xfrm>
            <a:off x="7271309" y="1188720"/>
            <a:ext cx="1360627"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Personally</a:t>
            </a:r>
            <a:endParaRPr lang="en-US" sz="1150" dirty="0"/>
          </a:p>
        </p:txBody>
      </p:sp>
      <p:sp>
        <p:nvSpPr>
          <p:cNvPr id="32" name="Text 29"/>
          <p:cNvSpPr txBox="1"/>
          <p:nvPr/>
        </p:nvSpPr>
        <p:spPr>
          <a:xfrm>
            <a:off x="7307885" y="1828800"/>
            <a:ext cx="1287475" cy="1152144"/>
          </a:xfrm>
          <a:prstGeom prst="rect">
            <a:avLst/>
          </a:prstGeom>
          <a:noFill/>
          <a:ln/>
        </p:spPr>
        <p:txBody>
          <a:bodyPr wrap="square" lIns="0" tIns="0" rIns="0" bIns="0" rtlCol="0" anchor="t"/>
          <a:lstStyle/>
          <a:p>
            <a:pPr algn="ctr" indent="0" marL="0">
              <a:buNone/>
            </a:pPr>
            <a:r>
              <a:rPr lang="en-US" sz="1200" dirty="0">
                <a:solidFill>
                  <a:srgbClr val="262626"/>
                </a:solidFill>
                <a:latin typeface="Arial" pitchFamily="34" charset="0"/>
                <a:ea typeface="Arial" pitchFamily="34" charset="-122"/>
                <a:cs typeface="Arial" pitchFamily="34" charset="-120"/>
              </a:rPr>
              <a:t>Grace with your spirit, brethren</a:t>
            </a:r>
            <a:endParaRPr lang="en-US" sz="1200" dirty="0"/>
          </a:p>
        </p:txBody>
      </p:sp>
      <p:sp>
        <p:nvSpPr>
          <p:cNvPr id="33" name="Text 30"/>
          <p:cNvSpPr txBox="1"/>
          <p:nvPr/>
        </p:nvSpPr>
        <p:spPr>
          <a:xfrm>
            <a:off x="7289597" y="2962656"/>
            <a:ext cx="1324051"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v.18</a:t>
            </a:r>
            <a:endParaRPr lang="en-US" sz="950" dirty="0"/>
          </a:p>
        </p:txBody>
      </p:sp>
      <p:sp>
        <p:nvSpPr>
          <p:cNvPr id="34" name="Shape 31"/>
          <p:cNvSpPr/>
          <p:nvPr/>
        </p:nvSpPr>
        <p:spPr>
          <a:xfrm>
            <a:off x="457200" y="3611880"/>
            <a:ext cx="8229600" cy="548640"/>
          </a:xfrm>
          <a:prstGeom prst="roundRect">
            <a:avLst>
              <a:gd name="adj" fmla="val 10000"/>
            </a:avLst>
          </a:prstGeom>
          <a:solidFill>
            <a:srgbClr val="1F3864"/>
          </a:solidFill>
          <a:ln w="12700">
            <a:solidFill>
              <a:srgbClr val="1F3864"/>
            </a:solidFill>
            <a:prstDash val="solid"/>
          </a:ln>
        </p:spPr>
      </p:sp>
      <p:sp>
        <p:nvSpPr>
          <p:cNvPr id="35" name="Text 32"/>
          <p:cNvSpPr txBox="1"/>
          <p:nvPr/>
        </p:nvSpPr>
        <p:spPr>
          <a:xfrm>
            <a:off x="621792" y="3611880"/>
            <a:ext cx="7900416" cy="54864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Say what needs to be said, the way it needs to be said — without adding to the gospel or subtracting from it.</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Unseen motives and upper motives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6:12–15 · Outline II — Present the truth precisely</a:t>
            </a:r>
            <a:endParaRPr lang="en-US" sz="1200" dirty="0"/>
          </a:p>
        </p:txBody>
      </p:sp>
      <p:sp>
        <p:nvSpPr>
          <p:cNvPr id="5" name="Shape 2"/>
          <p:cNvSpPr/>
          <p:nvPr/>
        </p:nvSpPr>
        <p:spPr>
          <a:xfrm>
            <a:off x="457200" y="1143000"/>
            <a:ext cx="4023360" cy="411480"/>
          </a:xfrm>
          <a:prstGeom prst="rect">
            <a:avLst/>
          </a:prstGeom>
          <a:solidFill>
            <a:srgbClr val="6B7280"/>
          </a:solidFill>
          <a:ln w="12700">
            <a:solidFill>
              <a:srgbClr val="6B7280"/>
            </a:solidFill>
            <a:prstDash val="solid"/>
          </a:ln>
        </p:spPr>
      </p:sp>
      <p:sp>
        <p:nvSpPr>
          <p:cNvPr id="6" name="Text 3"/>
          <p:cNvSpPr txBox="1"/>
          <p:nvPr/>
        </p:nvSpPr>
        <p:spPr>
          <a:xfrm>
            <a:off x="548640" y="1188720"/>
            <a:ext cx="3840480" cy="32004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Their unseen motives — vv.12–13</a:t>
            </a:r>
            <a:endParaRPr lang="en-US" sz="1200" dirty="0"/>
          </a:p>
        </p:txBody>
      </p:sp>
      <p:sp>
        <p:nvSpPr>
          <p:cNvPr id="7" name="Shape 4"/>
          <p:cNvSpPr/>
          <p:nvPr/>
        </p:nvSpPr>
        <p:spPr>
          <a:xfrm>
            <a:off x="457200" y="1554480"/>
            <a:ext cx="4023360" cy="3063240"/>
          </a:xfrm>
          <a:prstGeom prst="rect">
            <a:avLst/>
          </a:prstGeom>
          <a:solidFill>
            <a:srgbClr val="F2F6FC"/>
          </a:solidFill>
          <a:ln w="9525">
            <a:solidFill>
              <a:srgbClr val="D5DCEA"/>
            </a:solidFill>
            <a:prstDash val="solid"/>
          </a:ln>
        </p:spPr>
      </p:sp>
      <p:sp>
        <p:nvSpPr>
          <p:cNvPr id="8" name="Text 5"/>
          <p:cNvSpPr txBox="1"/>
          <p:nvPr/>
        </p:nvSpPr>
        <p:spPr>
          <a:xfrm>
            <a:off x="548640" y="1627632"/>
            <a:ext cx="3840480" cy="2935224"/>
          </a:xfrm>
          <a:prstGeom prst="rect">
            <a:avLst/>
          </a:prstGeom>
          <a:noFill/>
          <a:ln/>
        </p:spPr>
        <p:txBody>
          <a:bodyPr wrap="square" lIns="0" tIns="0" rIns="0" bIns="0" rtlCol="0" anchor="t"/>
          <a:lstStyle/>
          <a:p>
            <a:pPr indent="0" marL="0">
              <a:buNone/>
            </a:pPr>
            <a:endParaRPr lang="en-US" sz="1300" dirty="0"/>
          </a:p>
        </p:txBody>
      </p:sp>
      <p:sp>
        <p:nvSpPr>
          <p:cNvPr id="9" name="Text 6"/>
          <p:cNvSpPr txBox="1"/>
          <p:nvPr/>
        </p:nvSpPr>
        <p:spPr>
          <a:xfrm>
            <a:off x="594360" y="1664208"/>
            <a:ext cx="3749040" cy="658368"/>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1. Approval of people</a:t>
            </a:r>
            <a:endParaRPr lang="en-US" sz="1200" dirty="0"/>
          </a:p>
          <a:p>
            <a:pPr indent="0" marL="0">
              <a:buNone/>
            </a:pPr>
            <a:r>
              <a:rPr lang="en-US" sz="1200" b="1" dirty="0">
                <a:solidFill>
                  <a:srgbClr val="7030A0"/>
                </a:solidFill>
                <a:latin typeface="Arial" pitchFamily="34" charset="0"/>
                <a:ea typeface="Arial" pitchFamily="34" charset="-122"/>
                <a:cs typeface="Arial" pitchFamily="34" charset="-120"/>
              </a:rPr>
              <a:t>εὐπροσωπῆσαι  </a:t>
            </a:r>
            <a:pPr indent="0" marL="0">
              <a:buNone/>
            </a:pPr>
            <a:r>
              <a:rPr lang="en-US" sz="1100" dirty="0">
                <a:solidFill>
                  <a:srgbClr val="262626"/>
                </a:solidFill>
                <a:latin typeface="Arial" pitchFamily="34" charset="0"/>
                <a:ea typeface="Arial" pitchFamily="34" charset="-122"/>
                <a:cs typeface="Arial" pitchFamily="34" charset="-120"/>
              </a:rPr>
              <a:t>a good showing in the flesh</a:t>
            </a:r>
            <a:endParaRPr lang="en-US" sz="1200" dirty="0"/>
          </a:p>
        </p:txBody>
      </p:sp>
      <p:sp>
        <p:nvSpPr>
          <p:cNvPr id="10" name="Text 7"/>
          <p:cNvSpPr txBox="1"/>
          <p:nvPr/>
        </p:nvSpPr>
        <p:spPr>
          <a:xfrm>
            <a:off x="594360" y="2395728"/>
            <a:ext cx="3749040" cy="658368"/>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2. Avoidance of persecution</a:t>
            </a:r>
            <a:endParaRPr lang="en-US" sz="1200" dirty="0"/>
          </a:p>
          <a:p>
            <a:pPr indent="0" marL="0">
              <a:buNone/>
            </a:pPr>
            <a:r>
              <a:rPr lang="en-US" sz="1200" b="1" dirty="0">
                <a:solidFill>
                  <a:srgbClr val="7030A0"/>
                </a:solidFill>
                <a:latin typeface="Arial" pitchFamily="34" charset="0"/>
                <a:ea typeface="Arial" pitchFamily="34" charset="-122"/>
                <a:cs typeface="Arial" pitchFamily="34" charset="-120"/>
              </a:rPr>
              <a:t>διώκωνται  </a:t>
            </a:r>
            <a:pPr indent="0" marL="0">
              <a:buNone/>
            </a:pPr>
            <a:r>
              <a:rPr lang="en-US" sz="1100" dirty="0">
                <a:solidFill>
                  <a:srgbClr val="262626"/>
                </a:solidFill>
                <a:latin typeface="Arial" pitchFamily="34" charset="0"/>
                <a:ea typeface="Arial" pitchFamily="34" charset="-122"/>
                <a:cs typeface="Arial" pitchFamily="34" charset="-120"/>
              </a:rPr>
              <a:t>for the cross of Christ</a:t>
            </a:r>
            <a:endParaRPr lang="en-US" sz="1200" dirty="0"/>
          </a:p>
        </p:txBody>
      </p:sp>
      <p:sp>
        <p:nvSpPr>
          <p:cNvPr id="11" name="Text 8"/>
          <p:cNvSpPr txBox="1"/>
          <p:nvPr/>
        </p:nvSpPr>
        <p:spPr>
          <a:xfrm>
            <a:off x="594360" y="3127248"/>
            <a:ext cx="3749040" cy="658368"/>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3. Appearance of perfection</a:t>
            </a:r>
            <a:endParaRPr lang="en-US" sz="1200" dirty="0"/>
          </a:p>
          <a:p>
            <a:pPr indent="0" marL="0">
              <a:buNone/>
            </a:pPr>
            <a:r>
              <a:rPr lang="en-US" sz="1100" dirty="0">
                <a:solidFill>
                  <a:srgbClr val="262626"/>
                </a:solidFill>
                <a:latin typeface="Arial" pitchFamily="34" charset="0"/>
                <a:ea typeface="Arial" pitchFamily="34" charset="-122"/>
                <a:cs typeface="Arial" pitchFamily="34" charset="-120"/>
              </a:rPr>
              <a:t>they don't keep the law themselves</a:t>
            </a:r>
            <a:endParaRPr lang="en-US" sz="1200" dirty="0"/>
          </a:p>
        </p:txBody>
      </p:sp>
      <p:sp>
        <p:nvSpPr>
          <p:cNvPr id="12" name="Text 9"/>
          <p:cNvSpPr txBox="1"/>
          <p:nvPr/>
        </p:nvSpPr>
        <p:spPr>
          <a:xfrm>
            <a:off x="594360" y="3858768"/>
            <a:ext cx="3749040" cy="658368"/>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4. Attitude of pride</a:t>
            </a:r>
            <a:endParaRPr lang="en-US" sz="1200" dirty="0"/>
          </a:p>
          <a:p>
            <a:pPr indent="0" marL="0">
              <a:buNone/>
            </a:pPr>
            <a:r>
              <a:rPr lang="en-US" sz="1200" b="1" dirty="0">
                <a:solidFill>
                  <a:srgbClr val="7030A0"/>
                </a:solidFill>
                <a:latin typeface="Arial" pitchFamily="34" charset="0"/>
                <a:ea typeface="Arial" pitchFamily="34" charset="-122"/>
                <a:cs typeface="Arial" pitchFamily="34" charset="-120"/>
              </a:rPr>
              <a:t>καυχήσωνται  </a:t>
            </a:r>
            <a:pPr indent="0" marL="0">
              <a:buNone/>
            </a:pPr>
            <a:r>
              <a:rPr lang="en-US" sz="1100" dirty="0">
                <a:solidFill>
                  <a:srgbClr val="262626"/>
                </a:solidFill>
                <a:latin typeface="Arial" pitchFamily="34" charset="0"/>
                <a:ea typeface="Arial" pitchFamily="34" charset="-122"/>
                <a:cs typeface="Arial" pitchFamily="34" charset="-120"/>
              </a:rPr>
              <a:t>boasting in your flesh</a:t>
            </a:r>
            <a:endParaRPr lang="en-US" sz="1200" dirty="0"/>
          </a:p>
        </p:txBody>
      </p:sp>
      <p:sp>
        <p:nvSpPr>
          <p:cNvPr id="13" name="Shape 10"/>
          <p:cNvSpPr/>
          <p:nvPr/>
        </p:nvSpPr>
        <p:spPr>
          <a:xfrm>
            <a:off x="4663440" y="1143000"/>
            <a:ext cx="4023360" cy="411480"/>
          </a:xfrm>
          <a:prstGeom prst="rect">
            <a:avLst/>
          </a:prstGeom>
          <a:solidFill>
            <a:srgbClr val="375623"/>
          </a:solidFill>
          <a:ln w="12700">
            <a:solidFill>
              <a:srgbClr val="375623"/>
            </a:solidFill>
            <a:prstDash val="solid"/>
          </a:ln>
        </p:spPr>
      </p:sp>
      <p:sp>
        <p:nvSpPr>
          <p:cNvPr id="14" name="Text 11"/>
          <p:cNvSpPr txBox="1"/>
          <p:nvPr/>
        </p:nvSpPr>
        <p:spPr>
          <a:xfrm>
            <a:off x="4754880" y="1188720"/>
            <a:ext cx="3840480" cy="32004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Paul's upper motives — vv.14–15</a:t>
            </a:r>
            <a:endParaRPr lang="en-US" sz="1200" dirty="0"/>
          </a:p>
        </p:txBody>
      </p:sp>
      <p:sp>
        <p:nvSpPr>
          <p:cNvPr id="15" name="Shape 12"/>
          <p:cNvSpPr/>
          <p:nvPr/>
        </p:nvSpPr>
        <p:spPr>
          <a:xfrm>
            <a:off x="4663440" y="1554480"/>
            <a:ext cx="4023360" cy="3063240"/>
          </a:xfrm>
          <a:prstGeom prst="rect">
            <a:avLst/>
          </a:prstGeom>
          <a:solidFill>
            <a:srgbClr val="F2F6FC"/>
          </a:solidFill>
          <a:ln w="9525">
            <a:solidFill>
              <a:srgbClr val="D5DCEA"/>
            </a:solidFill>
            <a:prstDash val="solid"/>
          </a:ln>
        </p:spPr>
      </p:sp>
      <p:sp>
        <p:nvSpPr>
          <p:cNvPr id="16" name="Text 13"/>
          <p:cNvSpPr txBox="1"/>
          <p:nvPr/>
        </p:nvSpPr>
        <p:spPr>
          <a:xfrm>
            <a:off x="4754880" y="1627632"/>
            <a:ext cx="3840480" cy="2935224"/>
          </a:xfrm>
          <a:prstGeom prst="rect">
            <a:avLst/>
          </a:prstGeom>
          <a:noFill/>
          <a:ln/>
        </p:spPr>
        <p:txBody>
          <a:bodyPr wrap="square" lIns="0" tIns="0" rIns="0" bIns="0" rtlCol="0" anchor="t"/>
          <a:lstStyle/>
          <a:p>
            <a:pPr indent="0" marL="0">
              <a:buNone/>
            </a:pPr>
            <a:endParaRPr lang="en-US" sz="1300" dirty="0"/>
          </a:p>
        </p:txBody>
      </p:sp>
      <p:sp>
        <p:nvSpPr>
          <p:cNvPr id="17" name="Text 14"/>
          <p:cNvSpPr txBox="1"/>
          <p:nvPr/>
        </p:nvSpPr>
        <p:spPr>
          <a:xfrm>
            <a:off x="4800600" y="1664208"/>
            <a:ext cx="3749040" cy="2834640"/>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1. The cross — v.14</a:t>
            </a:r>
            <a:endParaRPr lang="en-US" sz="1200" dirty="0"/>
          </a:p>
          <a:p>
            <a:pPr indent="0" marL="0">
              <a:buNone/>
            </a:pPr>
            <a:r>
              <a:rPr lang="en-US" sz="1150" dirty="0">
                <a:solidFill>
                  <a:srgbClr val="262626"/>
                </a:solidFill>
                <a:latin typeface="Arial" pitchFamily="34" charset="0"/>
                <a:ea typeface="Arial" pitchFamily="34" charset="-122"/>
                <a:cs typeface="Arial" pitchFamily="34" charset="-120"/>
              </a:rPr>
              <a:t>“God forbid that I should boast except in the cross”</a:t>
            </a:r>
            <a:endParaRPr lang="en-US" sz="1200" dirty="0"/>
          </a:p>
          <a:p>
            <a:pPr indent="0" marL="0">
              <a:buNone/>
            </a:pPr>
            <a:r>
              <a:rPr lang="en-US" sz="1300" b="1" dirty="0">
                <a:solidFill>
                  <a:srgbClr val="7030A0"/>
                </a:solidFill>
                <a:latin typeface="Arial" pitchFamily="34" charset="0"/>
                <a:ea typeface="Arial" pitchFamily="34" charset="-122"/>
                <a:cs typeface="Arial" pitchFamily="34" charset="-120"/>
              </a:rPr>
              <a:t>ἐσταύρωται</a:t>
            </a:r>
            <a:pPr indent="0" marL="0">
              <a:buNone/>
            </a:pPr>
            <a:r>
              <a:rPr lang="en-US" sz="1050" dirty="0">
                <a:solidFill>
                  <a:srgbClr val="595959"/>
                </a:solidFill>
                <a:latin typeface="Arial" pitchFamily="34" charset="0"/>
                <a:ea typeface="Arial" pitchFamily="34" charset="-122"/>
                <a:cs typeface="Arial" pitchFamily="34" charset="-120"/>
              </a:rPr>
              <a:t>  Perf. — the world crucified to me, and I to the world</a:t>
            </a:r>
            <a:endParaRPr lang="en-US" sz="1200" dirty="0"/>
          </a:p>
          <a:p>
            <a:pPr indent="0" marL="0">
              <a:buNone/>
            </a:pPr>
            <a:r>
              <a:rPr lang="en-US" sz="800" dirty="0">
                <a:solidFill>
                  <a:srgbClr val="262626"/>
                </a:solidFill>
                <a:latin typeface="Arial" pitchFamily="34" charset="0"/>
                <a:ea typeface="Arial" pitchFamily="34" charset="-122"/>
                <a:cs typeface="Arial" pitchFamily="34" charset="-120"/>
              </a:rPr>
              <a:t> </a:t>
            </a:r>
            <a:endParaRPr lang="en-US" sz="1200" dirty="0"/>
          </a:p>
          <a:p>
            <a:pPr indent="0" marL="0">
              <a:buNone/>
            </a:pPr>
            <a:r>
              <a:rPr lang="en-US" sz="1250" b="1" dirty="0">
                <a:solidFill>
                  <a:srgbClr val="1F3864"/>
                </a:solidFill>
                <a:latin typeface="Arial" pitchFamily="34" charset="0"/>
                <a:ea typeface="Arial" pitchFamily="34" charset="-122"/>
                <a:cs typeface="Arial" pitchFamily="34" charset="-120"/>
              </a:rPr>
              <a:t>2. Christ — v.15</a:t>
            </a:r>
            <a:endParaRPr lang="en-US" sz="1200" dirty="0"/>
          </a:p>
          <a:p>
            <a:pPr indent="0" marL="0">
              <a:buNone/>
            </a:pPr>
            <a:r>
              <a:rPr lang="en-US" sz="1150" dirty="0">
                <a:solidFill>
                  <a:srgbClr val="262626"/>
                </a:solidFill>
                <a:latin typeface="Arial" pitchFamily="34" charset="0"/>
                <a:ea typeface="Arial" pitchFamily="34" charset="-122"/>
                <a:cs typeface="Arial" pitchFamily="34" charset="-120"/>
              </a:rPr>
              <a:t>Neither circumcision nor uncircumcision avails anything</a:t>
            </a:r>
            <a:endParaRPr lang="en-US" sz="1200" dirty="0"/>
          </a:p>
          <a:p>
            <a:pPr indent="0" marL="0">
              <a:buNone/>
            </a:pPr>
            <a:r>
              <a:rPr lang="en-US" sz="1300" b="1" dirty="0">
                <a:solidFill>
                  <a:srgbClr val="7030A0"/>
                </a:solidFill>
                <a:latin typeface="Arial" pitchFamily="34" charset="0"/>
                <a:ea typeface="Arial" pitchFamily="34" charset="-122"/>
                <a:cs typeface="Arial" pitchFamily="34" charset="-120"/>
              </a:rPr>
              <a:t>καινὴ κτίσις</a:t>
            </a:r>
            <a:pPr indent="0" marL="0">
              <a:buNone/>
            </a:pPr>
            <a:r>
              <a:rPr lang="en-US" sz="1050" dirty="0">
                <a:solidFill>
                  <a:srgbClr val="595959"/>
                </a:solidFill>
                <a:latin typeface="Arial" pitchFamily="34" charset="0"/>
                <a:ea typeface="Arial" pitchFamily="34" charset="-122"/>
                <a:cs typeface="Arial" pitchFamily="34" charset="-120"/>
              </a:rPr>
              <a:t>  a new creation — new in kind</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114</a:t>
            </a:fld>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Large letters and lasting marks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6:11, 17 · Outline I and IV — Persuasively and positively</a:t>
            </a:r>
            <a:endParaRPr lang="en-US" sz="1200" dirty="0"/>
          </a:p>
        </p:txBody>
      </p:sp>
      <p:sp>
        <p:nvSpPr>
          <p:cNvPr id="5" name="Shape 2"/>
          <p:cNvSpPr/>
          <p:nvPr/>
        </p:nvSpPr>
        <p:spPr>
          <a:xfrm>
            <a:off x="457200" y="1143000"/>
            <a:ext cx="4023360" cy="566928"/>
          </a:xfrm>
          <a:prstGeom prst="rect">
            <a:avLst/>
          </a:prstGeom>
          <a:solidFill>
            <a:srgbClr val="2E5496"/>
          </a:solidFill>
          <a:ln w="12700">
            <a:solidFill>
              <a:srgbClr val="2E5496"/>
            </a:solidFill>
            <a:prstDash val="solid"/>
          </a:ln>
        </p:spPr>
      </p:sp>
      <p:sp>
        <p:nvSpPr>
          <p:cNvPr id="6" name="Text 3"/>
          <p:cNvSpPr txBox="1"/>
          <p:nvPr/>
        </p:nvSpPr>
        <p:spPr>
          <a:xfrm>
            <a:off x="548640" y="1188720"/>
            <a:ext cx="3840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Persuasively — v.11</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πηλίκοις γράμμασιν</a:t>
            </a:r>
            <a:pPr indent="0" marL="0">
              <a:buNone/>
            </a:pPr>
            <a:r>
              <a:rPr lang="en-US" sz="850" dirty="0">
                <a:solidFill>
                  <a:srgbClr val="DCE4F2"/>
                </a:solidFill>
                <a:latin typeface="Arial" pitchFamily="34" charset="0"/>
                <a:ea typeface="Arial" pitchFamily="34" charset="-122"/>
                <a:cs typeface="Arial" pitchFamily="34" charset="-120"/>
              </a:rPr>
              <a:t>  with how large letters</a:t>
            </a:r>
            <a:endParaRPr lang="en-US" sz="1200" dirty="0"/>
          </a:p>
        </p:txBody>
      </p:sp>
      <p:sp>
        <p:nvSpPr>
          <p:cNvPr id="7" name="Shape 4"/>
          <p:cNvSpPr/>
          <p:nvPr/>
        </p:nvSpPr>
        <p:spPr>
          <a:xfrm>
            <a:off x="457200" y="1709928"/>
            <a:ext cx="4023360" cy="2267712"/>
          </a:xfrm>
          <a:prstGeom prst="rect">
            <a:avLst/>
          </a:prstGeom>
          <a:solidFill>
            <a:srgbClr val="F2F6FC"/>
          </a:solidFill>
          <a:ln w="9525">
            <a:solidFill>
              <a:srgbClr val="D5DCEA"/>
            </a:solidFill>
            <a:prstDash val="solid"/>
          </a:ln>
        </p:spPr>
      </p:sp>
      <p:sp>
        <p:nvSpPr>
          <p:cNvPr id="8" name="Text 5"/>
          <p:cNvSpPr txBox="1"/>
          <p:nvPr/>
        </p:nvSpPr>
        <p:spPr>
          <a:xfrm>
            <a:off x="548640" y="1783080"/>
            <a:ext cx="3840480" cy="2139696"/>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Paul took the pen from his secretary</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A visible, forceful final emphasis</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Truth presented with weight, not indifference</a:t>
            </a:r>
            <a:endParaRPr lang="en-US" sz="1300" dirty="0"/>
          </a:p>
        </p:txBody>
      </p:sp>
      <p:sp>
        <p:nvSpPr>
          <p:cNvPr id="9" name="Shape 6"/>
          <p:cNvSpPr/>
          <p:nvPr/>
        </p:nvSpPr>
        <p:spPr>
          <a:xfrm>
            <a:off x="4663440" y="1143000"/>
            <a:ext cx="4023360" cy="566928"/>
          </a:xfrm>
          <a:prstGeom prst="rect">
            <a:avLst/>
          </a:prstGeom>
          <a:solidFill>
            <a:srgbClr val="6B7280"/>
          </a:solidFill>
          <a:ln w="12700">
            <a:solidFill>
              <a:srgbClr val="6B7280"/>
            </a:solidFill>
            <a:prstDash val="solid"/>
          </a:ln>
        </p:spPr>
      </p:sp>
      <p:sp>
        <p:nvSpPr>
          <p:cNvPr id="10" name="Text 7"/>
          <p:cNvSpPr txBox="1"/>
          <p:nvPr/>
        </p:nvSpPr>
        <p:spPr>
          <a:xfrm>
            <a:off x="4754880" y="1188720"/>
            <a:ext cx="3840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Positively — v.17</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στίγματα</a:t>
            </a:r>
            <a:pPr indent="0" marL="0">
              <a:buNone/>
            </a:pPr>
            <a:r>
              <a:rPr lang="en-US" sz="850" dirty="0">
                <a:solidFill>
                  <a:srgbClr val="DCE4F2"/>
                </a:solidFill>
                <a:latin typeface="Arial" pitchFamily="34" charset="0"/>
                <a:ea typeface="Arial" pitchFamily="34" charset="-122"/>
                <a:cs typeface="Arial" pitchFamily="34" charset="-120"/>
              </a:rPr>
              <a:t>  brand-marks of ownership</a:t>
            </a:r>
            <a:endParaRPr lang="en-US" sz="1200" dirty="0"/>
          </a:p>
        </p:txBody>
      </p:sp>
      <p:sp>
        <p:nvSpPr>
          <p:cNvPr id="11" name="Shape 8"/>
          <p:cNvSpPr/>
          <p:nvPr/>
        </p:nvSpPr>
        <p:spPr>
          <a:xfrm>
            <a:off x="4663440" y="1709928"/>
            <a:ext cx="4023360" cy="2267712"/>
          </a:xfrm>
          <a:prstGeom prst="rect">
            <a:avLst/>
          </a:prstGeom>
          <a:solidFill>
            <a:srgbClr val="F2F6FC"/>
          </a:solidFill>
          <a:ln w="9525">
            <a:solidFill>
              <a:srgbClr val="D5DCEA"/>
            </a:solidFill>
            <a:prstDash val="solid"/>
          </a:ln>
        </p:spPr>
      </p:sp>
      <p:sp>
        <p:nvSpPr>
          <p:cNvPr id="12" name="Text 9"/>
          <p:cNvSpPr txBox="1"/>
          <p:nvPr/>
        </p:nvSpPr>
        <p:spPr>
          <a:xfrm>
            <a:off x="4754880" y="1783080"/>
            <a:ext cx="3840480" cy="2139696"/>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Not mystical “stigmata”</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Real scars from stoning and beatings</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Proof of his dedication — let no one trouble me</a:t>
            </a:r>
            <a:endParaRPr lang="en-US" sz="1300" dirty="0"/>
          </a:p>
        </p:txBody>
      </p:sp>
      <p:sp>
        <p:nvSpPr>
          <p:cNvPr id="13" name="Shape 10"/>
          <p:cNvSpPr/>
          <p:nvPr/>
        </p:nvSpPr>
        <p:spPr>
          <a:xfrm>
            <a:off x="457200" y="4160520"/>
            <a:ext cx="8229600" cy="457200"/>
          </a:xfrm>
          <a:prstGeom prst="roundRect">
            <a:avLst>
              <a:gd name="adj" fmla="val 12000"/>
            </a:avLst>
          </a:prstGeom>
          <a:solidFill>
            <a:srgbClr val="1F3864"/>
          </a:solidFill>
          <a:ln w="12700">
            <a:solidFill>
              <a:srgbClr val="1F3864"/>
            </a:solidFill>
            <a:prstDash val="solid"/>
          </a:ln>
        </p:spPr>
      </p:sp>
      <p:sp>
        <p:nvSpPr>
          <p:cNvPr id="14" name="Text 11"/>
          <p:cNvSpPr txBox="1"/>
          <p:nvPr/>
        </p:nvSpPr>
        <p:spPr>
          <a:xfrm>
            <a:off x="621792" y="4160520"/>
            <a:ext cx="7900416" cy="45720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You think I'm not dedicated? These marks say otherwise — I belong to the Lord Jesus.</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115</a:t>
            </a:fld>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Peace and mercy — on whom?</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6:16 · Outline III — Present the truth plainly</a:t>
            </a:r>
            <a:endParaRPr lang="en-US" sz="1200" dirty="0"/>
          </a:p>
        </p:txBody>
      </p:sp>
      <p:sp>
        <p:nvSpPr>
          <p:cNvPr id="5" name="Shape 2"/>
          <p:cNvSpPr/>
          <p:nvPr/>
        </p:nvSpPr>
        <p:spPr>
          <a:xfrm>
            <a:off x="457200" y="1143000"/>
            <a:ext cx="777240" cy="713232"/>
          </a:xfrm>
          <a:prstGeom prst="rect">
            <a:avLst/>
          </a:prstGeom>
          <a:solidFill>
            <a:srgbClr val="2E5496"/>
          </a:solidFill>
          <a:ln w="12700">
            <a:solidFill>
              <a:srgbClr val="2E5496"/>
            </a:solidFill>
            <a:prstDash val="solid"/>
          </a:ln>
        </p:spPr>
      </p:sp>
      <p:sp>
        <p:nvSpPr>
          <p:cNvPr id="6" name="Text 3"/>
          <p:cNvSpPr txBox="1"/>
          <p:nvPr/>
        </p:nvSpPr>
        <p:spPr>
          <a:xfrm>
            <a:off x="457200" y="1143000"/>
            <a:ext cx="777240" cy="71323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v.16a</a:t>
            </a:r>
            <a:endParaRPr lang="en-US" sz="1100" dirty="0"/>
          </a:p>
        </p:txBody>
      </p:sp>
      <p:sp>
        <p:nvSpPr>
          <p:cNvPr id="7" name="Shape 4"/>
          <p:cNvSpPr/>
          <p:nvPr/>
        </p:nvSpPr>
        <p:spPr>
          <a:xfrm>
            <a:off x="1234440" y="1143000"/>
            <a:ext cx="7452360" cy="713232"/>
          </a:xfrm>
          <a:prstGeom prst="rect">
            <a:avLst/>
          </a:prstGeom>
          <a:solidFill>
            <a:srgbClr val="F2F6FC"/>
          </a:solidFill>
          <a:ln w="9525">
            <a:solidFill>
              <a:srgbClr val="D5DCEA"/>
            </a:solidFill>
            <a:prstDash val="solid"/>
          </a:ln>
        </p:spPr>
      </p:sp>
      <p:sp>
        <p:nvSpPr>
          <p:cNvPr id="8" name="Text 5"/>
          <p:cNvSpPr txBox="1"/>
          <p:nvPr/>
        </p:nvSpPr>
        <p:spPr>
          <a:xfrm>
            <a:off x="1344168" y="1143000"/>
            <a:ext cx="4572000" cy="713232"/>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“As many as walk according to this rule” — grace, plus not one thing</a:t>
            </a:r>
            <a:endParaRPr lang="en-US" sz="1200" dirty="0"/>
          </a:p>
        </p:txBody>
      </p:sp>
      <p:sp>
        <p:nvSpPr>
          <p:cNvPr id="9" name="Text 6"/>
          <p:cNvSpPr txBox="1"/>
          <p:nvPr/>
        </p:nvSpPr>
        <p:spPr>
          <a:xfrm>
            <a:off x="5989320" y="1143000"/>
            <a:ext cx="2606040" cy="713232"/>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κανόνι</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a measuring rod — “canon”</a:t>
            </a:r>
            <a:endParaRPr lang="en-US" sz="1200" dirty="0"/>
          </a:p>
        </p:txBody>
      </p:sp>
      <p:sp>
        <p:nvSpPr>
          <p:cNvPr id="10" name="Shape 7"/>
          <p:cNvSpPr/>
          <p:nvPr/>
        </p:nvSpPr>
        <p:spPr>
          <a:xfrm>
            <a:off x="457200" y="1947672"/>
            <a:ext cx="777240" cy="713232"/>
          </a:xfrm>
          <a:prstGeom prst="rect">
            <a:avLst/>
          </a:prstGeom>
          <a:solidFill>
            <a:srgbClr val="375623"/>
          </a:solidFill>
          <a:ln w="12700">
            <a:solidFill>
              <a:srgbClr val="375623"/>
            </a:solidFill>
            <a:prstDash val="solid"/>
          </a:ln>
        </p:spPr>
      </p:sp>
      <p:sp>
        <p:nvSpPr>
          <p:cNvPr id="11" name="Text 8"/>
          <p:cNvSpPr txBox="1"/>
          <p:nvPr/>
        </p:nvSpPr>
        <p:spPr>
          <a:xfrm>
            <a:off x="457200" y="1947672"/>
            <a:ext cx="777240" cy="71323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v.16b</a:t>
            </a:r>
            <a:endParaRPr lang="en-US" sz="1100" dirty="0"/>
          </a:p>
        </p:txBody>
      </p:sp>
      <p:sp>
        <p:nvSpPr>
          <p:cNvPr id="12" name="Shape 9"/>
          <p:cNvSpPr/>
          <p:nvPr/>
        </p:nvSpPr>
        <p:spPr>
          <a:xfrm>
            <a:off x="1234440" y="1947672"/>
            <a:ext cx="7452360" cy="713232"/>
          </a:xfrm>
          <a:prstGeom prst="rect">
            <a:avLst/>
          </a:prstGeom>
          <a:solidFill>
            <a:srgbClr val="FFFFFF"/>
          </a:solidFill>
          <a:ln w="9525">
            <a:solidFill>
              <a:srgbClr val="D5DCEA"/>
            </a:solidFill>
            <a:prstDash val="solid"/>
          </a:ln>
        </p:spPr>
      </p:sp>
      <p:sp>
        <p:nvSpPr>
          <p:cNvPr id="13" name="Text 10"/>
          <p:cNvSpPr txBox="1"/>
          <p:nvPr/>
        </p:nvSpPr>
        <p:spPr>
          <a:xfrm>
            <a:off x="1344168" y="1947672"/>
            <a:ext cx="4572000" cy="713232"/>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“peace and mercy be upon them” — the curse of 1:8–9 replaced by peace</a:t>
            </a:r>
            <a:endParaRPr lang="en-US" sz="1200" dirty="0"/>
          </a:p>
        </p:txBody>
      </p:sp>
      <p:sp>
        <p:nvSpPr>
          <p:cNvPr id="14" name="Text 11"/>
          <p:cNvSpPr txBox="1"/>
          <p:nvPr/>
        </p:nvSpPr>
        <p:spPr>
          <a:xfrm>
            <a:off x="5989320" y="1947672"/>
            <a:ext cx="2606040" cy="713232"/>
          </a:xfrm>
          <a:prstGeom prst="rect">
            <a:avLst/>
          </a:prstGeom>
          <a:noFill/>
          <a:ln/>
        </p:spPr>
        <p:txBody>
          <a:bodyPr wrap="square" lIns="0" tIns="0" rIns="0" bIns="0" rtlCol="0" anchor="ctr"/>
          <a:lstStyle/>
          <a:p>
            <a:pPr indent="0" marL="0">
              <a:buNone/>
            </a:pPr>
            <a:r>
              <a:rPr lang="en-US" sz="950" dirty="0">
                <a:solidFill>
                  <a:srgbClr val="595959"/>
                </a:solidFill>
                <a:latin typeface="Arial" pitchFamily="34" charset="0"/>
                <a:ea typeface="Arial" pitchFamily="34" charset="-122"/>
                <a:cs typeface="Arial" pitchFamily="34" charset="-120"/>
              </a:rPr>
              <a:t>accepted on what Christ has done</a:t>
            </a:r>
            <a:endParaRPr lang="en-US" sz="1200" dirty="0"/>
          </a:p>
        </p:txBody>
      </p:sp>
      <p:sp>
        <p:nvSpPr>
          <p:cNvPr id="15" name="Shape 12"/>
          <p:cNvSpPr/>
          <p:nvPr/>
        </p:nvSpPr>
        <p:spPr>
          <a:xfrm>
            <a:off x="457200" y="2752344"/>
            <a:ext cx="777240" cy="713232"/>
          </a:xfrm>
          <a:prstGeom prst="rect">
            <a:avLst/>
          </a:prstGeom>
          <a:solidFill>
            <a:srgbClr val="7030A0"/>
          </a:solidFill>
          <a:ln w="12700">
            <a:solidFill>
              <a:srgbClr val="7030A0"/>
            </a:solidFill>
            <a:prstDash val="solid"/>
          </a:ln>
        </p:spPr>
      </p:sp>
      <p:sp>
        <p:nvSpPr>
          <p:cNvPr id="16" name="Text 13"/>
          <p:cNvSpPr txBox="1"/>
          <p:nvPr/>
        </p:nvSpPr>
        <p:spPr>
          <a:xfrm>
            <a:off x="457200" y="2752344"/>
            <a:ext cx="777240" cy="71323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v.16c</a:t>
            </a:r>
            <a:endParaRPr lang="en-US" sz="1100" dirty="0"/>
          </a:p>
        </p:txBody>
      </p:sp>
      <p:sp>
        <p:nvSpPr>
          <p:cNvPr id="17" name="Shape 14"/>
          <p:cNvSpPr/>
          <p:nvPr/>
        </p:nvSpPr>
        <p:spPr>
          <a:xfrm>
            <a:off x="1234440" y="2752344"/>
            <a:ext cx="7452360" cy="713232"/>
          </a:xfrm>
          <a:prstGeom prst="rect">
            <a:avLst/>
          </a:prstGeom>
          <a:solidFill>
            <a:srgbClr val="F2F6FC"/>
          </a:solidFill>
          <a:ln w="9525">
            <a:solidFill>
              <a:srgbClr val="D5DCEA"/>
            </a:solidFill>
            <a:prstDash val="solid"/>
          </a:ln>
        </p:spPr>
      </p:sp>
      <p:sp>
        <p:nvSpPr>
          <p:cNvPr id="18" name="Text 15"/>
          <p:cNvSpPr txBox="1"/>
          <p:nvPr/>
        </p:nvSpPr>
        <p:spPr>
          <a:xfrm>
            <a:off x="1344168" y="2752344"/>
            <a:ext cx="4572000" cy="713232"/>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“and upon the Israel of God” — believing Jews among them</a:t>
            </a:r>
            <a:endParaRPr lang="en-US" sz="1200" dirty="0"/>
          </a:p>
        </p:txBody>
      </p:sp>
      <p:sp>
        <p:nvSpPr>
          <p:cNvPr id="19" name="Text 16"/>
          <p:cNvSpPr txBox="1"/>
          <p:nvPr/>
        </p:nvSpPr>
        <p:spPr>
          <a:xfrm>
            <a:off x="5989320" y="2752344"/>
            <a:ext cx="2606040" cy="713232"/>
          </a:xfrm>
          <a:prstGeom prst="rect">
            <a:avLst/>
          </a:prstGeom>
          <a:noFill/>
          <a:ln/>
        </p:spPr>
        <p:txBody>
          <a:bodyPr wrap="square" lIns="0" tIns="0" rIns="0" bIns="0" rtlCol="0" anchor="ctr"/>
          <a:lstStyle/>
          <a:p>
            <a:pPr indent="0" marL="0">
              <a:buNone/>
            </a:pPr>
            <a:r>
              <a:rPr lang="en-US" sz="950" dirty="0">
                <a:solidFill>
                  <a:srgbClr val="595959"/>
                </a:solidFill>
                <a:latin typeface="Arial" pitchFamily="34" charset="0"/>
                <a:ea typeface="Arial" pitchFamily="34" charset="-122"/>
                <a:cs typeface="Arial" pitchFamily="34" charset="-120"/>
              </a:rPr>
              <a:t>not the church renamed Israel</a:t>
            </a:r>
            <a:endParaRPr lang="en-US" sz="1200" dirty="0"/>
          </a:p>
        </p:txBody>
      </p:sp>
      <p:sp>
        <p:nvSpPr>
          <p:cNvPr id="20" name="Shape 17"/>
          <p:cNvSpPr/>
          <p:nvPr/>
        </p:nvSpPr>
        <p:spPr>
          <a:xfrm>
            <a:off x="457200" y="3840480"/>
            <a:ext cx="8229600" cy="548640"/>
          </a:xfrm>
          <a:prstGeom prst="roundRect">
            <a:avLst>
              <a:gd name="adj" fmla="val 10000"/>
            </a:avLst>
          </a:prstGeom>
          <a:solidFill>
            <a:srgbClr val="1F3864"/>
          </a:solidFill>
          <a:ln w="12700">
            <a:solidFill>
              <a:srgbClr val="1F3864"/>
            </a:solidFill>
            <a:prstDash val="solid"/>
          </a:ln>
        </p:spPr>
      </p:sp>
      <p:sp>
        <p:nvSpPr>
          <p:cNvPr id="21" name="Text 18"/>
          <p:cNvSpPr txBox="1"/>
          <p:nvPr/>
        </p:nvSpPr>
        <p:spPr>
          <a:xfrm>
            <a:off x="621792" y="3840480"/>
            <a:ext cx="7900416" cy="54864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We are accepted by God never more, and never less, than the moment we first believed.</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116</a:t>
            </a:fld>
            <a:endParaRPr 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Grace first, grace last</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1:3 and 6:18 · Outline V — Present the truth personally</a:t>
            </a:r>
            <a:endParaRPr lang="en-US" sz="1200" dirty="0"/>
          </a:p>
        </p:txBody>
      </p:sp>
      <p:sp>
        <p:nvSpPr>
          <p:cNvPr id="5" name="Shape 2"/>
          <p:cNvSpPr/>
          <p:nvPr/>
        </p:nvSpPr>
        <p:spPr>
          <a:xfrm>
            <a:off x="457200" y="1188720"/>
            <a:ext cx="1892808" cy="2240280"/>
          </a:xfrm>
          <a:prstGeom prst="rect">
            <a:avLst/>
          </a:prstGeom>
          <a:solidFill>
            <a:srgbClr val="F2F6FC"/>
          </a:solidFill>
          <a:ln w="9525">
            <a:solidFill>
              <a:srgbClr val="D5DCEA"/>
            </a:solidFill>
            <a:prstDash val="solid"/>
          </a:ln>
        </p:spPr>
      </p:sp>
      <p:sp>
        <p:nvSpPr>
          <p:cNvPr id="6" name="Shape 3"/>
          <p:cNvSpPr/>
          <p:nvPr/>
        </p:nvSpPr>
        <p:spPr>
          <a:xfrm>
            <a:off x="457200" y="1188720"/>
            <a:ext cx="1892808" cy="566928"/>
          </a:xfrm>
          <a:prstGeom prst="rect">
            <a:avLst/>
          </a:prstGeom>
          <a:solidFill>
            <a:srgbClr val="375623"/>
          </a:solidFill>
          <a:ln w="12700">
            <a:solidFill>
              <a:srgbClr val="375623"/>
            </a:solidFill>
            <a:prstDash val="solid"/>
          </a:ln>
        </p:spPr>
      </p:sp>
      <p:sp>
        <p:nvSpPr>
          <p:cNvPr id="7" name="Text 4"/>
          <p:cNvSpPr txBox="1"/>
          <p:nvPr/>
        </p:nvSpPr>
        <p:spPr>
          <a:xfrm>
            <a:off x="512064" y="1188720"/>
            <a:ext cx="1783080"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1:3</a:t>
            </a:r>
            <a:endParaRPr lang="en-US" sz="1150" dirty="0"/>
          </a:p>
        </p:txBody>
      </p:sp>
      <p:sp>
        <p:nvSpPr>
          <p:cNvPr id="8" name="Text 5"/>
          <p:cNvSpPr txBox="1"/>
          <p:nvPr/>
        </p:nvSpPr>
        <p:spPr>
          <a:xfrm>
            <a:off x="548640" y="1828800"/>
            <a:ext cx="1709928" cy="1289304"/>
          </a:xfrm>
          <a:prstGeom prst="rect">
            <a:avLst/>
          </a:prstGeom>
          <a:noFill/>
          <a:ln/>
        </p:spPr>
        <p:txBody>
          <a:bodyPr wrap="square" lIns="0" tIns="0" rIns="0" bIns="0" rtlCol="0" anchor="t"/>
          <a:lstStyle/>
          <a:p>
            <a:pPr algn="ctr" indent="0" marL="0">
              <a:buNone/>
            </a:pPr>
            <a:r>
              <a:rPr lang="en-US" sz="1250" b="1" dirty="0">
                <a:solidFill>
                  <a:srgbClr val="7030A0"/>
                </a:solidFill>
                <a:latin typeface="Arial" pitchFamily="34" charset="0"/>
                <a:ea typeface="Arial" pitchFamily="34" charset="-122"/>
                <a:cs typeface="Arial" pitchFamily="34" charset="-120"/>
              </a:rPr>
              <a:t>χάρις</a:t>
            </a:r>
            <a:endParaRPr lang="en-US" sz="1200" dirty="0"/>
          </a:p>
          <a:p>
            <a:pPr algn="ctr" indent="0" marL="0">
              <a:buNone/>
            </a:pPr>
            <a:r>
              <a:rPr lang="en-US" sz="1200" dirty="0">
                <a:solidFill>
                  <a:srgbClr val="262626"/>
                </a:solidFill>
                <a:latin typeface="Arial" pitchFamily="34" charset="0"/>
                <a:ea typeface="Arial" pitchFamily="34" charset="-122"/>
                <a:cs typeface="Arial" pitchFamily="34" charset="-120"/>
              </a:rPr>
              <a:t>“Grace to you and peace”</a:t>
            </a:r>
            <a:endParaRPr lang="en-US" sz="1200" dirty="0"/>
          </a:p>
        </p:txBody>
      </p:sp>
      <p:sp>
        <p:nvSpPr>
          <p:cNvPr id="9" name="Text 6"/>
          <p:cNvSpPr txBox="1"/>
          <p:nvPr/>
        </p:nvSpPr>
        <p:spPr>
          <a:xfrm>
            <a:off x="530352" y="3099816"/>
            <a:ext cx="1746504"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the greeting</a:t>
            </a:r>
            <a:endParaRPr lang="en-US" sz="950" dirty="0"/>
          </a:p>
        </p:txBody>
      </p:sp>
      <p:sp>
        <p:nvSpPr>
          <p:cNvPr id="10" name="Shape 7"/>
          <p:cNvSpPr/>
          <p:nvPr/>
        </p:nvSpPr>
        <p:spPr>
          <a:xfrm>
            <a:off x="2359152" y="2189988"/>
            <a:ext cx="201168" cy="237744"/>
          </a:xfrm>
          <a:prstGeom prst="rightArrow">
            <a:avLst/>
          </a:prstGeom>
          <a:solidFill>
            <a:srgbClr val="6B7280"/>
          </a:solidFill>
          <a:ln w="12700">
            <a:solidFill>
              <a:srgbClr val="6B7280"/>
            </a:solidFill>
            <a:prstDash val="solid"/>
          </a:ln>
        </p:spPr>
      </p:sp>
      <p:sp>
        <p:nvSpPr>
          <p:cNvPr id="11" name="Shape 8"/>
          <p:cNvSpPr/>
          <p:nvPr/>
        </p:nvSpPr>
        <p:spPr>
          <a:xfrm>
            <a:off x="2569464" y="1188720"/>
            <a:ext cx="1892808" cy="2240280"/>
          </a:xfrm>
          <a:prstGeom prst="rect">
            <a:avLst/>
          </a:prstGeom>
          <a:solidFill>
            <a:srgbClr val="F2F6FC"/>
          </a:solidFill>
          <a:ln w="9525">
            <a:solidFill>
              <a:srgbClr val="D5DCEA"/>
            </a:solidFill>
            <a:prstDash val="solid"/>
          </a:ln>
        </p:spPr>
      </p:sp>
      <p:sp>
        <p:nvSpPr>
          <p:cNvPr id="12" name="Shape 9"/>
          <p:cNvSpPr/>
          <p:nvPr/>
        </p:nvSpPr>
        <p:spPr>
          <a:xfrm>
            <a:off x="2569464" y="1188720"/>
            <a:ext cx="1892808" cy="566928"/>
          </a:xfrm>
          <a:prstGeom prst="rect">
            <a:avLst/>
          </a:prstGeom>
          <a:solidFill>
            <a:srgbClr val="6B7280"/>
          </a:solidFill>
          <a:ln w="12700">
            <a:solidFill>
              <a:srgbClr val="6B7280"/>
            </a:solidFill>
            <a:prstDash val="solid"/>
          </a:ln>
        </p:spPr>
      </p:sp>
      <p:sp>
        <p:nvSpPr>
          <p:cNvPr id="13" name="Text 10"/>
          <p:cNvSpPr txBox="1"/>
          <p:nvPr/>
        </p:nvSpPr>
        <p:spPr>
          <a:xfrm>
            <a:off x="2624328" y="1188720"/>
            <a:ext cx="1783080"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3:1</a:t>
            </a:r>
            <a:endParaRPr lang="en-US" sz="1150" dirty="0"/>
          </a:p>
        </p:txBody>
      </p:sp>
      <p:sp>
        <p:nvSpPr>
          <p:cNvPr id="14" name="Text 11"/>
          <p:cNvSpPr txBox="1"/>
          <p:nvPr/>
        </p:nvSpPr>
        <p:spPr>
          <a:xfrm>
            <a:off x="2660904" y="1828800"/>
            <a:ext cx="1709928" cy="1289304"/>
          </a:xfrm>
          <a:prstGeom prst="rect">
            <a:avLst/>
          </a:prstGeom>
          <a:noFill/>
          <a:ln/>
        </p:spPr>
        <p:txBody>
          <a:bodyPr wrap="square" lIns="0" tIns="0" rIns="0" bIns="0" rtlCol="0" anchor="t"/>
          <a:lstStyle/>
          <a:p>
            <a:pPr algn="ctr" indent="0" marL="0">
              <a:buNone/>
            </a:pPr>
            <a:r>
              <a:rPr lang="en-US" sz="1200" dirty="0">
                <a:solidFill>
                  <a:srgbClr val="262626"/>
                </a:solidFill>
                <a:latin typeface="Arial" pitchFamily="34" charset="0"/>
                <a:ea typeface="Arial" pitchFamily="34" charset="-122"/>
                <a:cs typeface="Arial" pitchFamily="34" charset="-120"/>
              </a:rPr>
              <a:t>“O foolish Galatians! Who has bewitched you?”</a:t>
            </a:r>
            <a:endParaRPr lang="en-US" sz="1200" dirty="0"/>
          </a:p>
        </p:txBody>
      </p:sp>
      <p:sp>
        <p:nvSpPr>
          <p:cNvPr id="15" name="Text 12"/>
          <p:cNvSpPr txBox="1"/>
          <p:nvPr/>
        </p:nvSpPr>
        <p:spPr>
          <a:xfrm>
            <a:off x="2642616" y="3099816"/>
            <a:ext cx="1746504"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the rebuke</a:t>
            </a:r>
            <a:endParaRPr lang="en-US" sz="950" dirty="0"/>
          </a:p>
        </p:txBody>
      </p:sp>
      <p:sp>
        <p:nvSpPr>
          <p:cNvPr id="16" name="Shape 13"/>
          <p:cNvSpPr/>
          <p:nvPr/>
        </p:nvSpPr>
        <p:spPr>
          <a:xfrm>
            <a:off x="4471416" y="2189988"/>
            <a:ext cx="201168" cy="237744"/>
          </a:xfrm>
          <a:prstGeom prst="rightArrow">
            <a:avLst/>
          </a:prstGeom>
          <a:solidFill>
            <a:srgbClr val="6B7280"/>
          </a:solidFill>
          <a:ln w="12700">
            <a:solidFill>
              <a:srgbClr val="6B7280"/>
            </a:solidFill>
            <a:prstDash val="solid"/>
          </a:ln>
        </p:spPr>
      </p:sp>
      <p:sp>
        <p:nvSpPr>
          <p:cNvPr id="17" name="Shape 14"/>
          <p:cNvSpPr/>
          <p:nvPr/>
        </p:nvSpPr>
        <p:spPr>
          <a:xfrm>
            <a:off x="4681728" y="1188720"/>
            <a:ext cx="1892808" cy="2240280"/>
          </a:xfrm>
          <a:prstGeom prst="rect">
            <a:avLst/>
          </a:prstGeom>
          <a:solidFill>
            <a:srgbClr val="F2F6FC"/>
          </a:solidFill>
          <a:ln w="9525">
            <a:solidFill>
              <a:srgbClr val="D5DCEA"/>
            </a:solidFill>
            <a:prstDash val="solid"/>
          </a:ln>
        </p:spPr>
      </p:sp>
      <p:sp>
        <p:nvSpPr>
          <p:cNvPr id="18" name="Shape 15"/>
          <p:cNvSpPr/>
          <p:nvPr/>
        </p:nvSpPr>
        <p:spPr>
          <a:xfrm>
            <a:off x="4681728" y="1188720"/>
            <a:ext cx="1892808" cy="566928"/>
          </a:xfrm>
          <a:prstGeom prst="rect">
            <a:avLst/>
          </a:prstGeom>
          <a:solidFill>
            <a:srgbClr val="2E5496"/>
          </a:solidFill>
          <a:ln w="12700">
            <a:solidFill>
              <a:srgbClr val="2E5496"/>
            </a:solidFill>
            <a:prstDash val="solid"/>
          </a:ln>
        </p:spPr>
      </p:sp>
      <p:sp>
        <p:nvSpPr>
          <p:cNvPr id="19" name="Text 16"/>
          <p:cNvSpPr txBox="1"/>
          <p:nvPr/>
        </p:nvSpPr>
        <p:spPr>
          <a:xfrm>
            <a:off x="4736592" y="1188720"/>
            <a:ext cx="1783080"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4:12 · 4:31</a:t>
            </a:r>
            <a:endParaRPr lang="en-US" sz="1150" dirty="0"/>
          </a:p>
        </p:txBody>
      </p:sp>
      <p:sp>
        <p:nvSpPr>
          <p:cNvPr id="20" name="Text 17"/>
          <p:cNvSpPr txBox="1"/>
          <p:nvPr/>
        </p:nvSpPr>
        <p:spPr>
          <a:xfrm>
            <a:off x="4773168" y="1828800"/>
            <a:ext cx="1709928" cy="1289304"/>
          </a:xfrm>
          <a:prstGeom prst="rect">
            <a:avLst/>
          </a:prstGeom>
          <a:noFill/>
          <a:ln/>
        </p:spPr>
        <p:txBody>
          <a:bodyPr wrap="square" lIns="0" tIns="0" rIns="0" bIns="0" rtlCol="0" anchor="t"/>
          <a:lstStyle/>
          <a:p>
            <a:pPr algn="ctr" indent="0" marL="0">
              <a:buNone/>
            </a:pPr>
            <a:r>
              <a:rPr lang="en-US" sz="1200" dirty="0">
                <a:solidFill>
                  <a:srgbClr val="262626"/>
                </a:solidFill>
                <a:latin typeface="Arial" pitchFamily="34" charset="0"/>
                <a:ea typeface="Arial" pitchFamily="34" charset="-122"/>
                <a:cs typeface="Arial" pitchFamily="34" charset="-120"/>
              </a:rPr>
              <a:t>“Brethren” — again and again</a:t>
            </a:r>
            <a:endParaRPr lang="en-US" sz="1200" dirty="0"/>
          </a:p>
        </p:txBody>
      </p:sp>
      <p:sp>
        <p:nvSpPr>
          <p:cNvPr id="21" name="Text 18"/>
          <p:cNvSpPr txBox="1"/>
          <p:nvPr/>
        </p:nvSpPr>
        <p:spPr>
          <a:xfrm>
            <a:off x="4754880" y="3099816"/>
            <a:ext cx="1746504"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the appeal</a:t>
            </a:r>
            <a:endParaRPr lang="en-US" sz="950" dirty="0"/>
          </a:p>
        </p:txBody>
      </p:sp>
      <p:sp>
        <p:nvSpPr>
          <p:cNvPr id="22" name="Shape 19"/>
          <p:cNvSpPr/>
          <p:nvPr/>
        </p:nvSpPr>
        <p:spPr>
          <a:xfrm>
            <a:off x="6583680" y="2189988"/>
            <a:ext cx="201168" cy="237744"/>
          </a:xfrm>
          <a:prstGeom prst="rightArrow">
            <a:avLst/>
          </a:prstGeom>
          <a:solidFill>
            <a:srgbClr val="6B7280"/>
          </a:solidFill>
          <a:ln w="12700">
            <a:solidFill>
              <a:srgbClr val="6B7280"/>
            </a:solidFill>
            <a:prstDash val="solid"/>
          </a:ln>
        </p:spPr>
      </p:sp>
      <p:sp>
        <p:nvSpPr>
          <p:cNvPr id="23" name="Shape 20"/>
          <p:cNvSpPr/>
          <p:nvPr/>
        </p:nvSpPr>
        <p:spPr>
          <a:xfrm>
            <a:off x="6793992" y="1188720"/>
            <a:ext cx="1892808" cy="2240280"/>
          </a:xfrm>
          <a:prstGeom prst="rect">
            <a:avLst/>
          </a:prstGeom>
          <a:solidFill>
            <a:srgbClr val="F2F6FC"/>
          </a:solidFill>
          <a:ln w="9525">
            <a:solidFill>
              <a:srgbClr val="D5DCEA"/>
            </a:solidFill>
            <a:prstDash val="solid"/>
          </a:ln>
        </p:spPr>
      </p:sp>
      <p:sp>
        <p:nvSpPr>
          <p:cNvPr id="24" name="Shape 21"/>
          <p:cNvSpPr/>
          <p:nvPr/>
        </p:nvSpPr>
        <p:spPr>
          <a:xfrm>
            <a:off x="6793992" y="1188720"/>
            <a:ext cx="1892808" cy="566928"/>
          </a:xfrm>
          <a:prstGeom prst="rect">
            <a:avLst/>
          </a:prstGeom>
          <a:solidFill>
            <a:srgbClr val="375623"/>
          </a:solidFill>
          <a:ln w="12700">
            <a:solidFill>
              <a:srgbClr val="375623"/>
            </a:solidFill>
            <a:prstDash val="solid"/>
          </a:ln>
        </p:spPr>
      </p:sp>
      <p:sp>
        <p:nvSpPr>
          <p:cNvPr id="25" name="Text 22"/>
          <p:cNvSpPr txBox="1"/>
          <p:nvPr/>
        </p:nvSpPr>
        <p:spPr>
          <a:xfrm>
            <a:off x="6848856" y="1188720"/>
            <a:ext cx="1783080"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6:18</a:t>
            </a:r>
            <a:endParaRPr lang="en-US" sz="1150" dirty="0"/>
          </a:p>
        </p:txBody>
      </p:sp>
      <p:sp>
        <p:nvSpPr>
          <p:cNvPr id="26" name="Text 23"/>
          <p:cNvSpPr txBox="1"/>
          <p:nvPr/>
        </p:nvSpPr>
        <p:spPr>
          <a:xfrm>
            <a:off x="6885432" y="1828800"/>
            <a:ext cx="1709928" cy="1289304"/>
          </a:xfrm>
          <a:prstGeom prst="rect">
            <a:avLst/>
          </a:prstGeom>
          <a:noFill/>
          <a:ln/>
        </p:spPr>
        <p:txBody>
          <a:bodyPr wrap="square" lIns="0" tIns="0" rIns="0" bIns="0" rtlCol="0" anchor="t"/>
          <a:lstStyle/>
          <a:p>
            <a:pPr algn="ctr" indent="0" marL="0">
              <a:buNone/>
            </a:pPr>
            <a:r>
              <a:rPr lang="en-US" sz="1250" b="1" dirty="0">
                <a:solidFill>
                  <a:srgbClr val="7030A0"/>
                </a:solidFill>
                <a:latin typeface="Arial" pitchFamily="34" charset="0"/>
                <a:ea typeface="Arial" pitchFamily="34" charset="-122"/>
                <a:cs typeface="Arial" pitchFamily="34" charset="-120"/>
              </a:rPr>
              <a:t>χάρις</a:t>
            </a:r>
            <a:endParaRPr lang="en-US" sz="1200" dirty="0"/>
          </a:p>
          <a:p>
            <a:pPr algn="ctr" indent="0" marL="0">
              <a:buNone/>
            </a:pPr>
            <a:r>
              <a:rPr lang="en-US" sz="1200" dirty="0">
                <a:solidFill>
                  <a:srgbClr val="262626"/>
                </a:solidFill>
                <a:latin typeface="Arial" pitchFamily="34" charset="0"/>
                <a:ea typeface="Arial" pitchFamily="34" charset="-122"/>
                <a:cs typeface="Arial" pitchFamily="34" charset="-120"/>
              </a:rPr>
              <a:t>“The grace of our Lord Jesus Christ be with your spirit”</a:t>
            </a:r>
            <a:endParaRPr lang="en-US" sz="1200" dirty="0"/>
          </a:p>
        </p:txBody>
      </p:sp>
      <p:sp>
        <p:nvSpPr>
          <p:cNvPr id="27" name="Text 24"/>
          <p:cNvSpPr txBox="1"/>
          <p:nvPr/>
        </p:nvSpPr>
        <p:spPr>
          <a:xfrm>
            <a:off x="6867144" y="3099816"/>
            <a:ext cx="1746504"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the benediction</a:t>
            </a:r>
            <a:endParaRPr lang="en-US" sz="950" dirty="0"/>
          </a:p>
        </p:txBody>
      </p:sp>
      <p:sp>
        <p:nvSpPr>
          <p:cNvPr id="28" name="Shape 25"/>
          <p:cNvSpPr/>
          <p:nvPr/>
        </p:nvSpPr>
        <p:spPr>
          <a:xfrm>
            <a:off x="457200" y="3703320"/>
            <a:ext cx="8229600" cy="548640"/>
          </a:xfrm>
          <a:prstGeom prst="roundRect">
            <a:avLst>
              <a:gd name="adj" fmla="val 10000"/>
            </a:avLst>
          </a:prstGeom>
          <a:solidFill>
            <a:srgbClr val="1F3864"/>
          </a:solidFill>
          <a:ln w="12700">
            <a:solidFill>
              <a:srgbClr val="1F3864"/>
            </a:solidFill>
            <a:prstDash val="solid"/>
          </a:ln>
        </p:spPr>
      </p:sp>
      <p:sp>
        <p:nvSpPr>
          <p:cNvPr id="29" name="Text 26"/>
          <p:cNvSpPr txBox="1"/>
          <p:nvPr/>
        </p:nvSpPr>
        <p:spPr>
          <a:xfrm>
            <a:off x="621792" y="3703320"/>
            <a:ext cx="7900416" cy="54864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Paul's last word to the Galatians is his first word to them, said one more time: grace.</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117</a:t>
            </a:fld>
            <a:endParaRPr 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Discuss and apply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6:11–18 · from the study's posted questions and applications</a:t>
            </a:r>
            <a:endParaRPr lang="en-US" sz="1200" dirty="0"/>
          </a:p>
        </p:txBody>
      </p:sp>
      <p:sp>
        <p:nvSpPr>
          <p:cNvPr id="5" name="Shape 2"/>
          <p:cNvSpPr/>
          <p:nvPr/>
        </p:nvSpPr>
        <p:spPr>
          <a:xfrm>
            <a:off x="457200" y="1115568"/>
            <a:ext cx="4023360" cy="384048"/>
          </a:xfrm>
          <a:prstGeom prst="rect">
            <a:avLst/>
          </a:prstGeom>
          <a:solidFill>
            <a:srgbClr val="2E5496"/>
          </a:solidFill>
          <a:ln w="12700">
            <a:solidFill>
              <a:srgbClr val="2E5496"/>
            </a:solidFill>
            <a:prstDash val="solid"/>
          </a:ln>
        </p:spPr>
      </p:sp>
      <p:sp>
        <p:nvSpPr>
          <p:cNvPr id="6" name="Text 3"/>
          <p:cNvSpPr txBox="1"/>
          <p:nvPr/>
        </p:nvSpPr>
        <p:spPr>
          <a:xfrm>
            <a:off x="56692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Discuss</a:t>
            </a:r>
            <a:endParaRPr lang="en-US" sz="1300" dirty="0"/>
          </a:p>
        </p:txBody>
      </p:sp>
      <p:sp>
        <p:nvSpPr>
          <p:cNvPr id="7" name="Shape 4"/>
          <p:cNvSpPr/>
          <p:nvPr/>
        </p:nvSpPr>
        <p:spPr>
          <a:xfrm>
            <a:off x="457200" y="1499616"/>
            <a:ext cx="4023360" cy="2359152"/>
          </a:xfrm>
          <a:prstGeom prst="rect">
            <a:avLst/>
          </a:prstGeom>
          <a:solidFill>
            <a:srgbClr val="F2F6FC"/>
          </a:solidFill>
          <a:ln w="9525">
            <a:solidFill>
              <a:srgbClr val="D5DCEA"/>
            </a:solidFill>
            <a:prstDash val="solid"/>
          </a:ln>
        </p:spPr>
      </p:sp>
      <p:sp>
        <p:nvSpPr>
          <p:cNvPr id="8" name="Shape 5"/>
          <p:cNvSpPr/>
          <p:nvPr/>
        </p:nvSpPr>
        <p:spPr>
          <a:xfrm>
            <a:off x="4663440" y="1115568"/>
            <a:ext cx="4023360" cy="384048"/>
          </a:xfrm>
          <a:prstGeom prst="rect">
            <a:avLst/>
          </a:prstGeom>
          <a:solidFill>
            <a:srgbClr val="375623"/>
          </a:solidFill>
          <a:ln w="12700">
            <a:solidFill>
              <a:srgbClr val="375623"/>
            </a:solidFill>
            <a:prstDash val="solid"/>
          </a:ln>
        </p:spPr>
      </p:sp>
      <p:sp>
        <p:nvSpPr>
          <p:cNvPr id="9" name="Text 6"/>
          <p:cNvSpPr txBox="1"/>
          <p:nvPr/>
        </p:nvSpPr>
        <p:spPr>
          <a:xfrm>
            <a:off x="477316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Apply</a:t>
            </a:r>
            <a:endParaRPr lang="en-US" sz="1300" dirty="0"/>
          </a:p>
        </p:txBody>
      </p:sp>
      <p:sp>
        <p:nvSpPr>
          <p:cNvPr id="10" name="Shape 7"/>
          <p:cNvSpPr/>
          <p:nvPr/>
        </p:nvSpPr>
        <p:spPr>
          <a:xfrm>
            <a:off x="4663440" y="1499616"/>
            <a:ext cx="4023360" cy="2359152"/>
          </a:xfrm>
          <a:prstGeom prst="rect">
            <a:avLst/>
          </a:prstGeom>
          <a:solidFill>
            <a:srgbClr val="F2F6FC"/>
          </a:solidFill>
          <a:ln w="9525">
            <a:solidFill>
              <a:srgbClr val="D5DCEA"/>
            </a:solidFill>
            <a:prstDash val="solid"/>
          </a:ln>
        </p:spPr>
      </p:sp>
      <p:sp>
        <p:nvSpPr>
          <p:cNvPr id="11" name="Shape 8"/>
          <p:cNvSpPr/>
          <p:nvPr/>
        </p:nvSpPr>
        <p:spPr>
          <a:xfrm>
            <a:off x="566928" y="1636776"/>
            <a:ext cx="347472" cy="347472"/>
          </a:xfrm>
          <a:prstGeom prst="ellipse">
            <a:avLst/>
          </a:prstGeom>
          <a:solidFill>
            <a:srgbClr val="2E5496"/>
          </a:solidFill>
          <a:ln w="12700">
            <a:solidFill>
              <a:srgbClr val="2E5496"/>
            </a:solidFill>
            <a:prstDash val="solid"/>
          </a:ln>
        </p:spPr>
      </p:sp>
      <p:sp>
        <p:nvSpPr>
          <p:cNvPr id="12" name="Text 9"/>
          <p:cNvSpPr txBox="1"/>
          <p:nvPr/>
        </p:nvSpPr>
        <p:spPr>
          <a:xfrm>
            <a:off x="566928" y="163677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3" name="Text 10"/>
          <p:cNvSpPr txBox="1"/>
          <p:nvPr/>
        </p:nvSpPr>
        <p:spPr>
          <a:xfrm>
            <a:off x="1005840" y="1591056"/>
            <a:ext cx="3364992" cy="1042416"/>
          </a:xfrm>
          <a:prstGeom prst="rect">
            <a:avLst/>
          </a:prstGeom>
          <a:noFill/>
          <a:ln/>
        </p:spPr>
        <p:txBody>
          <a:bodyPr wrap="square" lIns="0" tIns="0" rIns="0" bIns="0" rtlCol="0" anchor="t"/>
          <a:lstStyle/>
          <a:p>
            <a:pPr indent="0" marL="0">
              <a:buNone/>
            </a:pPr>
            <a:r>
              <a:rPr lang="en-US" sz="1350" dirty="0">
                <a:solidFill>
                  <a:srgbClr val="262626"/>
                </a:solidFill>
                <a:latin typeface="Arial" pitchFamily="34" charset="0"/>
                <a:ea typeface="Arial" pitchFamily="34" charset="-122"/>
                <a:cs typeface="Arial" pitchFamily="34" charset="-120"/>
              </a:rPr>
              <a:t>What modern equivalents of the Judaizers' motives — approval, avoiding conflict, appearing put-together, pride in numbers — show up in ministry today?</a:t>
            </a:r>
            <a:endParaRPr lang="en-US" sz="1350" dirty="0"/>
          </a:p>
        </p:txBody>
      </p:sp>
      <p:sp>
        <p:nvSpPr>
          <p:cNvPr id="14" name="Shape 11"/>
          <p:cNvSpPr/>
          <p:nvPr/>
        </p:nvSpPr>
        <p:spPr>
          <a:xfrm>
            <a:off x="566928" y="2724912"/>
            <a:ext cx="347472" cy="347472"/>
          </a:xfrm>
          <a:prstGeom prst="ellipse">
            <a:avLst/>
          </a:prstGeom>
          <a:solidFill>
            <a:srgbClr val="2E5496"/>
          </a:solidFill>
          <a:ln w="12700">
            <a:solidFill>
              <a:srgbClr val="2E5496"/>
            </a:solidFill>
            <a:prstDash val="solid"/>
          </a:ln>
        </p:spPr>
      </p:sp>
      <p:sp>
        <p:nvSpPr>
          <p:cNvPr id="15" name="Text 12"/>
          <p:cNvSpPr txBox="1"/>
          <p:nvPr/>
        </p:nvSpPr>
        <p:spPr>
          <a:xfrm>
            <a:off x="566928" y="272491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6" name="Text 13"/>
          <p:cNvSpPr txBox="1"/>
          <p:nvPr/>
        </p:nvSpPr>
        <p:spPr>
          <a:xfrm>
            <a:off x="1005840" y="2679192"/>
            <a:ext cx="3364992" cy="1042416"/>
          </a:xfrm>
          <a:prstGeom prst="rect">
            <a:avLst/>
          </a:prstGeom>
          <a:noFill/>
          <a:ln/>
        </p:spPr>
        <p:txBody>
          <a:bodyPr wrap="square" lIns="0" tIns="0" rIns="0" bIns="0" rtlCol="0" anchor="t"/>
          <a:lstStyle/>
          <a:p>
            <a:pPr indent="0" marL="0">
              <a:buNone/>
            </a:pPr>
            <a:r>
              <a:rPr lang="en-US" sz="1350" dirty="0">
                <a:solidFill>
                  <a:srgbClr val="262626"/>
                </a:solidFill>
                <a:latin typeface="Arial" pitchFamily="34" charset="0"/>
                <a:ea typeface="Arial" pitchFamily="34" charset="-122"/>
                <a:cs typeface="Arial" pitchFamily="34" charset="-120"/>
              </a:rPr>
              <a:t>What does it look like practically to boast in nothing except the cross of Christ?</a:t>
            </a:r>
            <a:endParaRPr lang="en-US" sz="1350" dirty="0"/>
          </a:p>
        </p:txBody>
      </p:sp>
      <p:sp>
        <p:nvSpPr>
          <p:cNvPr id="17" name="Text 14"/>
          <p:cNvSpPr txBox="1"/>
          <p:nvPr/>
        </p:nvSpPr>
        <p:spPr>
          <a:xfrm>
            <a:off x="4791456" y="1591056"/>
            <a:ext cx="3767328" cy="1042416"/>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Check Your Own Unseen Motives</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Name one motive honestly before God this week and ask Him to replace it with a desire to boast only in the cross.</a:t>
            </a:r>
            <a:endParaRPr lang="en-US" sz="1200" dirty="0"/>
          </a:p>
        </p:txBody>
      </p:sp>
      <p:sp>
        <p:nvSpPr>
          <p:cNvPr id="18" name="Text 15"/>
          <p:cNvSpPr txBox="1"/>
          <p:nvPr/>
        </p:nvSpPr>
        <p:spPr>
          <a:xfrm>
            <a:off x="4791456" y="2679192"/>
            <a:ext cx="3767328" cy="1042416"/>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Live as the New Creation You Are</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Write down one way your new-creation identity in Christ should change a decision you're facing.</a:t>
            </a:r>
            <a:endParaRPr lang="en-US" sz="1200" dirty="0"/>
          </a:p>
        </p:txBody>
      </p:sp>
      <p:sp>
        <p:nvSpPr>
          <p:cNvPr id="19" name="Shape 16"/>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0" name="Text 17"/>
          <p:cNvSpPr txBox="1"/>
          <p:nvPr/>
        </p:nvSpPr>
        <p:spPr>
          <a:xfrm>
            <a:off x="621792" y="4023360"/>
            <a:ext cx="7900416" cy="566928"/>
          </a:xfrm>
          <a:prstGeom prst="rect">
            <a:avLst/>
          </a:prstGeom>
          <a:noFill/>
          <a:ln/>
        </p:spPr>
        <p:txBody>
          <a:bodyPr wrap="square" lIns="0" tIns="0" rIns="0" bIns="0" rtlCol="0" anchor="ctr"/>
          <a:lstStyle/>
          <a:p>
            <a:pPr indent="0" marL="0">
              <a:buNone/>
            </a:pPr>
            <a:r>
              <a:rPr lang="en-US" sz="1250" b="1" dirty="0">
                <a:solidFill>
                  <a:srgbClr val="C9D5EE"/>
                </a:solidFill>
                <a:latin typeface="Arial" pitchFamily="34" charset="0"/>
                <a:ea typeface="Arial" pitchFamily="34" charset="-122"/>
                <a:cs typeface="Arial" pitchFamily="34" charset="-120"/>
              </a:rPr>
              <a:t>In one line:  </a:t>
            </a:r>
            <a:pPr indent="0" marL="0">
              <a:buNone/>
            </a:pPr>
            <a:r>
              <a:rPr lang="en-US" sz="1250" dirty="0">
                <a:solidFill>
                  <a:srgbClr val="FFFFFF"/>
                </a:solidFill>
                <a:latin typeface="Arial" pitchFamily="34" charset="0"/>
                <a:ea typeface="Arial" pitchFamily="34" charset="-122"/>
                <a:cs typeface="Arial" pitchFamily="34" charset="-120"/>
              </a:rPr>
              <a:t>Grace first and grace last: boast only in the cross, and teach the truth without adding or subtracting.</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118</a:t>
            </a:fld>
            <a:endParaRPr lang="en-US"/>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lstStyle/>
          <a:p>
            <a:pPr indent="0" marL="0">
              <a:buNone/>
            </a:pPr>
            <a:r>
              <a:rPr lang="en-US" sz="1400" dirty="0">
                <a:solidFill>
                  <a:srgbClr val="C9D5EE"/>
                </a:solidFill>
                <a:latin typeface="Arial" pitchFamily="34" charset="0"/>
                <a:ea typeface="Arial" pitchFamily="34" charset="-122"/>
                <a:cs typeface="Arial" pitchFamily="34" charset="-120"/>
              </a:rPr>
              <a:t>Conclusion · Galatians 1–6</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Grace to the end</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t"/>
          <a:lstStyle/>
          <a:p>
            <a:pPr indent="0" marL="0">
              <a:buNone/>
            </a:pPr>
            <a:r>
              <a:rPr lang="en-US" sz="1500" i="1" dirty="0">
                <a:solidFill>
                  <a:srgbClr val="E6ECF7"/>
                </a:solidFill>
                <a:latin typeface="Arial" pitchFamily="34" charset="0"/>
                <a:ea typeface="Arial" pitchFamily="34" charset="-122"/>
                <a:cs typeface="Arial" pitchFamily="34" charset="-120"/>
              </a:rPr>
              <a:t>There is one gospel — by grace through faith, plus not one thing. The ground is level at the cross. Stand fast in the liberty by which Christ has made us free, and walk in the Spirit. “The grace of our Lord Jesus Christ be with your spirit.”</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119</Slides>
  <Notes>119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119</vt:i4>
      </vt:variant>
    </vt:vector>
  </HeadingPairs>
  <TitlesOfParts>
    <vt:vector size="1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Galatians — Charts from the Sixteen Studies</dc:title>
  <dc:subject>PptxGenJS Presentation</dc:subject>
  <dc:creator>The Gospel Vault</dc:creator>
  <cp:lastModifiedBy>The Gospel Vault</cp:lastModifiedBy>
  <cp:revision>1</cp:revision>
  <dcterms:created xsi:type="dcterms:W3CDTF">2026-10-30T05:30:26Z</dcterms:created>
  <dcterms:modified xsi:type="dcterms:W3CDTF">2026-10-30T05:30:26Z</dcterms:modified>
</cp:coreProperties>
</file>