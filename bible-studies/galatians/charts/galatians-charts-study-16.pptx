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16 · Galatians 6:11–18" id="{4503984e-d83a-e451-0f5d-ff4c3f59f3b5}">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Paul's last shot at the Galatians. The commentary asks not only what Paul says but how he says it — five ways to present the truth (6:11, 12–15, 16, 17, 18).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I–V): The commentary asks not only what Paul says in his last word, but how he says it. These five adverbs are the pattern for teaching the truth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Paul looks behind the scenes at the Judaizers' motives — the commentary names four: the approval of people (a good showing in the flesh), the avoidance of persecution for the cross, the appearance of perfection (they don't keep the law themselves), and the attitude of pride (boasting in numbers). Against them Paul sets his upper motives: the cross, by which the world is crucified to him (perfect tense), and Christ — in whom only a new creation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and IV): v.11 — Paul had been dictating; now he takes the pen himself for a final, forceful emphasis, writing in large letters so the seriousness would not be missed. v.17 — the marks are not “stigmata” some claim in imitation of Christ's wounds, but Paul's actual scars from stoning, beatings and rods — proof of his dedication. στίγματα was the mark that showed whom a slave or soldier belonged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“This rule” (κανών — a measuring rod, the source of “canon”) is the message of salvation by grace through faith, plus not one thing — nothing added, nothing subtracted. Instead of a curse for the false gospel (1:8–9), there is peace for the true. The posted study reads the blessing as on two groups: those who walk by this rule, and among them, “the Israel of God” — Jews who have believed in Christ — not an equation of the church with Israel. See the companion page The Israel of God: Galatians 6:16.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(V): Paul's benediction matches his greeting. He opened with “grace to you” (1:3); in between he called them foolish and bewitched; he came to address them again as brethren; and he closes: “the grace of our Lord Jesus Christ be with your spirit.” Paul's last word to the Galatians is his first word to them, said one more time: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modern equivalents of the Judaizers' motives — approval, avoiding conflict, appearing put-together, pride in numbers — show up in ministry today? — Leader answer: See Commentary II.A — the four unseen motives.  Q2: What does it look like practically to boast in nothing except the cross of Christ? — Leader answer: See Commentary II.B.1 — Paul was motivated by the cross.  Applications: Check Your Own Unseen Motives — Name one motive honestly before God this week and ask Him to replace it with a desire to boast only in the cross.  Live as the New Creation You Are — Write down one way your new-creation identity in Christ should change a decision you're facing.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16 of 16 · Galatians 6:11–18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16 of 16 · Galatians 6:11–18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16 of 16 · Galatians 6:11–18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Teaching the Truth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Because nothing but the cross of Christ produces the new creation, the grace gospel must be presented persuasively, precisely, plainly, positively and personally — without adding to it or subtracting from it.</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1F3864"/>
          </a:solidFill>
          <a:ln w="9525">
            <a:solidFill>
              <a:srgbClr val="1F3864"/>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16  </a:t>
            </a:r>
            <a:pPr indent="0" marL="0">
              <a:buNone/>
            </a:pPr>
            <a:r>
              <a:rPr lang="en-US" sz="1000" b="1" dirty="0">
                <a:solidFill>
                  <a:srgbClr val="C9D5EE"/>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ways to present the truth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6:11–18 · The commentary's outline</a:t>
            </a:r>
            <a:endParaRPr lang="en-US" sz="1200" dirty="0"/>
          </a:p>
        </p:txBody>
      </p:sp>
      <p:sp>
        <p:nvSpPr>
          <p:cNvPr id="5" name="Shape 2"/>
          <p:cNvSpPr/>
          <p:nvPr/>
        </p:nvSpPr>
        <p:spPr>
          <a:xfrm>
            <a:off x="457200" y="1188720"/>
            <a:ext cx="1470355" cy="2103120"/>
          </a:xfrm>
          <a:prstGeom prst="rect">
            <a:avLst/>
          </a:prstGeom>
          <a:solidFill>
            <a:srgbClr val="F2F6FC"/>
          </a:solidFill>
          <a:ln w="9525">
            <a:solidFill>
              <a:srgbClr val="D5DCEA"/>
            </a:solidFill>
            <a:prstDash val="solid"/>
          </a:ln>
        </p:spPr>
      </p:sp>
      <p:sp>
        <p:nvSpPr>
          <p:cNvPr id="6" name="Shape 3"/>
          <p:cNvSpPr/>
          <p:nvPr/>
        </p:nvSpPr>
        <p:spPr>
          <a:xfrm>
            <a:off x="457200" y="1188720"/>
            <a:ext cx="1470355"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Persuasively</a:t>
            </a:r>
            <a:endParaRPr lang="en-US" sz="1150" dirty="0"/>
          </a:p>
        </p:txBody>
      </p:sp>
      <p:sp>
        <p:nvSpPr>
          <p:cNvPr id="8" name="Text 5"/>
          <p:cNvSpPr txBox="1"/>
          <p:nvPr/>
        </p:nvSpPr>
        <p:spPr>
          <a:xfrm>
            <a:off x="548640"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Large letters, in his own hand</a:t>
            </a:r>
            <a:endParaRPr lang="en-US" sz="1200" dirty="0"/>
          </a:p>
        </p:txBody>
      </p:sp>
      <p:sp>
        <p:nvSpPr>
          <p:cNvPr id="9" name="Text 6"/>
          <p:cNvSpPr txBox="1"/>
          <p:nvPr/>
        </p:nvSpPr>
        <p:spPr>
          <a:xfrm>
            <a:off x="530352"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v.11</a:t>
            </a:r>
            <a:endParaRPr lang="en-US" sz="950" dirty="0"/>
          </a:p>
        </p:txBody>
      </p:sp>
      <p:sp>
        <p:nvSpPr>
          <p:cNvPr id="10" name="Shape 7"/>
          <p:cNvSpPr/>
          <p:nvPr/>
        </p:nvSpPr>
        <p:spPr>
          <a:xfrm>
            <a:off x="1936699" y="2121408"/>
            <a:ext cx="201168" cy="237744"/>
          </a:xfrm>
          <a:prstGeom prst="rightArrow">
            <a:avLst/>
          </a:prstGeom>
          <a:solidFill>
            <a:srgbClr val="6B7280"/>
          </a:solidFill>
          <a:ln w="12700">
            <a:solidFill>
              <a:srgbClr val="6B7280"/>
            </a:solidFill>
            <a:prstDash val="solid"/>
          </a:ln>
        </p:spPr>
      </p:sp>
      <p:sp>
        <p:nvSpPr>
          <p:cNvPr id="11" name="Shape 8"/>
          <p:cNvSpPr/>
          <p:nvPr/>
        </p:nvSpPr>
        <p:spPr>
          <a:xfrm>
            <a:off x="2147011" y="1188720"/>
            <a:ext cx="1470355" cy="2103120"/>
          </a:xfrm>
          <a:prstGeom prst="rect">
            <a:avLst/>
          </a:prstGeom>
          <a:solidFill>
            <a:srgbClr val="F2F6FC"/>
          </a:solidFill>
          <a:ln w="9525">
            <a:solidFill>
              <a:srgbClr val="D5DCEA"/>
            </a:solidFill>
            <a:prstDash val="solid"/>
          </a:ln>
        </p:spPr>
      </p:sp>
      <p:sp>
        <p:nvSpPr>
          <p:cNvPr id="12" name="Shape 9"/>
          <p:cNvSpPr/>
          <p:nvPr/>
        </p:nvSpPr>
        <p:spPr>
          <a:xfrm>
            <a:off x="2147011" y="1188720"/>
            <a:ext cx="1470355" cy="566928"/>
          </a:xfrm>
          <a:prstGeom prst="rect">
            <a:avLst/>
          </a:prstGeom>
          <a:solidFill>
            <a:srgbClr val="7030A0"/>
          </a:solidFill>
          <a:ln w="12700">
            <a:solidFill>
              <a:srgbClr val="7030A0"/>
            </a:solidFill>
            <a:prstDash val="solid"/>
          </a:ln>
        </p:spPr>
      </p:sp>
      <p:sp>
        <p:nvSpPr>
          <p:cNvPr id="13" name="Text 10"/>
          <p:cNvSpPr txBox="1"/>
          <p:nvPr/>
        </p:nvSpPr>
        <p:spPr>
          <a:xfrm>
            <a:off x="2201875"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Precisely</a:t>
            </a:r>
            <a:endParaRPr lang="en-US" sz="1150" dirty="0"/>
          </a:p>
        </p:txBody>
      </p:sp>
      <p:sp>
        <p:nvSpPr>
          <p:cNvPr id="14" name="Text 11"/>
          <p:cNvSpPr txBox="1"/>
          <p:nvPr/>
        </p:nvSpPr>
        <p:spPr>
          <a:xfrm>
            <a:off x="2238451"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Exposing motives; boasting only in the cross</a:t>
            </a:r>
            <a:endParaRPr lang="en-US" sz="1200" dirty="0"/>
          </a:p>
        </p:txBody>
      </p:sp>
      <p:sp>
        <p:nvSpPr>
          <p:cNvPr id="15" name="Text 12"/>
          <p:cNvSpPr txBox="1"/>
          <p:nvPr/>
        </p:nvSpPr>
        <p:spPr>
          <a:xfrm>
            <a:off x="2220163"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vv.12–15</a:t>
            </a:r>
            <a:endParaRPr lang="en-US" sz="950" dirty="0"/>
          </a:p>
        </p:txBody>
      </p:sp>
      <p:sp>
        <p:nvSpPr>
          <p:cNvPr id="16" name="Shape 13"/>
          <p:cNvSpPr/>
          <p:nvPr/>
        </p:nvSpPr>
        <p:spPr>
          <a:xfrm>
            <a:off x="3626510" y="2121408"/>
            <a:ext cx="201168" cy="237744"/>
          </a:xfrm>
          <a:prstGeom prst="rightArrow">
            <a:avLst/>
          </a:prstGeom>
          <a:solidFill>
            <a:srgbClr val="6B7280"/>
          </a:solidFill>
          <a:ln w="12700">
            <a:solidFill>
              <a:srgbClr val="6B7280"/>
            </a:solidFill>
            <a:prstDash val="solid"/>
          </a:ln>
        </p:spPr>
      </p:sp>
      <p:sp>
        <p:nvSpPr>
          <p:cNvPr id="17" name="Shape 14"/>
          <p:cNvSpPr/>
          <p:nvPr/>
        </p:nvSpPr>
        <p:spPr>
          <a:xfrm>
            <a:off x="3836822" y="1188720"/>
            <a:ext cx="1470355" cy="2103120"/>
          </a:xfrm>
          <a:prstGeom prst="rect">
            <a:avLst/>
          </a:prstGeom>
          <a:solidFill>
            <a:srgbClr val="F2F6FC"/>
          </a:solidFill>
          <a:ln w="9525">
            <a:solidFill>
              <a:srgbClr val="D5DCEA"/>
            </a:solidFill>
            <a:prstDash val="solid"/>
          </a:ln>
        </p:spPr>
      </p:sp>
      <p:sp>
        <p:nvSpPr>
          <p:cNvPr id="18" name="Shape 15"/>
          <p:cNvSpPr/>
          <p:nvPr/>
        </p:nvSpPr>
        <p:spPr>
          <a:xfrm>
            <a:off x="3836822" y="1188720"/>
            <a:ext cx="1470355" cy="566928"/>
          </a:xfrm>
          <a:prstGeom prst="rect">
            <a:avLst/>
          </a:prstGeom>
          <a:solidFill>
            <a:srgbClr val="375623"/>
          </a:solidFill>
          <a:ln w="12700">
            <a:solidFill>
              <a:srgbClr val="375623"/>
            </a:solidFill>
            <a:prstDash val="solid"/>
          </a:ln>
        </p:spPr>
      </p:sp>
      <p:sp>
        <p:nvSpPr>
          <p:cNvPr id="19" name="Text 16"/>
          <p:cNvSpPr txBox="1"/>
          <p:nvPr/>
        </p:nvSpPr>
        <p:spPr>
          <a:xfrm>
            <a:off x="3891686"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Plainly</a:t>
            </a:r>
            <a:endParaRPr lang="en-US" sz="1150" dirty="0"/>
          </a:p>
        </p:txBody>
      </p:sp>
      <p:sp>
        <p:nvSpPr>
          <p:cNvPr id="20" name="Text 17"/>
          <p:cNvSpPr txBox="1"/>
          <p:nvPr/>
        </p:nvSpPr>
        <p:spPr>
          <a:xfrm>
            <a:off x="3928262"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Walk by this rule — peace and mercy</a:t>
            </a:r>
            <a:endParaRPr lang="en-US" sz="1200" dirty="0"/>
          </a:p>
        </p:txBody>
      </p:sp>
      <p:sp>
        <p:nvSpPr>
          <p:cNvPr id="21" name="Text 18"/>
          <p:cNvSpPr txBox="1"/>
          <p:nvPr/>
        </p:nvSpPr>
        <p:spPr>
          <a:xfrm>
            <a:off x="3909974"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v.16</a:t>
            </a:r>
            <a:endParaRPr lang="en-US" sz="950" dirty="0"/>
          </a:p>
        </p:txBody>
      </p:sp>
      <p:sp>
        <p:nvSpPr>
          <p:cNvPr id="22" name="Shape 19"/>
          <p:cNvSpPr/>
          <p:nvPr/>
        </p:nvSpPr>
        <p:spPr>
          <a:xfrm>
            <a:off x="5316322" y="2121408"/>
            <a:ext cx="201168" cy="237744"/>
          </a:xfrm>
          <a:prstGeom prst="rightArrow">
            <a:avLst/>
          </a:prstGeom>
          <a:solidFill>
            <a:srgbClr val="6B7280"/>
          </a:solidFill>
          <a:ln w="12700">
            <a:solidFill>
              <a:srgbClr val="6B7280"/>
            </a:solidFill>
            <a:prstDash val="solid"/>
          </a:ln>
        </p:spPr>
      </p:sp>
      <p:sp>
        <p:nvSpPr>
          <p:cNvPr id="23" name="Shape 20"/>
          <p:cNvSpPr/>
          <p:nvPr/>
        </p:nvSpPr>
        <p:spPr>
          <a:xfrm>
            <a:off x="5526634" y="1188720"/>
            <a:ext cx="1470355" cy="2103120"/>
          </a:xfrm>
          <a:prstGeom prst="rect">
            <a:avLst/>
          </a:prstGeom>
          <a:solidFill>
            <a:srgbClr val="F2F6FC"/>
          </a:solidFill>
          <a:ln w="9525">
            <a:solidFill>
              <a:srgbClr val="D5DCEA"/>
            </a:solidFill>
            <a:prstDash val="solid"/>
          </a:ln>
        </p:spPr>
      </p:sp>
      <p:sp>
        <p:nvSpPr>
          <p:cNvPr id="24" name="Shape 21"/>
          <p:cNvSpPr/>
          <p:nvPr/>
        </p:nvSpPr>
        <p:spPr>
          <a:xfrm>
            <a:off x="5526634" y="1188720"/>
            <a:ext cx="1470355" cy="566928"/>
          </a:xfrm>
          <a:prstGeom prst="rect">
            <a:avLst/>
          </a:prstGeom>
          <a:solidFill>
            <a:srgbClr val="6B7280"/>
          </a:solidFill>
          <a:ln w="12700">
            <a:solidFill>
              <a:srgbClr val="6B7280"/>
            </a:solidFill>
            <a:prstDash val="solid"/>
          </a:ln>
        </p:spPr>
      </p:sp>
      <p:sp>
        <p:nvSpPr>
          <p:cNvPr id="25" name="Text 22"/>
          <p:cNvSpPr txBox="1"/>
          <p:nvPr/>
        </p:nvSpPr>
        <p:spPr>
          <a:xfrm>
            <a:off x="5581498"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Positively</a:t>
            </a:r>
            <a:endParaRPr lang="en-US" sz="1150" dirty="0"/>
          </a:p>
        </p:txBody>
      </p:sp>
      <p:sp>
        <p:nvSpPr>
          <p:cNvPr id="26" name="Text 23"/>
          <p:cNvSpPr txBox="1"/>
          <p:nvPr/>
        </p:nvSpPr>
        <p:spPr>
          <a:xfrm>
            <a:off x="5618074"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The marks of the Lord Jesus</a:t>
            </a:r>
            <a:endParaRPr lang="en-US" sz="1200" dirty="0"/>
          </a:p>
        </p:txBody>
      </p:sp>
      <p:sp>
        <p:nvSpPr>
          <p:cNvPr id="27" name="Text 24"/>
          <p:cNvSpPr txBox="1"/>
          <p:nvPr/>
        </p:nvSpPr>
        <p:spPr>
          <a:xfrm>
            <a:off x="5599786"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v.17</a:t>
            </a:r>
            <a:endParaRPr lang="en-US" sz="950" dirty="0"/>
          </a:p>
        </p:txBody>
      </p:sp>
      <p:sp>
        <p:nvSpPr>
          <p:cNvPr id="28" name="Shape 25"/>
          <p:cNvSpPr/>
          <p:nvPr/>
        </p:nvSpPr>
        <p:spPr>
          <a:xfrm>
            <a:off x="7006133" y="2121408"/>
            <a:ext cx="201168" cy="237744"/>
          </a:xfrm>
          <a:prstGeom prst="rightArrow">
            <a:avLst/>
          </a:prstGeom>
          <a:solidFill>
            <a:srgbClr val="6B7280"/>
          </a:solidFill>
          <a:ln w="12700">
            <a:solidFill>
              <a:srgbClr val="6B7280"/>
            </a:solidFill>
            <a:prstDash val="solid"/>
          </a:ln>
        </p:spPr>
      </p:sp>
      <p:sp>
        <p:nvSpPr>
          <p:cNvPr id="29" name="Shape 26"/>
          <p:cNvSpPr/>
          <p:nvPr/>
        </p:nvSpPr>
        <p:spPr>
          <a:xfrm>
            <a:off x="7216445" y="1188720"/>
            <a:ext cx="1470355" cy="2103120"/>
          </a:xfrm>
          <a:prstGeom prst="rect">
            <a:avLst/>
          </a:prstGeom>
          <a:solidFill>
            <a:srgbClr val="F2F6FC"/>
          </a:solidFill>
          <a:ln w="9525">
            <a:solidFill>
              <a:srgbClr val="D5DCEA"/>
            </a:solidFill>
            <a:prstDash val="solid"/>
          </a:ln>
        </p:spPr>
      </p:sp>
      <p:sp>
        <p:nvSpPr>
          <p:cNvPr id="30" name="Shape 27"/>
          <p:cNvSpPr/>
          <p:nvPr/>
        </p:nvSpPr>
        <p:spPr>
          <a:xfrm>
            <a:off x="7216445" y="1188720"/>
            <a:ext cx="1470355" cy="566928"/>
          </a:xfrm>
          <a:prstGeom prst="rect">
            <a:avLst/>
          </a:prstGeom>
          <a:solidFill>
            <a:srgbClr val="1F3864"/>
          </a:solidFill>
          <a:ln w="12700">
            <a:solidFill>
              <a:srgbClr val="1F3864"/>
            </a:solidFill>
            <a:prstDash val="solid"/>
          </a:ln>
        </p:spPr>
      </p:sp>
      <p:sp>
        <p:nvSpPr>
          <p:cNvPr id="31" name="Text 28"/>
          <p:cNvSpPr txBox="1"/>
          <p:nvPr/>
        </p:nvSpPr>
        <p:spPr>
          <a:xfrm>
            <a:off x="7271309" y="1188720"/>
            <a:ext cx="1360627"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Personally</a:t>
            </a:r>
            <a:endParaRPr lang="en-US" sz="1150" dirty="0"/>
          </a:p>
        </p:txBody>
      </p:sp>
      <p:sp>
        <p:nvSpPr>
          <p:cNvPr id="32" name="Text 29"/>
          <p:cNvSpPr txBox="1"/>
          <p:nvPr/>
        </p:nvSpPr>
        <p:spPr>
          <a:xfrm>
            <a:off x="7307885" y="1828800"/>
            <a:ext cx="1287475" cy="115214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Grace with your spirit, brethren</a:t>
            </a:r>
            <a:endParaRPr lang="en-US" sz="1200" dirty="0"/>
          </a:p>
        </p:txBody>
      </p:sp>
      <p:sp>
        <p:nvSpPr>
          <p:cNvPr id="33" name="Text 30"/>
          <p:cNvSpPr txBox="1"/>
          <p:nvPr/>
        </p:nvSpPr>
        <p:spPr>
          <a:xfrm>
            <a:off x="7289597" y="2962656"/>
            <a:ext cx="1324051"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v.18</a:t>
            </a:r>
            <a:endParaRPr lang="en-US" sz="950" dirty="0"/>
          </a:p>
        </p:txBody>
      </p:sp>
      <p:sp>
        <p:nvSpPr>
          <p:cNvPr id="34" name="Shape 31"/>
          <p:cNvSpPr/>
          <p:nvPr/>
        </p:nvSpPr>
        <p:spPr>
          <a:xfrm>
            <a:off x="457200" y="3611880"/>
            <a:ext cx="8229600" cy="548640"/>
          </a:xfrm>
          <a:prstGeom prst="roundRect">
            <a:avLst>
              <a:gd name="adj" fmla="val 10000"/>
            </a:avLst>
          </a:prstGeom>
          <a:solidFill>
            <a:srgbClr val="1F3864"/>
          </a:solidFill>
          <a:ln w="12700">
            <a:solidFill>
              <a:srgbClr val="1F3864"/>
            </a:solidFill>
            <a:prstDash val="solid"/>
          </a:ln>
        </p:spPr>
      </p:sp>
      <p:sp>
        <p:nvSpPr>
          <p:cNvPr id="35" name="Text 32"/>
          <p:cNvSpPr txBox="1"/>
          <p:nvPr/>
        </p:nvSpPr>
        <p:spPr>
          <a:xfrm>
            <a:off x="621792" y="36118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Say what needs to be said, the way it needs to be said — without adding to the gospel or subtracting from it.</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Unseen motives and upper motives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6:12–15 · Outline II — Present the truth precisely</a:t>
            </a:r>
            <a:endParaRPr lang="en-US" sz="1200" dirty="0"/>
          </a:p>
        </p:txBody>
      </p:sp>
      <p:sp>
        <p:nvSpPr>
          <p:cNvPr id="5" name="Shape 2"/>
          <p:cNvSpPr/>
          <p:nvPr/>
        </p:nvSpPr>
        <p:spPr>
          <a:xfrm>
            <a:off x="457200" y="1143000"/>
            <a:ext cx="4023360" cy="411480"/>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unseen motives — vv.12–13</a:t>
            </a:r>
            <a:endParaRPr lang="en-US" sz="1200" dirty="0"/>
          </a:p>
        </p:txBody>
      </p:sp>
      <p:sp>
        <p:nvSpPr>
          <p:cNvPr id="7" name="Shape 4"/>
          <p:cNvSpPr/>
          <p:nvPr/>
        </p:nvSpPr>
        <p:spPr>
          <a:xfrm>
            <a:off x="457200" y="1554480"/>
            <a:ext cx="4023360" cy="3063240"/>
          </a:xfrm>
          <a:prstGeom prst="rect">
            <a:avLst/>
          </a:prstGeom>
          <a:solidFill>
            <a:srgbClr val="F2F6FC"/>
          </a:solidFill>
          <a:ln w="9525">
            <a:solidFill>
              <a:srgbClr val="D5DCEA"/>
            </a:solidFill>
            <a:prstDash val="solid"/>
          </a:ln>
        </p:spPr>
      </p:sp>
      <p:sp>
        <p:nvSpPr>
          <p:cNvPr id="8" name="Text 5"/>
          <p:cNvSpPr txBox="1"/>
          <p:nvPr/>
        </p:nvSpPr>
        <p:spPr>
          <a:xfrm>
            <a:off x="548640" y="1627632"/>
            <a:ext cx="3840480" cy="293522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94360" y="166420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1. Approval of people</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εὐπροσωπῆσαι  </a:t>
            </a:r>
            <a:pPr indent="0" marL="0">
              <a:buNone/>
            </a:pPr>
            <a:r>
              <a:rPr lang="en-US" sz="1100" dirty="0">
                <a:solidFill>
                  <a:srgbClr val="262626"/>
                </a:solidFill>
                <a:latin typeface="Arial" pitchFamily="34" charset="0"/>
                <a:ea typeface="Arial" pitchFamily="34" charset="-122"/>
                <a:cs typeface="Arial" pitchFamily="34" charset="-120"/>
              </a:rPr>
              <a:t>a good showing in the flesh</a:t>
            </a:r>
            <a:endParaRPr lang="en-US" sz="1200" dirty="0"/>
          </a:p>
        </p:txBody>
      </p:sp>
      <p:sp>
        <p:nvSpPr>
          <p:cNvPr id="10" name="Text 7"/>
          <p:cNvSpPr txBox="1"/>
          <p:nvPr/>
        </p:nvSpPr>
        <p:spPr>
          <a:xfrm>
            <a:off x="594360" y="239572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2. Avoidance of persecution</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διώκωνται  </a:t>
            </a:r>
            <a:pPr indent="0" marL="0">
              <a:buNone/>
            </a:pPr>
            <a:r>
              <a:rPr lang="en-US" sz="1100" dirty="0">
                <a:solidFill>
                  <a:srgbClr val="262626"/>
                </a:solidFill>
                <a:latin typeface="Arial" pitchFamily="34" charset="0"/>
                <a:ea typeface="Arial" pitchFamily="34" charset="-122"/>
                <a:cs typeface="Arial" pitchFamily="34" charset="-120"/>
              </a:rPr>
              <a:t>for the cross of Christ</a:t>
            </a:r>
            <a:endParaRPr lang="en-US" sz="1200" dirty="0"/>
          </a:p>
        </p:txBody>
      </p:sp>
      <p:sp>
        <p:nvSpPr>
          <p:cNvPr id="11" name="Text 8"/>
          <p:cNvSpPr txBox="1"/>
          <p:nvPr/>
        </p:nvSpPr>
        <p:spPr>
          <a:xfrm>
            <a:off x="594360" y="312724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3. Appearance of perfection</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they don't keep the law themselves</a:t>
            </a:r>
            <a:endParaRPr lang="en-US" sz="1200" dirty="0"/>
          </a:p>
        </p:txBody>
      </p:sp>
      <p:sp>
        <p:nvSpPr>
          <p:cNvPr id="12" name="Text 9"/>
          <p:cNvSpPr txBox="1"/>
          <p:nvPr/>
        </p:nvSpPr>
        <p:spPr>
          <a:xfrm>
            <a:off x="594360" y="3858768"/>
            <a:ext cx="3749040" cy="65836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4. Attitude of pride</a:t>
            </a:r>
            <a:endParaRPr lang="en-US" sz="1200" dirty="0"/>
          </a:p>
          <a:p>
            <a:pPr indent="0" marL="0">
              <a:buNone/>
            </a:pPr>
            <a:r>
              <a:rPr lang="en-US" sz="1200" b="1" dirty="0">
                <a:solidFill>
                  <a:srgbClr val="7030A0"/>
                </a:solidFill>
                <a:latin typeface="Arial" pitchFamily="34" charset="0"/>
                <a:ea typeface="Arial" pitchFamily="34" charset="-122"/>
                <a:cs typeface="Arial" pitchFamily="34" charset="-120"/>
              </a:rPr>
              <a:t>καυχήσωνται  </a:t>
            </a:r>
            <a:pPr indent="0" marL="0">
              <a:buNone/>
            </a:pPr>
            <a:r>
              <a:rPr lang="en-US" sz="1100" dirty="0">
                <a:solidFill>
                  <a:srgbClr val="262626"/>
                </a:solidFill>
                <a:latin typeface="Arial" pitchFamily="34" charset="0"/>
                <a:ea typeface="Arial" pitchFamily="34" charset="-122"/>
                <a:cs typeface="Arial" pitchFamily="34" charset="-120"/>
              </a:rPr>
              <a:t>boasting in your flesh</a:t>
            </a:r>
            <a:endParaRPr lang="en-US" sz="1200" dirty="0"/>
          </a:p>
        </p:txBody>
      </p:sp>
      <p:sp>
        <p:nvSpPr>
          <p:cNvPr id="13" name="Shape 10"/>
          <p:cNvSpPr/>
          <p:nvPr/>
        </p:nvSpPr>
        <p:spPr>
          <a:xfrm>
            <a:off x="4663440" y="1143000"/>
            <a:ext cx="4023360" cy="411480"/>
          </a:xfrm>
          <a:prstGeom prst="rect">
            <a:avLst/>
          </a:prstGeom>
          <a:solidFill>
            <a:srgbClr val="375623"/>
          </a:solidFill>
          <a:ln w="12700">
            <a:solidFill>
              <a:srgbClr val="375623"/>
            </a:solidFill>
            <a:prstDash val="solid"/>
          </a:ln>
        </p:spPr>
      </p:sp>
      <p:sp>
        <p:nvSpPr>
          <p:cNvPr id="14" name="Text 11"/>
          <p:cNvSpPr txBox="1"/>
          <p:nvPr/>
        </p:nvSpPr>
        <p:spPr>
          <a:xfrm>
            <a:off x="4754880" y="1188720"/>
            <a:ext cx="38404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Paul's upper motives — vv.14–15</a:t>
            </a:r>
            <a:endParaRPr lang="en-US" sz="1200" dirty="0"/>
          </a:p>
        </p:txBody>
      </p:sp>
      <p:sp>
        <p:nvSpPr>
          <p:cNvPr id="15" name="Shape 12"/>
          <p:cNvSpPr/>
          <p:nvPr/>
        </p:nvSpPr>
        <p:spPr>
          <a:xfrm>
            <a:off x="4663440" y="1554480"/>
            <a:ext cx="4023360" cy="3063240"/>
          </a:xfrm>
          <a:prstGeom prst="rect">
            <a:avLst/>
          </a:prstGeom>
          <a:solidFill>
            <a:srgbClr val="F2F6FC"/>
          </a:solidFill>
          <a:ln w="9525">
            <a:solidFill>
              <a:srgbClr val="D5DCEA"/>
            </a:solidFill>
            <a:prstDash val="solid"/>
          </a:ln>
        </p:spPr>
      </p:sp>
      <p:sp>
        <p:nvSpPr>
          <p:cNvPr id="16" name="Text 13"/>
          <p:cNvSpPr txBox="1"/>
          <p:nvPr/>
        </p:nvSpPr>
        <p:spPr>
          <a:xfrm>
            <a:off x="4754880" y="1627632"/>
            <a:ext cx="3840480" cy="2935224"/>
          </a:xfrm>
          <a:prstGeom prst="rect">
            <a:avLst/>
          </a:prstGeom>
          <a:noFill/>
          <a:ln/>
        </p:spPr>
        <p:txBody>
          <a:bodyPr wrap="square" lIns="0" tIns="0" rIns="0" bIns="0" rtlCol="0" anchor="t"/>
          <a:lstStyle/>
          <a:p>
            <a:pPr indent="0" marL="0">
              <a:buNone/>
            </a:pPr>
            <a:endParaRPr lang="en-US" sz="1300" dirty="0"/>
          </a:p>
        </p:txBody>
      </p:sp>
      <p:sp>
        <p:nvSpPr>
          <p:cNvPr id="17" name="Text 14"/>
          <p:cNvSpPr txBox="1"/>
          <p:nvPr/>
        </p:nvSpPr>
        <p:spPr>
          <a:xfrm>
            <a:off x="4800600" y="1664208"/>
            <a:ext cx="3749040" cy="2834640"/>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1. The cross — v.14</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“God forbid that I should boast except in the cross”</a:t>
            </a:r>
            <a:endParaRPr lang="en-US" sz="1200" dirty="0"/>
          </a:p>
          <a:p>
            <a:pPr indent="0" marL="0">
              <a:buNone/>
            </a:pPr>
            <a:r>
              <a:rPr lang="en-US" sz="1300" b="1" dirty="0">
                <a:solidFill>
                  <a:srgbClr val="7030A0"/>
                </a:solidFill>
                <a:latin typeface="Arial" pitchFamily="34" charset="0"/>
                <a:ea typeface="Arial" pitchFamily="34" charset="-122"/>
                <a:cs typeface="Arial" pitchFamily="34" charset="-120"/>
              </a:rPr>
              <a:t>ἐσταύρωται</a:t>
            </a:r>
            <a:pPr indent="0" marL="0">
              <a:buNone/>
            </a:pPr>
            <a:r>
              <a:rPr lang="en-US" sz="1050" dirty="0">
                <a:solidFill>
                  <a:srgbClr val="595959"/>
                </a:solidFill>
                <a:latin typeface="Arial" pitchFamily="34" charset="0"/>
                <a:ea typeface="Arial" pitchFamily="34" charset="-122"/>
                <a:cs typeface="Arial" pitchFamily="34" charset="-120"/>
              </a:rPr>
              <a:t>  Perf. — the world crucified to me, and I to the world</a:t>
            </a:r>
            <a:endParaRPr lang="en-US" sz="1200" dirty="0"/>
          </a:p>
          <a:p>
            <a:pPr indent="0" marL="0">
              <a:buNone/>
            </a:pPr>
            <a:r>
              <a:rPr lang="en-US" sz="800" dirty="0">
                <a:solidFill>
                  <a:srgbClr val="262626"/>
                </a:solidFill>
                <a:latin typeface="Arial" pitchFamily="34" charset="0"/>
                <a:ea typeface="Arial" pitchFamily="34" charset="-122"/>
                <a:cs typeface="Arial" pitchFamily="34" charset="-120"/>
              </a:rPr>
              <a:t> </a:t>
            </a:r>
            <a:endParaRPr lang="en-US" sz="1200" dirty="0"/>
          </a:p>
          <a:p>
            <a:pPr indent="0" marL="0">
              <a:buNone/>
            </a:pPr>
            <a:r>
              <a:rPr lang="en-US" sz="1250" b="1" dirty="0">
                <a:solidFill>
                  <a:srgbClr val="1F3864"/>
                </a:solidFill>
                <a:latin typeface="Arial" pitchFamily="34" charset="0"/>
                <a:ea typeface="Arial" pitchFamily="34" charset="-122"/>
                <a:cs typeface="Arial" pitchFamily="34" charset="-120"/>
              </a:rPr>
              <a:t>2. Christ — v.15</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Neither circumcision nor uncircumcision avails anything</a:t>
            </a:r>
            <a:endParaRPr lang="en-US" sz="1200" dirty="0"/>
          </a:p>
          <a:p>
            <a:pPr indent="0" marL="0">
              <a:buNone/>
            </a:pPr>
            <a:r>
              <a:rPr lang="en-US" sz="1300" b="1" dirty="0">
                <a:solidFill>
                  <a:srgbClr val="7030A0"/>
                </a:solidFill>
                <a:latin typeface="Arial" pitchFamily="34" charset="0"/>
                <a:ea typeface="Arial" pitchFamily="34" charset="-122"/>
                <a:cs typeface="Arial" pitchFamily="34" charset="-120"/>
              </a:rPr>
              <a:t>καινὴ κτίσις</a:t>
            </a:r>
            <a:pPr indent="0" marL="0">
              <a:buNone/>
            </a:pPr>
            <a:r>
              <a:rPr lang="en-US" sz="1050" dirty="0">
                <a:solidFill>
                  <a:srgbClr val="595959"/>
                </a:solidFill>
                <a:latin typeface="Arial" pitchFamily="34" charset="0"/>
                <a:ea typeface="Arial" pitchFamily="34" charset="-122"/>
                <a:cs typeface="Arial" pitchFamily="34" charset="-120"/>
              </a:rPr>
              <a:t>  a new creation — new in kind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Large letters and lasting marks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 17 · Outline I and IV — Persuasively and positively</a:t>
            </a:r>
            <a:endParaRPr lang="en-US" sz="1200" dirty="0"/>
          </a:p>
        </p:txBody>
      </p:sp>
      <p:sp>
        <p:nvSpPr>
          <p:cNvPr id="5" name="Shape 2"/>
          <p:cNvSpPr/>
          <p:nvPr/>
        </p:nvSpPr>
        <p:spPr>
          <a:xfrm>
            <a:off x="457200" y="1143000"/>
            <a:ext cx="4023360" cy="566928"/>
          </a:xfrm>
          <a:prstGeom prst="rect">
            <a:avLst/>
          </a:prstGeom>
          <a:solidFill>
            <a:srgbClr val="2E5496"/>
          </a:solidFill>
          <a:ln w="12700">
            <a:solidFill>
              <a:srgbClr val="2E5496"/>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Persuasively — v.11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πηλίκοις γράμμασιν</a:t>
            </a:r>
            <a:pPr indent="0" marL="0">
              <a:buNone/>
            </a:pPr>
            <a:r>
              <a:rPr lang="en-US" sz="850" dirty="0">
                <a:solidFill>
                  <a:srgbClr val="DCE4F2"/>
                </a:solidFill>
                <a:latin typeface="Arial" pitchFamily="34" charset="0"/>
                <a:ea typeface="Arial" pitchFamily="34" charset="-122"/>
                <a:cs typeface="Arial" pitchFamily="34" charset="-120"/>
              </a:rPr>
              <a:t>  with how large letters</a:t>
            </a:r>
            <a:endParaRPr lang="en-US" sz="1200" dirty="0"/>
          </a:p>
        </p:txBody>
      </p:sp>
      <p:sp>
        <p:nvSpPr>
          <p:cNvPr id="7" name="Shape 4"/>
          <p:cNvSpPr/>
          <p:nvPr/>
        </p:nvSpPr>
        <p:spPr>
          <a:xfrm>
            <a:off x="457200" y="1709928"/>
            <a:ext cx="4023360" cy="22677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2139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Paul took the pen from his secretary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 visible, forceful final emphasis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Truth presented with weight, not indifference</a:t>
            </a:r>
            <a:endParaRPr lang="en-US" sz="1300" dirty="0"/>
          </a:p>
        </p:txBody>
      </p:sp>
      <p:sp>
        <p:nvSpPr>
          <p:cNvPr id="9" name="Shape 6"/>
          <p:cNvSpPr/>
          <p:nvPr/>
        </p:nvSpPr>
        <p:spPr>
          <a:xfrm>
            <a:off x="4663440" y="1143000"/>
            <a:ext cx="4023360" cy="566928"/>
          </a:xfrm>
          <a:prstGeom prst="rect">
            <a:avLst/>
          </a:prstGeom>
          <a:solidFill>
            <a:srgbClr val="6B7280"/>
          </a:solidFill>
          <a:ln w="12700">
            <a:solidFill>
              <a:srgbClr val="6B7280"/>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Positively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στίγματα</a:t>
            </a:r>
            <a:pPr indent="0" marL="0">
              <a:buNone/>
            </a:pPr>
            <a:r>
              <a:rPr lang="en-US" sz="850" dirty="0">
                <a:solidFill>
                  <a:srgbClr val="DCE4F2"/>
                </a:solidFill>
                <a:latin typeface="Arial" pitchFamily="34" charset="0"/>
                <a:ea typeface="Arial" pitchFamily="34" charset="-122"/>
                <a:cs typeface="Arial" pitchFamily="34" charset="-120"/>
              </a:rPr>
              <a:t>  brand-marks of ownership</a:t>
            </a:r>
            <a:endParaRPr lang="en-US" sz="1200" dirty="0"/>
          </a:p>
        </p:txBody>
      </p:sp>
      <p:sp>
        <p:nvSpPr>
          <p:cNvPr id="11" name="Shape 8"/>
          <p:cNvSpPr/>
          <p:nvPr/>
        </p:nvSpPr>
        <p:spPr>
          <a:xfrm>
            <a:off x="4663440" y="1709928"/>
            <a:ext cx="4023360" cy="22677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21396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Not mystical “stigmata”</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Real scars from stoning and beatings</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Proof of his dedication — let no one trouble me</a:t>
            </a:r>
            <a:endParaRPr lang="en-US" sz="1300" dirty="0"/>
          </a:p>
        </p:txBody>
      </p:sp>
      <p:sp>
        <p:nvSpPr>
          <p:cNvPr id="13" name="Shape 10"/>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14" name="Text 11"/>
          <p:cNvSpPr txBox="1"/>
          <p:nvPr/>
        </p:nvSpPr>
        <p:spPr>
          <a:xfrm>
            <a:off x="621792" y="4160520"/>
            <a:ext cx="7900416" cy="45720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You think I'm not dedicated? These marks say otherwise — I belong to the Lord Jesus.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Peace and mercy — on whom?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6:16 · Outline III — Present the truth plainly</a:t>
            </a:r>
            <a:endParaRPr lang="en-US" sz="1200" dirty="0"/>
          </a:p>
        </p:txBody>
      </p:sp>
      <p:sp>
        <p:nvSpPr>
          <p:cNvPr id="5" name="Shape 2"/>
          <p:cNvSpPr/>
          <p:nvPr/>
        </p:nvSpPr>
        <p:spPr>
          <a:xfrm>
            <a:off x="457200" y="1143000"/>
            <a:ext cx="777240" cy="713232"/>
          </a:xfrm>
          <a:prstGeom prst="rect">
            <a:avLst/>
          </a:prstGeom>
          <a:solidFill>
            <a:srgbClr val="2E5496"/>
          </a:solidFill>
          <a:ln w="12700">
            <a:solidFill>
              <a:srgbClr val="2E5496"/>
            </a:solidFill>
            <a:prstDash val="solid"/>
          </a:ln>
        </p:spPr>
      </p:sp>
      <p:sp>
        <p:nvSpPr>
          <p:cNvPr id="6" name="Text 3"/>
          <p:cNvSpPr txBox="1"/>
          <p:nvPr/>
        </p:nvSpPr>
        <p:spPr>
          <a:xfrm>
            <a:off x="457200" y="1143000"/>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v.16a</a:t>
            </a:r>
            <a:endParaRPr lang="en-US" sz="1100" dirty="0"/>
          </a:p>
        </p:txBody>
      </p:sp>
      <p:sp>
        <p:nvSpPr>
          <p:cNvPr id="7" name="Shape 4"/>
          <p:cNvSpPr/>
          <p:nvPr/>
        </p:nvSpPr>
        <p:spPr>
          <a:xfrm>
            <a:off x="1234440" y="1143000"/>
            <a:ext cx="7452360" cy="713232"/>
          </a:xfrm>
          <a:prstGeom prst="rect">
            <a:avLst/>
          </a:prstGeom>
          <a:solidFill>
            <a:srgbClr val="F2F6FC"/>
          </a:solidFill>
          <a:ln w="9525">
            <a:solidFill>
              <a:srgbClr val="D5DCEA"/>
            </a:solidFill>
            <a:prstDash val="solid"/>
          </a:ln>
        </p:spPr>
      </p:sp>
      <p:sp>
        <p:nvSpPr>
          <p:cNvPr id="8" name="Text 5"/>
          <p:cNvSpPr txBox="1"/>
          <p:nvPr/>
        </p:nvSpPr>
        <p:spPr>
          <a:xfrm>
            <a:off x="1344168" y="1143000"/>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 many as walk according to this rule” — grace, plus not one thing</a:t>
            </a:r>
            <a:endParaRPr lang="en-US" sz="1200" dirty="0"/>
          </a:p>
        </p:txBody>
      </p:sp>
      <p:sp>
        <p:nvSpPr>
          <p:cNvPr id="9" name="Text 6"/>
          <p:cNvSpPr txBox="1"/>
          <p:nvPr/>
        </p:nvSpPr>
        <p:spPr>
          <a:xfrm>
            <a:off x="5989320" y="1143000"/>
            <a:ext cx="2606040" cy="713232"/>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κανόνι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measuring rod — “canon”</a:t>
            </a:r>
            <a:endParaRPr lang="en-US" sz="1200" dirty="0"/>
          </a:p>
        </p:txBody>
      </p:sp>
      <p:sp>
        <p:nvSpPr>
          <p:cNvPr id="10" name="Shape 7"/>
          <p:cNvSpPr/>
          <p:nvPr/>
        </p:nvSpPr>
        <p:spPr>
          <a:xfrm>
            <a:off x="457200" y="1947672"/>
            <a:ext cx="777240" cy="713232"/>
          </a:xfrm>
          <a:prstGeom prst="rect">
            <a:avLst/>
          </a:prstGeom>
          <a:solidFill>
            <a:srgbClr val="375623"/>
          </a:solidFill>
          <a:ln w="12700">
            <a:solidFill>
              <a:srgbClr val="375623"/>
            </a:solidFill>
            <a:prstDash val="solid"/>
          </a:ln>
        </p:spPr>
      </p:sp>
      <p:sp>
        <p:nvSpPr>
          <p:cNvPr id="11" name="Text 8"/>
          <p:cNvSpPr txBox="1"/>
          <p:nvPr/>
        </p:nvSpPr>
        <p:spPr>
          <a:xfrm>
            <a:off x="457200" y="1947672"/>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v.16b</a:t>
            </a:r>
            <a:endParaRPr lang="en-US" sz="1100" dirty="0"/>
          </a:p>
        </p:txBody>
      </p:sp>
      <p:sp>
        <p:nvSpPr>
          <p:cNvPr id="12" name="Shape 9"/>
          <p:cNvSpPr/>
          <p:nvPr/>
        </p:nvSpPr>
        <p:spPr>
          <a:xfrm>
            <a:off x="1234440" y="1947672"/>
            <a:ext cx="7452360" cy="713232"/>
          </a:xfrm>
          <a:prstGeom prst="rect">
            <a:avLst/>
          </a:prstGeom>
          <a:solidFill>
            <a:srgbClr val="FFFFFF"/>
          </a:solidFill>
          <a:ln w="9525">
            <a:solidFill>
              <a:srgbClr val="D5DCEA"/>
            </a:solidFill>
            <a:prstDash val="solid"/>
          </a:ln>
        </p:spPr>
      </p:sp>
      <p:sp>
        <p:nvSpPr>
          <p:cNvPr id="13" name="Text 10"/>
          <p:cNvSpPr txBox="1"/>
          <p:nvPr/>
        </p:nvSpPr>
        <p:spPr>
          <a:xfrm>
            <a:off x="1344168" y="1947672"/>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“peace and mercy be upon them” — the curse of 1:8–9 replaced by peace</a:t>
            </a:r>
            <a:endParaRPr lang="en-US" sz="1200" dirty="0"/>
          </a:p>
        </p:txBody>
      </p:sp>
      <p:sp>
        <p:nvSpPr>
          <p:cNvPr id="14" name="Text 11"/>
          <p:cNvSpPr txBox="1"/>
          <p:nvPr/>
        </p:nvSpPr>
        <p:spPr>
          <a:xfrm>
            <a:off x="5989320" y="1947672"/>
            <a:ext cx="2606040" cy="713232"/>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accepted on what Christ has done</a:t>
            </a:r>
            <a:endParaRPr lang="en-US" sz="1200" dirty="0"/>
          </a:p>
        </p:txBody>
      </p:sp>
      <p:sp>
        <p:nvSpPr>
          <p:cNvPr id="15" name="Shape 12"/>
          <p:cNvSpPr/>
          <p:nvPr/>
        </p:nvSpPr>
        <p:spPr>
          <a:xfrm>
            <a:off x="457200" y="2752344"/>
            <a:ext cx="777240" cy="713232"/>
          </a:xfrm>
          <a:prstGeom prst="rect">
            <a:avLst/>
          </a:prstGeom>
          <a:solidFill>
            <a:srgbClr val="7030A0"/>
          </a:solidFill>
          <a:ln w="12700">
            <a:solidFill>
              <a:srgbClr val="7030A0"/>
            </a:solidFill>
            <a:prstDash val="solid"/>
          </a:ln>
        </p:spPr>
      </p:sp>
      <p:sp>
        <p:nvSpPr>
          <p:cNvPr id="16" name="Text 13"/>
          <p:cNvSpPr txBox="1"/>
          <p:nvPr/>
        </p:nvSpPr>
        <p:spPr>
          <a:xfrm>
            <a:off x="457200" y="2752344"/>
            <a:ext cx="777240" cy="7132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v.16c</a:t>
            </a:r>
            <a:endParaRPr lang="en-US" sz="1100" dirty="0"/>
          </a:p>
        </p:txBody>
      </p:sp>
      <p:sp>
        <p:nvSpPr>
          <p:cNvPr id="17" name="Shape 14"/>
          <p:cNvSpPr/>
          <p:nvPr/>
        </p:nvSpPr>
        <p:spPr>
          <a:xfrm>
            <a:off x="1234440" y="2752344"/>
            <a:ext cx="7452360" cy="713232"/>
          </a:xfrm>
          <a:prstGeom prst="rect">
            <a:avLst/>
          </a:prstGeom>
          <a:solidFill>
            <a:srgbClr val="F2F6FC"/>
          </a:solidFill>
          <a:ln w="9525">
            <a:solidFill>
              <a:srgbClr val="D5DCEA"/>
            </a:solidFill>
            <a:prstDash val="solid"/>
          </a:ln>
        </p:spPr>
      </p:sp>
      <p:sp>
        <p:nvSpPr>
          <p:cNvPr id="18" name="Text 15"/>
          <p:cNvSpPr txBox="1"/>
          <p:nvPr/>
        </p:nvSpPr>
        <p:spPr>
          <a:xfrm>
            <a:off x="1344168" y="2752344"/>
            <a:ext cx="4572000" cy="71323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“and upon the Israel of God” — believing Jews among them</a:t>
            </a:r>
            <a:endParaRPr lang="en-US" sz="1200" dirty="0"/>
          </a:p>
        </p:txBody>
      </p:sp>
      <p:sp>
        <p:nvSpPr>
          <p:cNvPr id="19" name="Text 16"/>
          <p:cNvSpPr txBox="1"/>
          <p:nvPr/>
        </p:nvSpPr>
        <p:spPr>
          <a:xfrm>
            <a:off x="5989320" y="2752344"/>
            <a:ext cx="2606040" cy="713232"/>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not the church renamed Israel</a:t>
            </a:r>
            <a:endParaRPr lang="en-US" sz="1200" dirty="0"/>
          </a:p>
        </p:txBody>
      </p:sp>
      <p:sp>
        <p:nvSpPr>
          <p:cNvPr id="20" name="Shape 17"/>
          <p:cNvSpPr/>
          <p:nvPr/>
        </p:nvSpPr>
        <p:spPr>
          <a:xfrm>
            <a:off x="457200" y="3840480"/>
            <a:ext cx="8229600" cy="548640"/>
          </a:xfrm>
          <a:prstGeom prst="roundRect">
            <a:avLst>
              <a:gd name="adj" fmla="val 10000"/>
            </a:avLst>
          </a:prstGeom>
          <a:solidFill>
            <a:srgbClr val="1F3864"/>
          </a:solidFill>
          <a:ln w="12700">
            <a:solidFill>
              <a:srgbClr val="1F3864"/>
            </a:solidFill>
            <a:prstDash val="solid"/>
          </a:ln>
        </p:spPr>
      </p:sp>
      <p:sp>
        <p:nvSpPr>
          <p:cNvPr id="21" name="Text 18"/>
          <p:cNvSpPr txBox="1"/>
          <p:nvPr/>
        </p:nvSpPr>
        <p:spPr>
          <a:xfrm>
            <a:off x="621792" y="38404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We are accepted by God never more, and never less, than the moment we first believed.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first, grace last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1:3 and 6:18 · Outline V — Present the truth personally</a:t>
            </a:r>
            <a:endParaRPr lang="en-US" sz="1200" dirty="0"/>
          </a:p>
        </p:txBody>
      </p:sp>
      <p:sp>
        <p:nvSpPr>
          <p:cNvPr id="5" name="Shape 2"/>
          <p:cNvSpPr/>
          <p:nvPr/>
        </p:nvSpPr>
        <p:spPr>
          <a:xfrm>
            <a:off x="457200" y="1188720"/>
            <a:ext cx="1892808" cy="2240280"/>
          </a:xfrm>
          <a:prstGeom prst="rect">
            <a:avLst/>
          </a:prstGeom>
          <a:solidFill>
            <a:srgbClr val="F2F6FC"/>
          </a:solidFill>
          <a:ln w="9525">
            <a:solidFill>
              <a:srgbClr val="D5DCEA"/>
            </a:solidFill>
            <a:prstDash val="solid"/>
          </a:ln>
        </p:spPr>
      </p:sp>
      <p:sp>
        <p:nvSpPr>
          <p:cNvPr id="6" name="Shape 3"/>
          <p:cNvSpPr/>
          <p:nvPr/>
        </p:nvSpPr>
        <p:spPr>
          <a:xfrm>
            <a:off x="457200" y="1188720"/>
            <a:ext cx="1892808" cy="566928"/>
          </a:xfrm>
          <a:prstGeom prst="rect">
            <a:avLst/>
          </a:prstGeom>
          <a:solidFill>
            <a:srgbClr val="375623"/>
          </a:solidFill>
          <a:ln w="12700">
            <a:solidFill>
              <a:srgbClr val="375623"/>
            </a:solidFill>
            <a:prstDash val="solid"/>
          </a:ln>
        </p:spPr>
      </p:sp>
      <p:sp>
        <p:nvSpPr>
          <p:cNvPr id="7" name="Text 4"/>
          <p:cNvSpPr txBox="1"/>
          <p:nvPr/>
        </p:nvSpPr>
        <p:spPr>
          <a:xfrm>
            <a:off x="512064"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1:3</a:t>
            </a:r>
            <a:endParaRPr lang="en-US" sz="1150" dirty="0"/>
          </a:p>
        </p:txBody>
      </p:sp>
      <p:sp>
        <p:nvSpPr>
          <p:cNvPr id="8" name="Text 5"/>
          <p:cNvSpPr txBox="1"/>
          <p:nvPr/>
        </p:nvSpPr>
        <p:spPr>
          <a:xfrm>
            <a:off x="548640" y="1828800"/>
            <a:ext cx="1709928" cy="128930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χάρις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“Grace to you and peace”</a:t>
            </a:r>
            <a:endParaRPr lang="en-US" sz="1200" dirty="0"/>
          </a:p>
        </p:txBody>
      </p:sp>
      <p:sp>
        <p:nvSpPr>
          <p:cNvPr id="9" name="Text 6"/>
          <p:cNvSpPr txBox="1"/>
          <p:nvPr/>
        </p:nvSpPr>
        <p:spPr>
          <a:xfrm>
            <a:off x="530352"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greeting</a:t>
            </a:r>
            <a:endParaRPr lang="en-US" sz="950" dirty="0"/>
          </a:p>
        </p:txBody>
      </p:sp>
      <p:sp>
        <p:nvSpPr>
          <p:cNvPr id="10" name="Shape 7"/>
          <p:cNvSpPr/>
          <p:nvPr/>
        </p:nvSpPr>
        <p:spPr>
          <a:xfrm>
            <a:off x="2359152" y="2189988"/>
            <a:ext cx="201168" cy="237744"/>
          </a:xfrm>
          <a:prstGeom prst="rightArrow">
            <a:avLst/>
          </a:prstGeom>
          <a:solidFill>
            <a:srgbClr val="6B7280"/>
          </a:solidFill>
          <a:ln w="12700">
            <a:solidFill>
              <a:srgbClr val="6B7280"/>
            </a:solidFill>
            <a:prstDash val="solid"/>
          </a:ln>
        </p:spPr>
      </p:sp>
      <p:sp>
        <p:nvSpPr>
          <p:cNvPr id="11" name="Shape 8"/>
          <p:cNvSpPr/>
          <p:nvPr/>
        </p:nvSpPr>
        <p:spPr>
          <a:xfrm>
            <a:off x="2569464" y="1188720"/>
            <a:ext cx="1892808" cy="2240280"/>
          </a:xfrm>
          <a:prstGeom prst="rect">
            <a:avLst/>
          </a:prstGeom>
          <a:solidFill>
            <a:srgbClr val="F2F6FC"/>
          </a:solidFill>
          <a:ln w="9525">
            <a:solidFill>
              <a:srgbClr val="D5DCEA"/>
            </a:solidFill>
            <a:prstDash val="solid"/>
          </a:ln>
        </p:spPr>
      </p:sp>
      <p:sp>
        <p:nvSpPr>
          <p:cNvPr id="12" name="Shape 9"/>
          <p:cNvSpPr/>
          <p:nvPr/>
        </p:nvSpPr>
        <p:spPr>
          <a:xfrm>
            <a:off x="2569464" y="1188720"/>
            <a:ext cx="1892808" cy="566928"/>
          </a:xfrm>
          <a:prstGeom prst="rect">
            <a:avLst/>
          </a:prstGeom>
          <a:solidFill>
            <a:srgbClr val="6B7280"/>
          </a:solidFill>
          <a:ln w="12700">
            <a:solidFill>
              <a:srgbClr val="6B7280"/>
            </a:solidFill>
            <a:prstDash val="solid"/>
          </a:ln>
        </p:spPr>
      </p:sp>
      <p:sp>
        <p:nvSpPr>
          <p:cNvPr id="13" name="Text 10"/>
          <p:cNvSpPr txBox="1"/>
          <p:nvPr/>
        </p:nvSpPr>
        <p:spPr>
          <a:xfrm>
            <a:off x="2624328"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3:1</a:t>
            </a:r>
            <a:endParaRPr lang="en-US" sz="1150" dirty="0"/>
          </a:p>
        </p:txBody>
      </p:sp>
      <p:sp>
        <p:nvSpPr>
          <p:cNvPr id="14" name="Text 11"/>
          <p:cNvSpPr txBox="1"/>
          <p:nvPr/>
        </p:nvSpPr>
        <p:spPr>
          <a:xfrm>
            <a:off x="2660904" y="1828800"/>
            <a:ext cx="1709928" cy="12893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“O foolish Galatians! Who has bewitched you?”</a:t>
            </a:r>
            <a:endParaRPr lang="en-US" sz="1200" dirty="0"/>
          </a:p>
        </p:txBody>
      </p:sp>
      <p:sp>
        <p:nvSpPr>
          <p:cNvPr id="15" name="Text 12"/>
          <p:cNvSpPr txBox="1"/>
          <p:nvPr/>
        </p:nvSpPr>
        <p:spPr>
          <a:xfrm>
            <a:off x="2642616"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rebuke</a:t>
            </a:r>
            <a:endParaRPr lang="en-US" sz="950" dirty="0"/>
          </a:p>
        </p:txBody>
      </p:sp>
      <p:sp>
        <p:nvSpPr>
          <p:cNvPr id="16" name="Shape 13"/>
          <p:cNvSpPr/>
          <p:nvPr/>
        </p:nvSpPr>
        <p:spPr>
          <a:xfrm>
            <a:off x="4471416" y="2189988"/>
            <a:ext cx="201168" cy="237744"/>
          </a:xfrm>
          <a:prstGeom prst="rightArrow">
            <a:avLst/>
          </a:prstGeom>
          <a:solidFill>
            <a:srgbClr val="6B7280"/>
          </a:solidFill>
          <a:ln w="12700">
            <a:solidFill>
              <a:srgbClr val="6B7280"/>
            </a:solidFill>
            <a:prstDash val="solid"/>
          </a:ln>
        </p:spPr>
      </p:sp>
      <p:sp>
        <p:nvSpPr>
          <p:cNvPr id="17" name="Shape 14"/>
          <p:cNvSpPr/>
          <p:nvPr/>
        </p:nvSpPr>
        <p:spPr>
          <a:xfrm>
            <a:off x="4681728" y="1188720"/>
            <a:ext cx="1892808" cy="2240280"/>
          </a:xfrm>
          <a:prstGeom prst="rect">
            <a:avLst/>
          </a:prstGeom>
          <a:solidFill>
            <a:srgbClr val="F2F6FC"/>
          </a:solidFill>
          <a:ln w="9525">
            <a:solidFill>
              <a:srgbClr val="D5DCEA"/>
            </a:solidFill>
            <a:prstDash val="solid"/>
          </a:ln>
        </p:spPr>
      </p:sp>
      <p:sp>
        <p:nvSpPr>
          <p:cNvPr id="18" name="Shape 15"/>
          <p:cNvSpPr/>
          <p:nvPr/>
        </p:nvSpPr>
        <p:spPr>
          <a:xfrm>
            <a:off x="4681728" y="1188720"/>
            <a:ext cx="1892808" cy="566928"/>
          </a:xfrm>
          <a:prstGeom prst="rect">
            <a:avLst/>
          </a:prstGeom>
          <a:solidFill>
            <a:srgbClr val="2E5496"/>
          </a:solidFill>
          <a:ln w="12700">
            <a:solidFill>
              <a:srgbClr val="2E5496"/>
            </a:solidFill>
            <a:prstDash val="solid"/>
          </a:ln>
        </p:spPr>
      </p:sp>
      <p:sp>
        <p:nvSpPr>
          <p:cNvPr id="19" name="Text 16"/>
          <p:cNvSpPr txBox="1"/>
          <p:nvPr/>
        </p:nvSpPr>
        <p:spPr>
          <a:xfrm>
            <a:off x="4736592"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4:12 · 4:31</a:t>
            </a:r>
            <a:endParaRPr lang="en-US" sz="1150" dirty="0"/>
          </a:p>
        </p:txBody>
      </p:sp>
      <p:sp>
        <p:nvSpPr>
          <p:cNvPr id="20" name="Text 17"/>
          <p:cNvSpPr txBox="1"/>
          <p:nvPr/>
        </p:nvSpPr>
        <p:spPr>
          <a:xfrm>
            <a:off x="4773168" y="1828800"/>
            <a:ext cx="1709928" cy="1289304"/>
          </a:xfrm>
          <a:prstGeom prst="rect">
            <a:avLst/>
          </a:prstGeom>
          <a:noFill/>
          <a:ln/>
        </p:spPr>
        <p:txBody>
          <a:bodyPr wrap="square" lIns="0" tIns="0" rIns="0" bIns="0" rtlCol="0" anchor="t"/>
          <a:lstStyle/>
          <a:p>
            <a:pPr algn="ctr" indent="0" marL="0">
              <a:buNone/>
            </a:pPr>
            <a:r>
              <a:rPr lang="en-US" sz="1200" dirty="0">
                <a:solidFill>
                  <a:srgbClr val="262626"/>
                </a:solidFill>
                <a:latin typeface="Arial" pitchFamily="34" charset="0"/>
                <a:ea typeface="Arial" pitchFamily="34" charset="-122"/>
                <a:cs typeface="Arial" pitchFamily="34" charset="-120"/>
              </a:rPr>
              <a:t>“Brethren” — again and again</a:t>
            </a:r>
            <a:endParaRPr lang="en-US" sz="1200" dirty="0"/>
          </a:p>
        </p:txBody>
      </p:sp>
      <p:sp>
        <p:nvSpPr>
          <p:cNvPr id="21" name="Text 18"/>
          <p:cNvSpPr txBox="1"/>
          <p:nvPr/>
        </p:nvSpPr>
        <p:spPr>
          <a:xfrm>
            <a:off x="4754880"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appeal</a:t>
            </a:r>
            <a:endParaRPr lang="en-US" sz="950" dirty="0"/>
          </a:p>
        </p:txBody>
      </p:sp>
      <p:sp>
        <p:nvSpPr>
          <p:cNvPr id="22" name="Shape 19"/>
          <p:cNvSpPr/>
          <p:nvPr/>
        </p:nvSpPr>
        <p:spPr>
          <a:xfrm>
            <a:off x="6583680" y="2189988"/>
            <a:ext cx="201168" cy="237744"/>
          </a:xfrm>
          <a:prstGeom prst="rightArrow">
            <a:avLst/>
          </a:prstGeom>
          <a:solidFill>
            <a:srgbClr val="6B7280"/>
          </a:solidFill>
          <a:ln w="12700">
            <a:solidFill>
              <a:srgbClr val="6B7280"/>
            </a:solidFill>
            <a:prstDash val="solid"/>
          </a:ln>
        </p:spPr>
      </p:sp>
      <p:sp>
        <p:nvSpPr>
          <p:cNvPr id="23" name="Shape 20"/>
          <p:cNvSpPr/>
          <p:nvPr/>
        </p:nvSpPr>
        <p:spPr>
          <a:xfrm>
            <a:off x="6793992" y="1188720"/>
            <a:ext cx="1892808" cy="2240280"/>
          </a:xfrm>
          <a:prstGeom prst="rect">
            <a:avLst/>
          </a:prstGeom>
          <a:solidFill>
            <a:srgbClr val="F2F6FC"/>
          </a:solidFill>
          <a:ln w="9525">
            <a:solidFill>
              <a:srgbClr val="D5DCEA"/>
            </a:solidFill>
            <a:prstDash val="solid"/>
          </a:ln>
        </p:spPr>
      </p:sp>
      <p:sp>
        <p:nvSpPr>
          <p:cNvPr id="24" name="Shape 21"/>
          <p:cNvSpPr/>
          <p:nvPr/>
        </p:nvSpPr>
        <p:spPr>
          <a:xfrm>
            <a:off x="6793992" y="1188720"/>
            <a:ext cx="1892808" cy="566928"/>
          </a:xfrm>
          <a:prstGeom prst="rect">
            <a:avLst/>
          </a:prstGeom>
          <a:solidFill>
            <a:srgbClr val="375623"/>
          </a:solidFill>
          <a:ln w="12700">
            <a:solidFill>
              <a:srgbClr val="375623"/>
            </a:solidFill>
            <a:prstDash val="solid"/>
          </a:ln>
        </p:spPr>
      </p:sp>
      <p:sp>
        <p:nvSpPr>
          <p:cNvPr id="25" name="Text 22"/>
          <p:cNvSpPr txBox="1"/>
          <p:nvPr/>
        </p:nvSpPr>
        <p:spPr>
          <a:xfrm>
            <a:off x="6848856" y="1188720"/>
            <a:ext cx="17830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6:18</a:t>
            </a:r>
            <a:endParaRPr lang="en-US" sz="1150" dirty="0"/>
          </a:p>
        </p:txBody>
      </p:sp>
      <p:sp>
        <p:nvSpPr>
          <p:cNvPr id="26" name="Text 23"/>
          <p:cNvSpPr txBox="1"/>
          <p:nvPr/>
        </p:nvSpPr>
        <p:spPr>
          <a:xfrm>
            <a:off x="6885432" y="1828800"/>
            <a:ext cx="1709928" cy="1289304"/>
          </a:xfrm>
          <a:prstGeom prst="rect">
            <a:avLst/>
          </a:prstGeom>
          <a:noFill/>
          <a:ln/>
        </p:spPr>
        <p:txBody>
          <a:bodyPr wrap="square" lIns="0" tIns="0" rIns="0" bIns="0" rtlCol="0" anchor="t"/>
          <a:lstStyle/>
          <a:p>
            <a:pPr algn="ctr" indent="0" marL="0">
              <a:buNone/>
            </a:pPr>
            <a:r>
              <a:rPr lang="en-US" sz="1250" b="1" dirty="0">
                <a:solidFill>
                  <a:srgbClr val="7030A0"/>
                </a:solidFill>
                <a:latin typeface="Arial" pitchFamily="34" charset="0"/>
                <a:ea typeface="Arial" pitchFamily="34" charset="-122"/>
                <a:cs typeface="Arial" pitchFamily="34" charset="-120"/>
              </a:rPr>
              <a:t>χάρις</a:t>
            </a:r>
            <a:endParaRPr lang="en-US" sz="1200" dirty="0"/>
          </a:p>
          <a:p>
            <a:pPr algn="ct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your spirit”</a:t>
            </a:r>
            <a:endParaRPr lang="en-US" sz="1200" dirty="0"/>
          </a:p>
        </p:txBody>
      </p:sp>
      <p:sp>
        <p:nvSpPr>
          <p:cNvPr id="27" name="Text 24"/>
          <p:cNvSpPr txBox="1"/>
          <p:nvPr/>
        </p:nvSpPr>
        <p:spPr>
          <a:xfrm>
            <a:off x="6867144" y="3099816"/>
            <a:ext cx="1746504"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the benediction</a:t>
            </a:r>
            <a:endParaRPr lang="en-US" sz="950" dirty="0"/>
          </a:p>
        </p:txBody>
      </p:sp>
      <p:sp>
        <p:nvSpPr>
          <p:cNvPr id="28" name="Shape 25"/>
          <p:cNvSpPr/>
          <p:nvPr/>
        </p:nvSpPr>
        <p:spPr>
          <a:xfrm>
            <a:off x="457200" y="3703320"/>
            <a:ext cx="8229600" cy="548640"/>
          </a:xfrm>
          <a:prstGeom prst="roundRect">
            <a:avLst>
              <a:gd name="adj" fmla="val 10000"/>
            </a:avLst>
          </a:prstGeom>
          <a:solidFill>
            <a:srgbClr val="1F3864"/>
          </a:solidFill>
          <a:ln w="12700">
            <a:solidFill>
              <a:srgbClr val="1F3864"/>
            </a:solidFill>
            <a:prstDash val="solid"/>
          </a:ln>
        </p:spPr>
      </p:sp>
      <p:sp>
        <p:nvSpPr>
          <p:cNvPr id="29" name="Text 26"/>
          <p:cNvSpPr txBox="1"/>
          <p:nvPr/>
        </p:nvSpPr>
        <p:spPr>
          <a:xfrm>
            <a:off x="621792" y="370332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Paul's last word to the Galatians is his first word to them, said one more time: grace.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6:11–18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modern equivalents of the Judaizers' motives — approval, avoiding conflict, appearing put-together, pride in numbers — show up in ministry today?</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look like practically to boast in nothing except the cross of Christ?</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Check Your Own Unseen Motives</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Name one motive honestly before God this week and ask Him to replace it with a desire to boast only in the cross.</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Live as the New Creation You Are</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Write down one way your new-creation identity in Christ should change a decision you're facing.</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Grace first and grace last: boast only in the cross, and teach the truth without adding or subtracting.</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16 — Teaching the Truth: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