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udy 15 · Galatians 6:6–10" id="{d18b43e0-aaa9-9b56-2548-290761c5678a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Four movements — the performance (6:6), principles (6:7–8), pledge (6:9) and priority (6:10) of sowing and reaping. Every chart in this deck stays within the posted commentary for this study; Greek words come from the study's posted Greek Word Study. Each slide's notes name the commentary section behind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notes: Use this map to show the group where this passage sits in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(Introduction and Outline I–IV): “Whatever a man sows, that he will also reap” — rooted first in agriculture and in God's promise to Noah after the flood (seedtime and harvest). Paul uses it for the believer's use of time, money and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(I): Support of the one who teaches is Paul's first, concrete illustration of sowing and reaping. Why would it have seemed strange to the Galatians? The posted study names three pressures: the law (the temple system was already funded), the Judaizers (who discouraged support of grace teachers), and Paul's own example of not charging. In 1 Corinthians 9 Paul insists he had the right to be paid; not using it was his personal choice, binding no one 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(II.A–D): First the red flag: God is not mocked (μυκτηρίζεται — to turn up the nose, sneer; used only here). God means what He says. Then four principles: put in before you take out (John 12:24); what you put in is what you take out (flesh → corruption, Spirit → everlasting life); you take out more than you put in (one kernel of corn yields many); and the harvest comes later than the sowing.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(Part 2, Question 4 of the posted study, citing the Grace New Testament Commentary): Paul writes to believers (3:29) who already possess eternal life and cannot lose it. The reaping in view parallels 5:21 and 2 Timothy 2:12 — ruling with Christ in the kingdom as a reward for faithfulness, not the gift of life itself. Eternal life is received as a free gift by faith alone; what is reaped here is reward.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(III–IV): v.9 — the exhortation and the condition. Paul names two failures: growing weary (ἐγκακῶμεν, losing courage) and losing heart (ἐκλυόμενοι — a runner's muscles giving out). The harvest comes “in due season” — καιρός, the right time, not just elapsed time. v.10 — “therefore” concludes the section. The commentary weighs two readings (law and grace, or the use of our resources) and takes the resources reading from the immediate context: do good to all, with first — not exclusive — responsibility to the household of faith, as families care first for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 notes (from the posted Study Questions and Application sections): Q1: What is one thing in your life that is clearly “sowing to the flesh,” and what would sowing to the Spirit look like in that same area? — Leader answer: See Commentary II.B — we reap what we sow: corruption from the flesh, lasting reward from the Spirit.  Q2: Where have you been tempted to grow weary in doing good because you haven't yet seen a harvest? — Leader answer: See Commentary III — the pledge: “in due season,” if we do not lose heart.  Applications: Sow Into Your Teachers — Take one concrete step this week — financial or otherwise — to support someone who faithfully teaches you the word.  Don't Lose Heart — Recommit to a work for one more defined season, and ask someone to check in with you on it.  Close by reading the summary line aloud.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4" name="Text 0"/>
          <p:cNvSpPr/>
          <p:nvPr/>
        </p:nvSpPr>
        <p:spPr>
          <a:xfrm>
            <a:off x="457200" y="477316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15 of 16 · Galatians 6:6–10 · The Gospel Vault · NKJV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5" name="Text 0"/>
          <p:cNvSpPr/>
          <p:nvPr/>
        </p:nvSpPr>
        <p:spPr>
          <a:xfrm>
            <a:off x="64008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15 of 16 · Galatians 6:6–10 · The Gospel Vault · NKJV</a:t>
            </a:r>
            <a:endParaRPr lang="en-US" sz="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1097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Study 15 of 16 · Galatians 6:6–10 · Leader charts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0876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Sowing and Reaping</a:t>
            </a:r>
            <a:endParaRPr lang="en-US" sz="3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274320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6EC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God is never mocked, every believer's use of time, money and resources — starting with support of those who teach — is seed that will yield either decay or lasting reward, so we keep sowing to the Spirit without growing weary.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EBB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Dr. C. Norman Sellers, ThD · SellersBibleInstitute.com · used by permission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study fits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· sixteen studies · this study highlighted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Ground of Liberty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4889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4033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One True Gospel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4058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3202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1:11–17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Independent Revelation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732270" y="1115568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23710" y="1170432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1:18–2:10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Gospel Is Independent of the Judean Churches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2:11–21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Goes Back to School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4889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64033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a Spell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64058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73202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3:6–14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Blessing or a Curse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32270" y="2020824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23710" y="2075688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3:15–29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Superiority of the Promise to the Law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5720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4:1–11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 Became a Man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254889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64033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4:12–20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Steel Fist in a Velvet Glove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64058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73202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4:21–31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Old Testament Story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732270" y="2926080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823710" y="2980944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5:1–12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Taking a Stand in Liberty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54864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5:13–26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 in the Spirit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54889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264033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6:1–5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Brothers and Burdens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640580" y="3831336"/>
            <a:ext cx="1954530" cy="7863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3202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</a:t>
            </a:r>
            <a:pPr indent="0" marL="0">
              <a:buNone/>
            </a:pPr>
            <a:r>
              <a:rPr lang="en-US" sz="100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6:6–10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Sowing and Reaping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6732270" y="3831336"/>
            <a:ext cx="1954530" cy="786384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6823710" y="3886200"/>
            <a:ext cx="177165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54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</a:t>
            </a:r>
            <a:pPr indent="0" marL="0">
              <a:buNone/>
            </a:pPr>
            <a:r>
              <a:rPr lang="en-US" sz="10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6:11–18</a:t>
            </a:r>
            <a:endParaRPr lang="en-US" sz="1200" dirty="0"/>
          </a:p>
          <a:p>
            <a:pPr indent="0" marL="0">
              <a:buNone/>
            </a:pPr>
            <a:r>
              <a:rPr lang="en-US" sz="10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the Truth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Sowing and reaping in four parts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6:6–10 · The commentary's outline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18788" cy="14630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Performance  ·  v.6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1764792"/>
            <a:ext cx="3762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all good things with the one who teaches you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8012" y="1143000"/>
            <a:ext cx="4018788" cy="14630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96028" y="1271016"/>
            <a:ext cx="402336" cy="402336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96028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289804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Principles  ·  vv.7–8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796028" y="1764792"/>
            <a:ext cx="3762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not mocked: four laws of the harvest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770632"/>
            <a:ext cx="4018788" cy="14630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898648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III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2880360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Pledge  ·  v.9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" y="3392424"/>
            <a:ext cx="3762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harvest in due season — if we do not lose heart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8012" y="2770632"/>
            <a:ext cx="4018788" cy="14630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96028" y="2898648"/>
            <a:ext cx="402336" cy="40233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6028" y="2898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289804" y="2880360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Priority  ·  v.10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96028" y="3392424"/>
            <a:ext cx="3762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good to all — especially the household of faith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“Share in all good things with him who teaches”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6:6 · Outline I — The performance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3108960" cy="56692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18872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command — v.6</a:t>
            </a:r>
            <a:endParaRPr lang="en-US" sz="12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4D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κατηχούμενος · κοινωνείτω</a:t>
            </a:r>
            <a:pPr indent="0" marL="0">
              <a:buNone/>
            </a:pPr>
            <a:r>
              <a:rPr lang="en-US" sz="850" dirty="0">
                <a:solidFill>
                  <a:srgbClr val="DCE4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taught · share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709928"/>
            <a:ext cx="3108960" cy="208483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292608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Those taught the word share with the one who teaches</a:t>
            </a:r>
            <a:endParaRPr lang="en-US" sz="115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ongoing responsibility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3794760" y="11430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seemed strange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94760" y="1508760"/>
            <a:ext cx="4892040" cy="6583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22776" y="1609344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922776" y="1609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44568" y="1508760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law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temple system was already funded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794760" y="2240280"/>
            <a:ext cx="48920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922776" y="2340864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922776" y="2340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44568" y="2240280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Judaizers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discouraged support of grace teachers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794760" y="2971800"/>
            <a:ext cx="4892040" cy="65836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922776" y="3072384"/>
            <a:ext cx="457200" cy="45720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922776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544568" y="2971800"/>
            <a:ext cx="3959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Paul's own example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waived his right (1 Cor 9) — his choice, not a rule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9776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1792" y="397764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three changed the believers' responsibility.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laws of the harvest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6:7–8 · Outline II — The principles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4018788" cy="129844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271016"/>
            <a:ext cx="402336" cy="402336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85216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1078992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reap if we sow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85216" y="1764792"/>
            <a:ext cx="37627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in before you take out — “unless a grain of wheat falls into the ground and dies” (John 12:24)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8012" y="1143000"/>
            <a:ext cx="4018788" cy="129844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96028" y="1271016"/>
            <a:ext cx="402336" cy="402336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96028" y="1271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289804" y="125272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reap what we sow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796028" y="1764792"/>
            <a:ext cx="37627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 to the flesh → corruption (φθοράν); sow to the Spirit → everlasting life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606040"/>
            <a:ext cx="4018788" cy="129844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216" y="2734056"/>
            <a:ext cx="402336" cy="402336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85216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271576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reap more than we sow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85216" y="3227832"/>
            <a:ext cx="37627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kernel planted yields a full ear and more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668012" y="2606040"/>
            <a:ext cx="4018788" cy="1298448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796028" y="2734056"/>
            <a:ext cx="402336" cy="402336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796028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289804" y="2715768"/>
            <a:ext cx="33055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reap later than we sow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796028" y="3227832"/>
            <a:ext cx="37627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farmer plants, waits, and harvests in its time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4160520"/>
            <a:ext cx="7900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not be deceived, God is not mocked” — μυκτηρίζεται: to turn up one's nose at Him.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“Will of the Spirit reap everlasting life”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6:8 · The posted study's Free Grace reading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874520" y="1115568"/>
            <a:ext cx="336042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65960" y="1115568"/>
            <a:ext cx="3223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gift of eternal life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326380" y="1115568"/>
            <a:ext cx="336042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372100" y="1115568"/>
            <a:ext cx="3223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Reaping everlasting life (v.8)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55448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Received by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874520" y="1554480"/>
            <a:ext cx="336042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554480"/>
            <a:ext cx="3177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Faith alone in Christ alone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326380" y="1554480"/>
            <a:ext cx="336042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17820" y="1554480"/>
            <a:ext cx="3177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Sowing to the Spirit — faithful living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15798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874520" y="2157984"/>
            <a:ext cx="336042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965960" y="2157984"/>
            <a:ext cx="3177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moment a person believes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326380" y="2157984"/>
            <a:ext cx="336042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17820" y="2157984"/>
            <a:ext cx="3177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due season — at the harvest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276148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it be lost?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874520" y="2761488"/>
            <a:ext cx="336042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965960" y="2761488"/>
            <a:ext cx="3177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326380" y="2761488"/>
            <a:ext cx="336042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17820" y="2761488"/>
            <a:ext cx="3177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can be forfeited by sowing to the flesh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336499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874520" y="3364992"/>
            <a:ext cx="336042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965960" y="3364992"/>
            <a:ext cx="3177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itself — a free gift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326380" y="3364992"/>
            <a:ext cx="3360420" cy="548640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17820" y="3364992"/>
            <a:ext cx="31775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Reward: ruling with Christ (cf. 5:21; 2 Tim 2:12)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1792" y="406908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Paul is writing to believers who already have eternal life. The harvest in view is reward.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grow weary — and start at home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6:9–10 · Outline III–IV — The pledge and the priority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43000"/>
            <a:ext cx="777240" cy="621792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1143000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v.9a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234440" y="1143000"/>
            <a:ext cx="7452360" cy="62179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344168" y="114300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“Let us not grow weary while doing good”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623560" y="1143000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ἐγκακῶμεν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lose courage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837944"/>
            <a:ext cx="777240" cy="6217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1837944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v.9b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234440" y="1837944"/>
            <a:ext cx="7452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344168" y="1837944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 in due season we shall reap”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623560" y="1837944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καιρῷ ἰδίῳ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God's right time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532888"/>
            <a:ext cx="777240" cy="6217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2532888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v.9c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1234440" y="2532888"/>
            <a:ext cx="7452360" cy="62179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44168" y="2532888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“if we do not lose heart”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623560" y="2532888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ἐκλυόμενοι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runner giving out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227832"/>
            <a:ext cx="777240" cy="6217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227832"/>
            <a:ext cx="777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v.10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1234440" y="3227832"/>
            <a:ext cx="745236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344168" y="3227832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“Do good to all, especially to those who are of the household of faith”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23560" y="322783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03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οἰκείους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first, not only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0690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1792" y="4069080"/>
            <a:ext cx="7900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doing what the Lord has led you to do — until He leads you to do something else.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 and apply</a:t>
            </a:r>
            <a:endParaRPr lang="en-US" sz="2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Galatians 6:6–10 · from the study's posted questions and applications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6692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773168" y="1115568"/>
            <a:ext cx="38039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499616"/>
            <a:ext cx="4023360" cy="2359152"/>
          </a:xfrm>
          <a:prstGeom prst="rect">
            <a:avLst/>
          </a:prstGeom>
          <a:solidFill>
            <a:srgbClr val="F2F6FC"/>
          </a:solidFill>
          <a:ln w="9525">
            <a:solidFill>
              <a:srgbClr val="D5DC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6928" y="1636776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6928" y="1636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005840" y="1591056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one thing in your life that is clearly “sowing to the flesh,” and what would sowing to the Spirit look like in that same area?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66928" y="2724912"/>
            <a:ext cx="347472" cy="347472"/>
          </a:xfrm>
          <a:prstGeom prst="ellipse">
            <a:avLst/>
          </a:prstGeom>
          <a:solidFill>
            <a:srgbClr val="2E5496"/>
          </a:solidFill>
          <a:ln w="12700">
            <a:solidFill>
              <a:srgbClr val="2E549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66928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1005840" y="2679192"/>
            <a:ext cx="3364992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have you been tempted to grow weary in doing good because you haven't yet seen a harvest?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4791456" y="1591056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Sow Into Your Teachers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one concrete step this week — financial or otherwise — to support someone who faithfully teaches you the word.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4791456" y="2679192"/>
            <a:ext cx="376732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Lose Heart</a:t>
            </a:r>
            <a:endParaRPr lang="en-US" sz="1200" dirty="0"/>
          </a:p>
          <a:p>
            <a:pPr indent="0" marL="0">
              <a:buNone/>
            </a:pPr>
            <a:r>
              <a:rPr lang="en-US" sz="12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Recommit to a work for one more defined season, and ask someone to check in with you on it.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402336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" y="4023360"/>
            <a:ext cx="7900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one line: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God is not mocked: keep sowing to the Spirit, and in due season you will reap.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Galatians Study 15 — Sowing and Reaping: Charts</dc:title>
  <dc:subject>PptxGenJS Presentation</dc:subject>
  <dc:creator>The Gospel Vault</dc:creator>
  <cp:lastModifiedBy>The Gospel Vault</cp:lastModifiedBy>
  <cp:revision>1</cp:revision>
  <dcterms:created xsi:type="dcterms:W3CDTF">2026-10-30T05:30:26Z</dcterms:created>
  <dcterms:modified xsi:type="dcterms:W3CDTF">2026-10-30T05:30:26Z</dcterms:modified>
</cp:coreProperties>
</file>