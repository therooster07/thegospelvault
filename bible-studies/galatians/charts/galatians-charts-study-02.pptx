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udy 2 · Galatians 1:6–10" id="{7e22ee90-4aae-4d9a-ca56-653c7a123a49}">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IMPORTANT — on the live site, the Commentary section of the 1:6–10 page currently repeats Study 1's commentary (Galatians introduction and 1:1–5). The charts in this study are therefore built from the parts of the posted 1:6–10 page that are specific to this passage: the Part 1 outline table, the Greek Word Study, the leader answers, the Passage Summary and the Devotional. Nothing here goes beyond those posted sections. Every chart in this deck stays within the posted commentary for this study; Greek words come from the study's posted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(Self-Study Guide, Part 1 — From the Commentary): Three movements. I: the Galatians are deserting — from Christ, to a perverted gospel. II: two scenarios, one verdict. III: Paul serves Christ, not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(Greek Word Study v.6; Study Question 1–2): μετατίθεσθε is a military term for desertion. Present tense: it is in progress. Middle voice: it is voluntary, self-initiated. And it was “so soon” — within about a year of Paul's first visit. The participle “who called” points to Christ, not Paul: rejecting the gospel was rejecting Christ Himself (cf. 2 Cor 5:20). The posted Greek study adds that this is a believer's practical drift, not a loss of the eternal life already received by faith — they are still the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(Greek Word Study vv.6–7; Study Question 3): ἄλλος is another of the same kind; ἕτερος is a different kind altogether. Paul uses ἕτερος for the Judaizers' message and then denies it is ἄλλος — it is not a variation of the true gospel. εὐαγγέλιον appears three times in two verses, pressing the question: which good news? The troublers' goal (μεταστρέψαι) was not to supplement the gospel but to turn it into its opposite.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(Greek Word Study vv.8–9; Study Question 4): Paul pronounces the same curse on an unlikely messenger (himself or an angel) and a likely one (anyone preaching now). The point: the authority of the gospel rests in the message, tested against the Word — not in the credentials of the messenger, however impressive. ἀνάθεμα is the LXX word for Hebrew cherem, the ban devoted to destruction (Josh 6:17) — Israel's most severe covenant-curse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(Greek Word Study v.10; Study Question 5): The charge behind verse 10 was that Paul's law-free gospel was crafted to flatter Gentiles. Paul answers with his identity: a δοῦλος has one Master to please. The posted study then turns to motive: knowing the debt is already paid moves a believer from serving in fear to serving in love — “the love of Christ compels us” (2 Cor 5:14).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According to 1:6b, whose call were the Galatians actually rejecting when they abandoned Paul's gospel — and why does that matter? — Leader answer: They were rejecting Christ Himself, who called them; Paul was only the messenger (cf. 2 Cor 5:20).  Q2: Why does Paul pronounce the same curse (ἀνάθεμα) on an unlikely messenger and a likely one? — Leader answer: The authority of the gospel rests in the message, tested against the Word — not in the credentials of the messenger.  Applications: Grace Cannot Be Improved Upon — Write out in one sentence how a person receives eternal life. Check it against Ephesians 2:8–9 and John 3:16.  Test Every Message Against the Word — Pick one teaching you've accepted secondhand and trace it back to see whether it holds up against the Word.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Galatians · Study 2 of 16 · Galatians 1:6–10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54880"/>
            <a:ext cx="73152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Galatians · Study 2 of 16 · Galatians 1:6–10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Galatians · Study 2 of 16 · Galatians 1:6–10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The One True Gospel</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Turning from grace is desertion from Christ Himself. Adding law to grace doesn't modify the gospel — it replaces it, and any other gospel stands under God's curse.</a:t>
            </a:r>
            <a:endParaRPr lang="en-US" sz="1500" dirty="0"/>
          </a:p>
        </p:txBody>
      </p:sp>
      <p:sp>
        <p:nvSpPr>
          <p:cNvPr id="6" name="Text 3"/>
          <p:cNvSpPr txBox="1"/>
          <p:nvPr/>
        </p:nvSpPr>
        <p:spPr>
          <a:xfrm>
            <a:off x="640080" y="4343400"/>
            <a:ext cx="7863840" cy="274320"/>
          </a:xfrm>
          <a:prstGeom prst="rect">
            <a:avLst/>
          </a:prstGeom>
          <a:noFill/>
          <a:ln/>
        </p:spPr>
        <p:txBody>
          <a:bodyPr wrap="square" lIns="0" tIns="0" rIns="0" bIns="0" rtlCol="0" anchor="t"/>
          <a:lstStyle/>
          <a:p>
            <a:pPr indent="0" marL="0">
              <a:buNone/>
            </a:pPr>
            <a:r>
              <a:rPr lang="en-US" sz="1000" dirty="0">
                <a:solidFill>
                  <a:srgbClr val="AEBBD6"/>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 sixteen studies · this study highlighted</a:t>
            </a:r>
            <a:endParaRPr lang="en-US" sz="1200" dirty="0"/>
          </a:p>
        </p:txBody>
      </p:sp>
      <p:sp>
        <p:nvSpPr>
          <p:cNvPr id="5" name="Shape 2"/>
          <p:cNvSpPr/>
          <p:nvPr/>
        </p:nvSpPr>
        <p:spPr>
          <a:xfrm>
            <a:off x="457200" y="1115568"/>
            <a:ext cx="1954530" cy="786384"/>
          </a:xfrm>
          <a:prstGeom prst="rect">
            <a:avLst/>
          </a:prstGeom>
          <a:solidFill>
            <a:srgbClr val="F2F6FC"/>
          </a:solidFill>
          <a:ln w="9525">
            <a:solidFill>
              <a:srgbClr val="D5DCEA"/>
            </a:solidFill>
            <a:prstDash val="solid"/>
          </a:ln>
        </p:spPr>
      </p:sp>
      <p:sp>
        <p:nvSpPr>
          <p:cNvPr id="6" name="Text 3"/>
          <p:cNvSpPr txBox="1"/>
          <p:nvPr/>
        </p:nvSpPr>
        <p:spPr>
          <a:xfrm>
            <a:off x="54864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01  </a:t>
            </a:r>
            <a:pPr indent="0" marL="0">
              <a:buNone/>
            </a:pPr>
            <a:r>
              <a:rPr lang="en-US" sz="1000" b="1" dirty="0">
                <a:solidFill>
                  <a:srgbClr val="595959"/>
                </a:solidFill>
                <a:latin typeface="Arial" pitchFamily="34" charset="0"/>
                <a:ea typeface="Arial" pitchFamily="34" charset="-122"/>
                <a:cs typeface="Arial" pitchFamily="34" charset="-120"/>
              </a:rPr>
              <a:t>1:1–5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Ground of Liberty</a:t>
            </a:r>
            <a:endParaRPr lang="en-US" sz="1200" dirty="0"/>
          </a:p>
        </p:txBody>
      </p:sp>
      <p:sp>
        <p:nvSpPr>
          <p:cNvPr id="7" name="Shape 4"/>
          <p:cNvSpPr/>
          <p:nvPr/>
        </p:nvSpPr>
        <p:spPr>
          <a:xfrm>
            <a:off x="2548890" y="1115568"/>
            <a:ext cx="1954530" cy="786384"/>
          </a:xfrm>
          <a:prstGeom prst="rect">
            <a:avLst/>
          </a:prstGeom>
          <a:solidFill>
            <a:srgbClr val="1F3864"/>
          </a:solidFill>
          <a:ln w="9525">
            <a:solidFill>
              <a:srgbClr val="1F3864"/>
            </a:solidFill>
            <a:prstDash val="solid"/>
          </a:ln>
        </p:spPr>
      </p:sp>
      <p:sp>
        <p:nvSpPr>
          <p:cNvPr id="8" name="Text 5"/>
          <p:cNvSpPr txBox="1"/>
          <p:nvPr/>
        </p:nvSpPr>
        <p:spPr>
          <a:xfrm>
            <a:off x="2640330" y="1170432"/>
            <a:ext cx="1771650" cy="676656"/>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02  </a:t>
            </a:r>
            <a:pPr indent="0" marL="0">
              <a:buNone/>
            </a:pPr>
            <a:r>
              <a:rPr lang="en-US" sz="1000" b="1" dirty="0">
                <a:solidFill>
                  <a:srgbClr val="C9D5EE"/>
                </a:solidFill>
                <a:latin typeface="Arial" pitchFamily="34" charset="0"/>
                <a:ea typeface="Arial" pitchFamily="34" charset="-122"/>
                <a:cs typeface="Arial" pitchFamily="34" charset="-120"/>
              </a:rPr>
              <a:t>1:6–10</a:t>
            </a:r>
            <a:endParaRPr lang="en-US" sz="1200" dirty="0"/>
          </a:p>
          <a:p>
            <a:pPr indent="0" marL="0">
              <a:buNone/>
            </a:pPr>
            <a:r>
              <a:rPr lang="en-US" sz="1050" b="1" dirty="0">
                <a:solidFill>
                  <a:srgbClr val="FFFFFF"/>
                </a:solidFill>
                <a:latin typeface="Arial" pitchFamily="34" charset="0"/>
                <a:ea typeface="Arial" pitchFamily="34" charset="-122"/>
                <a:cs typeface="Arial" pitchFamily="34" charset="-120"/>
              </a:rPr>
              <a:t>The One True Gospel</a:t>
            </a:r>
            <a:endParaRPr lang="en-US" sz="1200" dirty="0"/>
          </a:p>
        </p:txBody>
      </p:sp>
      <p:sp>
        <p:nvSpPr>
          <p:cNvPr id="9" name="Shape 6"/>
          <p:cNvSpPr/>
          <p:nvPr/>
        </p:nvSpPr>
        <p:spPr>
          <a:xfrm>
            <a:off x="4640580" y="1115568"/>
            <a:ext cx="1954530" cy="786384"/>
          </a:xfrm>
          <a:prstGeom prst="rect">
            <a:avLst/>
          </a:prstGeom>
          <a:solidFill>
            <a:srgbClr val="F2F6FC"/>
          </a:solidFill>
          <a:ln w="9525">
            <a:solidFill>
              <a:srgbClr val="D5DCEA"/>
            </a:solidFill>
            <a:prstDash val="solid"/>
          </a:ln>
        </p:spPr>
      </p:sp>
      <p:sp>
        <p:nvSpPr>
          <p:cNvPr id="10" name="Text 7"/>
          <p:cNvSpPr txBox="1"/>
          <p:nvPr/>
        </p:nvSpPr>
        <p:spPr>
          <a:xfrm>
            <a:off x="473202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03  </a:t>
            </a:r>
            <a:pPr indent="0" marL="0">
              <a:buNone/>
            </a:pPr>
            <a:r>
              <a:rPr lang="en-US" sz="1000" b="1" dirty="0">
                <a:solidFill>
                  <a:srgbClr val="595959"/>
                </a:solidFill>
                <a:latin typeface="Arial" pitchFamily="34" charset="0"/>
                <a:ea typeface="Arial" pitchFamily="34" charset="-122"/>
                <a:cs typeface="Arial" pitchFamily="34" charset="-120"/>
              </a:rPr>
              <a:t>1:11–17</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Independent Revelation</a:t>
            </a:r>
            <a:endParaRPr lang="en-US" sz="1200" dirty="0"/>
          </a:p>
        </p:txBody>
      </p:sp>
      <p:sp>
        <p:nvSpPr>
          <p:cNvPr id="11" name="Shape 8"/>
          <p:cNvSpPr/>
          <p:nvPr/>
        </p:nvSpPr>
        <p:spPr>
          <a:xfrm>
            <a:off x="6732270" y="1115568"/>
            <a:ext cx="1954530" cy="786384"/>
          </a:xfrm>
          <a:prstGeom prst="rect">
            <a:avLst/>
          </a:prstGeom>
          <a:solidFill>
            <a:srgbClr val="F2F6FC"/>
          </a:solidFill>
          <a:ln w="9525">
            <a:solidFill>
              <a:srgbClr val="D5DCEA"/>
            </a:solidFill>
            <a:prstDash val="solid"/>
          </a:ln>
        </p:spPr>
      </p:sp>
      <p:sp>
        <p:nvSpPr>
          <p:cNvPr id="12" name="Text 9"/>
          <p:cNvSpPr txBox="1"/>
          <p:nvPr/>
        </p:nvSpPr>
        <p:spPr>
          <a:xfrm>
            <a:off x="682371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04  </a:t>
            </a:r>
            <a:pPr indent="0" marL="0">
              <a:buNone/>
            </a:pPr>
            <a:r>
              <a:rPr lang="en-US" sz="1000" b="1" dirty="0">
                <a:solidFill>
                  <a:srgbClr val="595959"/>
                </a:solidFill>
                <a:latin typeface="Arial" pitchFamily="34" charset="0"/>
                <a:ea typeface="Arial" pitchFamily="34" charset="-122"/>
                <a:cs typeface="Arial" pitchFamily="34" charset="-120"/>
              </a:rPr>
              <a:t>1:18–2:10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Gospel Is Independent of the Judean Churches</a:t>
            </a:r>
            <a:endParaRPr lang="en-US" sz="1200" dirty="0"/>
          </a:p>
        </p:txBody>
      </p:sp>
      <p:sp>
        <p:nvSpPr>
          <p:cNvPr id="13" name="Shape 10"/>
          <p:cNvSpPr/>
          <p:nvPr/>
        </p:nvSpPr>
        <p:spPr>
          <a:xfrm>
            <a:off x="457200" y="2020824"/>
            <a:ext cx="1954530" cy="786384"/>
          </a:xfrm>
          <a:prstGeom prst="rect">
            <a:avLst/>
          </a:prstGeom>
          <a:solidFill>
            <a:srgbClr val="F2F6FC"/>
          </a:solidFill>
          <a:ln w="9525">
            <a:solidFill>
              <a:srgbClr val="D5DCEA"/>
            </a:solidFill>
            <a:prstDash val="solid"/>
          </a:ln>
        </p:spPr>
      </p:sp>
      <p:sp>
        <p:nvSpPr>
          <p:cNvPr id="14" name="Text 11"/>
          <p:cNvSpPr txBox="1"/>
          <p:nvPr/>
        </p:nvSpPr>
        <p:spPr>
          <a:xfrm>
            <a:off x="54864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05  </a:t>
            </a:r>
            <a:pPr indent="0" marL="0">
              <a:buNone/>
            </a:pPr>
            <a:r>
              <a:rPr lang="en-US" sz="1000" b="1" dirty="0">
                <a:solidFill>
                  <a:srgbClr val="595959"/>
                </a:solidFill>
                <a:latin typeface="Arial" pitchFamily="34" charset="0"/>
                <a:ea typeface="Arial" pitchFamily="34" charset="-122"/>
                <a:cs typeface="Arial" pitchFamily="34" charset="-120"/>
              </a:rPr>
              <a:t>2:11–21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Peter Goes Back to School</a:t>
            </a:r>
            <a:endParaRPr lang="en-US" sz="1200" dirty="0"/>
          </a:p>
        </p:txBody>
      </p:sp>
      <p:sp>
        <p:nvSpPr>
          <p:cNvPr id="15" name="Shape 12"/>
          <p:cNvSpPr/>
          <p:nvPr/>
        </p:nvSpPr>
        <p:spPr>
          <a:xfrm>
            <a:off x="2548890" y="2020824"/>
            <a:ext cx="1954530" cy="786384"/>
          </a:xfrm>
          <a:prstGeom prst="rect">
            <a:avLst/>
          </a:prstGeom>
          <a:solidFill>
            <a:srgbClr val="F2F6FC"/>
          </a:solidFill>
          <a:ln w="9525">
            <a:solidFill>
              <a:srgbClr val="D5DCEA"/>
            </a:solidFill>
            <a:prstDash val="solid"/>
          </a:ln>
        </p:spPr>
      </p:sp>
      <p:sp>
        <p:nvSpPr>
          <p:cNvPr id="16" name="Text 13"/>
          <p:cNvSpPr txBox="1"/>
          <p:nvPr/>
        </p:nvSpPr>
        <p:spPr>
          <a:xfrm>
            <a:off x="264033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06  </a:t>
            </a:r>
            <a:pPr indent="0" marL="0">
              <a:buNone/>
            </a:pPr>
            <a:r>
              <a:rPr lang="en-US" sz="1000" b="1" dirty="0">
                <a:solidFill>
                  <a:srgbClr val="595959"/>
                </a:solidFill>
                <a:latin typeface="Arial" pitchFamily="34" charset="0"/>
                <a:ea typeface="Arial" pitchFamily="34" charset="-122"/>
                <a:cs typeface="Arial" pitchFamily="34" charset="-120"/>
              </a:rPr>
              <a:t>3:1–5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Under a Spell</a:t>
            </a:r>
            <a:endParaRPr lang="en-US" sz="1200" dirty="0"/>
          </a:p>
        </p:txBody>
      </p:sp>
      <p:sp>
        <p:nvSpPr>
          <p:cNvPr id="17" name="Shape 14"/>
          <p:cNvSpPr/>
          <p:nvPr/>
        </p:nvSpPr>
        <p:spPr>
          <a:xfrm>
            <a:off x="4640580" y="2020824"/>
            <a:ext cx="1954530" cy="786384"/>
          </a:xfrm>
          <a:prstGeom prst="rect">
            <a:avLst/>
          </a:prstGeom>
          <a:solidFill>
            <a:srgbClr val="F2F6FC"/>
          </a:solidFill>
          <a:ln w="9525">
            <a:solidFill>
              <a:srgbClr val="D5DCEA"/>
            </a:solidFill>
            <a:prstDash val="solid"/>
          </a:ln>
        </p:spPr>
      </p:sp>
      <p:sp>
        <p:nvSpPr>
          <p:cNvPr id="18" name="Text 15"/>
          <p:cNvSpPr txBox="1"/>
          <p:nvPr/>
        </p:nvSpPr>
        <p:spPr>
          <a:xfrm>
            <a:off x="473202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07  </a:t>
            </a:r>
            <a:pPr indent="0" marL="0">
              <a:buNone/>
            </a:pPr>
            <a:r>
              <a:rPr lang="en-US" sz="1000" b="1" dirty="0">
                <a:solidFill>
                  <a:srgbClr val="595959"/>
                </a:solidFill>
                <a:latin typeface="Arial" pitchFamily="34" charset="0"/>
                <a:ea typeface="Arial" pitchFamily="34" charset="-122"/>
                <a:cs typeface="Arial" pitchFamily="34" charset="-120"/>
              </a:rPr>
              <a:t>3:6–14</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Blessing or a Curse</a:t>
            </a:r>
            <a:endParaRPr lang="en-US" sz="1200" dirty="0"/>
          </a:p>
        </p:txBody>
      </p:sp>
      <p:sp>
        <p:nvSpPr>
          <p:cNvPr id="19" name="Shape 16"/>
          <p:cNvSpPr/>
          <p:nvPr/>
        </p:nvSpPr>
        <p:spPr>
          <a:xfrm>
            <a:off x="6732270" y="2020824"/>
            <a:ext cx="1954530" cy="786384"/>
          </a:xfrm>
          <a:prstGeom prst="rect">
            <a:avLst/>
          </a:prstGeom>
          <a:solidFill>
            <a:srgbClr val="F2F6FC"/>
          </a:solidFill>
          <a:ln w="9525">
            <a:solidFill>
              <a:srgbClr val="D5DCEA"/>
            </a:solidFill>
            <a:prstDash val="solid"/>
          </a:ln>
        </p:spPr>
      </p:sp>
      <p:sp>
        <p:nvSpPr>
          <p:cNvPr id="20" name="Text 17"/>
          <p:cNvSpPr txBox="1"/>
          <p:nvPr/>
        </p:nvSpPr>
        <p:spPr>
          <a:xfrm>
            <a:off x="682371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08  </a:t>
            </a:r>
            <a:pPr indent="0" marL="0">
              <a:buNone/>
            </a:pPr>
            <a:r>
              <a:rPr lang="en-US" sz="1000" b="1" dirty="0">
                <a:solidFill>
                  <a:srgbClr val="595959"/>
                </a:solidFill>
                <a:latin typeface="Arial" pitchFamily="34" charset="0"/>
                <a:ea typeface="Arial" pitchFamily="34" charset="-122"/>
                <a:cs typeface="Arial" pitchFamily="34" charset="-120"/>
              </a:rPr>
              <a:t>3:15–29</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Superiority of the Promise to the Law</a:t>
            </a:r>
            <a:endParaRPr lang="en-US" sz="1200" dirty="0"/>
          </a:p>
        </p:txBody>
      </p:sp>
      <p:sp>
        <p:nvSpPr>
          <p:cNvPr id="21" name="Shape 18"/>
          <p:cNvSpPr/>
          <p:nvPr/>
        </p:nvSpPr>
        <p:spPr>
          <a:xfrm>
            <a:off x="457200" y="2926080"/>
            <a:ext cx="1954530" cy="786384"/>
          </a:xfrm>
          <a:prstGeom prst="rect">
            <a:avLst/>
          </a:prstGeom>
          <a:solidFill>
            <a:srgbClr val="F2F6FC"/>
          </a:solidFill>
          <a:ln w="9525">
            <a:solidFill>
              <a:srgbClr val="D5DCEA"/>
            </a:solidFill>
            <a:prstDash val="solid"/>
          </a:ln>
        </p:spPr>
      </p:sp>
      <p:sp>
        <p:nvSpPr>
          <p:cNvPr id="22" name="Text 19"/>
          <p:cNvSpPr txBox="1"/>
          <p:nvPr/>
        </p:nvSpPr>
        <p:spPr>
          <a:xfrm>
            <a:off x="54864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09  </a:t>
            </a:r>
            <a:pPr indent="0" marL="0">
              <a:buNone/>
            </a:pPr>
            <a:r>
              <a:rPr lang="en-US" sz="1000" b="1" dirty="0">
                <a:solidFill>
                  <a:srgbClr val="595959"/>
                </a:solidFill>
                <a:latin typeface="Arial" pitchFamily="34" charset="0"/>
                <a:ea typeface="Arial" pitchFamily="34" charset="-122"/>
                <a:cs typeface="Arial" pitchFamily="34" charset="-120"/>
              </a:rPr>
              <a:t>4:1–11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When I Became a Man</a:t>
            </a:r>
            <a:endParaRPr lang="en-US" sz="1200" dirty="0"/>
          </a:p>
        </p:txBody>
      </p:sp>
      <p:sp>
        <p:nvSpPr>
          <p:cNvPr id="23" name="Shape 20"/>
          <p:cNvSpPr/>
          <p:nvPr/>
        </p:nvSpPr>
        <p:spPr>
          <a:xfrm>
            <a:off x="2548890" y="2926080"/>
            <a:ext cx="1954530" cy="786384"/>
          </a:xfrm>
          <a:prstGeom prst="rect">
            <a:avLst/>
          </a:prstGeom>
          <a:solidFill>
            <a:srgbClr val="F2F6FC"/>
          </a:solidFill>
          <a:ln w="9525">
            <a:solidFill>
              <a:srgbClr val="D5DCEA"/>
            </a:solidFill>
            <a:prstDash val="solid"/>
          </a:ln>
        </p:spPr>
      </p:sp>
      <p:sp>
        <p:nvSpPr>
          <p:cNvPr id="24" name="Text 21"/>
          <p:cNvSpPr txBox="1"/>
          <p:nvPr/>
        </p:nvSpPr>
        <p:spPr>
          <a:xfrm>
            <a:off x="264033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10  </a:t>
            </a:r>
            <a:pPr indent="0" marL="0">
              <a:buNone/>
            </a:pPr>
            <a:r>
              <a:rPr lang="en-US" sz="1000" b="1" dirty="0">
                <a:solidFill>
                  <a:srgbClr val="595959"/>
                </a:solidFill>
                <a:latin typeface="Arial" pitchFamily="34" charset="0"/>
                <a:ea typeface="Arial" pitchFamily="34" charset="-122"/>
                <a:cs typeface="Arial" pitchFamily="34" charset="-120"/>
              </a:rPr>
              <a:t>4:12–20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A Steel Fist in a Velvet Glove</a:t>
            </a:r>
            <a:endParaRPr lang="en-US" sz="1200" dirty="0"/>
          </a:p>
        </p:txBody>
      </p:sp>
      <p:sp>
        <p:nvSpPr>
          <p:cNvPr id="25" name="Shape 22"/>
          <p:cNvSpPr/>
          <p:nvPr/>
        </p:nvSpPr>
        <p:spPr>
          <a:xfrm>
            <a:off x="4640580" y="2926080"/>
            <a:ext cx="1954530" cy="786384"/>
          </a:xfrm>
          <a:prstGeom prst="rect">
            <a:avLst/>
          </a:prstGeom>
          <a:solidFill>
            <a:srgbClr val="F2F6FC"/>
          </a:solidFill>
          <a:ln w="9525">
            <a:solidFill>
              <a:srgbClr val="D5DCEA"/>
            </a:solidFill>
            <a:prstDash val="solid"/>
          </a:ln>
        </p:spPr>
      </p:sp>
      <p:sp>
        <p:nvSpPr>
          <p:cNvPr id="26" name="Text 23"/>
          <p:cNvSpPr txBox="1"/>
          <p:nvPr/>
        </p:nvSpPr>
        <p:spPr>
          <a:xfrm>
            <a:off x="473202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11  </a:t>
            </a:r>
            <a:pPr indent="0" marL="0">
              <a:buNone/>
            </a:pPr>
            <a:r>
              <a:rPr lang="en-US" sz="1000" b="1" dirty="0">
                <a:solidFill>
                  <a:srgbClr val="595959"/>
                </a:solidFill>
                <a:latin typeface="Arial" pitchFamily="34" charset="0"/>
                <a:ea typeface="Arial" pitchFamily="34" charset="-122"/>
                <a:cs typeface="Arial" pitchFamily="34" charset="-120"/>
              </a:rPr>
              <a:t>4:21–31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Old Testament Story</a:t>
            </a:r>
            <a:endParaRPr lang="en-US" sz="1200" dirty="0"/>
          </a:p>
        </p:txBody>
      </p:sp>
      <p:sp>
        <p:nvSpPr>
          <p:cNvPr id="27" name="Shape 24"/>
          <p:cNvSpPr/>
          <p:nvPr/>
        </p:nvSpPr>
        <p:spPr>
          <a:xfrm>
            <a:off x="6732270" y="2926080"/>
            <a:ext cx="1954530" cy="786384"/>
          </a:xfrm>
          <a:prstGeom prst="rect">
            <a:avLst/>
          </a:prstGeom>
          <a:solidFill>
            <a:srgbClr val="F2F6FC"/>
          </a:solidFill>
          <a:ln w="9525">
            <a:solidFill>
              <a:srgbClr val="D5DCEA"/>
            </a:solidFill>
            <a:prstDash val="solid"/>
          </a:ln>
        </p:spPr>
      </p:sp>
      <p:sp>
        <p:nvSpPr>
          <p:cNvPr id="28" name="Text 25"/>
          <p:cNvSpPr txBox="1"/>
          <p:nvPr/>
        </p:nvSpPr>
        <p:spPr>
          <a:xfrm>
            <a:off x="682371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12  </a:t>
            </a:r>
            <a:pPr indent="0" marL="0">
              <a:buNone/>
            </a:pPr>
            <a:r>
              <a:rPr lang="en-US" sz="1000" b="1" dirty="0">
                <a:solidFill>
                  <a:srgbClr val="595959"/>
                </a:solidFill>
                <a:latin typeface="Arial" pitchFamily="34" charset="0"/>
                <a:ea typeface="Arial" pitchFamily="34" charset="-122"/>
                <a:cs typeface="Arial" pitchFamily="34" charset="-120"/>
              </a:rPr>
              <a:t>5:1–12</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Taking a Stand in Liberty</a:t>
            </a:r>
            <a:endParaRPr lang="en-US" sz="1200" dirty="0"/>
          </a:p>
        </p:txBody>
      </p:sp>
      <p:sp>
        <p:nvSpPr>
          <p:cNvPr id="29" name="Shape 26"/>
          <p:cNvSpPr/>
          <p:nvPr/>
        </p:nvSpPr>
        <p:spPr>
          <a:xfrm>
            <a:off x="457200" y="3831336"/>
            <a:ext cx="1954530" cy="786384"/>
          </a:xfrm>
          <a:prstGeom prst="rect">
            <a:avLst/>
          </a:prstGeom>
          <a:solidFill>
            <a:srgbClr val="F2F6FC"/>
          </a:solidFill>
          <a:ln w="9525">
            <a:solidFill>
              <a:srgbClr val="D5DCEA"/>
            </a:solidFill>
            <a:prstDash val="solid"/>
          </a:ln>
        </p:spPr>
      </p:sp>
      <p:sp>
        <p:nvSpPr>
          <p:cNvPr id="30" name="Text 27"/>
          <p:cNvSpPr txBox="1"/>
          <p:nvPr/>
        </p:nvSpPr>
        <p:spPr>
          <a:xfrm>
            <a:off x="54864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13  </a:t>
            </a:r>
            <a:pPr indent="0" marL="0">
              <a:buNone/>
            </a:pPr>
            <a:r>
              <a:rPr lang="en-US" sz="1000" b="1" dirty="0">
                <a:solidFill>
                  <a:srgbClr val="595959"/>
                </a:solidFill>
                <a:latin typeface="Arial" pitchFamily="34" charset="0"/>
                <a:ea typeface="Arial" pitchFamily="34" charset="-122"/>
                <a:cs typeface="Arial" pitchFamily="34" charset="-120"/>
              </a:rPr>
              <a:t>5:13–26</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Walk in the Spirit</a:t>
            </a:r>
            <a:endParaRPr lang="en-US" sz="1200" dirty="0"/>
          </a:p>
        </p:txBody>
      </p:sp>
      <p:sp>
        <p:nvSpPr>
          <p:cNvPr id="31" name="Shape 28"/>
          <p:cNvSpPr/>
          <p:nvPr/>
        </p:nvSpPr>
        <p:spPr>
          <a:xfrm>
            <a:off x="2548890" y="3831336"/>
            <a:ext cx="1954530" cy="786384"/>
          </a:xfrm>
          <a:prstGeom prst="rect">
            <a:avLst/>
          </a:prstGeom>
          <a:solidFill>
            <a:srgbClr val="F2F6FC"/>
          </a:solidFill>
          <a:ln w="9525">
            <a:solidFill>
              <a:srgbClr val="D5DCEA"/>
            </a:solidFill>
            <a:prstDash val="solid"/>
          </a:ln>
        </p:spPr>
      </p:sp>
      <p:sp>
        <p:nvSpPr>
          <p:cNvPr id="32" name="Text 29"/>
          <p:cNvSpPr txBox="1"/>
          <p:nvPr/>
        </p:nvSpPr>
        <p:spPr>
          <a:xfrm>
            <a:off x="264033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14  </a:t>
            </a:r>
            <a:pPr indent="0" marL="0">
              <a:buNone/>
            </a:pPr>
            <a:r>
              <a:rPr lang="en-US" sz="1000" b="1" dirty="0">
                <a:solidFill>
                  <a:srgbClr val="595959"/>
                </a:solidFill>
                <a:latin typeface="Arial" pitchFamily="34" charset="0"/>
                <a:ea typeface="Arial" pitchFamily="34" charset="-122"/>
                <a:cs typeface="Arial" pitchFamily="34" charset="-120"/>
              </a:rPr>
              <a:t>6:1–5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Brothers and Burdens</a:t>
            </a:r>
            <a:endParaRPr lang="en-US" sz="1200" dirty="0"/>
          </a:p>
        </p:txBody>
      </p:sp>
      <p:sp>
        <p:nvSpPr>
          <p:cNvPr id="33" name="Shape 30"/>
          <p:cNvSpPr/>
          <p:nvPr/>
        </p:nvSpPr>
        <p:spPr>
          <a:xfrm>
            <a:off x="4640580" y="3831336"/>
            <a:ext cx="1954530" cy="786384"/>
          </a:xfrm>
          <a:prstGeom prst="rect">
            <a:avLst/>
          </a:prstGeom>
          <a:solidFill>
            <a:srgbClr val="F2F6FC"/>
          </a:solidFill>
          <a:ln w="9525">
            <a:solidFill>
              <a:srgbClr val="D5DCEA"/>
            </a:solidFill>
            <a:prstDash val="solid"/>
          </a:ln>
        </p:spPr>
      </p:sp>
      <p:sp>
        <p:nvSpPr>
          <p:cNvPr id="34" name="Text 31"/>
          <p:cNvSpPr txBox="1"/>
          <p:nvPr/>
        </p:nvSpPr>
        <p:spPr>
          <a:xfrm>
            <a:off x="473202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15  </a:t>
            </a:r>
            <a:pPr indent="0" marL="0">
              <a:buNone/>
            </a:pPr>
            <a:r>
              <a:rPr lang="en-US" sz="1000" b="1" dirty="0">
                <a:solidFill>
                  <a:srgbClr val="595959"/>
                </a:solidFill>
                <a:latin typeface="Arial" pitchFamily="34" charset="0"/>
                <a:ea typeface="Arial" pitchFamily="34" charset="-122"/>
                <a:cs typeface="Arial" pitchFamily="34" charset="-120"/>
              </a:rPr>
              <a:t>6:6–10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Sowing and Reaping</a:t>
            </a:r>
            <a:endParaRPr lang="en-US" sz="1200" dirty="0"/>
          </a:p>
        </p:txBody>
      </p:sp>
      <p:sp>
        <p:nvSpPr>
          <p:cNvPr id="35" name="Shape 32"/>
          <p:cNvSpPr/>
          <p:nvPr/>
        </p:nvSpPr>
        <p:spPr>
          <a:xfrm>
            <a:off x="6732270" y="3831336"/>
            <a:ext cx="1954530" cy="786384"/>
          </a:xfrm>
          <a:prstGeom prst="rect">
            <a:avLst/>
          </a:prstGeom>
          <a:solidFill>
            <a:srgbClr val="F2F6FC"/>
          </a:solidFill>
          <a:ln w="9525">
            <a:solidFill>
              <a:srgbClr val="D5DCEA"/>
            </a:solidFill>
            <a:prstDash val="solid"/>
          </a:ln>
        </p:spPr>
      </p:sp>
      <p:sp>
        <p:nvSpPr>
          <p:cNvPr id="36" name="Text 33"/>
          <p:cNvSpPr txBox="1"/>
          <p:nvPr/>
        </p:nvSpPr>
        <p:spPr>
          <a:xfrm>
            <a:off x="682371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16  </a:t>
            </a:r>
            <a:pPr indent="0" marL="0">
              <a:buNone/>
            </a:pPr>
            <a:r>
              <a:rPr lang="en-US" sz="1000" b="1" dirty="0">
                <a:solidFill>
                  <a:srgbClr val="595959"/>
                </a:solidFill>
                <a:latin typeface="Arial" pitchFamily="34" charset="0"/>
                <a:ea typeface="Arial" pitchFamily="34" charset="-122"/>
                <a:cs typeface="Arial" pitchFamily="34" charset="-120"/>
              </a:rPr>
              <a:t>6:11–18</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Teaching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passage at a glance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1:6–10 · Outline from the posted Part 1 table</a:t>
            </a:r>
            <a:endParaRPr lang="en-US" sz="1200" dirty="0"/>
          </a:p>
        </p:txBody>
      </p:sp>
      <p:sp>
        <p:nvSpPr>
          <p:cNvPr id="5" name="Shape 2"/>
          <p:cNvSpPr/>
          <p:nvPr/>
        </p:nvSpPr>
        <p:spPr>
          <a:xfrm>
            <a:off x="457200" y="1188720"/>
            <a:ext cx="2615184" cy="457200"/>
          </a:xfrm>
          <a:prstGeom prst="rect">
            <a:avLst/>
          </a:prstGeom>
          <a:solidFill>
            <a:srgbClr val="2E5496"/>
          </a:solidFill>
          <a:ln w="12700">
            <a:solidFill>
              <a:srgbClr val="2E5496"/>
            </a:solidFill>
            <a:prstDash val="solid"/>
          </a:ln>
        </p:spPr>
      </p:sp>
      <p:sp>
        <p:nvSpPr>
          <p:cNvPr id="6" name="Text 3"/>
          <p:cNvSpPr txBox="1"/>
          <p:nvPr/>
        </p:nvSpPr>
        <p:spPr>
          <a:xfrm>
            <a:off x="548640" y="1234440"/>
            <a:ext cx="2432304"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 The Galatians' Desertion  ·  vv.6–7</a:t>
            </a:r>
            <a:endParaRPr lang="en-US" sz="1200" dirty="0"/>
          </a:p>
        </p:txBody>
      </p:sp>
      <p:sp>
        <p:nvSpPr>
          <p:cNvPr id="7" name="Shape 4"/>
          <p:cNvSpPr/>
          <p:nvPr/>
        </p:nvSpPr>
        <p:spPr>
          <a:xfrm>
            <a:off x="457200" y="1645920"/>
            <a:ext cx="2615184" cy="2926080"/>
          </a:xfrm>
          <a:prstGeom prst="rect">
            <a:avLst/>
          </a:prstGeom>
          <a:solidFill>
            <a:srgbClr val="F2F6FC"/>
          </a:solidFill>
          <a:ln w="9525">
            <a:solidFill>
              <a:srgbClr val="D5DCEA"/>
            </a:solidFill>
            <a:prstDash val="solid"/>
          </a:ln>
        </p:spPr>
      </p:sp>
      <p:sp>
        <p:nvSpPr>
          <p:cNvPr id="8" name="Text 5"/>
          <p:cNvSpPr txBox="1"/>
          <p:nvPr/>
        </p:nvSpPr>
        <p:spPr>
          <a:xfrm>
            <a:off x="548640" y="1719072"/>
            <a:ext cx="2432304" cy="2798064"/>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A · Turning from grace is military desertion — voluntary and already underway</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B · Deserted from Christ, the One who called them</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C · Deserted to a perverted gospel — law added to grace replaces it</a:t>
            </a:r>
            <a:endParaRPr lang="en-US" sz="1200" dirty="0"/>
          </a:p>
        </p:txBody>
      </p:sp>
      <p:sp>
        <p:nvSpPr>
          <p:cNvPr id="9" name="Shape 6"/>
          <p:cNvSpPr/>
          <p:nvPr/>
        </p:nvSpPr>
        <p:spPr>
          <a:xfrm>
            <a:off x="3264408" y="1188720"/>
            <a:ext cx="2615184" cy="457200"/>
          </a:xfrm>
          <a:prstGeom prst="rect">
            <a:avLst/>
          </a:prstGeom>
          <a:solidFill>
            <a:srgbClr val="7030A0"/>
          </a:solidFill>
          <a:ln w="12700">
            <a:solidFill>
              <a:srgbClr val="7030A0"/>
            </a:solidFill>
            <a:prstDash val="solid"/>
          </a:ln>
        </p:spPr>
      </p:sp>
      <p:sp>
        <p:nvSpPr>
          <p:cNvPr id="10" name="Text 7"/>
          <p:cNvSpPr txBox="1"/>
          <p:nvPr/>
        </p:nvSpPr>
        <p:spPr>
          <a:xfrm>
            <a:off x="3355848" y="1234440"/>
            <a:ext cx="2432304"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 The Curse  ·  vv.8–9</a:t>
            </a:r>
            <a:endParaRPr lang="en-US" sz="1200" dirty="0"/>
          </a:p>
        </p:txBody>
      </p:sp>
      <p:sp>
        <p:nvSpPr>
          <p:cNvPr id="11" name="Shape 8"/>
          <p:cNvSpPr/>
          <p:nvPr/>
        </p:nvSpPr>
        <p:spPr>
          <a:xfrm>
            <a:off x="3264408" y="1645920"/>
            <a:ext cx="2615184" cy="2926080"/>
          </a:xfrm>
          <a:prstGeom prst="rect">
            <a:avLst/>
          </a:prstGeom>
          <a:solidFill>
            <a:srgbClr val="F2F6FC"/>
          </a:solidFill>
          <a:ln w="9525">
            <a:solidFill>
              <a:srgbClr val="D5DCEA"/>
            </a:solidFill>
            <a:prstDash val="solid"/>
          </a:ln>
        </p:spPr>
      </p:sp>
      <p:sp>
        <p:nvSpPr>
          <p:cNvPr id="12" name="Text 9"/>
          <p:cNvSpPr txBox="1"/>
          <p:nvPr/>
        </p:nvSpPr>
        <p:spPr>
          <a:xfrm>
            <a:off x="3355848" y="1719072"/>
            <a:ext cx="2432304" cy="2798064"/>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A · Unlikely scenario: even Paul or an angel would be accursed</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B · Likely scenario: the Judaizers preaching a different gospel now</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Scripture alone is the test of truth</a:t>
            </a:r>
            <a:endParaRPr lang="en-US" sz="1200" dirty="0"/>
          </a:p>
        </p:txBody>
      </p:sp>
      <p:sp>
        <p:nvSpPr>
          <p:cNvPr id="13" name="Shape 10"/>
          <p:cNvSpPr/>
          <p:nvPr/>
        </p:nvSpPr>
        <p:spPr>
          <a:xfrm>
            <a:off x="6071616" y="1188720"/>
            <a:ext cx="2615184" cy="457200"/>
          </a:xfrm>
          <a:prstGeom prst="rect">
            <a:avLst/>
          </a:prstGeom>
          <a:solidFill>
            <a:srgbClr val="375623"/>
          </a:solidFill>
          <a:ln w="12700">
            <a:solidFill>
              <a:srgbClr val="375623"/>
            </a:solidFill>
            <a:prstDash val="solid"/>
          </a:ln>
        </p:spPr>
      </p:sp>
      <p:sp>
        <p:nvSpPr>
          <p:cNvPr id="14" name="Text 11"/>
          <p:cNvSpPr txBox="1"/>
          <p:nvPr/>
        </p:nvSpPr>
        <p:spPr>
          <a:xfrm>
            <a:off x="6163056" y="1234440"/>
            <a:ext cx="2432304"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III. Paul's Wisdom  ·  v.10</a:t>
            </a:r>
            <a:endParaRPr lang="en-US" sz="1200" dirty="0"/>
          </a:p>
        </p:txBody>
      </p:sp>
      <p:sp>
        <p:nvSpPr>
          <p:cNvPr id="15" name="Shape 12"/>
          <p:cNvSpPr/>
          <p:nvPr/>
        </p:nvSpPr>
        <p:spPr>
          <a:xfrm>
            <a:off x="6071616" y="1645920"/>
            <a:ext cx="2615184" cy="2926080"/>
          </a:xfrm>
          <a:prstGeom prst="rect">
            <a:avLst/>
          </a:prstGeom>
          <a:solidFill>
            <a:srgbClr val="F2F6FC"/>
          </a:solidFill>
          <a:ln w="9525">
            <a:solidFill>
              <a:srgbClr val="D5DCEA"/>
            </a:solidFill>
            <a:prstDash val="solid"/>
          </a:ln>
        </p:spPr>
      </p:sp>
      <p:sp>
        <p:nvSpPr>
          <p:cNvPr id="16" name="Text 13"/>
          <p:cNvSpPr txBox="1"/>
          <p:nvPr/>
        </p:nvSpPr>
        <p:spPr>
          <a:xfrm>
            <a:off x="6163056" y="1719072"/>
            <a:ext cx="2432304" cy="2798064"/>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Paul serves Christ, not human approval</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Grace, not works, is what glorifies Jesus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Deserting — and so soon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1:6 · Outline I.A–B</a:t>
            </a:r>
            <a:endParaRPr lang="en-US" sz="1200" dirty="0"/>
          </a:p>
        </p:txBody>
      </p:sp>
      <p:sp>
        <p:nvSpPr>
          <p:cNvPr id="5" name="Shape 2"/>
          <p:cNvSpPr/>
          <p:nvPr/>
        </p:nvSpPr>
        <p:spPr>
          <a:xfrm>
            <a:off x="457200" y="1188720"/>
            <a:ext cx="4023360" cy="566928"/>
          </a:xfrm>
          <a:prstGeom prst="rect">
            <a:avLst/>
          </a:prstGeom>
          <a:solidFill>
            <a:srgbClr val="2E5496"/>
          </a:solidFill>
          <a:ln w="12700">
            <a:solidFill>
              <a:srgbClr val="2E5496"/>
            </a:solidFill>
            <a:prstDash val="solid"/>
          </a:ln>
        </p:spPr>
      </p:sp>
      <p:sp>
        <p:nvSpPr>
          <p:cNvPr id="6" name="Text 3"/>
          <p:cNvSpPr txBox="1"/>
          <p:nvPr/>
        </p:nvSpPr>
        <p:spPr>
          <a:xfrm>
            <a:off x="54864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“You are turning away”</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μετατίθεσθε</a:t>
            </a:r>
            <a:pPr indent="0" marL="0">
              <a:buNone/>
            </a:pPr>
            <a:r>
              <a:rPr lang="en-US" sz="850" dirty="0">
                <a:solidFill>
                  <a:srgbClr val="DCE4F2"/>
                </a:solidFill>
                <a:latin typeface="Arial" pitchFamily="34" charset="0"/>
                <a:ea typeface="Arial" pitchFamily="34" charset="-122"/>
                <a:cs typeface="Arial" pitchFamily="34" charset="-120"/>
              </a:rPr>
              <a:t>  metatithesthe · Pres. Mid. Ind. 2nd Pl.</a:t>
            </a:r>
            <a:endParaRPr lang="en-US" sz="1200" dirty="0"/>
          </a:p>
        </p:txBody>
      </p:sp>
      <p:sp>
        <p:nvSpPr>
          <p:cNvPr id="7" name="Shape 4"/>
          <p:cNvSpPr/>
          <p:nvPr/>
        </p:nvSpPr>
        <p:spPr>
          <a:xfrm>
            <a:off x="457200" y="1755648"/>
            <a:ext cx="4023360" cy="2176272"/>
          </a:xfrm>
          <a:prstGeom prst="rect">
            <a:avLst/>
          </a:prstGeom>
          <a:solidFill>
            <a:srgbClr val="F2F6FC"/>
          </a:solidFill>
          <a:ln w="9525">
            <a:solidFill>
              <a:srgbClr val="D5DCEA"/>
            </a:solidFill>
            <a:prstDash val="solid"/>
          </a:ln>
        </p:spPr>
      </p:sp>
      <p:sp>
        <p:nvSpPr>
          <p:cNvPr id="8" name="Text 5"/>
          <p:cNvSpPr txBox="1"/>
          <p:nvPr/>
        </p:nvSpPr>
        <p:spPr>
          <a:xfrm>
            <a:off x="548640" y="1828800"/>
            <a:ext cx="3840480" cy="2048256"/>
          </a:xfrm>
          <a:prstGeom prst="rect">
            <a:avLst/>
          </a:prstGeom>
          <a:noFill/>
          <a:ln/>
        </p:spPr>
        <p:txBody>
          <a:bodyPr wrap="square" lIns="0" tIns="0" rIns="0" bIns="0" rtlCol="0" anchor="t"/>
          <a:lstStyle/>
          <a:p>
            <a:pPr indent="0" marL="0">
              <a:buNone/>
            </a:pPr>
            <a:endParaRPr lang="en-US" sz="1300" dirty="0"/>
          </a:p>
        </p:txBody>
      </p:sp>
      <p:sp>
        <p:nvSpPr>
          <p:cNvPr id="9" name="Text 6"/>
          <p:cNvSpPr txBox="1"/>
          <p:nvPr/>
        </p:nvSpPr>
        <p:spPr>
          <a:xfrm>
            <a:off x="594360" y="1874520"/>
            <a:ext cx="3749040" cy="411480"/>
          </a:xfrm>
          <a:prstGeom prst="rect">
            <a:avLst/>
          </a:prstGeom>
          <a:noFill/>
          <a:ln/>
        </p:spPr>
        <p:txBody>
          <a:bodyPr wrap="square" lIns="0" tIns="0" rIns="0" bIns="0" rtlCol="0" anchor="ctr"/>
          <a:lstStyle/>
          <a:p>
            <a:pPr indent="0" marL="0">
              <a:buNone/>
            </a:pPr>
            <a:r>
              <a:rPr lang="en-US" sz="1100" b="1" dirty="0">
                <a:solidFill>
                  <a:srgbClr val="1F3864"/>
                </a:solidFill>
                <a:latin typeface="Arial" pitchFamily="34" charset="0"/>
                <a:ea typeface="Arial" pitchFamily="34" charset="-122"/>
                <a:cs typeface="Arial" pitchFamily="34" charset="-120"/>
              </a:rPr>
              <a:t>Military term  </a:t>
            </a:r>
            <a:pPr indent="0" marL="0">
              <a:buNone/>
            </a:pPr>
            <a:r>
              <a:rPr lang="en-US" sz="1150" dirty="0">
                <a:solidFill>
                  <a:srgbClr val="262626"/>
                </a:solidFill>
                <a:latin typeface="Arial" pitchFamily="34" charset="0"/>
                <a:ea typeface="Arial" pitchFamily="34" charset="-122"/>
                <a:cs typeface="Arial" pitchFamily="34" charset="-120"/>
              </a:rPr>
              <a:t>— a soldier deserting his post in battle</a:t>
            </a:r>
            <a:endParaRPr lang="en-US" sz="1200" dirty="0"/>
          </a:p>
        </p:txBody>
      </p:sp>
      <p:sp>
        <p:nvSpPr>
          <p:cNvPr id="10" name="Text 7"/>
          <p:cNvSpPr txBox="1"/>
          <p:nvPr/>
        </p:nvSpPr>
        <p:spPr>
          <a:xfrm>
            <a:off x="594360" y="2350008"/>
            <a:ext cx="3749040" cy="411480"/>
          </a:xfrm>
          <a:prstGeom prst="rect">
            <a:avLst/>
          </a:prstGeom>
          <a:noFill/>
          <a:ln/>
        </p:spPr>
        <p:txBody>
          <a:bodyPr wrap="square" lIns="0" tIns="0" rIns="0" bIns="0" rtlCol="0" anchor="ctr"/>
          <a:lstStyle/>
          <a:p>
            <a:pPr indent="0" marL="0">
              <a:buNone/>
            </a:pPr>
            <a:r>
              <a:rPr lang="en-US" sz="1100" b="1" dirty="0">
                <a:solidFill>
                  <a:srgbClr val="1F3864"/>
                </a:solidFill>
                <a:latin typeface="Arial" pitchFamily="34" charset="0"/>
                <a:ea typeface="Arial" pitchFamily="34" charset="-122"/>
                <a:cs typeface="Arial" pitchFamily="34" charset="-120"/>
              </a:rPr>
              <a:t>Present tense  </a:t>
            </a:r>
            <a:pPr indent="0" marL="0">
              <a:buNone/>
            </a:pPr>
            <a:r>
              <a:rPr lang="en-US" sz="1150" dirty="0">
                <a:solidFill>
                  <a:srgbClr val="262626"/>
                </a:solidFill>
                <a:latin typeface="Arial" pitchFamily="34" charset="0"/>
                <a:ea typeface="Arial" pitchFamily="34" charset="-122"/>
                <a:cs typeface="Arial" pitchFamily="34" charset="-120"/>
              </a:rPr>
              <a:t>— already underway</a:t>
            </a:r>
            <a:endParaRPr lang="en-US" sz="1200" dirty="0"/>
          </a:p>
        </p:txBody>
      </p:sp>
      <p:sp>
        <p:nvSpPr>
          <p:cNvPr id="11" name="Text 8"/>
          <p:cNvSpPr txBox="1"/>
          <p:nvPr/>
        </p:nvSpPr>
        <p:spPr>
          <a:xfrm>
            <a:off x="594360" y="2825496"/>
            <a:ext cx="3749040" cy="411480"/>
          </a:xfrm>
          <a:prstGeom prst="rect">
            <a:avLst/>
          </a:prstGeom>
          <a:noFill/>
          <a:ln/>
        </p:spPr>
        <p:txBody>
          <a:bodyPr wrap="square" lIns="0" tIns="0" rIns="0" bIns="0" rtlCol="0" anchor="ctr"/>
          <a:lstStyle/>
          <a:p>
            <a:pPr indent="0" marL="0">
              <a:buNone/>
            </a:pPr>
            <a:r>
              <a:rPr lang="en-US" sz="1100" b="1" dirty="0">
                <a:solidFill>
                  <a:srgbClr val="1F3864"/>
                </a:solidFill>
                <a:latin typeface="Arial" pitchFamily="34" charset="0"/>
                <a:ea typeface="Arial" pitchFamily="34" charset="-122"/>
                <a:cs typeface="Arial" pitchFamily="34" charset="-120"/>
              </a:rPr>
              <a:t>Middle voice  </a:t>
            </a:r>
            <a:pPr indent="0" marL="0">
              <a:buNone/>
            </a:pPr>
            <a:r>
              <a:rPr lang="en-US" sz="1150" dirty="0">
                <a:solidFill>
                  <a:srgbClr val="262626"/>
                </a:solidFill>
                <a:latin typeface="Arial" pitchFamily="34" charset="0"/>
                <a:ea typeface="Arial" pitchFamily="34" charset="-122"/>
                <a:cs typeface="Arial" pitchFamily="34" charset="-120"/>
              </a:rPr>
              <a:t>— self-initiated, voluntary</a:t>
            </a:r>
            <a:endParaRPr lang="en-US" sz="1200" dirty="0"/>
          </a:p>
        </p:txBody>
      </p:sp>
      <p:sp>
        <p:nvSpPr>
          <p:cNvPr id="12" name="Text 9"/>
          <p:cNvSpPr txBox="1"/>
          <p:nvPr/>
        </p:nvSpPr>
        <p:spPr>
          <a:xfrm>
            <a:off x="594360" y="3300984"/>
            <a:ext cx="3749040" cy="411480"/>
          </a:xfrm>
          <a:prstGeom prst="rect">
            <a:avLst/>
          </a:prstGeom>
          <a:noFill/>
          <a:ln/>
        </p:spPr>
        <p:txBody>
          <a:bodyPr wrap="square" lIns="0" tIns="0" rIns="0" bIns="0" rtlCol="0" anchor="ctr"/>
          <a:lstStyle/>
          <a:p>
            <a:pPr indent="0" marL="0">
              <a:buNone/>
            </a:pPr>
            <a:r>
              <a:rPr lang="en-US" sz="1100" b="1" dirty="0">
                <a:solidFill>
                  <a:srgbClr val="1F3864"/>
                </a:solidFill>
                <a:latin typeface="Arial" pitchFamily="34" charset="0"/>
                <a:ea typeface="Arial" pitchFamily="34" charset="-122"/>
                <a:cs typeface="Arial" pitchFamily="34" charset="-120"/>
              </a:rPr>
              <a:t>“So soon”  </a:t>
            </a:r>
            <a:pPr indent="0" marL="0">
              <a:buNone/>
            </a:pPr>
            <a:r>
              <a:rPr lang="en-US" sz="1150" dirty="0">
                <a:solidFill>
                  <a:srgbClr val="262626"/>
                </a:solidFill>
                <a:latin typeface="Arial" pitchFamily="34" charset="0"/>
                <a:ea typeface="Arial" pitchFamily="34" charset="-122"/>
                <a:cs typeface="Arial" pitchFamily="34" charset="-120"/>
              </a:rPr>
              <a:t>— within about a year of Paul's visit</a:t>
            </a:r>
            <a:endParaRPr lang="en-US" sz="1200" dirty="0"/>
          </a:p>
        </p:txBody>
      </p:sp>
      <p:sp>
        <p:nvSpPr>
          <p:cNvPr id="13" name="Shape 10"/>
          <p:cNvSpPr/>
          <p:nvPr/>
        </p:nvSpPr>
        <p:spPr>
          <a:xfrm>
            <a:off x="4663440" y="1188720"/>
            <a:ext cx="4023360" cy="365760"/>
          </a:xfrm>
          <a:prstGeom prst="rect">
            <a:avLst/>
          </a:prstGeom>
          <a:solidFill>
            <a:srgbClr val="2E5496"/>
          </a:solidFill>
          <a:ln w="12700">
            <a:solidFill>
              <a:srgbClr val="2E5496"/>
            </a:solidFill>
            <a:prstDash val="solid"/>
          </a:ln>
        </p:spPr>
      </p:sp>
      <p:sp>
        <p:nvSpPr>
          <p:cNvPr id="14" name="Text 11"/>
          <p:cNvSpPr txBox="1"/>
          <p:nvPr/>
        </p:nvSpPr>
        <p:spPr>
          <a:xfrm>
            <a:off x="4754880" y="1234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From whom? To what?</a:t>
            </a:r>
            <a:endParaRPr lang="en-US" sz="1200" dirty="0"/>
          </a:p>
        </p:txBody>
      </p:sp>
      <p:sp>
        <p:nvSpPr>
          <p:cNvPr id="15" name="Shape 12"/>
          <p:cNvSpPr/>
          <p:nvPr/>
        </p:nvSpPr>
        <p:spPr>
          <a:xfrm>
            <a:off x="4663440" y="1554480"/>
            <a:ext cx="4023360" cy="2377440"/>
          </a:xfrm>
          <a:prstGeom prst="rect">
            <a:avLst/>
          </a:prstGeom>
          <a:solidFill>
            <a:srgbClr val="F2F6FC"/>
          </a:solidFill>
          <a:ln w="9525">
            <a:solidFill>
              <a:srgbClr val="D5DCEA"/>
            </a:solidFill>
            <a:prstDash val="solid"/>
          </a:ln>
        </p:spPr>
      </p:sp>
      <p:sp>
        <p:nvSpPr>
          <p:cNvPr id="16" name="Text 13"/>
          <p:cNvSpPr txBox="1"/>
          <p:nvPr/>
        </p:nvSpPr>
        <p:spPr>
          <a:xfrm>
            <a:off x="4754880" y="1627632"/>
            <a:ext cx="3840480" cy="2249424"/>
          </a:xfrm>
          <a:prstGeom prst="rect">
            <a:avLst/>
          </a:prstGeom>
          <a:noFill/>
          <a:ln/>
        </p:spPr>
        <p:txBody>
          <a:bodyPr wrap="square" lIns="0" tIns="0" rIns="0" bIns="0" rtlCol="0" anchor="t"/>
          <a:lstStyle/>
          <a:p>
            <a:pPr indent="0" marL="0">
              <a:buNone/>
            </a:pPr>
            <a:endParaRPr lang="en-US" sz="1300" dirty="0"/>
          </a:p>
        </p:txBody>
      </p:sp>
      <p:sp>
        <p:nvSpPr>
          <p:cNvPr id="17" name="Text 14"/>
          <p:cNvSpPr txBox="1"/>
          <p:nvPr/>
        </p:nvSpPr>
        <p:spPr>
          <a:xfrm>
            <a:off x="4773168" y="1664208"/>
            <a:ext cx="3803904" cy="2194560"/>
          </a:xfrm>
          <a:prstGeom prst="rect">
            <a:avLst/>
          </a:prstGeom>
          <a:noFill/>
          <a:ln/>
        </p:spPr>
        <p:txBody>
          <a:bodyPr wrap="square" lIns="0" tIns="0" rIns="0" bIns="0" rtlCol="0" anchor="t"/>
          <a:lstStyle/>
          <a:p>
            <a:pPr indent="0" marL="0">
              <a:buNone/>
            </a:pPr>
            <a:r>
              <a:rPr lang="en-US" sz="1100" b="1" dirty="0">
                <a:solidFill>
                  <a:srgbClr val="1F3864"/>
                </a:solidFill>
                <a:latin typeface="Arial" pitchFamily="34" charset="0"/>
                <a:ea typeface="Arial" pitchFamily="34" charset="-122"/>
                <a:cs typeface="Arial" pitchFamily="34" charset="-120"/>
              </a:rPr>
              <a:t>From Him who called you</a:t>
            </a:r>
            <a:endParaRPr lang="en-US" sz="1200" dirty="0"/>
          </a:p>
          <a:p>
            <a:pPr indent="0" marL="0">
              <a:buNone/>
            </a:pPr>
            <a:r>
              <a:rPr lang="en-US" sz="1200" b="1" dirty="0">
                <a:solidFill>
                  <a:srgbClr val="7030A0"/>
                </a:solidFill>
                <a:latin typeface="Arial" pitchFamily="34" charset="0"/>
                <a:ea typeface="Arial" pitchFamily="34" charset="-122"/>
                <a:cs typeface="Arial" pitchFamily="34" charset="-120"/>
              </a:rPr>
              <a:t>τοῦ καλέσαντος</a:t>
            </a:r>
            <a:pPr indent="0" marL="0">
              <a:buNone/>
            </a:pPr>
            <a:r>
              <a:rPr lang="en-US" sz="1000" dirty="0">
                <a:solidFill>
                  <a:srgbClr val="595959"/>
                </a:solidFill>
                <a:latin typeface="Arial" pitchFamily="34" charset="0"/>
                <a:ea typeface="Arial" pitchFamily="34" charset="-122"/>
                <a:cs typeface="Arial" pitchFamily="34" charset="-120"/>
              </a:rPr>
              <a:t>  Aor. Act. Ptc. — the caller is Christ, not Paul</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in the grace of Christ — </a:t>
            </a:r>
            <a:pPr indent="0" marL="0">
              <a:buNone/>
            </a:pPr>
            <a:r>
              <a:rPr lang="en-US" sz="1200" b="1" dirty="0">
                <a:solidFill>
                  <a:srgbClr val="7030A0"/>
                </a:solidFill>
                <a:latin typeface="Arial" pitchFamily="34" charset="0"/>
                <a:ea typeface="Arial" pitchFamily="34" charset="-122"/>
                <a:cs typeface="Arial" pitchFamily="34" charset="-120"/>
              </a:rPr>
              <a:t>χάριτι</a:t>
            </a:r>
            <a:pPr indent="0" marL="0">
              <a:buNone/>
            </a:pPr>
            <a:r>
              <a:rPr lang="en-US" sz="1150" dirty="0">
                <a:solidFill>
                  <a:srgbClr val="262626"/>
                </a:solidFill>
                <a:latin typeface="Arial" pitchFamily="34" charset="0"/>
                <a:ea typeface="Arial" pitchFamily="34" charset="-122"/>
                <a:cs typeface="Arial" pitchFamily="34" charset="-120"/>
              </a:rPr>
              <a:t> (dative): the sphere of the call</a:t>
            </a:r>
            <a:endParaRPr lang="en-US" sz="1200" dirty="0"/>
          </a:p>
          <a:p>
            <a:pPr indent="0" marL="0">
              <a:buNone/>
            </a:pPr>
            <a:r>
              <a:rPr lang="en-US" sz="600" dirty="0">
                <a:solidFill>
                  <a:srgbClr val="262626"/>
                </a:solidFill>
                <a:latin typeface="Arial" pitchFamily="34" charset="0"/>
                <a:ea typeface="Arial" pitchFamily="34" charset="-122"/>
                <a:cs typeface="Arial" pitchFamily="34" charset="-120"/>
              </a:rPr>
              <a:t> </a:t>
            </a:r>
            <a:endParaRPr lang="en-US" sz="1200" dirty="0"/>
          </a:p>
          <a:p>
            <a:pPr indent="0" marL="0">
              <a:buNone/>
            </a:pPr>
            <a:r>
              <a:rPr lang="en-US" sz="1100" b="1" dirty="0">
                <a:solidFill>
                  <a:srgbClr val="1F3864"/>
                </a:solidFill>
                <a:latin typeface="Arial" pitchFamily="34" charset="0"/>
                <a:ea typeface="Arial" pitchFamily="34" charset="-122"/>
                <a:cs typeface="Arial" pitchFamily="34" charset="-120"/>
              </a:rPr>
              <a:t>To a different gospel</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A counterfeit with additions and requirements — no good news at all</a:t>
            </a:r>
            <a:endParaRPr lang="en-US" sz="1200" dirty="0"/>
          </a:p>
        </p:txBody>
      </p:sp>
      <p:sp>
        <p:nvSpPr>
          <p:cNvPr id="18" name="Shape 15"/>
          <p:cNvSpPr/>
          <p:nvPr/>
        </p:nvSpPr>
        <p:spPr>
          <a:xfrm>
            <a:off x="457200" y="4069080"/>
            <a:ext cx="8229600" cy="548640"/>
          </a:xfrm>
          <a:prstGeom prst="roundRect">
            <a:avLst>
              <a:gd name="adj" fmla="val 10000"/>
            </a:avLst>
          </a:prstGeom>
          <a:solidFill>
            <a:srgbClr val="1F3864"/>
          </a:solidFill>
          <a:ln w="12700">
            <a:solidFill>
              <a:srgbClr val="1F3864"/>
            </a:solidFill>
            <a:prstDash val="solid"/>
          </a:ln>
        </p:spPr>
      </p:sp>
      <p:sp>
        <p:nvSpPr>
          <p:cNvPr id="19" name="Text 16"/>
          <p:cNvSpPr txBox="1"/>
          <p:nvPr/>
        </p:nvSpPr>
        <p:spPr>
          <a:xfrm>
            <a:off x="621792" y="40690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It was never really about the messenger: to reject the grace gospel is to reject the One who called — Jesus Christ Himself.</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 different gospel, which is not another”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1:6–7 · Outline I.C</a:t>
            </a:r>
            <a:endParaRPr lang="en-US" sz="1200" dirty="0"/>
          </a:p>
        </p:txBody>
      </p:sp>
      <p:sp>
        <p:nvSpPr>
          <p:cNvPr id="5" name="Shape 2"/>
          <p:cNvSpPr/>
          <p:nvPr/>
        </p:nvSpPr>
        <p:spPr>
          <a:xfrm>
            <a:off x="457200" y="1188720"/>
            <a:ext cx="4023360" cy="566928"/>
          </a:xfrm>
          <a:prstGeom prst="rect">
            <a:avLst/>
          </a:prstGeom>
          <a:solidFill>
            <a:srgbClr val="2E5496"/>
          </a:solidFill>
          <a:ln w="12700">
            <a:solidFill>
              <a:srgbClr val="2E5496"/>
            </a:solidFill>
            <a:prstDash val="solid"/>
          </a:ln>
        </p:spPr>
      </p:sp>
      <p:sp>
        <p:nvSpPr>
          <p:cNvPr id="6" name="Text 3"/>
          <p:cNvSpPr txBox="1"/>
          <p:nvPr/>
        </p:nvSpPr>
        <p:spPr>
          <a:xfrm>
            <a:off x="54864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Different in kind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ἕτερος</a:t>
            </a:r>
            <a:pPr indent="0" marL="0">
              <a:buNone/>
            </a:pPr>
            <a:r>
              <a:rPr lang="en-US" sz="850" dirty="0">
                <a:solidFill>
                  <a:srgbClr val="DCE4F2"/>
                </a:solidFill>
                <a:latin typeface="Arial" pitchFamily="34" charset="0"/>
                <a:ea typeface="Arial" pitchFamily="34" charset="-122"/>
                <a:cs typeface="Arial" pitchFamily="34" charset="-120"/>
              </a:rPr>
              <a:t>  heteron · G2087</a:t>
            </a:r>
            <a:endParaRPr lang="en-US" sz="1200" dirty="0"/>
          </a:p>
        </p:txBody>
      </p:sp>
      <p:sp>
        <p:nvSpPr>
          <p:cNvPr id="7" name="Shape 4"/>
          <p:cNvSpPr/>
          <p:nvPr/>
        </p:nvSpPr>
        <p:spPr>
          <a:xfrm>
            <a:off x="457200" y="1755648"/>
            <a:ext cx="4023360" cy="1124712"/>
          </a:xfrm>
          <a:prstGeom prst="rect">
            <a:avLst/>
          </a:prstGeom>
          <a:solidFill>
            <a:srgbClr val="F2F6FC"/>
          </a:solidFill>
          <a:ln w="9525">
            <a:solidFill>
              <a:srgbClr val="D5DCEA"/>
            </a:solidFill>
            <a:prstDash val="solid"/>
          </a:ln>
        </p:spPr>
      </p:sp>
      <p:sp>
        <p:nvSpPr>
          <p:cNvPr id="8" name="Text 5"/>
          <p:cNvSpPr txBox="1"/>
          <p:nvPr/>
        </p:nvSpPr>
        <p:spPr>
          <a:xfrm>
            <a:off x="548640" y="1828800"/>
            <a:ext cx="3840480" cy="9966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What the Judaizers preach (v.6)</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 categorically different message</a:t>
            </a:r>
            <a:endParaRPr lang="en-US" sz="1300" dirty="0"/>
          </a:p>
        </p:txBody>
      </p:sp>
      <p:sp>
        <p:nvSpPr>
          <p:cNvPr id="9" name="Shape 6"/>
          <p:cNvSpPr/>
          <p:nvPr/>
        </p:nvSpPr>
        <p:spPr>
          <a:xfrm>
            <a:off x="4663440" y="1188720"/>
            <a:ext cx="4023360" cy="566928"/>
          </a:xfrm>
          <a:prstGeom prst="rect">
            <a:avLst/>
          </a:prstGeom>
          <a:solidFill>
            <a:srgbClr val="6B7280"/>
          </a:solidFill>
          <a:ln w="12700">
            <a:solidFill>
              <a:srgbClr val="6B7280"/>
            </a:solidFill>
            <a:prstDash val="solid"/>
          </a:ln>
        </p:spPr>
      </p:sp>
      <p:sp>
        <p:nvSpPr>
          <p:cNvPr id="10" name="Text 7"/>
          <p:cNvSpPr txBox="1"/>
          <p:nvPr/>
        </p:nvSpPr>
        <p:spPr>
          <a:xfrm>
            <a:off x="475488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Another of the same kind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ἄλλος</a:t>
            </a:r>
            <a:pPr indent="0" marL="0">
              <a:buNone/>
            </a:pPr>
            <a:r>
              <a:rPr lang="en-US" sz="850" dirty="0">
                <a:solidFill>
                  <a:srgbClr val="DCE4F2"/>
                </a:solidFill>
                <a:latin typeface="Arial" pitchFamily="34" charset="0"/>
                <a:ea typeface="Arial" pitchFamily="34" charset="-122"/>
                <a:cs typeface="Arial" pitchFamily="34" charset="-120"/>
              </a:rPr>
              <a:t>  allo · G243</a:t>
            </a:r>
            <a:endParaRPr lang="en-US" sz="1200" dirty="0"/>
          </a:p>
        </p:txBody>
      </p:sp>
      <p:sp>
        <p:nvSpPr>
          <p:cNvPr id="11" name="Shape 8"/>
          <p:cNvSpPr/>
          <p:nvPr/>
        </p:nvSpPr>
        <p:spPr>
          <a:xfrm>
            <a:off x="4663440" y="1755648"/>
            <a:ext cx="4023360" cy="1124712"/>
          </a:xfrm>
          <a:prstGeom prst="rect">
            <a:avLst/>
          </a:prstGeom>
          <a:solidFill>
            <a:srgbClr val="F2F6FC"/>
          </a:solidFill>
          <a:ln w="9525">
            <a:solidFill>
              <a:srgbClr val="D5DCEA"/>
            </a:solidFill>
            <a:prstDash val="solid"/>
          </a:ln>
        </p:spPr>
      </p:sp>
      <p:sp>
        <p:nvSpPr>
          <p:cNvPr id="12" name="Text 9"/>
          <p:cNvSpPr txBox="1"/>
          <p:nvPr/>
        </p:nvSpPr>
        <p:spPr>
          <a:xfrm>
            <a:off x="4754880" y="1828800"/>
            <a:ext cx="3840480" cy="9966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What it is not (v.7)</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No legitimate alternative gospel exists — only imitations</a:t>
            </a:r>
            <a:endParaRPr lang="en-US" sz="1300" dirty="0"/>
          </a:p>
        </p:txBody>
      </p:sp>
      <p:sp>
        <p:nvSpPr>
          <p:cNvPr id="13" name="Shape 10"/>
          <p:cNvSpPr/>
          <p:nvPr/>
        </p:nvSpPr>
        <p:spPr>
          <a:xfrm>
            <a:off x="457200" y="3017520"/>
            <a:ext cx="777240" cy="475488"/>
          </a:xfrm>
          <a:prstGeom prst="rect">
            <a:avLst/>
          </a:prstGeom>
          <a:solidFill>
            <a:srgbClr val="2E5496"/>
          </a:solidFill>
          <a:ln w="12700">
            <a:solidFill>
              <a:srgbClr val="2E5496"/>
            </a:solidFill>
            <a:prstDash val="solid"/>
          </a:ln>
        </p:spPr>
      </p:sp>
      <p:sp>
        <p:nvSpPr>
          <p:cNvPr id="14" name="Text 11"/>
          <p:cNvSpPr txBox="1"/>
          <p:nvPr/>
        </p:nvSpPr>
        <p:spPr>
          <a:xfrm>
            <a:off x="457200" y="3017520"/>
            <a:ext cx="7772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v.6–7</a:t>
            </a:r>
            <a:endParaRPr lang="en-US" sz="1100" dirty="0"/>
          </a:p>
        </p:txBody>
      </p:sp>
      <p:sp>
        <p:nvSpPr>
          <p:cNvPr id="15" name="Shape 12"/>
          <p:cNvSpPr/>
          <p:nvPr/>
        </p:nvSpPr>
        <p:spPr>
          <a:xfrm>
            <a:off x="1234440" y="3017520"/>
            <a:ext cx="7452360" cy="475488"/>
          </a:xfrm>
          <a:prstGeom prst="rect">
            <a:avLst/>
          </a:prstGeom>
          <a:solidFill>
            <a:srgbClr val="F2F6FC"/>
          </a:solidFill>
          <a:ln w="9525">
            <a:solidFill>
              <a:srgbClr val="D5DCEA"/>
            </a:solidFill>
            <a:prstDash val="solid"/>
          </a:ln>
        </p:spPr>
      </p:sp>
      <p:sp>
        <p:nvSpPr>
          <p:cNvPr id="16" name="Text 13"/>
          <p:cNvSpPr txBox="1"/>
          <p:nvPr/>
        </p:nvSpPr>
        <p:spPr>
          <a:xfrm>
            <a:off x="1344168" y="3017520"/>
            <a:ext cx="4297680" cy="47548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“gospel” — three times in two verses: which good news?</a:t>
            </a:r>
            <a:endParaRPr lang="en-US" sz="1200" dirty="0"/>
          </a:p>
        </p:txBody>
      </p:sp>
      <p:sp>
        <p:nvSpPr>
          <p:cNvPr id="17" name="Text 14"/>
          <p:cNvSpPr txBox="1"/>
          <p:nvPr/>
        </p:nvSpPr>
        <p:spPr>
          <a:xfrm>
            <a:off x="5715000" y="3017520"/>
            <a:ext cx="2880360" cy="47548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εὐαγγέλιον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only one is entitled to the name</a:t>
            </a:r>
            <a:endParaRPr lang="en-US" sz="1200" dirty="0"/>
          </a:p>
        </p:txBody>
      </p:sp>
      <p:sp>
        <p:nvSpPr>
          <p:cNvPr id="18" name="Shape 15"/>
          <p:cNvSpPr/>
          <p:nvPr/>
        </p:nvSpPr>
        <p:spPr>
          <a:xfrm>
            <a:off x="457200" y="3547872"/>
            <a:ext cx="777240" cy="475488"/>
          </a:xfrm>
          <a:prstGeom prst="rect">
            <a:avLst/>
          </a:prstGeom>
          <a:solidFill>
            <a:srgbClr val="2E5496"/>
          </a:solidFill>
          <a:ln w="12700">
            <a:solidFill>
              <a:srgbClr val="2E5496"/>
            </a:solidFill>
            <a:prstDash val="solid"/>
          </a:ln>
        </p:spPr>
      </p:sp>
      <p:sp>
        <p:nvSpPr>
          <p:cNvPr id="19" name="Text 16"/>
          <p:cNvSpPr txBox="1"/>
          <p:nvPr/>
        </p:nvSpPr>
        <p:spPr>
          <a:xfrm>
            <a:off x="457200" y="3547872"/>
            <a:ext cx="7772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v.7</a:t>
            </a:r>
            <a:endParaRPr lang="en-US" sz="1100" dirty="0"/>
          </a:p>
        </p:txBody>
      </p:sp>
      <p:sp>
        <p:nvSpPr>
          <p:cNvPr id="20" name="Shape 17"/>
          <p:cNvSpPr/>
          <p:nvPr/>
        </p:nvSpPr>
        <p:spPr>
          <a:xfrm>
            <a:off x="1234440" y="3547872"/>
            <a:ext cx="7452360" cy="475488"/>
          </a:xfrm>
          <a:prstGeom prst="rect">
            <a:avLst/>
          </a:prstGeom>
          <a:solidFill>
            <a:srgbClr val="FFFFFF"/>
          </a:solidFill>
          <a:ln w="9525">
            <a:solidFill>
              <a:srgbClr val="D5DCEA"/>
            </a:solidFill>
            <a:prstDash val="solid"/>
          </a:ln>
        </p:spPr>
      </p:sp>
      <p:sp>
        <p:nvSpPr>
          <p:cNvPr id="21" name="Text 18"/>
          <p:cNvSpPr txBox="1"/>
          <p:nvPr/>
        </p:nvSpPr>
        <p:spPr>
          <a:xfrm>
            <a:off x="1344168" y="3547872"/>
            <a:ext cx="4297680" cy="47548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“some who trouble you” — confusion replacing settled confidence</a:t>
            </a:r>
            <a:endParaRPr lang="en-US" sz="1200" dirty="0"/>
          </a:p>
        </p:txBody>
      </p:sp>
      <p:sp>
        <p:nvSpPr>
          <p:cNvPr id="22" name="Text 19"/>
          <p:cNvSpPr txBox="1"/>
          <p:nvPr/>
        </p:nvSpPr>
        <p:spPr>
          <a:xfrm>
            <a:off x="5715000" y="3547872"/>
            <a:ext cx="2880360" cy="47548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ταράσσοντες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Pres. Act. Ptc. — ongoing</a:t>
            </a:r>
            <a:endParaRPr lang="en-US" sz="1200" dirty="0"/>
          </a:p>
        </p:txBody>
      </p:sp>
      <p:sp>
        <p:nvSpPr>
          <p:cNvPr id="23" name="Shape 20"/>
          <p:cNvSpPr/>
          <p:nvPr/>
        </p:nvSpPr>
        <p:spPr>
          <a:xfrm>
            <a:off x="457200" y="4078224"/>
            <a:ext cx="777240" cy="475488"/>
          </a:xfrm>
          <a:prstGeom prst="rect">
            <a:avLst/>
          </a:prstGeom>
          <a:solidFill>
            <a:srgbClr val="2E5496"/>
          </a:solidFill>
          <a:ln w="12700">
            <a:solidFill>
              <a:srgbClr val="2E5496"/>
            </a:solidFill>
            <a:prstDash val="solid"/>
          </a:ln>
        </p:spPr>
      </p:sp>
      <p:sp>
        <p:nvSpPr>
          <p:cNvPr id="24" name="Text 21"/>
          <p:cNvSpPr txBox="1"/>
          <p:nvPr/>
        </p:nvSpPr>
        <p:spPr>
          <a:xfrm>
            <a:off x="457200" y="4078224"/>
            <a:ext cx="7772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v.7</a:t>
            </a:r>
            <a:endParaRPr lang="en-US" sz="1100" dirty="0"/>
          </a:p>
        </p:txBody>
      </p:sp>
      <p:sp>
        <p:nvSpPr>
          <p:cNvPr id="25" name="Shape 22"/>
          <p:cNvSpPr/>
          <p:nvPr/>
        </p:nvSpPr>
        <p:spPr>
          <a:xfrm>
            <a:off x="1234440" y="4078224"/>
            <a:ext cx="7452360" cy="475488"/>
          </a:xfrm>
          <a:prstGeom prst="rect">
            <a:avLst/>
          </a:prstGeom>
          <a:solidFill>
            <a:srgbClr val="F2F6FC"/>
          </a:solidFill>
          <a:ln w="9525">
            <a:solidFill>
              <a:srgbClr val="D5DCEA"/>
            </a:solidFill>
            <a:prstDash val="solid"/>
          </a:ln>
        </p:spPr>
      </p:sp>
      <p:sp>
        <p:nvSpPr>
          <p:cNvPr id="26" name="Text 23"/>
          <p:cNvSpPr txBox="1"/>
          <p:nvPr/>
        </p:nvSpPr>
        <p:spPr>
          <a:xfrm>
            <a:off x="1344168" y="4078224"/>
            <a:ext cx="4297680" cy="475488"/>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“want to pervert the gospel of Christ”</a:t>
            </a:r>
            <a:endParaRPr lang="en-US" sz="1200" dirty="0"/>
          </a:p>
        </p:txBody>
      </p:sp>
      <p:sp>
        <p:nvSpPr>
          <p:cNvPr id="27" name="Text 24"/>
          <p:cNvSpPr txBox="1"/>
          <p:nvPr/>
        </p:nvSpPr>
        <p:spPr>
          <a:xfrm>
            <a:off x="5715000" y="4078224"/>
            <a:ext cx="2880360" cy="47548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μεταστρέψαι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to turn to the opposite — invert it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Two scenarios, one verdict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1:8–9 · Outline II.A–B</a:t>
            </a:r>
            <a:endParaRPr lang="en-US" sz="1200" dirty="0"/>
          </a:p>
        </p:txBody>
      </p:sp>
      <p:sp>
        <p:nvSpPr>
          <p:cNvPr id="5" name="Shape 2"/>
          <p:cNvSpPr/>
          <p:nvPr/>
        </p:nvSpPr>
        <p:spPr>
          <a:xfrm>
            <a:off x="457200" y="1188720"/>
            <a:ext cx="3200400" cy="365760"/>
          </a:xfrm>
          <a:prstGeom prst="rect">
            <a:avLst/>
          </a:prstGeom>
          <a:solidFill>
            <a:srgbClr val="6B7280"/>
          </a:solidFill>
          <a:ln w="12700">
            <a:solidFill>
              <a:srgbClr val="6B7280"/>
            </a:solidFill>
            <a:prstDash val="solid"/>
          </a:ln>
        </p:spPr>
      </p:sp>
      <p:sp>
        <p:nvSpPr>
          <p:cNvPr id="6" name="Text 3"/>
          <p:cNvSpPr txBox="1"/>
          <p:nvPr/>
        </p:nvSpPr>
        <p:spPr>
          <a:xfrm>
            <a:off x="548640" y="1234440"/>
            <a:ext cx="30175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Unlikely — v.8</a:t>
            </a:r>
            <a:endParaRPr lang="en-US" sz="1200" dirty="0"/>
          </a:p>
        </p:txBody>
      </p:sp>
      <p:sp>
        <p:nvSpPr>
          <p:cNvPr id="7" name="Shape 4"/>
          <p:cNvSpPr/>
          <p:nvPr/>
        </p:nvSpPr>
        <p:spPr>
          <a:xfrm>
            <a:off x="457200" y="1554480"/>
            <a:ext cx="3200400" cy="1371600"/>
          </a:xfrm>
          <a:prstGeom prst="rect">
            <a:avLst/>
          </a:prstGeom>
          <a:solidFill>
            <a:srgbClr val="F2F6FC"/>
          </a:solidFill>
          <a:ln w="9525">
            <a:solidFill>
              <a:srgbClr val="D5DCEA"/>
            </a:solidFill>
            <a:prstDash val="solid"/>
          </a:ln>
        </p:spPr>
      </p:sp>
      <p:sp>
        <p:nvSpPr>
          <p:cNvPr id="8" name="Text 5"/>
          <p:cNvSpPr txBox="1"/>
          <p:nvPr/>
        </p:nvSpPr>
        <p:spPr>
          <a:xfrm>
            <a:off x="548640" y="1627632"/>
            <a:ext cx="3017520" cy="124358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“Even if we, or an angel from heaven”</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Even Paul himself is not exempt</a:t>
            </a:r>
            <a:endParaRPr lang="en-US" sz="1300" dirty="0"/>
          </a:p>
        </p:txBody>
      </p:sp>
      <p:sp>
        <p:nvSpPr>
          <p:cNvPr id="9" name="Shape 6"/>
          <p:cNvSpPr/>
          <p:nvPr/>
        </p:nvSpPr>
        <p:spPr>
          <a:xfrm>
            <a:off x="457200" y="3063240"/>
            <a:ext cx="3200400" cy="365760"/>
          </a:xfrm>
          <a:prstGeom prst="rect">
            <a:avLst/>
          </a:prstGeom>
          <a:solidFill>
            <a:srgbClr val="2E5496"/>
          </a:solidFill>
          <a:ln w="12700">
            <a:solidFill>
              <a:srgbClr val="2E5496"/>
            </a:solidFill>
            <a:prstDash val="solid"/>
          </a:ln>
        </p:spPr>
      </p:sp>
      <p:sp>
        <p:nvSpPr>
          <p:cNvPr id="10" name="Text 7"/>
          <p:cNvSpPr txBox="1"/>
          <p:nvPr/>
        </p:nvSpPr>
        <p:spPr>
          <a:xfrm>
            <a:off x="548640" y="3108960"/>
            <a:ext cx="30175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Likely — v.9</a:t>
            </a:r>
            <a:endParaRPr lang="en-US" sz="1200" dirty="0"/>
          </a:p>
        </p:txBody>
      </p:sp>
      <p:sp>
        <p:nvSpPr>
          <p:cNvPr id="11" name="Shape 8"/>
          <p:cNvSpPr/>
          <p:nvPr/>
        </p:nvSpPr>
        <p:spPr>
          <a:xfrm>
            <a:off x="457200" y="3429000"/>
            <a:ext cx="3200400" cy="1143000"/>
          </a:xfrm>
          <a:prstGeom prst="rect">
            <a:avLst/>
          </a:prstGeom>
          <a:solidFill>
            <a:srgbClr val="F2F6FC"/>
          </a:solidFill>
          <a:ln w="9525">
            <a:solidFill>
              <a:srgbClr val="D5DCEA"/>
            </a:solidFill>
            <a:prstDash val="solid"/>
          </a:ln>
        </p:spPr>
      </p:sp>
      <p:sp>
        <p:nvSpPr>
          <p:cNvPr id="12" name="Text 9"/>
          <p:cNvSpPr txBox="1"/>
          <p:nvPr/>
        </p:nvSpPr>
        <p:spPr>
          <a:xfrm>
            <a:off x="548640" y="3502152"/>
            <a:ext cx="3017520" cy="101498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“If anyone preaches any other gospel”</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Judaizers in Galatia, now</a:t>
            </a:r>
            <a:endParaRPr lang="en-US" sz="1300" dirty="0"/>
          </a:p>
        </p:txBody>
      </p:sp>
      <p:sp>
        <p:nvSpPr>
          <p:cNvPr id="13" name="Shape 10"/>
          <p:cNvSpPr/>
          <p:nvPr/>
        </p:nvSpPr>
        <p:spPr>
          <a:xfrm>
            <a:off x="3794760" y="1965960"/>
            <a:ext cx="365760" cy="237744"/>
          </a:xfrm>
          <a:prstGeom prst="rightArrow">
            <a:avLst/>
          </a:prstGeom>
          <a:solidFill>
            <a:srgbClr val="7030A0"/>
          </a:solidFill>
          <a:ln w="12700">
            <a:solidFill>
              <a:srgbClr val="7030A0"/>
            </a:solidFill>
            <a:prstDash val="solid"/>
          </a:ln>
        </p:spPr>
      </p:sp>
      <p:sp>
        <p:nvSpPr>
          <p:cNvPr id="14" name="Shape 11"/>
          <p:cNvSpPr/>
          <p:nvPr/>
        </p:nvSpPr>
        <p:spPr>
          <a:xfrm>
            <a:off x="3794760" y="3703320"/>
            <a:ext cx="365760" cy="237744"/>
          </a:xfrm>
          <a:prstGeom prst="rightArrow">
            <a:avLst/>
          </a:prstGeom>
          <a:solidFill>
            <a:srgbClr val="7030A0"/>
          </a:solidFill>
          <a:ln w="12700">
            <a:solidFill>
              <a:srgbClr val="7030A0"/>
            </a:solidFill>
            <a:prstDash val="solid"/>
          </a:ln>
        </p:spPr>
      </p:sp>
      <p:sp>
        <p:nvSpPr>
          <p:cNvPr id="15" name="Shape 12"/>
          <p:cNvSpPr/>
          <p:nvPr/>
        </p:nvSpPr>
        <p:spPr>
          <a:xfrm>
            <a:off x="4343400" y="1188720"/>
            <a:ext cx="4343400" cy="3383280"/>
          </a:xfrm>
          <a:prstGeom prst="roundRect">
            <a:avLst>
              <a:gd name="adj" fmla="val 1622"/>
            </a:avLst>
          </a:prstGeom>
          <a:solidFill>
            <a:srgbClr val="F4EEFB"/>
          </a:solidFill>
          <a:ln w="12700">
            <a:solidFill>
              <a:srgbClr val="7030A0"/>
            </a:solidFill>
            <a:prstDash val="solid"/>
          </a:ln>
        </p:spPr>
      </p:sp>
      <p:sp>
        <p:nvSpPr>
          <p:cNvPr id="16" name="Text 13"/>
          <p:cNvSpPr txBox="1"/>
          <p:nvPr/>
        </p:nvSpPr>
        <p:spPr>
          <a:xfrm>
            <a:off x="4526280" y="1325880"/>
            <a:ext cx="3977640" cy="365760"/>
          </a:xfrm>
          <a:prstGeom prst="rect">
            <a:avLst/>
          </a:prstGeom>
          <a:noFill/>
          <a:ln/>
        </p:spPr>
        <p:txBody>
          <a:bodyPr wrap="square" lIns="0" tIns="0" rIns="0" bIns="0" rtlCol="0" anchor="t"/>
          <a:lstStyle/>
          <a:p>
            <a:pPr indent="0" marL="0">
              <a:buNone/>
            </a:pPr>
            <a:r>
              <a:rPr lang="en-US" sz="1400" b="1" dirty="0">
                <a:solidFill>
                  <a:srgbClr val="1F3864"/>
                </a:solidFill>
                <a:latin typeface="Arial" pitchFamily="34" charset="0"/>
                <a:ea typeface="Arial" pitchFamily="34" charset="-122"/>
                <a:cs typeface="Arial" pitchFamily="34" charset="-120"/>
              </a:rPr>
              <a:t>“Let him be accursed”</a:t>
            </a:r>
            <a:endParaRPr lang="en-US" sz="1400" dirty="0"/>
          </a:p>
        </p:txBody>
      </p:sp>
      <p:sp>
        <p:nvSpPr>
          <p:cNvPr id="17" name="Text 14"/>
          <p:cNvSpPr txBox="1"/>
          <p:nvPr/>
        </p:nvSpPr>
        <p:spPr>
          <a:xfrm>
            <a:off x="4526280" y="1737360"/>
            <a:ext cx="3977640" cy="502920"/>
          </a:xfrm>
          <a:prstGeom prst="rect">
            <a:avLst/>
          </a:prstGeom>
          <a:noFill/>
          <a:ln/>
        </p:spPr>
        <p:txBody>
          <a:bodyPr wrap="square" lIns="0" tIns="0" rIns="0" bIns="0" rtlCol="0" anchor="ctr"/>
          <a:lstStyle/>
          <a:p>
            <a:pPr indent="0" marL="0">
              <a:buNone/>
            </a:pPr>
            <a:r>
              <a:rPr lang="en-US" sz="2200" b="1" dirty="0">
                <a:solidFill>
                  <a:srgbClr val="7030A0"/>
                </a:solidFill>
                <a:latin typeface="Arial" pitchFamily="34" charset="0"/>
                <a:ea typeface="Arial" pitchFamily="34" charset="-122"/>
                <a:cs typeface="Arial" pitchFamily="34" charset="-120"/>
              </a:rPr>
              <a:t>ἀνάθεμα</a:t>
            </a:r>
            <a:pPr indent="0" marL="0">
              <a:buNone/>
            </a:pPr>
            <a:r>
              <a:rPr lang="en-US" sz="1100" dirty="0">
                <a:solidFill>
                  <a:srgbClr val="595959"/>
                </a:solidFill>
                <a:latin typeface="Arial" pitchFamily="34" charset="0"/>
                <a:ea typeface="Arial" pitchFamily="34" charset="-122"/>
                <a:cs typeface="Arial" pitchFamily="34" charset="-120"/>
              </a:rPr>
              <a:t>   anathema · G331</a:t>
            </a:r>
            <a:endParaRPr lang="en-US" sz="1200" dirty="0"/>
          </a:p>
        </p:txBody>
      </p:sp>
      <p:sp>
        <p:nvSpPr>
          <p:cNvPr id="18" name="Text 15"/>
          <p:cNvSpPr txBox="1"/>
          <p:nvPr/>
        </p:nvSpPr>
        <p:spPr>
          <a:xfrm>
            <a:off x="4526280" y="2377440"/>
            <a:ext cx="3977640" cy="210312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262626"/>
                </a:solidFill>
                <a:latin typeface="Arial" pitchFamily="34" charset="0"/>
                <a:ea typeface="Arial" pitchFamily="34" charset="-122"/>
                <a:cs typeface="Arial" pitchFamily="34" charset="-120"/>
              </a:rPr>
              <a:t>Something devoted to destruction</a:t>
            </a:r>
            <a:endParaRPr lang="en-US" sz="1200" dirty="0"/>
          </a:p>
          <a:p>
            <a:pPr marL="127000" indent="-127000">
              <a:spcAft>
                <a:spcPts val="300"/>
              </a:spcAft>
              <a:buSzPct val="100000"/>
              <a:buChar char="•"/>
            </a:pPr>
            <a:r>
              <a:rPr lang="en-US" sz="1050" dirty="0">
                <a:solidFill>
                  <a:srgbClr val="262626"/>
                </a:solidFill>
                <a:latin typeface="Arial" pitchFamily="34" charset="0"/>
                <a:ea typeface="Arial" pitchFamily="34" charset="-122"/>
                <a:cs typeface="Arial" pitchFamily="34" charset="-120"/>
              </a:rPr>
              <a:t>LXX: renders Hebrew חֵרֶם (cherem), the ban (Josh 6:17)</a:t>
            </a:r>
            <a:endParaRPr lang="en-US" sz="1200" dirty="0"/>
          </a:p>
          <a:p>
            <a:pPr marL="127000" indent="-127000">
              <a:spcAft>
                <a:spcPts val="300"/>
              </a:spcAft>
              <a:buSzPct val="100000"/>
              <a:buChar char="•"/>
            </a:pPr>
            <a:r>
              <a:rPr lang="en-US" sz="1050" dirty="0">
                <a:solidFill>
                  <a:srgbClr val="262626"/>
                </a:solidFill>
                <a:latin typeface="Arial" pitchFamily="34" charset="0"/>
                <a:ea typeface="Arial" pitchFamily="34" charset="-122"/>
                <a:cs typeface="Arial" pitchFamily="34" charset="-120"/>
              </a:rPr>
              <a:t>Said twice — “as we have said before, so now I say again”</a:t>
            </a:r>
            <a:endParaRPr lang="en-US" sz="1200" dirty="0"/>
          </a:p>
          <a:p>
            <a:pPr marL="127000" indent="-127000">
              <a:spcAft>
                <a:spcPts val="300"/>
              </a:spcAft>
              <a:buSzPct val="100000"/>
              <a:buChar char="•"/>
            </a:pPr>
            <a:r>
              <a:rPr lang="en-US" sz="1050" dirty="0">
                <a:solidFill>
                  <a:srgbClr val="262626"/>
                </a:solidFill>
                <a:latin typeface="Arial" pitchFamily="34" charset="0"/>
                <a:ea typeface="Arial" pitchFamily="34" charset="-122"/>
                <a:cs typeface="Arial" pitchFamily="34" charset="-120"/>
              </a:rPr>
              <a:t>The test is the message, measured by the Word — not the messenger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Pleasing men, or serving Christ?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1:10 · Outline III — Paul's wisdom</a:t>
            </a:r>
            <a:endParaRPr lang="en-US" sz="1200" dirty="0"/>
          </a:p>
        </p:txBody>
      </p:sp>
      <p:sp>
        <p:nvSpPr>
          <p:cNvPr id="5" name="Shape 2"/>
          <p:cNvSpPr/>
          <p:nvPr/>
        </p:nvSpPr>
        <p:spPr>
          <a:xfrm>
            <a:off x="457200" y="1143000"/>
            <a:ext cx="777240" cy="502920"/>
          </a:xfrm>
          <a:prstGeom prst="rect">
            <a:avLst/>
          </a:prstGeom>
          <a:solidFill>
            <a:srgbClr val="2E5496"/>
          </a:solidFill>
          <a:ln w="12700">
            <a:solidFill>
              <a:srgbClr val="2E5496"/>
            </a:solidFill>
            <a:prstDash val="solid"/>
          </a:ln>
        </p:spPr>
      </p:sp>
      <p:sp>
        <p:nvSpPr>
          <p:cNvPr id="6" name="Text 3"/>
          <p:cNvSpPr txBox="1"/>
          <p:nvPr/>
        </p:nvSpPr>
        <p:spPr>
          <a:xfrm>
            <a:off x="457200" y="1143000"/>
            <a:ext cx="7772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v.10a</a:t>
            </a:r>
            <a:endParaRPr lang="en-US" sz="1100" dirty="0"/>
          </a:p>
        </p:txBody>
      </p:sp>
      <p:sp>
        <p:nvSpPr>
          <p:cNvPr id="7" name="Shape 4"/>
          <p:cNvSpPr/>
          <p:nvPr/>
        </p:nvSpPr>
        <p:spPr>
          <a:xfrm>
            <a:off x="1234440" y="1143000"/>
            <a:ext cx="7452360" cy="502920"/>
          </a:xfrm>
          <a:prstGeom prst="rect">
            <a:avLst/>
          </a:prstGeom>
          <a:solidFill>
            <a:srgbClr val="F2F6FC"/>
          </a:solidFill>
          <a:ln w="9525">
            <a:solidFill>
              <a:srgbClr val="D5DCEA"/>
            </a:solidFill>
            <a:prstDash val="solid"/>
          </a:ln>
        </p:spPr>
      </p:sp>
      <p:sp>
        <p:nvSpPr>
          <p:cNvPr id="8" name="Text 5"/>
          <p:cNvSpPr txBox="1"/>
          <p:nvPr/>
        </p:nvSpPr>
        <p:spPr>
          <a:xfrm>
            <a:off x="1344168" y="1143000"/>
            <a:ext cx="4389120" cy="50292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“Do I now persuade men, or God?” — the charge: a gospel shaped to win favor</a:t>
            </a:r>
            <a:endParaRPr lang="en-US" sz="1200" dirty="0"/>
          </a:p>
        </p:txBody>
      </p:sp>
      <p:sp>
        <p:nvSpPr>
          <p:cNvPr id="9" name="Text 6"/>
          <p:cNvSpPr txBox="1"/>
          <p:nvPr/>
        </p:nvSpPr>
        <p:spPr>
          <a:xfrm>
            <a:off x="5806440" y="1143000"/>
            <a:ext cx="2788920" cy="50292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πείθω</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persuade; seek to win favor</a:t>
            </a:r>
            <a:endParaRPr lang="en-US" sz="1200" dirty="0"/>
          </a:p>
        </p:txBody>
      </p:sp>
      <p:sp>
        <p:nvSpPr>
          <p:cNvPr id="10" name="Shape 7"/>
          <p:cNvSpPr/>
          <p:nvPr/>
        </p:nvSpPr>
        <p:spPr>
          <a:xfrm>
            <a:off x="457200" y="1709928"/>
            <a:ext cx="777240" cy="502920"/>
          </a:xfrm>
          <a:prstGeom prst="rect">
            <a:avLst/>
          </a:prstGeom>
          <a:solidFill>
            <a:srgbClr val="2E5496"/>
          </a:solidFill>
          <a:ln w="12700">
            <a:solidFill>
              <a:srgbClr val="2E5496"/>
            </a:solidFill>
            <a:prstDash val="solid"/>
          </a:ln>
        </p:spPr>
      </p:sp>
      <p:sp>
        <p:nvSpPr>
          <p:cNvPr id="11" name="Text 8"/>
          <p:cNvSpPr txBox="1"/>
          <p:nvPr/>
        </p:nvSpPr>
        <p:spPr>
          <a:xfrm>
            <a:off x="457200" y="1709928"/>
            <a:ext cx="7772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v.10b</a:t>
            </a:r>
            <a:endParaRPr lang="en-US" sz="1100" dirty="0"/>
          </a:p>
        </p:txBody>
      </p:sp>
      <p:sp>
        <p:nvSpPr>
          <p:cNvPr id="12" name="Shape 9"/>
          <p:cNvSpPr/>
          <p:nvPr/>
        </p:nvSpPr>
        <p:spPr>
          <a:xfrm>
            <a:off x="1234440" y="1709928"/>
            <a:ext cx="7452360" cy="502920"/>
          </a:xfrm>
          <a:prstGeom prst="rect">
            <a:avLst/>
          </a:prstGeom>
          <a:solidFill>
            <a:srgbClr val="FFFFFF"/>
          </a:solidFill>
          <a:ln w="9525">
            <a:solidFill>
              <a:srgbClr val="D5DCEA"/>
            </a:solidFill>
            <a:prstDash val="solid"/>
          </a:ln>
        </p:spPr>
      </p:sp>
      <p:sp>
        <p:nvSpPr>
          <p:cNvPr id="13" name="Text 10"/>
          <p:cNvSpPr txBox="1"/>
          <p:nvPr/>
        </p:nvSpPr>
        <p:spPr>
          <a:xfrm>
            <a:off x="1344168" y="1709928"/>
            <a:ext cx="4389120" cy="50292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“Or do I seek to please men?”</a:t>
            </a:r>
            <a:endParaRPr lang="en-US" sz="1200" dirty="0"/>
          </a:p>
        </p:txBody>
      </p:sp>
      <p:sp>
        <p:nvSpPr>
          <p:cNvPr id="14" name="Text 11"/>
          <p:cNvSpPr txBox="1"/>
          <p:nvPr/>
        </p:nvSpPr>
        <p:spPr>
          <a:xfrm>
            <a:off x="5806440" y="1709928"/>
            <a:ext cx="2788920" cy="50292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ἀρέσκω</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to please, accommodate</a:t>
            </a:r>
            <a:endParaRPr lang="en-US" sz="1200" dirty="0"/>
          </a:p>
        </p:txBody>
      </p:sp>
      <p:sp>
        <p:nvSpPr>
          <p:cNvPr id="15" name="Shape 12"/>
          <p:cNvSpPr/>
          <p:nvPr/>
        </p:nvSpPr>
        <p:spPr>
          <a:xfrm>
            <a:off x="457200" y="2276856"/>
            <a:ext cx="777240" cy="502920"/>
          </a:xfrm>
          <a:prstGeom prst="rect">
            <a:avLst/>
          </a:prstGeom>
          <a:solidFill>
            <a:srgbClr val="375623"/>
          </a:solidFill>
          <a:ln w="12700">
            <a:solidFill>
              <a:srgbClr val="375623"/>
            </a:solidFill>
            <a:prstDash val="solid"/>
          </a:ln>
        </p:spPr>
      </p:sp>
      <p:sp>
        <p:nvSpPr>
          <p:cNvPr id="16" name="Text 13"/>
          <p:cNvSpPr txBox="1"/>
          <p:nvPr/>
        </p:nvSpPr>
        <p:spPr>
          <a:xfrm>
            <a:off x="457200" y="2276856"/>
            <a:ext cx="7772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v.10c</a:t>
            </a:r>
            <a:endParaRPr lang="en-US" sz="1100" dirty="0"/>
          </a:p>
        </p:txBody>
      </p:sp>
      <p:sp>
        <p:nvSpPr>
          <p:cNvPr id="17" name="Shape 14"/>
          <p:cNvSpPr/>
          <p:nvPr/>
        </p:nvSpPr>
        <p:spPr>
          <a:xfrm>
            <a:off x="1234440" y="2276856"/>
            <a:ext cx="7452360" cy="502920"/>
          </a:xfrm>
          <a:prstGeom prst="rect">
            <a:avLst/>
          </a:prstGeom>
          <a:solidFill>
            <a:srgbClr val="F2F6FC"/>
          </a:solidFill>
          <a:ln w="9525">
            <a:solidFill>
              <a:srgbClr val="D5DCEA"/>
            </a:solidFill>
            <a:prstDash val="solid"/>
          </a:ln>
        </p:spPr>
      </p:sp>
      <p:sp>
        <p:nvSpPr>
          <p:cNvPr id="18" name="Text 15"/>
          <p:cNvSpPr txBox="1"/>
          <p:nvPr/>
        </p:nvSpPr>
        <p:spPr>
          <a:xfrm>
            <a:off x="1344168" y="2276856"/>
            <a:ext cx="4389120" cy="50292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“I would not be a bondservant of Christ”</a:t>
            </a:r>
            <a:endParaRPr lang="en-US" sz="1200" dirty="0"/>
          </a:p>
        </p:txBody>
      </p:sp>
      <p:sp>
        <p:nvSpPr>
          <p:cNvPr id="19" name="Text 16"/>
          <p:cNvSpPr txBox="1"/>
          <p:nvPr/>
        </p:nvSpPr>
        <p:spPr>
          <a:xfrm>
            <a:off x="5806440" y="2276856"/>
            <a:ext cx="2788920" cy="50292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δοῦλος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one Master — not Christ and the crowd</a:t>
            </a:r>
            <a:endParaRPr lang="en-US" sz="1200" dirty="0"/>
          </a:p>
        </p:txBody>
      </p:sp>
      <p:sp>
        <p:nvSpPr>
          <p:cNvPr id="20" name="Shape 17"/>
          <p:cNvSpPr/>
          <p:nvPr/>
        </p:nvSpPr>
        <p:spPr>
          <a:xfrm>
            <a:off x="457200" y="3017520"/>
            <a:ext cx="4023360" cy="365760"/>
          </a:xfrm>
          <a:prstGeom prst="rect">
            <a:avLst/>
          </a:prstGeom>
          <a:solidFill>
            <a:srgbClr val="6B7280"/>
          </a:solidFill>
          <a:ln w="12700">
            <a:solidFill>
              <a:srgbClr val="6B7280"/>
            </a:solidFill>
            <a:prstDash val="solid"/>
          </a:ln>
        </p:spPr>
      </p:sp>
      <p:sp>
        <p:nvSpPr>
          <p:cNvPr id="21" name="Text 18"/>
          <p:cNvSpPr txBox="1"/>
          <p:nvPr/>
        </p:nvSpPr>
        <p:spPr>
          <a:xfrm>
            <a:off x="548640" y="30632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Serving from fear</a:t>
            </a:r>
            <a:endParaRPr lang="en-US" sz="1200" dirty="0"/>
          </a:p>
        </p:txBody>
      </p:sp>
      <p:sp>
        <p:nvSpPr>
          <p:cNvPr id="22" name="Shape 19"/>
          <p:cNvSpPr/>
          <p:nvPr/>
        </p:nvSpPr>
        <p:spPr>
          <a:xfrm>
            <a:off x="457200" y="3383280"/>
            <a:ext cx="4023360" cy="1234440"/>
          </a:xfrm>
          <a:prstGeom prst="rect">
            <a:avLst/>
          </a:prstGeom>
          <a:solidFill>
            <a:srgbClr val="F2F6FC"/>
          </a:solidFill>
          <a:ln w="9525">
            <a:solidFill>
              <a:srgbClr val="D5DCEA"/>
            </a:solidFill>
            <a:prstDash val="solid"/>
          </a:ln>
        </p:spPr>
      </p:sp>
      <p:sp>
        <p:nvSpPr>
          <p:cNvPr id="23" name="Text 20"/>
          <p:cNvSpPr txBox="1"/>
          <p:nvPr/>
        </p:nvSpPr>
        <p:spPr>
          <a:xfrm>
            <a:off x="548640" y="3456432"/>
            <a:ext cx="3840480" cy="110642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Unsure enough has been done to be saved — or to stay saved</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Works become a way to keep the account settled</a:t>
            </a:r>
            <a:endParaRPr lang="en-US" sz="1300" dirty="0"/>
          </a:p>
        </p:txBody>
      </p:sp>
      <p:sp>
        <p:nvSpPr>
          <p:cNvPr id="24" name="Shape 21"/>
          <p:cNvSpPr/>
          <p:nvPr/>
        </p:nvSpPr>
        <p:spPr>
          <a:xfrm>
            <a:off x="4663440" y="3017520"/>
            <a:ext cx="4023360" cy="365760"/>
          </a:xfrm>
          <a:prstGeom prst="rect">
            <a:avLst/>
          </a:prstGeom>
          <a:solidFill>
            <a:srgbClr val="375623"/>
          </a:solidFill>
          <a:ln w="12700">
            <a:solidFill>
              <a:srgbClr val="375623"/>
            </a:solidFill>
            <a:prstDash val="solid"/>
          </a:ln>
        </p:spPr>
      </p:sp>
      <p:sp>
        <p:nvSpPr>
          <p:cNvPr id="25" name="Text 22"/>
          <p:cNvSpPr txBox="1"/>
          <p:nvPr/>
        </p:nvSpPr>
        <p:spPr>
          <a:xfrm>
            <a:off x="4754880" y="30632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Serving from love</a:t>
            </a:r>
            <a:endParaRPr lang="en-US" sz="1200" dirty="0"/>
          </a:p>
        </p:txBody>
      </p:sp>
      <p:sp>
        <p:nvSpPr>
          <p:cNvPr id="26" name="Shape 23"/>
          <p:cNvSpPr/>
          <p:nvPr/>
        </p:nvSpPr>
        <p:spPr>
          <a:xfrm>
            <a:off x="4663440" y="3383280"/>
            <a:ext cx="4023360" cy="1234440"/>
          </a:xfrm>
          <a:prstGeom prst="rect">
            <a:avLst/>
          </a:prstGeom>
          <a:solidFill>
            <a:srgbClr val="F2F6FC"/>
          </a:solidFill>
          <a:ln w="9525">
            <a:solidFill>
              <a:srgbClr val="D5DCEA"/>
            </a:solidFill>
            <a:prstDash val="solid"/>
          </a:ln>
        </p:spPr>
      </p:sp>
      <p:sp>
        <p:nvSpPr>
          <p:cNvPr id="27" name="Text 24"/>
          <p:cNvSpPr txBox="1"/>
          <p:nvPr/>
        </p:nvSpPr>
        <p:spPr>
          <a:xfrm>
            <a:off x="4754880" y="3456432"/>
            <a:ext cx="3840480" cy="110642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Jesus has already paid the debt in full</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love of Christ compels us” (2 Cor 5:14)</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1:6–10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According to 1:6b, whose call were the Galatians actually rejecting when they abandoned Paul's gospel — and why does that matter?</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Why does Paul pronounce the same curse (ἀνάθεμα) on an unlikely messenger and a likely one?</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Grace Cannot Be Improved Upon</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Write out in one sentence how a person receives eternal life. Check it against Ephesians 2:8–9 and John 3:16.</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Test Every Message Against the Word</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Pick one teaching you've accepted secondhand and trace it back to see whether it holds up against the Word.</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There is one gospel — grace — and anything added to it is no gospel at all.</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Galatians Study 2 — The One True Gospel: Charts</dc:title>
  <dc:subject>PptxGenJS Presentation</dc:subject>
  <dc:creator>The Gospel Vault</dc:creator>
  <cp:lastModifiedBy>The Gospel Vault</cp:lastModifiedBy>
  <cp:revision>1</cp:revision>
  <dcterms:created xsi:type="dcterms:W3CDTF">2026-10-30T05:30:26Z</dcterms:created>
  <dcterms:modified xsi:type="dcterms:W3CDTF">2026-10-30T05:30:26Z</dcterms:modified>
</cp:coreProperties>
</file>