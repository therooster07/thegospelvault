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1 · Galatians 1:1–5" id="{6b0fcb4f-e594-c31e-0071-39ae1e618bf1}">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 opens with the Background (introduction to the letter) and then the Exposition of 1:1–5. The first four charts cover the Background; the rest cover the Exposition.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III, Date of Writing; IV, Place of Writing): The commentary places Galatians between Paul's famine visit and the Jerusalem Council, making it Paul's first epistle (A.D. 48), written from his home church in Antioch of Syria. Point out that the famine visit of Acts 11 is the same visit Paul describes in Galatians 2:1–10 (Study 4). Note: the posted Jerusalem-visits timeline page says c. A.D. 49; the commentary says A.D.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II, The Recipients): The commentary takes the South Galatia view. The deciding reason: Galatians never mentions the Jerusalem Council. Since the council settled the very problem Galatians addresses, Paul would have used its letter to prove his case if it already existed. Dr. Sellers notes he covers the debate at length in academic settings, but for him the silence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V, A–F): Walk the six quickly. Two to stress: (C) no thanksgiving — Paul had nothing to thank them for while they followed false teachers; and (E) Romans and Galatians both teach justification by faith, but Romans says what it is and Galatians says what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VI, A–B): Their message shifted with the setting — in the Gospels, salvation by the law; in the Epistles, sanctification by the law. Their appeal was strong: the Old Testament on their side, Jew-to-Jew sympathy, man's love of doing something, and the prestige of Jerusalem. The commentary also notes some Judaizers may have been believers who had the gospel wrong about how you live it. Close with the commentary's reading rule: remember where we are in the argument when reading any one 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1, The Writer): ἀπόστολος means one who is sent. Nobody disputed that Paul was sent; the question was, sent by whom? When the Judaizers couldn't answer Paul's doctrine, they attacked his apostleship. So Paul stops in verse 1 to say his commission came from no group and no single man — not the Jerusalem apostles, not the Antioch leaders, not Ananias, not Barnabas. Paul returns to this at 1:10 (Study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1–6): This is the passage outline in one view. On verse 3, the commentary notes the debate over where “our” belongs makes little if any difference — God is our Father and Jesus is our Lord. On verse 4, the sacrifice is the basis of grace and peace: all sins, past, present and future, were paid for; the question now is not the sin question but the Son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3): Stress the commentary's main point: in this greeting, grace is not saving grace but God's unmerited favor sufficient to sustain us in living a life honorable to God. Peace is wholeness when right with God positionally and experientially — you can't have the peace of God until you have peace with God. Only a believer living under grace can extend grace; the Judaizers, even if some were believers, were not living under grace. Also note: no thanksgiving here, and the pastoral epistles add mercy, because pastors need mercy.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5–6): The active verb shows the death was voluntary (“I lay down My life”); the reflexive pronoun shows the surrender was personal and total. The purpose: deliverance from this present evil age — fully when the Lord returns, and now, in this life (John 17:15–17: not taken out of the world, but kept from the evil one). Salvation is a ticket to heaven — but not just that. Then the doxology: every tongue will confess “Lord Jesus Christ” to the glory of God the Father (Phil 2:11); there is no jealousy in the Godhead.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Paul spend so much of verse 1 defending his apostleship before he even gets to his main subject? — Leader answer: The Judaizers could not answer Paul's doctrine, so they attacked his authority. Paul settles his commission at once — directly from Christ and the Father — so everything after carries full apostolic weight.  Q2: How does Paul's use of “grace” in verse 3 differ from how the word is often used today? — Leader answer: Today grace is often reduced to the moment of salvation. Paul's grace-greeting is aimed at believers already saved — God's ongoing, sustaining favor for the whole Christian life.  Applications: Resting in a Settled Identity — Write down one identity truth Scripture gives you and read it aloud each morning this week.  Living Under Grace, Not Under Law — Name one “rule” you've kept to feel acceptable to God, and replace it with a specific act of grateful obedience.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1 of 16 · Galatians 1:1–5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1 of 16 · Galatians 1:1–5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1 of 16 · Galatians 1:1–5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The Ground of Liberty</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Paul lays the ground of liberty: his God-given authority as an apostle, and the grace by which believers stand — the very things the Judaizers were undermining.</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1F3864"/>
          </a:solidFill>
          <a:ln w="9525">
            <a:solidFill>
              <a:srgbClr val="1F3864"/>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01  </a:t>
            </a:r>
            <a:pPr indent="0" marL="0">
              <a:buNone/>
            </a:pPr>
            <a:r>
              <a:rPr lang="en-US" sz="1000" b="1" dirty="0">
                <a:solidFill>
                  <a:srgbClr val="C9D5EE"/>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Galatians fits in Acts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III–IV · Date and place of writing</a:t>
            </a:r>
            <a:endParaRPr lang="en-US" sz="1200" dirty="0"/>
          </a:p>
        </p:txBody>
      </p:sp>
      <p:sp>
        <p:nvSpPr>
          <p:cNvPr id="5" name="Shape 2"/>
          <p:cNvSpPr/>
          <p:nvPr/>
        </p:nvSpPr>
        <p:spPr>
          <a:xfrm>
            <a:off x="457200" y="1188720"/>
            <a:ext cx="1481328" cy="2011680"/>
          </a:xfrm>
          <a:prstGeom prst="roundRect">
            <a:avLst>
              <a:gd name="adj" fmla="val 3704"/>
            </a:avLst>
          </a:prstGeom>
          <a:solidFill>
            <a:srgbClr val="F2F6FC"/>
          </a:solidFill>
          <a:ln w="9525">
            <a:solidFill>
              <a:srgbClr val="D5DCEA"/>
            </a:solidFill>
            <a:prstDash val="solid"/>
          </a:ln>
        </p:spPr>
      </p:sp>
      <p:sp>
        <p:nvSpPr>
          <p:cNvPr id="6" name="Shape 3"/>
          <p:cNvSpPr/>
          <p:nvPr/>
        </p:nvSpPr>
        <p:spPr>
          <a:xfrm>
            <a:off x="996696" y="1298448"/>
            <a:ext cx="402336" cy="402336"/>
          </a:xfrm>
          <a:prstGeom prst="ellipse">
            <a:avLst/>
          </a:prstGeom>
          <a:solidFill>
            <a:srgbClr val="2E5496"/>
          </a:solidFill>
          <a:ln w="12700">
            <a:solidFill>
              <a:srgbClr val="2E5496"/>
            </a:solidFill>
            <a:prstDash val="solid"/>
          </a:ln>
        </p:spPr>
      </p:sp>
      <p:sp>
        <p:nvSpPr>
          <p:cNvPr id="7" name="Text 4"/>
          <p:cNvSpPr txBox="1"/>
          <p:nvPr/>
        </p:nvSpPr>
        <p:spPr>
          <a:xfrm>
            <a:off x="99669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548640"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Famine visit</a:t>
            </a:r>
            <a:endParaRPr lang="en-US" sz="1200" dirty="0"/>
          </a:p>
        </p:txBody>
      </p:sp>
      <p:sp>
        <p:nvSpPr>
          <p:cNvPr id="9" name="Text 6"/>
          <p:cNvSpPr txBox="1"/>
          <p:nvPr/>
        </p:nvSpPr>
        <p:spPr>
          <a:xfrm>
            <a:off x="548640"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Paul and Barnabas carry relief to Jerusalem</a:t>
            </a:r>
            <a:endParaRPr lang="en-US" sz="1100" dirty="0"/>
          </a:p>
        </p:txBody>
      </p:sp>
      <p:sp>
        <p:nvSpPr>
          <p:cNvPr id="10" name="Text 7"/>
          <p:cNvSpPr txBox="1"/>
          <p:nvPr/>
        </p:nvSpPr>
        <p:spPr>
          <a:xfrm>
            <a:off x="548640"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11:29–30; Gal 2:1–10</a:t>
            </a:r>
            <a:endParaRPr lang="en-US" sz="950" dirty="0"/>
          </a:p>
        </p:txBody>
      </p:sp>
      <p:sp>
        <p:nvSpPr>
          <p:cNvPr id="11" name="Shape 8"/>
          <p:cNvSpPr/>
          <p:nvPr/>
        </p:nvSpPr>
        <p:spPr>
          <a:xfrm>
            <a:off x="193852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144268" y="1188720"/>
            <a:ext cx="1481328" cy="2011680"/>
          </a:xfrm>
          <a:prstGeom prst="roundRect">
            <a:avLst>
              <a:gd name="adj" fmla="val 3704"/>
            </a:avLst>
          </a:prstGeom>
          <a:solidFill>
            <a:srgbClr val="F2F6FC"/>
          </a:solidFill>
          <a:ln w="9525">
            <a:solidFill>
              <a:srgbClr val="D5DCEA"/>
            </a:solidFill>
            <a:prstDash val="solid"/>
          </a:ln>
        </p:spPr>
      </p:sp>
      <p:sp>
        <p:nvSpPr>
          <p:cNvPr id="13" name="Shape 10"/>
          <p:cNvSpPr/>
          <p:nvPr/>
        </p:nvSpPr>
        <p:spPr>
          <a:xfrm>
            <a:off x="2683764" y="1298448"/>
            <a:ext cx="402336" cy="402336"/>
          </a:xfrm>
          <a:prstGeom prst="ellipse">
            <a:avLst/>
          </a:prstGeom>
          <a:solidFill>
            <a:srgbClr val="2E5496"/>
          </a:solidFill>
          <a:ln w="12700">
            <a:solidFill>
              <a:srgbClr val="2E5496"/>
            </a:solidFill>
            <a:prstDash val="solid"/>
          </a:ln>
        </p:spPr>
      </p:sp>
      <p:sp>
        <p:nvSpPr>
          <p:cNvPr id="14" name="Text 11"/>
          <p:cNvSpPr txBox="1"/>
          <p:nvPr/>
        </p:nvSpPr>
        <p:spPr>
          <a:xfrm>
            <a:off x="268376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txBox="1"/>
          <p:nvPr/>
        </p:nvSpPr>
        <p:spPr>
          <a:xfrm>
            <a:off x="2235708"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Back to Antioch</a:t>
            </a:r>
            <a:endParaRPr lang="en-US" sz="1200" dirty="0"/>
          </a:p>
        </p:txBody>
      </p:sp>
      <p:sp>
        <p:nvSpPr>
          <p:cNvPr id="16" name="Text 13"/>
          <p:cNvSpPr txBox="1"/>
          <p:nvPr/>
        </p:nvSpPr>
        <p:spPr>
          <a:xfrm>
            <a:off x="2235708"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Return from the first missionary journey</a:t>
            </a:r>
            <a:endParaRPr lang="en-US" sz="1100" dirty="0"/>
          </a:p>
        </p:txBody>
      </p:sp>
      <p:sp>
        <p:nvSpPr>
          <p:cNvPr id="17" name="Text 14"/>
          <p:cNvSpPr txBox="1"/>
          <p:nvPr/>
        </p:nvSpPr>
        <p:spPr>
          <a:xfrm>
            <a:off x="2235708"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Antioch in Syria</a:t>
            </a:r>
            <a:endParaRPr lang="en-US" sz="950" dirty="0"/>
          </a:p>
        </p:txBody>
      </p:sp>
      <p:sp>
        <p:nvSpPr>
          <p:cNvPr id="18" name="Shape 15"/>
          <p:cNvSpPr/>
          <p:nvPr/>
        </p:nvSpPr>
        <p:spPr>
          <a:xfrm>
            <a:off x="362559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1336" y="1188720"/>
            <a:ext cx="1481328" cy="2011680"/>
          </a:xfrm>
          <a:prstGeom prst="roundRect">
            <a:avLst>
              <a:gd name="adj" fmla="val 3704"/>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txBox="1"/>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txBox="1"/>
          <p:nvPr/>
        </p:nvSpPr>
        <p:spPr>
          <a:xfrm>
            <a:off x="3922776"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Reports arrive</a:t>
            </a:r>
            <a:endParaRPr lang="en-US" sz="1200" dirty="0"/>
          </a:p>
        </p:txBody>
      </p:sp>
      <p:sp>
        <p:nvSpPr>
          <p:cNvPr id="23" name="Text 20"/>
          <p:cNvSpPr txBox="1"/>
          <p:nvPr/>
        </p:nvSpPr>
        <p:spPr>
          <a:xfrm>
            <a:off x="3922776"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Judaizers are ravaging the Galatian churches</a:t>
            </a:r>
            <a:endParaRPr lang="en-US" sz="1100" dirty="0"/>
          </a:p>
        </p:txBody>
      </p:sp>
      <p:sp>
        <p:nvSpPr>
          <p:cNvPr id="24" name="Text 21"/>
          <p:cNvSpPr txBox="1"/>
          <p:nvPr/>
        </p:nvSpPr>
        <p:spPr>
          <a:xfrm>
            <a:off x="3922776"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Galatia</a:t>
            </a:r>
            <a:endParaRPr lang="en-US" sz="950" dirty="0"/>
          </a:p>
        </p:txBody>
      </p:sp>
      <p:sp>
        <p:nvSpPr>
          <p:cNvPr id="25" name="Shape 22"/>
          <p:cNvSpPr/>
          <p:nvPr/>
        </p:nvSpPr>
        <p:spPr>
          <a:xfrm>
            <a:off x="531266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5518404" y="1188720"/>
            <a:ext cx="1481328" cy="2011680"/>
          </a:xfrm>
          <a:prstGeom prst="roundRect">
            <a:avLst>
              <a:gd name="adj" fmla="val 3704"/>
            </a:avLst>
          </a:prstGeom>
          <a:solidFill>
            <a:srgbClr val="1F3864"/>
          </a:solidFill>
          <a:ln w="9525">
            <a:solidFill>
              <a:srgbClr val="1F3864"/>
            </a:solidFill>
            <a:prstDash val="solid"/>
          </a:ln>
        </p:spPr>
      </p:sp>
      <p:sp>
        <p:nvSpPr>
          <p:cNvPr id="27" name="Shape 24"/>
          <p:cNvSpPr/>
          <p:nvPr/>
        </p:nvSpPr>
        <p:spPr>
          <a:xfrm>
            <a:off x="6057900" y="1298448"/>
            <a:ext cx="402336" cy="402336"/>
          </a:xfrm>
          <a:prstGeom prst="ellipse">
            <a:avLst/>
          </a:prstGeom>
          <a:solidFill>
            <a:srgbClr val="FFFFFF"/>
          </a:solidFill>
          <a:ln w="12700">
            <a:solidFill>
              <a:srgbClr val="FFFFFF"/>
            </a:solidFill>
            <a:prstDash val="solid"/>
          </a:ln>
        </p:spPr>
      </p:sp>
      <p:sp>
        <p:nvSpPr>
          <p:cNvPr id="28" name="Text 25"/>
          <p:cNvSpPr txBox="1"/>
          <p:nvPr/>
        </p:nvSpPr>
        <p:spPr>
          <a:xfrm>
            <a:off x="6057900"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txBox="1"/>
          <p:nvPr/>
        </p:nvSpPr>
        <p:spPr>
          <a:xfrm>
            <a:off x="5609844" y="1801368"/>
            <a:ext cx="1298448"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Paul writes</a:t>
            </a:r>
            <a:endParaRPr lang="en-US" sz="1200" dirty="0"/>
          </a:p>
        </p:txBody>
      </p:sp>
      <p:sp>
        <p:nvSpPr>
          <p:cNvPr id="30" name="Text 27"/>
          <p:cNvSpPr txBox="1"/>
          <p:nvPr/>
        </p:nvSpPr>
        <p:spPr>
          <a:xfrm>
            <a:off x="5609844" y="2103120"/>
            <a:ext cx="1298448" cy="59436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The Epistle to the Galatians</a:t>
            </a:r>
            <a:endParaRPr lang="en-US" sz="1100" dirty="0"/>
          </a:p>
        </p:txBody>
      </p:sp>
      <p:sp>
        <p:nvSpPr>
          <p:cNvPr id="31" name="Text 28"/>
          <p:cNvSpPr txBox="1"/>
          <p:nvPr/>
        </p:nvSpPr>
        <p:spPr>
          <a:xfrm>
            <a:off x="5609844" y="2724912"/>
            <a:ext cx="1298448" cy="411480"/>
          </a:xfrm>
          <a:prstGeom prst="rect">
            <a:avLst/>
          </a:prstGeom>
          <a:noFill/>
          <a:ln/>
        </p:spPr>
        <p:txBody>
          <a:bodyPr wrap="square" lIns="0" tIns="0" rIns="0" bIns="0" rtlCol="0" anchor="t"/>
          <a:lstStyle/>
          <a:p>
            <a:pPr algn="ctr" indent="0" marL="0">
              <a:buNone/>
            </a:pPr>
            <a:r>
              <a:rPr lang="en-US" sz="950" i="1" dirty="0">
                <a:solidFill>
                  <a:srgbClr val="DCE4F2"/>
                </a:solidFill>
                <a:latin typeface="Arial" pitchFamily="34" charset="0"/>
                <a:ea typeface="Arial" pitchFamily="34" charset="-122"/>
                <a:cs typeface="Arial" pitchFamily="34" charset="-120"/>
              </a:rPr>
              <a:t>A.D. 48 · his first epistle</a:t>
            </a:r>
            <a:endParaRPr lang="en-US" sz="950" dirty="0"/>
          </a:p>
        </p:txBody>
      </p:sp>
      <p:sp>
        <p:nvSpPr>
          <p:cNvPr id="32" name="Shape 29"/>
          <p:cNvSpPr/>
          <p:nvPr/>
        </p:nvSpPr>
        <p:spPr>
          <a:xfrm>
            <a:off x="6999732" y="207568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5472" y="1188720"/>
            <a:ext cx="1481328" cy="2011680"/>
          </a:xfrm>
          <a:prstGeom prst="roundRect">
            <a:avLst>
              <a:gd name="adj" fmla="val 3704"/>
            </a:avLst>
          </a:prstGeom>
          <a:solidFill>
            <a:srgbClr val="F2F6FC"/>
          </a:solidFill>
          <a:ln w="9525">
            <a:solidFill>
              <a:srgbClr val="D5DCEA"/>
            </a:solidFill>
            <a:prstDash val="solid"/>
          </a:ln>
        </p:spPr>
      </p:sp>
      <p:sp>
        <p:nvSpPr>
          <p:cNvPr id="34" name="Shape 31"/>
          <p:cNvSpPr/>
          <p:nvPr/>
        </p:nvSpPr>
        <p:spPr>
          <a:xfrm>
            <a:off x="7744968" y="1298448"/>
            <a:ext cx="402336" cy="402336"/>
          </a:xfrm>
          <a:prstGeom prst="ellipse">
            <a:avLst/>
          </a:prstGeom>
          <a:solidFill>
            <a:srgbClr val="2E5496"/>
          </a:solidFill>
          <a:ln w="12700">
            <a:solidFill>
              <a:srgbClr val="2E5496"/>
            </a:solidFill>
            <a:prstDash val="solid"/>
          </a:ln>
        </p:spPr>
      </p:sp>
      <p:sp>
        <p:nvSpPr>
          <p:cNvPr id="35" name="Text 32"/>
          <p:cNvSpPr txBox="1"/>
          <p:nvPr/>
        </p:nvSpPr>
        <p:spPr>
          <a:xfrm>
            <a:off x="774496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txBox="1"/>
          <p:nvPr/>
        </p:nvSpPr>
        <p:spPr>
          <a:xfrm>
            <a:off x="7296912"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Council meets</a:t>
            </a:r>
            <a:endParaRPr lang="en-US" sz="1200" dirty="0"/>
          </a:p>
        </p:txBody>
      </p:sp>
      <p:sp>
        <p:nvSpPr>
          <p:cNvPr id="37" name="Text 34"/>
          <p:cNvSpPr txBox="1"/>
          <p:nvPr/>
        </p:nvSpPr>
        <p:spPr>
          <a:xfrm>
            <a:off x="7296912"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The law-and-grace question settled</a:t>
            </a:r>
            <a:endParaRPr lang="en-US" sz="1100" dirty="0"/>
          </a:p>
        </p:txBody>
      </p:sp>
      <p:sp>
        <p:nvSpPr>
          <p:cNvPr id="38" name="Text 35"/>
          <p:cNvSpPr txBox="1"/>
          <p:nvPr/>
        </p:nvSpPr>
        <p:spPr>
          <a:xfrm>
            <a:off x="7296912"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15 · A.D. 49/50</a:t>
            </a:r>
            <a:endParaRPr lang="en-US" sz="950" dirty="0"/>
          </a:p>
        </p:txBody>
      </p:sp>
      <p:sp>
        <p:nvSpPr>
          <p:cNvPr id="39" name="Shape 36"/>
          <p:cNvSpPr/>
          <p:nvPr/>
        </p:nvSpPr>
        <p:spPr>
          <a:xfrm>
            <a:off x="457200" y="3383280"/>
            <a:ext cx="4023360" cy="365760"/>
          </a:xfrm>
          <a:prstGeom prst="rect">
            <a:avLst/>
          </a:prstGeom>
          <a:solidFill>
            <a:srgbClr val="2E5496"/>
          </a:solidFill>
          <a:ln w="12700">
            <a:solidFill>
              <a:srgbClr val="2E5496"/>
            </a:solidFill>
            <a:prstDash val="solid"/>
          </a:ln>
        </p:spPr>
      </p:sp>
      <p:sp>
        <p:nvSpPr>
          <p:cNvPr id="40" name="Text 37"/>
          <p:cNvSpPr txBox="1"/>
          <p:nvPr/>
        </p:nvSpPr>
        <p:spPr>
          <a:xfrm>
            <a:off x="54864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Recipients — South Galatia</a:t>
            </a:r>
            <a:endParaRPr lang="en-US" sz="1200" dirty="0"/>
          </a:p>
        </p:txBody>
      </p:sp>
      <p:sp>
        <p:nvSpPr>
          <p:cNvPr id="41" name="Shape 38"/>
          <p:cNvSpPr/>
          <p:nvPr/>
        </p:nvSpPr>
        <p:spPr>
          <a:xfrm>
            <a:off x="457200" y="3749040"/>
            <a:ext cx="4023360" cy="868680"/>
          </a:xfrm>
          <a:prstGeom prst="rect">
            <a:avLst/>
          </a:prstGeom>
          <a:solidFill>
            <a:srgbClr val="F2F6FC"/>
          </a:solidFill>
          <a:ln w="9525">
            <a:solidFill>
              <a:srgbClr val="D5DCEA"/>
            </a:solidFill>
            <a:prstDash val="solid"/>
          </a:ln>
        </p:spPr>
      </p:sp>
      <p:sp>
        <p:nvSpPr>
          <p:cNvPr id="42" name="Text 39"/>
          <p:cNvSpPr txBox="1"/>
          <p:nvPr/>
        </p:nvSpPr>
        <p:spPr>
          <a:xfrm>
            <a:off x="54864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churches of the first journey: Derbe, Lystra, Iconium, Antioch (in Pisidia)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group epistle — “to the churches” (1:2)</a:t>
            </a:r>
            <a:endParaRPr lang="en-US" sz="1300" dirty="0"/>
          </a:p>
        </p:txBody>
      </p:sp>
      <p:sp>
        <p:nvSpPr>
          <p:cNvPr id="43" name="Shape 40"/>
          <p:cNvSpPr/>
          <p:nvPr/>
        </p:nvSpPr>
        <p:spPr>
          <a:xfrm>
            <a:off x="4663440" y="3383280"/>
            <a:ext cx="4023360" cy="365760"/>
          </a:xfrm>
          <a:prstGeom prst="rect">
            <a:avLst/>
          </a:prstGeom>
          <a:solidFill>
            <a:srgbClr val="2E5496"/>
          </a:solidFill>
          <a:ln w="12700">
            <a:solidFill>
              <a:srgbClr val="2E5496"/>
            </a:solidFill>
            <a:prstDash val="solid"/>
          </a:ln>
        </p:spPr>
      </p:sp>
      <p:sp>
        <p:nvSpPr>
          <p:cNvPr id="44" name="Text 41"/>
          <p:cNvSpPr txBox="1"/>
          <p:nvPr/>
        </p:nvSpPr>
        <p:spPr>
          <a:xfrm>
            <a:off x="475488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Written from Antioch in Syria</a:t>
            </a:r>
            <a:endParaRPr lang="en-US" sz="1200" dirty="0"/>
          </a:p>
        </p:txBody>
      </p:sp>
      <p:sp>
        <p:nvSpPr>
          <p:cNvPr id="45" name="Shape 42"/>
          <p:cNvSpPr/>
          <p:nvPr/>
        </p:nvSpPr>
        <p:spPr>
          <a:xfrm>
            <a:off x="4663440" y="3749040"/>
            <a:ext cx="4023360" cy="868680"/>
          </a:xfrm>
          <a:prstGeom prst="rect">
            <a:avLst/>
          </a:prstGeom>
          <a:solidFill>
            <a:srgbClr val="F2F6FC"/>
          </a:solidFill>
          <a:ln w="9525">
            <a:solidFill>
              <a:srgbClr val="D5DCEA"/>
            </a:solidFill>
            <a:prstDash val="solid"/>
          </a:ln>
        </p:spPr>
      </p:sp>
      <p:sp>
        <p:nvSpPr>
          <p:cNvPr id="46" name="Text 43"/>
          <p:cNvSpPr txBox="1"/>
          <p:nvPr/>
        </p:nvSpPr>
        <p:spPr>
          <a:xfrm>
            <a:off x="475488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Paul's home church and base for several years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Before the council — so the council's letter is never cited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South Galatia?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II · The recipients</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North Galatia</a:t>
            </a:r>
            <a:endParaRPr lang="en-US" sz="1200" dirty="0"/>
          </a:p>
        </p:txBody>
      </p:sp>
      <p:sp>
        <p:nvSpPr>
          <p:cNvPr id="7" name="Shape 4"/>
          <p:cNvSpPr/>
          <p:nvPr/>
        </p:nvSpPr>
        <p:spPr>
          <a:xfrm>
            <a:off x="457200" y="1554480"/>
            <a:ext cx="3931920" cy="1783080"/>
          </a:xfrm>
          <a:prstGeom prst="rect">
            <a:avLst/>
          </a:prstGeom>
          <a:solidFill>
            <a:srgbClr val="F2F6FC"/>
          </a:solidFill>
          <a:ln w="9525">
            <a:solidFill>
              <a:srgbClr val="D5DCEA"/>
            </a:solidFill>
            <a:prstDash val="solid"/>
          </a:ln>
        </p:spPr>
      </p:sp>
      <p:sp>
        <p:nvSpPr>
          <p:cNvPr id="8" name="Text 5"/>
          <p:cNvSpPr txBox="1"/>
          <p:nvPr/>
        </p:nvSpPr>
        <p:spPr>
          <a:xfrm>
            <a:off x="548640" y="1627632"/>
            <a:ext cx="3749040" cy="16550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Upper region of Asia Minor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did not go there until the second missionary journey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letter could then be no earlier than about A.D. 53–54</a:t>
            </a:r>
            <a:endParaRPr lang="en-US" sz="130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txBox="1"/>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South Galatia  ✓  commentary's view</a:t>
            </a:r>
            <a:endParaRPr lang="en-US" sz="1200" dirty="0"/>
          </a:p>
        </p:txBody>
      </p:sp>
      <p:sp>
        <p:nvSpPr>
          <p:cNvPr id="11" name="Shape 8"/>
          <p:cNvSpPr/>
          <p:nvPr/>
        </p:nvSpPr>
        <p:spPr>
          <a:xfrm>
            <a:off x="4754880" y="1554480"/>
            <a:ext cx="3931920" cy="1783080"/>
          </a:xfrm>
          <a:prstGeom prst="rect">
            <a:avLst/>
          </a:prstGeom>
          <a:solidFill>
            <a:srgbClr val="F2F6FC"/>
          </a:solidFill>
          <a:ln w="9525">
            <a:solidFill>
              <a:srgbClr val="D5DCEA"/>
            </a:solidFill>
            <a:prstDash val="solid"/>
          </a:ln>
        </p:spPr>
      </p:sp>
      <p:sp>
        <p:nvSpPr>
          <p:cNvPr id="12" name="Text 9"/>
          <p:cNvSpPr txBox="1"/>
          <p:nvPr/>
        </p:nvSpPr>
        <p:spPr>
          <a:xfrm>
            <a:off x="4846320" y="1627632"/>
            <a:ext cx="3749040" cy="16550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churches Paul planted on the first missionary journey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Derbe, Lystra, Iconium, Antioch in Pisidia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letter comes before the council — A.D. 48</a:t>
            </a:r>
            <a:endParaRPr lang="en-US" sz="1300" dirty="0"/>
          </a:p>
        </p:txBody>
      </p:sp>
      <p:sp>
        <p:nvSpPr>
          <p:cNvPr id="13" name="Text 10"/>
          <p:cNvSpPr txBox="1"/>
          <p:nvPr/>
        </p:nvSpPr>
        <p:spPr>
          <a:xfrm>
            <a:off x="4389120" y="2011680"/>
            <a:ext cx="365760" cy="365760"/>
          </a:xfrm>
          <a:prstGeom prst="rect">
            <a:avLst/>
          </a:prstGeom>
          <a:noFill/>
          <a:ln/>
        </p:spPr>
        <p:txBody>
          <a:bodyPr wrap="square" lIns="0" tIns="0" rIns="0" bIns="0" rtlCol="0" anchor="ctr"/>
          <a:lstStyle/>
          <a:p>
            <a:pPr algn="ctr" indent="0" marL="0">
              <a:buNone/>
            </a:pPr>
            <a:r>
              <a:rPr lang="en-US" sz="1400" b="1" dirty="0">
                <a:solidFill>
                  <a:srgbClr val="595959"/>
                </a:solidFill>
                <a:latin typeface="Arial" pitchFamily="34" charset="0"/>
                <a:ea typeface="Arial" pitchFamily="34" charset="-122"/>
                <a:cs typeface="Arial" pitchFamily="34" charset="-120"/>
              </a:rPr>
              <a:t>vs</a:t>
            </a:r>
            <a:endParaRPr lang="en-US" sz="1400" dirty="0"/>
          </a:p>
        </p:txBody>
      </p:sp>
      <p:sp>
        <p:nvSpPr>
          <p:cNvPr id="14" name="Shape 11"/>
          <p:cNvSpPr/>
          <p:nvPr/>
        </p:nvSpPr>
        <p:spPr>
          <a:xfrm>
            <a:off x="457200" y="3566160"/>
            <a:ext cx="8229600" cy="868680"/>
          </a:xfrm>
          <a:prstGeom prst="roundRect">
            <a:avLst>
              <a:gd name="adj" fmla="val 6316"/>
            </a:avLst>
          </a:prstGeom>
          <a:solidFill>
            <a:srgbClr val="1F3864"/>
          </a:solidFill>
          <a:ln w="12700">
            <a:solidFill>
              <a:srgbClr val="1F3864"/>
            </a:solidFill>
            <a:prstDash val="solid"/>
          </a:ln>
        </p:spPr>
      </p:sp>
      <p:sp>
        <p:nvSpPr>
          <p:cNvPr id="15" name="Text 12"/>
          <p:cNvSpPr txBox="1"/>
          <p:nvPr/>
        </p:nvSpPr>
        <p:spPr>
          <a:xfrm>
            <a:off x="621792" y="3566160"/>
            <a:ext cx="7900416" cy="8686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main reason: no mention of the Jerusalem Council. The council settled this exact issue — Gentiles do not keep the Law for salvation or sanctification. Had it met already, Paul would simply have cited its letter.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Six characteristics of Galatians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V · What sets this letter apart</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txBox="1"/>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1115568"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Contrasts in feelings</a:t>
            </a:r>
            <a:endParaRPr lang="en-US" sz="1200" dirty="0"/>
          </a:p>
        </p:txBody>
      </p:sp>
      <p:sp>
        <p:nvSpPr>
          <p:cNvPr id="9" name="Text 6"/>
          <p:cNvSpPr txBox="1"/>
          <p:nvPr/>
        </p:nvSpPr>
        <p:spPr>
          <a:xfrm>
            <a:off x="594360"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Great love for the Galatian believers — and a godly hatred of the Judaizers' teaching</a:t>
            </a:r>
            <a:endParaRPr lang="en-US" sz="115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txBox="1"/>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txBox="1"/>
          <p:nvPr/>
        </p:nvSpPr>
        <p:spPr>
          <a:xfrm>
            <a:off x="3922776"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group epistle</a:t>
            </a:r>
            <a:endParaRPr lang="en-US" sz="1200" dirty="0"/>
          </a:p>
        </p:txBody>
      </p:sp>
      <p:sp>
        <p:nvSpPr>
          <p:cNvPr id="14" name="Text 11"/>
          <p:cNvSpPr txBox="1"/>
          <p:nvPr/>
        </p:nvSpPr>
        <p:spPr>
          <a:xfrm>
            <a:off x="3401568"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Like Ephesians, written to a circle of churches, not one congregation</a:t>
            </a:r>
            <a:endParaRPr lang="en-US" sz="115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txBox="1"/>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txBox="1"/>
          <p:nvPr/>
        </p:nvSpPr>
        <p:spPr>
          <a:xfrm>
            <a:off x="6729984"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thanksgiving</a:t>
            </a:r>
            <a:endParaRPr lang="en-US" sz="1200" dirty="0"/>
          </a:p>
        </p:txBody>
      </p:sp>
      <p:sp>
        <p:nvSpPr>
          <p:cNvPr id="19" name="Text 16"/>
          <p:cNvSpPr txBox="1"/>
          <p:nvPr/>
        </p:nvSpPr>
        <p:spPr>
          <a:xfrm>
            <a:off x="6208776"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The only Pauline letter with no thanksgiving in the salutation</a:t>
            </a:r>
            <a:endParaRPr lang="en-US" sz="115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txBox="1"/>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txBox="1"/>
          <p:nvPr/>
        </p:nvSpPr>
        <p:spPr>
          <a:xfrm>
            <a:off x="1115568"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Autobiographical</a:t>
            </a:r>
            <a:endParaRPr lang="en-US" sz="1200" dirty="0"/>
          </a:p>
        </p:txBody>
      </p:sp>
      <p:sp>
        <p:nvSpPr>
          <p:cNvPr id="24" name="Text 21"/>
          <p:cNvSpPr txBox="1"/>
          <p:nvPr/>
        </p:nvSpPr>
        <p:spPr>
          <a:xfrm>
            <a:off x="594360"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With 2 Corinthians, the letter that tells us most about Paul's own life</a:t>
            </a:r>
            <a:endParaRPr lang="en-US" sz="115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7030A0"/>
          </a:solidFill>
          <a:ln w="12700">
            <a:solidFill>
              <a:srgbClr val="7030A0"/>
            </a:solidFill>
            <a:prstDash val="solid"/>
          </a:ln>
        </p:spPr>
      </p:sp>
      <p:sp>
        <p:nvSpPr>
          <p:cNvPr id="27" name="Text 24"/>
          <p:cNvSpPr txBox="1"/>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txBox="1"/>
          <p:nvPr/>
        </p:nvSpPr>
        <p:spPr>
          <a:xfrm>
            <a:off x="3922776"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Parallel with Romans</a:t>
            </a:r>
            <a:endParaRPr lang="en-US" sz="1200" dirty="0"/>
          </a:p>
        </p:txBody>
      </p:sp>
      <p:sp>
        <p:nvSpPr>
          <p:cNvPr id="29" name="Text 26"/>
          <p:cNvSpPr txBox="1"/>
          <p:nvPr/>
        </p:nvSpPr>
        <p:spPr>
          <a:xfrm>
            <a:off x="3401568"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Romans tells what justification by faith is; Galatians tells what it is not</a:t>
            </a:r>
            <a:endParaRPr lang="en-US" sz="115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2E5496"/>
          </a:solidFill>
          <a:ln w="12700">
            <a:solidFill>
              <a:srgbClr val="2E5496"/>
            </a:solidFill>
            <a:prstDash val="solid"/>
          </a:ln>
        </p:spPr>
      </p:sp>
      <p:sp>
        <p:nvSpPr>
          <p:cNvPr id="32" name="Text 29"/>
          <p:cNvSpPr txBox="1"/>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txBox="1"/>
          <p:nvPr/>
        </p:nvSpPr>
        <p:spPr>
          <a:xfrm>
            <a:off x="6729984"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unique ending</a:t>
            </a:r>
            <a:endParaRPr lang="en-US" sz="1200" dirty="0"/>
          </a:p>
        </p:txBody>
      </p:sp>
      <p:sp>
        <p:nvSpPr>
          <p:cNvPr id="34" name="Text 31"/>
          <p:cNvSpPr txBox="1"/>
          <p:nvPr/>
        </p:nvSpPr>
        <p:spPr>
          <a:xfrm>
            <a:off x="6208776"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“Large letters” (6:11) — likely Paul's own large handwriting, due to his eyesight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Judaizers: their message and their appeal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VI · Who Paul is answering</a:t>
            </a:r>
            <a:endParaRPr lang="en-US" sz="1200" dirty="0"/>
          </a:p>
        </p:txBody>
      </p:sp>
      <p:sp>
        <p:nvSpPr>
          <p:cNvPr id="5" name="Shape 2"/>
          <p:cNvSpPr/>
          <p:nvPr/>
        </p:nvSpPr>
        <p:spPr>
          <a:xfrm>
            <a:off x="457200" y="1188720"/>
            <a:ext cx="3291840" cy="365760"/>
          </a:xfrm>
          <a:prstGeom prst="rect">
            <a:avLst/>
          </a:prstGeom>
          <a:solidFill>
            <a:srgbClr val="2E5496"/>
          </a:solidFill>
          <a:ln w="12700">
            <a:solidFill>
              <a:srgbClr val="2E5496"/>
            </a:solidFill>
            <a:prstDash val="solid"/>
          </a:ln>
        </p:spPr>
      </p:sp>
      <p:sp>
        <p:nvSpPr>
          <p:cNvPr id="6" name="Text 3"/>
          <p:cNvSpPr txBox="1"/>
          <p:nvPr/>
        </p:nvSpPr>
        <p:spPr>
          <a:xfrm>
            <a:off x="548640" y="12344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message</a:t>
            </a:r>
            <a:endParaRPr lang="en-US" sz="1200" dirty="0"/>
          </a:p>
        </p:txBody>
      </p:sp>
      <p:sp>
        <p:nvSpPr>
          <p:cNvPr id="7" name="Shape 4"/>
          <p:cNvSpPr/>
          <p:nvPr/>
        </p:nvSpPr>
        <p:spPr>
          <a:xfrm>
            <a:off x="457200" y="1554480"/>
            <a:ext cx="3291840" cy="2423160"/>
          </a:xfrm>
          <a:prstGeom prst="rect">
            <a:avLst/>
          </a:prstGeom>
          <a:solidFill>
            <a:srgbClr val="F2F6FC"/>
          </a:solidFill>
          <a:ln w="9525">
            <a:solidFill>
              <a:srgbClr val="D5DCEA"/>
            </a:solidFill>
            <a:prstDash val="solid"/>
          </a:ln>
        </p:spPr>
      </p:sp>
      <p:sp>
        <p:nvSpPr>
          <p:cNvPr id="8" name="Text 5"/>
          <p:cNvSpPr txBox="1"/>
          <p:nvPr/>
        </p:nvSpPr>
        <p:spPr>
          <a:xfrm>
            <a:off x="548640" y="1627632"/>
            <a:ext cx="3108960" cy="229514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66928" y="1664208"/>
            <a:ext cx="3072384" cy="224028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In the Gospels</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Salvation is by the Law — circumcision is necessary for salvation.</a:t>
            </a:r>
            <a:endParaRPr lang="en-US" sz="1200" dirty="0"/>
          </a:p>
          <a:p>
            <a:pPr indent="0" marL="0">
              <a:buNone/>
            </a:pPr>
            <a:r>
              <a:rPr lang="en-US" sz="6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100" b="1" dirty="0">
                <a:solidFill>
                  <a:srgbClr val="1F3864"/>
                </a:solidFill>
                <a:latin typeface="Arial" pitchFamily="34" charset="0"/>
                <a:ea typeface="Arial" pitchFamily="34" charset="-122"/>
                <a:cs typeface="Arial" pitchFamily="34" charset="-120"/>
              </a:rPr>
              <a:t>In the Epistles</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Sanctification is by the Law — keeping the Law is necessary to please God and live a holy life.</a:t>
            </a:r>
            <a:endParaRPr lang="en-US" sz="1200" dirty="0"/>
          </a:p>
        </p:txBody>
      </p:sp>
      <p:sp>
        <p:nvSpPr>
          <p:cNvPr id="10" name="Text 7"/>
          <p:cNvSpPr txBox="1"/>
          <p:nvPr/>
        </p:nvSpPr>
        <p:spPr>
          <a:xfrm>
            <a:off x="3977640" y="1188720"/>
            <a:ext cx="466344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Their appeal</a:t>
            </a:r>
            <a:endParaRPr lang="en-US" sz="1300" dirty="0"/>
          </a:p>
        </p:txBody>
      </p:sp>
      <p:sp>
        <p:nvSpPr>
          <p:cNvPr id="11" name="Shape 8"/>
          <p:cNvSpPr/>
          <p:nvPr/>
        </p:nvSpPr>
        <p:spPr>
          <a:xfrm>
            <a:off x="3977640" y="1591056"/>
            <a:ext cx="384048" cy="384048"/>
          </a:xfrm>
          <a:prstGeom prst="ellipse">
            <a:avLst/>
          </a:prstGeom>
          <a:solidFill>
            <a:srgbClr val="2E5496"/>
          </a:solidFill>
          <a:ln w="12700">
            <a:solidFill>
              <a:srgbClr val="2E5496"/>
            </a:solidFill>
            <a:prstDash val="solid"/>
          </a:ln>
        </p:spPr>
      </p:sp>
      <p:sp>
        <p:nvSpPr>
          <p:cNvPr id="12" name="Text 9"/>
          <p:cNvSpPr txBox="1"/>
          <p:nvPr/>
        </p:nvSpPr>
        <p:spPr>
          <a:xfrm>
            <a:off x="3977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txBox="1"/>
          <p:nvPr/>
        </p:nvSpPr>
        <p:spPr>
          <a:xfrm>
            <a:off x="4480560" y="1536192"/>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The Scriptures on their side</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Only the OT (plus James, perhaps Matthew) existed — “it says here you must be circumcised”</a:t>
            </a:r>
            <a:endParaRPr lang="en-US" sz="1200" dirty="0"/>
          </a:p>
        </p:txBody>
      </p:sp>
      <p:sp>
        <p:nvSpPr>
          <p:cNvPr id="14" name="Shape 11"/>
          <p:cNvSpPr/>
          <p:nvPr/>
        </p:nvSpPr>
        <p:spPr>
          <a:xfrm>
            <a:off x="3977640" y="2212848"/>
            <a:ext cx="384048" cy="384048"/>
          </a:xfrm>
          <a:prstGeom prst="ellipse">
            <a:avLst/>
          </a:prstGeom>
          <a:solidFill>
            <a:srgbClr val="2E5496"/>
          </a:solidFill>
          <a:ln w="12700">
            <a:solidFill>
              <a:srgbClr val="2E5496"/>
            </a:solidFill>
            <a:prstDash val="solid"/>
          </a:ln>
        </p:spPr>
      </p:sp>
      <p:sp>
        <p:nvSpPr>
          <p:cNvPr id="15" name="Text 12"/>
          <p:cNvSpPr txBox="1"/>
          <p:nvPr/>
        </p:nvSpPr>
        <p:spPr>
          <a:xfrm>
            <a:off x="3977640" y="2212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txBox="1"/>
          <p:nvPr/>
        </p:nvSpPr>
        <p:spPr>
          <a:xfrm>
            <a:off x="4480560" y="2157984"/>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Natural sympathy, Jew to Jew</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“We're both Jews here — don't you believe the law?”</a:t>
            </a:r>
            <a:endParaRPr lang="en-US" sz="1200" dirty="0"/>
          </a:p>
        </p:txBody>
      </p:sp>
      <p:sp>
        <p:nvSpPr>
          <p:cNvPr id="17" name="Shape 14"/>
          <p:cNvSpPr/>
          <p:nvPr/>
        </p:nvSpPr>
        <p:spPr>
          <a:xfrm>
            <a:off x="3977640" y="2834640"/>
            <a:ext cx="384048" cy="384048"/>
          </a:xfrm>
          <a:prstGeom prst="ellipse">
            <a:avLst/>
          </a:prstGeom>
          <a:solidFill>
            <a:srgbClr val="2E5496"/>
          </a:solidFill>
          <a:ln w="12700">
            <a:solidFill>
              <a:srgbClr val="2E5496"/>
            </a:solidFill>
            <a:prstDash val="solid"/>
          </a:ln>
        </p:spPr>
      </p:sp>
      <p:sp>
        <p:nvSpPr>
          <p:cNvPr id="18" name="Text 15"/>
          <p:cNvSpPr txBox="1"/>
          <p:nvPr/>
        </p:nvSpPr>
        <p:spPr>
          <a:xfrm>
            <a:off x="3977640" y="28346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6"/>
          <p:cNvSpPr txBox="1"/>
          <p:nvPr/>
        </p:nvSpPr>
        <p:spPr>
          <a:xfrm>
            <a:off x="4480560" y="2779776"/>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Man's religiosity</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People want something to do: rules, rituals, works</a:t>
            </a:r>
            <a:endParaRPr lang="en-US" sz="1200" dirty="0"/>
          </a:p>
        </p:txBody>
      </p:sp>
      <p:sp>
        <p:nvSpPr>
          <p:cNvPr id="20" name="Shape 17"/>
          <p:cNvSpPr/>
          <p:nvPr/>
        </p:nvSpPr>
        <p:spPr>
          <a:xfrm>
            <a:off x="3977640" y="3456432"/>
            <a:ext cx="384048" cy="384048"/>
          </a:xfrm>
          <a:prstGeom prst="ellipse">
            <a:avLst/>
          </a:prstGeom>
          <a:solidFill>
            <a:srgbClr val="2E5496"/>
          </a:solidFill>
          <a:ln w="12700">
            <a:solidFill>
              <a:srgbClr val="2E5496"/>
            </a:solidFill>
            <a:prstDash val="solid"/>
          </a:ln>
        </p:spPr>
      </p:sp>
      <p:sp>
        <p:nvSpPr>
          <p:cNvPr id="21" name="Text 18"/>
          <p:cNvSpPr txBox="1"/>
          <p:nvPr/>
        </p:nvSpPr>
        <p:spPr>
          <a:xfrm>
            <a:off x="3977640" y="3456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19"/>
          <p:cNvSpPr txBox="1"/>
          <p:nvPr/>
        </p:nvSpPr>
        <p:spPr>
          <a:xfrm>
            <a:off x="4480560" y="3401568"/>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The “mother church”</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They came from Jerusalem; Paul came from Gentile Antioch</a:t>
            </a:r>
            <a:endParaRPr lang="en-US" sz="1200" dirty="0"/>
          </a:p>
        </p:txBody>
      </p:sp>
      <p:sp>
        <p:nvSpPr>
          <p:cNvPr id="23" name="Shape 20"/>
          <p:cNvSpPr/>
          <p:nvPr/>
        </p:nvSpPr>
        <p:spPr>
          <a:xfrm>
            <a:off x="457200" y="4114800"/>
            <a:ext cx="8229600" cy="502920"/>
          </a:xfrm>
          <a:prstGeom prst="roundRect">
            <a:avLst>
              <a:gd name="adj" fmla="val 10909"/>
            </a:avLst>
          </a:prstGeom>
          <a:solidFill>
            <a:srgbClr val="1F3864"/>
          </a:solidFill>
          <a:ln w="12700">
            <a:solidFill>
              <a:srgbClr val="1F3864"/>
            </a:solidFill>
            <a:prstDash val="solid"/>
          </a:ln>
        </p:spPr>
      </p:sp>
      <p:sp>
        <p:nvSpPr>
          <p:cNvPr id="24" name="Text 21"/>
          <p:cNvSpPr txBox="1"/>
          <p:nvPr/>
        </p:nvSpPr>
        <p:spPr>
          <a:xfrm>
            <a:off x="621792" y="411480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Reading rule from the commentary: remember where we are in Paul's argument, and let that guide how you read any single verse.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“Not from men nor through man”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 · Exposition 1 — The Writer</a:t>
            </a:r>
            <a:endParaRPr lang="en-US" sz="1200" dirty="0"/>
          </a:p>
        </p:txBody>
      </p:sp>
      <p:sp>
        <p:nvSpPr>
          <p:cNvPr id="5" name="Shape 2"/>
          <p:cNvSpPr/>
          <p:nvPr/>
        </p:nvSpPr>
        <p:spPr>
          <a:xfrm>
            <a:off x="457200" y="1188720"/>
            <a:ext cx="246888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22860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 an apostle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ἀπόστολος</a:t>
            </a:r>
            <a:pPr indent="0" marL="0">
              <a:buNone/>
            </a:pPr>
            <a:r>
              <a:rPr lang="en-US" sz="850" dirty="0">
                <a:solidFill>
                  <a:srgbClr val="DCE4F2"/>
                </a:solidFill>
                <a:latin typeface="Arial" pitchFamily="34" charset="0"/>
                <a:ea typeface="Arial" pitchFamily="34" charset="-122"/>
                <a:cs typeface="Arial" pitchFamily="34" charset="-120"/>
              </a:rPr>
              <a:t>  apostolos · G652</a:t>
            </a:r>
            <a:endParaRPr lang="en-US" sz="1200" dirty="0"/>
          </a:p>
        </p:txBody>
      </p:sp>
      <p:sp>
        <p:nvSpPr>
          <p:cNvPr id="7" name="Shape 4"/>
          <p:cNvSpPr/>
          <p:nvPr/>
        </p:nvSpPr>
        <p:spPr>
          <a:xfrm>
            <a:off x="457200" y="1755648"/>
            <a:ext cx="2468880" cy="2130552"/>
          </a:xfrm>
          <a:prstGeom prst="rect">
            <a:avLst/>
          </a:prstGeom>
          <a:solidFill>
            <a:srgbClr val="F2F6FC"/>
          </a:solidFill>
          <a:ln w="9525">
            <a:solidFill>
              <a:srgbClr val="D5DCEA"/>
            </a:solidFill>
            <a:prstDash val="solid"/>
          </a:ln>
        </p:spPr>
      </p:sp>
      <p:sp>
        <p:nvSpPr>
          <p:cNvPr id="8" name="Text 5"/>
          <p:cNvSpPr txBox="1"/>
          <p:nvPr/>
        </p:nvSpPr>
        <p:spPr>
          <a:xfrm>
            <a:off x="548640" y="1828800"/>
            <a:ext cx="2286000" cy="200253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“One who is sent”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Not in dispute: Paul was sent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In dispute: sent by whom?</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Answering it is the letter's direct purpose</a:t>
            </a:r>
            <a:endParaRPr lang="en-US" sz="1300" dirty="0"/>
          </a:p>
        </p:txBody>
      </p:sp>
      <p:sp>
        <p:nvSpPr>
          <p:cNvPr id="9" name="Shape 6"/>
          <p:cNvSpPr/>
          <p:nvPr/>
        </p:nvSpPr>
        <p:spPr>
          <a:xfrm>
            <a:off x="3017520" y="2423160"/>
            <a:ext cx="274320" cy="237744"/>
          </a:xfrm>
          <a:prstGeom prst="rightArrow">
            <a:avLst/>
          </a:prstGeom>
          <a:solidFill>
            <a:srgbClr val="6B7280"/>
          </a:solidFill>
          <a:ln w="12700">
            <a:solidFill>
              <a:srgbClr val="6B7280"/>
            </a:solidFill>
            <a:prstDash val="solid"/>
          </a:ln>
        </p:spPr>
      </p:sp>
      <p:sp>
        <p:nvSpPr>
          <p:cNvPr id="10" name="Shape 7"/>
          <p:cNvSpPr/>
          <p:nvPr/>
        </p:nvSpPr>
        <p:spPr>
          <a:xfrm>
            <a:off x="3383280" y="1188720"/>
            <a:ext cx="2468880" cy="365760"/>
          </a:xfrm>
          <a:prstGeom prst="rect">
            <a:avLst/>
          </a:prstGeom>
          <a:solidFill>
            <a:srgbClr val="6B7280"/>
          </a:solidFill>
          <a:ln w="12700">
            <a:solidFill>
              <a:srgbClr val="6B7280"/>
            </a:solidFill>
            <a:prstDash val="solid"/>
          </a:ln>
        </p:spPr>
      </p:sp>
      <p:sp>
        <p:nvSpPr>
          <p:cNvPr id="11" name="Text 8"/>
          <p:cNvSpPr txBox="1"/>
          <p:nvPr/>
        </p:nvSpPr>
        <p:spPr>
          <a:xfrm>
            <a:off x="3474720" y="123444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from / through men</a:t>
            </a:r>
            <a:endParaRPr lang="en-US" sz="1200" dirty="0"/>
          </a:p>
        </p:txBody>
      </p:sp>
      <p:sp>
        <p:nvSpPr>
          <p:cNvPr id="12" name="Shape 9"/>
          <p:cNvSpPr/>
          <p:nvPr/>
        </p:nvSpPr>
        <p:spPr>
          <a:xfrm>
            <a:off x="3383280" y="1554480"/>
            <a:ext cx="2468880" cy="2331720"/>
          </a:xfrm>
          <a:prstGeom prst="rect">
            <a:avLst/>
          </a:prstGeom>
          <a:solidFill>
            <a:srgbClr val="F2F6FC"/>
          </a:solidFill>
          <a:ln w="9525">
            <a:solidFill>
              <a:srgbClr val="D5DCEA"/>
            </a:solidFill>
            <a:prstDash val="solid"/>
          </a:ln>
        </p:spPr>
      </p:sp>
      <p:sp>
        <p:nvSpPr>
          <p:cNvPr id="13" name="Text 10"/>
          <p:cNvSpPr txBox="1"/>
          <p:nvPr/>
        </p:nvSpPr>
        <p:spPr>
          <a:xfrm>
            <a:off x="3474720" y="1627632"/>
            <a:ext cx="2286000" cy="2203704"/>
          </a:xfrm>
          <a:prstGeom prst="rect">
            <a:avLst/>
          </a:prstGeom>
          <a:noFill/>
          <a:ln/>
        </p:spPr>
        <p:txBody>
          <a:bodyPr wrap="square" lIns="0" tIns="0" rIns="0" bIns="0" rtlCol="0" anchor="t"/>
          <a:lstStyle/>
          <a:p>
            <a:pPr indent="0" marL="0">
              <a:buNone/>
            </a:pPr>
            <a:endParaRPr lang="en-US" sz="1300" dirty="0"/>
          </a:p>
        </p:txBody>
      </p:sp>
      <p:sp>
        <p:nvSpPr>
          <p:cNvPr id="14" name="Text 11"/>
          <p:cNvSpPr txBox="1"/>
          <p:nvPr/>
        </p:nvSpPr>
        <p:spPr>
          <a:xfrm>
            <a:off x="3474720" y="1664208"/>
            <a:ext cx="2286000"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No group of men</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the apostles in Jerusalem</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the leaders in Antioch</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No single man</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Ananias in Damascus</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Barnabas, who brought him to Antioch</a:t>
            </a:r>
            <a:endParaRPr lang="en-US" sz="1150" dirty="0"/>
          </a:p>
        </p:txBody>
      </p:sp>
      <p:sp>
        <p:nvSpPr>
          <p:cNvPr id="15" name="Shape 12"/>
          <p:cNvSpPr/>
          <p:nvPr/>
        </p:nvSpPr>
        <p:spPr>
          <a:xfrm>
            <a:off x="5943600" y="2423160"/>
            <a:ext cx="274320" cy="237744"/>
          </a:xfrm>
          <a:prstGeom prst="rightArrow">
            <a:avLst/>
          </a:prstGeom>
          <a:solidFill>
            <a:srgbClr val="375623"/>
          </a:solidFill>
          <a:ln w="12700">
            <a:solidFill>
              <a:srgbClr val="375623"/>
            </a:solidFill>
            <a:prstDash val="solid"/>
          </a:ln>
        </p:spPr>
      </p:sp>
      <p:sp>
        <p:nvSpPr>
          <p:cNvPr id="16" name="Shape 13"/>
          <p:cNvSpPr/>
          <p:nvPr/>
        </p:nvSpPr>
        <p:spPr>
          <a:xfrm>
            <a:off x="6309360" y="1188720"/>
            <a:ext cx="2377440" cy="365760"/>
          </a:xfrm>
          <a:prstGeom prst="rect">
            <a:avLst/>
          </a:prstGeom>
          <a:solidFill>
            <a:srgbClr val="375623"/>
          </a:solidFill>
          <a:ln w="12700">
            <a:solidFill>
              <a:srgbClr val="375623"/>
            </a:solidFill>
            <a:prstDash val="solid"/>
          </a:ln>
        </p:spPr>
      </p:sp>
      <p:sp>
        <p:nvSpPr>
          <p:cNvPr id="17" name="Text 14"/>
          <p:cNvSpPr txBox="1"/>
          <p:nvPr/>
        </p:nvSpPr>
        <p:spPr>
          <a:xfrm>
            <a:off x="6400800" y="1234440"/>
            <a:ext cx="21945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through</a:t>
            </a:r>
            <a:endParaRPr lang="en-US" sz="1200" dirty="0"/>
          </a:p>
        </p:txBody>
      </p:sp>
      <p:sp>
        <p:nvSpPr>
          <p:cNvPr id="18" name="Shape 15"/>
          <p:cNvSpPr/>
          <p:nvPr/>
        </p:nvSpPr>
        <p:spPr>
          <a:xfrm>
            <a:off x="6309360" y="1554480"/>
            <a:ext cx="2377440" cy="2331720"/>
          </a:xfrm>
          <a:prstGeom prst="rect">
            <a:avLst/>
          </a:prstGeom>
          <a:solidFill>
            <a:srgbClr val="F2F6FC"/>
          </a:solidFill>
          <a:ln w="9525">
            <a:solidFill>
              <a:srgbClr val="D5DCEA"/>
            </a:solidFill>
            <a:prstDash val="solid"/>
          </a:ln>
        </p:spPr>
      </p:sp>
      <p:sp>
        <p:nvSpPr>
          <p:cNvPr id="19" name="Text 16"/>
          <p:cNvSpPr txBox="1"/>
          <p:nvPr/>
        </p:nvSpPr>
        <p:spPr>
          <a:xfrm>
            <a:off x="6400800" y="1627632"/>
            <a:ext cx="2194560" cy="22037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Jesus Christ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and God the Father who raised Him from the dead</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is a spokesman for God</a:t>
            </a:r>
            <a:endParaRPr lang="en-US" sz="1300" dirty="0"/>
          </a:p>
        </p:txBody>
      </p:sp>
      <p:sp>
        <p:nvSpPr>
          <p:cNvPr id="20" name="Shape 17"/>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1" name="Text 18"/>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When they couldn't argue with Paul's doctrine, they attacked his person. Verse 1 answers them before the letter begins.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ground of liberty,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 · Exposition outline points 1–6</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txBox="1"/>
          <p:nvPr/>
        </p:nvSpPr>
        <p:spPr>
          <a:xfrm>
            <a:off x="1344168" y="1115568"/>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1 · The Writer — “Paul, an apostle”</a:t>
            </a:r>
            <a:endParaRPr lang="en-US" sz="1100" dirty="0"/>
          </a:p>
        </p:txBody>
      </p:sp>
      <p:sp>
        <p:nvSpPr>
          <p:cNvPr id="9" name="Text 6"/>
          <p:cNvSpPr txBox="1"/>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ἀπόστολος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sent — but by God, not men</a:t>
            </a:r>
            <a:endParaRPr lang="en-US" sz="12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txBox="1"/>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txBox="1"/>
          <p:nvPr/>
        </p:nvSpPr>
        <p:spPr>
          <a:xfrm>
            <a:off x="1344168" y="1627632"/>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2 · The Readers — “to the churches of Galatia” (plural)</a:t>
            </a:r>
            <a:endParaRPr lang="en-US" sz="1100" dirty="0"/>
          </a:p>
        </p:txBody>
      </p:sp>
      <p:sp>
        <p:nvSpPr>
          <p:cNvPr id="14" name="Text 11"/>
          <p:cNvSpPr txBox="1"/>
          <p:nvPr/>
        </p:nvSpPr>
        <p:spPr>
          <a:xfrm>
            <a:off x="5806440" y="1627632"/>
            <a:ext cx="2788920" cy="45720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Derbe, Lystra, Iconium, Antioch</a:t>
            </a:r>
            <a:endParaRPr lang="en-US" sz="12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txBox="1"/>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txBox="1"/>
          <p:nvPr/>
        </p:nvSpPr>
        <p:spPr>
          <a:xfrm>
            <a:off x="1344168" y="2139696"/>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3 · The Greeting — “Grace to you and peace”</a:t>
            </a:r>
            <a:endParaRPr lang="en-US" sz="1100" dirty="0"/>
          </a:p>
        </p:txBody>
      </p:sp>
      <p:sp>
        <p:nvSpPr>
          <p:cNvPr id="19" name="Text 16"/>
          <p:cNvSpPr txBox="1"/>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χάρις · εἰρήνη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Greek greeting · Jewish greeting</a:t>
            </a:r>
            <a:endParaRPr lang="en-US" sz="12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txBox="1"/>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v.3b</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txBox="1"/>
          <p:nvPr/>
        </p:nvSpPr>
        <p:spPr>
          <a:xfrm>
            <a:off x="1344168" y="2651760"/>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4 · The Source — “from God the Father and our Lord Jesus Christ”</a:t>
            </a:r>
            <a:endParaRPr lang="en-US" sz="1100" dirty="0"/>
          </a:p>
        </p:txBody>
      </p:sp>
      <p:sp>
        <p:nvSpPr>
          <p:cNvPr id="24" name="Text 21"/>
          <p:cNvSpPr txBox="1"/>
          <p:nvPr/>
        </p:nvSpPr>
        <p:spPr>
          <a:xfrm>
            <a:off x="5806440" y="2651760"/>
            <a:ext cx="2788920" cy="45720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the Father is our Father too</a:t>
            </a:r>
            <a:endParaRPr lang="en-US" sz="12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txBox="1"/>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txBox="1"/>
          <p:nvPr/>
        </p:nvSpPr>
        <p:spPr>
          <a:xfrm>
            <a:off x="1344168" y="3163824"/>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5 · The Basis — “who gave Himself for our sins”</a:t>
            </a:r>
            <a:endParaRPr lang="en-US" sz="1100" dirty="0"/>
          </a:p>
        </p:txBody>
      </p:sp>
      <p:sp>
        <p:nvSpPr>
          <p:cNvPr id="29" name="Text 26"/>
          <p:cNvSpPr txBox="1"/>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δούς · ἑαυτόν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voluntary · total</a:t>
            </a:r>
            <a:endParaRPr lang="en-US" sz="12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txBox="1"/>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v.4b</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txBox="1"/>
          <p:nvPr/>
        </p:nvSpPr>
        <p:spPr>
          <a:xfrm>
            <a:off x="1344168" y="3675888"/>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6 · The Purpose — “that He might deliver us from this present evil age”</a:t>
            </a:r>
            <a:endParaRPr lang="en-US" sz="1100" dirty="0"/>
          </a:p>
        </p:txBody>
      </p:sp>
      <p:sp>
        <p:nvSpPr>
          <p:cNvPr id="34" name="Text 31"/>
          <p:cNvSpPr txBox="1"/>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ἐξέληται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rescue — now and when He returns</a:t>
            </a:r>
            <a:endParaRPr lang="en-US" sz="12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txBox="1"/>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txBox="1"/>
          <p:nvPr/>
        </p:nvSpPr>
        <p:spPr>
          <a:xfrm>
            <a:off x="1344168" y="4187952"/>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Doxology — “to whom be glory forever and ever. Amen”</a:t>
            </a:r>
            <a:endParaRPr lang="en-US" sz="1100" dirty="0"/>
          </a:p>
        </p:txBody>
      </p:sp>
      <p:sp>
        <p:nvSpPr>
          <p:cNvPr id="39" name="Text 36"/>
          <p:cNvSpPr txBox="1"/>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δόξα</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the Father's glory (cf. Phil 2:11)</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and peace — a greeting with a point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1:3 · Exposition 3 — The Greeting</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Grace — the Greek greeting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charis · G5485 · Nom. Fem. Sg.</a:t>
            </a:r>
            <a:endParaRPr lang="en-US" sz="1200" dirty="0"/>
          </a:p>
        </p:txBody>
      </p:sp>
      <p:sp>
        <p:nvSpPr>
          <p:cNvPr id="7" name="Shape 4"/>
          <p:cNvSpPr/>
          <p:nvPr/>
        </p:nvSpPr>
        <p:spPr>
          <a:xfrm>
            <a:off x="457200" y="1755648"/>
            <a:ext cx="4023360" cy="194767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Here, not grace for salvation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God's unmerited favor sufficient to sustain the believer's daily life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very truth the Judaizers undermined by adding law-keeping</a:t>
            </a:r>
            <a:endParaRPr lang="en-US" sz="1300" dirty="0"/>
          </a:p>
        </p:txBody>
      </p:sp>
      <p:sp>
        <p:nvSpPr>
          <p:cNvPr id="9" name="Shape 6"/>
          <p:cNvSpPr/>
          <p:nvPr/>
        </p:nvSpPr>
        <p:spPr>
          <a:xfrm>
            <a:off x="4663440" y="1188720"/>
            <a:ext cx="4023360" cy="566928"/>
          </a:xfrm>
          <a:prstGeom prst="rect">
            <a:avLst/>
          </a:prstGeom>
          <a:solidFill>
            <a:srgbClr val="2E5496"/>
          </a:solidFill>
          <a:ln w="12700">
            <a:solidFill>
              <a:srgbClr val="2E5496"/>
            </a:solidFill>
            <a:prstDash val="solid"/>
          </a:ln>
        </p:spPr>
      </p:sp>
      <p:sp>
        <p:nvSpPr>
          <p:cNvPr id="10" name="Text 7"/>
          <p:cNvSpPr txBox="1"/>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 — the Jewish greeting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εἰρήνη · שָׁלוֹם</a:t>
            </a:r>
            <a:pPr indent="0" marL="0">
              <a:buNone/>
            </a:pPr>
            <a:r>
              <a:rPr lang="en-US" sz="850" dirty="0">
                <a:solidFill>
                  <a:srgbClr val="DCE4F2"/>
                </a:solidFill>
                <a:latin typeface="Arial" pitchFamily="34" charset="0"/>
                <a:ea typeface="Arial" pitchFamily="34" charset="-122"/>
                <a:cs typeface="Arial" pitchFamily="34" charset="-120"/>
              </a:rPr>
              <a:t>  eirēnē · G1515 · LXX: shalom</a:t>
            </a:r>
            <a:endParaRPr lang="en-US" sz="1200" dirty="0"/>
          </a:p>
        </p:txBody>
      </p:sp>
      <p:sp>
        <p:nvSpPr>
          <p:cNvPr id="11" name="Shape 8"/>
          <p:cNvSpPr/>
          <p:nvPr/>
        </p:nvSpPr>
        <p:spPr>
          <a:xfrm>
            <a:off x="4663440" y="1755648"/>
            <a:ext cx="4023360" cy="1947672"/>
          </a:xfrm>
          <a:prstGeom prst="rect">
            <a:avLst/>
          </a:prstGeom>
          <a:solidFill>
            <a:srgbClr val="F2F6FC"/>
          </a:solidFill>
          <a:ln w="9525">
            <a:solidFill>
              <a:srgbClr val="D5DCEA"/>
            </a:solidFill>
            <a:prstDash val="solid"/>
          </a:ln>
        </p:spPr>
      </p:sp>
      <p:sp>
        <p:nvSpPr>
          <p:cNvPr id="12" name="Text 9"/>
          <p:cNvSpPr txBox="1"/>
          <p:nvPr/>
        </p:nvSpPr>
        <p:spPr>
          <a:xfrm>
            <a:off x="475488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Positive wholeness and wellness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Enjoyed when right with God, positionally and experientially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Only a believer living under grace can extend it</a:t>
            </a:r>
            <a:endParaRPr lang="en-US" sz="1300" dirty="0"/>
          </a:p>
        </p:txBody>
      </p:sp>
      <p:sp>
        <p:nvSpPr>
          <p:cNvPr id="13" name="Shape 10"/>
          <p:cNvSpPr/>
          <p:nvPr/>
        </p:nvSpPr>
        <p:spPr>
          <a:xfrm>
            <a:off x="457200" y="3886200"/>
            <a:ext cx="8229600" cy="548640"/>
          </a:xfrm>
          <a:prstGeom prst="roundRect">
            <a:avLst>
              <a:gd name="adj" fmla="val 10000"/>
            </a:avLst>
          </a:prstGeom>
          <a:solidFill>
            <a:srgbClr val="1F3864"/>
          </a:solidFill>
          <a:ln w="12700">
            <a:solidFill>
              <a:srgbClr val="1F3864"/>
            </a:solidFill>
            <a:prstDash val="solid"/>
          </a:ln>
        </p:spPr>
      </p:sp>
      <p:sp>
        <p:nvSpPr>
          <p:cNvPr id="14" name="Text 11"/>
          <p:cNvSpPr txBox="1"/>
          <p:nvPr/>
        </p:nvSpPr>
        <p:spPr>
          <a:xfrm>
            <a:off x="621792" y="388620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Our goal: hold fast to grace so we may serve God acceptably. You cannot give a greeting of grace apart from living under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“Who gave Himself … that He might deliver us”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1:4–5 · Exposition 5–6 — Basis and purpose</a:t>
            </a:r>
            <a:endParaRPr lang="en-US" sz="1200" dirty="0"/>
          </a:p>
        </p:txBody>
      </p:sp>
      <p:sp>
        <p:nvSpPr>
          <p:cNvPr id="5" name="Shape 2"/>
          <p:cNvSpPr/>
          <p:nvPr/>
        </p:nvSpPr>
        <p:spPr>
          <a:xfrm>
            <a:off x="457200" y="1188720"/>
            <a:ext cx="26517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 gave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δούς</a:t>
            </a:r>
            <a:pPr indent="0" marL="0">
              <a:buNone/>
            </a:pPr>
            <a:r>
              <a:rPr lang="en-US" sz="850" dirty="0">
                <a:solidFill>
                  <a:srgbClr val="DCE4F2"/>
                </a:solidFill>
                <a:latin typeface="Arial" pitchFamily="34" charset="0"/>
                <a:ea typeface="Arial" pitchFamily="34" charset="-122"/>
                <a:cs typeface="Arial" pitchFamily="34" charset="-120"/>
              </a:rPr>
              <a:t>  Aor. Act. Ptc.</a:t>
            </a:r>
            <a:endParaRPr lang="en-US" sz="1200" dirty="0"/>
          </a:p>
        </p:txBody>
      </p:sp>
      <p:sp>
        <p:nvSpPr>
          <p:cNvPr id="7" name="Shape 4"/>
          <p:cNvSpPr/>
          <p:nvPr/>
        </p:nvSpPr>
        <p:spPr>
          <a:xfrm>
            <a:off x="457200" y="1755648"/>
            <a:ext cx="2651760" cy="1810512"/>
          </a:xfrm>
          <a:prstGeom prst="rect">
            <a:avLst/>
          </a:prstGeom>
          <a:solidFill>
            <a:srgbClr val="F2F6FC"/>
          </a:solidFill>
          <a:ln w="9525">
            <a:solidFill>
              <a:srgbClr val="D5DCEA"/>
            </a:solidFill>
            <a:prstDash val="solid"/>
          </a:ln>
        </p:spPr>
      </p:sp>
      <p:sp>
        <p:nvSpPr>
          <p:cNvPr id="8" name="Text 5"/>
          <p:cNvSpPr txBox="1"/>
          <p:nvPr/>
        </p:nvSpPr>
        <p:spPr>
          <a:xfrm>
            <a:off x="54864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Active voice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voluntary death — not a tragedy that overtook Him</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 one takes My life from Me”</a:t>
            </a:r>
            <a:endParaRPr lang="en-US" sz="1300" dirty="0"/>
          </a:p>
        </p:txBody>
      </p:sp>
      <p:sp>
        <p:nvSpPr>
          <p:cNvPr id="9" name="Shape 6"/>
          <p:cNvSpPr/>
          <p:nvPr/>
        </p:nvSpPr>
        <p:spPr>
          <a:xfrm>
            <a:off x="3246120" y="1188720"/>
            <a:ext cx="2651760" cy="566928"/>
          </a:xfrm>
          <a:prstGeom prst="rect">
            <a:avLst/>
          </a:prstGeom>
          <a:solidFill>
            <a:srgbClr val="2E5496"/>
          </a:solidFill>
          <a:ln w="12700">
            <a:solidFill>
              <a:srgbClr val="2E5496"/>
            </a:solidFill>
            <a:prstDash val="solid"/>
          </a:ln>
        </p:spPr>
      </p:sp>
      <p:sp>
        <p:nvSpPr>
          <p:cNvPr id="10" name="Text 7"/>
          <p:cNvSpPr txBox="1"/>
          <p:nvPr/>
        </p:nvSpPr>
        <p:spPr>
          <a:xfrm>
            <a:off x="333756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Himself</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ἑαυτόν</a:t>
            </a:r>
            <a:pPr indent="0" marL="0">
              <a:buNone/>
            </a:pPr>
            <a:r>
              <a:rPr lang="en-US" sz="850" dirty="0">
                <a:solidFill>
                  <a:srgbClr val="DCE4F2"/>
                </a:solidFill>
                <a:latin typeface="Arial" pitchFamily="34" charset="0"/>
                <a:ea typeface="Arial" pitchFamily="34" charset="-122"/>
                <a:cs typeface="Arial" pitchFamily="34" charset="-120"/>
              </a:rPr>
              <a:t>  Acc. Masc. Sg. (reflexive)</a:t>
            </a:r>
            <a:endParaRPr lang="en-US" sz="1200" dirty="0"/>
          </a:p>
        </p:txBody>
      </p:sp>
      <p:sp>
        <p:nvSpPr>
          <p:cNvPr id="11" name="Shape 8"/>
          <p:cNvSpPr/>
          <p:nvPr/>
        </p:nvSpPr>
        <p:spPr>
          <a:xfrm>
            <a:off x="3246120" y="1755648"/>
            <a:ext cx="2651760" cy="1810512"/>
          </a:xfrm>
          <a:prstGeom prst="rect">
            <a:avLst/>
          </a:prstGeom>
          <a:solidFill>
            <a:srgbClr val="F2F6FC"/>
          </a:solidFill>
          <a:ln w="9525">
            <a:solidFill>
              <a:srgbClr val="D5DCEA"/>
            </a:solidFill>
            <a:prstDash val="solid"/>
          </a:ln>
        </p:spPr>
      </p:sp>
      <p:sp>
        <p:nvSpPr>
          <p:cNvPr id="12" name="Text 9"/>
          <p:cNvSpPr txBox="1"/>
          <p:nvPr/>
        </p:nvSpPr>
        <p:spPr>
          <a:xfrm>
            <a:off x="333756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Personal and total surrender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His whole person, not merely His body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Ground of complete forgiveness</a:t>
            </a:r>
            <a:endParaRPr lang="en-US" sz="1300" dirty="0"/>
          </a:p>
        </p:txBody>
      </p:sp>
      <p:sp>
        <p:nvSpPr>
          <p:cNvPr id="13" name="Shape 10"/>
          <p:cNvSpPr/>
          <p:nvPr/>
        </p:nvSpPr>
        <p:spPr>
          <a:xfrm>
            <a:off x="6035040" y="1188720"/>
            <a:ext cx="2651760" cy="566928"/>
          </a:xfrm>
          <a:prstGeom prst="rect">
            <a:avLst/>
          </a:prstGeom>
          <a:solidFill>
            <a:srgbClr val="2E5496"/>
          </a:solidFill>
          <a:ln w="12700">
            <a:solidFill>
              <a:srgbClr val="2E5496"/>
            </a:solidFill>
            <a:prstDash val="solid"/>
          </a:ln>
        </p:spPr>
      </p:sp>
      <p:sp>
        <p:nvSpPr>
          <p:cNvPr id="14" name="Text 11"/>
          <p:cNvSpPr txBox="1"/>
          <p:nvPr/>
        </p:nvSpPr>
        <p:spPr>
          <a:xfrm>
            <a:off x="612648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Might deliver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ἐξέληται</a:t>
            </a:r>
            <a:pPr indent="0" marL="0">
              <a:buNone/>
            </a:pPr>
            <a:r>
              <a:rPr lang="en-US" sz="850" dirty="0">
                <a:solidFill>
                  <a:srgbClr val="DCE4F2"/>
                </a:solidFill>
                <a:latin typeface="Arial" pitchFamily="34" charset="0"/>
                <a:ea typeface="Arial" pitchFamily="34" charset="-122"/>
                <a:cs typeface="Arial" pitchFamily="34" charset="-120"/>
              </a:rPr>
              <a:t>  Aor. Mid. Subj.</a:t>
            </a:r>
            <a:endParaRPr lang="en-US" sz="1200" dirty="0"/>
          </a:p>
        </p:txBody>
      </p:sp>
      <p:sp>
        <p:nvSpPr>
          <p:cNvPr id="15" name="Shape 12"/>
          <p:cNvSpPr/>
          <p:nvPr/>
        </p:nvSpPr>
        <p:spPr>
          <a:xfrm>
            <a:off x="6035040" y="1755648"/>
            <a:ext cx="2651760" cy="1810512"/>
          </a:xfrm>
          <a:prstGeom prst="rect">
            <a:avLst/>
          </a:prstGeom>
          <a:solidFill>
            <a:srgbClr val="F2F6FC"/>
          </a:solidFill>
          <a:ln w="9525">
            <a:solidFill>
              <a:srgbClr val="D5DCEA"/>
            </a:solidFill>
            <a:prstDash val="solid"/>
          </a:ln>
        </p:spPr>
      </p:sp>
      <p:sp>
        <p:nvSpPr>
          <p:cNvPr id="16" name="Text 13"/>
          <p:cNvSpPr txBox="1"/>
          <p:nvPr/>
        </p:nvSpPr>
        <p:spPr>
          <a:xfrm>
            <a:off x="612648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To pluck out, rescue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Future: when He returns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Present: from this evil age now (John 17:15–17)</a:t>
            </a:r>
            <a:endParaRPr lang="en-US" sz="1300" dirty="0"/>
          </a:p>
        </p:txBody>
      </p:sp>
      <p:sp>
        <p:nvSpPr>
          <p:cNvPr id="17" name="Shape 14"/>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18" name="Text 15"/>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Salvation is not just a ticket to heaven — but it is that. Verse 5: “to whom be glory forever and ever. Amen.”</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does Paul spend so much of verse 1 defending his apostleship before he even gets to his main subject?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does Paul's use of “grace” in verse 3 differ from how the word is often used today?</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Resting in a Settled Identity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identity truth Scripture gives you and read it aloud each morning this week.</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Living Under Grace, Not Under Law</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“rule” you've kept to feel acceptable to God, and replace it with a specific act of grateful obedience.</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Paul's authority came from God — and the grace that saves us is the grace that sustains us.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1 — The Ground of Liberty: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