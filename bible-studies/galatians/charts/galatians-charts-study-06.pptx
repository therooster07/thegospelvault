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udy 6 · Galatians 3:1–5" id="{a7fddc8d-4872-ef43-b38d-52f7b37bf383}">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The study is built on Paul's five questions — the precedence, procedure, perfection, persecution and promotion of the Christian life. Each one asks: did this come by the works of the law, or by faith? Every chart in this deck stays within the posted commentary for this study; Greek words come from the study's posted Greek Word Study. Each slide's notes name the commentary section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Use this map to show the group where this passage sits in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(Outline I–V): Each question presses the same point — every stage of the Christian life, from first hearing to ongoing power, came by faith and not by the works of the law. Use this as the map for the whole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 ἀνόητοι — not demented, simply not using the sense God gave them. ἐβάσκανεν — “who put a hex on you?” is hyperbole, exaggeration for effect, to underline how irrational their turn was. προεγράφη — Christ crucified had been publicly posted before their eyes, like a placard: in the preaching, in baptism and at the Lord's Table. The perfect participle ἐσταυρωμένος: Christ stands permanently in the crucified position — the cross is a settled, present reality.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 Only one question — if Paul could get this one answer, he would need nothing else. The Galatians were already saved and had received the Spirit. Salvation and receiving the Spirit are simultaneous, though not synonymous: they happen at the same moment. The commentary notes Chafer's list of some thirty-three things that happen the moment a person believes.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 The irony Paul presses: trying to finish by the flesh what only the Spirit began. The present tense of ἐπιτελεῖσθε pictures an ongoing (attempted) process. Hebrews 10:14: by one offering He has perfected forever those who are being sanctified. The commentary cites J. B. Phillips' paraphrase to the same effect — that one cannot begin in the Spirit and complete it by reverting to outward observances.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(IV–V): When they believed, they suffered much. Paul had warned them before returning to Antioch: “We must through many tribulations enter the kingdom of God” (Acts 14:22). Turning back to the law would make that suffering pointless. Verse 5: God supplies the Spirit and works miracles among them — the commentary points to the man lame from birth at Lystra (Acts 14:8–10). ἐπιχορηγῶν once meant funding a chorus at one's own expense — lavish, ongoing provision.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What does it mean that receiving the Spirit and being saved are simultaneous but not synonymous? — Leader answer: Both happen at the moment of faith but are distinct: salvation is God's declaration; the Spirit is God's gift of His presence. Both come by the hearing of faith.  Q2: Explain in your own words the difference between your perfection and your practice (3:3). — Leader answer: Perfection is your settled standing, secured forever by Christ's one sacrifice (Heb 10:14). Practice is your daily walk; it flows from being accepted, never causes it.  Applications: Trade Trying for Trusting — Tell God out loud today that you are trusting Him rather than trying to earn the outcome yourself.  Let Your Practice Catch Up to Your Perfection — Practice one habit this week as a response to being accepted — not as an attempt to become accepted.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rtlCol="0"/>
          <a:lstStyle>
            <a:lvl1pPr algn="l" indent="0" marL="0">
              <a:buNone/>
              <a:defRPr lang="en-US" sz="2400" b="1" dirty="0">
                <a:solidFill>
                  <a:srgbClr val="1F3864"/>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rtlCol="0"/>
          <a:lstStyle>
            <a:lvl1pPr indent="0" marL="0">
              <a:buNone/>
              <a:defRPr lang="en-US" sz="1200" i="1" dirty="0">
                <a:solidFill>
                  <a:srgbClr val="595959"/>
                </a:solidFill>
                <a:latin typeface="Arial" pitchFamily="34" charset="0"/>
                <a:ea typeface="Arial" pitchFamily="34" charset="-122"/>
                <a:cs typeface="Arial" pitchFamily="34" charset="-120"/>
              </a:defRPr>
            </a:lvl1pPr>
          </a:lstStyle>
          <a:p>
            <a:pPr indent="0" marL="0">
              <a:buNone/>
            </a:pPr>
            <a:endParaRPr lang="en-US" sz="1200" dirty="0"/>
          </a:p>
        </p:txBody>
      </p:sp>
      <p:sp>
        <p:nvSpPr>
          <p:cNvPr id="4" name="Text 0"/>
          <p:cNvSpPr/>
          <p:nvPr/>
        </p:nvSpPr>
        <p:spPr>
          <a:xfrm>
            <a:off x="457200" y="4773168"/>
            <a:ext cx="6858000" cy="228600"/>
          </a:xfrm>
          <a:prstGeom prst="rect">
            <a:avLst/>
          </a:prstGeom>
          <a:noFill/>
          <a:ln/>
        </p:spPr>
        <p:txBody>
          <a:bodyPr wrap="square" lIns="0" tIns="0" rIns="0" bIns="0" rtlCol="0" anchor="ctr"/>
          <a:lstStyle/>
          <a:p>
            <a:pPr indent="0" marL="0">
              <a:buNone/>
            </a:pPr>
            <a:r>
              <a:rPr lang="en-US" sz="800" dirty="0">
                <a:solidFill>
                  <a:srgbClr val="6B7280"/>
                </a:solidFill>
                <a:latin typeface="Arial" pitchFamily="34" charset="0"/>
                <a:ea typeface="Arial" pitchFamily="34" charset="-122"/>
                <a:cs typeface="Arial" pitchFamily="34" charset="-120"/>
              </a:rPr>
              <a:t>Galatians · Study 6 of 16 · Galatians 3:1–5 · The Gospel Vault · NKJV</a:t>
            </a:r>
            <a:endParaRPr lang="en-US" sz="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F386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400" dirty="0">
                <a:solidFill>
                  <a:srgbClr val="C9D5EE"/>
                </a:solidFill>
                <a:latin typeface="Arial" pitchFamily="34" charset="0"/>
                <a:ea typeface="Arial" pitchFamily="34" charset="-122"/>
                <a:cs typeface="Arial" pitchFamily="34" charset="-120"/>
              </a:defRPr>
            </a:lvl1pPr>
          </a:lstStyle>
          <a:p>
            <a:pPr indent="0" marL="0">
              <a:buNone/>
            </a:pP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rtlCol="0"/>
          <a:lstStyle>
            <a:lvl1pPr indent="0" marL="0">
              <a:buNone/>
              <a:defRPr lang="en-US" sz="1500" i="1" dirty="0">
                <a:solidFill>
                  <a:srgbClr val="E6ECF7"/>
                </a:solidFill>
                <a:latin typeface="Arial" pitchFamily="34" charset="0"/>
                <a:ea typeface="Arial" pitchFamily="34" charset="-122"/>
                <a:cs typeface="Arial" pitchFamily="34" charset="-120"/>
              </a:defRPr>
            </a:lvl1pPr>
          </a:lstStyle>
          <a:p>
            <a:pPr indent="0" marL="0">
              <a:buNone/>
            </a:pPr>
            <a:endParaRPr lang="en-US" sz="1500" dirty="0"/>
          </a:p>
        </p:txBody>
      </p:sp>
      <p:sp>
        <p:nvSpPr>
          <p:cNvPr id="5" name="Text 0"/>
          <p:cNvSpPr/>
          <p:nvPr/>
        </p:nvSpPr>
        <p:spPr>
          <a:xfrm>
            <a:off x="640080" y="4754880"/>
            <a:ext cx="7315200" cy="228600"/>
          </a:xfrm>
          <a:prstGeom prst="rect">
            <a:avLst/>
          </a:prstGeom>
          <a:noFill/>
          <a:ln/>
        </p:spPr>
        <p:txBody>
          <a:bodyPr wrap="square" lIns="0" tIns="0" rIns="0" bIns="0" rtlCol="0" anchor="ctr"/>
          <a:lstStyle/>
          <a:p>
            <a:pPr indent="0" marL="0">
              <a:buNone/>
            </a:pPr>
            <a:r>
              <a:rPr lang="en-US" sz="800" dirty="0">
                <a:solidFill>
                  <a:srgbClr val="AEBBD6"/>
                </a:solidFill>
                <a:latin typeface="Arial" pitchFamily="34" charset="0"/>
                <a:ea typeface="Arial" pitchFamily="34" charset="-122"/>
                <a:cs typeface="Arial" pitchFamily="34" charset="-120"/>
              </a:rPr>
              <a:t>Galatians · Study 6 of 16 · Galatians 3:1–5 · The Gospel Vault · NKJV</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400" dirty="0">
                <a:solidFill>
                  <a:srgbClr val="C9D5EE"/>
                </a:solidFill>
                <a:latin typeface="Arial" pitchFamily="34" charset="0"/>
                <a:ea typeface="Arial" pitchFamily="34" charset="-122"/>
                <a:cs typeface="Arial" pitchFamily="34" charset="-120"/>
              </a:rPr>
              <a:t>Galatians · Study 6 of 16 · Galatians 3:1–5 · Leader charts</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Under a Spell</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t"/>
          <a:lstStyle/>
          <a:p>
            <a:pPr indent="0" marL="0">
              <a:buNone/>
            </a:pPr>
            <a:r>
              <a:rPr lang="en-US" sz="1500" i="1" dirty="0">
                <a:solidFill>
                  <a:srgbClr val="E6ECF7"/>
                </a:solidFill>
                <a:latin typeface="Arial" pitchFamily="34" charset="0"/>
                <a:ea typeface="Arial" pitchFamily="34" charset="-122"/>
                <a:cs typeface="Arial" pitchFamily="34" charset="-120"/>
              </a:rPr>
              <a:t>Grace, not law, both received the Galatians into Christ and sustains them in Christ — so Paul's five questions expose the folly of turning from grace to law at every stage of the Christian life.</a:t>
            </a:r>
            <a:endParaRPr lang="en-US" sz="1500" dirty="0"/>
          </a:p>
        </p:txBody>
      </p:sp>
      <p:sp>
        <p:nvSpPr>
          <p:cNvPr id="6" name="Text 3"/>
          <p:cNvSpPr txBox="1"/>
          <p:nvPr/>
        </p:nvSpPr>
        <p:spPr>
          <a:xfrm>
            <a:off x="640080" y="4343400"/>
            <a:ext cx="7863840" cy="274320"/>
          </a:xfrm>
          <a:prstGeom prst="rect">
            <a:avLst/>
          </a:prstGeom>
          <a:noFill/>
          <a:ln/>
        </p:spPr>
        <p:txBody>
          <a:bodyPr wrap="square" lIns="0" tIns="0" rIns="0" bIns="0" rtlCol="0" anchor="t"/>
          <a:lstStyle/>
          <a:p>
            <a:pPr indent="0" marL="0">
              <a:buNone/>
            </a:pPr>
            <a:r>
              <a:rPr lang="en-US" sz="1000" dirty="0">
                <a:solidFill>
                  <a:srgbClr val="AEBBD6"/>
                </a:solidFill>
                <a:latin typeface="Arial" pitchFamily="34" charset="0"/>
                <a:ea typeface="Arial" pitchFamily="34" charset="-122"/>
                <a:cs typeface="Arial" pitchFamily="34" charset="-120"/>
              </a:rPr>
              <a:t>Source: Dr. C. Norman Sellers, ThD · SellersBibleInstitute.com · used by permission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Where this study fits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 sixteen studies · this study highlighted</a:t>
            </a:r>
            <a:endParaRPr lang="en-US" sz="1200" dirty="0"/>
          </a:p>
        </p:txBody>
      </p:sp>
      <p:sp>
        <p:nvSpPr>
          <p:cNvPr id="5" name="Shape 2"/>
          <p:cNvSpPr/>
          <p:nvPr/>
        </p:nvSpPr>
        <p:spPr>
          <a:xfrm>
            <a:off x="457200" y="1115568"/>
            <a:ext cx="1954530" cy="786384"/>
          </a:xfrm>
          <a:prstGeom prst="rect">
            <a:avLst/>
          </a:prstGeom>
          <a:solidFill>
            <a:srgbClr val="F2F6FC"/>
          </a:solidFill>
          <a:ln w="9525">
            <a:solidFill>
              <a:srgbClr val="D5DCEA"/>
            </a:solidFill>
            <a:prstDash val="solid"/>
          </a:ln>
        </p:spPr>
      </p:sp>
      <p:sp>
        <p:nvSpPr>
          <p:cNvPr id="6" name="Text 3"/>
          <p:cNvSpPr txBox="1"/>
          <p:nvPr/>
        </p:nvSpPr>
        <p:spPr>
          <a:xfrm>
            <a:off x="54864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01  </a:t>
            </a:r>
            <a:pPr indent="0" marL="0">
              <a:buNone/>
            </a:pPr>
            <a:r>
              <a:rPr lang="en-US" sz="1000" b="1" dirty="0">
                <a:solidFill>
                  <a:srgbClr val="595959"/>
                </a:solidFill>
                <a:latin typeface="Arial" pitchFamily="34" charset="0"/>
                <a:ea typeface="Arial" pitchFamily="34" charset="-122"/>
                <a:cs typeface="Arial" pitchFamily="34" charset="-120"/>
              </a:rPr>
              <a:t>1:1–5</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The Ground of Liberty</a:t>
            </a:r>
            <a:endParaRPr lang="en-US" sz="1200" dirty="0"/>
          </a:p>
        </p:txBody>
      </p:sp>
      <p:sp>
        <p:nvSpPr>
          <p:cNvPr id="7" name="Shape 4"/>
          <p:cNvSpPr/>
          <p:nvPr/>
        </p:nvSpPr>
        <p:spPr>
          <a:xfrm>
            <a:off x="2548890" y="1115568"/>
            <a:ext cx="1954530" cy="786384"/>
          </a:xfrm>
          <a:prstGeom prst="rect">
            <a:avLst/>
          </a:prstGeom>
          <a:solidFill>
            <a:srgbClr val="F2F6FC"/>
          </a:solidFill>
          <a:ln w="9525">
            <a:solidFill>
              <a:srgbClr val="D5DCEA"/>
            </a:solidFill>
            <a:prstDash val="solid"/>
          </a:ln>
        </p:spPr>
      </p:sp>
      <p:sp>
        <p:nvSpPr>
          <p:cNvPr id="8" name="Text 5"/>
          <p:cNvSpPr txBox="1"/>
          <p:nvPr/>
        </p:nvSpPr>
        <p:spPr>
          <a:xfrm>
            <a:off x="264033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02  </a:t>
            </a:r>
            <a:pPr indent="0" marL="0">
              <a:buNone/>
            </a:pPr>
            <a:r>
              <a:rPr lang="en-US" sz="1000" b="1" dirty="0">
                <a:solidFill>
                  <a:srgbClr val="595959"/>
                </a:solidFill>
                <a:latin typeface="Arial" pitchFamily="34" charset="0"/>
                <a:ea typeface="Arial" pitchFamily="34" charset="-122"/>
                <a:cs typeface="Arial" pitchFamily="34" charset="-120"/>
              </a:rPr>
              <a:t>1:6–10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The One True Gospel</a:t>
            </a:r>
            <a:endParaRPr lang="en-US" sz="1200" dirty="0"/>
          </a:p>
        </p:txBody>
      </p:sp>
      <p:sp>
        <p:nvSpPr>
          <p:cNvPr id="9" name="Shape 6"/>
          <p:cNvSpPr/>
          <p:nvPr/>
        </p:nvSpPr>
        <p:spPr>
          <a:xfrm>
            <a:off x="4640580" y="1115568"/>
            <a:ext cx="1954530" cy="786384"/>
          </a:xfrm>
          <a:prstGeom prst="rect">
            <a:avLst/>
          </a:prstGeom>
          <a:solidFill>
            <a:srgbClr val="F2F6FC"/>
          </a:solidFill>
          <a:ln w="9525">
            <a:solidFill>
              <a:srgbClr val="D5DCEA"/>
            </a:solidFill>
            <a:prstDash val="solid"/>
          </a:ln>
        </p:spPr>
      </p:sp>
      <p:sp>
        <p:nvSpPr>
          <p:cNvPr id="10" name="Text 7"/>
          <p:cNvSpPr txBox="1"/>
          <p:nvPr/>
        </p:nvSpPr>
        <p:spPr>
          <a:xfrm>
            <a:off x="473202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03  </a:t>
            </a:r>
            <a:pPr indent="0" marL="0">
              <a:buNone/>
            </a:pPr>
            <a:r>
              <a:rPr lang="en-US" sz="1000" b="1" dirty="0">
                <a:solidFill>
                  <a:srgbClr val="595959"/>
                </a:solidFill>
                <a:latin typeface="Arial" pitchFamily="34" charset="0"/>
                <a:ea typeface="Arial" pitchFamily="34" charset="-122"/>
                <a:cs typeface="Arial" pitchFamily="34" charset="-120"/>
              </a:rPr>
              <a:t>1:11–17</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Paul's Independent Revelation</a:t>
            </a:r>
            <a:endParaRPr lang="en-US" sz="1200" dirty="0"/>
          </a:p>
        </p:txBody>
      </p:sp>
      <p:sp>
        <p:nvSpPr>
          <p:cNvPr id="11" name="Shape 8"/>
          <p:cNvSpPr/>
          <p:nvPr/>
        </p:nvSpPr>
        <p:spPr>
          <a:xfrm>
            <a:off x="6732270" y="1115568"/>
            <a:ext cx="1954530" cy="786384"/>
          </a:xfrm>
          <a:prstGeom prst="rect">
            <a:avLst/>
          </a:prstGeom>
          <a:solidFill>
            <a:srgbClr val="F2F6FC"/>
          </a:solidFill>
          <a:ln w="9525">
            <a:solidFill>
              <a:srgbClr val="D5DCEA"/>
            </a:solidFill>
            <a:prstDash val="solid"/>
          </a:ln>
        </p:spPr>
      </p:sp>
      <p:sp>
        <p:nvSpPr>
          <p:cNvPr id="12" name="Text 9"/>
          <p:cNvSpPr txBox="1"/>
          <p:nvPr/>
        </p:nvSpPr>
        <p:spPr>
          <a:xfrm>
            <a:off x="682371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04  </a:t>
            </a:r>
            <a:pPr indent="0" marL="0">
              <a:buNone/>
            </a:pPr>
            <a:r>
              <a:rPr lang="en-US" sz="1000" b="1" dirty="0">
                <a:solidFill>
                  <a:srgbClr val="595959"/>
                </a:solidFill>
                <a:latin typeface="Arial" pitchFamily="34" charset="0"/>
                <a:ea typeface="Arial" pitchFamily="34" charset="-122"/>
                <a:cs typeface="Arial" pitchFamily="34" charset="-120"/>
              </a:rPr>
              <a:t>1:18–2:10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Paul's Gospel Is Independent of the Judean Churches</a:t>
            </a:r>
            <a:endParaRPr lang="en-US" sz="1200" dirty="0"/>
          </a:p>
        </p:txBody>
      </p:sp>
      <p:sp>
        <p:nvSpPr>
          <p:cNvPr id="13" name="Shape 10"/>
          <p:cNvSpPr/>
          <p:nvPr/>
        </p:nvSpPr>
        <p:spPr>
          <a:xfrm>
            <a:off x="457200" y="2020824"/>
            <a:ext cx="1954530" cy="786384"/>
          </a:xfrm>
          <a:prstGeom prst="rect">
            <a:avLst/>
          </a:prstGeom>
          <a:solidFill>
            <a:srgbClr val="F2F6FC"/>
          </a:solidFill>
          <a:ln w="9525">
            <a:solidFill>
              <a:srgbClr val="D5DCEA"/>
            </a:solidFill>
            <a:prstDash val="solid"/>
          </a:ln>
        </p:spPr>
      </p:sp>
      <p:sp>
        <p:nvSpPr>
          <p:cNvPr id="14" name="Text 11"/>
          <p:cNvSpPr txBox="1"/>
          <p:nvPr/>
        </p:nvSpPr>
        <p:spPr>
          <a:xfrm>
            <a:off x="54864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05  </a:t>
            </a:r>
            <a:pPr indent="0" marL="0">
              <a:buNone/>
            </a:pPr>
            <a:r>
              <a:rPr lang="en-US" sz="1000" b="1" dirty="0">
                <a:solidFill>
                  <a:srgbClr val="595959"/>
                </a:solidFill>
                <a:latin typeface="Arial" pitchFamily="34" charset="0"/>
                <a:ea typeface="Arial" pitchFamily="34" charset="-122"/>
                <a:cs typeface="Arial" pitchFamily="34" charset="-120"/>
              </a:rPr>
              <a:t>2:11–21</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Peter Goes Back to School</a:t>
            </a:r>
            <a:endParaRPr lang="en-US" sz="1200" dirty="0"/>
          </a:p>
        </p:txBody>
      </p:sp>
      <p:sp>
        <p:nvSpPr>
          <p:cNvPr id="15" name="Shape 12"/>
          <p:cNvSpPr/>
          <p:nvPr/>
        </p:nvSpPr>
        <p:spPr>
          <a:xfrm>
            <a:off x="2548890" y="2020824"/>
            <a:ext cx="1954530" cy="786384"/>
          </a:xfrm>
          <a:prstGeom prst="rect">
            <a:avLst/>
          </a:prstGeom>
          <a:solidFill>
            <a:srgbClr val="1F3864"/>
          </a:solidFill>
          <a:ln w="9525">
            <a:solidFill>
              <a:srgbClr val="1F3864"/>
            </a:solidFill>
            <a:prstDash val="solid"/>
          </a:ln>
        </p:spPr>
      </p:sp>
      <p:sp>
        <p:nvSpPr>
          <p:cNvPr id="16" name="Text 13"/>
          <p:cNvSpPr txBox="1"/>
          <p:nvPr/>
        </p:nvSpPr>
        <p:spPr>
          <a:xfrm>
            <a:off x="2640330" y="2075688"/>
            <a:ext cx="1771650" cy="676656"/>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06  </a:t>
            </a:r>
            <a:pPr indent="0" marL="0">
              <a:buNone/>
            </a:pPr>
            <a:r>
              <a:rPr lang="en-US" sz="1000" b="1" dirty="0">
                <a:solidFill>
                  <a:srgbClr val="C9D5EE"/>
                </a:solidFill>
                <a:latin typeface="Arial" pitchFamily="34" charset="0"/>
                <a:ea typeface="Arial" pitchFamily="34" charset="-122"/>
                <a:cs typeface="Arial" pitchFamily="34" charset="-120"/>
              </a:rPr>
              <a:t>3:1–5</a:t>
            </a:r>
            <a:endParaRPr lang="en-US" sz="1200" dirty="0"/>
          </a:p>
          <a:p>
            <a:pPr indent="0" marL="0">
              <a:buNone/>
            </a:pPr>
            <a:r>
              <a:rPr lang="en-US" sz="1050" b="1" dirty="0">
                <a:solidFill>
                  <a:srgbClr val="FFFFFF"/>
                </a:solidFill>
                <a:latin typeface="Arial" pitchFamily="34" charset="0"/>
                <a:ea typeface="Arial" pitchFamily="34" charset="-122"/>
                <a:cs typeface="Arial" pitchFamily="34" charset="-120"/>
              </a:rPr>
              <a:t>Under a Spell</a:t>
            </a:r>
            <a:endParaRPr lang="en-US" sz="1200" dirty="0"/>
          </a:p>
        </p:txBody>
      </p:sp>
      <p:sp>
        <p:nvSpPr>
          <p:cNvPr id="17" name="Shape 14"/>
          <p:cNvSpPr/>
          <p:nvPr/>
        </p:nvSpPr>
        <p:spPr>
          <a:xfrm>
            <a:off x="4640580" y="2020824"/>
            <a:ext cx="1954530" cy="786384"/>
          </a:xfrm>
          <a:prstGeom prst="rect">
            <a:avLst/>
          </a:prstGeom>
          <a:solidFill>
            <a:srgbClr val="F2F6FC"/>
          </a:solidFill>
          <a:ln w="9525">
            <a:solidFill>
              <a:srgbClr val="D5DCEA"/>
            </a:solidFill>
            <a:prstDash val="solid"/>
          </a:ln>
        </p:spPr>
      </p:sp>
      <p:sp>
        <p:nvSpPr>
          <p:cNvPr id="18" name="Text 15"/>
          <p:cNvSpPr txBox="1"/>
          <p:nvPr/>
        </p:nvSpPr>
        <p:spPr>
          <a:xfrm>
            <a:off x="473202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07  </a:t>
            </a:r>
            <a:pPr indent="0" marL="0">
              <a:buNone/>
            </a:pPr>
            <a:r>
              <a:rPr lang="en-US" sz="1000" b="1" dirty="0">
                <a:solidFill>
                  <a:srgbClr val="595959"/>
                </a:solidFill>
                <a:latin typeface="Arial" pitchFamily="34" charset="0"/>
                <a:ea typeface="Arial" pitchFamily="34" charset="-122"/>
                <a:cs typeface="Arial" pitchFamily="34" charset="-120"/>
              </a:rPr>
              <a:t>3:6–14</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Blessing or a Curse</a:t>
            </a:r>
            <a:endParaRPr lang="en-US" sz="1200" dirty="0"/>
          </a:p>
        </p:txBody>
      </p:sp>
      <p:sp>
        <p:nvSpPr>
          <p:cNvPr id="19" name="Shape 16"/>
          <p:cNvSpPr/>
          <p:nvPr/>
        </p:nvSpPr>
        <p:spPr>
          <a:xfrm>
            <a:off x="6732270" y="2020824"/>
            <a:ext cx="1954530" cy="786384"/>
          </a:xfrm>
          <a:prstGeom prst="rect">
            <a:avLst/>
          </a:prstGeom>
          <a:solidFill>
            <a:srgbClr val="F2F6FC"/>
          </a:solidFill>
          <a:ln w="9525">
            <a:solidFill>
              <a:srgbClr val="D5DCEA"/>
            </a:solidFill>
            <a:prstDash val="solid"/>
          </a:ln>
        </p:spPr>
      </p:sp>
      <p:sp>
        <p:nvSpPr>
          <p:cNvPr id="20" name="Text 17"/>
          <p:cNvSpPr txBox="1"/>
          <p:nvPr/>
        </p:nvSpPr>
        <p:spPr>
          <a:xfrm>
            <a:off x="682371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08  </a:t>
            </a:r>
            <a:pPr indent="0" marL="0">
              <a:buNone/>
            </a:pPr>
            <a:r>
              <a:rPr lang="en-US" sz="1000" b="1" dirty="0">
                <a:solidFill>
                  <a:srgbClr val="595959"/>
                </a:solidFill>
                <a:latin typeface="Arial" pitchFamily="34" charset="0"/>
                <a:ea typeface="Arial" pitchFamily="34" charset="-122"/>
                <a:cs typeface="Arial" pitchFamily="34" charset="-120"/>
              </a:rPr>
              <a:t>3:15–29</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The Superiority of the Promise to the Law</a:t>
            </a:r>
            <a:endParaRPr lang="en-US" sz="1200" dirty="0"/>
          </a:p>
        </p:txBody>
      </p:sp>
      <p:sp>
        <p:nvSpPr>
          <p:cNvPr id="21" name="Shape 18"/>
          <p:cNvSpPr/>
          <p:nvPr/>
        </p:nvSpPr>
        <p:spPr>
          <a:xfrm>
            <a:off x="457200" y="2926080"/>
            <a:ext cx="1954530" cy="786384"/>
          </a:xfrm>
          <a:prstGeom prst="rect">
            <a:avLst/>
          </a:prstGeom>
          <a:solidFill>
            <a:srgbClr val="F2F6FC"/>
          </a:solidFill>
          <a:ln w="9525">
            <a:solidFill>
              <a:srgbClr val="D5DCEA"/>
            </a:solidFill>
            <a:prstDash val="solid"/>
          </a:ln>
        </p:spPr>
      </p:sp>
      <p:sp>
        <p:nvSpPr>
          <p:cNvPr id="22" name="Text 19"/>
          <p:cNvSpPr txBox="1"/>
          <p:nvPr/>
        </p:nvSpPr>
        <p:spPr>
          <a:xfrm>
            <a:off x="54864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09  </a:t>
            </a:r>
            <a:pPr indent="0" marL="0">
              <a:buNone/>
            </a:pPr>
            <a:r>
              <a:rPr lang="en-US" sz="1000" b="1" dirty="0">
                <a:solidFill>
                  <a:srgbClr val="595959"/>
                </a:solidFill>
                <a:latin typeface="Arial" pitchFamily="34" charset="0"/>
                <a:ea typeface="Arial" pitchFamily="34" charset="-122"/>
                <a:cs typeface="Arial" pitchFamily="34" charset="-120"/>
              </a:rPr>
              <a:t>4:1–11</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When I Became a Man</a:t>
            </a:r>
            <a:endParaRPr lang="en-US" sz="1200" dirty="0"/>
          </a:p>
        </p:txBody>
      </p:sp>
      <p:sp>
        <p:nvSpPr>
          <p:cNvPr id="23" name="Shape 20"/>
          <p:cNvSpPr/>
          <p:nvPr/>
        </p:nvSpPr>
        <p:spPr>
          <a:xfrm>
            <a:off x="2548890" y="2926080"/>
            <a:ext cx="1954530" cy="786384"/>
          </a:xfrm>
          <a:prstGeom prst="rect">
            <a:avLst/>
          </a:prstGeom>
          <a:solidFill>
            <a:srgbClr val="F2F6FC"/>
          </a:solidFill>
          <a:ln w="9525">
            <a:solidFill>
              <a:srgbClr val="D5DCEA"/>
            </a:solidFill>
            <a:prstDash val="solid"/>
          </a:ln>
        </p:spPr>
      </p:sp>
      <p:sp>
        <p:nvSpPr>
          <p:cNvPr id="24" name="Text 21"/>
          <p:cNvSpPr txBox="1"/>
          <p:nvPr/>
        </p:nvSpPr>
        <p:spPr>
          <a:xfrm>
            <a:off x="264033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10  </a:t>
            </a:r>
            <a:pPr indent="0" marL="0">
              <a:buNone/>
            </a:pPr>
            <a:r>
              <a:rPr lang="en-US" sz="1000" b="1" dirty="0">
                <a:solidFill>
                  <a:srgbClr val="595959"/>
                </a:solidFill>
                <a:latin typeface="Arial" pitchFamily="34" charset="0"/>
                <a:ea typeface="Arial" pitchFamily="34" charset="-122"/>
                <a:cs typeface="Arial" pitchFamily="34" charset="-120"/>
              </a:rPr>
              <a:t>4:12–20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A Steel Fist in a Velvet Glove</a:t>
            </a:r>
            <a:endParaRPr lang="en-US" sz="1200" dirty="0"/>
          </a:p>
        </p:txBody>
      </p:sp>
      <p:sp>
        <p:nvSpPr>
          <p:cNvPr id="25" name="Shape 22"/>
          <p:cNvSpPr/>
          <p:nvPr/>
        </p:nvSpPr>
        <p:spPr>
          <a:xfrm>
            <a:off x="4640580" y="2926080"/>
            <a:ext cx="1954530" cy="786384"/>
          </a:xfrm>
          <a:prstGeom prst="rect">
            <a:avLst/>
          </a:prstGeom>
          <a:solidFill>
            <a:srgbClr val="F2F6FC"/>
          </a:solidFill>
          <a:ln w="9525">
            <a:solidFill>
              <a:srgbClr val="D5DCEA"/>
            </a:solidFill>
            <a:prstDash val="solid"/>
          </a:ln>
        </p:spPr>
      </p:sp>
      <p:sp>
        <p:nvSpPr>
          <p:cNvPr id="26" name="Text 23"/>
          <p:cNvSpPr txBox="1"/>
          <p:nvPr/>
        </p:nvSpPr>
        <p:spPr>
          <a:xfrm>
            <a:off x="473202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11  </a:t>
            </a:r>
            <a:pPr indent="0" marL="0">
              <a:buNone/>
            </a:pPr>
            <a:r>
              <a:rPr lang="en-US" sz="1000" b="1" dirty="0">
                <a:solidFill>
                  <a:srgbClr val="595959"/>
                </a:solidFill>
                <a:latin typeface="Arial" pitchFamily="34" charset="0"/>
                <a:ea typeface="Arial" pitchFamily="34" charset="-122"/>
                <a:cs typeface="Arial" pitchFamily="34" charset="-120"/>
              </a:rPr>
              <a:t>4:21–31</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Paul's Old Testament Story</a:t>
            </a:r>
            <a:endParaRPr lang="en-US" sz="1200" dirty="0"/>
          </a:p>
        </p:txBody>
      </p:sp>
      <p:sp>
        <p:nvSpPr>
          <p:cNvPr id="27" name="Shape 24"/>
          <p:cNvSpPr/>
          <p:nvPr/>
        </p:nvSpPr>
        <p:spPr>
          <a:xfrm>
            <a:off x="6732270" y="2926080"/>
            <a:ext cx="1954530" cy="786384"/>
          </a:xfrm>
          <a:prstGeom prst="rect">
            <a:avLst/>
          </a:prstGeom>
          <a:solidFill>
            <a:srgbClr val="F2F6FC"/>
          </a:solidFill>
          <a:ln w="9525">
            <a:solidFill>
              <a:srgbClr val="D5DCEA"/>
            </a:solidFill>
            <a:prstDash val="solid"/>
          </a:ln>
        </p:spPr>
      </p:sp>
      <p:sp>
        <p:nvSpPr>
          <p:cNvPr id="28" name="Text 25"/>
          <p:cNvSpPr txBox="1"/>
          <p:nvPr/>
        </p:nvSpPr>
        <p:spPr>
          <a:xfrm>
            <a:off x="682371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12  </a:t>
            </a:r>
            <a:pPr indent="0" marL="0">
              <a:buNone/>
            </a:pPr>
            <a:r>
              <a:rPr lang="en-US" sz="1000" b="1" dirty="0">
                <a:solidFill>
                  <a:srgbClr val="595959"/>
                </a:solidFill>
                <a:latin typeface="Arial" pitchFamily="34" charset="0"/>
                <a:ea typeface="Arial" pitchFamily="34" charset="-122"/>
                <a:cs typeface="Arial" pitchFamily="34" charset="-120"/>
              </a:rPr>
              <a:t>5:1–12</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Taking a Stand in Liberty</a:t>
            </a:r>
            <a:endParaRPr lang="en-US" sz="1200" dirty="0"/>
          </a:p>
        </p:txBody>
      </p:sp>
      <p:sp>
        <p:nvSpPr>
          <p:cNvPr id="29" name="Shape 26"/>
          <p:cNvSpPr/>
          <p:nvPr/>
        </p:nvSpPr>
        <p:spPr>
          <a:xfrm>
            <a:off x="457200" y="3831336"/>
            <a:ext cx="1954530" cy="786384"/>
          </a:xfrm>
          <a:prstGeom prst="rect">
            <a:avLst/>
          </a:prstGeom>
          <a:solidFill>
            <a:srgbClr val="F2F6FC"/>
          </a:solidFill>
          <a:ln w="9525">
            <a:solidFill>
              <a:srgbClr val="D5DCEA"/>
            </a:solidFill>
            <a:prstDash val="solid"/>
          </a:ln>
        </p:spPr>
      </p:sp>
      <p:sp>
        <p:nvSpPr>
          <p:cNvPr id="30" name="Text 27"/>
          <p:cNvSpPr txBox="1"/>
          <p:nvPr/>
        </p:nvSpPr>
        <p:spPr>
          <a:xfrm>
            <a:off x="54864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13  </a:t>
            </a:r>
            <a:pPr indent="0" marL="0">
              <a:buNone/>
            </a:pPr>
            <a:r>
              <a:rPr lang="en-US" sz="1000" b="1" dirty="0">
                <a:solidFill>
                  <a:srgbClr val="595959"/>
                </a:solidFill>
                <a:latin typeface="Arial" pitchFamily="34" charset="0"/>
                <a:ea typeface="Arial" pitchFamily="34" charset="-122"/>
                <a:cs typeface="Arial" pitchFamily="34" charset="-120"/>
              </a:rPr>
              <a:t>5:13–26</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Walk in the Spirit</a:t>
            </a:r>
            <a:endParaRPr lang="en-US" sz="1200" dirty="0"/>
          </a:p>
        </p:txBody>
      </p:sp>
      <p:sp>
        <p:nvSpPr>
          <p:cNvPr id="31" name="Shape 28"/>
          <p:cNvSpPr/>
          <p:nvPr/>
        </p:nvSpPr>
        <p:spPr>
          <a:xfrm>
            <a:off x="2548890" y="3831336"/>
            <a:ext cx="1954530" cy="786384"/>
          </a:xfrm>
          <a:prstGeom prst="rect">
            <a:avLst/>
          </a:prstGeom>
          <a:solidFill>
            <a:srgbClr val="F2F6FC"/>
          </a:solidFill>
          <a:ln w="9525">
            <a:solidFill>
              <a:srgbClr val="D5DCEA"/>
            </a:solidFill>
            <a:prstDash val="solid"/>
          </a:ln>
        </p:spPr>
      </p:sp>
      <p:sp>
        <p:nvSpPr>
          <p:cNvPr id="32" name="Text 29"/>
          <p:cNvSpPr txBox="1"/>
          <p:nvPr/>
        </p:nvSpPr>
        <p:spPr>
          <a:xfrm>
            <a:off x="264033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14  </a:t>
            </a:r>
            <a:pPr indent="0" marL="0">
              <a:buNone/>
            </a:pPr>
            <a:r>
              <a:rPr lang="en-US" sz="1000" b="1" dirty="0">
                <a:solidFill>
                  <a:srgbClr val="595959"/>
                </a:solidFill>
                <a:latin typeface="Arial" pitchFamily="34" charset="0"/>
                <a:ea typeface="Arial" pitchFamily="34" charset="-122"/>
                <a:cs typeface="Arial" pitchFamily="34" charset="-120"/>
              </a:rPr>
              <a:t>6:1–5</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Brothers and Burdens</a:t>
            </a:r>
            <a:endParaRPr lang="en-US" sz="1200" dirty="0"/>
          </a:p>
        </p:txBody>
      </p:sp>
      <p:sp>
        <p:nvSpPr>
          <p:cNvPr id="33" name="Shape 30"/>
          <p:cNvSpPr/>
          <p:nvPr/>
        </p:nvSpPr>
        <p:spPr>
          <a:xfrm>
            <a:off x="4640580" y="3831336"/>
            <a:ext cx="1954530" cy="786384"/>
          </a:xfrm>
          <a:prstGeom prst="rect">
            <a:avLst/>
          </a:prstGeom>
          <a:solidFill>
            <a:srgbClr val="F2F6FC"/>
          </a:solidFill>
          <a:ln w="9525">
            <a:solidFill>
              <a:srgbClr val="D5DCEA"/>
            </a:solidFill>
            <a:prstDash val="solid"/>
          </a:ln>
        </p:spPr>
      </p:sp>
      <p:sp>
        <p:nvSpPr>
          <p:cNvPr id="34" name="Text 31"/>
          <p:cNvSpPr txBox="1"/>
          <p:nvPr/>
        </p:nvSpPr>
        <p:spPr>
          <a:xfrm>
            <a:off x="473202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15  </a:t>
            </a:r>
            <a:pPr indent="0" marL="0">
              <a:buNone/>
            </a:pPr>
            <a:r>
              <a:rPr lang="en-US" sz="1000" b="1" dirty="0">
                <a:solidFill>
                  <a:srgbClr val="595959"/>
                </a:solidFill>
                <a:latin typeface="Arial" pitchFamily="34" charset="0"/>
                <a:ea typeface="Arial" pitchFamily="34" charset="-122"/>
                <a:cs typeface="Arial" pitchFamily="34" charset="-120"/>
              </a:rPr>
              <a:t>6:6–10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Sowing and Reaping</a:t>
            </a:r>
            <a:endParaRPr lang="en-US" sz="1200" dirty="0"/>
          </a:p>
        </p:txBody>
      </p:sp>
      <p:sp>
        <p:nvSpPr>
          <p:cNvPr id="35" name="Shape 32"/>
          <p:cNvSpPr/>
          <p:nvPr/>
        </p:nvSpPr>
        <p:spPr>
          <a:xfrm>
            <a:off x="6732270" y="3831336"/>
            <a:ext cx="1954530" cy="786384"/>
          </a:xfrm>
          <a:prstGeom prst="rect">
            <a:avLst/>
          </a:prstGeom>
          <a:solidFill>
            <a:srgbClr val="F2F6FC"/>
          </a:solidFill>
          <a:ln w="9525">
            <a:solidFill>
              <a:srgbClr val="D5DCEA"/>
            </a:solidFill>
            <a:prstDash val="solid"/>
          </a:ln>
        </p:spPr>
      </p:sp>
      <p:sp>
        <p:nvSpPr>
          <p:cNvPr id="36" name="Text 33"/>
          <p:cNvSpPr txBox="1"/>
          <p:nvPr/>
        </p:nvSpPr>
        <p:spPr>
          <a:xfrm>
            <a:off x="682371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16  </a:t>
            </a:r>
            <a:pPr indent="0" marL="0">
              <a:buNone/>
            </a:pPr>
            <a:r>
              <a:rPr lang="en-US" sz="1000" b="1" dirty="0">
                <a:solidFill>
                  <a:srgbClr val="595959"/>
                </a:solidFill>
                <a:latin typeface="Arial" pitchFamily="34" charset="0"/>
                <a:ea typeface="Arial" pitchFamily="34" charset="-122"/>
                <a:cs typeface="Arial" pitchFamily="34" charset="-120"/>
              </a:rPr>
              <a:t>6:11–18</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Teaching the Truth</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Five questions for foolish Galatians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3:1–5 · The commentary's outline</a:t>
            </a:r>
            <a:endParaRPr lang="en-US" sz="1200" dirty="0"/>
          </a:p>
        </p:txBody>
      </p:sp>
      <p:sp>
        <p:nvSpPr>
          <p:cNvPr id="5" name="Shape 2"/>
          <p:cNvSpPr/>
          <p:nvPr/>
        </p:nvSpPr>
        <p:spPr>
          <a:xfrm>
            <a:off x="457200" y="1115568"/>
            <a:ext cx="777240" cy="548640"/>
          </a:xfrm>
          <a:prstGeom prst="rect">
            <a:avLst/>
          </a:prstGeom>
          <a:solidFill>
            <a:srgbClr val="2E5496"/>
          </a:solidFill>
          <a:ln w="12700">
            <a:solidFill>
              <a:srgbClr val="2E5496"/>
            </a:solidFill>
            <a:prstDash val="solid"/>
          </a:ln>
        </p:spPr>
      </p:sp>
      <p:sp>
        <p:nvSpPr>
          <p:cNvPr id="6" name="Text 3"/>
          <p:cNvSpPr txBox="1"/>
          <p:nvPr/>
        </p:nvSpPr>
        <p:spPr>
          <a:xfrm>
            <a:off x="457200" y="1115568"/>
            <a:ext cx="7772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a:t>
            </a:r>
            <a:endParaRPr lang="en-US" sz="1100" dirty="0"/>
          </a:p>
        </p:txBody>
      </p:sp>
      <p:sp>
        <p:nvSpPr>
          <p:cNvPr id="7" name="Shape 4"/>
          <p:cNvSpPr/>
          <p:nvPr/>
        </p:nvSpPr>
        <p:spPr>
          <a:xfrm>
            <a:off x="1234440" y="1115568"/>
            <a:ext cx="7452360" cy="548640"/>
          </a:xfrm>
          <a:prstGeom prst="rect">
            <a:avLst/>
          </a:prstGeom>
          <a:solidFill>
            <a:srgbClr val="F2F6FC"/>
          </a:solidFill>
          <a:ln w="9525">
            <a:solidFill>
              <a:srgbClr val="D5DCEA"/>
            </a:solidFill>
            <a:prstDash val="solid"/>
          </a:ln>
        </p:spPr>
      </p:sp>
      <p:sp>
        <p:nvSpPr>
          <p:cNvPr id="8" name="Text 5"/>
          <p:cNvSpPr txBox="1"/>
          <p:nvPr/>
        </p:nvSpPr>
        <p:spPr>
          <a:xfrm>
            <a:off x="1344168" y="1115568"/>
            <a:ext cx="429768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Precedence — Christ crucified was placarded before them by grace first</a:t>
            </a:r>
            <a:endParaRPr lang="en-US" sz="1200" dirty="0"/>
          </a:p>
        </p:txBody>
      </p:sp>
      <p:sp>
        <p:nvSpPr>
          <p:cNvPr id="9" name="Text 6"/>
          <p:cNvSpPr txBox="1"/>
          <p:nvPr/>
        </p:nvSpPr>
        <p:spPr>
          <a:xfrm>
            <a:off x="5715000" y="1115568"/>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προεγράφη</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posted up publicly</a:t>
            </a:r>
            <a:endParaRPr lang="en-US" sz="1200" dirty="0"/>
          </a:p>
        </p:txBody>
      </p:sp>
      <p:sp>
        <p:nvSpPr>
          <p:cNvPr id="10" name="Shape 7"/>
          <p:cNvSpPr/>
          <p:nvPr/>
        </p:nvSpPr>
        <p:spPr>
          <a:xfrm>
            <a:off x="457200" y="1728216"/>
            <a:ext cx="777240" cy="548640"/>
          </a:xfrm>
          <a:prstGeom prst="rect">
            <a:avLst/>
          </a:prstGeom>
          <a:solidFill>
            <a:srgbClr val="2E5496"/>
          </a:solidFill>
          <a:ln w="12700">
            <a:solidFill>
              <a:srgbClr val="2E5496"/>
            </a:solidFill>
            <a:prstDash val="solid"/>
          </a:ln>
        </p:spPr>
      </p:sp>
      <p:sp>
        <p:nvSpPr>
          <p:cNvPr id="11" name="Text 8"/>
          <p:cNvSpPr txBox="1"/>
          <p:nvPr/>
        </p:nvSpPr>
        <p:spPr>
          <a:xfrm>
            <a:off x="457200" y="1728216"/>
            <a:ext cx="7772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a:t>
            </a:r>
            <a:endParaRPr lang="en-US" sz="1100" dirty="0"/>
          </a:p>
        </p:txBody>
      </p:sp>
      <p:sp>
        <p:nvSpPr>
          <p:cNvPr id="12" name="Shape 9"/>
          <p:cNvSpPr/>
          <p:nvPr/>
        </p:nvSpPr>
        <p:spPr>
          <a:xfrm>
            <a:off x="1234440" y="1728216"/>
            <a:ext cx="7452360" cy="548640"/>
          </a:xfrm>
          <a:prstGeom prst="rect">
            <a:avLst/>
          </a:prstGeom>
          <a:solidFill>
            <a:srgbClr val="FFFFFF"/>
          </a:solidFill>
          <a:ln w="9525">
            <a:solidFill>
              <a:srgbClr val="D5DCEA"/>
            </a:solidFill>
            <a:prstDash val="solid"/>
          </a:ln>
        </p:spPr>
      </p:sp>
      <p:sp>
        <p:nvSpPr>
          <p:cNvPr id="13" name="Text 10"/>
          <p:cNvSpPr txBox="1"/>
          <p:nvPr/>
        </p:nvSpPr>
        <p:spPr>
          <a:xfrm>
            <a:off x="1344168" y="1728216"/>
            <a:ext cx="429768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Procedure — they received the Spirit by the hearing of faith</a:t>
            </a:r>
            <a:endParaRPr lang="en-US" sz="1200" dirty="0"/>
          </a:p>
        </p:txBody>
      </p:sp>
      <p:sp>
        <p:nvSpPr>
          <p:cNvPr id="14" name="Text 11"/>
          <p:cNvSpPr txBox="1"/>
          <p:nvPr/>
        </p:nvSpPr>
        <p:spPr>
          <a:xfrm>
            <a:off x="5715000" y="1728216"/>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ἀκοῆς πίστεως</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faith from what is heard</a:t>
            </a:r>
            <a:endParaRPr lang="en-US" sz="1200" dirty="0"/>
          </a:p>
        </p:txBody>
      </p:sp>
      <p:sp>
        <p:nvSpPr>
          <p:cNvPr id="15" name="Shape 12"/>
          <p:cNvSpPr/>
          <p:nvPr/>
        </p:nvSpPr>
        <p:spPr>
          <a:xfrm>
            <a:off x="457200" y="2340864"/>
            <a:ext cx="777240" cy="548640"/>
          </a:xfrm>
          <a:prstGeom prst="rect">
            <a:avLst/>
          </a:prstGeom>
          <a:solidFill>
            <a:srgbClr val="2E5496"/>
          </a:solidFill>
          <a:ln w="12700">
            <a:solidFill>
              <a:srgbClr val="2E5496"/>
            </a:solidFill>
            <a:prstDash val="solid"/>
          </a:ln>
        </p:spPr>
      </p:sp>
      <p:sp>
        <p:nvSpPr>
          <p:cNvPr id="16" name="Text 13"/>
          <p:cNvSpPr txBox="1"/>
          <p:nvPr/>
        </p:nvSpPr>
        <p:spPr>
          <a:xfrm>
            <a:off x="457200" y="2340864"/>
            <a:ext cx="7772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v.3</a:t>
            </a:r>
            <a:endParaRPr lang="en-US" sz="1100" dirty="0"/>
          </a:p>
        </p:txBody>
      </p:sp>
      <p:sp>
        <p:nvSpPr>
          <p:cNvPr id="17" name="Shape 14"/>
          <p:cNvSpPr/>
          <p:nvPr/>
        </p:nvSpPr>
        <p:spPr>
          <a:xfrm>
            <a:off x="1234440" y="2340864"/>
            <a:ext cx="7452360" cy="548640"/>
          </a:xfrm>
          <a:prstGeom prst="rect">
            <a:avLst/>
          </a:prstGeom>
          <a:solidFill>
            <a:srgbClr val="F2F6FC"/>
          </a:solidFill>
          <a:ln w="9525">
            <a:solidFill>
              <a:srgbClr val="D5DCEA"/>
            </a:solidFill>
            <a:prstDash val="solid"/>
          </a:ln>
        </p:spPr>
      </p:sp>
      <p:sp>
        <p:nvSpPr>
          <p:cNvPr id="18" name="Text 15"/>
          <p:cNvSpPr txBox="1"/>
          <p:nvPr/>
        </p:nvSpPr>
        <p:spPr>
          <a:xfrm>
            <a:off x="1344168" y="2340864"/>
            <a:ext cx="429768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Perfection — begun by the Spirit, not finished by the flesh</a:t>
            </a:r>
            <a:endParaRPr lang="en-US" sz="1200" dirty="0"/>
          </a:p>
        </p:txBody>
      </p:sp>
      <p:sp>
        <p:nvSpPr>
          <p:cNvPr id="19" name="Text 16"/>
          <p:cNvSpPr txBox="1"/>
          <p:nvPr/>
        </p:nvSpPr>
        <p:spPr>
          <a:xfrm>
            <a:off x="5715000" y="2340864"/>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ἐπιτελεῖσθε</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being made complete</a:t>
            </a:r>
            <a:endParaRPr lang="en-US" sz="1200" dirty="0"/>
          </a:p>
        </p:txBody>
      </p:sp>
      <p:sp>
        <p:nvSpPr>
          <p:cNvPr id="20" name="Shape 17"/>
          <p:cNvSpPr/>
          <p:nvPr/>
        </p:nvSpPr>
        <p:spPr>
          <a:xfrm>
            <a:off x="457200" y="2953512"/>
            <a:ext cx="777240" cy="548640"/>
          </a:xfrm>
          <a:prstGeom prst="rect">
            <a:avLst/>
          </a:prstGeom>
          <a:solidFill>
            <a:srgbClr val="2E5496"/>
          </a:solidFill>
          <a:ln w="12700">
            <a:solidFill>
              <a:srgbClr val="2E5496"/>
            </a:solidFill>
            <a:prstDash val="solid"/>
          </a:ln>
        </p:spPr>
      </p:sp>
      <p:sp>
        <p:nvSpPr>
          <p:cNvPr id="21" name="Text 18"/>
          <p:cNvSpPr txBox="1"/>
          <p:nvPr/>
        </p:nvSpPr>
        <p:spPr>
          <a:xfrm>
            <a:off x="457200" y="2953512"/>
            <a:ext cx="7772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v.4</a:t>
            </a:r>
            <a:endParaRPr lang="en-US" sz="1100" dirty="0"/>
          </a:p>
        </p:txBody>
      </p:sp>
      <p:sp>
        <p:nvSpPr>
          <p:cNvPr id="22" name="Shape 19"/>
          <p:cNvSpPr/>
          <p:nvPr/>
        </p:nvSpPr>
        <p:spPr>
          <a:xfrm>
            <a:off x="1234440" y="2953512"/>
            <a:ext cx="7452360" cy="548640"/>
          </a:xfrm>
          <a:prstGeom prst="rect">
            <a:avLst/>
          </a:prstGeom>
          <a:solidFill>
            <a:srgbClr val="FFFFFF"/>
          </a:solidFill>
          <a:ln w="9525">
            <a:solidFill>
              <a:srgbClr val="D5DCEA"/>
            </a:solidFill>
            <a:prstDash val="solid"/>
          </a:ln>
        </p:spPr>
      </p:sp>
      <p:sp>
        <p:nvSpPr>
          <p:cNvPr id="23" name="Text 20"/>
          <p:cNvSpPr txBox="1"/>
          <p:nvPr/>
        </p:nvSpPr>
        <p:spPr>
          <a:xfrm>
            <a:off x="1344168" y="2953512"/>
            <a:ext cx="429768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Persecution — returning to law would empty their suffering of meaning</a:t>
            </a:r>
            <a:endParaRPr lang="en-US" sz="1200" dirty="0"/>
          </a:p>
        </p:txBody>
      </p:sp>
      <p:sp>
        <p:nvSpPr>
          <p:cNvPr id="24" name="Text 21"/>
          <p:cNvSpPr txBox="1"/>
          <p:nvPr/>
        </p:nvSpPr>
        <p:spPr>
          <a:xfrm>
            <a:off x="5715000" y="2953512"/>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εἰκῇ</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in vain, to no purpose</a:t>
            </a:r>
            <a:endParaRPr lang="en-US" sz="1200" dirty="0"/>
          </a:p>
        </p:txBody>
      </p:sp>
      <p:sp>
        <p:nvSpPr>
          <p:cNvPr id="25" name="Shape 22"/>
          <p:cNvSpPr/>
          <p:nvPr/>
        </p:nvSpPr>
        <p:spPr>
          <a:xfrm>
            <a:off x="457200" y="3566160"/>
            <a:ext cx="777240" cy="548640"/>
          </a:xfrm>
          <a:prstGeom prst="rect">
            <a:avLst/>
          </a:prstGeom>
          <a:solidFill>
            <a:srgbClr val="375623"/>
          </a:solidFill>
          <a:ln w="12700">
            <a:solidFill>
              <a:srgbClr val="375623"/>
            </a:solidFill>
            <a:prstDash val="solid"/>
          </a:ln>
        </p:spPr>
      </p:sp>
      <p:sp>
        <p:nvSpPr>
          <p:cNvPr id="26" name="Text 23"/>
          <p:cNvSpPr txBox="1"/>
          <p:nvPr/>
        </p:nvSpPr>
        <p:spPr>
          <a:xfrm>
            <a:off x="457200" y="3566160"/>
            <a:ext cx="7772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v.5</a:t>
            </a:r>
            <a:endParaRPr lang="en-US" sz="1100" dirty="0"/>
          </a:p>
        </p:txBody>
      </p:sp>
      <p:sp>
        <p:nvSpPr>
          <p:cNvPr id="27" name="Shape 24"/>
          <p:cNvSpPr/>
          <p:nvPr/>
        </p:nvSpPr>
        <p:spPr>
          <a:xfrm>
            <a:off x="1234440" y="3566160"/>
            <a:ext cx="7452360" cy="548640"/>
          </a:xfrm>
          <a:prstGeom prst="rect">
            <a:avLst/>
          </a:prstGeom>
          <a:solidFill>
            <a:srgbClr val="F2F6FC"/>
          </a:solidFill>
          <a:ln w="9525">
            <a:solidFill>
              <a:srgbClr val="D5DCEA"/>
            </a:solidFill>
            <a:prstDash val="solid"/>
          </a:ln>
        </p:spPr>
      </p:sp>
      <p:sp>
        <p:nvSpPr>
          <p:cNvPr id="28" name="Text 25"/>
          <p:cNvSpPr txBox="1"/>
          <p:nvPr/>
        </p:nvSpPr>
        <p:spPr>
          <a:xfrm>
            <a:off x="1344168" y="3566160"/>
            <a:ext cx="429768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Promotion — the Spirit's supply and miracles came by faith</a:t>
            </a:r>
            <a:endParaRPr lang="en-US" sz="1200" dirty="0"/>
          </a:p>
        </p:txBody>
      </p:sp>
      <p:sp>
        <p:nvSpPr>
          <p:cNvPr id="29" name="Text 26"/>
          <p:cNvSpPr txBox="1"/>
          <p:nvPr/>
        </p:nvSpPr>
        <p:spPr>
          <a:xfrm>
            <a:off x="5715000" y="3566160"/>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ἐπιχορηγῶν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lavish, ongoing supply</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Foolish, bewitched — and Christ placarded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3:1 · Outline I — The precedence of Christianity</a:t>
            </a:r>
            <a:endParaRPr lang="en-US" sz="1200" dirty="0"/>
          </a:p>
        </p:txBody>
      </p:sp>
      <p:sp>
        <p:nvSpPr>
          <p:cNvPr id="5" name="Shape 2"/>
          <p:cNvSpPr/>
          <p:nvPr/>
        </p:nvSpPr>
        <p:spPr>
          <a:xfrm>
            <a:off x="457200" y="1143000"/>
            <a:ext cx="4018788" cy="1600200"/>
          </a:xfrm>
          <a:prstGeom prst="rect">
            <a:avLst/>
          </a:prstGeom>
          <a:solidFill>
            <a:srgbClr val="F2F6FC"/>
          </a:solidFill>
          <a:ln w="9525">
            <a:solidFill>
              <a:srgbClr val="D5DCEA"/>
            </a:solidFill>
            <a:prstDash val="solid"/>
          </a:ln>
        </p:spPr>
      </p:sp>
      <p:sp>
        <p:nvSpPr>
          <p:cNvPr id="6" name="Shape 3"/>
          <p:cNvSpPr/>
          <p:nvPr/>
        </p:nvSpPr>
        <p:spPr>
          <a:xfrm>
            <a:off x="585216" y="1271016"/>
            <a:ext cx="402336" cy="402336"/>
          </a:xfrm>
          <a:prstGeom prst="ellipse">
            <a:avLst/>
          </a:prstGeom>
          <a:solidFill>
            <a:srgbClr val="2E5496"/>
          </a:solidFill>
          <a:ln w="12700">
            <a:solidFill>
              <a:srgbClr val="2E5496"/>
            </a:solidFill>
            <a:prstDash val="solid"/>
          </a:ln>
        </p:spPr>
      </p:sp>
      <p:sp>
        <p:nvSpPr>
          <p:cNvPr id="7" name="Text 4"/>
          <p:cNvSpPr txBox="1"/>
          <p:nvPr/>
        </p:nvSpPr>
        <p:spPr>
          <a:xfrm>
            <a:off x="585216"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5"/>
          <p:cNvSpPr txBox="1"/>
          <p:nvPr/>
        </p:nvSpPr>
        <p:spPr>
          <a:xfrm>
            <a:off x="1078992" y="1252728"/>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“O foolish Galatians”</a:t>
            </a:r>
            <a:endParaRPr lang="en-US" sz="1200" dirty="0"/>
          </a:p>
        </p:txBody>
      </p:sp>
      <p:sp>
        <p:nvSpPr>
          <p:cNvPr id="9" name="Text 6"/>
          <p:cNvSpPr txBox="1"/>
          <p:nvPr/>
        </p:nvSpPr>
        <p:spPr>
          <a:xfrm>
            <a:off x="585216" y="1764792"/>
            <a:ext cx="3762756" cy="886968"/>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ἀνόητοι</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Not demented — simply not using the sense God gave them</a:t>
            </a:r>
            <a:endParaRPr lang="en-US" sz="1200" dirty="0"/>
          </a:p>
        </p:txBody>
      </p:sp>
      <p:sp>
        <p:nvSpPr>
          <p:cNvPr id="10" name="Shape 7"/>
          <p:cNvSpPr/>
          <p:nvPr/>
        </p:nvSpPr>
        <p:spPr>
          <a:xfrm>
            <a:off x="4668012" y="1143000"/>
            <a:ext cx="4018788" cy="1600200"/>
          </a:xfrm>
          <a:prstGeom prst="rect">
            <a:avLst/>
          </a:prstGeom>
          <a:solidFill>
            <a:srgbClr val="F2F6FC"/>
          </a:solidFill>
          <a:ln w="9525">
            <a:solidFill>
              <a:srgbClr val="D5DCEA"/>
            </a:solidFill>
            <a:prstDash val="solid"/>
          </a:ln>
        </p:spPr>
      </p:sp>
      <p:sp>
        <p:nvSpPr>
          <p:cNvPr id="11" name="Shape 8"/>
          <p:cNvSpPr/>
          <p:nvPr/>
        </p:nvSpPr>
        <p:spPr>
          <a:xfrm>
            <a:off x="4796028" y="1271016"/>
            <a:ext cx="402336" cy="402336"/>
          </a:xfrm>
          <a:prstGeom prst="ellipse">
            <a:avLst/>
          </a:prstGeom>
          <a:solidFill>
            <a:srgbClr val="2E5496"/>
          </a:solidFill>
          <a:ln w="12700">
            <a:solidFill>
              <a:srgbClr val="2E5496"/>
            </a:solidFill>
            <a:prstDash val="solid"/>
          </a:ln>
        </p:spPr>
      </p:sp>
      <p:sp>
        <p:nvSpPr>
          <p:cNvPr id="12" name="Text 9"/>
          <p:cNvSpPr txBox="1"/>
          <p:nvPr/>
        </p:nvSpPr>
        <p:spPr>
          <a:xfrm>
            <a:off x="4796028" y="12710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Text 10"/>
          <p:cNvSpPr txBox="1"/>
          <p:nvPr/>
        </p:nvSpPr>
        <p:spPr>
          <a:xfrm>
            <a:off x="5289804" y="1252728"/>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“Who has bewitched you?”</a:t>
            </a:r>
            <a:endParaRPr lang="en-US" sz="1200" dirty="0"/>
          </a:p>
        </p:txBody>
      </p:sp>
      <p:sp>
        <p:nvSpPr>
          <p:cNvPr id="14" name="Text 11"/>
          <p:cNvSpPr txBox="1"/>
          <p:nvPr/>
        </p:nvSpPr>
        <p:spPr>
          <a:xfrm>
            <a:off x="4796028" y="1764792"/>
            <a:ext cx="3762756" cy="886968"/>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ἐβάσκανεν</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Hyperbole: who put a hex on you? Their turn made no sense</a:t>
            </a:r>
            <a:endParaRPr lang="en-US" sz="1200" dirty="0"/>
          </a:p>
        </p:txBody>
      </p:sp>
      <p:sp>
        <p:nvSpPr>
          <p:cNvPr id="15" name="Shape 12"/>
          <p:cNvSpPr/>
          <p:nvPr/>
        </p:nvSpPr>
        <p:spPr>
          <a:xfrm>
            <a:off x="457200" y="2907792"/>
            <a:ext cx="4018788" cy="1600200"/>
          </a:xfrm>
          <a:prstGeom prst="rect">
            <a:avLst/>
          </a:prstGeom>
          <a:solidFill>
            <a:srgbClr val="F2F6FC"/>
          </a:solidFill>
          <a:ln w="9525">
            <a:solidFill>
              <a:srgbClr val="D5DCEA"/>
            </a:solidFill>
            <a:prstDash val="solid"/>
          </a:ln>
        </p:spPr>
      </p:sp>
      <p:sp>
        <p:nvSpPr>
          <p:cNvPr id="16" name="Shape 13"/>
          <p:cNvSpPr/>
          <p:nvPr/>
        </p:nvSpPr>
        <p:spPr>
          <a:xfrm>
            <a:off x="585216" y="3035808"/>
            <a:ext cx="402336" cy="402336"/>
          </a:xfrm>
          <a:prstGeom prst="ellipse">
            <a:avLst/>
          </a:prstGeom>
          <a:solidFill>
            <a:srgbClr val="375623"/>
          </a:solidFill>
          <a:ln w="12700">
            <a:solidFill>
              <a:srgbClr val="375623"/>
            </a:solidFill>
            <a:prstDash val="solid"/>
          </a:ln>
        </p:spPr>
      </p:sp>
      <p:sp>
        <p:nvSpPr>
          <p:cNvPr id="17" name="Text 14"/>
          <p:cNvSpPr txBox="1"/>
          <p:nvPr/>
        </p:nvSpPr>
        <p:spPr>
          <a:xfrm>
            <a:off x="585216" y="303580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8" name="Text 15"/>
          <p:cNvSpPr txBox="1"/>
          <p:nvPr/>
        </p:nvSpPr>
        <p:spPr>
          <a:xfrm>
            <a:off x="1078992" y="3017520"/>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“Clearly portrayed”</a:t>
            </a:r>
            <a:endParaRPr lang="en-US" sz="1200" dirty="0"/>
          </a:p>
        </p:txBody>
      </p:sp>
      <p:sp>
        <p:nvSpPr>
          <p:cNvPr id="19" name="Text 16"/>
          <p:cNvSpPr txBox="1"/>
          <p:nvPr/>
        </p:nvSpPr>
        <p:spPr>
          <a:xfrm>
            <a:off x="585216" y="3529584"/>
            <a:ext cx="3762756" cy="886968"/>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προεγράφη</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Posted publicly, like a placard — in preaching, baptism and the Table</a:t>
            </a:r>
            <a:endParaRPr lang="en-US" sz="1200" dirty="0"/>
          </a:p>
        </p:txBody>
      </p:sp>
      <p:sp>
        <p:nvSpPr>
          <p:cNvPr id="20" name="Shape 17"/>
          <p:cNvSpPr/>
          <p:nvPr/>
        </p:nvSpPr>
        <p:spPr>
          <a:xfrm>
            <a:off x="4668012" y="2907792"/>
            <a:ext cx="4018788" cy="1600200"/>
          </a:xfrm>
          <a:prstGeom prst="rect">
            <a:avLst/>
          </a:prstGeom>
          <a:solidFill>
            <a:srgbClr val="F2F6FC"/>
          </a:solidFill>
          <a:ln w="9525">
            <a:solidFill>
              <a:srgbClr val="D5DCEA"/>
            </a:solidFill>
            <a:prstDash val="solid"/>
          </a:ln>
        </p:spPr>
      </p:sp>
      <p:sp>
        <p:nvSpPr>
          <p:cNvPr id="21" name="Shape 18"/>
          <p:cNvSpPr/>
          <p:nvPr/>
        </p:nvSpPr>
        <p:spPr>
          <a:xfrm>
            <a:off x="4796028" y="3035808"/>
            <a:ext cx="402336" cy="402336"/>
          </a:xfrm>
          <a:prstGeom prst="ellipse">
            <a:avLst/>
          </a:prstGeom>
          <a:solidFill>
            <a:srgbClr val="375623"/>
          </a:solidFill>
          <a:ln w="12700">
            <a:solidFill>
              <a:srgbClr val="375623"/>
            </a:solidFill>
            <a:prstDash val="solid"/>
          </a:ln>
        </p:spPr>
      </p:sp>
      <p:sp>
        <p:nvSpPr>
          <p:cNvPr id="22" name="Text 19"/>
          <p:cNvSpPr txBox="1"/>
          <p:nvPr/>
        </p:nvSpPr>
        <p:spPr>
          <a:xfrm>
            <a:off x="4796028" y="303580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3" name="Text 20"/>
          <p:cNvSpPr txBox="1"/>
          <p:nvPr/>
        </p:nvSpPr>
        <p:spPr>
          <a:xfrm>
            <a:off x="5289804" y="3017520"/>
            <a:ext cx="3305556" cy="43891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“As crucified”</a:t>
            </a:r>
            <a:endParaRPr lang="en-US" sz="1200" dirty="0"/>
          </a:p>
        </p:txBody>
      </p:sp>
      <p:sp>
        <p:nvSpPr>
          <p:cNvPr id="24" name="Text 21"/>
          <p:cNvSpPr txBox="1"/>
          <p:nvPr/>
        </p:nvSpPr>
        <p:spPr>
          <a:xfrm>
            <a:off x="4796028" y="3529584"/>
            <a:ext cx="3762756" cy="886968"/>
          </a:xfrm>
          <a:prstGeom prst="rect">
            <a:avLst/>
          </a:prstGeom>
          <a:noFill/>
          <a:ln/>
        </p:spPr>
        <p:txBody>
          <a:bodyPr wrap="square" lIns="0" tIns="0" rIns="0" bIns="0" rtlCol="0" anchor="t"/>
          <a:lstStyle/>
          <a:p>
            <a:pPr indent="0" marL="0">
              <a:buNone/>
            </a:pPr>
            <a:r>
              <a:rPr lang="en-US" sz="1250" b="1" dirty="0">
                <a:solidFill>
                  <a:srgbClr val="7030A0"/>
                </a:solidFill>
                <a:latin typeface="Arial" pitchFamily="34" charset="0"/>
                <a:ea typeface="Arial" pitchFamily="34" charset="-122"/>
                <a:cs typeface="Arial" pitchFamily="34" charset="-120"/>
              </a:rPr>
              <a:t>ἐσταυρωμένος</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Perfect participle — Christ stands permanently as the crucified One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How did you receive the Spirit?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3:2 · Outline II — The procedure of Christianity</a:t>
            </a:r>
            <a:endParaRPr lang="en-US" sz="1200" dirty="0"/>
          </a:p>
        </p:txBody>
      </p:sp>
      <p:sp>
        <p:nvSpPr>
          <p:cNvPr id="5" name="Shape 2"/>
          <p:cNvSpPr/>
          <p:nvPr/>
        </p:nvSpPr>
        <p:spPr>
          <a:xfrm>
            <a:off x="1828800" y="1143000"/>
            <a:ext cx="3383280" cy="384048"/>
          </a:xfrm>
          <a:prstGeom prst="rect">
            <a:avLst/>
          </a:prstGeom>
          <a:solidFill>
            <a:srgbClr val="6B7280"/>
          </a:solidFill>
          <a:ln w="12700">
            <a:solidFill>
              <a:srgbClr val="6B7280"/>
            </a:solidFill>
            <a:prstDash val="solid"/>
          </a:ln>
        </p:spPr>
      </p:sp>
      <p:sp>
        <p:nvSpPr>
          <p:cNvPr id="6" name="Text 3"/>
          <p:cNvSpPr txBox="1"/>
          <p:nvPr/>
        </p:nvSpPr>
        <p:spPr>
          <a:xfrm>
            <a:off x="1920240" y="1143000"/>
            <a:ext cx="324612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By the works of the law?</a:t>
            </a:r>
            <a:endParaRPr lang="en-US" sz="1250" dirty="0"/>
          </a:p>
        </p:txBody>
      </p:sp>
      <p:sp>
        <p:nvSpPr>
          <p:cNvPr id="7" name="Shape 4"/>
          <p:cNvSpPr/>
          <p:nvPr/>
        </p:nvSpPr>
        <p:spPr>
          <a:xfrm>
            <a:off x="5303520" y="1143000"/>
            <a:ext cx="3383280" cy="384048"/>
          </a:xfrm>
          <a:prstGeom prst="rect">
            <a:avLst/>
          </a:prstGeom>
          <a:solidFill>
            <a:srgbClr val="375623"/>
          </a:solidFill>
          <a:ln w="12700">
            <a:solidFill>
              <a:srgbClr val="375623"/>
            </a:solidFill>
            <a:prstDash val="solid"/>
          </a:ln>
        </p:spPr>
      </p:sp>
      <p:sp>
        <p:nvSpPr>
          <p:cNvPr id="8" name="Text 5"/>
          <p:cNvSpPr txBox="1"/>
          <p:nvPr/>
        </p:nvSpPr>
        <p:spPr>
          <a:xfrm>
            <a:off x="5349240" y="1143000"/>
            <a:ext cx="324612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By the hearing of faith ✓</a:t>
            </a:r>
            <a:endParaRPr lang="en-US" sz="1250" dirty="0"/>
          </a:p>
        </p:txBody>
      </p:sp>
      <p:sp>
        <p:nvSpPr>
          <p:cNvPr id="9" name="Text 6"/>
          <p:cNvSpPr txBox="1"/>
          <p:nvPr/>
        </p:nvSpPr>
        <p:spPr>
          <a:xfrm>
            <a:off x="457200" y="1581912"/>
            <a:ext cx="1280160" cy="621792"/>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What it is</a:t>
            </a:r>
            <a:endParaRPr lang="en-US" sz="1150" dirty="0"/>
          </a:p>
        </p:txBody>
      </p:sp>
      <p:sp>
        <p:nvSpPr>
          <p:cNvPr id="10" name="Shape 7"/>
          <p:cNvSpPr/>
          <p:nvPr/>
        </p:nvSpPr>
        <p:spPr>
          <a:xfrm>
            <a:off x="1828800" y="1581912"/>
            <a:ext cx="3383280" cy="621792"/>
          </a:xfrm>
          <a:prstGeom prst="rect">
            <a:avLst/>
          </a:prstGeom>
          <a:solidFill>
            <a:srgbClr val="F2F6FC"/>
          </a:solidFill>
          <a:ln w="9525">
            <a:solidFill>
              <a:srgbClr val="D5DCEA"/>
            </a:solidFill>
            <a:prstDash val="solid"/>
          </a:ln>
        </p:spPr>
      </p:sp>
      <p:sp>
        <p:nvSpPr>
          <p:cNvPr id="11" name="Text 8"/>
          <p:cNvSpPr txBox="1"/>
          <p:nvPr/>
        </p:nvSpPr>
        <p:spPr>
          <a:xfrm>
            <a:off x="1920240" y="1581912"/>
            <a:ext cx="3200400" cy="62179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Deeds done in obedience to the Mosaic code</a:t>
            </a:r>
            <a:endParaRPr lang="en-US" sz="1200" dirty="0"/>
          </a:p>
        </p:txBody>
      </p:sp>
      <p:sp>
        <p:nvSpPr>
          <p:cNvPr id="12" name="Shape 9"/>
          <p:cNvSpPr/>
          <p:nvPr/>
        </p:nvSpPr>
        <p:spPr>
          <a:xfrm>
            <a:off x="5303520" y="1581912"/>
            <a:ext cx="3383280" cy="621792"/>
          </a:xfrm>
          <a:prstGeom prst="rect">
            <a:avLst/>
          </a:prstGeom>
          <a:solidFill>
            <a:srgbClr val="F2F6FC"/>
          </a:solidFill>
          <a:ln w="9525">
            <a:solidFill>
              <a:srgbClr val="D5DCEA"/>
            </a:solidFill>
            <a:prstDash val="solid"/>
          </a:ln>
        </p:spPr>
      </p:sp>
      <p:sp>
        <p:nvSpPr>
          <p:cNvPr id="13" name="Text 10"/>
          <p:cNvSpPr txBox="1"/>
          <p:nvPr/>
        </p:nvSpPr>
        <p:spPr>
          <a:xfrm>
            <a:off x="5394960" y="1581912"/>
            <a:ext cx="3200400" cy="62179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Believing the message that was heard</a:t>
            </a:r>
            <a:endParaRPr lang="en-US" sz="1200" dirty="0"/>
          </a:p>
        </p:txBody>
      </p:sp>
      <p:sp>
        <p:nvSpPr>
          <p:cNvPr id="14" name="Text 11"/>
          <p:cNvSpPr txBox="1"/>
          <p:nvPr/>
        </p:nvSpPr>
        <p:spPr>
          <a:xfrm>
            <a:off x="457200" y="2258568"/>
            <a:ext cx="1280160" cy="621792"/>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Greek</a:t>
            </a:r>
            <a:endParaRPr lang="en-US" sz="1150" dirty="0"/>
          </a:p>
        </p:txBody>
      </p:sp>
      <p:sp>
        <p:nvSpPr>
          <p:cNvPr id="15" name="Shape 12"/>
          <p:cNvSpPr/>
          <p:nvPr/>
        </p:nvSpPr>
        <p:spPr>
          <a:xfrm>
            <a:off x="1828800" y="2258568"/>
            <a:ext cx="3383280" cy="621792"/>
          </a:xfrm>
          <a:prstGeom prst="rect">
            <a:avLst/>
          </a:prstGeom>
          <a:solidFill>
            <a:srgbClr val="F2F6FC"/>
          </a:solidFill>
          <a:ln w="9525">
            <a:solidFill>
              <a:srgbClr val="D5DCEA"/>
            </a:solidFill>
            <a:prstDash val="solid"/>
          </a:ln>
        </p:spPr>
      </p:sp>
      <p:sp>
        <p:nvSpPr>
          <p:cNvPr id="16" name="Text 13"/>
          <p:cNvSpPr txBox="1"/>
          <p:nvPr/>
        </p:nvSpPr>
        <p:spPr>
          <a:xfrm>
            <a:off x="1920240" y="2258568"/>
            <a:ext cx="3200400" cy="62179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ἔργων νόμου</a:t>
            </a:r>
            <a:endParaRPr lang="en-US" sz="1200" dirty="0"/>
          </a:p>
        </p:txBody>
      </p:sp>
      <p:sp>
        <p:nvSpPr>
          <p:cNvPr id="17" name="Shape 14"/>
          <p:cNvSpPr/>
          <p:nvPr/>
        </p:nvSpPr>
        <p:spPr>
          <a:xfrm>
            <a:off x="5303520" y="2258568"/>
            <a:ext cx="3383280" cy="621792"/>
          </a:xfrm>
          <a:prstGeom prst="rect">
            <a:avLst/>
          </a:prstGeom>
          <a:solidFill>
            <a:srgbClr val="F2F6FC"/>
          </a:solidFill>
          <a:ln w="9525">
            <a:solidFill>
              <a:srgbClr val="D5DCEA"/>
            </a:solidFill>
            <a:prstDash val="solid"/>
          </a:ln>
        </p:spPr>
      </p:sp>
      <p:sp>
        <p:nvSpPr>
          <p:cNvPr id="18" name="Text 15"/>
          <p:cNvSpPr txBox="1"/>
          <p:nvPr/>
        </p:nvSpPr>
        <p:spPr>
          <a:xfrm>
            <a:off x="5394960" y="2258568"/>
            <a:ext cx="3200400" cy="62179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ἀκοῆς πίστεως — faith arising from what is heard</a:t>
            </a:r>
            <a:endParaRPr lang="en-US" sz="1200" dirty="0"/>
          </a:p>
        </p:txBody>
      </p:sp>
      <p:sp>
        <p:nvSpPr>
          <p:cNvPr id="19" name="Text 16"/>
          <p:cNvSpPr txBox="1"/>
          <p:nvPr/>
        </p:nvSpPr>
        <p:spPr>
          <a:xfrm>
            <a:off x="457200" y="2935224"/>
            <a:ext cx="1280160" cy="621792"/>
          </a:xfrm>
          <a:prstGeom prst="rect">
            <a:avLst/>
          </a:prstGeom>
          <a:noFill/>
          <a:ln/>
        </p:spPr>
        <p:txBody>
          <a:bodyPr wrap="square" lIns="0" tIns="0" rIns="0" bIns="0" rtlCol="0" anchor="ctr"/>
          <a:lstStyle/>
          <a:p>
            <a:pPr indent="0" marL="0">
              <a:buNone/>
            </a:pPr>
            <a:r>
              <a:rPr lang="en-US" sz="1150" b="1" dirty="0">
                <a:solidFill>
                  <a:srgbClr val="1F3864"/>
                </a:solidFill>
                <a:latin typeface="Arial" pitchFamily="34" charset="0"/>
                <a:ea typeface="Arial" pitchFamily="34" charset="-122"/>
                <a:cs typeface="Arial" pitchFamily="34" charset="-120"/>
              </a:rPr>
              <a:t>The result</a:t>
            </a:r>
            <a:endParaRPr lang="en-US" sz="1150" dirty="0"/>
          </a:p>
        </p:txBody>
      </p:sp>
      <p:sp>
        <p:nvSpPr>
          <p:cNvPr id="20" name="Shape 17"/>
          <p:cNvSpPr/>
          <p:nvPr/>
        </p:nvSpPr>
        <p:spPr>
          <a:xfrm>
            <a:off x="1828800" y="2935224"/>
            <a:ext cx="3383280" cy="621792"/>
          </a:xfrm>
          <a:prstGeom prst="rect">
            <a:avLst/>
          </a:prstGeom>
          <a:solidFill>
            <a:srgbClr val="F2F6FC"/>
          </a:solidFill>
          <a:ln w="9525">
            <a:solidFill>
              <a:srgbClr val="D5DCEA"/>
            </a:solidFill>
            <a:prstDash val="solid"/>
          </a:ln>
        </p:spPr>
      </p:sp>
      <p:sp>
        <p:nvSpPr>
          <p:cNvPr id="21" name="Text 18"/>
          <p:cNvSpPr txBox="1"/>
          <p:nvPr/>
        </p:nvSpPr>
        <p:spPr>
          <a:xfrm>
            <a:off x="1920240" y="2935224"/>
            <a:ext cx="3200400" cy="62179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No — the Spirit never came this way</a:t>
            </a:r>
            <a:endParaRPr lang="en-US" sz="1200" dirty="0"/>
          </a:p>
        </p:txBody>
      </p:sp>
      <p:sp>
        <p:nvSpPr>
          <p:cNvPr id="22" name="Shape 19"/>
          <p:cNvSpPr/>
          <p:nvPr/>
        </p:nvSpPr>
        <p:spPr>
          <a:xfrm>
            <a:off x="5303520" y="2935224"/>
            <a:ext cx="3383280" cy="621792"/>
          </a:xfrm>
          <a:prstGeom prst="rect">
            <a:avLst/>
          </a:prstGeom>
          <a:solidFill>
            <a:srgbClr val="F2F6FC"/>
          </a:solidFill>
          <a:ln w="9525">
            <a:solidFill>
              <a:srgbClr val="D5DCEA"/>
            </a:solidFill>
            <a:prstDash val="solid"/>
          </a:ln>
        </p:spPr>
      </p:sp>
      <p:sp>
        <p:nvSpPr>
          <p:cNvPr id="23" name="Text 20"/>
          <p:cNvSpPr txBox="1"/>
          <p:nvPr/>
        </p:nvSpPr>
        <p:spPr>
          <a:xfrm>
            <a:off x="5394960" y="2935224"/>
            <a:ext cx="3200400" cy="621792"/>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Yes — salvation and the Spirit at the same moment</a:t>
            </a:r>
            <a:endParaRPr lang="en-US" sz="1200" dirty="0"/>
          </a:p>
        </p:txBody>
      </p:sp>
      <p:sp>
        <p:nvSpPr>
          <p:cNvPr id="24" name="Shape 21"/>
          <p:cNvSpPr/>
          <p:nvPr/>
        </p:nvSpPr>
        <p:spPr>
          <a:xfrm>
            <a:off x="457200" y="3657600"/>
            <a:ext cx="8229600" cy="640080"/>
          </a:xfrm>
          <a:prstGeom prst="roundRect">
            <a:avLst>
              <a:gd name="adj" fmla="val 8571"/>
            </a:avLst>
          </a:prstGeom>
          <a:solidFill>
            <a:srgbClr val="1F3864"/>
          </a:solidFill>
          <a:ln w="12700">
            <a:solidFill>
              <a:srgbClr val="1F3864"/>
            </a:solidFill>
            <a:prstDash val="solid"/>
          </a:ln>
        </p:spPr>
      </p:sp>
      <p:sp>
        <p:nvSpPr>
          <p:cNvPr id="25" name="Text 22"/>
          <p:cNvSpPr txBox="1"/>
          <p:nvPr/>
        </p:nvSpPr>
        <p:spPr>
          <a:xfrm>
            <a:off x="621792" y="3657600"/>
            <a:ext cx="7900416" cy="64008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Salvation and the reception of the Spirit are simultaneous, though not synonymous. Some 33 things happen the moment a person believes (Chafer).</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Begun in the Spirit — finished in the flesh?</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3:3 · Outline III — The perfection of Christianity</a:t>
            </a:r>
            <a:endParaRPr lang="en-US" sz="1200" dirty="0"/>
          </a:p>
        </p:txBody>
      </p:sp>
      <p:sp>
        <p:nvSpPr>
          <p:cNvPr id="5" name="Shape 2"/>
          <p:cNvSpPr/>
          <p:nvPr/>
        </p:nvSpPr>
        <p:spPr>
          <a:xfrm>
            <a:off x="457200" y="1143000"/>
            <a:ext cx="2560320" cy="566928"/>
          </a:xfrm>
          <a:prstGeom prst="rect">
            <a:avLst/>
          </a:prstGeom>
          <a:solidFill>
            <a:srgbClr val="375623"/>
          </a:solidFill>
          <a:ln w="12700">
            <a:solidFill>
              <a:srgbClr val="375623"/>
            </a:solidFill>
            <a:prstDash val="solid"/>
          </a:ln>
        </p:spPr>
      </p:sp>
      <p:sp>
        <p:nvSpPr>
          <p:cNvPr id="6" name="Text 3"/>
          <p:cNvSpPr txBox="1"/>
          <p:nvPr/>
        </p:nvSpPr>
        <p:spPr>
          <a:xfrm>
            <a:off x="548640" y="1188720"/>
            <a:ext cx="23774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Having begun</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πνεύματι</a:t>
            </a:r>
            <a:pPr indent="0" marL="0">
              <a:buNone/>
            </a:pPr>
            <a:r>
              <a:rPr lang="en-US" sz="850" dirty="0">
                <a:solidFill>
                  <a:srgbClr val="DCE4F2"/>
                </a:solidFill>
                <a:latin typeface="Arial" pitchFamily="34" charset="0"/>
                <a:ea typeface="Arial" pitchFamily="34" charset="-122"/>
                <a:cs typeface="Arial" pitchFamily="34" charset="-120"/>
              </a:rPr>
              <a:t>  by the Spirit</a:t>
            </a:r>
            <a:endParaRPr lang="en-US" sz="1200" dirty="0"/>
          </a:p>
        </p:txBody>
      </p:sp>
      <p:sp>
        <p:nvSpPr>
          <p:cNvPr id="7" name="Shape 4"/>
          <p:cNvSpPr/>
          <p:nvPr/>
        </p:nvSpPr>
        <p:spPr>
          <a:xfrm>
            <a:off x="457200" y="1709928"/>
            <a:ext cx="2560320" cy="1810512"/>
          </a:xfrm>
          <a:prstGeom prst="rect">
            <a:avLst/>
          </a:prstGeom>
          <a:solidFill>
            <a:srgbClr val="F2F6FC"/>
          </a:solidFill>
          <a:ln w="9525">
            <a:solidFill>
              <a:srgbClr val="D5DCEA"/>
            </a:solidFill>
            <a:prstDash val="solid"/>
          </a:ln>
        </p:spPr>
      </p:sp>
      <p:sp>
        <p:nvSpPr>
          <p:cNvPr id="8" name="Text 5"/>
          <p:cNvSpPr txBox="1"/>
          <p:nvPr/>
        </p:nvSpPr>
        <p:spPr>
          <a:xfrm>
            <a:off x="548640" y="1783080"/>
            <a:ext cx="2377440" cy="16824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The Christian life starts with the Spirit, received by faith</a:t>
            </a:r>
            <a:endParaRPr lang="en-US" sz="1300" dirty="0"/>
          </a:p>
        </p:txBody>
      </p:sp>
      <p:sp>
        <p:nvSpPr>
          <p:cNvPr id="9" name="Shape 6"/>
          <p:cNvSpPr/>
          <p:nvPr/>
        </p:nvSpPr>
        <p:spPr>
          <a:xfrm>
            <a:off x="3108960" y="2194560"/>
            <a:ext cx="274320" cy="237744"/>
          </a:xfrm>
          <a:prstGeom prst="rightArrow">
            <a:avLst/>
          </a:prstGeom>
          <a:solidFill>
            <a:srgbClr val="6B7280"/>
          </a:solidFill>
          <a:ln w="12700">
            <a:solidFill>
              <a:srgbClr val="6B7280"/>
            </a:solidFill>
            <a:prstDash val="solid"/>
          </a:ln>
        </p:spPr>
      </p:sp>
      <p:sp>
        <p:nvSpPr>
          <p:cNvPr id="10" name="Shape 7"/>
          <p:cNvSpPr/>
          <p:nvPr/>
        </p:nvSpPr>
        <p:spPr>
          <a:xfrm>
            <a:off x="3474720" y="1143000"/>
            <a:ext cx="2560320" cy="566928"/>
          </a:xfrm>
          <a:prstGeom prst="rect">
            <a:avLst/>
          </a:prstGeom>
          <a:solidFill>
            <a:srgbClr val="6B7280"/>
          </a:solidFill>
          <a:ln w="12700">
            <a:solidFill>
              <a:srgbClr val="6B7280"/>
            </a:solidFill>
            <a:prstDash val="solid"/>
          </a:ln>
        </p:spPr>
      </p:sp>
      <p:sp>
        <p:nvSpPr>
          <p:cNvPr id="11" name="Text 8"/>
          <p:cNvSpPr txBox="1"/>
          <p:nvPr/>
        </p:nvSpPr>
        <p:spPr>
          <a:xfrm>
            <a:off x="3566160" y="1188720"/>
            <a:ext cx="23774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Now made perfect?</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ἐπιτελεῖσθε</a:t>
            </a:r>
            <a:pPr indent="0" marL="0">
              <a:buNone/>
            </a:pPr>
            <a:r>
              <a:rPr lang="en-US" sz="850" dirty="0">
                <a:solidFill>
                  <a:srgbClr val="DCE4F2"/>
                </a:solidFill>
                <a:latin typeface="Arial" pitchFamily="34" charset="0"/>
                <a:ea typeface="Arial" pitchFamily="34" charset="-122"/>
                <a:cs typeface="Arial" pitchFamily="34" charset="-120"/>
              </a:rPr>
              <a:t>  Pres. Mid./Pass.</a:t>
            </a:r>
            <a:endParaRPr lang="en-US" sz="1200" dirty="0"/>
          </a:p>
        </p:txBody>
      </p:sp>
      <p:sp>
        <p:nvSpPr>
          <p:cNvPr id="12" name="Shape 9"/>
          <p:cNvSpPr/>
          <p:nvPr/>
        </p:nvSpPr>
        <p:spPr>
          <a:xfrm>
            <a:off x="3474720" y="1709928"/>
            <a:ext cx="2560320" cy="1810512"/>
          </a:xfrm>
          <a:prstGeom prst="rect">
            <a:avLst/>
          </a:prstGeom>
          <a:solidFill>
            <a:srgbClr val="F2F6FC"/>
          </a:solidFill>
          <a:ln w="9525">
            <a:solidFill>
              <a:srgbClr val="D5DCEA"/>
            </a:solidFill>
            <a:prstDash val="solid"/>
          </a:ln>
        </p:spPr>
      </p:sp>
      <p:sp>
        <p:nvSpPr>
          <p:cNvPr id="13" name="Text 10"/>
          <p:cNvSpPr txBox="1"/>
          <p:nvPr/>
        </p:nvSpPr>
        <p:spPr>
          <a:xfrm>
            <a:off x="3566160" y="1783080"/>
            <a:ext cx="2377440" cy="16824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An attempted, ongoing “finishing” project</a:t>
            </a:r>
            <a:endParaRPr lang="en-US" sz="1300" dirty="0"/>
          </a:p>
        </p:txBody>
      </p:sp>
      <p:sp>
        <p:nvSpPr>
          <p:cNvPr id="14" name="Shape 11"/>
          <p:cNvSpPr/>
          <p:nvPr/>
        </p:nvSpPr>
        <p:spPr>
          <a:xfrm>
            <a:off x="6126480" y="2194560"/>
            <a:ext cx="274320" cy="237744"/>
          </a:xfrm>
          <a:prstGeom prst="rightArrow">
            <a:avLst/>
          </a:prstGeom>
          <a:solidFill>
            <a:srgbClr val="6B7280"/>
          </a:solidFill>
          <a:ln w="12700">
            <a:solidFill>
              <a:srgbClr val="6B7280"/>
            </a:solidFill>
            <a:prstDash val="solid"/>
          </a:ln>
        </p:spPr>
      </p:sp>
      <p:sp>
        <p:nvSpPr>
          <p:cNvPr id="15" name="Shape 12"/>
          <p:cNvSpPr/>
          <p:nvPr/>
        </p:nvSpPr>
        <p:spPr>
          <a:xfrm>
            <a:off x="6492240" y="1143000"/>
            <a:ext cx="2194560" cy="566928"/>
          </a:xfrm>
          <a:prstGeom prst="rect">
            <a:avLst/>
          </a:prstGeom>
          <a:solidFill>
            <a:srgbClr val="6B7280"/>
          </a:solidFill>
          <a:ln w="12700">
            <a:solidFill>
              <a:srgbClr val="6B7280"/>
            </a:solidFill>
            <a:prstDash val="solid"/>
          </a:ln>
        </p:spPr>
      </p:sp>
      <p:sp>
        <p:nvSpPr>
          <p:cNvPr id="16" name="Text 13"/>
          <p:cNvSpPr txBox="1"/>
          <p:nvPr/>
        </p:nvSpPr>
        <p:spPr>
          <a:xfrm>
            <a:off x="6583680" y="1188720"/>
            <a:ext cx="20116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By the flesh?</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σαρκί</a:t>
            </a:r>
            <a:pPr indent="0" marL="0">
              <a:buNone/>
            </a:pPr>
            <a:r>
              <a:rPr lang="en-US" sz="850" dirty="0">
                <a:solidFill>
                  <a:srgbClr val="DCE4F2"/>
                </a:solidFill>
                <a:latin typeface="Arial" pitchFamily="34" charset="0"/>
                <a:ea typeface="Arial" pitchFamily="34" charset="-122"/>
                <a:cs typeface="Arial" pitchFamily="34" charset="-120"/>
              </a:rPr>
              <a:t>  self-effort</a:t>
            </a:r>
            <a:endParaRPr lang="en-US" sz="1200" dirty="0"/>
          </a:p>
        </p:txBody>
      </p:sp>
      <p:sp>
        <p:nvSpPr>
          <p:cNvPr id="17" name="Shape 14"/>
          <p:cNvSpPr/>
          <p:nvPr/>
        </p:nvSpPr>
        <p:spPr>
          <a:xfrm>
            <a:off x="6492240" y="1709928"/>
            <a:ext cx="2194560" cy="1810512"/>
          </a:xfrm>
          <a:prstGeom prst="rect">
            <a:avLst/>
          </a:prstGeom>
          <a:solidFill>
            <a:srgbClr val="F2F6FC"/>
          </a:solidFill>
          <a:ln w="9525">
            <a:solidFill>
              <a:srgbClr val="D5DCEA"/>
            </a:solidFill>
            <a:prstDash val="solid"/>
          </a:ln>
        </p:spPr>
      </p:sp>
      <p:sp>
        <p:nvSpPr>
          <p:cNvPr id="18" name="Text 15"/>
          <p:cNvSpPr txBox="1"/>
          <p:nvPr/>
        </p:nvSpPr>
        <p:spPr>
          <a:xfrm>
            <a:off x="6583680" y="1783080"/>
            <a:ext cx="2011680" cy="16824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Human effort in place of grace</a:t>
            </a:r>
            <a:endParaRPr lang="en-US" sz="1300" dirty="0"/>
          </a:p>
        </p:txBody>
      </p:sp>
      <p:sp>
        <p:nvSpPr>
          <p:cNvPr id="19" name="Shape 16"/>
          <p:cNvSpPr/>
          <p:nvPr/>
        </p:nvSpPr>
        <p:spPr>
          <a:xfrm>
            <a:off x="457200" y="3749040"/>
            <a:ext cx="8229600" cy="548640"/>
          </a:xfrm>
          <a:prstGeom prst="roundRect">
            <a:avLst>
              <a:gd name="adj" fmla="val 10000"/>
            </a:avLst>
          </a:prstGeom>
          <a:solidFill>
            <a:srgbClr val="1F3864"/>
          </a:solidFill>
          <a:ln w="12700">
            <a:solidFill>
              <a:srgbClr val="1F3864"/>
            </a:solidFill>
            <a:prstDash val="solid"/>
          </a:ln>
        </p:spPr>
      </p:sp>
      <p:sp>
        <p:nvSpPr>
          <p:cNvPr id="20" name="Text 17"/>
          <p:cNvSpPr txBox="1"/>
          <p:nvPr/>
        </p:nvSpPr>
        <p:spPr>
          <a:xfrm>
            <a:off x="621792" y="374904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“By one offering He has perfected forever those who are being sanctified” (Hebrews 10:14).</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Suffering and supply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3:4–5 · Outline IV–V — Persecution and promotion</a:t>
            </a:r>
            <a:endParaRPr lang="en-US" sz="1200" dirty="0"/>
          </a:p>
        </p:txBody>
      </p:sp>
      <p:sp>
        <p:nvSpPr>
          <p:cNvPr id="5" name="Shape 2"/>
          <p:cNvSpPr/>
          <p:nvPr/>
        </p:nvSpPr>
        <p:spPr>
          <a:xfrm>
            <a:off x="457200" y="1143000"/>
            <a:ext cx="4023360" cy="566928"/>
          </a:xfrm>
          <a:prstGeom prst="rect">
            <a:avLst/>
          </a:prstGeom>
          <a:solidFill>
            <a:srgbClr val="6B7280"/>
          </a:solidFill>
          <a:ln w="12700">
            <a:solidFill>
              <a:srgbClr val="6B7280"/>
            </a:solidFill>
            <a:prstDash val="solid"/>
          </a:ln>
        </p:spPr>
      </p:sp>
      <p:sp>
        <p:nvSpPr>
          <p:cNvPr id="6" name="Text 3"/>
          <p:cNvSpPr txBox="1"/>
          <p:nvPr/>
        </p:nvSpPr>
        <p:spPr>
          <a:xfrm>
            <a:off x="548640" y="118872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Persecution — v.4</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ἐπάθετε · εἰκῇ</a:t>
            </a:r>
            <a:pPr indent="0" marL="0">
              <a:buNone/>
            </a:pPr>
            <a:r>
              <a:rPr lang="en-US" sz="850" dirty="0">
                <a:solidFill>
                  <a:srgbClr val="DCE4F2"/>
                </a:solidFill>
                <a:latin typeface="Arial" pitchFamily="34" charset="0"/>
                <a:ea typeface="Arial" pitchFamily="34" charset="-122"/>
                <a:cs typeface="Arial" pitchFamily="34" charset="-120"/>
              </a:rPr>
              <a:t>  suffered · in vain</a:t>
            </a:r>
            <a:endParaRPr lang="en-US" sz="1200" dirty="0"/>
          </a:p>
        </p:txBody>
      </p:sp>
      <p:sp>
        <p:nvSpPr>
          <p:cNvPr id="7" name="Shape 4"/>
          <p:cNvSpPr/>
          <p:nvPr/>
        </p:nvSpPr>
        <p:spPr>
          <a:xfrm>
            <a:off x="457200" y="1709928"/>
            <a:ext cx="4023360" cy="2039112"/>
          </a:xfrm>
          <a:prstGeom prst="rect">
            <a:avLst/>
          </a:prstGeom>
          <a:solidFill>
            <a:srgbClr val="F2F6FC"/>
          </a:solidFill>
          <a:ln w="9525">
            <a:solidFill>
              <a:srgbClr val="D5DCEA"/>
            </a:solidFill>
            <a:prstDash val="solid"/>
          </a:ln>
        </p:spPr>
      </p:sp>
      <p:sp>
        <p:nvSpPr>
          <p:cNvPr id="8" name="Text 5"/>
          <p:cNvSpPr txBox="1"/>
          <p:nvPr/>
        </p:nvSpPr>
        <p:spPr>
          <a:xfrm>
            <a:off x="548640" y="1783080"/>
            <a:ext cx="3840480" cy="19110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They suffered for the gospel from the start</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“We must through many tribulations enter the kingdom” (Acts 14:22)</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Going back to law would make it all for nothing</a:t>
            </a:r>
            <a:endParaRPr lang="en-US" sz="1300" dirty="0"/>
          </a:p>
        </p:txBody>
      </p:sp>
      <p:sp>
        <p:nvSpPr>
          <p:cNvPr id="9" name="Shape 6"/>
          <p:cNvSpPr/>
          <p:nvPr/>
        </p:nvSpPr>
        <p:spPr>
          <a:xfrm>
            <a:off x="4663440" y="1143000"/>
            <a:ext cx="4023360" cy="566928"/>
          </a:xfrm>
          <a:prstGeom prst="rect">
            <a:avLst/>
          </a:prstGeom>
          <a:solidFill>
            <a:srgbClr val="375623"/>
          </a:solidFill>
          <a:ln w="12700">
            <a:solidFill>
              <a:srgbClr val="375623"/>
            </a:solidFill>
            <a:prstDash val="solid"/>
          </a:ln>
        </p:spPr>
      </p:sp>
      <p:sp>
        <p:nvSpPr>
          <p:cNvPr id="10" name="Text 7"/>
          <p:cNvSpPr txBox="1"/>
          <p:nvPr/>
        </p:nvSpPr>
        <p:spPr>
          <a:xfrm>
            <a:off x="4754880" y="118872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Promotion — v.5</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ἐπιχορηγῶν</a:t>
            </a:r>
            <a:pPr indent="0" marL="0">
              <a:buNone/>
            </a:pPr>
            <a:r>
              <a:rPr lang="en-US" sz="850" dirty="0">
                <a:solidFill>
                  <a:srgbClr val="DCE4F2"/>
                </a:solidFill>
                <a:latin typeface="Arial" pitchFamily="34" charset="0"/>
                <a:ea typeface="Arial" pitchFamily="34" charset="-122"/>
                <a:cs typeface="Arial" pitchFamily="34" charset="-120"/>
              </a:rPr>
              <a:t>  Pres. Act. Ptc.</a:t>
            </a:r>
            <a:endParaRPr lang="en-US" sz="1200" dirty="0"/>
          </a:p>
        </p:txBody>
      </p:sp>
      <p:sp>
        <p:nvSpPr>
          <p:cNvPr id="11" name="Shape 8"/>
          <p:cNvSpPr/>
          <p:nvPr/>
        </p:nvSpPr>
        <p:spPr>
          <a:xfrm>
            <a:off x="4663440" y="1709928"/>
            <a:ext cx="4023360" cy="2039112"/>
          </a:xfrm>
          <a:prstGeom prst="rect">
            <a:avLst/>
          </a:prstGeom>
          <a:solidFill>
            <a:srgbClr val="F2F6FC"/>
          </a:solidFill>
          <a:ln w="9525">
            <a:solidFill>
              <a:srgbClr val="D5DCEA"/>
            </a:solidFill>
            <a:prstDash val="solid"/>
          </a:ln>
        </p:spPr>
      </p:sp>
      <p:sp>
        <p:nvSpPr>
          <p:cNvPr id="12" name="Text 9"/>
          <p:cNvSpPr txBox="1"/>
          <p:nvPr/>
        </p:nvSpPr>
        <p:spPr>
          <a:xfrm>
            <a:off x="4754880" y="1783080"/>
            <a:ext cx="3840480" cy="1911096"/>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God keeps supplying the Spirit — lavishly</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Miracles among them, e.g. the lame man at Lystra (Acts 14:8–10)</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By the hearing of faith, not works of the law</a:t>
            </a:r>
            <a:endParaRPr lang="en-US" sz="1300" dirty="0"/>
          </a:p>
        </p:txBody>
      </p:sp>
      <p:sp>
        <p:nvSpPr>
          <p:cNvPr id="13" name="Shape 10"/>
          <p:cNvSpPr/>
          <p:nvPr/>
        </p:nvSpPr>
        <p:spPr>
          <a:xfrm>
            <a:off x="457200" y="3977640"/>
            <a:ext cx="8229600" cy="502920"/>
          </a:xfrm>
          <a:prstGeom prst="roundRect">
            <a:avLst>
              <a:gd name="adj" fmla="val 10909"/>
            </a:avLst>
          </a:prstGeom>
          <a:solidFill>
            <a:srgbClr val="1F3864"/>
          </a:solidFill>
          <a:ln w="12700">
            <a:solidFill>
              <a:srgbClr val="1F3864"/>
            </a:solidFill>
            <a:prstDash val="solid"/>
          </a:ln>
        </p:spPr>
      </p:sp>
      <p:sp>
        <p:nvSpPr>
          <p:cNvPr id="14" name="Text 11"/>
          <p:cNvSpPr txBox="1"/>
          <p:nvPr/>
        </p:nvSpPr>
        <p:spPr>
          <a:xfrm>
            <a:off x="621792" y="397764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Ongoing power comes the same way salvation did — by faith.</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3:1–5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txBox="1"/>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txBox="1"/>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txBox="1"/>
          <p:nvPr/>
        </p:nvSpPr>
        <p:spPr>
          <a:xfrm>
            <a:off x="566928" y="16367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txBox="1"/>
          <p:nvPr/>
        </p:nvSpPr>
        <p:spPr>
          <a:xfrm>
            <a:off x="1005840" y="1591056"/>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What does it mean that receiving the Spirit and being saved are simultaneous but not synonymous?</a:t>
            </a:r>
            <a:endParaRPr lang="en-US" sz="13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txBox="1"/>
          <p:nvPr/>
        </p:nvSpPr>
        <p:spPr>
          <a:xfrm>
            <a:off x="566928" y="27249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3"/>
          <p:cNvSpPr txBox="1"/>
          <p:nvPr/>
        </p:nvSpPr>
        <p:spPr>
          <a:xfrm>
            <a:off x="1005840" y="2679192"/>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Explain in your own words the difference between your perfection and your practice (3:3).</a:t>
            </a:r>
            <a:endParaRPr lang="en-US" sz="1350" dirty="0"/>
          </a:p>
        </p:txBody>
      </p:sp>
      <p:sp>
        <p:nvSpPr>
          <p:cNvPr id="17" name="Text 14"/>
          <p:cNvSpPr txBox="1"/>
          <p:nvPr/>
        </p:nvSpPr>
        <p:spPr>
          <a:xfrm>
            <a:off x="4791456" y="1591056"/>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Trade Trying for Trusting</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Tell God out loud today that you are trusting Him rather than trying to earn the outcome yourself.</a:t>
            </a:r>
            <a:endParaRPr lang="en-US" sz="1200" dirty="0"/>
          </a:p>
        </p:txBody>
      </p:sp>
      <p:sp>
        <p:nvSpPr>
          <p:cNvPr id="18" name="Text 15"/>
          <p:cNvSpPr txBox="1"/>
          <p:nvPr/>
        </p:nvSpPr>
        <p:spPr>
          <a:xfrm>
            <a:off x="4791456" y="2679192"/>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Let Your Practice Catch Up to Your Perfection</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Practice one habit this week as a response to being accepted — not as an attempt to become accepted.</a:t>
            </a:r>
            <a:endParaRPr lang="en-US" sz="120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txBox="1"/>
          <p:nvPr/>
        </p:nvSpPr>
        <p:spPr>
          <a:xfrm>
            <a:off x="621792" y="4023360"/>
            <a:ext cx="7900416" cy="566928"/>
          </a:xfrm>
          <a:prstGeom prst="rect">
            <a:avLst/>
          </a:prstGeom>
          <a:noFill/>
          <a:ln/>
        </p:spPr>
        <p:txBody>
          <a:bodyPr wrap="square" lIns="0" tIns="0" rIns="0" bIns="0" rtlCol="0" anchor="ctr"/>
          <a:lstStyle/>
          <a:p>
            <a:pPr indent="0" marL="0">
              <a:buNone/>
            </a:pPr>
            <a:r>
              <a:rPr lang="en-US" sz="1250" b="1" dirty="0">
                <a:solidFill>
                  <a:srgbClr val="C9D5EE"/>
                </a:solidFill>
                <a:latin typeface="Arial" pitchFamily="34" charset="0"/>
                <a:ea typeface="Arial" pitchFamily="34" charset="-122"/>
                <a:cs typeface="Arial" pitchFamily="34" charset="-120"/>
              </a:rPr>
              <a:t>In one line:  </a:t>
            </a:r>
            <a:pPr indent="0" marL="0">
              <a:buNone/>
            </a:pPr>
            <a:r>
              <a:rPr lang="en-US" sz="1250" dirty="0">
                <a:solidFill>
                  <a:srgbClr val="FFFFFF"/>
                </a:solidFill>
                <a:latin typeface="Arial" pitchFamily="34" charset="0"/>
                <a:ea typeface="Arial" pitchFamily="34" charset="-122"/>
                <a:cs typeface="Arial" pitchFamily="34" charset="-120"/>
              </a:rPr>
              <a:t>What began by grace through faith continues by grace through faith.</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Galatians Study 6 — Under a Spell: Charts</dc:title>
  <dc:subject>PptxGenJS Presentation</dc:subject>
  <dc:creator>The Gospel Vault</dc:creator>
  <cp:lastModifiedBy>The Gospel Vault</cp:lastModifiedBy>
  <cp:revision>1</cp:revision>
  <dcterms:created xsi:type="dcterms:W3CDTF">2026-10-30T05:30:26Z</dcterms:created>
  <dcterms:modified xsi:type="dcterms:W3CDTF">2026-10-30T05:30:26Z</dcterms:modified>
</cp:coreProperties>
</file>