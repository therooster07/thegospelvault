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udy 8 · Galatians 3:15–29" id="{ae06d0c5-2c64-3bf6-42b2-075137fd1b0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Four movements — the law is not part of the promise (3:15–18), not on a par with it (3:19–20), had a purpose in it (3:21–25), and its prospects were inferior to it (3:26–29). The posted study has no separate proposition box; this summary is drawn from its passage summary table. Every chart in this deck stays within the posted commentary for this study; Greek words come from the study's posted Greek Word Study. Each slide's notes name the commentary section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Use this map to show the group where this passage sits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(Outline I–IV): The law is not part of the promise, not on a par with it, had a purpose within it, and its prospects were inferior to it. The conclusion: the law was holy, good and righteous — it did its job of bringing us to Christ, and now it is gone. We are under grace.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(I.A–B): v.15 argues from the known to the unknown: even a confirmed human covenant can't be altered by an outsider. God simply told Abraham what He would do (Gen 12:3) — no requirements. When Abraham asked for confirmation (Gen 15:8), God had him lay out the animals as men did for a covenant, then put Abraham into a deep sleep. A smoking furnace and a burning lamp — symbols of God — passed between the pieces alone. Abraham could not be a party to it: the covenant was unconditional. Hebrews 6:17 adds God's oath. v.16: “Seed,” not “seeds” — one Person, Christ.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(I.B–C, and Part 2 of the posted study): Land, nation and blessing were promised unconditionally; each is expanded in a later covenant. The law came 430 years later, too late to annul a covenant already confirmed (προκεκυρωμένην — confirmed before), and it contradicts the promise: if the inheritance is of the law, it is no longer of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(II.A–C): The law came because of disobedience — the promise because of obedience (Abraham believed God). The law was temporary — “till the Seed should come” — and when Christ died on the cross, the law died. The law needed a mediator, Moses (the commentary takes Moses, not the angels, as the mediator), because two parties were involved. The promise had none — “God is one”: God alone bound Himself.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(III.A–C): Is the law against the promises? μὴ γένοιτο — “Certainly not!” (the strongest possible denial). The law could not give life, so it demonstrated man's weakness; Scripture shut up all under sin (Rom 3:9, 23); and the law was a παιδαγωγός — not a teacher but the household slave who escorted a boy to school until he came of age — to bring us to Christ. You can't be saved until you know you need to be. After faith has come, we are no longer under the tutor.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(IV.A–D): Higher — sons of God through faith. Deeper — baptized into Christ: the commentary takes this as Spirit baptism (1 Cor 12:13), not water baptism; we have put on Christ like a garment. Wider — no national, social or gender distinction in standing: all one in Christ. Longer — the law ran about 1,500 years; the promise reaches from Genesis 12 into forever: heirs according to the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(from the posted Study Questions and Application sections): Q1: What does it mean that Abraham was asleep while God alone passed through the pieces (Genesis 15)? — Leader answer: In a normal covenant both parties walked through the pieces. Here only God passed through — the covenant was unconditional; Abraham had only to believe.  Q2: Of the four ways our standing surpasses the law — higher, deeper, wider, longer — which means most to you right now, and why? — Leader answer: Answers will vary. Connect each: higher (sonship), deeper (Spirit baptism into Christ), wider (all one in Christ), longer (heirs forever).  Applications: Rest in “You Have Been Blessed, Do This” — Before you pray tonight, say aloud “I have already been blessed” before anything you plan to do for God.  Live the Wide Ground — Extend a specific honor this week to a believer you might ordinarily overlook.  Close by reading the summary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8 of 16 · Galatians 3:15–29 · The Gospel Vault · NKJV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8 of 16 · Galatians 3:15–29 · The Gospel Vault · NKJV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8 of 16 · Galatians 3:15–29 · Leader charts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Superiority of the Promise to the Law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law, arriving 430 years later, cannot annul or add to God's unconditional promise to Abraham. It was temporary, needed a mediator, and served to drive sinners to Christ — while the promise makes believers sons and heirs forever.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Dr. C. Norman Sellers, ThD · SellersBibleInstitute.com · used by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study fits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sixteen studies · this study highlighted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of Liberty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4889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4033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True Gospel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4058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3202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1:11–17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Independent Revelation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3227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2371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1:18–2:10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Gospel Is Independent of the Judean Churches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2:11–21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Goes Back to School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4889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4033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 Spell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4058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3202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3:6–14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Blessing or a Curse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2020824"/>
            <a:ext cx="1954530" cy="7863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2371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0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3:15–29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Superiority of the Promise to the Law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4:1–11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Became a Man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54889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4033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4:12–20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Steel Fist in a Velvet Glove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4058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3202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4:21–31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Old Testament Story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3227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2371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5:1–12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 Stand in Liberty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5:13–26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the Spirit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54889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64033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 and Burdens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64058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3202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Sowing and Reaping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2371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6:11–18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the Truth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 and the law: four comparisons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3:15–29 · The commentary's outline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18788" cy="12618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12527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part of the promise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1764792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3:15–18 — a confirmed covenant can't be annulled or added to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8012" y="1143000"/>
            <a:ext cx="4018788" cy="12618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96028" y="1271016"/>
            <a:ext cx="402336" cy="40233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96028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289804" y="12527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 a par with it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796028" y="1764792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3:19–20 — added for transgressions, temporary, needed a mediator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569464"/>
            <a:ext cx="4018788" cy="12618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697480"/>
            <a:ext cx="402336" cy="402336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78992" y="2679192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purpose in the promise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" y="3191256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3:21–25 — exposed weakness and sin, and drove us to Christ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8012" y="2569464"/>
            <a:ext cx="4018788" cy="126187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96028" y="2697480"/>
            <a:ext cx="402336" cy="402336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6028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289804" y="2679192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Inferior prospects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96028" y="3191256"/>
            <a:ext cx="3762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3:26–29 — sons, clothed with Christ, one in Christ, heirs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406908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 was holy and good — it did its job, and now it is gone. Salvation is by grace through faith, plus not one thing.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covenant only God could keep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3:15–16 · Genesis 12 and 15 · Outline I.A–B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92808" cy="19659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188720"/>
            <a:ext cx="1892808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told him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17099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will bless you…” — no requirements placed on Abraham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28254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12:3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359152" y="205282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9464" y="1188720"/>
            <a:ext cx="1892808" cy="19659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9464" y="1188720"/>
            <a:ext cx="1892808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24328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 asked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2660904" y="1828800"/>
            <a:ext cx="17099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shall I know?” — animals laid out as for a covenant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642616" y="28254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15:8–10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71416" y="205282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81728" y="1188720"/>
            <a:ext cx="1892808" cy="19659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81728" y="1188720"/>
            <a:ext cx="1892808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736592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 slept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773168" y="1828800"/>
            <a:ext cx="17099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 sleep fell on him — he could not be a party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8254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15:12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583680" y="2052828"/>
            <a:ext cx="201168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793992" y="1188720"/>
            <a:ext cx="1892808" cy="19659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93992" y="1188720"/>
            <a:ext cx="1892808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48856" y="1188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alone passed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6885432" y="1828800"/>
            <a:ext cx="170992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smoking furnace and a burning lamp passed between the pieces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867144" y="28254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15:17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57200" y="3291840"/>
            <a:ext cx="4023360" cy="56692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8640" y="3337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covenant — v.15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διαθήκη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 will; once confirmed, unalterable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3858768"/>
            <a:ext cx="4023360" cy="7589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3931920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annuls or adds to it but its makers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663440" y="3291840"/>
            <a:ext cx="402336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754880" y="3337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Seed — v.16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σπέρμα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singular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663440" y="3858768"/>
            <a:ext cx="4023360" cy="7589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754880" y="3931920"/>
            <a:ext cx="38404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“and to your Seed,” who is Christ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unconditional promises to Abraham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3:16–18 · Outline I.B–C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70432"/>
            <a:ext cx="8229600" cy="56692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234440"/>
            <a:ext cx="438912" cy="43891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234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17043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in the Palestinian Covenant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117043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 29–30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810512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5216" y="1874520"/>
            <a:ext cx="438912" cy="43891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181051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in the Davidic Covenant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181051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Samuel 7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450592"/>
            <a:ext cx="8229600" cy="56692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514600"/>
            <a:ext cx="438912" cy="438912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24505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Ultimately the New Covenant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2450592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 31 · Heb 8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200400"/>
            <a:ext cx="4023360" cy="56692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2461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 came too late — v.17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 years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767328"/>
            <a:ext cx="4023360" cy="85039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3840480"/>
            <a:ext cx="384048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annul a covenant “confirmed before by God”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63440" y="3200400"/>
            <a:ext cx="402336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75488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 contradicts the promise — v.18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663440" y="3566160"/>
            <a:ext cx="4023360" cy="105156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54880" y="3639312"/>
            <a:ext cx="384048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inheritance is of the law, it is no longer of promise</a:t>
            </a:r>
            <a:endParaRPr lang="en-US" sz="11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and law cannot be mixed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and promise side by side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3:17–20 · Outline II — Not on a par with the promise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965960" y="1097280"/>
            <a:ext cx="3314700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2057400" y="1097280"/>
            <a:ext cx="3177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372100" y="1097280"/>
            <a:ext cx="331470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17820" y="1097280"/>
            <a:ext cx="31775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536192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965960" y="1536192"/>
            <a:ext cx="331470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57400" y="1536192"/>
            <a:ext cx="31318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 years after the promise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72100" y="1536192"/>
            <a:ext cx="331470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63540" y="1536192"/>
            <a:ext cx="31318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— confirmed beforehand by God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12140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 because of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965960" y="2121408"/>
            <a:ext cx="331470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057400" y="2121408"/>
            <a:ext cx="31318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Transgressions — disobedience (παράβασις)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72100" y="2121408"/>
            <a:ext cx="331470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63540" y="2121408"/>
            <a:ext cx="31318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Obedience — Abraham believed God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270662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965960" y="2706624"/>
            <a:ext cx="331470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057400" y="2706624"/>
            <a:ext cx="31318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— “till the Seed should come”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72100" y="2706624"/>
            <a:ext cx="331470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63540" y="2706624"/>
            <a:ext cx="31318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29184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965960" y="3291840"/>
            <a:ext cx="331470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057400" y="3291840"/>
            <a:ext cx="31318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— needed a mediator, Moses (μεσίτης)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372100" y="3291840"/>
            <a:ext cx="331470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63540" y="3291840"/>
            <a:ext cx="31318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— “God is one”; no mediator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387705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1965960" y="3877056"/>
            <a:ext cx="331470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057400" y="3877056"/>
            <a:ext cx="31318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Conditional: do this and live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372100" y="3877056"/>
            <a:ext cx="3314700" cy="5303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63540" y="3877056"/>
            <a:ext cx="31318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Unconditional: God alone bound Himself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law was for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3:21–25 · Outline III — The law had a purpose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15184" cy="25603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12527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weakness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1764792"/>
            <a:ext cx="235915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μὴ γένοιτο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v.21 — no law could give life; “Certainly not!”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64408" y="1143000"/>
            <a:ext cx="2615184" cy="25603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92424" y="1271016"/>
            <a:ext cx="402336" cy="40233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92424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886200" y="12527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sinfulness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392424" y="1764792"/>
            <a:ext cx="235915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συνέκλεισεν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v.22 — Scripture shut up all under sin (Rom 3:9, 23)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71616" y="1143000"/>
            <a:ext cx="2615184" cy="256032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9632" y="1271016"/>
            <a:ext cx="402336" cy="402336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99632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693408" y="125272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to Christ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199632" y="1764792"/>
            <a:ext cx="2359152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παιδαγωγός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vv.23–25 — the slave-escort until faith came; now no longer under him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" y="3931920"/>
            <a:ext cx="7900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be saved until you know you need to be saved. The law showed the need; Christ meets it.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promise gives that the law never could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3:26–29 · Outline IV — Higher, deeper, wider, longer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18788" cy="166420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12527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 ·  v.26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1764792"/>
            <a:ext cx="37627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υἱοί θεοῦ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Sons of God through faith in Christ Jesus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8012" y="1143000"/>
            <a:ext cx="4018788" cy="166420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96028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96028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289804" y="12527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 ·  v.27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796028" y="1764792"/>
            <a:ext cx="37627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ἐνεδύσασθε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Baptized by the Spirit into Christ — clothed with Him (1 Cor 12:13)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971800"/>
            <a:ext cx="4018788" cy="166420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30998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78992" y="30815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 ·  v.28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" y="3593592"/>
            <a:ext cx="37627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Jew nor Greek, slave nor free, male nor female — all one in Christ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8012" y="2971800"/>
            <a:ext cx="4018788" cy="166420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96028" y="3099816"/>
            <a:ext cx="402336" cy="402336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6028" y="3099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289804" y="30815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 ·  v.29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96028" y="3593592"/>
            <a:ext cx="37627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κληρονόμοι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Abraham's seed and heirs according to the promise — forever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apply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3:15–29 · from the study's posted questions and applications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7316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636776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591056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mean that Abraham was asleep while God alone passed through the pieces (Genesis 15)?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2679192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four ways our standing surpasses the law — higher, deeper, wider, longer — which means most to you right now, and why?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791456" y="1591056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in “You Have Been Blessed, Do This”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pray tonight, say aloud “I have already been blessed” before anything you plan to do for God.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91456" y="2679192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the Wide Ground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a specific honor this week to a believer you might ordinarily overlook.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0233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promise came first and stands forever; the law's work was to lead us to Christ.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Galatians Study 8 — The Superiority of the Promise to the Law: Charts</dc:title>
  <dc:subject>PptxGenJS Presentation</dc:subject>
  <dc:creator>The Gospel Vault</dc:creator>
  <cp:lastModifiedBy>The Gospel Vault</cp:lastModifiedBy>
  <cp:revision>1</cp:revision>
  <dcterms:created xsi:type="dcterms:W3CDTF">2026-10-30T05:30:26Z</dcterms:created>
  <dcterms:modified xsi:type="dcterms:W3CDTF">2026-10-30T05:30:26Z</dcterms:modified>
</cp:coreProperties>
</file>