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udy 9 · Galatians 4:1–11" id="{95b39f59-209f-93bd-3753-416f43cf5504}">
          <p14:sldIdLst>
            <p14:sldId id="256"/>
            <p14:sldId id="257"/>
            <p14:sldId id="258"/>
            <p14:sldId id="259"/>
            <p14:sldId id="260"/>
            <p14:sldId id="261"/>
            <p14:sldId id="26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Leader notes: Three movements — our situation (4:1–3), our salvation (4:4–7), and our selection (4:8–11). The posted study has no separate proposition box; this summary is drawn from its Part 1 table. Every chart in this deck stays within the posted commentary for this study; Greek words come from the study's posted Greek Word Study. Each slide's notes name the commentary section behind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Leader notes: Use this map to show the group where this passage sits in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Leader notes (I.A–B): The passage from childhood to manhood was well known — Romans and Greeks had the toga virilis; Jews had bar mitzvah. A minor heir legally owns everything but lives no differently from a slave, under guardians (over his person) and stewards (over his estate) until the date his father set. “Even so we” — Paul and the Jewish believers, and the Gentiles too: “the elements of the world” covers everyone. Before Christ, everyone was under rules and regulations — that's what religion 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Leader notes (II.A.1–2): The commentary's five marks of the right season. Then the right Savior: God sent His Son, “born of a woman” — γενόμενον, came into existence by a woman, with no mention of a human father (the virgin birth) — “born under the law.” He was the promised Seed (3:16).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Leader notes (II.A–D): The adoption has to do with the inheritance, not with how we get into the family — we are born into the family (John 3). We received the inheritance when we believed. Everyone who believes receives the Spirit (Rom 8:9); the law cried “Sinner,” the Spirit cries “Abba, Father” — present tense, an ongoing cry. v.7 is a first-class condition, assumed true: since you are a son, you are an heir.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Leader notes (III.A–D): Ignorant — they served what by nature are not gods, and were without excuse (Rom 1:19–32). Illumined — they came to know God, or rather were known by God. Immersed in the law again — days, months, seasons and years: a system that is powerless and poor. About to be dis-inherited — the commentary's heading. Paul is NOT speaking of salvation: eternal life received by faith cannot be lost. His fear is that they have exchanged one slavery for another and are no better off — that his labor among them would be in vain.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Leader notes (from the posted Study Questions and Application sections): Q1: What is the difference between how we enter God's family (birth) and how we receive the inheritance (adoption)? — Leader answer: We are born into the family by faith in Christ. Adoption (huiothesia) is the legal term for receiving the heir's rights.  Q2: In verses 9–11, why is Paul “afraid” for the Galatians, if he is not questioning their salvation? — Leader answer: He grieves their direction, not their standing. They have eternal life and cannot lose it; his fear is that they are trading sonship's freedom for another slavery.  Applications: Let “Abba” Change How You Pray — Begin at least one prayer time this week simply saying, “Abba, Father.”  Don't Trade Grace for Another Slavery — Name one rule-keeping substitute for grace in your life and bring it to a trusted friend or your group.  Close by reading the summary line aloud.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4" name="Text 0"/>
          <p:cNvSpPr/>
          <p:nvPr/>
        </p:nvSpPr>
        <p:spPr>
          <a:xfrm>
            <a:off x="457200" y="4773168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Galatians · Study 9 of 16 · Galatians 4:1–11 · The Gospel Vault · NKJV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1097280"/>
            <a:ext cx="786384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400" dirty="0">
                <a:solidFill>
                  <a:srgbClr val="C9D5EE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508760"/>
            <a:ext cx="786384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40080" y="2743200"/>
            <a:ext cx="758952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500" i="1" dirty="0">
                <a:solidFill>
                  <a:srgbClr val="E6ECF7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endParaRPr lang="en-US" sz="1500" dirty="0"/>
          </a:p>
        </p:txBody>
      </p:sp>
      <p:sp>
        <p:nvSpPr>
          <p:cNvPr id="5" name="Text 0"/>
          <p:cNvSpPr/>
          <p:nvPr/>
        </p:nvSpPr>
        <p:spPr>
          <a:xfrm>
            <a:off x="640080" y="47548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EBB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Galatians · Study 9 of 16 · Galatians 4:1–11 · The Gospel Vault · NKJV</a:t>
            </a:r>
            <a:endParaRPr lang="en-US" sz="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10972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dirty="0">
                <a:solidFill>
                  <a:srgbClr val="C9D5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Galatians · Study 9 of 16 · Galatians 4:1–11 · Leader charts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50876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I Became a Man</a:t>
            </a:r>
            <a:endParaRPr lang="en-US" sz="3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40080" y="2743200"/>
            <a:ext cx="7589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E6EC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Christ, even the heir lived no differently than a slave. In the fullness of time God sent His Son to redeem those under law and make them sons and heirs — so turning back to rule-keeping only trades one slavery for another.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43434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EBB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Dr. C. Norman Sellers, ThD · SellersBibleInstitute.com · used by permission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this study fits</a:t>
            </a:r>
            <a:endParaRPr lang="en-US" sz="2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Galatians · sixteen studies · this study highlighted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457200" y="1115568"/>
            <a:ext cx="1954530" cy="786384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1170432"/>
            <a:ext cx="177165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54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 </a:t>
            </a:r>
            <a:pPr indent="0" marL="0">
              <a:buNone/>
            </a:pPr>
            <a:r>
              <a:rPr lang="en-US" sz="100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1:1–5</a:t>
            </a:r>
            <a:endParaRPr lang="en-US" sz="1200" dirty="0"/>
          </a:p>
          <a:p>
            <a:pPr indent="0" marL="0">
              <a:buNone/>
            </a:pPr>
            <a:r>
              <a:rPr lang="en-US" sz="10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Ground of Liberty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2548890" y="1115568"/>
            <a:ext cx="1954530" cy="786384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2640330" y="1170432"/>
            <a:ext cx="177165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54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</a:t>
            </a:r>
            <a:pPr indent="0" marL="0">
              <a:buNone/>
            </a:pPr>
            <a:r>
              <a:rPr lang="en-US" sz="100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1:6–10</a:t>
            </a:r>
            <a:endParaRPr lang="en-US" sz="1200" dirty="0"/>
          </a:p>
          <a:p>
            <a:pPr indent="0" marL="0">
              <a:buNone/>
            </a:pPr>
            <a:r>
              <a:rPr lang="en-US" sz="10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One True Gospel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640580" y="1115568"/>
            <a:ext cx="1954530" cy="786384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732020" y="1170432"/>
            <a:ext cx="177165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54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</a:t>
            </a:r>
            <a:pPr indent="0" marL="0">
              <a:buNone/>
            </a:pPr>
            <a:r>
              <a:rPr lang="en-US" sz="100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1:11–17</a:t>
            </a:r>
            <a:endParaRPr lang="en-US" sz="1200" dirty="0"/>
          </a:p>
          <a:p>
            <a:pPr indent="0" marL="0">
              <a:buNone/>
            </a:pPr>
            <a:r>
              <a:rPr lang="en-US" sz="10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Paul's Independent Revelation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732270" y="1115568"/>
            <a:ext cx="1954530" cy="786384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823710" y="1170432"/>
            <a:ext cx="177165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54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</a:t>
            </a:r>
            <a:pPr indent="0" marL="0">
              <a:buNone/>
            </a:pPr>
            <a:r>
              <a:rPr lang="en-US" sz="100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1:18–2:10</a:t>
            </a:r>
            <a:endParaRPr lang="en-US" sz="1200" dirty="0"/>
          </a:p>
          <a:p>
            <a:pPr indent="0" marL="0">
              <a:buNone/>
            </a:pPr>
            <a:r>
              <a:rPr lang="en-US" sz="10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Paul's Gospel Is Independent of the Judean Churches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57200" y="2020824"/>
            <a:ext cx="1954530" cy="786384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48640" y="2075688"/>
            <a:ext cx="177165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54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 </a:t>
            </a:r>
            <a:pPr indent="0" marL="0">
              <a:buNone/>
            </a:pPr>
            <a:r>
              <a:rPr lang="en-US" sz="100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2:11–21</a:t>
            </a:r>
            <a:endParaRPr lang="en-US" sz="1200" dirty="0"/>
          </a:p>
          <a:p>
            <a:pPr indent="0" marL="0">
              <a:buNone/>
            </a:pPr>
            <a:r>
              <a:rPr lang="en-US" sz="10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Peter Goes Back to School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2548890" y="2020824"/>
            <a:ext cx="1954530" cy="786384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2640330" y="2075688"/>
            <a:ext cx="177165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54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 </a:t>
            </a:r>
            <a:pPr indent="0" marL="0">
              <a:buNone/>
            </a:pPr>
            <a:r>
              <a:rPr lang="en-US" sz="100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3:1–5</a:t>
            </a:r>
            <a:endParaRPr lang="en-US" sz="1200" dirty="0"/>
          </a:p>
          <a:p>
            <a:pPr indent="0" marL="0">
              <a:buNone/>
            </a:pPr>
            <a:r>
              <a:rPr lang="en-US" sz="10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 a Spell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4640580" y="2020824"/>
            <a:ext cx="1954530" cy="786384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4732020" y="2075688"/>
            <a:ext cx="177165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54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 </a:t>
            </a:r>
            <a:pPr indent="0" marL="0">
              <a:buNone/>
            </a:pPr>
            <a:r>
              <a:rPr lang="en-US" sz="100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3:6–14</a:t>
            </a:r>
            <a:endParaRPr lang="en-US" sz="1200" dirty="0"/>
          </a:p>
          <a:p>
            <a:pPr indent="0" marL="0">
              <a:buNone/>
            </a:pPr>
            <a:r>
              <a:rPr lang="en-US" sz="10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Blessing or a Curse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6732270" y="2020824"/>
            <a:ext cx="1954530" cy="786384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823710" y="2075688"/>
            <a:ext cx="177165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54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 </a:t>
            </a:r>
            <a:pPr indent="0" marL="0">
              <a:buNone/>
            </a:pPr>
            <a:r>
              <a:rPr lang="en-US" sz="100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3:15–29</a:t>
            </a:r>
            <a:endParaRPr lang="en-US" sz="1200" dirty="0"/>
          </a:p>
          <a:p>
            <a:pPr indent="0" marL="0">
              <a:buNone/>
            </a:pPr>
            <a:r>
              <a:rPr lang="en-US" sz="10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Superiority of the Promise to the Law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457200" y="2926080"/>
            <a:ext cx="1954530" cy="786384"/>
          </a:xfrm>
          <a:prstGeom prst="rect">
            <a:avLst/>
          </a:prstGeom>
          <a:solidFill>
            <a:srgbClr val="1F3864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548640" y="2980944"/>
            <a:ext cx="177165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D5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 </a:t>
            </a:r>
            <a:pPr indent="0" marL="0">
              <a:buNone/>
            </a:pPr>
            <a:r>
              <a:rPr lang="en-US" sz="1000" b="1" dirty="0">
                <a:solidFill>
                  <a:srgbClr val="C9D5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4:1–11</a:t>
            </a:r>
            <a:endParaRPr lang="en-US" sz="1200" dirty="0"/>
          </a:p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I Became a Man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2548890" y="2926080"/>
            <a:ext cx="1954530" cy="786384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2640330" y="2980944"/>
            <a:ext cx="177165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54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 </a:t>
            </a:r>
            <a:pPr indent="0" marL="0">
              <a:buNone/>
            </a:pPr>
            <a:r>
              <a:rPr lang="en-US" sz="100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4:12–20</a:t>
            </a:r>
            <a:endParaRPr lang="en-US" sz="1200" dirty="0"/>
          </a:p>
          <a:p>
            <a:pPr indent="0" marL="0">
              <a:buNone/>
            </a:pPr>
            <a:r>
              <a:rPr lang="en-US" sz="10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Steel Fist in a Velvet Glove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4640580" y="2926080"/>
            <a:ext cx="1954530" cy="786384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4732020" y="2980944"/>
            <a:ext cx="177165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54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 </a:t>
            </a:r>
            <a:pPr indent="0" marL="0">
              <a:buNone/>
            </a:pPr>
            <a:r>
              <a:rPr lang="en-US" sz="100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4:21–31</a:t>
            </a:r>
            <a:endParaRPr lang="en-US" sz="1200" dirty="0"/>
          </a:p>
          <a:p>
            <a:pPr indent="0" marL="0">
              <a:buNone/>
            </a:pPr>
            <a:r>
              <a:rPr lang="en-US" sz="10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Paul's Old Testament Story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6732270" y="2926080"/>
            <a:ext cx="1954530" cy="786384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823710" y="2980944"/>
            <a:ext cx="177165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54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 </a:t>
            </a:r>
            <a:pPr indent="0" marL="0">
              <a:buNone/>
            </a:pPr>
            <a:r>
              <a:rPr lang="en-US" sz="100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5:1–12</a:t>
            </a:r>
            <a:endParaRPr lang="en-US" sz="1200" dirty="0"/>
          </a:p>
          <a:p>
            <a:pPr indent="0" marL="0">
              <a:buNone/>
            </a:pPr>
            <a:r>
              <a:rPr lang="en-US" sz="10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Taking a Stand in Liberty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457200" y="3831336"/>
            <a:ext cx="1954530" cy="786384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548640" y="3886200"/>
            <a:ext cx="177165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54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 </a:t>
            </a:r>
            <a:pPr indent="0" marL="0">
              <a:buNone/>
            </a:pPr>
            <a:r>
              <a:rPr lang="en-US" sz="100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5:13–26</a:t>
            </a:r>
            <a:endParaRPr lang="en-US" sz="1200" dirty="0"/>
          </a:p>
          <a:p>
            <a:pPr indent="0" marL="0">
              <a:buNone/>
            </a:pPr>
            <a:r>
              <a:rPr lang="en-US" sz="10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Walk in the Spirit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2548890" y="3831336"/>
            <a:ext cx="1954530" cy="786384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2640330" y="3886200"/>
            <a:ext cx="177165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54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 </a:t>
            </a:r>
            <a:pPr indent="0" marL="0">
              <a:buNone/>
            </a:pPr>
            <a:r>
              <a:rPr lang="en-US" sz="100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6:1–5</a:t>
            </a:r>
            <a:endParaRPr lang="en-US" sz="1200" dirty="0"/>
          </a:p>
          <a:p>
            <a:pPr indent="0" marL="0">
              <a:buNone/>
            </a:pPr>
            <a:r>
              <a:rPr lang="en-US" sz="10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Brothers and Burdens</a:t>
            </a:r>
            <a:endParaRPr lang="en-US" sz="1200" dirty="0"/>
          </a:p>
        </p:txBody>
      </p:sp>
      <p:sp>
        <p:nvSpPr>
          <p:cNvPr id="33" name="Shape 30"/>
          <p:cNvSpPr/>
          <p:nvPr/>
        </p:nvSpPr>
        <p:spPr>
          <a:xfrm>
            <a:off x="4640580" y="3831336"/>
            <a:ext cx="1954530" cy="786384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4732020" y="3886200"/>
            <a:ext cx="177165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54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 </a:t>
            </a:r>
            <a:pPr indent="0" marL="0">
              <a:buNone/>
            </a:pPr>
            <a:r>
              <a:rPr lang="en-US" sz="100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6:6–10</a:t>
            </a:r>
            <a:endParaRPr lang="en-US" sz="1200" dirty="0"/>
          </a:p>
          <a:p>
            <a:pPr indent="0" marL="0">
              <a:buNone/>
            </a:pPr>
            <a:r>
              <a:rPr lang="en-US" sz="10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Sowing and Reaping</a:t>
            </a:r>
            <a:endParaRPr lang="en-US" sz="1200" dirty="0"/>
          </a:p>
        </p:txBody>
      </p:sp>
      <p:sp>
        <p:nvSpPr>
          <p:cNvPr id="35" name="Shape 32"/>
          <p:cNvSpPr/>
          <p:nvPr/>
        </p:nvSpPr>
        <p:spPr>
          <a:xfrm>
            <a:off x="6732270" y="3831336"/>
            <a:ext cx="1954530" cy="786384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6823710" y="3886200"/>
            <a:ext cx="177165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54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 </a:t>
            </a:r>
            <a:pPr indent="0" marL="0">
              <a:buNone/>
            </a:pPr>
            <a:r>
              <a:rPr lang="en-US" sz="100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6:11–18</a:t>
            </a:r>
            <a:endParaRPr lang="en-US" sz="1200" dirty="0"/>
          </a:p>
          <a:p>
            <a:pPr indent="0" marL="0">
              <a:buNone/>
            </a:pPr>
            <a:r>
              <a:rPr lang="en-US" sz="10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Teaching the Truth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child-heir under guardians</a:t>
            </a:r>
            <a:endParaRPr lang="en-US" sz="2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Galatians 4:1–3 · Outline I — Our situation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457200" y="1115568"/>
            <a:ext cx="777240" cy="548640"/>
          </a:xfrm>
          <a:prstGeom prst="rect">
            <a:avLst/>
          </a:prstGeom>
          <a:solidFill>
            <a:srgbClr val="2E5496"/>
          </a:solidFill>
          <a:ln w="12700">
            <a:solidFill>
              <a:srgbClr val="2E549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57200" y="1115568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v.1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1234440" y="1115568"/>
            <a:ext cx="7452360" cy="548640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1344168" y="1115568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heir, while a child, “does not differ at all from a slave”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5577840" y="1115568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03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νήπιος · δοῦλος</a:t>
            </a:r>
            <a:endParaRPr lang="en-US" sz="1200" dirty="0"/>
          </a:p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minor · a slave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57200" y="1728216"/>
            <a:ext cx="777240" cy="548640"/>
          </a:xfrm>
          <a:prstGeom prst="rect">
            <a:avLst/>
          </a:prstGeom>
          <a:solidFill>
            <a:srgbClr val="2E5496"/>
          </a:solidFill>
          <a:ln w="12700">
            <a:solidFill>
              <a:srgbClr val="2E5496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7200" y="1728216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v.1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1234440" y="1728216"/>
            <a:ext cx="745236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1344168" y="1728216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“though he is master of all” — legally owns the estate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5577840" y="1728216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03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κληρονόμος</a:t>
            </a:r>
            <a:endParaRPr lang="en-US" sz="1200" dirty="0"/>
          </a:p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heir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57200" y="2340864"/>
            <a:ext cx="777240" cy="548640"/>
          </a:xfrm>
          <a:prstGeom prst="rect">
            <a:avLst/>
          </a:prstGeom>
          <a:solidFill>
            <a:srgbClr val="2E5496"/>
          </a:solidFill>
          <a:ln w="12700">
            <a:solidFill>
              <a:srgbClr val="2E5496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57200" y="2340864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v.2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1234440" y="2340864"/>
            <a:ext cx="7452360" cy="548640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1344168" y="2340864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“under guardians and stewards” — over his person and his estate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5577840" y="2340864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03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ἐπιτρόπους · οἰκονόμους</a:t>
            </a:r>
            <a:endParaRPr lang="en-US" sz="1200" dirty="0"/>
          </a:p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guardian · household manager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57200" y="2953512"/>
            <a:ext cx="777240" cy="548640"/>
          </a:xfrm>
          <a:prstGeom prst="rect">
            <a:avLst/>
          </a:prstGeom>
          <a:solidFill>
            <a:srgbClr val="2E5496"/>
          </a:solidFill>
          <a:ln w="12700">
            <a:solidFill>
              <a:srgbClr val="2E5496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457200" y="2953512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v.2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1234440" y="2953512"/>
            <a:ext cx="745236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1344168" y="2953512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“until the time appointed by the father” — the date set in the will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5577840" y="2953512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03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προθεσμίας</a:t>
            </a:r>
            <a:endParaRPr lang="en-US" sz="1200" dirty="0"/>
          </a:p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appointed time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457200" y="3566160"/>
            <a:ext cx="777240" cy="548640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457200" y="3566160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v.3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1234440" y="3566160"/>
            <a:ext cx="7452360" cy="548640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1344168" y="3566160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“Even so we … were in bondage under the elements of the world”</a:t>
            </a:r>
            <a:endParaRPr lang="en-US" sz="1200" dirty="0"/>
          </a:p>
        </p:txBody>
      </p:sp>
      <p:sp>
        <p:nvSpPr>
          <p:cNvPr id="29" name="Text 26"/>
          <p:cNvSpPr txBox="1"/>
          <p:nvPr/>
        </p:nvSpPr>
        <p:spPr>
          <a:xfrm>
            <a:off x="5577840" y="356616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03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στοιχεῖα</a:t>
            </a:r>
            <a:endParaRPr lang="en-US" sz="1200" dirty="0"/>
          </a:p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rudiments — Jew and Gentile alike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“When the fullness of the time had come”</a:t>
            </a:r>
            <a:endParaRPr lang="en-US" sz="2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Galatians 4:4 · Outline II.A.1 — It was the right season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457200" y="1143000"/>
            <a:ext cx="2615184" cy="1645920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85216" y="1271016"/>
            <a:ext cx="402336" cy="402336"/>
          </a:xfrm>
          <a:prstGeom prst="ellipse">
            <a:avLst/>
          </a:prstGeom>
          <a:solidFill>
            <a:srgbClr val="2E5496"/>
          </a:solidFill>
          <a:ln w="12700">
            <a:solidFill>
              <a:srgbClr val="2E549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85216" y="12710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1078992" y="1252728"/>
            <a:ext cx="19019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common language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585216" y="1764792"/>
            <a:ext cx="235915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Greek, spread by Alexander — precise enough for theology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264408" y="1143000"/>
            <a:ext cx="2615184" cy="1645920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392424" y="1271016"/>
            <a:ext cx="402336" cy="402336"/>
          </a:xfrm>
          <a:prstGeom prst="ellipse">
            <a:avLst/>
          </a:prstGeom>
          <a:solidFill>
            <a:srgbClr val="2E5496"/>
          </a:solidFill>
          <a:ln w="12700">
            <a:solidFill>
              <a:srgbClr val="2E5496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392424" y="12710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3886200" y="1252728"/>
            <a:ext cx="19019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Roads and travel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3392424" y="1764792"/>
            <a:ext cx="235915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Roman roads let evangelists move town to town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071616" y="1143000"/>
            <a:ext cx="2615184" cy="1645920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199632" y="1271016"/>
            <a:ext cx="402336" cy="402336"/>
          </a:xfrm>
          <a:prstGeom prst="ellipse">
            <a:avLst/>
          </a:prstGeom>
          <a:solidFill>
            <a:srgbClr val="2E5496"/>
          </a:solidFill>
          <a:ln w="12700">
            <a:solidFill>
              <a:srgbClr val="2E5496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199632" y="12710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6693408" y="1252728"/>
            <a:ext cx="19019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Pax Romana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6199632" y="1764792"/>
            <a:ext cx="235915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Roman peace; citizens protected across the empire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57200" y="2953512"/>
            <a:ext cx="2615184" cy="1645920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585216" y="3081528"/>
            <a:ext cx="402336" cy="402336"/>
          </a:xfrm>
          <a:prstGeom prst="ellipse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585216" y="30815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1078992" y="3063240"/>
            <a:ext cx="19019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Bankrupt paganism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585216" y="3575304"/>
            <a:ext cx="235915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Pagan religions offered nothing of eternal value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3264408" y="2953512"/>
            <a:ext cx="2615184" cy="1645920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3392424" y="3081528"/>
            <a:ext cx="402336" cy="402336"/>
          </a:xfrm>
          <a:prstGeom prst="ellipse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3392424" y="30815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</a:t>
            </a:r>
            <a:endParaRPr lang="en-US" sz="1200" dirty="0"/>
          </a:p>
        </p:txBody>
      </p:sp>
      <p:sp>
        <p:nvSpPr>
          <p:cNvPr id="28" name="Text 25"/>
          <p:cNvSpPr txBox="1"/>
          <p:nvPr/>
        </p:nvSpPr>
        <p:spPr>
          <a:xfrm>
            <a:off x="3886200" y="3063240"/>
            <a:ext cx="19019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failure of Israel</a:t>
            </a:r>
            <a:endParaRPr lang="en-US" sz="1200" dirty="0"/>
          </a:p>
        </p:txBody>
      </p:sp>
      <p:sp>
        <p:nvSpPr>
          <p:cNvPr id="29" name="Text 26"/>
          <p:cNvSpPr txBox="1"/>
          <p:nvPr/>
        </p:nvSpPr>
        <p:spPr>
          <a:xfrm>
            <a:off x="3392424" y="3575304"/>
            <a:ext cx="235915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Failed leadership and a failed mission to the nations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6071616" y="2953512"/>
            <a:ext cx="2615184" cy="1645920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6199632" y="3081528"/>
            <a:ext cx="402336" cy="402336"/>
          </a:xfrm>
          <a:prstGeom prst="ellipse">
            <a:avLst/>
          </a:prstGeom>
          <a:solidFill>
            <a:srgbClr val="375623"/>
          </a:solidFill>
          <a:ln w="12700">
            <a:solidFill>
              <a:srgbClr val="375623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6199632" y="30815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33" name="Text 30"/>
          <p:cNvSpPr txBox="1"/>
          <p:nvPr/>
        </p:nvSpPr>
        <p:spPr>
          <a:xfrm>
            <a:off x="6693408" y="3063240"/>
            <a:ext cx="19019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right Savior</a:t>
            </a:r>
            <a:endParaRPr lang="en-US" sz="1200" dirty="0"/>
          </a:p>
        </p:txBody>
      </p:sp>
      <p:sp>
        <p:nvSpPr>
          <p:cNvPr id="34" name="Text 31"/>
          <p:cNvSpPr txBox="1"/>
          <p:nvPr/>
        </p:nvSpPr>
        <p:spPr>
          <a:xfrm>
            <a:off x="6199632" y="3575304"/>
            <a:ext cx="235915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703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γενόμενον ἐκ γυναικός</a:t>
            </a:r>
            <a:endParaRPr lang="en-US" sz="1200" dirty="0"/>
          </a:p>
          <a:p>
            <a:pPr indent="0" marL="0">
              <a:buNone/>
            </a:pP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born of a woman, born under the law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A's of our salvation</a:t>
            </a:r>
            <a:endParaRPr lang="en-US" sz="2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Galatians 4:4–7 · Outline II — Our salvation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457200" y="1188720"/>
            <a:ext cx="1892808" cy="2377440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188720"/>
            <a:ext cx="1892808" cy="566928"/>
          </a:xfrm>
          <a:prstGeom prst="rect">
            <a:avLst/>
          </a:prstGeom>
          <a:solidFill>
            <a:srgbClr val="2E5496"/>
          </a:solidFill>
          <a:ln w="12700">
            <a:solidFill>
              <a:srgbClr val="2E549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12064" y="1188720"/>
            <a:ext cx="178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Arrival</a:t>
            </a:r>
            <a:endParaRPr lang="en-US" sz="11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1828800"/>
            <a:ext cx="1709928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703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ἐξαγοράσῃ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God sent His Son to redeem those under the law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530352" y="3236976"/>
            <a:ext cx="1746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vv.4–5a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2359152" y="2258568"/>
            <a:ext cx="201168" cy="237744"/>
          </a:xfrm>
          <a:prstGeom prst="rightArrow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569464" y="1188720"/>
            <a:ext cx="1892808" cy="2377440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569464" y="1188720"/>
            <a:ext cx="1892808" cy="566928"/>
          </a:xfrm>
          <a:prstGeom prst="rect">
            <a:avLst/>
          </a:prstGeom>
          <a:solidFill>
            <a:srgbClr val="2E5496"/>
          </a:solidFill>
          <a:ln w="12700">
            <a:solidFill>
              <a:srgbClr val="2E5496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2624328" y="1188720"/>
            <a:ext cx="178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Adoption</a:t>
            </a:r>
            <a:endParaRPr lang="en-US" sz="1150" dirty="0"/>
          </a:p>
        </p:txBody>
      </p:sp>
      <p:sp>
        <p:nvSpPr>
          <p:cNvPr id="14" name="Text 11"/>
          <p:cNvSpPr txBox="1"/>
          <p:nvPr/>
        </p:nvSpPr>
        <p:spPr>
          <a:xfrm>
            <a:off x="2660904" y="1828800"/>
            <a:ext cx="1709928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703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υἱοθεσίαν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Placed as sons — about the inheritance, not entry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2642616" y="3236976"/>
            <a:ext cx="1746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v.5b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4471416" y="2258568"/>
            <a:ext cx="201168" cy="237744"/>
          </a:xfrm>
          <a:prstGeom prst="rightArrow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681728" y="1188720"/>
            <a:ext cx="1892808" cy="2377440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681728" y="1188720"/>
            <a:ext cx="1892808" cy="566928"/>
          </a:xfrm>
          <a:prstGeom prst="rect">
            <a:avLst/>
          </a:prstGeom>
          <a:solidFill>
            <a:srgbClr val="2E5496"/>
          </a:solidFill>
          <a:ln w="12700">
            <a:solidFill>
              <a:srgbClr val="2E5496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4736592" y="1188720"/>
            <a:ext cx="178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Advent of the Spirit</a:t>
            </a:r>
            <a:endParaRPr lang="en-US" sz="1150" dirty="0"/>
          </a:p>
        </p:txBody>
      </p:sp>
      <p:sp>
        <p:nvSpPr>
          <p:cNvPr id="20" name="Text 17"/>
          <p:cNvSpPr txBox="1"/>
          <p:nvPr/>
        </p:nvSpPr>
        <p:spPr>
          <a:xfrm>
            <a:off x="4773168" y="1828800"/>
            <a:ext cx="1709928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703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κρᾶζον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“Abba, Father!” — an ongoing cry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3236976"/>
            <a:ext cx="1746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v.6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6583680" y="2258568"/>
            <a:ext cx="201168" cy="237744"/>
          </a:xfrm>
          <a:prstGeom prst="rightArrow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793992" y="1188720"/>
            <a:ext cx="1892808" cy="2377440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793992" y="1188720"/>
            <a:ext cx="1892808" cy="566928"/>
          </a:xfrm>
          <a:prstGeom prst="rect">
            <a:avLst/>
          </a:prstGeom>
          <a:solidFill>
            <a:srgbClr val="375623"/>
          </a:solidFill>
          <a:ln w="12700">
            <a:solidFill>
              <a:srgbClr val="375623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848856" y="1188720"/>
            <a:ext cx="178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Abolition of slavery</a:t>
            </a:r>
            <a:endParaRPr lang="en-US" sz="1150" dirty="0"/>
          </a:p>
        </p:txBody>
      </p:sp>
      <p:sp>
        <p:nvSpPr>
          <p:cNvPr id="26" name="Text 23"/>
          <p:cNvSpPr txBox="1"/>
          <p:nvPr/>
        </p:nvSpPr>
        <p:spPr>
          <a:xfrm>
            <a:off x="6885432" y="1828800"/>
            <a:ext cx="1709928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703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οὐκέτι δοῦλος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longer a slave but a son — and an heir</a:t>
            </a:r>
            <a:endParaRPr lang="en-US" sz="1200" dirty="0"/>
          </a:p>
        </p:txBody>
      </p:sp>
      <p:sp>
        <p:nvSpPr>
          <p:cNvPr id="27" name="Text 24"/>
          <p:cNvSpPr txBox="1"/>
          <p:nvPr/>
        </p:nvSpPr>
        <p:spPr>
          <a:xfrm>
            <a:off x="6867144" y="3236976"/>
            <a:ext cx="1746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v.7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457200" y="3749040"/>
            <a:ext cx="8229600" cy="548640"/>
          </a:xfrm>
          <a:prstGeom prst="roundRect">
            <a:avLst>
              <a:gd name="adj" fmla="val 10000"/>
            </a:avLst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21792" y="3749040"/>
            <a:ext cx="79004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are born into the family; adoption is about the inheritance — received the moment we believed.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 to the beggarly elements?</a:t>
            </a:r>
            <a:endParaRPr lang="en-US" sz="2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Galatians 4:8–11 · Outline III — Our selection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457200" y="1188720"/>
            <a:ext cx="1892808" cy="2011680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188720"/>
            <a:ext cx="1892808" cy="566928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12064" y="1188720"/>
            <a:ext cx="178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Ignorant</a:t>
            </a:r>
            <a:endParaRPr lang="en-US" sz="11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1828800"/>
            <a:ext cx="1709928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Served those which by nature are not gods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530352" y="2871216"/>
            <a:ext cx="1746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v.8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2359152" y="2075688"/>
            <a:ext cx="201168" cy="237744"/>
          </a:xfrm>
          <a:prstGeom prst="rightArrow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569464" y="1188720"/>
            <a:ext cx="1892808" cy="2011680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569464" y="1188720"/>
            <a:ext cx="1892808" cy="566928"/>
          </a:xfrm>
          <a:prstGeom prst="rect">
            <a:avLst/>
          </a:prstGeom>
          <a:solidFill>
            <a:srgbClr val="375623"/>
          </a:solidFill>
          <a:ln w="12700">
            <a:solidFill>
              <a:srgbClr val="375623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2624328" y="1188720"/>
            <a:ext cx="178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Illumined</a:t>
            </a:r>
            <a:endParaRPr lang="en-US" sz="1150" dirty="0"/>
          </a:p>
        </p:txBody>
      </p:sp>
      <p:sp>
        <p:nvSpPr>
          <p:cNvPr id="14" name="Text 11"/>
          <p:cNvSpPr txBox="1"/>
          <p:nvPr/>
        </p:nvSpPr>
        <p:spPr>
          <a:xfrm>
            <a:off x="2660904" y="1828800"/>
            <a:ext cx="1709928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Came to know God — rather, were known by God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2642616" y="2871216"/>
            <a:ext cx="1746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v.9a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4471416" y="2075688"/>
            <a:ext cx="201168" cy="237744"/>
          </a:xfrm>
          <a:prstGeom prst="rightArrow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681728" y="1188720"/>
            <a:ext cx="1892808" cy="2011680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681728" y="1188720"/>
            <a:ext cx="1892808" cy="566928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4736592" y="1188720"/>
            <a:ext cx="178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Immersed in the law</a:t>
            </a:r>
            <a:endParaRPr lang="en-US" sz="1150" dirty="0"/>
          </a:p>
        </p:txBody>
      </p:sp>
      <p:sp>
        <p:nvSpPr>
          <p:cNvPr id="20" name="Text 17"/>
          <p:cNvSpPr txBox="1"/>
          <p:nvPr/>
        </p:nvSpPr>
        <p:spPr>
          <a:xfrm>
            <a:off x="4773168" y="1828800"/>
            <a:ext cx="1709928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Days, months, seasons, years — weak and beggarly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2871216"/>
            <a:ext cx="1746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vv.9b–10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6583680" y="2075688"/>
            <a:ext cx="201168" cy="237744"/>
          </a:xfrm>
          <a:prstGeom prst="rightArrow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793992" y="1188720"/>
            <a:ext cx="1892808" cy="2011680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793992" y="1188720"/>
            <a:ext cx="1892808" cy="566928"/>
          </a:xfrm>
          <a:prstGeom prst="rect">
            <a:avLst/>
          </a:prstGeom>
          <a:solidFill>
            <a:srgbClr val="7030A0"/>
          </a:solidFill>
          <a:ln w="12700">
            <a:solidFill>
              <a:srgbClr val="7030A0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848856" y="1188720"/>
            <a:ext cx="178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About to be dis-inherited</a:t>
            </a:r>
            <a:endParaRPr lang="en-US" sz="1150" dirty="0"/>
          </a:p>
        </p:txBody>
      </p:sp>
      <p:sp>
        <p:nvSpPr>
          <p:cNvPr id="26" name="Text 23"/>
          <p:cNvSpPr txBox="1"/>
          <p:nvPr/>
        </p:nvSpPr>
        <p:spPr>
          <a:xfrm>
            <a:off x="6885432" y="1828800"/>
            <a:ext cx="1709928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“Lest I have labored for you in vain”</a:t>
            </a:r>
            <a:endParaRPr lang="en-US" sz="1200" dirty="0"/>
          </a:p>
        </p:txBody>
      </p:sp>
      <p:sp>
        <p:nvSpPr>
          <p:cNvPr id="27" name="Text 24"/>
          <p:cNvSpPr txBox="1"/>
          <p:nvPr/>
        </p:nvSpPr>
        <p:spPr>
          <a:xfrm>
            <a:off x="6867144" y="2871216"/>
            <a:ext cx="1746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v.11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457200" y="3337560"/>
            <a:ext cx="8229600" cy="36576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548640" y="33832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Paul fears — and what he does not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457200" y="3703320"/>
            <a:ext cx="8229600" cy="914400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548640" y="3776472"/>
            <a:ext cx="80467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lost salvation: eternal life, received by grace through faith, is forever</a:t>
            </a:r>
            <a:endParaRPr lang="en-US" sz="11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 trading pagan slavery for law slavery — no better off than before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Discuss and apply</a:t>
            </a:r>
            <a:endParaRPr lang="en-US" sz="2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Galatians 4:1–11 · from the study's posted questions and applications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457200" y="1115568"/>
            <a:ext cx="4023360" cy="384048"/>
          </a:xfrm>
          <a:prstGeom prst="rect">
            <a:avLst/>
          </a:prstGeom>
          <a:solidFill>
            <a:srgbClr val="2E5496"/>
          </a:solidFill>
          <a:ln w="12700">
            <a:solidFill>
              <a:srgbClr val="2E549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66928" y="1115568"/>
            <a:ext cx="3803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Discuss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57200" y="1499616"/>
            <a:ext cx="4023360" cy="2359152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663440" y="1115568"/>
            <a:ext cx="4023360" cy="384048"/>
          </a:xfrm>
          <a:prstGeom prst="rect">
            <a:avLst/>
          </a:prstGeom>
          <a:solidFill>
            <a:srgbClr val="375623"/>
          </a:solidFill>
          <a:ln w="12700">
            <a:solidFill>
              <a:srgbClr val="375623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773168" y="1115568"/>
            <a:ext cx="3803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663440" y="1499616"/>
            <a:ext cx="4023360" cy="2359152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66928" y="1636776"/>
            <a:ext cx="347472" cy="347472"/>
          </a:xfrm>
          <a:prstGeom prst="ellipse">
            <a:avLst/>
          </a:prstGeom>
          <a:solidFill>
            <a:srgbClr val="2E5496"/>
          </a:solidFill>
          <a:ln w="12700">
            <a:solidFill>
              <a:srgbClr val="2E5496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66928" y="16367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1005840" y="1591056"/>
            <a:ext cx="336499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the difference between how we enter God's family (birth) and how we receive the inheritance (adoption)?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566928" y="2724912"/>
            <a:ext cx="347472" cy="347472"/>
          </a:xfrm>
          <a:prstGeom prst="ellipse">
            <a:avLst/>
          </a:prstGeom>
          <a:solidFill>
            <a:srgbClr val="2E5496"/>
          </a:solidFill>
          <a:ln w="12700">
            <a:solidFill>
              <a:srgbClr val="2E5496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66928" y="27249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1005840" y="2679192"/>
            <a:ext cx="336499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verses 9–11, why is Paul “afraid” for the Galatians, if he is not questioning their salvation?</a:t>
            </a:r>
            <a:endParaRPr lang="en-US" sz="1350" dirty="0"/>
          </a:p>
        </p:txBody>
      </p:sp>
      <p:sp>
        <p:nvSpPr>
          <p:cNvPr id="17" name="Text 14"/>
          <p:cNvSpPr txBox="1"/>
          <p:nvPr/>
        </p:nvSpPr>
        <p:spPr>
          <a:xfrm>
            <a:off x="4791456" y="1591056"/>
            <a:ext cx="3767328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 “Abba” Change How You Pray</a:t>
            </a:r>
            <a:endParaRPr lang="en-US" sz="1200" dirty="0"/>
          </a:p>
          <a:p>
            <a:pPr indent="0" marL="0">
              <a:buNone/>
            </a:pP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Begin at least one prayer time this week simply saying, “Abba, Father.”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4791456" y="2679192"/>
            <a:ext cx="3767328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Don't Trade Grace for Another Slavery</a:t>
            </a:r>
            <a:endParaRPr lang="en-US" sz="1200" dirty="0"/>
          </a:p>
          <a:p>
            <a:pPr indent="0" marL="0">
              <a:buNone/>
            </a:pP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 one rule-keeping substitute for grace in your life and bring it to a trusted friend or your group.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457200" y="4023360"/>
            <a:ext cx="8229600" cy="566928"/>
          </a:xfrm>
          <a:prstGeom prst="roundRect">
            <a:avLst>
              <a:gd name="adj" fmla="val 9677"/>
            </a:avLst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21792" y="4023360"/>
            <a:ext cx="79004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9D5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one line: 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are no longer a slave but a son and an heir — don't go back to the beggarly elements.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Galatians Study 9 — When I Became a Man: Charts</dc:title>
  <dc:subject>PptxGenJS Presentation</dc:subject>
  <dc:creator>The Gospel Vault</dc:creator>
  <cp:lastModifiedBy>The Gospel Vault</cp:lastModifiedBy>
  <cp:revision>1</cp:revision>
  <dcterms:created xsi:type="dcterms:W3CDTF">2026-10-30T05:30:26Z</dcterms:created>
  <dcterms:modified xsi:type="dcterms:W3CDTF">2026-10-30T05:30:26Z</dcterms:modified>
</cp:coreProperties>
</file>